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Instrument Serif"/>
      <p:regular r:id="rId17"/>
      <p:italic r:id="rId18"/>
    </p:embeddedFont>
    <p:embeddedFont>
      <p:font typeface="Instrument Sans"/>
      <p:regular r:id="rId19"/>
      <p:bold r:id="rId20"/>
      <p:italic r:id="rId21"/>
      <p:boldItalic r:id="rId22"/>
    </p:embeddedFont>
    <p:embeddedFont>
      <p:font typeface="JetBrains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iveFkOhbdbOERRducONKrq0k+5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415798-8E4C-4216-B135-C9F54E9B0F97}">
  <a:tblStyle styleId="{4F415798-8E4C-4216-B135-C9F54E9B0F9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strumentSans-bold.fntdata"/><Relationship Id="rId22" Type="http://schemas.openxmlformats.org/officeDocument/2006/relationships/font" Target="fonts/InstrumentSans-boldItalic.fntdata"/><Relationship Id="rId21" Type="http://schemas.openxmlformats.org/officeDocument/2006/relationships/font" Target="fonts/InstrumentSans-italic.fntdata"/><Relationship Id="rId24" Type="http://schemas.openxmlformats.org/officeDocument/2006/relationships/font" Target="fonts/JetBrainsMono-bold.fntdata"/><Relationship Id="rId23" Type="http://schemas.openxmlformats.org/officeDocument/2006/relationships/font" Target="fonts/JetBrainsMon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JetBrainsMono-boldItalic.fntdata"/><Relationship Id="rId25" Type="http://schemas.openxmlformats.org/officeDocument/2006/relationships/font" Target="fonts/JetBrainsMono-italic.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strumentSerif-regular.fntdata"/><Relationship Id="rId16" Type="http://schemas.openxmlformats.org/officeDocument/2006/relationships/slide" Target="slides/slide10.xml"/><Relationship Id="rId19" Type="http://schemas.openxmlformats.org/officeDocument/2006/relationships/font" Target="fonts/InstrumentSans-regular.fntdata"/><Relationship Id="rId18" Type="http://schemas.openxmlformats.org/officeDocument/2006/relationships/font" Target="fonts/InstrumentSerif-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83" name="Shape 83"/>
        <p:cNvGrpSpPr/>
        <p:nvPr/>
      </p:nvGrpSpPr>
      <p:grpSpPr>
        <a:xfrm>
          <a:off x="0" y="0"/>
          <a:ext cx="0" cy="0"/>
          <a:chOff x="0" y="0"/>
          <a:chExt cx="0" cy="0"/>
        </a:xfrm>
      </p:grpSpPr>
      <p:pic>
        <p:nvPicPr>
          <p:cNvPr descr="wave.png" id="84" name="Google Shape;84;p1"/>
          <p:cNvPicPr preferRelativeResize="0"/>
          <p:nvPr/>
        </p:nvPicPr>
        <p:blipFill rotWithShape="1">
          <a:blip r:embed="rId3">
            <a:alphaModFix/>
          </a:blip>
          <a:srcRect b="0" l="0" r="0" t="0"/>
          <a:stretch/>
        </p:blipFill>
        <p:spPr>
          <a:xfrm>
            <a:off x="0" y="2609850"/>
            <a:ext cx="12192000" cy="4248150"/>
          </a:xfrm>
          <a:prstGeom prst="rect">
            <a:avLst/>
          </a:prstGeom>
          <a:noFill/>
          <a:ln>
            <a:noFill/>
          </a:ln>
        </p:spPr>
      </p:pic>
      <p:pic>
        <p:nvPicPr>
          <p:cNvPr descr="toggle-wordmark-black.png" id="85" name="Google Shape;85;p1"/>
          <p:cNvPicPr preferRelativeResize="0"/>
          <p:nvPr/>
        </p:nvPicPr>
        <p:blipFill rotWithShape="1">
          <a:blip r:embed="rId4">
            <a:alphaModFix/>
          </a:blip>
          <a:srcRect b="0" l="0" r="0" t="0"/>
          <a:stretch/>
        </p:blipFill>
        <p:spPr>
          <a:xfrm>
            <a:off x="609600" y="876300"/>
            <a:ext cx="1809361" cy="495300"/>
          </a:xfrm>
          <a:prstGeom prst="rect">
            <a:avLst/>
          </a:prstGeom>
          <a:noFill/>
          <a:ln>
            <a:noFill/>
          </a:ln>
        </p:spPr>
      </p:pic>
      <p:sp>
        <p:nvSpPr>
          <p:cNvPr id="86" name="Google Shape;86;p1"/>
          <p:cNvSpPr txBox="1"/>
          <p:nvPr/>
        </p:nvSpPr>
        <p:spPr>
          <a:xfrm>
            <a:off x="609600" y="1866900"/>
            <a:ext cx="7620000" cy="161925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5700" u="none" cap="none" strike="noStrike">
                <a:solidFill>
                  <a:srgbClr val="0E1B33"/>
                </a:solidFill>
                <a:latin typeface="Instrument Serif"/>
                <a:ea typeface="Instrument Serif"/>
                <a:cs typeface="Instrument Serif"/>
                <a:sym typeface="Instrument Serif"/>
              </a:rPr>
              <a:t>Acquisition plan</a:t>
            </a:r>
            <a:endParaRPr/>
          </a:p>
          <a:p>
            <a:pPr indent="0" lvl="0" marL="0" marR="0" rtl="0" algn="l">
              <a:lnSpc>
                <a:spcPct val="98000"/>
              </a:lnSpc>
              <a:spcBef>
                <a:spcPts val="0"/>
              </a:spcBef>
              <a:spcAft>
                <a:spcPts val="0"/>
              </a:spcAft>
              <a:buNone/>
            </a:pPr>
            <a:r>
              <a:rPr b="0" i="0" lang="en-US" sz="5700" u="none" cap="none" strike="noStrike">
                <a:solidFill>
                  <a:srgbClr val="0E1B33"/>
                </a:solidFill>
                <a:latin typeface="Instrument Serif"/>
                <a:ea typeface="Instrument Serif"/>
                <a:cs typeface="Instrument Serif"/>
                <a:sym typeface="Instrument Serif"/>
              </a:rPr>
              <a:t>for </a:t>
            </a:r>
            <a:r>
              <a:rPr b="0" i="1" lang="en-US" sz="5700" u="none" cap="none" strike="noStrike">
                <a:solidFill>
                  <a:srgbClr val="2A6BE0"/>
                </a:solidFill>
                <a:latin typeface="Instrument Serif"/>
                <a:ea typeface="Instrument Serif"/>
                <a:cs typeface="Instrument Serif"/>
                <a:sym typeface="Instrument Serif"/>
              </a:rPr>
              <a:t>SignWell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90" name="Shape 90"/>
        <p:cNvGrpSpPr/>
        <p:nvPr/>
      </p:nvGrpSpPr>
      <p:grpSpPr>
        <a:xfrm>
          <a:off x="0" y="0"/>
          <a:ext cx="0" cy="0"/>
          <a:chOff x="0" y="0"/>
          <a:chExt cx="0" cy="0"/>
        </a:xfrm>
      </p:grpSpPr>
      <p:sp>
        <p:nvSpPr>
          <p:cNvPr id="91" name="Google Shape;91;p2"/>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2"/>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EXECUTIVE SUMMARY</a:t>
            </a:r>
            <a:endParaRPr/>
          </a:p>
        </p:txBody>
      </p:sp>
      <p:sp>
        <p:nvSpPr>
          <p:cNvPr id="93" name="Google Shape;93;p2"/>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3900" u="none" cap="none" strike="noStrike">
                <a:solidFill>
                  <a:srgbClr val="2A6BE0"/>
                </a:solidFill>
                <a:latin typeface="Instrument Serif"/>
                <a:ea typeface="Instrument Serif"/>
                <a:cs typeface="Instrument Serif"/>
                <a:sym typeface="Instrument Serif"/>
              </a:rPr>
              <a:t>Plan</a:t>
            </a:r>
            <a:endParaRPr/>
          </a:p>
        </p:txBody>
      </p:sp>
      <p:sp>
        <p:nvSpPr>
          <p:cNvPr id="94" name="Google Shape;94;p2"/>
          <p:cNvSpPr txBox="1"/>
          <p:nvPr/>
        </p:nvSpPr>
        <p:spPr>
          <a:xfrm>
            <a:off x="609600" y="1428750"/>
            <a:ext cx="10972800" cy="54292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Most of your budget goes to non-brand searches that do not convert, and your tracking cannot support smart bidding. We fix the tracking first, then run Google Search and Meta on clean data.</a:t>
            </a:r>
            <a:endParaRPr/>
          </a:p>
        </p:txBody>
      </p:sp>
      <p:sp>
        <p:nvSpPr>
          <p:cNvPr id="95" name="Google Shape;95;p2"/>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02</a:t>
            </a:r>
            <a:endParaRPr/>
          </a:p>
        </p:txBody>
      </p:sp>
      <p:sp>
        <p:nvSpPr>
          <p:cNvPr id="96" name="Google Shape;96;p2"/>
          <p:cNvSpPr/>
          <p:nvPr/>
        </p:nvSpPr>
        <p:spPr>
          <a:xfrm>
            <a:off x="609600" y="2162175"/>
            <a:ext cx="3543300" cy="3962400"/>
          </a:xfrm>
          <a:prstGeom prst="roundRect">
            <a:avLst>
              <a:gd fmla="val 376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p:nvPr/>
        </p:nvSpPr>
        <p:spPr>
          <a:xfrm>
            <a:off x="4324350" y="2162175"/>
            <a:ext cx="3543300" cy="3962400"/>
          </a:xfrm>
          <a:prstGeom prst="roundRect">
            <a:avLst>
              <a:gd fmla="val 376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2"/>
          <p:cNvSpPr/>
          <p:nvPr/>
        </p:nvSpPr>
        <p:spPr>
          <a:xfrm>
            <a:off x="8039100" y="2162175"/>
            <a:ext cx="3543300" cy="3962400"/>
          </a:xfrm>
          <a:prstGeom prst="roundRect">
            <a:avLst>
              <a:gd fmla="val 3763" name="adj"/>
            </a:avLst>
          </a:prstGeom>
          <a:solidFill>
            <a:srgbClr val="E3E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2"/>
          <p:cNvSpPr txBox="1"/>
          <p:nvPr/>
        </p:nvSpPr>
        <p:spPr>
          <a:xfrm>
            <a:off x="819150" y="2371725"/>
            <a:ext cx="31432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WHERE YOU ARE</a:t>
            </a:r>
            <a:endParaRPr/>
          </a:p>
        </p:txBody>
      </p:sp>
      <p:sp>
        <p:nvSpPr>
          <p:cNvPr id="100" name="Google Shape;100;p2"/>
          <p:cNvSpPr txBox="1"/>
          <p:nvPr/>
        </p:nvSpPr>
        <p:spPr>
          <a:xfrm>
            <a:off x="819150" y="2619375"/>
            <a:ext cx="3143250" cy="1366361"/>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Non-brand search takes 52% of your spend and returns 1.9% of your sign-ups.</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Duplicate pixels sit on your site and feed bad signals to Meta.</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You have two Tag Manager containers and two GA4 properties, so smart bidding gets mixed signals.</a:t>
            </a:r>
            <a:endParaRPr/>
          </a:p>
        </p:txBody>
      </p:sp>
      <p:sp>
        <p:nvSpPr>
          <p:cNvPr id="101" name="Google Shape;101;p2"/>
          <p:cNvSpPr txBox="1"/>
          <p:nvPr/>
        </p:nvSpPr>
        <p:spPr>
          <a:xfrm>
            <a:off x="4533900" y="2371725"/>
            <a:ext cx="31432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WHAT WE CHANGE</a:t>
            </a:r>
            <a:endParaRPr/>
          </a:p>
        </p:txBody>
      </p:sp>
      <p:sp>
        <p:nvSpPr>
          <p:cNvPr id="102" name="Google Shape;102;p2"/>
          <p:cNvSpPr txBox="1"/>
          <p:nvPr/>
        </p:nvSpPr>
        <p:spPr>
          <a:xfrm>
            <a:off x="4533900" y="2619375"/>
            <a:ext cx="3143250" cy="2169319"/>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write one tracking spec, then open a Google Ads account in your name.</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lead with brand search while the new account learns, and we test non-brand campaigns to find the keywords worth funding.</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set Meta up in October while the Google account learns, then scale it from November. LinkedIn and Reddit wait until Q1.</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You get one live dashboard and a report every two weeks.</a:t>
            </a:r>
            <a:endParaRPr/>
          </a:p>
        </p:txBody>
      </p:sp>
      <p:sp>
        <p:nvSpPr>
          <p:cNvPr id="103" name="Google Shape;103;p2"/>
          <p:cNvSpPr txBox="1"/>
          <p:nvPr/>
        </p:nvSpPr>
        <p:spPr>
          <a:xfrm>
            <a:off x="8248650" y="2371725"/>
            <a:ext cx="31432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WHAT IT COSTS</a:t>
            </a:r>
            <a:endParaRPr/>
          </a:p>
        </p:txBody>
      </p:sp>
      <p:sp>
        <p:nvSpPr>
          <p:cNvPr id="104" name="Google Shape;104;p2"/>
          <p:cNvSpPr txBox="1"/>
          <p:nvPr/>
        </p:nvSpPr>
        <p:spPr>
          <a:xfrm>
            <a:off x="8248650" y="2600325"/>
            <a:ext cx="3143250" cy="533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0" i="0" lang="en-US" sz="3000" u="none" cap="none" strike="noStrike">
                <a:solidFill>
                  <a:srgbClr val="2A6BE0"/>
                </a:solidFill>
                <a:latin typeface="Instrument Serif"/>
                <a:ea typeface="Instrument Serif"/>
                <a:cs typeface="Instrument Serif"/>
                <a:sym typeface="Instrument Serif"/>
              </a:rPr>
              <a:t>$20k to $25k</a:t>
            </a:r>
            <a:endParaRPr/>
          </a:p>
        </p:txBody>
      </p:sp>
      <p:sp>
        <p:nvSpPr>
          <p:cNvPr id="105" name="Google Shape;105;p2"/>
          <p:cNvSpPr txBox="1"/>
          <p:nvPr/>
        </p:nvSpPr>
        <p:spPr>
          <a:xfrm>
            <a:off x="8248650" y="3209925"/>
            <a:ext cx="3143250" cy="10477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975" u="none" cap="none" strike="noStrike">
                <a:solidFill>
                  <a:srgbClr val="4A5A75"/>
                </a:solidFill>
                <a:latin typeface="Instrument Sans"/>
                <a:ea typeface="Instrument Sans"/>
                <a:cs typeface="Instrument Sans"/>
                <a:sym typeface="Instrument Sans"/>
              </a:rPr>
              <a:t>That is a month in media, which is the budget you run today. October starts at $20,000, nearly all of it on Google while we rebuild. From November, Google holds at $15,500 a month and every added dollar funds Meta.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109" name="Shape 109"/>
        <p:cNvGrpSpPr/>
        <p:nvPr/>
      </p:nvGrpSpPr>
      <p:grpSpPr>
        <a:xfrm>
          <a:off x="0" y="0"/>
          <a:ext cx="0" cy="0"/>
          <a:chOff x="0" y="0"/>
          <a:chExt cx="0" cy="0"/>
        </a:xfrm>
      </p:grpSpPr>
      <p:sp>
        <p:nvSpPr>
          <p:cNvPr id="110" name="Google Shape;110;p3"/>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3"/>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TIMELINE</a:t>
            </a:r>
            <a:endParaRPr/>
          </a:p>
        </p:txBody>
      </p:sp>
      <p:sp>
        <p:nvSpPr>
          <p:cNvPr id="112" name="Google Shape;112;p3"/>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900" u="none" cap="none" strike="noStrike">
                <a:solidFill>
                  <a:srgbClr val="0E1B33"/>
                </a:solidFill>
                <a:latin typeface="Instrument Serif"/>
                <a:ea typeface="Instrument Serif"/>
                <a:cs typeface="Instrument Serif"/>
                <a:sym typeface="Instrument Serif"/>
              </a:rPr>
              <a:t>Month by month, </a:t>
            </a:r>
            <a:r>
              <a:rPr b="0" i="1" lang="en-US" sz="3900" u="none" cap="none" strike="noStrike">
                <a:solidFill>
                  <a:srgbClr val="2A6BE0"/>
                </a:solidFill>
                <a:latin typeface="Instrument Serif"/>
                <a:ea typeface="Instrument Serif"/>
                <a:cs typeface="Instrument Serif"/>
                <a:sym typeface="Instrument Serif"/>
              </a:rPr>
              <a:t>October to January</a:t>
            </a:r>
            <a:endParaRPr/>
          </a:p>
        </p:txBody>
      </p:sp>
      <p:sp>
        <p:nvSpPr>
          <p:cNvPr id="113" name="Google Shape;113;p3"/>
          <p:cNvSpPr txBox="1"/>
          <p:nvPr/>
        </p:nvSpPr>
        <p:spPr>
          <a:xfrm>
            <a:off x="609600" y="1428750"/>
            <a:ext cx="10972800" cy="54292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Brand search carries October while the new account learns, and we set Meta up beside it. November launches Meta and adds non-brand budget. December opens retargeting and lines up LinkedIn, Reddit and ChatGPT ads for Q1.</a:t>
            </a:r>
            <a:endParaRPr/>
          </a:p>
        </p:txBody>
      </p:sp>
      <p:sp>
        <p:nvSpPr>
          <p:cNvPr id="114" name="Google Shape;114;p3"/>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03</a:t>
            </a:r>
            <a:endParaRPr/>
          </a:p>
        </p:txBody>
      </p:sp>
      <p:sp>
        <p:nvSpPr>
          <p:cNvPr id="115" name="Google Shape;115;p3"/>
          <p:cNvSpPr/>
          <p:nvPr/>
        </p:nvSpPr>
        <p:spPr>
          <a:xfrm>
            <a:off x="895350" y="2238375"/>
            <a:ext cx="10687050" cy="19050"/>
          </a:xfrm>
          <a:prstGeom prst="rect">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3"/>
          <p:cNvSpPr/>
          <p:nvPr/>
        </p:nvSpPr>
        <p:spPr>
          <a:xfrm>
            <a:off x="838200" y="2171700"/>
            <a:ext cx="152400" cy="152400"/>
          </a:xfrm>
          <a:prstGeom prst="ellipse">
            <a:avLst/>
          </a:prstGeom>
          <a:solidFill>
            <a:srgbClr val="F4F8FD"/>
          </a:solidFill>
          <a:ln cap="flat" cmpd="sng" w="23800">
            <a:solidFill>
              <a:srgbClr val="2A6B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3"/>
          <p:cNvSpPr/>
          <p:nvPr/>
        </p:nvSpPr>
        <p:spPr>
          <a:xfrm>
            <a:off x="3981450" y="2171700"/>
            <a:ext cx="152400" cy="152400"/>
          </a:xfrm>
          <a:prstGeom prst="ellipse">
            <a:avLst/>
          </a:prstGeom>
          <a:solidFill>
            <a:srgbClr val="F4F8FD"/>
          </a:solidFill>
          <a:ln cap="flat" cmpd="sng" w="23800">
            <a:solidFill>
              <a:srgbClr val="2A6B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3"/>
          <p:cNvSpPr/>
          <p:nvPr/>
        </p:nvSpPr>
        <p:spPr>
          <a:xfrm>
            <a:off x="7124700" y="2171700"/>
            <a:ext cx="152400" cy="152400"/>
          </a:xfrm>
          <a:prstGeom prst="ellipse">
            <a:avLst/>
          </a:prstGeom>
          <a:solidFill>
            <a:srgbClr val="F4F8FD"/>
          </a:solidFill>
          <a:ln cap="flat" cmpd="sng" w="23800">
            <a:solidFill>
              <a:srgbClr val="2A6B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3"/>
          <p:cNvSpPr/>
          <p:nvPr/>
        </p:nvSpPr>
        <p:spPr>
          <a:xfrm>
            <a:off x="10267950" y="2171700"/>
            <a:ext cx="152400" cy="152400"/>
          </a:xfrm>
          <a:prstGeom prst="ellipse">
            <a:avLst/>
          </a:prstGeom>
          <a:solidFill>
            <a:srgbClr val="2A6BE0"/>
          </a:solidFill>
          <a:ln cap="flat" cmpd="sng" w="23800">
            <a:solidFill>
              <a:srgbClr val="2A6B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3"/>
          <p:cNvSpPr/>
          <p:nvPr/>
        </p:nvSpPr>
        <p:spPr>
          <a:xfrm>
            <a:off x="609600" y="2381250"/>
            <a:ext cx="2614612" cy="3743325"/>
          </a:xfrm>
          <a:prstGeom prst="roundRect">
            <a:avLst>
              <a:gd fmla="val 510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3"/>
          <p:cNvSpPr txBox="1"/>
          <p:nvPr/>
        </p:nvSpPr>
        <p:spPr>
          <a:xfrm>
            <a:off x="781050" y="2552700"/>
            <a:ext cx="227171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5" u="none" cap="none" strike="noStrike">
                <a:solidFill>
                  <a:srgbClr val="0E1B33"/>
                </a:solidFill>
                <a:latin typeface="Instrument Serif"/>
                <a:ea typeface="Instrument Serif"/>
                <a:cs typeface="Instrument Serif"/>
                <a:sym typeface="Instrument Serif"/>
              </a:rPr>
              <a:t>October</a:t>
            </a:r>
            <a:endParaRPr/>
          </a:p>
        </p:txBody>
      </p:sp>
      <p:sp>
        <p:nvSpPr>
          <p:cNvPr id="122" name="Google Shape;122;p3"/>
          <p:cNvSpPr txBox="1"/>
          <p:nvPr/>
        </p:nvSpPr>
        <p:spPr>
          <a:xfrm>
            <a:off x="781050" y="2857500"/>
            <a:ext cx="2271712"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2A6BE0"/>
                </a:solidFill>
                <a:latin typeface="Instrument Sans"/>
                <a:ea typeface="Instrument Sans"/>
                <a:cs typeface="Instrument Sans"/>
                <a:sym typeface="Instrument Sans"/>
              </a:rPr>
              <a:t>Launch and learn</a:t>
            </a:r>
            <a:endParaRPr/>
          </a:p>
        </p:txBody>
      </p:sp>
      <p:sp>
        <p:nvSpPr>
          <p:cNvPr id="123" name="Google Shape;123;p3"/>
          <p:cNvSpPr/>
          <p:nvPr/>
        </p:nvSpPr>
        <p:spPr>
          <a:xfrm>
            <a:off x="781050" y="3124200"/>
            <a:ext cx="1491996" cy="257175"/>
          </a:xfrm>
          <a:prstGeom prst="roundRect">
            <a:avLst>
              <a:gd fmla="val 25925" name="adj"/>
            </a:avLst>
          </a:prstGeom>
          <a:solidFill>
            <a:srgbClr val="F4F8FD"/>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3"/>
          <p:cNvSpPr txBox="1"/>
          <p:nvPr/>
        </p:nvSpPr>
        <p:spPr>
          <a:xfrm>
            <a:off x="885825" y="3124200"/>
            <a:ext cx="1491996"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825" u="none" cap="none" strike="noStrike">
                <a:solidFill>
                  <a:srgbClr val="4A5A75"/>
                </a:solidFill>
                <a:latin typeface="JetBrains Mono"/>
                <a:ea typeface="JetBrains Mono"/>
                <a:cs typeface="JetBrains Mono"/>
                <a:sym typeface="JetBrains Mono"/>
              </a:rPr>
              <a:t>OCT  $20,000 MEDIA</a:t>
            </a:r>
            <a:endParaRPr/>
          </a:p>
        </p:txBody>
      </p:sp>
      <p:graphicFrame>
        <p:nvGraphicFramePr>
          <p:cNvPr id="125" name="Google Shape;125;p3"/>
          <p:cNvGraphicFramePr/>
          <p:nvPr/>
        </p:nvGraphicFramePr>
        <p:xfrm>
          <a:off x="781050" y="3457575"/>
          <a:ext cx="3000000" cy="3000000"/>
        </p:xfrm>
        <a:graphic>
          <a:graphicData uri="http://schemas.openxmlformats.org/drawingml/2006/table">
            <a:tbl>
              <a:tblPr>
                <a:noFill/>
                <a:tableStyleId>{4F415798-8E4C-4216-B135-C9F54E9B0F97}</a:tableStyleId>
              </a:tblPr>
              <a:tblGrid>
                <a:gridCol w="552450"/>
                <a:gridCol w="1719250"/>
              </a:tblGrid>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SEARCH</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move search into an account you own, lead with brand terms, and keep non-brand running.</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SOCIAL</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start prepping the Meta ad account, integrations and tracking.</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TRACKING</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fix the Meta pixels, set up Meta CAPI, and merge Google Tag Manager.</a:t>
                      </a:r>
                      <a:endParaRPr/>
                    </a:p>
                  </a:txBody>
                  <a:tcPr marT="57150" marB="57150" marR="0" marL="95250"/>
                </a:tc>
              </a:tr>
            </a:tbl>
          </a:graphicData>
        </a:graphic>
      </p:graphicFrame>
      <p:sp>
        <p:nvSpPr>
          <p:cNvPr id="126" name="Google Shape;126;p3"/>
          <p:cNvSpPr/>
          <p:nvPr/>
        </p:nvSpPr>
        <p:spPr>
          <a:xfrm>
            <a:off x="3395662" y="2381250"/>
            <a:ext cx="2614612" cy="3743325"/>
          </a:xfrm>
          <a:prstGeom prst="roundRect">
            <a:avLst>
              <a:gd fmla="val 510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3"/>
          <p:cNvSpPr txBox="1"/>
          <p:nvPr/>
        </p:nvSpPr>
        <p:spPr>
          <a:xfrm>
            <a:off x="3567112" y="2552700"/>
            <a:ext cx="227171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5" u="none" cap="none" strike="noStrike">
                <a:solidFill>
                  <a:srgbClr val="0E1B33"/>
                </a:solidFill>
                <a:latin typeface="Instrument Serif"/>
                <a:ea typeface="Instrument Serif"/>
                <a:cs typeface="Instrument Serif"/>
                <a:sym typeface="Instrument Serif"/>
              </a:rPr>
              <a:t>November</a:t>
            </a:r>
            <a:endParaRPr/>
          </a:p>
        </p:txBody>
      </p:sp>
      <p:sp>
        <p:nvSpPr>
          <p:cNvPr id="128" name="Google Shape;128;p3"/>
          <p:cNvSpPr txBox="1"/>
          <p:nvPr/>
        </p:nvSpPr>
        <p:spPr>
          <a:xfrm>
            <a:off x="3567112" y="2857500"/>
            <a:ext cx="2271712"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2A6BE0"/>
                </a:solidFill>
                <a:latin typeface="Instrument Sans"/>
                <a:ea typeface="Instrument Sans"/>
                <a:cs typeface="Instrument Sans"/>
                <a:sym typeface="Instrument Sans"/>
              </a:rPr>
              <a:t>Scale what works</a:t>
            </a:r>
            <a:endParaRPr/>
          </a:p>
        </p:txBody>
      </p:sp>
      <p:sp>
        <p:nvSpPr>
          <p:cNvPr id="129" name="Google Shape;129;p3"/>
          <p:cNvSpPr/>
          <p:nvPr/>
        </p:nvSpPr>
        <p:spPr>
          <a:xfrm>
            <a:off x="3567112" y="3124200"/>
            <a:ext cx="1491996" cy="257175"/>
          </a:xfrm>
          <a:prstGeom prst="roundRect">
            <a:avLst>
              <a:gd fmla="val 25925" name="adj"/>
            </a:avLst>
          </a:prstGeom>
          <a:solidFill>
            <a:srgbClr val="F4F8FD"/>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3"/>
          <p:cNvSpPr txBox="1"/>
          <p:nvPr/>
        </p:nvSpPr>
        <p:spPr>
          <a:xfrm>
            <a:off x="3671888" y="3124200"/>
            <a:ext cx="1491996"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825" u="none" cap="none" strike="noStrike">
                <a:solidFill>
                  <a:srgbClr val="4A5A75"/>
                </a:solidFill>
                <a:latin typeface="JetBrains Mono"/>
                <a:ea typeface="JetBrains Mono"/>
                <a:cs typeface="JetBrains Mono"/>
                <a:sym typeface="JetBrains Mono"/>
              </a:rPr>
              <a:t>NOV  $22,500 MEDIA</a:t>
            </a:r>
            <a:endParaRPr/>
          </a:p>
        </p:txBody>
      </p:sp>
      <p:graphicFrame>
        <p:nvGraphicFramePr>
          <p:cNvPr id="131" name="Google Shape;131;p3"/>
          <p:cNvGraphicFramePr/>
          <p:nvPr/>
        </p:nvGraphicFramePr>
        <p:xfrm>
          <a:off x="3567112" y="3457575"/>
          <a:ext cx="3000000" cy="3000000"/>
        </p:xfrm>
        <a:graphic>
          <a:graphicData uri="http://schemas.openxmlformats.org/drawingml/2006/table">
            <a:tbl>
              <a:tblPr>
                <a:noFill/>
                <a:tableStyleId>{4F415798-8E4C-4216-B135-C9F54E9B0F97}</a:tableStyleId>
              </a:tblPr>
              <a:tblGrid>
                <a:gridCol w="552450"/>
                <a:gridCol w="1719250"/>
              </a:tblGrid>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SEARCH</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add buyer-led non-brand campaigns and fund the ones that stay under $70 a qualified sign-up.</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SOCIAL</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Meta goes live. We move spend to the ads that bring qualified sign-ups.</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TRACKING</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import purchases with their real value, and full reporting starts.</a:t>
                      </a:r>
                      <a:endParaRPr/>
                    </a:p>
                  </a:txBody>
                  <a:tcPr marT="57150" marB="57150" marR="0" marL="95250"/>
                </a:tc>
              </a:tr>
            </a:tbl>
          </a:graphicData>
        </a:graphic>
      </p:graphicFrame>
      <p:sp>
        <p:nvSpPr>
          <p:cNvPr id="132" name="Google Shape;132;p3"/>
          <p:cNvSpPr/>
          <p:nvPr/>
        </p:nvSpPr>
        <p:spPr>
          <a:xfrm>
            <a:off x="6181725" y="2381250"/>
            <a:ext cx="2614612" cy="3743325"/>
          </a:xfrm>
          <a:prstGeom prst="roundRect">
            <a:avLst>
              <a:gd fmla="val 510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txBox="1"/>
          <p:nvPr/>
        </p:nvSpPr>
        <p:spPr>
          <a:xfrm>
            <a:off x="6353175" y="2552700"/>
            <a:ext cx="227171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5" u="none" cap="none" strike="noStrike">
                <a:solidFill>
                  <a:srgbClr val="0E1B33"/>
                </a:solidFill>
                <a:latin typeface="Instrument Serif"/>
                <a:ea typeface="Instrument Serif"/>
                <a:cs typeface="Instrument Serif"/>
                <a:sym typeface="Instrument Serif"/>
              </a:rPr>
              <a:t>December</a:t>
            </a:r>
            <a:endParaRPr/>
          </a:p>
        </p:txBody>
      </p:sp>
      <p:sp>
        <p:nvSpPr>
          <p:cNvPr id="134" name="Google Shape;134;p3"/>
          <p:cNvSpPr txBox="1"/>
          <p:nvPr/>
        </p:nvSpPr>
        <p:spPr>
          <a:xfrm>
            <a:off x="6353175" y="2857500"/>
            <a:ext cx="2271712"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2A6BE0"/>
                </a:solidFill>
                <a:latin typeface="Instrument Sans"/>
                <a:ea typeface="Instrument Sans"/>
                <a:cs typeface="Instrument Sans"/>
                <a:sym typeface="Instrument Sans"/>
              </a:rPr>
              <a:t>Fund the winners</a:t>
            </a:r>
            <a:endParaRPr/>
          </a:p>
        </p:txBody>
      </p:sp>
      <p:sp>
        <p:nvSpPr>
          <p:cNvPr id="135" name="Google Shape;135;p3"/>
          <p:cNvSpPr/>
          <p:nvPr/>
        </p:nvSpPr>
        <p:spPr>
          <a:xfrm>
            <a:off x="6353175" y="3124200"/>
            <a:ext cx="1491996" cy="257175"/>
          </a:xfrm>
          <a:prstGeom prst="roundRect">
            <a:avLst>
              <a:gd fmla="val 25925" name="adj"/>
            </a:avLst>
          </a:prstGeom>
          <a:solidFill>
            <a:srgbClr val="F4F8FD"/>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3"/>
          <p:cNvSpPr txBox="1"/>
          <p:nvPr/>
        </p:nvSpPr>
        <p:spPr>
          <a:xfrm>
            <a:off x="6457950" y="3124200"/>
            <a:ext cx="1491996"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825" u="none" cap="none" strike="noStrike">
                <a:solidFill>
                  <a:srgbClr val="4A5A75"/>
                </a:solidFill>
                <a:latin typeface="JetBrains Mono"/>
                <a:ea typeface="JetBrains Mono"/>
                <a:cs typeface="JetBrains Mono"/>
                <a:sym typeface="JetBrains Mono"/>
              </a:rPr>
              <a:t>DEC  $25,000 MEDIA</a:t>
            </a:r>
            <a:endParaRPr/>
          </a:p>
        </p:txBody>
      </p:sp>
      <p:graphicFrame>
        <p:nvGraphicFramePr>
          <p:cNvPr id="137" name="Google Shape;137;p3"/>
          <p:cNvGraphicFramePr/>
          <p:nvPr/>
        </p:nvGraphicFramePr>
        <p:xfrm>
          <a:off x="6353175" y="3457575"/>
          <a:ext cx="3000000" cy="3000000"/>
        </p:xfrm>
        <a:graphic>
          <a:graphicData uri="http://schemas.openxmlformats.org/drawingml/2006/table">
            <a:tbl>
              <a:tblPr>
                <a:noFill/>
                <a:tableStyleId>{4F415798-8E4C-4216-B135-C9F54E9B0F97}</a:tableStyleId>
              </a:tblPr>
              <a:tblGrid>
                <a:gridCol w="552450"/>
                <a:gridCol w="1719250"/>
              </a:tblGrid>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SEARCH</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With two months of non-brand data, we scale the keywords that work and plan ChatGPT ads for Q1.</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SOCIAL</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open Meta retargeting, raise spend on the ads that stay under $70, and plan LinkedIn and Reddit for Q1.</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TRACKING</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You have two months of clean data, so you choose the next move from numbers you trust.</a:t>
                      </a:r>
                      <a:endParaRPr/>
                    </a:p>
                  </a:txBody>
                  <a:tcPr marT="57150" marB="57150" marR="0" marL="95250"/>
                </a:tc>
              </a:tr>
            </a:tbl>
          </a:graphicData>
        </a:graphic>
      </p:graphicFrame>
      <p:sp>
        <p:nvSpPr>
          <p:cNvPr id="138" name="Google Shape;138;p3"/>
          <p:cNvSpPr/>
          <p:nvPr/>
        </p:nvSpPr>
        <p:spPr>
          <a:xfrm>
            <a:off x="8967788" y="2381250"/>
            <a:ext cx="2614612" cy="3743325"/>
          </a:xfrm>
          <a:prstGeom prst="roundRect">
            <a:avLst>
              <a:gd fmla="val 5100" name="adj"/>
            </a:avLst>
          </a:prstGeom>
          <a:solidFill>
            <a:srgbClr val="0E1B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3"/>
          <p:cNvSpPr txBox="1"/>
          <p:nvPr/>
        </p:nvSpPr>
        <p:spPr>
          <a:xfrm>
            <a:off x="9139238" y="2552700"/>
            <a:ext cx="227171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5" u="none" cap="none" strike="noStrike">
                <a:solidFill>
                  <a:srgbClr val="F4F8FD"/>
                </a:solidFill>
                <a:latin typeface="Instrument Serif"/>
                <a:ea typeface="Instrument Serif"/>
                <a:cs typeface="Instrument Serif"/>
                <a:sym typeface="Instrument Serif"/>
              </a:rPr>
              <a:t>January</a:t>
            </a:r>
            <a:endParaRPr/>
          </a:p>
        </p:txBody>
      </p:sp>
      <p:sp>
        <p:nvSpPr>
          <p:cNvPr id="140" name="Google Shape;140;p3"/>
          <p:cNvSpPr txBox="1"/>
          <p:nvPr/>
        </p:nvSpPr>
        <p:spPr>
          <a:xfrm>
            <a:off x="9139238" y="2857500"/>
            <a:ext cx="2271712"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8CE0EC"/>
                </a:solidFill>
                <a:latin typeface="Instrument Sans"/>
                <a:ea typeface="Instrument Sans"/>
                <a:cs typeface="Instrument Sans"/>
                <a:sym typeface="Instrument Sans"/>
              </a:rPr>
              <a:t>The result</a:t>
            </a:r>
            <a:endParaRPr/>
          </a:p>
        </p:txBody>
      </p:sp>
      <p:sp>
        <p:nvSpPr>
          <p:cNvPr id="141" name="Google Shape;141;p3"/>
          <p:cNvSpPr txBox="1"/>
          <p:nvPr/>
        </p:nvSpPr>
        <p:spPr>
          <a:xfrm>
            <a:off x="9139238" y="3143250"/>
            <a:ext cx="2271712" cy="1905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011" u="none" cap="none" strike="noStrike">
                <a:solidFill>
                  <a:srgbClr val="B7C4DA"/>
                </a:solidFill>
                <a:latin typeface="Instrument Sans"/>
                <a:ea typeface="Instrument Sans"/>
                <a:cs typeface="Instrument Sans"/>
                <a:sym typeface="Instrument Sans"/>
              </a:rPr>
              <a:t>You own your accounts, and you choose the next channel to fund from your own numbers.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145" name="Shape 145"/>
        <p:cNvGrpSpPr/>
        <p:nvPr/>
      </p:nvGrpSpPr>
      <p:grpSpPr>
        <a:xfrm>
          <a:off x="0" y="0"/>
          <a:ext cx="0" cy="0"/>
          <a:chOff x="0" y="0"/>
          <a:chExt cx="0" cy="0"/>
        </a:xfrm>
      </p:grpSpPr>
      <p:sp>
        <p:nvSpPr>
          <p:cNvPr id="146" name="Google Shape;146;p4"/>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4"/>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LEVER 01  PAID SEARCH</a:t>
            </a:r>
            <a:endParaRPr/>
          </a:p>
        </p:txBody>
      </p:sp>
      <p:sp>
        <p:nvSpPr>
          <p:cNvPr id="148" name="Google Shape;148;p4"/>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900" u="none" cap="none" strike="noStrike">
                <a:solidFill>
                  <a:srgbClr val="0E1B33"/>
                </a:solidFill>
                <a:latin typeface="Instrument Serif"/>
                <a:ea typeface="Instrument Serif"/>
                <a:cs typeface="Instrument Serif"/>
                <a:sym typeface="Instrument Serif"/>
              </a:rPr>
              <a:t>Five buyers, </a:t>
            </a:r>
            <a:r>
              <a:rPr b="0" i="1" lang="en-US" sz="3900" u="none" cap="none" strike="noStrike">
                <a:solidFill>
                  <a:srgbClr val="2A6BE0"/>
                </a:solidFill>
                <a:latin typeface="Instrument Serif"/>
                <a:ea typeface="Instrument Serif"/>
                <a:cs typeface="Instrument Serif"/>
                <a:sym typeface="Instrument Serif"/>
              </a:rPr>
              <a:t>five different ads</a:t>
            </a:r>
            <a:endParaRPr/>
          </a:p>
        </p:txBody>
      </p:sp>
      <p:sp>
        <p:nvSpPr>
          <p:cNvPr id="149" name="Google Shape;149;p4"/>
          <p:cNvSpPr txBox="1"/>
          <p:nvPr/>
        </p:nvSpPr>
        <p:spPr>
          <a:xfrm>
            <a:off x="609600" y="1428750"/>
            <a:ext cx="10972800" cy="300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We split non-brand search by buyer, then write each ad around what SignWell offers: API pricing, team seats, a signed BAA, and NOM-151.</a:t>
            </a:r>
            <a:endParaRPr/>
          </a:p>
        </p:txBody>
      </p:sp>
      <p:sp>
        <p:nvSpPr>
          <p:cNvPr id="150" name="Google Shape;150;p4"/>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04</a:t>
            </a:r>
            <a:endParaRPr/>
          </a:p>
        </p:txBody>
      </p:sp>
      <p:sp>
        <p:nvSpPr>
          <p:cNvPr id="151" name="Google Shape;151;p4"/>
          <p:cNvSpPr/>
          <p:nvPr/>
        </p:nvSpPr>
        <p:spPr>
          <a:xfrm>
            <a:off x="609600" y="1933575"/>
            <a:ext cx="2057400" cy="1495425"/>
          </a:xfrm>
          <a:prstGeom prst="roundRect">
            <a:avLst>
              <a:gd fmla="val 764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4"/>
          <p:cNvSpPr txBox="1"/>
          <p:nvPr/>
        </p:nvSpPr>
        <p:spPr>
          <a:xfrm>
            <a:off x="752475" y="2085975"/>
            <a:ext cx="177165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0E1B33"/>
                </a:solidFill>
                <a:latin typeface="Instrument Sans"/>
                <a:ea typeface="Instrument Sans"/>
                <a:cs typeface="Instrument Sans"/>
                <a:sym typeface="Instrument Sans"/>
              </a:rPr>
              <a:t>API builders</a:t>
            </a:r>
            <a:endParaRPr/>
          </a:p>
        </p:txBody>
      </p:sp>
      <p:sp>
        <p:nvSpPr>
          <p:cNvPr id="153" name="Google Shape;153;p4"/>
          <p:cNvSpPr txBox="1"/>
          <p:nvPr/>
        </p:nvSpPr>
        <p:spPr>
          <a:xfrm>
            <a:off x="752475" y="2295525"/>
            <a:ext cx="1771650" cy="43815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1275" u="none" cap="none" strike="noStrike">
                <a:solidFill>
                  <a:srgbClr val="1B4CB0"/>
                </a:solidFill>
                <a:latin typeface="Instrument Sans"/>
                <a:ea typeface="Instrument Sans"/>
                <a:cs typeface="Instrument Sans"/>
                <a:sym typeface="Instrument Sans"/>
              </a:rPr>
              <a:t>25 Live API Docs Free Monthly</a:t>
            </a:r>
            <a:endParaRPr/>
          </a:p>
        </p:txBody>
      </p:sp>
      <p:sp>
        <p:nvSpPr>
          <p:cNvPr id="154" name="Google Shape;154;p4"/>
          <p:cNvSpPr txBox="1"/>
          <p:nvPr/>
        </p:nvSpPr>
        <p:spPr>
          <a:xfrm>
            <a:off x="752475" y="2771775"/>
            <a:ext cx="1771650" cy="59055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Send legally binding API documents with a card on file. Then from $0.85 each.</a:t>
            </a:r>
            <a:endParaRPr/>
          </a:p>
        </p:txBody>
      </p:sp>
      <p:sp>
        <p:nvSpPr>
          <p:cNvPr id="155" name="Google Shape;155;p4"/>
          <p:cNvSpPr/>
          <p:nvPr/>
        </p:nvSpPr>
        <p:spPr>
          <a:xfrm>
            <a:off x="2838450" y="1933575"/>
            <a:ext cx="2057400" cy="1495425"/>
          </a:xfrm>
          <a:prstGeom prst="roundRect">
            <a:avLst>
              <a:gd fmla="val 764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4"/>
          <p:cNvSpPr txBox="1"/>
          <p:nvPr/>
        </p:nvSpPr>
        <p:spPr>
          <a:xfrm>
            <a:off x="2981325" y="2085975"/>
            <a:ext cx="177165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0E1B33"/>
                </a:solidFill>
                <a:latin typeface="Instrument Sans"/>
                <a:ea typeface="Instrument Sans"/>
                <a:cs typeface="Instrument Sans"/>
                <a:sym typeface="Instrument Sans"/>
              </a:rPr>
              <a:t>Growing teams</a:t>
            </a:r>
            <a:endParaRPr/>
          </a:p>
        </p:txBody>
      </p:sp>
      <p:sp>
        <p:nvSpPr>
          <p:cNvPr id="157" name="Google Shape;157;p4"/>
          <p:cNvSpPr txBox="1"/>
          <p:nvPr/>
        </p:nvSpPr>
        <p:spPr>
          <a:xfrm>
            <a:off x="2981325" y="2295525"/>
            <a:ext cx="1771650" cy="43815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1275" u="none" cap="none" strike="noStrike">
                <a:solidFill>
                  <a:srgbClr val="1B4CB0"/>
                </a:solidFill>
                <a:latin typeface="Instrument Sans"/>
                <a:ea typeface="Instrument Sans"/>
                <a:cs typeface="Instrument Sans"/>
                <a:sym typeface="Instrument Sans"/>
              </a:rPr>
              <a:t>3 Senders From $30 a Month</a:t>
            </a:r>
            <a:endParaRPr/>
          </a:p>
        </p:txBody>
      </p:sp>
      <p:sp>
        <p:nvSpPr>
          <p:cNvPr id="158" name="Google Shape;158;p4"/>
          <p:cNvSpPr txBox="1"/>
          <p:nvPr/>
        </p:nvSpPr>
        <p:spPr>
          <a:xfrm>
            <a:off x="2981325" y="2771775"/>
            <a:ext cx="1771650" cy="59055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Unlimited templates for your team. $30 billed yearly, or $36 monthly with no contract.</a:t>
            </a:r>
            <a:endParaRPr/>
          </a:p>
        </p:txBody>
      </p:sp>
      <p:sp>
        <p:nvSpPr>
          <p:cNvPr id="159" name="Google Shape;159;p4"/>
          <p:cNvSpPr/>
          <p:nvPr/>
        </p:nvSpPr>
        <p:spPr>
          <a:xfrm>
            <a:off x="5067300" y="1933575"/>
            <a:ext cx="2057400" cy="1495425"/>
          </a:xfrm>
          <a:prstGeom prst="roundRect">
            <a:avLst>
              <a:gd fmla="val 764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4"/>
          <p:cNvSpPr txBox="1"/>
          <p:nvPr/>
        </p:nvSpPr>
        <p:spPr>
          <a:xfrm>
            <a:off x="5210175" y="2085975"/>
            <a:ext cx="177165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0E1B33"/>
                </a:solidFill>
                <a:latin typeface="Instrument Sans"/>
                <a:ea typeface="Instrument Sans"/>
                <a:cs typeface="Instrument Sans"/>
                <a:sym typeface="Instrument Sans"/>
              </a:rPr>
              <a:t>Healthcare</a:t>
            </a:r>
            <a:endParaRPr/>
          </a:p>
        </p:txBody>
      </p:sp>
      <p:sp>
        <p:nvSpPr>
          <p:cNvPr id="161" name="Google Shape;161;p4"/>
          <p:cNvSpPr txBox="1"/>
          <p:nvPr/>
        </p:nvSpPr>
        <p:spPr>
          <a:xfrm>
            <a:off x="5210175" y="2295525"/>
            <a:ext cx="1771650" cy="43815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1275" u="none" cap="none" strike="noStrike">
                <a:solidFill>
                  <a:srgbClr val="1B4CB0"/>
                </a:solidFill>
                <a:latin typeface="Instrument Sans"/>
                <a:ea typeface="Instrument Sans"/>
                <a:cs typeface="Instrument Sans"/>
                <a:sym typeface="Instrument Sans"/>
              </a:rPr>
              <a:t>Signed BAA, Month to Month</a:t>
            </a:r>
            <a:endParaRPr/>
          </a:p>
        </p:txBody>
      </p:sp>
      <p:sp>
        <p:nvSpPr>
          <p:cNvPr id="162" name="Google Shape;162;p4"/>
          <p:cNvSpPr txBox="1"/>
          <p:nvPr/>
        </p:nvSpPr>
        <p:spPr>
          <a:xfrm>
            <a:off x="5210175" y="2771775"/>
            <a:ext cx="1771650" cy="59055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HIPAA eSignatures with a signed BAA and SOC 2 Type II. Built for home care teams.</a:t>
            </a:r>
            <a:endParaRPr/>
          </a:p>
        </p:txBody>
      </p:sp>
      <p:sp>
        <p:nvSpPr>
          <p:cNvPr id="163" name="Google Shape;163;p4"/>
          <p:cNvSpPr/>
          <p:nvPr/>
        </p:nvSpPr>
        <p:spPr>
          <a:xfrm>
            <a:off x="7296150" y="1933575"/>
            <a:ext cx="2057400" cy="1495425"/>
          </a:xfrm>
          <a:prstGeom prst="roundRect">
            <a:avLst>
              <a:gd fmla="val 764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4"/>
          <p:cNvSpPr txBox="1"/>
          <p:nvPr/>
        </p:nvSpPr>
        <p:spPr>
          <a:xfrm>
            <a:off x="7439025" y="2085975"/>
            <a:ext cx="177165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0E1B33"/>
                </a:solidFill>
                <a:latin typeface="Instrument Sans"/>
                <a:ea typeface="Instrument Sans"/>
                <a:cs typeface="Instrument Sans"/>
                <a:sym typeface="Instrument Sans"/>
              </a:rPr>
              <a:t>DocuSign switchers</a:t>
            </a:r>
            <a:endParaRPr/>
          </a:p>
        </p:txBody>
      </p:sp>
      <p:sp>
        <p:nvSpPr>
          <p:cNvPr id="165" name="Google Shape;165;p4"/>
          <p:cNvSpPr txBox="1"/>
          <p:nvPr/>
        </p:nvSpPr>
        <p:spPr>
          <a:xfrm>
            <a:off x="7439025" y="2295525"/>
            <a:ext cx="1771650" cy="43815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1275" u="none" cap="none" strike="noStrike">
                <a:solidFill>
                  <a:srgbClr val="1B4CB0"/>
                </a:solidFill>
                <a:latin typeface="Instrument Sans"/>
                <a:ea typeface="Instrument Sans"/>
                <a:cs typeface="Instrument Sans"/>
                <a:sym typeface="Instrument Sans"/>
              </a:rPr>
              <a:t>Unlimited Documents From $12</a:t>
            </a:r>
            <a:endParaRPr/>
          </a:p>
        </p:txBody>
      </p:sp>
      <p:sp>
        <p:nvSpPr>
          <p:cNvPr id="166" name="Google Shape;166;p4"/>
          <p:cNvSpPr txBox="1"/>
          <p:nvPr/>
        </p:nvSpPr>
        <p:spPr>
          <a:xfrm>
            <a:off x="7439025" y="2771775"/>
            <a:ext cx="1771650" cy="59055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Leaving DocuSign? Send unlimited documents from $12 a month. Cancel anytime.</a:t>
            </a:r>
            <a:endParaRPr/>
          </a:p>
        </p:txBody>
      </p:sp>
      <p:sp>
        <p:nvSpPr>
          <p:cNvPr id="167" name="Google Shape;167;p4"/>
          <p:cNvSpPr/>
          <p:nvPr/>
        </p:nvSpPr>
        <p:spPr>
          <a:xfrm>
            <a:off x="9525000" y="1933575"/>
            <a:ext cx="2057400" cy="1495425"/>
          </a:xfrm>
          <a:prstGeom prst="roundRect">
            <a:avLst>
              <a:gd fmla="val 764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4"/>
          <p:cNvSpPr txBox="1"/>
          <p:nvPr/>
        </p:nvSpPr>
        <p:spPr>
          <a:xfrm>
            <a:off x="9667875" y="2085975"/>
            <a:ext cx="177165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0E1B33"/>
                </a:solidFill>
                <a:latin typeface="Instrument Sans"/>
                <a:ea typeface="Instrument Sans"/>
                <a:cs typeface="Instrument Sans"/>
                <a:sym typeface="Instrument Sans"/>
              </a:rPr>
              <a:t>Mexico</a:t>
            </a:r>
            <a:endParaRPr/>
          </a:p>
        </p:txBody>
      </p:sp>
      <p:sp>
        <p:nvSpPr>
          <p:cNvPr id="169" name="Google Shape;169;p4"/>
          <p:cNvSpPr txBox="1"/>
          <p:nvPr/>
        </p:nvSpPr>
        <p:spPr>
          <a:xfrm>
            <a:off x="9667875" y="2295525"/>
            <a:ext cx="1771650" cy="43815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1275" u="none" cap="none" strike="noStrike">
                <a:solidFill>
                  <a:srgbClr val="1B4CB0"/>
                </a:solidFill>
                <a:latin typeface="Instrument Sans"/>
                <a:ea typeface="Instrument Sans"/>
                <a:cs typeface="Instrument Sans"/>
                <a:sym typeface="Instrument Sans"/>
              </a:rPr>
              <a:t>Firma Electrónica NOM-151</a:t>
            </a:r>
            <a:endParaRPr/>
          </a:p>
        </p:txBody>
      </p:sp>
      <p:sp>
        <p:nvSpPr>
          <p:cNvPr id="170" name="Google Shape;170;p4"/>
          <p:cNvSpPr txBox="1"/>
          <p:nvPr/>
        </p:nvSpPr>
        <p:spPr>
          <a:xfrm>
            <a:off x="9667875" y="2771775"/>
            <a:ext cx="1771650" cy="59055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Firma contratos con validez legal en México. Empieza gratis, sin tarjeta.</a:t>
            </a:r>
            <a:endParaRPr/>
          </a:p>
        </p:txBody>
      </p:sp>
      <p:sp>
        <p:nvSpPr>
          <p:cNvPr id="171" name="Google Shape;171;p4"/>
          <p:cNvSpPr/>
          <p:nvPr/>
        </p:nvSpPr>
        <p:spPr>
          <a:xfrm>
            <a:off x="609600" y="3600450"/>
            <a:ext cx="3543300" cy="2524125"/>
          </a:xfrm>
          <a:prstGeom prst="roundRect">
            <a:avLst>
              <a:gd fmla="val 528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4"/>
          <p:cNvSpPr/>
          <p:nvPr/>
        </p:nvSpPr>
        <p:spPr>
          <a:xfrm>
            <a:off x="4324350" y="3600450"/>
            <a:ext cx="3543300" cy="2524125"/>
          </a:xfrm>
          <a:prstGeom prst="roundRect">
            <a:avLst>
              <a:gd fmla="val 528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4"/>
          <p:cNvSpPr/>
          <p:nvPr/>
        </p:nvSpPr>
        <p:spPr>
          <a:xfrm>
            <a:off x="8039100" y="3600450"/>
            <a:ext cx="3543300" cy="2524125"/>
          </a:xfrm>
          <a:prstGeom prst="roundRect">
            <a:avLst>
              <a:gd fmla="val 5283" name="adj"/>
            </a:avLst>
          </a:prstGeom>
          <a:solidFill>
            <a:srgbClr val="E3E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4"/>
          <p:cNvSpPr txBox="1"/>
          <p:nvPr/>
        </p:nvSpPr>
        <p:spPr>
          <a:xfrm>
            <a:off x="819150" y="3810000"/>
            <a:ext cx="314325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Rebuild</a:t>
            </a:r>
            <a:endParaRPr/>
          </a:p>
        </p:txBody>
      </p:sp>
      <p:sp>
        <p:nvSpPr>
          <p:cNvPr id="175" name="Google Shape;175;p4"/>
          <p:cNvSpPr txBox="1"/>
          <p:nvPr/>
        </p:nvSpPr>
        <p:spPr>
          <a:xfrm>
            <a:off x="819150" y="4076700"/>
            <a:ext cx="3143250" cy="993458"/>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open a Google Ads account in your name.</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split non-brand by buyer: API, teams, healthcare and switchers.</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stop paying for login searches.</a:t>
            </a:r>
            <a:endParaRPr/>
          </a:p>
        </p:txBody>
      </p:sp>
      <p:sp>
        <p:nvSpPr>
          <p:cNvPr id="176" name="Google Shape;176;p4"/>
          <p:cNvSpPr txBox="1"/>
          <p:nvPr/>
        </p:nvSpPr>
        <p:spPr>
          <a:xfrm>
            <a:off x="4533900" y="3810000"/>
            <a:ext cx="314325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Reallocate</a:t>
            </a:r>
            <a:endParaRPr/>
          </a:p>
        </p:txBody>
      </p:sp>
      <p:sp>
        <p:nvSpPr>
          <p:cNvPr id="177" name="Google Shape;177;p4"/>
          <p:cNvSpPr txBox="1"/>
          <p:nvPr/>
        </p:nvSpPr>
        <p:spPr>
          <a:xfrm>
            <a:off x="4533900" y="4076700"/>
            <a:ext cx="3143250" cy="1179909"/>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cap the current non-brand keywords at $1,700 a month, which is what they earn today.</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The rest funds brand, switcher, vertical and Meta campaigns.</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LinkedIn stays with your team for now.</a:t>
            </a:r>
            <a:endParaRPr/>
          </a:p>
        </p:txBody>
      </p:sp>
      <p:sp>
        <p:nvSpPr>
          <p:cNvPr id="178" name="Google Shape;178;p4"/>
          <p:cNvSpPr txBox="1"/>
          <p:nvPr/>
        </p:nvSpPr>
        <p:spPr>
          <a:xfrm>
            <a:off x="8248650" y="3810000"/>
            <a:ext cx="314325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Measure</a:t>
            </a:r>
            <a:endParaRPr/>
          </a:p>
        </p:txBody>
      </p:sp>
      <p:sp>
        <p:nvSpPr>
          <p:cNvPr id="179" name="Google Shape;179;p4"/>
          <p:cNvSpPr txBox="1"/>
          <p:nvPr/>
        </p:nvSpPr>
        <p:spPr>
          <a:xfrm>
            <a:off x="8248650" y="4076700"/>
            <a:ext cx="3143250" cy="1179909"/>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measure every campaign against $70 a qualified sign-up, your break-even.</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report paying customers and ACV by campaign.</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You get a live Looker Studio dashboard instead of a PDF.</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183" name="Shape 183"/>
        <p:cNvGrpSpPr/>
        <p:nvPr/>
      </p:nvGrpSpPr>
      <p:grpSpPr>
        <a:xfrm>
          <a:off x="0" y="0"/>
          <a:ext cx="0" cy="0"/>
          <a:chOff x="0" y="0"/>
          <a:chExt cx="0" cy="0"/>
        </a:xfrm>
      </p:grpSpPr>
      <p:sp>
        <p:nvSpPr>
          <p:cNvPr id="184" name="Google Shape;184;p5"/>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5"/>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MEASUREMENT AND REPORTING</a:t>
            </a:r>
            <a:endParaRPr/>
          </a:p>
        </p:txBody>
      </p:sp>
      <p:sp>
        <p:nvSpPr>
          <p:cNvPr id="186" name="Google Shape;186;p5"/>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900" u="none" cap="none" strike="noStrike">
                <a:solidFill>
                  <a:srgbClr val="0E1B33"/>
                </a:solidFill>
                <a:latin typeface="Instrument Serif"/>
                <a:ea typeface="Instrument Serif"/>
                <a:cs typeface="Instrument Serif"/>
                <a:sym typeface="Instrument Serif"/>
              </a:rPr>
              <a:t>Your tracking, and </a:t>
            </a:r>
            <a:r>
              <a:rPr b="0" i="1" lang="en-US" sz="3900" u="none" cap="none" strike="noStrike">
                <a:solidFill>
                  <a:srgbClr val="2A6BE0"/>
                </a:solidFill>
                <a:latin typeface="Instrument Serif"/>
                <a:ea typeface="Instrument Serif"/>
                <a:cs typeface="Instrument Serif"/>
                <a:sym typeface="Instrument Serif"/>
              </a:rPr>
              <a:t>your dashboard</a:t>
            </a:r>
            <a:endParaRPr/>
          </a:p>
        </p:txBody>
      </p:sp>
      <p:sp>
        <p:nvSpPr>
          <p:cNvPr id="187" name="Google Shape;187;p5"/>
          <p:cNvSpPr txBox="1"/>
          <p:nvPr/>
        </p:nvSpPr>
        <p:spPr>
          <a:xfrm>
            <a:off x="609600" y="1428750"/>
            <a:ext cx="10972800" cy="54292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In October we fix the Meta pixels, set up Meta CAPI, and clean up Google Tag Manager. Your first dashboard and report land in October, and full reporting runs from November.</a:t>
            </a:r>
            <a:endParaRPr/>
          </a:p>
        </p:txBody>
      </p:sp>
      <p:sp>
        <p:nvSpPr>
          <p:cNvPr id="188" name="Google Shape;188;p5"/>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05</a:t>
            </a:r>
            <a:endParaRPr/>
          </a:p>
        </p:txBody>
      </p:sp>
      <p:sp>
        <p:nvSpPr>
          <p:cNvPr id="189" name="Google Shape;189;p5"/>
          <p:cNvSpPr/>
          <p:nvPr/>
        </p:nvSpPr>
        <p:spPr>
          <a:xfrm>
            <a:off x="609600" y="2162175"/>
            <a:ext cx="3543300" cy="3248025"/>
          </a:xfrm>
          <a:prstGeom prst="roundRect">
            <a:avLst>
              <a:gd fmla="val 4105"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5"/>
          <p:cNvSpPr/>
          <p:nvPr/>
        </p:nvSpPr>
        <p:spPr>
          <a:xfrm>
            <a:off x="4324350" y="2162175"/>
            <a:ext cx="3543300" cy="3248025"/>
          </a:xfrm>
          <a:prstGeom prst="roundRect">
            <a:avLst>
              <a:gd fmla="val 4105"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5"/>
          <p:cNvSpPr/>
          <p:nvPr/>
        </p:nvSpPr>
        <p:spPr>
          <a:xfrm>
            <a:off x="8039100" y="2162175"/>
            <a:ext cx="3543300" cy="3248025"/>
          </a:xfrm>
          <a:prstGeom prst="roundRect">
            <a:avLst>
              <a:gd fmla="val 4105" name="adj"/>
            </a:avLst>
          </a:prstGeom>
          <a:solidFill>
            <a:srgbClr val="E3E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5"/>
          <p:cNvSpPr txBox="1"/>
          <p:nvPr/>
        </p:nvSpPr>
        <p:spPr>
          <a:xfrm>
            <a:off x="81915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TRACKING</a:t>
            </a:r>
            <a:endParaRPr/>
          </a:p>
        </p:txBody>
      </p:sp>
      <p:sp>
        <p:nvSpPr>
          <p:cNvPr id="193" name="Google Shape;193;p5"/>
          <p:cNvSpPr txBox="1"/>
          <p:nvPr/>
        </p:nvSpPr>
        <p:spPr>
          <a:xfrm>
            <a:off x="819150" y="2600325"/>
            <a:ext cx="312420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Events we track</a:t>
            </a:r>
            <a:endParaRPr/>
          </a:p>
        </p:txBody>
      </p:sp>
      <p:sp>
        <p:nvSpPr>
          <p:cNvPr id="194" name="Google Shape;194;p5"/>
          <p:cNvSpPr txBox="1"/>
          <p:nvPr/>
        </p:nvSpPr>
        <p:spPr>
          <a:xfrm>
            <a:off x="819150" y="2905125"/>
            <a:ext cx="3124200" cy="1537811"/>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Sign-up.</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Qualified sign-up, with the questionnaire answers.</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Document sent.</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Limit hit.</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Plan changed.</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Purchase, with the amount paid.</a:t>
            </a:r>
            <a:endParaRPr/>
          </a:p>
        </p:txBody>
      </p:sp>
      <p:sp>
        <p:nvSpPr>
          <p:cNvPr id="195" name="Google Shape;195;p5"/>
          <p:cNvSpPr txBox="1"/>
          <p:nvPr/>
        </p:nvSpPr>
        <p:spPr>
          <a:xfrm>
            <a:off x="819150" y="4614386"/>
            <a:ext cx="3124200" cy="3238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All six run through one GA4 property and one container.</a:t>
            </a:r>
            <a:endParaRPr/>
          </a:p>
        </p:txBody>
      </p:sp>
      <p:sp>
        <p:nvSpPr>
          <p:cNvPr id="196" name="Google Shape;196;p5"/>
          <p:cNvSpPr txBox="1"/>
          <p:nvPr/>
        </p:nvSpPr>
        <p:spPr>
          <a:xfrm>
            <a:off x="453390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CLEANUP</a:t>
            </a:r>
            <a:endParaRPr/>
          </a:p>
        </p:txBody>
      </p:sp>
      <p:sp>
        <p:nvSpPr>
          <p:cNvPr id="197" name="Google Shape;197;p5"/>
          <p:cNvSpPr txBox="1"/>
          <p:nvPr/>
        </p:nvSpPr>
        <p:spPr>
          <a:xfrm>
            <a:off x="4533900" y="2600325"/>
            <a:ext cx="312420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Tags we fix</a:t>
            </a:r>
            <a:endParaRPr/>
          </a:p>
        </p:txBody>
      </p:sp>
      <p:sp>
        <p:nvSpPr>
          <p:cNvPr id="198" name="Google Shape;198;p5"/>
          <p:cNvSpPr txBox="1"/>
          <p:nvPr/>
        </p:nvSpPr>
        <p:spPr>
          <a:xfrm>
            <a:off x="4533900" y="2905125"/>
            <a:ext cx="3124200" cy="1237059"/>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make each Meta pixel fire once.</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set up Meta CAPI to send sign-ups and purchases from the server.</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merge two Tag Manager containers into one.</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import purchases into Google Ads.</a:t>
            </a:r>
            <a:endParaRPr/>
          </a:p>
        </p:txBody>
      </p:sp>
      <p:sp>
        <p:nvSpPr>
          <p:cNvPr id="199" name="Google Shape;199;p5"/>
          <p:cNvSpPr txBox="1"/>
          <p:nvPr/>
        </p:nvSpPr>
        <p:spPr>
          <a:xfrm>
            <a:off x="824865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DASHBOARD</a:t>
            </a:r>
            <a:endParaRPr/>
          </a:p>
        </p:txBody>
      </p:sp>
      <p:sp>
        <p:nvSpPr>
          <p:cNvPr id="200" name="Google Shape;200;p5"/>
          <p:cNvSpPr txBox="1"/>
          <p:nvPr/>
        </p:nvSpPr>
        <p:spPr>
          <a:xfrm>
            <a:off x="8248650" y="2600325"/>
            <a:ext cx="312420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What the dashboard shows</a:t>
            </a:r>
            <a:endParaRPr/>
          </a:p>
        </p:txBody>
      </p:sp>
      <p:sp>
        <p:nvSpPr>
          <p:cNvPr id="201" name="Google Shape;201;p5"/>
          <p:cNvSpPr txBox="1"/>
          <p:nvPr/>
        </p:nvSpPr>
        <p:spPr>
          <a:xfrm>
            <a:off x="8248650" y="2905125"/>
            <a:ext cx="3124200" cy="1480661"/>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Spend, sign-ups and paying customers, by campaign.</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Cost per qualified sign-up, against $70.</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Spend and sign-ups by keyword.</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ACV by channel and by vertical.</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Updated daily, so you can open it any day.</a:t>
            </a:r>
            <a:endParaRPr/>
          </a:p>
        </p:txBody>
      </p:sp>
      <p:sp>
        <p:nvSpPr>
          <p:cNvPr id="202" name="Google Shape;202;p5"/>
          <p:cNvSpPr/>
          <p:nvPr/>
        </p:nvSpPr>
        <p:spPr>
          <a:xfrm>
            <a:off x="609600" y="5581650"/>
            <a:ext cx="10972800" cy="561975"/>
          </a:xfrm>
          <a:prstGeom prst="roundRect">
            <a:avLst>
              <a:gd fmla="val 20338" name="adj"/>
            </a:avLst>
          </a:prstGeom>
          <a:solidFill>
            <a:srgbClr val="0E1B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5"/>
          <p:cNvSpPr txBox="1"/>
          <p:nvPr/>
        </p:nvSpPr>
        <p:spPr>
          <a:xfrm>
            <a:off x="819150" y="5581650"/>
            <a:ext cx="10553700" cy="561975"/>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None/>
            </a:pPr>
            <a:r>
              <a:rPr b="0" i="0" lang="en-US" sz="1725" u="none" cap="none" strike="noStrike">
                <a:solidFill>
                  <a:srgbClr val="F4F8FD"/>
                </a:solidFill>
                <a:latin typeface="Instrument Serif"/>
                <a:ea typeface="Instrument Serif"/>
                <a:cs typeface="Instrument Serif"/>
                <a:sym typeface="Instrument Serif"/>
              </a:rPr>
              <a:t>Reporting starts in October, and </a:t>
            </a:r>
            <a:r>
              <a:rPr b="0" i="1" lang="en-US" sz="1725" u="none" cap="none" strike="noStrike">
                <a:solidFill>
                  <a:srgbClr val="8CE0EC"/>
                </a:solidFill>
                <a:latin typeface="Instrument Serif"/>
                <a:ea typeface="Instrument Serif"/>
                <a:cs typeface="Instrument Serif"/>
                <a:sym typeface="Instrument Serif"/>
              </a:rPr>
              <a:t>runs in full from November.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207" name="Shape 207"/>
        <p:cNvGrpSpPr/>
        <p:nvPr/>
      </p:nvGrpSpPr>
      <p:grpSpPr>
        <a:xfrm>
          <a:off x="0" y="0"/>
          <a:ext cx="0" cy="0"/>
          <a:chOff x="0" y="0"/>
          <a:chExt cx="0" cy="0"/>
        </a:xfrm>
      </p:grpSpPr>
      <p:sp>
        <p:nvSpPr>
          <p:cNvPr id="208" name="Google Shape;208;p6"/>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6"/>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TRACKING ROADMAP</a:t>
            </a:r>
            <a:endParaRPr/>
          </a:p>
        </p:txBody>
      </p:sp>
      <p:sp>
        <p:nvSpPr>
          <p:cNvPr id="210" name="Google Shape;210;p6"/>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900" u="none" cap="none" strike="noStrike">
                <a:solidFill>
                  <a:srgbClr val="0E1B33"/>
                </a:solidFill>
                <a:latin typeface="Instrument Serif"/>
                <a:ea typeface="Instrument Serif"/>
                <a:cs typeface="Instrument Serif"/>
                <a:sym typeface="Instrument Serif"/>
              </a:rPr>
              <a:t>Clean signals in week 1, </a:t>
            </a:r>
            <a:r>
              <a:rPr b="0" i="1" lang="en-US" sz="3900" u="none" cap="none" strike="noStrike">
                <a:solidFill>
                  <a:srgbClr val="2A6BE0"/>
                </a:solidFill>
                <a:latin typeface="Instrument Serif"/>
                <a:ea typeface="Instrument Serif"/>
                <a:cs typeface="Instrument Serif"/>
                <a:sym typeface="Instrument Serif"/>
              </a:rPr>
              <a:t>real </a:t>
            </a:r>
            <a:r>
              <a:rPr i="1" lang="en-US" sz="3900">
                <a:solidFill>
                  <a:srgbClr val="2A6BE0"/>
                </a:solidFill>
                <a:latin typeface="Instrument Serif"/>
                <a:ea typeface="Instrument Serif"/>
                <a:cs typeface="Instrument Serif"/>
                <a:sym typeface="Instrument Serif"/>
              </a:rPr>
              <a:t>purchase value</a:t>
            </a:r>
            <a:r>
              <a:rPr b="0" i="1" lang="en-US" sz="3900" u="none" cap="none" strike="noStrike">
                <a:solidFill>
                  <a:srgbClr val="2A6BE0"/>
                </a:solidFill>
                <a:latin typeface="Instrument Serif"/>
                <a:ea typeface="Instrument Serif"/>
                <a:cs typeface="Instrument Serif"/>
                <a:sym typeface="Instrument Serif"/>
              </a:rPr>
              <a:t> by November</a:t>
            </a:r>
            <a:endParaRPr/>
          </a:p>
        </p:txBody>
      </p:sp>
      <p:sp>
        <p:nvSpPr>
          <p:cNvPr id="211" name="Google Shape;211;p6"/>
          <p:cNvSpPr txBox="1"/>
          <p:nvPr/>
        </p:nvSpPr>
        <p:spPr>
          <a:xfrm>
            <a:off x="609600" y="1428750"/>
            <a:ext cx="10972800" cy="54292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Meta and the new Google Ads account launch on clean sign-up tracking. Your engineers add six events once, and by November purchases reach both platforms with their real value.</a:t>
            </a:r>
            <a:endParaRPr/>
          </a:p>
        </p:txBody>
      </p:sp>
      <p:sp>
        <p:nvSpPr>
          <p:cNvPr id="212" name="Google Shape;212;p6"/>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06</a:t>
            </a:r>
            <a:endParaRPr/>
          </a:p>
        </p:txBody>
      </p:sp>
      <p:sp>
        <p:nvSpPr>
          <p:cNvPr id="213" name="Google Shape;213;p6"/>
          <p:cNvSpPr/>
          <p:nvPr/>
        </p:nvSpPr>
        <p:spPr>
          <a:xfrm>
            <a:off x="895350" y="2238375"/>
            <a:ext cx="10687050" cy="19050"/>
          </a:xfrm>
          <a:prstGeom prst="rect">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6"/>
          <p:cNvSpPr/>
          <p:nvPr/>
        </p:nvSpPr>
        <p:spPr>
          <a:xfrm>
            <a:off x="838200" y="2171700"/>
            <a:ext cx="152400" cy="152400"/>
          </a:xfrm>
          <a:prstGeom prst="ellipse">
            <a:avLst/>
          </a:prstGeom>
          <a:solidFill>
            <a:srgbClr val="F4F8FD"/>
          </a:solidFill>
          <a:ln cap="flat" cmpd="sng" w="23800">
            <a:solidFill>
              <a:srgbClr val="2A6B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6"/>
          <p:cNvSpPr/>
          <p:nvPr/>
        </p:nvSpPr>
        <p:spPr>
          <a:xfrm>
            <a:off x="3981450" y="2171700"/>
            <a:ext cx="152400" cy="152400"/>
          </a:xfrm>
          <a:prstGeom prst="ellipse">
            <a:avLst/>
          </a:prstGeom>
          <a:solidFill>
            <a:srgbClr val="F4F8FD"/>
          </a:solidFill>
          <a:ln cap="flat" cmpd="sng" w="23800">
            <a:solidFill>
              <a:srgbClr val="2A6B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6"/>
          <p:cNvSpPr/>
          <p:nvPr/>
        </p:nvSpPr>
        <p:spPr>
          <a:xfrm>
            <a:off x="7124700" y="2171700"/>
            <a:ext cx="152400" cy="152400"/>
          </a:xfrm>
          <a:prstGeom prst="ellipse">
            <a:avLst/>
          </a:prstGeom>
          <a:solidFill>
            <a:srgbClr val="F4F8FD"/>
          </a:solidFill>
          <a:ln cap="flat" cmpd="sng" w="23800">
            <a:solidFill>
              <a:srgbClr val="2A6B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6"/>
          <p:cNvSpPr/>
          <p:nvPr/>
        </p:nvSpPr>
        <p:spPr>
          <a:xfrm>
            <a:off x="10267950" y="2171700"/>
            <a:ext cx="152400" cy="152400"/>
          </a:xfrm>
          <a:prstGeom prst="ellipse">
            <a:avLst/>
          </a:prstGeom>
          <a:solidFill>
            <a:srgbClr val="2A6BE0"/>
          </a:solidFill>
          <a:ln cap="flat" cmpd="sng" w="23800">
            <a:solidFill>
              <a:srgbClr val="2A6B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6"/>
          <p:cNvSpPr/>
          <p:nvPr/>
        </p:nvSpPr>
        <p:spPr>
          <a:xfrm>
            <a:off x="609600" y="2381250"/>
            <a:ext cx="2614612" cy="3743325"/>
          </a:xfrm>
          <a:prstGeom prst="roundRect">
            <a:avLst>
              <a:gd fmla="val 510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6"/>
          <p:cNvSpPr txBox="1"/>
          <p:nvPr/>
        </p:nvSpPr>
        <p:spPr>
          <a:xfrm>
            <a:off x="781050" y="2552700"/>
            <a:ext cx="227171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5" u="none" cap="none" strike="noStrike">
                <a:solidFill>
                  <a:srgbClr val="0E1B33"/>
                </a:solidFill>
                <a:latin typeface="Instrument Serif"/>
                <a:ea typeface="Instrument Serif"/>
                <a:cs typeface="Instrument Serif"/>
                <a:sym typeface="Instrument Serif"/>
              </a:rPr>
              <a:t>Clean up</a:t>
            </a:r>
            <a:endParaRPr/>
          </a:p>
        </p:txBody>
      </p:sp>
      <p:sp>
        <p:nvSpPr>
          <p:cNvPr id="220" name="Google Shape;220;p6"/>
          <p:cNvSpPr txBox="1"/>
          <p:nvPr/>
        </p:nvSpPr>
        <p:spPr>
          <a:xfrm>
            <a:off x="781050" y="2857500"/>
            <a:ext cx="2271712"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2A6BE0"/>
                </a:solidFill>
                <a:latin typeface="Instrument Sans"/>
                <a:ea typeface="Instrument Sans"/>
                <a:cs typeface="Instrument Sans"/>
                <a:sym typeface="Instrument Sans"/>
              </a:rPr>
              <a:t>Remove the bad tags</a:t>
            </a:r>
            <a:endParaRPr/>
          </a:p>
        </p:txBody>
      </p:sp>
      <p:sp>
        <p:nvSpPr>
          <p:cNvPr id="221" name="Google Shape;221;p6"/>
          <p:cNvSpPr/>
          <p:nvPr/>
        </p:nvSpPr>
        <p:spPr>
          <a:xfrm>
            <a:off x="781050" y="3124200"/>
            <a:ext cx="993267" cy="257175"/>
          </a:xfrm>
          <a:prstGeom prst="roundRect">
            <a:avLst>
              <a:gd fmla="val 25925" name="adj"/>
            </a:avLst>
          </a:prstGeom>
          <a:solidFill>
            <a:srgbClr val="F4F8FD"/>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6"/>
          <p:cNvSpPr txBox="1"/>
          <p:nvPr/>
        </p:nvSpPr>
        <p:spPr>
          <a:xfrm>
            <a:off x="885825" y="3124200"/>
            <a:ext cx="993267"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825" u="none" cap="none" strike="noStrike">
                <a:solidFill>
                  <a:srgbClr val="4A5A75"/>
                </a:solidFill>
                <a:latin typeface="JetBrains Mono"/>
                <a:ea typeface="JetBrains Mono"/>
                <a:cs typeface="JetBrains Mono"/>
                <a:sym typeface="JetBrains Mono"/>
              </a:rPr>
              <a:t>OCT  WEEK 1</a:t>
            </a:r>
            <a:endParaRPr/>
          </a:p>
        </p:txBody>
      </p:sp>
      <p:graphicFrame>
        <p:nvGraphicFramePr>
          <p:cNvPr id="223" name="Google Shape;223;p6"/>
          <p:cNvGraphicFramePr/>
          <p:nvPr/>
        </p:nvGraphicFramePr>
        <p:xfrm>
          <a:off x="781050" y="3457575"/>
          <a:ext cx="3000000" cy="3000000"/>
        </p:xfrm>
        <a:graphic>
          <a:graphicData uri="http://schemas.openxmlformats.org/drawingml/2006/table">
            <a:tbl>
              <a:tblPr>
                <a:noFill/>
                <a:tableStyleId>{4F415798-8E4C-4216-B135-C9F54E9B0F97}</a:tableStyleId>
              </a:tblPr>
              <a:tblGrid>
                <a:gridCol w="552450"/>
                <a:gridCol w="1719250"/>
              </a:tblGrid>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WE DO</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remove the dead and copied tags, make the Meta pixel fire once, and track sign-ups in the new Google Ads account.</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YOU GIVE</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Admin access to Tag Manager, GA4, Google Ads and Meta.</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DONE WHEN</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record each sign-up once on both platforms, from launch day.</a:t>
                      </a:r>
                      <a:endParaRPr/>
                    </a:p>
                  </a:txBody>
                  <a:tcPr marT="57150" marB="57150" marR="0" marL="95250"/>
                </a:tc>
              </a:tr>
            </a:tbl>
          </a:graphicData>
        </a:graphic>
      </p:graphicFrame>
      <p:sp>
        <p:nvSpPr>
          <p:cNvPr id="224" name="Google Shape;224;p6"/>
          <p:cNvSpPr/>
          <p:nvPr/>
        </p:nvSpPr>
        <p:spPr>
          <a:xfrm>
            <a:off x="3395662" y="2381250"/>
            <a:ext cx="2614612" cy="3743325"/>
          </a:xfrm>
          <a:prstGeom prst="roundRect">
            <a:avLst>
              <a:gd fmla="val 510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6"/>
          <p:cNvSpPr txBox="1"/>
          <p:nvPr/>
        </p:nvSpPr>
        <p:spPr>
          <a:xfrm>
            <a:off x="3567112" y="2552700"/>
            <a:ext cx="227171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5" u="none" cap="none" strike="noStrike">
                <a:solidFill>
                  <a:srgbClr val="0E1B33"/>
                </a:solidFill>
                <a:latin typeface="Instrument Serif"/>
                <a:ea typeface="Instrument Serif"/>
                <a:cs typeface="Instrument Serif"/>
                <a:sym typeface="Instrument Serif"/>
              </a:rPr>
              <a:t>Rebuild</a:t>
            </a:r>
            <a:endParaRPr/>
          </a:p>
        </p:txBody>
      </p:sp>
      <p:sp>
        <p:nvSpPr>
          <p:cNvPr id="226" name="Google Shape;226;p6"/>
          <p:cNvSpPr txBox="1"/>
          <p:nvPr/>
        </p:nvSpPr>
        <p:spPr>
          <a:xfrm>
            <a:off x="3567112" y="2857500"/>
            <a:ext cx="2271712"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2A6BE0"/>
                </a:solidFill>
                <a:latin typeface="Instrument Sans"/>
                <a:ea typeface="Instrument Sans"/>
                <a:cs typeface="Instrument Sans"/>
                <a:sym typeface="Instrument Sans"/>
              </a:rPr>
              <a:t>One spec, one container</a:t>
            </a:r>
            <a:endParaRPr/>
          </a:p>
        </p:txBody>
      </p:sp>
      <p:sp>
        <p:nvSpPr>
          <p:cNvPr id="227" name="Google Shape;227;p6"/>
          <p:cNvSpPr/>
          <p:nvPr/>
        </p:nvSpPr>
        <p:spPr>
          <a:xfrm>
            <a:off x="3567112" y="3124200"/>
            <a:ext cx="1420749" cy="257175"/>
          </a:xfrm>
          <a:prstGeom prst="roundRect">
            <a:avLst>
              <a:gd fmla="val 25925" name="adj"/>
            </a:avLst>
          </a:prstGeom>
          <a:solidFill>
            <a:srgbClr val="F4F8FD"/>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6"/>
          <p:cNvSpPr txBox="1"/>
          <p:nvPr/>
        </p:nvSpPr>
        <p:spPr>
          <a:xfrm>
            <a:off x="3671888" y="3124200"/>
            <a:ext cx="1420749"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825" u="none" cap="none" strike="noStrike">
                <a:solidFill>
                  <a:srgbClr val="4A5A75"/>
                </a:solidFill>
                <a:latin typeface="JetBrains Mono"/>
                <a:ea typeface="JetBrains Mono"/>
                <a:cs typeface="JetBrains Mono"/>
                <a:sym typeface="JetBrains Mono"/>
              </a:rPr>
              <a:t>OCT  WEEKS 2 TO 4</a:t>
            </a:r>
            <a:endParaRPr/>
          </a:p>
        </p:txBody>
      </p:sp>
      <p:graphicFrame>
        <p:nvGraphicFramePr>
          <p:cNvPr id="229" name="Google Shape;229;p6"/>
          <p:cNvGraphicFramePr/>
          <p:nvPr/>
        </p:nvGraphicFramePr>
        <p:xfrm>
          <a:off x="3567112" y="3457575"/>
          <a:ext cx="3000000" cy="3000000"/>
        </p:xfrm>
        <a:graphic>
          <a:graphicData uri="http://schemas.openxmlformats.org/drawingml/2006/table">
            <a:tbl>
              <a:tblPr>
                <a:noFill/>
                <a:tableStyleId>{4F415798-8E4C-4216-B135-C9F54E9B0F97}</a:tableStyleId>
              </a:tblPr>
              <a:tblGrid>
                <a:gridCol w="552450"/>
                <a:gridCol w="1719250"/>
              </a:tblGrid>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WE DO</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write the spec for the six events, merge the two containers and two GA4 properties, and set up Meta CAPI.</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YOU GIVE</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One engineer to add the six events to the app from our spec.</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DONE WHEN</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Platform counts match your app database within a margin we agree first.</a:t>
                      </a:r>
                      <a:endParaRPr/>
                    </a:p>
                  </a:txBody>
                  <a:tcPr marT="57150" marB="57150" marR="0" marL="95250"/>
                </a:tc>
              </a:tr>
            </a:tbl>
          </a:graphicData>
        </a:graphic>
      </p:graphicFrame>
      <p:sp>
        <p:nvSpPr>
          <p:cNvPr id="230" name="Google Shape;230;p6"/>
          <p:cNvSpPr/>
          <p:nvPr/>
        </p:nvSpPr>
        <p:spPr>
          <a:xfrm>
            <a:off x="6181725" y="2381250"/>
            <a:ext cx="2614612" cy="3743325"/>
          </a:xfrm>
          <a:prstGeom prst="roundRect">
            <a:avLst>
              <a:gd fmla="val 510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6"/>
          <p:cNvSpPr txBox="1"/>
          <p:nvPr/>
        </p:nvSpPr>
        <p:spPr>
          <a:xfrm>
            <a:off x="6353175" y="2552700"/>
            <a:ext cx="227171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5" u="none" cap="none" strike="noStrike">
                <a:solidFill>
                  <a:srgbClr val="0E1B33"/>
                </a:solidFill>
                <a:latin typeface="Instrument Serif"/>
                <a:ea typeface="Instrument Serif"/>
                <a:cs typeface="Instrument Serif"/>
                <a:sym typeface="Instrument Serif"/>
              </a:rPr>
              <a:t>Connect</a:t>
            </a:r>
            <a:endParaRPr/>
          </a:p>
        </p:txBody>
      </p:sp>
      <p:sp>
        <p:nvSpPr>
          <p:cNvPr id="232" name="Google Shape;232;p6"/>
          <p:cNvSpPr txBox="1"/>
          <p:nvPr/>
        </p:nvSpPr>
        <p:spPr>
          <a:xfrm>
            <a:off x="6353175" y="2857500"/>
            <a:ext cx="2271712"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2A6BE0"/>
                </a:solidFill>
                <a:latin typeface="Instrument Sans"/>
                <a:ea typeface="Instrument Sans"/>
                <a:cs typeface="Instrument Sans"/>
                <a:sym typeface="Instrument Sans"/>
              </a:rPr>
              <a:t>Send purchase values back</a:t>
            </a:r>
            <a:endParaRPr/>
          </a:p>
        </p:txBody>
      </p:sp>
      <p:sp>
        <p:nvSpPr>
          <p:cNvPr id="233" name="Google Shape;233;p6"/>
          <p:cNvSpPr/>
          <p:nvPr/>
        </p:nvSpPr>
        <p:spPr>
          <a:xfrm>
            <a:off x="6353175" y="3124200"/>
            <a:ext cx="1420749" cy="257175"/>
          </a:xfrm>
          <a:prstGeom prst="roundRect">
            <a:avLst>
              <a:gd fmla="val 25925" name="adj"/>
            </a:avLst>
          </a:prstGeom>
          <a:solidFill>
            <a:srgbClr val="F4F8FD"/>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6"/>
          <p:cNvSpPr txBox="1"/>
          <p:nvPr/>
        </p:nvSpPr>
        <p:spPr>
          <a:xfrm>
            <a:off x="6457950" y="3124200"/>
            <a:ext cx="1420749"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825" u="none" cap="none" strike="noStrike">
                <a:solidFill>
                  <a:srgbClr val="4A5A75"/>
                </a:solidFill>
                <a:latin typeface="JetBrains Mono"/>
                <a:ea typeface="JetBrains Mono"/>
                <a:cs typeface="JetBrains Mono"/>
                <a:sym typeface="JetBrains Mono"/>
              </a:rPr>
              <a:t>NOV  WEEKS 5 TO 8</a:t>
            </a:r>
            <a:endParaRPr/>
          </a:p>
        </p:txBody>
      </p:sp>
      <p:graphicFrame>
        <p:nvGraphicFramePr>
          <p:cNvPr id="235" name="Google Shape;235;p6"/>
          <p:cNvGraphicFramePr/>
          <p:nvPr/>
        </p:nvGraphicFramePr>
        <p:xfrm>
          <a:off x="6353175" y="3457575"/>
          <a:ext cx="3000000" cy="3000000"/>
        </p:xfrm>
        <a:graphic>
          <a:graphicData uri="http://schemas.openxmlformats.org/drawingml/2006/table">
            <a:tbl>
              <a:tblPr>
                <a:noFill/>
                <a:tableStyleId>{4F415798-8E4C-4216-B135-C9F54E9B0F97}</a:tableStyleId>
              </a:tblPr>
              <a:tblGrid>
                <a:gridCol w="552450"/>
                <a:gridCol w="1719250"/>
              </a:tblGrid>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WE DO</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We import purchases and replace the flat $14 sign-up value with values by use case.</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YOU GIVE</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A daily export of purchases and plan changes from billing.</a:t>
                      </a:r>
                      <a:endParaRPr/>
                    </a:p>
                  </a:txBody>
                  <a:tcPr marT="57150" marB="57150" marR="0" marL="95250"/>
                </a:tc>
              </a:tr>
              <a:tr h="190500">
                <a:tc>
                  <a:txBody>
                    <a:bodyPr/>
                    <a:lstStyle/>
                    <a:p>
                      <a:pPr indent="0" lvl="0" marL="0" marR="0" rtl="0" algn="l">
                        <a:spcBef>
                          <a:spcPts val="0"/>
                        </a:spcBef>
                        <a:spcAft>
                          <a:spcPts val="0"/>
                        </a:spcAft>
                        <a:buNone/>
                      </a:pPr>
                      <a:r>
                        <a:rPr b="1" i="0" lang="en-US" sz="660" u="none" cap="none" strike="noStrike">
                          <a:solidFill>
                            <a:srgbClr val="8794AC"/>
                          </a:solidFill>
                          <a:latin typeface="JetBrains Mono"/>
                          <a:ea typeface="JetBrains Mono"/>
                          <a:cs typeface="JetBrains Mono"/>
                          <a:sym typeface="JetBrains Mono"/>
                        </a:rPr>
                        <a:t>DONE WHEN</a:t>
                      </a:r>
                      <a:endParaRPr/>
                    </a:p>
                  </a:txBody>
                  <a:tcPr marT="85725" marB="57150" marR="0" marL="0"/>
                </a:tc>
                <a:tc>
                  <a:txBody>
                    <a:bodyPr/>
                    <a:lstStyle/>
                    <a:p>
                      <a:pPr indent="0" lvl="0" marL="0" marR="0" rtl="0" algn="l">
                        <a:lnSpc>
                          <a:spcPct val="134000"/>
                        </a:lnSpc>
                        <a:spcBef>
                          <a:spcPts val="0"/>
                        </a:spcBef>
                        <a:spcAft>
                          <a:spcPts val="0"/>
                        </a:spcAft>
                        <a:buNone/>
                      </a:pPr>
                      <a:r>
                        <a:rPr b="0" i="0" lang="en-US" sz="960" u="none" cap="none" strike="noStrike">
                          <a:solidFill>
                            <a:srgbClr val="4A5A75"/>
                          </a:solidFill>
                          <a:latin typeface="Instrument Sans"/>
                          <a:ea typeface="Instrument Sans"/>
                          <a:cs typeface="Instrument Sans"/>
                          <a:sym typeface="Instrument Sans"/>
                        </a:rPr>
                        <a:t>The dashboard shows cost per paying customer by campaign.</a:t>
                      </a:r>
                      <a:endParaRPr/>
                    </a:p>
                  </a:txBody>
                  <a:tcPr marT="57150" marB="57150" marR="0" marL="95250"/>
                </a:tc>
              </a:tr>
            </a:tbl>
          </a:graphicData>
        </a:graphic>
      </p:graphicFrame>
      <p:sp>
        <p:nvSpPr>
          <p:cNvPr id="236" name="Google Shape;236;p6"/>
          <p:cNvSpPr/>
          <p:nvPr/>
        </p:nvSpPr>
        <p:spPr>
          <a:xfrm>
            <a:off x="8967788" y="2381250"/>
            <a:ext cx="2614612" cy="3743325"/>
          </a:xfrm>
          <a:prstGeom prst="roundRect">
            <a:avLst>
              <a:gd fmla="val 5100" name="adj"/>
            </a:avLst>
          </a:prstGeom>
          <a:solidFill>
            <a:srgbClr val="0E1B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6"/>
          <p:cNvSpPr txBox="1"/>
          <p:nvPr/>
        </p:nvSpPr>
        <p:spPr>
          <a:xfrm>
            <a:off x="9139238" y="2552700"/>
            <a:ext cx="227171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5" u="none" cap="none" strike="noStrike">
                <a:solidFill>
                  <a:srgbClr val="F4F8FD"/>
                </a:solidFill>
                <a:latin typeface="Instrument Serif"/>
                <a:ea typeface="Instrument Serif"/>
                <a:cs typeface="Instrument Serif"/>
                <a:sym typeface="Instrument Serif"/>
              </a:rPr>
              <a:t>From November</a:t>
            </a:r>
            <a:endParaRPr/>
          </a:p>
        </p:txBody>
      </p:sp>
      <p:sp>
        <p:nvSpPr>
          <p:cNvPr id="238" name="Google Shape;238;p6"/>
          <p:cNvSpPr txBox="1"/>
          <p:nvPr/>
        </p:nvSpPr>
        <p:spPr>
          <a:xfrm>
            <a:off x="9139238" y="2857500"/>
            <a:ext cx="2271712"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1" u="none" cap="none" strike="noStrike">
                <a:solidFill>
                  <a:srgbClr val="8CE0EC"/>
                </a:solidFill>
                <a:latin typeface="Instrument Sans"/>
                <a:ea typeface="Instrument Sans"/>
                <a:cs typeface="Instrument Sans"/>
                <a:sym typeface="Instrument Sans"/>
              </a:rPr>
              <a:t>The result</a:t>
            </a:r>
            <a:endParaRPr/>
          </a:p>
        </p:txBody>
      </p:sp>
      <p:sp>
        <p:nvSpPr>
          <p:cNvPr id="239" name="Google Shape;239;p6"/>
          <p:cNvSpPr txBox="1"/>
          <p:nvPr/>
        </p:nvSpPr>
        <p:spPr>
          <a:xfrm>
            <a:off x="9139238" y="3143250"/>
            <a:ext cx="2271712" cy="1905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011" u="none" cap="none" strike="noStrike">
                <a:solidFill>
                  <a:srgbClr val="B7C4DA"/>
                </a:solidFill>
                <a:latin typeface="Instrument Sans"/>
                <a:ea typeface="Instrument Sans"/>
                <a:cs typeface="Instrument Sans"/>
                <a:sym typeface="Instrument Sans"/>
              </a:rPr>
              <a:t>Every sign-up and purchase reaches Google Ads, Meta and your dashboard with its real value, so bidding and reporting run on the same numbers.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243" name="Shape 243"/>
        <p:cNvGrpSpPr/>
        <p:nvPr/>
      </p:nvGrpSpPr>
      <p:grpSpPr>
        <a:xfrm>
          <a:off x="0" y="0"/>
          <a:ext cx="0" cy="0"/>
          <a:chOff x="0" y="0"/>
          <a:chExt cx="0" cy="0"/>
        </a:xfrm>
      </p:grpSpPr>
      <p:sp>
        <p:nvSpPr>
          <p:cNvPr id="244" name="Google Shape;244;p7"/>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7"/>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SAMPLE DASHBOARD  LOOKER STUDIO</a:t>
            </a:r>
            <a:endParaRPr/>
          </a:p>
        </p:txBody>
      </p:sp>
      <p:sp>
        <p:nvSpPr>
          <p:cNvPr id="246" name="Google Shape;246;p7"/>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900" u="none" cap="none" strike="noStrike">
                <a:solidFill>
                  <a:srgbClr val="0E1B33"/>
                </a:solidFill>
                <a:latin typeface="Instrument Serif"/>
                <a:ea typeface="Instrument Serif"/>
                <a:cs typeface="Instrument Serif"/>
                <a:sym typeface="Instrument Serif"/>
              </a:rPr>
              <a:t>Your August data, </a:t>
            </a:r>
            <a:r>
              <a:rPr b="0" i="1" lang="en-US" sz="3900" u="none" cap="none" strike="noStrike">
                <a:solidFill>
                  <a:srgbClr val="2A6BE0"/>
                </a:solidFill>
                <a:latin typeface="Instrument Serif"/>
                <a:ea typeface="Instrument Serif"/>
                <a:cs typeface="Instrument Serif"/>
                <a:sym typeface="Instrument Serif"/>
              </a:rPr>
              <a:t>on one dashboard</a:t>
            </a:r>
            <a:endParaRPr/>
          </a:p>
        </p:txBody>
      </p:sp>
      <p:sp>
        <p:nvSpPr>
          <p:cNvPr id="247" name="Google Shape;247;p7"/>
          <p:cNvSpPr txBox="1"/>
          <p:nvPr/>
        </p:nvSpPr>
        <p:spPr>
          <a:xfrm>
            <a:off x="609600" y="1428750"/>
            <a:ext cx="10972800" cy="54292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This is a sample of the dashboard you get, built from your real August numbers. Paying customers and ACV stay empty until we import purchases in November.</a:t>
            </a:r>
            <a:endParaRPr/>
          </a:p>
        </p:txBody>
      </p:sp>
      <p:sp>
        <p:nvSpPr>
          <p:cNvPr id="248" name="Google Shape;248;p7"/>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07</a:t>
            </a:r>
            <a:endParaRPr/>
          </a:p>
        </p:txBody>
      </p:sp>
      <p:sp>
        <p:nvSpPr>
          <p:cNvPr id="249" name="Google Shape;249;p7"/>
          <p:cNvSpPr/>
          <p:nvPr/>
        </p:nvSpPr>
        <p:spPr>
          <a:xfrm>
            <a:off x="609600" y="2085975"/>
            <a:ext cx="10972800" cy="4067175"/>
          </a:xfrm>
          <a:prstGeom prst="roundRect">
            <a:avLst>
              <a:gd fmla="val 3278"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7"/>
          <p:cNvSpPr txBox="1"/>
          <p:nvPr/>
        </p:nvSpPr>
        <p:spPr>
          <a:xfrm>
            <a:off x="800100" y="2238375"/>
            <a:ext cx="4762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SignWell · Paid acquisition</a:t>
            </a:r>
            <a:endParaRPr/>
          </a:p>
        </p:txBody>
      </p:sp>
      <p:sp>
        <p:nvSpPr>
          <p:cNvPr id="251" name="Google Shape;251;p7"/>
          <p:cNvSpPr txBox="1"/>
          <p:nvPr/>
        </p:nvSpPr>
        <p:spPr>
          <a:xfrm>
            <a:off x="800100" y="2466975"/>
            <a:ext cx="47625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SAMPLE DASHBOARD · YOUR AUGUST 2026 DATA</a:t>
            </a:r>
            <a:endParaRPr/>
          </a:p>
        </p:txBody>
      </p:sp>
      <p:sp>
        <p:nvSpPr>
          <p:cNvPr id="252" name="Google Shape;252;p7"/>
          <p:cNvSpPr/>
          <p:nvPr/>
        </p:nvSpPr>
        <p:spPr>
          <a:xfrm>
            <a:off x="10205276" y="2219325"/>
            <a:ext cx="1186624" cy="247650"/>
          </a:xfrm>
          <a:prstGeom prst="roundRect">
            <a:avLst>
              <a:gd fmla="val 50000" name="adj"/>
            </a:avLst>
          </a:prstGeom>
          <a:no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7"/>
          <p:cNvSpPr txBox="1"/>
          <p:nvPr/>
        </p:nvSpPr>
        <p:spPr>
          <a:xfrm>
            <a:off x="10205276" y="2219325"/>
            <a:ext cx="1186624" cy="2476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900" u="none" cap="none" strike="noStrike">
                <a:solidFill>
                  <a:srgbClr val="4A5A75"/>
                </a:solidFill>
                <a:latin typeface="Instrument Sans"/>
                <a:ea typeface="Instrument Sans"/>
                <a:cs typeface="Instrument Sans"/>
                <a:sym typeface="Instrument Sans"/>
              </a:rPr>
              <a:t>Qualified sign-ups</a:t>
            </a:r>
            <a:endParaRPr/>
          </a:p>
        </p:txBody>
      </p:sp>
      <p:sp>
        <p:nvSpPr>
          <p:cNvPr id="254" name="Google Shape;254;p7"/>
          <p:cNvSpPr/>
          <p:nvPr/>
        </p:nvSpPr>
        <p:spPr>
          <a:xfrm>
            <a:off x="8760714" y="2219325"/>
            <a:ext cx="1368362" cy="247650"/>
          </a:xfrm>
          <a:prstGeom prst="roundRect">
            <a:avLst>
              <a:gd fmla="val 50000" name="adj"/>
            </a:avLst>
          </a:prstGeom>
          <a:no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7"/>
          <p:cNvSpPr txBox="1"/>
          <p:nvPr/>
        </p:nvSpPr>
        <p:spPr>
          <a:xfrm>
            <a:off x="8760714" y="2219325"/>
            <a:ext cx="1368362" cy="2476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900" u="none" cap="none" strike="noStrike">
                <a:solidFill>
                  <a:srgbClr val="4A5A75"/>
                </a:solidFill>
                <a:latin typeface="Instrument Sans"/>
                <a:ea typeface="Instrument Sans"/>
                <a:cs typeface="Instrument Sans"/>
                <a:sym typeface="Instrument Sans"/>
              </a:rPr>
              <a:t>Aug 1 to Aug 31, 2026</a:t>
            </a:r>
            <a:endParaRPr/>
          </a:p>
        </p:txBody>
      </p:sp>
      <p:sp>
        <p:nvSpPr>
          <p:cNvPr id="256" name="Google Shape;256;p7"/>
          <p:cNvSpPr/>
          <p:nvPr/>
        </p:nvSpPr>
        <p:spPr>
          <a:xfrm>
            <a:off x="5836539" y="2219325"/>
            <a:ext cx="2847975" cy="247650"/>
          </a:xfrm>
          <a:prstGeom prst="roundRect">
            <a:avLst>
              <a:gd fmla="val 50000" name="adj"/>
            </a:avLst>
          </a:prstGeom>
          <a:solidFill>
            <a:srgbClr val="FDF6E7"/>
          </a:solidFill>
          <a:ln cap="flat" cmpd="sng" w="9525">
            <a:solidFill>
              <a:srgbClr val="D297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7"/>
          <p:cNvSpPr txBox="1"/>
          <p:nvPr/>
        </p:nvSpPr>
        <p:spPr>
          <a:xfrm>
            <a:off x="5836539" y="2219325"/>
            <a:ext cx="2847975" cy="2476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750" u="none" cap="none" strike="noStrike">
                <a:solidFill>
                  <a:srgbClr val="8A6212"/>
                </a:solidFill>
                <a:latin typeface="JetBrains Mono"/>
                <a:ea typeface="JetBrains Mono"/>
                <a:cs typeface="JetBrains Mono"/>
                <a:sym typeface="JetBrains Mono"/>
              </a:rPr>
              <a:t>SAMPLE DASHBOARD, YOUR REAL AUGUST DATA</a:t>
            </a:r>
            <a:endParaRPr/>
          </a:p>
        </p:txBody>
      </p:sp>
      <p:sp>
        <p:nvSpPr>
          <p:cNvPr id="258" name="Google Shape;258;p7"/>
          <p:cNvSpPr/>
          <p:nvPr/>
        </p:nvSpPr>
        <p:spPr>
          <a:xfrm>
            <a:off x="800100" y="2619375"/>
            <a:ext cx="2042160" cy="876300"/>
          </a:xfrm>
          <a:prstGeom prst="roundRect">
            <a:avLst>
              <a:gd fmla="val 10869" name="adj"/>
            </a:avLst>
          </a:prstGeom>
          <a:solidFill>
            <a:srgbClr val="F4F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7"/>
          <p:cNvSpPr txBox="1"/>
          <p:nvPr/>
        </p:nvSpPr>
        <p:spPr>
          <a:xfrm>
            <a:off x="923925" y="2724150"/>
            <a:ext cx="179451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75" u="none" cap="none" strike="noStrike">
                <a:solidFill>
                  <a:srgbClr val="8794AC"/>
                </a:solidFill>
                <a:latin typeface="JetBrains Mono"/>
                <a:ea typeface="JetBrains Mono"/>
                <a:cs typeface="JetBrains Mono"/>
                <a:sym typeface="JetBrains Mono"/>
              </a:rPr>
              <a:t>SPEND</a:t>
            </a:r>
            <a:endParaRPr/>
          </a:p>
        </p:txBody>
      </p:sp>
      <p:sp>
        <p:nvSpPr>
          <p:cNvPr id="260" name="Google Shape;260;p7"/>
          <p:cNvSpPr txBox="1"/>
          <p:nvPr/>
        </p:nvSpPr>
        <p:spPr>
          <a:xfrm>
            <a:off x="923925" y="2886075"/>
            <a:ext cx="179451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0E1B33"/>
                </a:solidFill>
                <a:latin typeface="Instrument Serif"/>
                <a:ea typeface="Instrument Serif"/>
                <a:cs typeface="Instrument Serif"/>
                <a:sym typeface="Instrument Serif"/>
              </a:rPr>
              <a:t>$17,342</a:t>
            </a:r>
            <a:endParaRPr/>
          </a:p>
        </p:txBody>
      </p:sp>
      <p:sp>
        <p:nvSpPr>
          <p:cNvPr id="261" name="Google Shape;261;p7"/>
          <p:cNvSpPr txBox="1"/>
          <p:nvPr/>
        </p:nvSpPr>
        <p:spPr>
          <a:xfrm>
            <a:off x="923925" y="3209925"/>
            <a:ext cx="179451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0" i="0" lang="en-US" sz="788" u="none" cap="none" strike="noStrike">
                <a:solidFill>
                  <a:srgbClr val="4A5A75"/>
                </a:solidFill>
                <a:latin typeface="Instrument Sans"/>
                <a:ea typeface="Instrument Sans"/>
                <a:cs typeface="Instrument Sans"/>
                <a:sym typeface="Instrument Sans"/>
              </a:rPr>
              <a:t>Four campaigns</a:t>
            </a:r>
            <a:endParaRPr/>
          </a:p>
        </p:txBody>
      </p:sp>
      <p:sp>
        <p:nvSpPr>
          <p:cNvPr id="262" name="Google Shape;262;p7"/>
          <p:cNvSpPr/>
          <p:nvPr/>
        </p:nvSpPr>
        <p:spPr>
          <a:xfrm>
            <a:off x="2937510" y="2619375"/>
            <a:ext cx="2042160" cy="876300"/>
          </a:xfrm>
          <a:prstGeom prst="roundRect">
            <a:avLst>
              <a:gd fmla="val 10869" name="adj"/>
            </a:avLst>
          </a:prstGeom>
          <a:solidFill>
            <a:srgbClr val="F4F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7"/>
          <p:cNvSpPr txBox="1"/>
          <p:nvPr/>
        </p:nvSpPr>
        <p:spPr>
          <a:xfrm>
            <a:off x="3061335" y="2724150"/>
            <a:ext cx="179451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75" u="none" cap="none" strike="noStrike">
                <a:solidFill>
                  <a:srgbClr val="8794AC"/>
                </a:solidFill>
                <a:latin typeface="JetBrains Mono"/>
                <a:ea typeface="JetBrains Mono"/>
                <a:cs typeface="JetBrains Mono"/>
                <a:sym typeface="JetBrains Mono"/>
              </a:rPr>
              <a:t>QUALIFIED SIGN-UPS</a:t>
            </a:r>
            <a:endParaRPr/>
          </a:p>
        </p:txBody>
      </p:sp>
      <p:sp>
        <p:nvSpPr>
          <p:cNvPr id="264" name="Google Shape;264;p7"/>
          <p:cNvSpPr txBox="1"/>
          <p:nvPr/>
        </p:nvSpPr>
        <p:spPr>
          <a:xfrm>
            <a:off x="3061335" y="2886075"/>
            <a:ext cx="179451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0E1B33"/>
                </a:solidFill>
                <a:latin typeface="Instrument Serif"/>
                <a:ea typeface="Instrument Serif"/>
                <a:cs typeface="Instrument Serif"/>
                <a:sym typeface="Instrument Serif"/>
              </a:rPr>
              <a:t>1,290</a:t>
            </a:r>
            <a:endParaRPr/>
          </a:p>
        </p:txBody>
      </p:sp>
      <p:sp>
        <p:nvSpPr>
          <p:cNvPr id="265" name="Google Shape;265;p7"/>
          <p:cNvSpPr txBox="1"/>
          <p:nvPr/>
        </p:nvSpPr>
        <p:spPr>
          <a:xfrm>
            <a:off x="3061335" y="3209925"/>
            <a:ext cx="179451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0" i="0" lang="en-US" sz="788" u="none" cap="none" strike="noStrike">
                <a:solidFill>
                  <a:srgbClr val="4A5A75"/>
                </a:solidFill>
                <a:latin typeface="Instrument Sans"/>
                <a:ea typeface="Instrument Sans"/>
                <a:cs typeface="Instrument Sans"/>
                <a:sym typeface="Instrument Sans"/>
              </a:rPr>
              <a:t>Plus 481 with no campaign attached</a:t>
            </a:r>
            <a:endParaRPr/>
          </a:p>
        </p:txBody>
      </p:sp>
      <p:sp>
        <p:nvSpPr>
          <p:cNvPr id="266" name="Google Shape;266;p7"/>
          <p:cNvSpPr/>
          <p:nvPr/>
        </p:nvSpPr>
        <p:spPr>
          <a:xfrm>
            <a:off x="5074920" y="2619375"/>
            <a:ext cx="2042160" cy="876300"/>
          </a:xfrm>
          <a:prstGeom prst="roundRect">
            <a:avLst>
              <a:gd fmla="val 10869" name="adj"/>
            </a:avLst>
          </a:prstGeom>
          <a:solidFill>
            <a:srgbClr val="F4F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7"/>
          <p:cNvSpPr txBox="1"/>
          <p:nvPr/>
        </p:nvSpPr>
        <p:spPr>
          <a:xfrm>
            <a:off x="5198745" y="2724150"/>
            <a:ext cx="179451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75" u="none" cap="none" strike="noStrike">
                <a:solidFill>
                  <a:srgbClr val="8794AC"/>
                </a:solidFill>
                <a:latin typeface="JetBrains Mono"/>
                <a:ea typeface="JetBrains Mono"/>
                <a:cs typeface="JetBrains Mono"/>
                <a:sym typeface="JetBrains Mono"/>
              </a:rPr>
              <a:t>COST PER QUALIFIED SIGN-UP</a:t>
            </a:r>
            <a:endParaRPr/>
          </a:p>
        </p:txBody>
      </p:sp>
      <p:sp>
        <p:nvSpPr>
          <p:cNvPr id="268" name="Google Shape;268;p7"/>
          <p:cNvSpPr txBox="1"/>
          <p:nvPr/>
        </p:nvSpPr>
        <p:spPr>
          <a:xfrm>
            <a:off x="5198745" y="2886075"/>
            <a:ext cx="179451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0E1B33"/>
                </a:solidFill>
                <a:latin typeface="Instrument Serif"/>
                <a:ea typeface="Instrument Serif"/>
                <a:cs typeface="Instrument Serif"/>
                <a:sym typeface="Instrument Serif"/>
              </a:rPr>
              <a:t>$13.44</a:t>
            </a:r>
            <a:endParaRPr/>
          </a:p>
        </p:txBody>
      </p:sp>
      <p:sp>
        <p:nvSpPr>
          <p:cNvPr id="269" name="Google Shape;269;p7"/>
          <p:cNvSpPr txBox="1"/>
          <p:nvPr/>
        </p:nvSpPr>
        <p:spPr>
          <a:xfrm>
            <a:off x="5198745" y="3209925"/>
            <a:ext cx="179451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0" i="0" lang="en-US" sz="788" u="none" cap="none" strike="noStrike">
                <a:solidFill>
                  <a:srgbClr val="4A5A75"/>
                </a:solidFill>
                <a:latin typeface="Instrument Sans"/>
                <a:ea typeface="Instrument Sans"/>
                <a:cs typeface="Instrument Sans"/>
                <a:sym typeface="Instrument Sans"/>
              </a:rPr>
              <a:t>Blended. Non-brand alone: $378.68</a:t>
            </a:r>
            <a:endParaRPr/>
          </a:p>
        </p:txBody>
      </p:sp>
      <p:sp>
        <p:nvSpPr>
          <p:cNvPr id="270" name="Google Shape;270;p7"/>
          <p:cNvSpPr/>
          <p:nvPr/>
        </p:nvSpPr>
        <p:spPr>
          <a:xfrm>
            <a:off x="7212330" y="2619375"/>
            <a:ext cx="2042160" cy="876300"/>
          </a:xfrm>
          <a:prstGeom prst="roundRect">
            <a:avLst>
              <a:gd fmla="val 10869" name="adj"/>
            </a:avLst>
          </a:prstGeom>
          <a:solidFill>
            <a:srgbClr val="F4F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7"/>
          <p:cNvSpPr txBox="1"/>
          <p:nvPr/>
        </p:nvSpPr>
        <p:spPr>
          <a:xfrm>
            <a:off x="7336155" y="2724150"/>
            <a:ext cx="179451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75" u="none" cap="none" strike="noStrike">
                <a:solidFill>
                  <a:srgbClr val="8794AC"/>
                </a:solidFill>
                <a:latin typeface="JetBrains Mono"/>
                <a:ea typeface="JetBrains Mono"/>
                <a:cs typeface="JetBrains Mono"/>
                <a:sym typeface="JetBrains Mono"/>
              </a:rPr>
              <a:t>PAYING CUSTOMERS</a:t>
            </a:r>
            <a:endParaRPr/>
          </a:p>
        </p:txBody>
      </p:sp>
      <p:sp>
        <p:nvSpPr>
          <p:cNvPr id="272" name="Google Shape;272;p7"/>
          <p:cNvSpPr txBox="1"/>
          <p:nvPr/>
        </p:nvSpPr>
        <p:spPr>
          <a:xfrm>
            <a:off x="7336155" y="2886075"/>
            <a:ext cx="179451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650" u="none" cap="none" strike="noStrike">
                <a:solidFill>
                  <a:srgbClr val="8794AC"/>
                </a:solidFill>
                <a:latin typeface="Instrument Serif"/>
                <a:ea typeface="Instrument Serif"/>
                <a:cs typeface="Instrument Serif"/>
                <a:sym typeface="Instrument Serif"/>
              </a:rPr>
              <a:t>Not tracked</a:t>
            </a:r>
            <a:endParaRPr/>
          </a:p>
        </p:txBody>
      </p:sp>
      <p:sp>
        <p:nvSpPr>
          <p:cNvPr id="273" name="Google Shape;273;p7"/>
          <p:cNvSpPr txBox="1"/>
          <p:nvPr/>
        </p:nvSpPr>
        <p:spPr>
          <a:xfrm>
            <a:off x="7336155" y="3209925"/>
            <a:ext cx="179451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0" i="0" lang="en-US" sz="788" u="none" cap="none" strike="noStrike">
                <a:solidFill>
                  <a:srgbClr val="4A5A75"/>
                </a:solidFill>
                <a:latin typeface="Instrument Sans"/>
                <a:ea typeface="Instrument Sans"/>
                <a:cs typeface="Instrument Sans"/>
                <a:sym typeface="Instrument Sans"/>
              </a:rPr>
              <a:t>We import these from November</a:t>
            </a:r>
            <a:endParaRPr/>
          </a:p>
        </p:txBody>
      </p:sp>
      <p:sp>
        <p:nvSpPr>
          <p:cNvPr id="274" name="Google Shape;274;p7"/>
          <p:cNvSpPr/>
          <p:nvPr/>
        </p:nvSpPr>
        <p:spPr>
          <a:xfrm>
            <a:off x="9349740" y="2619375"/>
            <a:ext cx="2042160" cy="876300"/>
          </a:xfrm>
          <a:prstGeom prst="roundRect">
            <a:avLst>
              <a:gd fmla="val 10869" name="adj"/>
            </a:avLst>
          </a:prstGeom>
          <a:solidFill>
            <a:srgbClr val="F4F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7"/>
          <p:cNvSpPr txBox="1"/>
          <p:nvPr/>
        </p:nvSpPr>
        <p:spPr>
          <a:xfrm>
            <a:off x="9473565" y="2724150"/>
            <a:ext cx="179451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75" u="none" cap="none" strike="noStrike">
                <a:solidFill>
                  <a:srgbClr val="8794AC"/>
                </a:solidFill>
                <a:latin typeface="JetBrains Mono"/>
                <a:ea typeface="JetBrains Mono"/>
                <a:cs typeface="JetBrains Mono"/>
                <a:sym typeface="JetBrains Mono"/>
              </a:rPr>
              <a:t>ACV</a:t>
            </a:r>
            <a:endParaRPr/>
          </a:p>
        </p:txBody>
      </p:sp>
      <p:sp>
        <p:nvSpPr>
          <p:cNvPr id="276" name="Google Shape;276;p7"/>
          <p:cNvSpPr txBox="1"/>
          <p:nvPr/>
        </p:nvSpPr>
        <p:spPr>
          <a:xfrm>
            <a:off x="9473565" y="2886075"/>
            <a:ext cx="179451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650" u="none" cap="none" strike="noStrike">
                <a:solidFill>
                  <a:srgbClr val="8794AC"/>
                </a:solidFill>
                <a:latin typeface="Instrument Serif"/>
                <a:ea typeface="Instrument Serif"/>
                <a:cs typeface="Instrument Serif"/>
                <a:sym typeface="Instrument Serif"/>
              </a:rPr>
              <a:t>Not tracked</a:t>
            </a:r>
            <a:endParaRPr/>
          </a:p>
        </p:txBody>
      </p:sp>
      <p:sp>
        <p:nvSpPr>
          <p:cNvPr id="277" name="Google Shape;277;p7"/>
          <p:cNvSpPr txBox="1"/>
          <p:nvPr/>
        </p:nvSpPr>
        <p:spPr>
          <a:xfrm>
            <a:off x="9473565" y="3209925"/>
            <a:ext cx="179451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0" i="0" lang="en-US" sz="788" u="none" cap="none" strike="noStrike">
                <a:solidFill>
                  <a:srgbClr val="4A5A75"/>
                </a:solidFill>
                <a:latin typeface="Instrument Sans"/>
                <a:ea typeface="Instrument Sans"/>
                <a:cs typeface="Instrument Sans"/>
                <a:sym typeface="Instrument Sans"/>
              </a:rPr>
              <a:t>We import these from November</a:t>
            </a:r>
            <a:endParaRPr/>
          </a:p>
        </p:txBody>
      </p:sp>
      <p:sp>
        <p:nvSpPr>
          <p:cNvPr id="278" name="Google Shape;278;p7"/>
          <p:cNvSpPr txBox="1"/>
          <p:nvPr/>
        </p:nvSpPr>
        <p:spPr>
          <a:xfrm>
            <a:off x="800100" y="3629025"/>
            <a:ext cx="38100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88" u="none" cap="none" strike="noStrike">
                <a:solidFill>
                  <a:srgbClr val="0E1B33"/>
                </a:solidFill>
                <a:latin typeface="Instrument Sans"/>
                <a:ea typeface="Instrument Sans"/>
                <a:cs typeface="Instrument Sans"/>
                <a:sym typeface="Instrument Sans"/>
              </a:rPr>
              <a:t>Cost per qualified sign-up by campaign</a:t>
            </a:r>
            <a:endParaRPr/>
          </a:p>
        </p:txBody>
      </p:sp>
      <p:cxnSp>
        <p:nvCxnSpPr>
          <p:cNvPr id="279" name="Google Shape;279;p7"/>
          <p:cNvCxnSpPr/>
          <p:nvPr/>
        </p:nvCxnSpPr>
        <p:spPr>
          <a:xfrm>
            <a:off x="2868216" y="3838575"/>
            <a:ext cx="0" cy="1143000"/>
          </a:xfrm>
          <a:prstGeom prst="straightConnector1">
            <a:avLst/>
          </a:prstGeom>
          <a:noFill/>
          <a:ln cap="flat" cmpd="sng" w="14275">
            <a:solidFill>
              <a:srgbClr val="0E1B33"/>
            </a:solidFill>
            <a:prstDash val="dash"/>
            <a:round/>
            <a:headEnd len="sm" w="sm" type="none"/>
            <a:tailEnd len="sm" w="sm" type="none"/>
          </a:ln>
          <a:effectLst>
            <a:outerShdw blurRad="40000" rotWithShape="0" dir="5400000" dist="20000">
              <a:srgbClr val="000000">
                <a:alpha val="38039"/>
              </a:srgbClr>
            </a:outerShdw>
          </a:effectLst>
        </p:spPr>
      </p:cxnSp>
      <p:sp>
        <p:nvSpPr>
          <p:cNvPr id="280" name="Google Shape;280;p7"/>
          <p:cNvSpPr txBox="1"/>
          <p:nvPr/>
        </p:nvSpPr>
        <p:spPr>
          <a:xfrm>
            <a:off x="2915841" y="3800475"/>
            <a:ext cx="142875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12" u="none" cap="none" strike="noStrike">
                <a:solidFill>
                  <a:srgbClr val="0E1B33"/>
                </a:solidFill>
                <a:latin typeface="JetBrains Mono"/>
                <a:ea typeface="JetBrains Mono"/>
                <a:cs typeface="JetBrains Mono"/>
                <a:sym typeface="JetBrains Mono"/>
              </a:rPr>
              <a:t>$70 break-even</a:t>
            </a:r>
            <a:endParaRPr/>
          </a:p>
        </p:txBody>
      </p:sp>
      <p:sp>
        <p:nvSpPr>
          <p:cNvPr id="281" name="Google Shape;281;p7"/>
          <p:cNvSpPr txBox="1"/>
          <p:nvPr/>
        </p:nvSpPr>
        <p:spPr>
          <a:xfrm>
            <a:off x="800100" y="3952875"/>
            <a:ext cx="12954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u="none" cap="none" strike="noStrike">
                <a:solidFill>
                  <a:srgbClr val="4A5A75"/>
                </a:solidFill>
                <a:latin typeface="Instrument Sans"/>
                <a:ea typeface="Instrument Sans"/>
                <a:cs typeface="Instrument Sans"/>
                <a:sym typeface="Instrument Sans"/>
              </a:rPr>
              <a:t>Brand search</a:t>
            </a:r>
            <a:endParaRPr/>
          </a:p>
        </p:txBody>
      </p:sp>
      <p:sp>
        <p:nvSpPr>
          <p:cNvPr id="282" name="Google Shape;282;p7"/>
          <p:cNvSpPr/>
          <p:nvPr/>
        </p:nvSpPr>
        <p:spPr>
          <a:xfrm>
            <a:off x="2209800" y="3933825"/>
            <a:ext cx="3762375" cy="180975"/>
          </a:xfrm>
          <a:prstGeom prst="roundRect">
            <a:avLst>
              <a:gd fmla="val 21052" name="adj"/>
            </a:avLst>
          </a:prstGeom>
          <a:solidFill>
            <a:srgbClr val="E7E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7"/>
          <p:cNvSpPr/>
          <p:nvPr/>
        </p:nvSpPr>
        <p:spPr>
          <a:xfrm>
            <a:off x="2209800" y="3933825"/>
            <a:ext cx="38100" cy="180975"/>
          </a:xfrm>
          <a:prstGeom prst="roundRect">
            <a:avLst>
              <a:gd fmla="val 50000" name="adj"/>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7"/>
          <p:cNvSpPr txBox="1"/>
          <p:nvPr/>
        </p:nvSpPr>
        <p:spPr>
          <a:xfrm>
            <a:off x="2324100" y="3933825"/>
            <a:ext cx="723900" cy="1809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825" u="none" cap="none" strike="noStrike">
                <a:solidFill>
                  <a:srgbClr val="0E1B33"/>
                </a:solidFill>
                <a:latin typeface="JetBrains Mono"/>
                <a:ea typeface="JetBrains Mono"/>
                <a:cs typeface="JetBrains Mono"/>
                <a:sym typeface="JetBrains Mono"/>
              </a:rPr>
              <a:t>$3.81</a:t>
            </a:r>
            <a:endParaRPr/>
          </a:p>
        </p:txBody>
      </p:sp>
      <p:sp>
        <p:nvSpPr>
          <p:cNvPr id="285" name="Google Shape;285;p7"/>
          <p:cNvSpPr txBox="1"/>
          <p:nvPr/>
        </p:nvSpPr>
        <p:spPr>
          <a:xfrm>
            <a:off x="800100" y="4229100"/>
            <a:ext cx="12954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u="none" cap="none" strike="noStrike">
                <a:solidFill>
                  <a:srgbClr val="4A5A75"/>
                </a:solidFill>
                <a:latin typeface="Instrument Sans"/>
                <a:ea typeface="Instrument Sans"/>
                <a:cs typeface="Instrument Sans"/>
                <a:sym typeface="Instrument Sans"/>
              </a:rPr>
              <a:t>Performance Max</a:t>
            </a:r>
            <a:endParaRPr/>
          </a:p>
        </p:txBody>
      </p:sp>
      <p:sp>
        <p:nvSpPr>
          <p:cNvPr id="286" name="Google Shape;286;p7"/>
          <p:cNvSpPr/>
          <p:nvPr/>
        </p:nvSpPr>
        <p:spPr>
          <a:xfrm>
            <a:off x="2209800" y="4210050"/>
            <a:ext cx="3762375" cy="180975"/>
          </a:xfrm>
          <a:prstGeom prst="roundRect">
            <a:avLst>
              <a:gd fmla="val 21052" name="adj"/>
            </a:avLst>
          </a:prstGeom>
          <a:solidFill>
            <a:srgbClr val="E7E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7"/>
          <p:cNvSpPr/>
          <p:nvPr/>
        </p:nvSpPr>
        <p:spPr>
          <a:xfrm>
            <a:off x="2209800" y="4210050"/>
            <a:ext cx="81738" cy="180975"/>
          </a:xfrm>
          <a:prstGeom prst="roundRect">
            <a:avLst>
              <a:gd fmla="val 46612" name="adj"/>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7"/>
          <p:cNvSpPr txBox="1"/>
          <p:nvPr/>
        </p:nvSpPr>
        <p:spPr>
          <a:xfrm>
            <a:off x="2367738" y="4210050"/>
            <a:ext cx="723900" cy="1809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825" u="none" cap="none" strike="noStrike">
                <a:solidFill>
                  <a:srgbClr val="0E1B33"/>
                </a:solidFill>
                <a:latin typeface="JetBrains Mono"/>
                <a:ea typeface="JetBrains Mono"/>
                <a:cs typeface="JetBrains Mono"/>
                <a:sym typeface="JetBrains Mono"/>
              </a:rPr>
              <a:t>$8.69</a:t>
            </a:r>
            <a:endParaRPr/>
          </a:p>
        </p:txBody>
      </p:sp>
      <p:sp>
        <p:nvSpPr>
          <p:cNvPr id="289" name="Google Shape;289;p7"/>
          <p:cNvSpPr txBox="1"/>
          <p:nvPr/>
        </p:nvSpPr>
        <p:spPr>
          <a:xfrm>
            <a:off x="800100" y="4505325"/>
            <a:ext cx="12954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u="none" cap="none" strike="noStrike">
                <a:solidFill>
                  <a:srgbClr val="4A5A75"/>
                </a:solidFill>
                <a:latin typeface="Instrument Sans"/>
                <a:ea typeface="Instrument Sans"/>
                <a:cs typeface="Instrument Sans"/>
                <a:sym typeface="Instrument Sans"/>
              </a:rPr>
              <a:t>Non-brand search</a:t>
            </a:r>
            <a:endParaRPr/>
          </a:p>
        </p:txBody>
      </p:sp>
      <p:sp>
        <p:nvSpPr>
          <p:cNvPr id="290" name="Google Shape;290;p7"/>
          <p:cNvSpPr/>
          <p:nvPr/>
        </p:nvSpPr>
        <p:spPr>
          <a:xfrm>
            <a:off x="2209800" y="4486275"/>
            <a:ext cx="3762375" cy="180975"/>
          </a:xfrm>
          <a:prstGeom prst="roundRect">
            <a:avLst>
              <a:gd fmla="val 21052" name="adj"/>
            </a:avLst>
          </a:prstGeom>
          <a:solidFill>
            <a:srgbClr val="E7E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7"/>
          <p:cNvSpPr/>
          <p:nvPr/>
        </p:nvSpPr>
        <p:spPr>
          <a:xfrm>
            <a:off x="2209800" y="4486275"/>
            <a:ext cx="3561840" cy="180975"/>
          </a:xfrm>
          <a:prstGeom prst="roundRect">
            <a:avLst>
              <a:gd fmla="val 21052" name="adj"/>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7"/>
          <p:cNvSpPr txBox="1"/>
          <p:nvPr/>
        </p:nvSpPr>
        <p:spPr>
          <a:xfrm>
            <a:off x="5009640" y="4486275"/>
            <a:ext cx="723900" cy="180975"/>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i="0" lang="en-US" sz="825" u="none" cap="none" strike="noStrike">
                <a:solidFill>
                  <a:srgbClr val="FFFFFF"/>
                </a:solidFill>
                <a:latin typeface="JetBrains Mono"/>
                <a:ea typeface="JetBrains Mono"/>
                <a:cs typeface="JetBrains Mono"/>
                <a:sym typeface="JetBrains Mono"/>
              </a:rPr>
              <a:t>$378.68</a:t>
            </a:r>
            <a:endParaRPr/>
          </a:p>
        </p:txBody>
      </p:sp>
      <p:sp>
        <p:nvSpPr>
          <p:cNvPr id="293" name="Google Shape;293;p7"/>
          <p:cNvSpPr txBox="1"/>
          <p:nvPr/>
        </p:nvSpPr>
        <p:spPr>
          <a:xfrm>
            <a:off x="800100" y="4781550"/>
            <a:ext cx="12954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75" u="none" cap="none" strike="noStrike">
                <a:solidFill>
                  <a:srgbClr val="4A5A75"/>
                </a:solidFill>
                <a:latin typeface="Instrument Sans"/>
                <a:ea typeface="Instrument Sans"/>
                <a:cs typeface="Instrument Sans"/>
                <a:sym typeface="Instrument Sans"/>
              </a:rPr>
              <a:t>LinkedIn</a:t>
            </a:r>
            <a:endParaRPr/>
          </a:p>
        </p:txBody>
      </p:sp>
      <p:sp>
        <p:nvSpPr>
          <p:cNvPr id="294" name="Google Shape;294;p7"/>
          <p:cNvSpPr/>
          <p:nvPr/>
        </p:nvSpPr>
        <p:spPr>
          <a:xfrm>
            <a:off x="2209800" y="4762500"/>
            <a:ext cx="3762375" cy="180975"/>
          </a:xfrm>
          <a:prstGeom prst="roundRect">
            <a:avLst>
              <a:gd fmla="val 21052" name="adj"/>
            </a:avLst>
          </a:prstGeom>
          <a:solidFill>
            <a:srgbClr val="E7E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7"/>
          <p:cNvSpPr txBox="1"/>
          <p:nvPr/>
        </p:nvSpPr>
        <p:spPr>
          <a:xfrm>
            <a:off x="2305050" y="4762500"/>
            <a:ext cx="2095500" cy="1809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900" u="none" cap="none" strike="noStrike">
                <a:solidFill>
                  <a:srgbClr val="8794AC"/>
                </a:solidFill>
                <a:latin typeface="Instrument Sans"/>
                <a:ea typeface="Instrument Sans"/>
                <a:cs typeface="Instrument Sans"/>
                <a:sym typeface="Instrument Sans"/>
              </a:rPr>
              <a:t>No sign-ups recorded</a:t>
            </a:r>
            <a:endParaRPr/>
          </a:p>
        </p:txBody>
      </p:sp>
      <p:sp>
        <p:nvSpPr>
          <p:cNvPr id="296" name="Google Shape;296;p7"/>
          <p:cNvSpPr txBox="1"/>
          <p:nvPr/>
        </p:nvSpPr>
        <p:spPr>
          <a:xfrm>
            <a:off x="2209800" y="5057775"/>
            <a:ext cx="32385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675" u="none" cap="none" strike="noStrike">
                <a:solidFill>
                  <a:srgbClr val="8794AC"/>
                </a:solidFill>
                <a:latin typeface="JetBrains Mono"/>
                <a:ea typeface="JetBrains Mono"/>
                <a:cs typeface="JetBrains Mono"/>
                <a:sym typeface="JetBrains Mono"/>
              </a:rPr>
              <a:t>$0</a:t>
            </a:r>
            <a:endParaRPr/>
          </a:p>
        </p:txBody>
      </p:sp>
      <p:sp>
        <p:nvSpPr>
          <p:cNvPr id="297" name="Google Shape;297;p7"/>
          <p:cNvSpPr txBox="1"/>
          <p:nvPr/>
        </p:nvSpPr>
        <p:spPr>
          <a:xfrm>
            <a:off x="2988469" y="5057775"/>
            <a:ext cx="323850" cy="114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675" u="none" cap="none" strike="noStrike">
                <a:solidFill>
                  <a:srgbClr val="8794AC"/>
                </a:solidFill>
                <a:latin typeface="JetBrains Mono"/>
                <a:ea typeface="JetBrains Mono"/>
                <a:cs typeface="JetBrains Mono"/>
                <a:sym typeface="JetBrains Mono"/>
              </a:rPr>
              <a:t>$100</a:t>
            </a:r>
            <a:endParaRPr/>
          </a:p>
        </p:txBody>
      </p:sp>
      <p:sp>
        <p:nvSpPr>
          <p:cNvPr id="298" name="Google Shape;298;p7"/>
          <p:cNvSpPr txBox="1"/>
          <p:nvPr/>
        </p:nvSpPr>
        <p:spPr>
          <a:xfrm>
            <a:off x="3929062" y="5057775"/>
            <a:ext cx="323850" cy="114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675" u="none" cap="none" strike="noStrike">
                <a:solidFill>
                  <a:srgbClr val="8794AC"/>
                </a:solidFill>
                <a:latin typeface="JetBrains Mono"/>
                <a:ea typeface="JetBrains Mono"/>
                <a:cs typeface="JetBrains Mono"/>
                <a:sym typeface="JetBrains Mono"/>
              </a:rPr>
              <a:t>$200</a:t>
            </a:r>
            <a:endParaRPr/>
          </a:p>
        </p:txBody>
      </p:sp>
      <p:sp>
        <p:nvSpPr>
          <p:cNvPr id="299" name="Google Shape;299;p7"/>
          <p:cNvSpPr txBox="1"/>
          <p:nvPr/>
        </p:nvSpPr>
        <p:spPr>
          <a:xfrm>
            <a:off x="4869656" y="5057775"/>
            <a:ext cx="323850" cy="114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675" u="none" cap="none" strike="noStrike">
                <a:solidFill>
                  <a:srgbClr val="8794AC"/>
                </a:solidFill>
                <a:latin typeface="JetBrains Mono"/>
                <a:ea typeface="JetBrains Mono"/>
                <a:cs typeface="JetBrains Mono"/>
                <a:sym typeface="JetBrains Mono"/>
              </a:rPr>
              <a:t>$300</a:t>
            </a:r>
            <a:endParaRPr/>
          </a:p>
        </p:txBody>
      </p:sp>
      <p:sp>
        <p:nvSpPr>
          <p:cNvPr id="300" name="Google Shape;300;p7"/>
          <p:cNvSpPr txBox="1"/>
          <p:nvPr/>
        </p:nvSpPr>
        <p:spPr>
          <a:xfrm>
            <a:off x="5648325" y="5057775"/>
            <a:ext cx="323850" cy="114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675" u="none" cap="none" strike="noStrike">
                <a:solidFill>
                  <a:srgbClr val="8794AC"/>
                </a:solidFill>
                <a:latin typeface="JetBrains Mono"/>
                <a:ea typeface="JetBrains Mono"/>
                <a:cs typeface="JetBrains Mono"/>
                <a:sym typeface="JetBrains Mono"/>
              </a:rPr>
              <a:t>$400</a:t>
            </a:r>
            <a:endParaRPr/>
          </a:p>
        </p:txBody>
      </p:sp>
      <p:sp>
        <p:nvSpPr>
          <p:cNvPr id="301" name="Google Shape;301;p7"/>
          <p:cNvSpPr txBox="1"/>
          <p:nvPr/>
        </p:nvSpPr>
        <p:spPr>
          <a:xfrm>
            <a:off x="6219825" y="3629025"/>
            <a:ext cx="38100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88" u="none" cap="none" strike="noStrike">
                <a:solidFill>
                  <a:srgbClr val="0E1B33"/>
                </a:solidFill>
                <a:latin typeface="Instrument Sans"/>
                <a:ea typeface="Instrument Sans"/>
                <a:cs typeface="Instrument Sans"/>
                <a:sym typeface="Instrument Sans"/>
              </a:rPr>
              <a:t>Campaigns</a:t>
            </a:r>
            <a:endParaRPr/>
          </a:p>
        </p:txBody>
      </p:sp>
      <p:graphicFrame>
        <p:nvGraphicFramePr>
          <p:cNvPr id="302" name="Google Shape;302;p7"/>
          <p:cNvGraphicFramePr/>
          <p:nvPr/>
        </p:nvGraphicFramePr>
        <p:xfrm>
          <a:off x="6219825" y="3876675"/>
          <a:ext cx="3000000" cy="3000000"/>
        </p:xfrm>
        <a:graphic>
          <a:graphicData uri="http://schemas.openxmlformats.org/drawingml/2006/table">
            <a:tbl>
              <a:tblPr>
                <a:noFill/>
                <a:tableStyleId>{4F415798-8E4C-4216-B135-C9F54E9B0F97}</a:tableStyleId>
              </a:tblPr>
              <a:tblGrid>
                <a:gridCol w="1647825"/>
                <a:gridCol w="876300"/>
                <a:gridCol w="857250"/>
                <a:gridCol w="838200"/>
                <a:gridCol w="952500"/>
              </a:tblGrid>
              <a:tr h="247650">
                <a:tc>
                  <a:txBody>
                    <a:bodyPr/>
                    <a:lstStyle/>
                    <a:p>
                      <a:pPr indent="0" lvl="0" marL="0" marR="0" rtl="0" algn="l">
                        <a:spcBef>
                          <a:spcPts val="0"/>
                        </a:spcBef>
                        <a:spcAft>
                          <a:spcPts val="0"/>
                        </a:spcAft>
                        <a:buNone/>
                      </a:pPr>
                      <a:r>
                        <a:rPr b="1" i="0" lang="en-US" sz="750" u="none" cap="none" strike="noStrike">
                          <a:solidFill>
                            <a:srgbClr val="8794AC"/>
                          </a:solidFill>
                          <a:latin typeface="JetBrains Mono"/>
                          <a:ea typeface="JetBrains Mono"/>
                          <a:cs typeface="JetBrains Mono"/>
                          <a:sym typeface="JetBrains Mono"/>
                        </a:rPr>
                        <a:t>CAMPAIGN</a:t>
                      </a:r>
                      <a:endParaRPr/>
                    </a:p>
                  </a:txBody>
                  <a:tcPr marT="28575" marB="28575" marR="95250" marL="95250" anchor="ctr"/>
                </a:tc>
                <a:tc>
                  <a:txBody>
                    <a:bodyPr/>
                    <a:lstStyle/>
                    <a:p>
                      <a:pPr indent="0" lvl="0" marL="0" marR="0" rtl="0" algn="r">
                        <a:spcBef>
                          <a:spcPts val="0"/>
                        </a:spcBef>
                        <a:spcAft>
                          <a:spcPts val="0"/>
                        </a:spcAft>
                        <a:buNone/>
                      </a:pPr>
                      <a:r>
                        <a:rPr b="1" i="0" lang="en-US" sz="750" u="none" cap="none" strike="noStrike">
                          <a:solidFill>
                            <a:srgbClr val="8794AC"/>
                          </a:solidFill>
                          <a:latin typeface="JetBrains Mono"/>
                          <a:ea typeface="JetBrains Mono"/>
                          <a:cs typeface="JetBrains Mono"/>
                          <a:sym typeface="JetBrains Mono"/>
                        </a:rPr>
                        <a:t>SPEND</a:t>
                      </a:r>
                      <a:endParaRPr/>
                    </a:p>
                  </a:txBody>
                  <a:tcPr marT="28575" marB="28575" marR="95250" marL="95250" anchor="ctr"/>
                </a:tc>
                <a:tc>
                  <a:txBody>
                    <a:bodyPr/>
                    <a:lstStyle/>
                    <a:p>
                      <a:pPr indent="0" lvl="0" marL="0" marR="0" rtl="0" algn="r">
                        <a:spcBef>
                          <a:spcPts val="0"/>
                        </a:spcBef>
                        <a:spcAft>
                          <a:spcPts val="0"/>
                        </a:spcAft>
                        <a:buNone/>
                      </a:pPr>
                      <a:r>
                        <a:rPr b="1" i="0" lang="en-US" sz="750" u="none" cap="none" strike="noStrike">
                          <a:solidFill>
                            <a:srgbClr val="8794AC"/>
                          </a:solidFill>
                          <a:latin typeface="JetBrains Mono"/>
                          <a:ea typeface="JetBrains Mono"/>
                          <a:cs typeface="JetBrains Mono"/>
                          <a:sym typeface="JetBrains Mono"/>
                        </a:rPr>
                        <a:t>QUALIFIED</a:t>
                      </a:r>
                      <a:endParaRPr/>
                    </a:p>
                  </a:txBody>
                  <a:tcPr marT="28575" marB="28575" marR="95250" marL="95250" anchor="ctr"/>
                </a:tc>
                <a:tc>
                  <a:txBody>
                    <a:bodyPr/>
                    <a:lstStyle/>
                    <a:p>
                      <a:pPr indent="0" lvl="0" marL="0" marR="0" rtl="0" algn="r">
                        <a:spcBef>
                          <a:spcPts val="0"/>
                        </a:spcBef>
                        <a:spcAft>
                          <a:spcPts val="0"/>
                        </a:spcAft>
                        <a:buNone/>
                      </a:pPr>
                      <a:r>
                        <a:rPr b="1" i="0" lang="en-US" sz="750" u="none" cap="none" strike="noStrike">
                          <a:solidFill>
                            <a:srgbClr val="8794AC"/>
                          </a:solidFill>
                          <a:latin typeface="JetBrains Mono"/>
                          <a:ea typeface="JetBrains Mono"/>
                          <a:cs typeface="JetBrains Mono"/>
                          <a:sym typeface="JetBrains Mono"/>
                        </a:rPr>
                        <a:t>COST EACH</a:t>
                      </a:r>
                      <a:endParaRPr/>
                    </a:p>
                  </a:txBody>
                  <a:tcPr marT="28575" marB="28575" marR="95250" marL="95250" anchor="ctr"/>
                </a:tc>
                <a:tc>
                  <a:txBody>
                    <a:bodyPr/>
                    <a:lstStyle/>
                    <a:p>
                      <a:pPr indent="0" lvl="0" marL="0" marR="0" rtl="0" algn="r">
                        <a:spcBef>
                          <a:spcPts val="0"/>
                        </a:spcBef>
                        <a:spcAft>
                          <a:spcPts val="0"/>
                        </a:spcAft>
                        <a:buNone/>
                      </a:pPr>
                      <a:r>
                        <a:rPr b="1" i="0" lang="en-US" sz="750" u="none" cap="none" strike="noStrike">
                          <a:solidFill>
                            <a:srgbClr val="8794AC"/>
                          </a:solidFill>
                          <a:latin typeface="JetBrains Mono"/>
                          <a:ea typeface="JetBrains Mono"/>
                          <a:cs typeface="JetBrains Mono"/>
                          <a:sym typeface="JetBrains Mono"/>
                        </a:rPr>
                        <a:t>PAYING</a:t>
                      </a:r>
                      <a:endParaRPr/>
                    </a:p>
                  </a:txBody>
                  <a:tcPr marT="28575" marB="28575" marR="95250" marL="95250" anchor="ctr"/>
                </a:tc>
              </a:tr>
              <a:tr h="266700">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Brand search</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$3,981.44</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1,044</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$3.81</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8794AC"/>
                          </a:solidFill>
                          <a:latin typeface="Instrument Sans"/>
                          <a:ea typeface="Instrument Sans"/>
                          <a:cs typeface="Instrument Sans"/>
                          <a:sym typeface="Instrument Sans"/>
                        </a:rPr>
                        <a:t>Not tracked</a:t>
                      </a:r>
                      <a:endParaRPr/>
                    </a:p>
                  </a:txBody>
                  <a:tcPr marT="28575" marB="28575" marR="95250" marL="95250" anchor="ctr"/>
                </a:tc>
              </a:tr>
              <a:tr h="266700">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Performance Max</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$1,930.22</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222</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$8.69</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8794AC"/>
                          </a:solidFill>
                          <a:latin typeface="Instrument Sans"/>
                          <a:ea typeface="Instrument Sans"/>
                          <a:cs typeface="Instrument Sans"/>
                          <a:sym typeface="Instrument Sans"/>
                        </a:rPr>
                        <a:t>Not tracked</a:t>
                      </a:r>
                      <a:endParaRPr/>
                    </a:p>
                  </a:txBody>
                  <a:tcPr marT="28575" marB="28575" marR="95250" marL="95250" anchor="ctr"/>
                </a:tc>
              </a:tr>
              <a:tr h="266700">
                <a:tc>
                  <a:txBody>
                    <a:bodyPr/>
                    <a:lstStyle/>
                    <a:p>
                      <a:pPr indent="0" lvl="0" marL="0" marR="0" rtl="0" algn="l">
                        <a:spcBef>
                          <a:spcPts val="0"/>
                        </a:spcBef>
                        <a:spcAft>
                          <a:spcPts val="0"/>
                        </a:spcAft>
                        <a:buNone/>
                      </a:pPr>
                      <a:r>
                        <a:rPr b="1" i="0" lang="en-US" sz="938" u="none" cap="none" strike="noStrike">
                          <a:solidFill>
                            <a:srgbClr val="A3302C"/>
                          </a:solidFill>
                          <a:latin typeface="Instrument Sans"/>
                          <a:ea typeface="Instrument Sans"/>
                          <a:cs typeface="Instrument Sans"/>
                          <a:sym typeface="Instrument Sans"/>
                        </a:rPr>
                        <a:t>Non-brand search</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$9,088.20</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24</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$378.68</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8794AC"/>
                          </a:solidFill>
                          <a:latin typeface="Instrument Sans"/>
                          <a:ea typeface="Instrument Sans"/>
                          <a:cs typeface="Instrument Sans"/>
                          <a:sym typeface="Instrument Sans"/>
                        </a:rPr>
                        <a:t>Not tracked</a:t>
                      </a:r>
                      <a:endParaRPr/>
                    </a:p>
                  </a:txBody>
                  <a:tcPr marT="28575" marB="28575" marR="95250" marL="95250" anchor="ctr">
                    <a:solidFill>
                      <a:srgbClr val="FDECEB"/>
                    </a:solidFill>
                  </a:tcPr>
                </a:tc>
              </a:tr>
              <a:tr h="266700">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LinkedIn</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$2,341.70</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0</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8794AC"/>
                          </a:solidFill>
                          <a:latin typeface="Instrument Sans"/>
                          <a:ea typeface="Instrument Sans"/>
                          <a:cs typeface="Instrument Sans"/>
                          <a:sym typeface="Instrument Sans"/>
                        </a:rPr>
                        <a:t>No data</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8794AC"/>
                          </a:solidFill>
                          <a:latin typeface="Instrument Sans"/>
                          <a:ea typeface="Instrument Sans"/>
                          <a:cs typeface="Instrument Sans"/>
                          <a:sym typeface="Instrument Sans"/>
                        </a:rPr>
                        <a:t>Not tracked</a:t>
                      </a:r>
                      <a:endParaRPr/>
                    </a:p>
                  </a:txBody>
                  <a:tcPr marT="28575" marB="28575" marR="95250" marL="95250" anchor="ctr"/>
                </a:tc>
              </a:tr>
              <a:tr h="266700">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Total</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$17,341.56</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1,290</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$13.44</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8794AC"/>
                          </a:solidFill>
                          <a:latin typeface="Instrument Sans"/>
                          <a:ea typeface="Instrument Sans"/>
                          <a:cs typeface="Instrument Sans"/>
                          <a:sym typeface="Instrument Sans"/>
                        </a:rPr>
                        <a:t>Not tracked</a:t>
                      </a:r>
                      <a:endParaRPr/>
                    </a:p>
                  </a:txBody>
                  <a:tcPr marT="28575" marB="28575" marR="95250" marL="95250" anchor="ctr">
                    <a:lnB cap="flat" cmpd="sng" w="25400">
                      <a:solidFill>
                        <a:srgbClr val="0E1B33"/>
                      </a:solidFill>
                      <a:prstDash val="solid"/>
                      <a:round/>
                      <a:headEnd len="sm" w="sm" type="none"/>
                      <a:tailEnd len="sm" w="sm" type="none"/>
                    </a:lnB>
                  </a:tcPr>
                </a:tc>
              </a:tr>
            </a:tbl>
          </a:graphicData>
        </a:graphic>
      </p:graphicFrame>
      <p:sp>
        <p:nvSpPr>
          <p:cNvPr id="303" name="Google Shape;303;p7"/>
          <p:cNvSpPr txBox="1"/>
          <p:nvPr/>
        </p:nvSpPr>
        <p:spPr>
          <a:xfrm>
            <a:off x="6219825" y="5543550"/>
            <a:ext cx="53340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861" u="none" cap="none" strike="noStrike">
                <a:solidFill>
                  <a:srgbClr val="4A5A75"/>
                </a:solidFill>
                <a:latin typeface="Instrument Sans"/>
                <a:ea typeface="Instrument Sans"/>
                <a:cs typeface="Instrument Sans"/>
                <a:sym typeface="Instrument Sans"/>
              </a:rPr>
              <a:t>Plus 481 sign-ups that arrived through Sign in with Google, with no campaign attached.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307" name="Shape 307"/>
        <p:cNvGrpSpPr/>
        <p:nvPr/>
      </p:nvGrpSpPr>
      <p:grpSpPr>
        <a:xfrm>
          <a:off x="0" y="0"/>
          <a:ext cx="0" cy="0"/>
          <a:chOff x="0" y="0"/>
          <a:chExt cx="0" cy="0"/>
        </a:xfrm>
      </p:grpSpPr>
      <p:sp>
        <p:nvSpPr>
          <p:cNvPr id="308" name="Google Shape;308;p8"/>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8"/>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SAMPLE DASHBOARD  KEYWORDS</a:t>
            </a:r>
            <a:endParaRPr/>
          </a:p>
        </p:txBody>
      </p:sp>
      <p:sp>
        <p:nvSpPr>
          <p:cNvPr id="310" name="Google Shape;310;p8"/>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900" u="none" cap="none" strike="noStrike">
                <a:solidFill>
                  <a:srgbClr val="0E1B33"/>
                </a:solidFill>
                <a:latin typeface="Instrument Serif"/>
                <a:ea typeface="Instrument Serif"/>
                <a:cs typeface="Instrument Serif"/>
                <a:sym typeface="Instrument Serif"/>
              </a:rPr>
              <a:t>Every sign-up, </a:t>
            </a:r>
            <a:r>
              <a:rPr b="0" i="1" lang="en-US" sz="3900" u="none" cap="none" strike="noStrike">
                <a:solidFill>
                  <a:srgbClr val="2A6BE0"/>
                </a:solidFill>
                <a:latin typeface="Instrument Serif"/>
                <a:ea typeface="Instrument Serif"/>
                <a:cs typeface="Instrument Serif"/>
                <a:sym typeface="Instrument Serif"/>
              </a:rPr>
              <a:t>down to the keyword level</a:t>
            </a:r>
            <a:endParaRPr/>
          </a:p>
        </p:txBody>
      </p:sp>
      <p:sp>
        <p:nvSpPr>
          <p:cNvPr id="311" name="Google Shape;311;p8"/>
          <p:cNvSpPr txBox="1"/>
          <p:nvPr/>
        </p:nvSpPr>
        <p:spPr>
          <a:xfrm>
            <a:off x="609600" y="1428750"/>
            <a:ext cx="10972800" cy="54292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Your current agency has never shown you what each keyword costs, so these are example keywords in the layout you get in week one. Your own numbers replace them on day one.</a:t>
            </a:r>
            <a:endParaRPr/>
          </a:p>
        </p:txBody>
      </p:sp>
      <p:sp>
        <p:nvSpPr>
          <p:cNvPr id="312" name="Google Shape;312;p8"/>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08</a:t>
            </a:r>
            <a:endParaRPr/>
          </a:p>
        </p:txBody>
      </p:sp>
      <p:sp>
        <p:nvSpPr>
          <p:cNvPr id="313" name="Google Shape;313;p8"/>
          <p:cNvSpPr/>
          <p:nvPr/>
        </p:nvSpPr>
        <p:spPr>
          <a:xfrm>
            <a:off x="609600" y="2085975"/>
            <a:ext cx="10972800" cy="4067175"/>
          </a:xfrm>
          <a:prstGeom prst="roundRect">
            <a:avLst>
              <a:gd fmla="val 3278"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8"/>
          <p:cNvSpPr txBox="1"/>
          <p:nvPr/>
        </p:nvSpPr>
        <p:spPr>
          <a:xfrm>
            <a:off x="800100" y="2238375"/>
            <a:ext cx="4762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SignWell · Keywords</a:t>
            </a:r>
            <a:endParaRPr/>
          </a:p>
        </p:txBody>
      </p:sp>
      <p:sp>
        <p:nvSpPr>
          <p:cNvPr id="315" name="Google Shape;315;p8"/>
          <p:cNvSpPr txBox="1"/>
          <p:nvPr/>
        </p:nvSpPr>
        <p:spPr>
          <a:xfrm>
            <a:off x="800100" y="2466975"/>
            <a:ext cx="47625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SAMPLE DASHBOARD · EXAMPLE KEYWORDS, NOT YOUR DATA</a:t>
            </a:r>
            <a:endParaRPr/>
          </a:p>
        </p:txBody>
      </p:sp>
      <p:sp>
        <p:nvSpPr>
          <p:cNvPr id="316" name="Google Shape;316;p8"/>
          <p:cNvSpPr/>
          <p:nvPr/>
        </p:nvSpPr>
        <p:spPr>
          <a:xfrm>
            <a:off x="10205276" y="2219325"/>
            <a:ext cx="1186624" cy="247650"/>
          </a:xfrm>
          <a:prstGeom prst="roundRect">
            <a:avLst>
              <a:gd fmla="val 50000" name="adj"/>
            </a:avLst>
          </a:prstGeom>
          <a:no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8"/>
          <p:cNvSpPr txBox="1"/>
          <p:nvPr/>
        </p:nvSpPr>
        <p:spPr>
          <a:xfrm>
            <a:off x="10205276" y="2219325"/>
            <a:ext cx="1186624" cy="2476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900" u="none" cap="none" strike="noStrike">
                <a:solidFill>
                  <a:srgbClr val="4A5A75"/>
                </a:solidFill>
                <a:latin typeface="Instrument Sans"/>
                <a:ea typeface="Instrument Sans"/>
                <a:cs typeface="Instrument Sans"/>
                <a:sym typeface="Instrument Sans"/>
              </a:rPr>
              <a:t>Qualified sign-ups</a:t>
            </a:r>
            <a:endParaRPr/>
          </a:p>
        </p:txBody>
      </p:sp>
      <p:sp>
        <p:nvSpPr>
          <p:cNvPr id="318" name="Google Shape;318;p8"/>
          <p:cNvSpPr/>
          <p:nvPr/>
        </p:nvSpPr>
        <p:spPr>
          <a:xfrm>
            <a:off x="7614476" y="2219325"/>
            <a:ext cx="2514600" cy="247650"/>
          </a:xfrm>
          <a:prstGeom prst="roundRect">
            <a:avLst>
              <a:gd fmla="val 50000" name="adj"/>
            </a:avLst>
          </a:prstGeom>
          <a:solidFill>
            <a:srgbClr val="FDF6E7"/>
          </a:solidFill>
          <a:ln cap="flat" cmpd="sng" w="9525">
            <a:solidFill>
              <a:srgbClr val="D297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8"/>
          <p:cNvSpPr txBox="1"/>
          <p:nvPr/>
        </p:nvSpPr>
        <p:spPr>
          <a:xfrm>
            <a:off x="7614476" y="2219325"/>
            <a:ext cx="2514600" cy="2476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750" u="none" cap="none" strike="noStrike">
                <a:solidFill>
                  <a:srgbClr val="8A6212"/>
                </a:solidFill>
                <a:latin typeface="JetBrains Mono"/>
                <a:ea typeface="JetBrains Mono"/>
                <a:cs typeface="JetBrains Mono"/>
                <a:sym typeface="JetBrains Mono"/>
              </a:rPr>
              <a:t>SAMPLE DASHBOARD, EXAMPLE KEYWORDS</a:t>
            </a:r>
            <a:endParaRPr/>
          </a:p>
        </p:txBody>
      </p:sp>
      <p:sp>
        <p:nvSpPr>
          <p:cNvPr id="320" name="Google Shape;320;p8"/>
          <p:cNvSpPr txBox="1"/>
          <p:nvPr/>
        </p:nvSpPr>
        <p:spPr>
          <a:xfrm>
            <a:off x="800100" y="2619375"/>
            <a:ext cx="38100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88" u="none" cap="none" strike="noStrike">
                <a:solidFill>
                  <a:srgbClr val="0E1B33"/>
                </a:solidFill>
                <a:latin typeface="Instrument Sans"/>
                <a:ea typeface="Instrument Sans"/>
                <a:cs typeface="Instrument Sans"/>
                <a:sym typeface="Instrument Sans"/>
              </a:rPr>
              <a:t>Brand keywords</a:t>
            </a:r>
            <a:endParaRPr/>
          </a:p>
        </p:txBody>
      </p:sp>
      <p:graphicFrame>
        <p:nvGraphicFramePr>
          <p:cNvPr id="321" name="Google Shape;321;p8"/>
          <p:cNvGraphicFramePr/>
          <p:nvPr/>
        </p:nvGraphicFramePr>
        <p:xfrm>
          <a:off x="800100" y="2867025"/>
          <a:ext cx="3000000" cy="3000000"/>
        </p:xfrm>
        <a:graphic>
          <a:graphicData uri="http://schemas.openxmlformats.org/drawingml/2006/table">
            <a:tbl>
              <a:tblPr>
                <a:noFill/>
                <a:tableStyleId>{4F415798-8E4C-4216-B135-C9F54E9B0F97}</a:tableStyleId>
              </a:tblPr>
              <a:tblGrid>
                <a:gridCol w="2066925"/>
                <a:gridCol w="590550"/>
                <a:gridCol w="800100"/>
                <a:gridCol w="838200"/>
                <a:gridCol w="876300"/>
              </a:tblGrid>
              <a:tr h="238125">
                <a:tc>
                  <a:txBody>
                    <a:bodyPr/>
                    <a:lstStyle/>
                    <a:p>
                      <a:pPr indent="0" lvl="0" marL="0" marR="0" rtl="0" algn="l">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KEYWORD</a:t>
                      </a:r>
                      <a:endParaRPr/>
                    </a:p>
                  </a:txBody>
                  <a:tcPr marT="28575" marB="28575" marR="95250" marL="95250" anchor="ctr"/>
                </a:tc>
                <a:tc>
                  <a:txBody>
                    <a:bodyPr/>
                    <a:lstStyle/>
                    <a:p>
                      <a:pPr indent="0" lvl="0" marL="0" marR="0" rtl="0" algn="l">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MATCH</a:t>
                      </a:r>
                      <a:endParaRPr/>
                    </a:p>
                  </a:txBody>
                  <a:tcPr marT="28575" marB="28575" marR="95250" marL="95250" anchor="ctr"/>
                </a:tc>
                <a:tc>
                  <a:txBody>
                    <a:bodyPr/>
                    <a:lstStyle/>
                    <a:p>
                      <a:pPr indent="0" lvl="0" marL="0" marR="0" rtl="0" algn="r">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SPEND</a:t>
                      </a:r>
                      <a:endParaRPr/>
                    </a:p>
                  </a:txBody>
                  <a:tcPr marT="28575" marB="28575" marR="95250" marL="95250" anchor="ctr"/>
                </a:tc>
                <a:tc>
                  <a:txBody>
                    <a:bodyPr/>
                    <a:lstStyle/>
                    <a:p>
                      <a:pPr indent="0" lvl="0" marL="0" marR="0" rtl="0" algn="r">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QUALIFIED</a:t>
                      </a:r>
                      <a:endParaRPr/>
                    </a:p>
                  </a:txBody>
                  <a:tcPr marT="28575" marB="28575" marR="95250" marL="95250" anchor="ctr"/>
                </a:tc>
                <a:tc>
                  <a:txBody>
                    <a:bodyPr/>
                    <a:lstStyle/>
                    <a:p>
                      <a:pPr indent="0" lvl="0" marL="0" marR="0" rtl="0" algn="r">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COST EACH</a:t>
                      </a:r>
                      <a:endParaRPr/>
                    </a:p>
                  </a:txBody>
                  <a:tcPr marT="28575" marB="28575" marR="95250" marL="95250" anchor="ctr"/>
                </a:tc>
              </a:tr>
              <a:tr h="257175">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signwell</a:t>
                      </a:r>
                      <a:endParaRPr/>
                    </a:p>
                  </a:txBody>
                  <a:tcPr marT="28575" marB="28575" marR="95250" marL="95250" anchor="ct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Exact</a:t>
                      </a:r>
                      <a:endParaRPr/>
                    </a:p>
                  </a:txBody>
                  <a:tcPr marT="28575" marB="28575" marR="57150" marL="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$1,963</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640</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$3.07</a:t>
                      </a:r>
                      <a:endParaRPr/>
                    </a:p>
                  </a:txBody>
                  <a:tcPr marT="28575" marB="28575" marR="95250" marL="95250" anchor="ctr"/>
                </a:tc>
              </a:tr>
              <a:tr h="257175">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sign well</a:t>
                      </a:r>
                      <a:endParaRPr/>
                    </a:p>
                  </a:txBody>
                  <a:tcPr marT="28575" marB="28575" marR="95250" marL="95250" anchor="ct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Phrase</a:t>
                      </a:r>
                      <a:endParaRPr/>
                    </a:p>
                  </a:txBody>
                  <a:tcPr marT="28575" marB="28575" marR="57150" marL="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$784</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259</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$3.03</a:t>
                      </a:r>
                      <a:endParaRPr/>
                    </a:p>
                  </a:txBody>
                  <a:tcPr marT="28575" marB="28575" marR="95250" marL="95250" anchor="ctr"/>
                </a:tc>
              </a:tr>
              <a:tr h="257175">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signwell pricing</a:t>
                      </a:r>
                      <a:endParaRPr/>
                    </a:p>
                  </a:txBody>
                  <a:tcPr marT="28575" marB="28575" marR="95250" marL="95250" anchor="ct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Exact</a:t>
                      </a:r>
                      <a:endParaRPr/>
                    </a:p>
                  </a:txBody>
                  <a:tcPr marT="28575" marB="28575" marR="57150" marL="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$341</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104</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$3.28</a:t>
                      </a:r>
                      <a:endParaRPr/>
                    </a:p>
                  </a:txBody>
                  <a:tcPr marT="28575" marB="28575" marR="95250" marL="95250" anchor="ctr"/>
                </a:tc>
              </a:tr>
              <a:tr h="257175">
                <a:tc>
                  <a:txBody>
                    <a:bodyPr/>
                    <a:lstStyle/>
                    <a:p>
                      <a:pPr indent="0" lvl="0" marL="0" marR="0" rtl="0" algn="l">
                        <a:spcBef>
                          <a:spcPts val="0"/>
                        </a:spcBef>
                        <a:spcAft>
                          <a:spcPts val="0"/>
                        </a:spcAft>
                        <a:buNone/>
                      </a:pPr>
                      <a:r>
                        <a:rPr b="1" i="0" lang="en-US" sz="938" u="none" cap="none" strike="noStrike">
                          <a:solidFill>
                            <a:srgbClr val="A3302C"/>
                          </a:solidFill>
                          <a:latin typeface="Instrument Sans"/>
                          <a:ea typeface="Instrument Sans"/>
                          <a:cs typeface="Instrument Sans"/>
                          <a:sym typeface="Instrument Sans"/>
                        </a:rPr>
                        <a:t>signwell login</a:t>
                      </a:r>
                      <a:endParaRPr/>
                    </a:p>
                  </a:txBody>
                  <a:tcPr marT="28575" marB="28575" marR="95250" marL="95250" anchor="ctr">
                    <a:solidFill>
                      <a:srgbClr val="FDECEB"/>
                    </a:solidFill>
                  </a:tcP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Exact</a:t>
                      </a:r>
                      <a:endParaRPr/>
                    </a:p>
                  </a:txBody>
                  <a:tcPr marT="28575" marB="28575" marR="57150" marL="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$893</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41</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$21.78</a:t>
                      </a:r>
                      <a:endParaRPr/>
                    </a:p>
                  </a:txBody>
                  <a:tcPr marT="28575" marB="28575" marR="95250" marL="95250" anchor="ctr">
                    <a:solidFill>
                      <a:srgbClr val="FDECEB"/>
                    </a:solidFill>
                  </a:tcPr>
                </a:tc>
              </a:tr>
              <a:tr h="257175">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Total</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28575" marB="28575" marR="57150" marL="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$3,981</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1,044</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$3.81</a:t>
                      </a:r>
                      <a:endParaRPr/>
                    </a:p>
                  </a:txBody>
                  <a:tcPr marT="28575" marB="28575" marR="95250" marL="95250" anchor="ctr">
                    <a:lnB cap="flat" cmpd="sng" w="25400">
                      <a:solidFill>
                        <a:srgbClr val="0E1B33"/>
                      </a:solidFill>
                      <a:prstDash val="solid"/>
                      <a:round/>
                      <a:headEnd len="sm" w="sm" type="none"/>
                      <a:tailEnd len="sm" w="sm" type="none"/>
                    </a:lnB>
                  </a:tcPr>
                </a:tc>
              </a:tr>
            </a:tbl>
          </a:graphicData>
        </a:graphic>
      </p:graphicFrame>
      <p:sp>
        <p:nvSpPr>
          <p:cNvPr id="322" name="Google Shape;322;p8"/>
          <p:cNvSpPr txBox="1"/>
          <p:nvPr/>
        </p:nvSpPr>
        <p:spPr>
          <a:xfrm>
            <a:off x="6219825" y="2619375"/>
            <a:ext cx="38100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88" u="none" cap="none" strike="noStrike">
                <a:solidFill>
                  <a:srgbClr val="0E1B33"/>
                </a:solidFill>
                <a:latin typeface="Instrument Sans"/>
                <a:ea typeface="Instrument Sans"/>
                <a:cs typeface="Instrument Sans"/>
                <a:sym typeface="Instrument Sans"/>
              </a:rPr>
              <a:t>Non-brand keywords</a:t>
            </a:r>
            <a:endParaRPr/>
          </a:p>
        </p:txBody>
      </p:sp>
      <p:graphicFrame>
        <p:nvGraphicFramePr>
          <p:cNvPr id="323" name="Google Shape;323;p8"/>
          <p:cNvGraphicFramePr/>
          <p:nvPr/>
        </p:nvGraphicFramePr>
        <p:xfrm>
          <a:off x="6219825" y="2867025"/>
          <a:ext cx="3000000" cy="3000000"/>
        </p:xfrm>
        <a:graphic>
          <a:graphicData uri="http://schemas.openxmlformats.org/drawingml/2006/table">
            <a:tbl>
              <a:tblPr>
                <a:noFill/>
                <a:tableStyleId>{4F415798-8E4C-4216-B135-C9F54E9B0F97}</a:tableStyleId>
              </a:tblPr>
              <a:tblGrid>
                <a:gridCol w="2066925"/>
                <a:gridCol w="590550"/>
                <a:gridCol w="800100"/>
                <a:gridCol w="838200"/>
                <a:gridCol w="876300"/>
              </a:tblGrid>
              <a:tr h="238125">
                <a:tc>
                  <a:txBody>
                    <a:bodyPr/>
                    <a:lstStyle/>
                    <a:p>
                      <a:pPr indent="0" lvl="0" marL="0" marR="0" rtl="0" algn="l">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KEYWORD</a:t>
                      </a:r>
                      <a:endParaRPr/>
                    </a:p>
                  </a:txBody>
                  <a:tcPr marT="28575" marB="28575" marR="95250" marL="95250" anchor="ctr"/>
                </a:tc>
                <a:tc>
                  <a:txBody>
                    <a:bodyPr/>
                    <a:lstStyle/>
                    <a:p>
                      <a:pPr indent="0" lvl="0" marL="0" marR="0" rtl="0" algn="l">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MATCH</a:t>
                      </a:r>
                      <a:endParaRPr/>
                    </a:p>
                  </a:txBody>
                  <a:tcPr marT="28575" marB="28575" marR="95250" marL="95250" anchor="ctr"/>
                </a:tc>
                <a:tc>
                  <a:txBody>
                    <a:bodyPr/>
                    <a:lstStyle/>
                    <a:p>
                      <a:pPr indent="0" lvl="0" marL="0" marR="0" rtl="0" algn="r">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SPEND</a:t>
                      </a:r>
                      <a:endParaRPr/>
                    </a:p>
                  </a:txBody>
                  <a:tcPr marT="28575" marB="28575" marR="95250" marL="95250" anchor="ctr"/>
                </a:tc>
                <a:tc>
                  <a:txBody>
                    <a:bodyPr/>
                    <a:lstStyle/>
                    <a:p>
                      <a:pPr indent="0" lvl="0" marL="0" marR="0" rtl="0" algn="r">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QUALIFIED</a:t>
                      </a:r>
                      <a:endParaRPr/>
                    </a:p>
                  </a:txBody>
                  <a:tcPr marT="28575" marB="28575" marR="95250" marL="95250" anchor="ctr"/>
                </a:tc>
                <a:tc>
                  <a:txBody>
                    <a:bodyPr/>
                    <a:lstStyle/>
                    <a:p>
                      <a:pPr indent="0" lvl="0" marL="0" marR="0" rtl="0" algn="r">
                        <a:spcBef>
                          <a:spcPts val="0"/>
                        </a:spcBef>
                        <a:spcAft>
                          <a:spcPts val="0"/>
                        </a:spcAft>
                        <a:buNone/>
                      </a:pPr>
                      <a:r>
                        <a:rPr b="1" i="0" lang="en-US" sz="712" u="none" cap="none" strike="noStrike">
                          <a:solidFill>
                            <a:srgbClr val="8794AC"/>
                          </a:solidFill>
                          <a:latin typeface="JetBrains Mono"/>
                          <a:ea typeface="JetBrains Mono"/>
                          <a:cs typeface="JetBrains Mono"/>
                          <a:sym typeface="JetBrains Mono"/>
                        </a:rPr>
                        <a:t>COST EACH</a:t>
                      </a:r>
                      <a:endParaRPr/>
                    </a:p>
                  </a:txBody>
                  <a:tcPr marT="28575" marB="28575" marR="95250" marL="95250" anchor="ctr"/>
                </a:tc>
              </a:tr>
              <a:tr h="257175">
                <a:tc>
                  <a:txBody>
                    <a:bodyPr/>
                    <a:lstStyle/>
                    <a:p>
                      <a:pPr indent="0" lvl="0" marL="0" marR="0" rtl="0" algn="l">
                        <a:spcBef>
                          <a:spcPts val="0"/>
                        </a:spcBef>
                        <a:spcAft>
                          <a:spcPts val="0"/>
                        </a:spcAft>
                        <a:buNone/>
                      </a:pPr>
                      <a:r>
                        <a:rPr b="1" i="0" lang="en-US" sz="938" u="none" cap="none" strike="noStrike">
                          <a:solidFill>
                            <a:srgbClr val="A3302C"/>
                          </a:solidFill>
                          <a:latin typeface="Instrument Sans"/>
                          <a:ea typeface="Instrument Sans"/>
                          <a:cs typeface="Instrument Sans"/>
                          <a:sym typeface="Instrument Sans"/>
                        </a:rPr>
                        <a:t>electronic signature</a:t>
                      </a:r>
                      <a:endParaRPr/>
                    </a:p>
                  </a:txBody>
                  <a:tcPr marT="28575" marB="28575" marR="95250" marL="95250" anchor="ctr">
                    <a:solidFill>
                      <a:srgbClr val="FDECEB"/>
                    </a:solidFill>
                  </a:tcP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Broad</a:t>
                      </a:r>
                      <a:endParaRPr/>
                    </a:p>
                  </a:txBody>
                  <a:tcPr marT="28575" marB="28575" marR="57150" marL="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$3,120</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3</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$1,040</a:t>
                      </a:r>
                      <a:endParaRPr/>
                    </a:p>
                  </a:txBody>
                  <a:tcPr marT="28575" marB="28575" marR="95250" marL="95250" anchor="ctr">
                    <a:solidFill>
                      <a:srgbClr val="FDECEB"/>
                    </a:solidFill>
                  </a:tcPr>
                </a:tc>
              </a:tr>
              <a:tr h="257175">
                <a:tc>
                  <a:txBody>
                    <a:bodyPr/>
                    <a:lstStyle/>
                    <a:p>
                      <a:pPr indent="0" lvl="0" marL="0" marR="0" rtl="0" algn="l">
                        <a:spcBef>
                          <a:spcPts val="0"/>
                        </a:spcBef>
                        <a:spcAft>
                          <a:spcPts val="0"/>
                        </a:spcAft>
                        <a:buNone/>
                      </a:pPr>
                      <a:r>
                        <a:rPr b="1" i="0" lang="en-US" sz="938" u="none" cap="none" strike="noStrike">
                          <a:solidFill>
                            <a:srgbClr val="A3302C"/>
                          </a:solidFill>
                          <a:latin typeface="Instrument Sans"/>
                          <a:ea typeface="Instrument Sans"/>
                          <a:cs typeface="Instrument Sans"/>
                          <a:sym typeface="Instrument Sans"/>
                        </a:rPr>
                        <a:t>esignature software</a:t>
                      </a:r>
                      <a:endParaRPr/>
                    </a:p>
                  </a:txBody>
                  <a:tcPr marT="28575" marB="28575" marR="95250" marL="95250" anchor="ctr">
                    <a:solidFill>
                      <a:srgbClr val="FDECEB"/>
                    </a:solidFill>
                  </a:tcP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Phrase</a:t>
                      </a:r>
                      <a:endParaRPr/>
                    </a:p>
                  </a:txBody>
                  <a:tcPr marT="28575" marB="28575" marR="57150" marL="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$2,016</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4</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$504</a:t>
                      </a:r>
                      <a:endParaRPr/>
                    </a:p>
                  </a:txBody>
                  <a:tcPr marT="28575" marB="28575" marR="95250" marL="95250" anchor="ctr">
                    <a:solidFill>
                      <a:srgbClr val="FDECEB"/>
                    </a:solidFill>
                  </a:tcPr>
                </a:tc>
              </a:tr>
              <a:tr h="257175">
                <a:tc>
                  <a:txBody>
                    <a:bodyPr/>
                    <a:lstStyle/>
                    <a:p>
                      <a:pPr indent="0" lvl="0" marL="0" marR="0" rtl="0" algn="l">
                        <a:spcBef>
                          <a:spcPts val="0"/>
                        </a:spcBef>
                        <a:spcAft>
                          <a:spcPts val="0"/>
                        </a:spcAft>
                        <a:buNone/>
                      </a:pPr>
                      <a:r>
                        <a:rPr b="1" i="0" lang="en-US" sz="938" u="none" cap="none" strike="noStrike">
                          <a:solidFill>
                            <a:srgbClr val="A3302C"/>
                          </a:solidFill>
                          <a:latin typeface="Instrument Sans"/>
                          <a:ea typeface="Instrument Sans"/>
                          <a:cs typeface="Instrument Sans"/>
                          <a:sym typeface="Instrument Sans"/>
                        </a:rPr>
                        <a:t>free electronic signature</a:t>
                      </a:r>
                      <a:endParaRPr/>
                    </a:p>
                  </a:txBody>
                  <a:tcPr marT="28575" marB="28575" marR="95250" marL="95250" anchor="ctr">
                    <a:solidFill>
                      <a:srgbClr val="FDECEB"/>
                    </a:solidFill>
                  </a:tcP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Broad</a:t>
                      </a:r>
                      <a:endParaRPr/>
                    </a:p>
                  </a:txBody>
                  <a:tcPr marT="28575" marB="28575" marR="57150" marL="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$1,642</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2</a:t>
                      </a:r>
                      <a:endParaRPr/>
                    </a:p>
                  </a:txBody>
                  <a:tcPr marT="28575" marB="28575" marR="95250" marL="95250" anchor="ctr">
                    <a:solidFill>
                      <a:srgbClr val="FDECEB"/>
                    </a:solidFill>
                  </a:tcP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$821</a:t>
                      </a:r>
                      <a:endParaRPr/>
                    </a:p>
                  </a:txBody>
                  <a:tcPr marT="28575" marB="28575" marR="95250" marL="95250" anchor="ctr">
                    <a:solidFill>
                      <a:srgbClr val="FDECEB"/>
                    </a:solidFill>
                  </a:tcPr>
                </a:tc>
              </a:tr>
              <a:tr h="257175">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docusign alternative</a:t>
                      </a:r>
                      <a:endParaRPr/>
                    </a:p>
                  </a:txBody>
                  <a:tcPr marT="28575" marB="28575" marR="95250" marL="95250" anchor="ct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Phrase</a:t>
                      </a:r>
                      <a:endParaRPr/>
                    </a:p>
                  </a:txBody>
                  <a:tcPr marT="28575" marB="28575" marR="57150" marL="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$1,626</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10</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$163</a:t>
                      </a:r>
                      <a:endParaRPr/>
                    </a:p>
                  </a:txBody>
                  <a:tcPr marT="28575" marB="28575" marR="95250" marL="95250" anchor="ctr"/>
                </a:tc>
              </a:tr>
              <a:tr h="257175">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digital signature api</a:t>
                      </a:r>
                      <a:endParaRPr/>
                    </a:p>
                  </a:txBody>
                  <a:tcPr marT="28575" marB="28575" marR="95250" marL="95250" anchor="ctr"/>
                </a:tc>
                <a:tc>
                  <a:txBody>
                    <a:bodyPr/>
                    <a:lstStyle/>
                    <a:p>
                      <a:pPr indent="0" lvl="0" marL="0" marR="0" rtl="0" algn="l">
                        <a:spcBef>
                          <a:spcPts val="0"/>
                        </a:spcBef>
                        <a:spcAft>
                          <a:spcPts val="0"/>
                        </a:spcAft>
                        <a:buNone/>
                      </a:pPr>
                      <a:r>
                        <a:rPr b="0" i="0" lang="en-US" sz="788" u="none" cap="none" strike="noStrike">
                          <a:solidFill>
                            <a:srgbClr val="8794AC"/>
                          </a:solidFill>
                          <a:latin typeface="Instrument Sans"/>
                          <a:ea typeface="Instrument Sans"/>
                          <a:cs typeface="Instrument Sans"/>
                          <a:sym typeface="Instrument Sans"/>
                        </a:rPr>
                        <a:t>Exact</a:t>
                      </a:r>
                      <a:endParaRPr/>
                    </a:p>
                  </a:txBody>
                  <a:tcPr marT="28575" marB="28575" marR="57150" marL="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$684</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5</a:t>
                      </a:r>
                      <a:endParaRPr/>
                    </a:p>
                  </a:txBody>
                  <a:tcPr marT="28575" marB="28575" marR="95250" marL="95250" anchor="ctr"/>
                </a:tc>
                <a:tc>
                  <a:txBody>
                    <a:bodyPr/>
                    <a:lstStyle/>
                    <a:p>
                      <a:pPr indent="0" lvl="0" marL="0" marR="0" rtl="0" algn="r">
                        <a:spcBef>
                          <a:spcPts val="0"/>
                        </a:spcBef>
                        <a:spcAft>
                          <a:spcPts val="0"/>
                        </a:spcAft>
                        <a:buNone/>
                      </a:pPr>
                      <a:r>
                        <a:rPr b="0" i="0" lang="en-US" sz="938" u="none" cap="none" strike="noStrike">
                          <a:solidFill>
                            <a:srgbClr val="4A5A75"/>
                          </a:solidFill>
                          <a:latin typeface="Instrument Sans"/>
                          <a:ea typeface="Instrument Sans"/>
                          <a:cs typeface="Instrument Sans"/>
                          <a:sym typeface="Instrument Sans"/>
                        </a:rPr>
                        <a:t>$137</a:t>
                      </a:r>
                      <a:endParaRPr/>
                    </a:p>
                  </a:txBody>
                  <a:tcPr marT="28575" marB="28575" marR="95250" marL="95250" anchor="ctr"/>
                </a:tc>
              </a:tr>
              <a:tr h="257175">
                <a:tc>
                  <a:txBody>
                    <a:bodyPr/>
                    <a:lstStyle/>
                    <a:p>
                      <a:pPr indent="0" lvl="0" marL="0" marR="0" rtl="0" algn="l">
                        <a:spcBef>
                          <a:spcPts val="0"/>
                        </a:spcBef>
                        <a:spcAft>
                          <a:spcPts val="0"/>
                        </a:spcAft>
                        <a:buNone/>
                      </a:pPr>
                      <a:r>
                        <a:rPr b="1" i="0" lang="en-US" sz="938" u="none" cap="none" strike="noStrike">
                          <a:solidFill>
                            <a:srgbClr val="0E1B33"/>
                          </a:solidFill>
                          <a:latin typeface="Instrument Sans"/>
                          <a:ea typeface="Instrument Sans"/>
                          <a:cs typeface="Instrument Sans"/>
                          <a:sym typeface="Instrument Sans"/>
                        </a:rPr>
                        <a:t>Total</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28575" marB="28575" marR="57150" marL="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$9,088</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24</a:t>
                      </a:r>
                      <a:endParaRPr/>
                    </a:p>
                  </a:txBody>
                  <a:tcPr marT="28575" marB="28575" marR="95250" marL="95250" anchor="ctr">
                    <a:lnB cap="flat" cmpd="sng" w="25400">
                      <a:solidFill>
                        <a:srgbClr val="0E1B33"/>
                      </a:solidFill>
                      <a:prstDash val="solid"/>
                      <a:round/>
                      <a:headEnd len="sm" w="sm" type="none"/>
                      <a:tailEnd len="sm" w="sm" type="none"/>
                    </a:lnB>
                  </a:tcPr>
                </a:tc>
                <a:tc>
                  <a:txBody>
                    <a:bodyPr/>
                    <a:lstStyle/>
                    <a:p>
                      <a:pPr indent="0" lvl="0" marL="0" marR="0" rtl="0" algn="r">
                        <a:spcBef>
                          <a:spcPts val="0"/>
                        </a:spcBef>
                        <a:spcAft>
                          <a:spcPts val="0"/>
                        </a:spcAft>
                        <a:buNone/>
                      </a:pPr>
                      <a:r>
                        <a:rPr b="1" i="0" lang="en-US" sz="938" u="none" cap="none" strike="noStrike">
                          <a:solidFill>
                            <a:srgbClr val="4A5A75"/>
                          </a:solidFill>
                          <a:latin typeface="Instrument Sans"/>
                          <a:ea typeface="Instrument Sans"/>
                          <a:cs typeface="Instrument Sans"/>
                          <a:sym typeface="Instrument Sans"/>
                        </a:rPr>
                        <a:t>$378.68</a:t>
                      </a:r>
                      <a:endParaRPr/>
                    </a:p>
                  </a:txBody>
                  <a:tcPr marT="28575" marB="28575" marR="95250" marL="95250" anchor="ctr">
                    <a:lnB cap="flat" cmpd="sng" w="25400">
                      <a:solidFill>
                        <a:srgbClr val="0E1B33"/>
                      </a:solidFill>
                      <a:prstDash val="solid"/>
                      <a:round/>
                      <a:headEnd len="sm" w="sm" type="none"/>
                      <a:tailEnd len="sm" w="sm" type="none"/>
                    </a:lnB>
                  </a:tcPr>
                </a:tc>
              </a:tr>
            </a:tbl>
          </a:graphicData>
        </a:graphic>
      </p:graphicFrame>
      <p:sp>
        <p:nvSpPr>
          <p:cNvPr id="324" name="Google Shape;324;p8"/>
          <p:cNvSpPr/>
          <p:nvPr/>
        </p:nvSpPr>
        <p:spPr>
          <a:xfrm>
            <a:off x="800100" y="5295900"/>
            <a:ext cx="3454400" cy="685800"/>
          </a:xfrm>
          <a:prstGeom prst="roundRect">
            <a:avLst>
              <a:gd fmla="val 13888" name="adj"/>
            </a:avLst>
          </a:prstGeom>
          <a:solidFill>
            <a:srgbClr val="F4F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8"/>
          <p:cNvSpPr txBox="1"/>
          <p:nvPr/>
        </p:nvSpPr>
        <p:spPr>
          <a:xfrm>
            <a:off x="923925" y="5400675"/>
            <a:ext cx="320675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75" u="none" cap="none" strike="noStrike">
                <a:solidFill>
                  <a:srgbClr val="2A6BE0"/>
                </a:solidFill>
                <a:latin typeface="JetBrains Mono"/>
                <a:ea typeface="JetBrains Mono"/>
                <a:cs typeface="JetBrains Mono"/>
                <a:sym typeface="JetBrains Mono"/>
              </a:rPr>
              <a:t>WHERE THE MONEY GOES</a:t>
            </a:r>
            <a:endParaRPr/>
          </a:p>
        </p:txBody>
      </p:sp>
      <p:sp>
        <p:nvSpPr>
          <p:cNvPr id="326" name="Google Shape;326;p8"/>
          <p:cNvSpPr txBox="1"/>
          <p:nvPr/>
        </p:nvSpPr>
        <p:spPr>
          <a:xfrm>
            <a:off x="923925" y="5562600"/>
            <a:ext cx="3206750" cy="38100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None/>
            </a:pPr>
            <a:r>
              <a:rPr b="0" i="0" lang="en-US" sz="900" u="none" cap="none" strike="noStrike">
                <a:solidFill>
                  <a:srgbClr val="4A5A75"/>
                </a:solidFill>
                <a:latin typeface="Instrument Sans"/>
                <a:ea typeface="Instrument Sans"/>
                <a:cs typeface="Instrument Sans"/>
                <a:sym typeface="Instrument Sans"/>
              </a:rPr>
              <a:t>Three generic keywords took $6,778 for 9 sign-ups, at $753 each.</a:t>
            </a:r>
            <a:endParaRPr/>
          </a:p>
        </p:txBody>
      </p:sp>
      <p:sp>
        <p:nvSpPr>
          <p:cNvPr id="327" name="Google Shape;327;p8"/>
          <p:cNvSpPr/>
          <p:nvPr/>
        </p:nvSpPr>
        <p:spPr>
          <a:xfrm>
            <a:off x="4368800" y="5295900"/>
            <a:ext cx="3454400" cy="685800"/>
          </a:xfrm>
          <a:prstGeom prst="roundRect">
            <a:avLst>
              <a:gd fmla="val 13888" name="adj"/>
            </a:avLst>
          </a:prstGeom>
          <a:solidFill>
            <a:srgbClr val="F4F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8"/>
          <p:cNvSpPr txBox="1"/>
          <p:nvPr/>
        </p:nvSpPr>
        <p:spPr>
          <a:xfrm>
            <a:off x="4492625" y="5400675"/>
            <a:ext cx="320675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75" u="none" cap="none" strike="noStrike">
                <a:solidFill>
                  <a:srgbClr val="2A6BE0"/>
                </a:solidFill>
                <a:latin typeface="JetBrains Mono"/>
                <a:ea typeface="JetBrains Mono"/>
                <a:cs typeface="JetBrains Mono"/>
                <a:sym typeface="JetBrains Mono"/>
              </a:rPr>
              <a:t>WHERE THE BUYERS ARE</a:t>
            </a:r>
            <a:endParaRPr/>
          </a:p>
        </p:txBody>
      </p:sp>
      <p:sp>
        <p:nvSpPr>
          <p:cNvPr id="329" name="Google Shape;329;p8"/>
          <p:cNvSpPr txBox="1"/>
          <p:nvPr/>
        </p:nvSpPr>
        <p:spPr>
          <a:xfrm>
            <a:off x="4492625" y="5562600"/>
            <a:ext cx="3206750" cy="38100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None/>
            </a:pPr>
            <a:r>
              <a:rPr b="0" i="0" lang="en-US" sz="900" u="none" cap="none" strike="noStrike">
                <a:solidFill>
                  <a:srgbClr val="4A5A75"/>
                </a:solidFill>
                <a:latin typeface="Instrument Sans"/>
                <a:ea typeface="Instrument Sans"/>
                <a:cs typeface="Instrument Sans"/>
                <a:sym typeface="Instrument Sans"/>
              </a:rPr>
              <a:t>Two buyer-led keywords took $2,310 for 15 sign-ups, at $154 each.</a:t>
            </a:r>
            <a:endParaRPr/>
          </a:p>
        </p:txBody>
      </p:sp>
      <p:sp>
        <p:nvSpPr>
          <p:cNvPr id="330" name="Google Shape;330;p8"/>
          <p:cNvSpPr/>
          <p:nvPr/>
        </p:nvSpPr>
        <p:spPr>
          <a:xfrm>
            <a:off x="7937500" y="5295900"/>
            <a:ext cx="3454400" cy="685800"/>
          </a:xfrm>
          <a:prstGeom prst="roundRect">
            <a:avLst>
              <a:gd fmla="val 13888" name="adj"/>
            </a:avLst>
          </a:prstGeom>
          <a:solidFill>
            <a:srgbClr val="F4F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8"/>
          <p:cNvSpPr txBox="1"/>
          <p:nvPr/>
        </p:nvSpPr>
        <p:spPr>
          <a:xfrm>
            <a:off x="8061325" y="5400675"/>
            <a:ext cx="3206750"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75" u="none" cap="none" strike="noStrike">
                <a:solidFill>
                  <a:srgbClr val="2A6BE0"/>
                </a:solidFill>
                <a:latin typeface="JetBrains Mono"/>
                <a:ea typeface="JetBrains Mono"/>
                <a:cs typeface="JetBrains Mono"/>
                <a:sym typeface="JetBrains Mono"/>
              </a:rPr>
              <a:t>WHAT WE STOP</a:t>
            </a:r>
            <a:endParaRPr/>
          </a:p>
        </p:txBody>
      </p:sp>
      <p:sp>
        <p:nvSpPr>
          <p:cNvPr id="332" name="Google Shape;332;p8"/>
          <p:cNvSpPr txBox="1"/>
          <p:nvPr/>
        </p:nvSpPr>
        <p:spPr>
          <a:xfrm>
            <a:off x="8061325" y="5562600"/>
            <a:ext cx="3206750" cy="381000"/>
          </a:xfrm>
          <a:prstGeom prst="rect">
            <a:avLst/>
          </a:prstGeom>
          <a:noFill/>
          <a:ln>
            <a:noFill/>
          </a:ln>
        </p:spPr>
        <p:txBody>
          <a:bodyPr anchorCtr="0" anchor="t" bIns="0" lIns="0" spcFirstLastPara="1" rIns="0" wrap="square" tIns="0">
            <a:noAutofit/>
          </a:bodyPr>
          <a:lstStyle/>
          <a:p>
            <a:pPr indent="0" lvl="0" marL="0" marR="0" rtl="0" algn="l">
              <a:lnSpc>
                <a:spcPct val="142000"/>
              </a:lnSpc>
              <a:spcBef>
                <a:spcPts val="0"/>
              </a:spcBef>
              <a:spcAft>
                <a:spcPts val="0"/>
              </a:spcAft>
              <a:buNone/>
            </a:pPr>
            <a:r>
              <a:rPr b="0" i="0" lang="en-US" sz="900" u="none" cap="none" strike="noStrike">
                <a:solidFill>
                  <a:srgbClr val="4A5A75"/>
                </a:solidFill>
                <a:latin typeface="Instrument Sans"/>
                <a:ea typeface="Instrument Sans"/>
                <a:cs typeface="Instrument Sans"/>
                <a:sym typeface="Instrument Sans"/>
              </a:rPr>
              <a:t>The login keyword took $893 from people who already pay you.</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336" name="Shape 336"/>
        <p:cNvGrpSpPr/>
        <p:nvPr/>
      </p:nvGrpSpPr>
      <p:grpSpPr>
        <a:xfrm>
          <a:off x="0" y="0"/>
          <a:ext cx="0" cy="0"/>
          <a:chOff x="0" y="0"/>
          <a:chExt cx="0" cy="0"/>
        </a:xfrm>
      </p:grpSpPr>
      <p:sp>
        <p:nvSpPr>
          <p:cNvPr id="337" name="Google Shape;337;p9"/>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9"/>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SAMPLE REPORT  EVERY TWO WEEKS</a:t>
            </a:r>
            <a:endParaRPr/>
          </a:p>
        </p:txBody>
      </p:sp>
      <p:sp>
        <p:nvSpPr>
          <p:cNvPr id="339" name="Google Shape;339;p9"/>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900" u="none" cap="none" strike="noStrike">
                <a:solidFill>
                  <a:srgbClr val="0E1B33"/>
                </a:solidFill>
                <a:latin typeface="Instrument Serif"/>
                <a:ea typeface="Instrument Serif"/>
                <a:cs typeface="Instrument Serif"/>
                <a:sym typeface="Instrument Serif"/>
              </a:rPr>
              <a:t>What you read </a:t>
            </a:r>
            <a:r>
              <a:rPr b="0" i="1" lang="en-US" sz="3900" u="none" cap="none" strike="noStrike">
                <a:solidFill>
                  <a:srgbClr val="2A6BE0"/>
                </a:solidFill>
                <a:latin typeface="Instrument Serif"/>
                <a:ea typeface="Instrument Serif"/>
                <a:cs typeface="Instrument Serif"/>
                <a:sym typeface="Instrument Serif"/>
              </a:rPr>
              <a:t>every two weeks</a:t>
            </a:r>
            <a:endParaRPr/>
          </a:p>
        </p:txBody>
      </p:sp>
      <p:sp>
        <p:nvSpPr>
          <p:cNvPr id="340" name="Google Shape;340;p9"/>
          <p:cNvSpPr txBox="1"/>
          <p:nvPr/>
        </p:nvSpPr>
        <p:spPr>
          <a:xfrm>
            <a:off x="609600" y="1428750"/>
            <a:ext cx="10972800" cy="300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One page report every two weeks, built from the same data as the dashboard. This is your August data, written the way we would have reported it.</a:t>
            </a:r>
            <a:endParaRPr/>
          </a:p>
        </p:txBody>
      </p:sp>
      <p:sp>
        <p:nvSpPr>
          <p:cNvPr id="341" name="Google Shape;341;p9"/>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09</a:t>
            </a:r>
            <a:endParaRPr/>
          </a:p>
        </p:txBody>
      </p:sp>
      <p:sp>
        <p:nvSpPr>
          <p:cNvPr id="342" name="Google Shape;342;p9"/>
          <p:cNvSpPr/>
          <p:nvPr/>
        </p:nvSpPr>
        <p:spPr>
          <a:xfrm>
            <a:off x="609600" y="2162175"/>
            <a:ext cx="3543300" cy="3248025"/>
          </a:xfrm>
          <a:prstGeom prst="roundRect">
            <a:avLst>
              <a:gd fmla="val 4105"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9"/>
          <p:cNvSpPr/>
          <p:nvPr/>
        </p:nvSpPr>
        <p:spPr>
          <a:xfrm>
            <a:off x="4324350" y="2162175"/>
            <a:ext cx="3543300" cy="3248025"/>
          </a:xfrm>
          <a:prstGeom prst="roundRect">
            <a:avLst>
              <a:gd fmla="val 4105"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9"/>
          <p:cNvSpPr/>
          <p:nvPr/>
        </p:nvSpPr>
        <p:spPr>
          <a:xfrm>
            <a:off x="8039100" y="2162175"/>
            <a:ext cx="3543300" cy="3248025"/>
          </a:xfrm>
          <a:prstGeom prst="roundRect">
            <a:avLst>
              <a:gd fmla="val 4105" name="adj"/>
            </a:avLst>
          </a:prstGeom>
          <a:solidFill>
            <a:srgbClr val="E3E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9"/>
          <p:cNvSpPr txBox="1"/>
          <p:nvPr/>
        </p:nvSpPr>
        <p:spPr>
          <a:xfrm>
            <a:off x="81915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WHAT HAPPENED</a:t>
            </a:r>
            <a:endParaRPr/>
          </a:p>
        </p:txBody>
      </p:sp>
      <p:sp>
        <p:nvSpPr>
          <p:cNvPr id="346" name="Google Shape;346;p9"/>
          <p:cNvSpPr txBox="1"/>
          <p:nvPr/>
        </p:nvSpPr>
        <p:spPr>
          <a:xfrm>
            <a:off x="819150" y="2600325"/>
            <a:ext cx="312420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Results for the period</a:t>
            </a:r>
            <a:endParaRPr/>
          </a:p>
        </p:txBody>
      </p:sp>
      <p:sp>
        <p:nvSpPr>
          <p:cNvPr id="347" name="Google Shape;347;p9"/>
          <p:cNvSpPr txBox="1"/>
          <p:nvPr/>
        </p:nvSpPr>
        <p:spPr>
          <a:xfrm>
            <a:off x="819150" y="2905125"/>
            <a:ext cx="3124200" cy="1796415"/>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Brand search brought 1,044 qualified sign-ups at $3.81 each, which is 81% of every sign-up we can trace.</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Non-brand search took 52% of spend for 24 sign-ups at $378.68 each.</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LinkedIn spent $2,341.70 and recorded no sign-ups.</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481 sign-ups came through Sign in with Google with no campaign attached.</a:t>
            </a:r>
            <a:endParaRPr/>
          </a:p>
        </p:txBody>
      </p:sp>
      <p:sp>
        <p:nvSpPr>
          <p:cNvPr id="348" name="Google Shape;348;p9"/>
          <p:cNvSpPr txBox="1"/>
          <p:nvPr/>
        </p:nvSpPr>
        <p:spPr>
          <a:xfrm>
            <a:off x="453390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WHAT WE CHANGE</a:t>
            </a:r>
            <a:endParaRPr/>
          </a:p>
        </p:txBody>
      </p:sp>
      <p:sp>
        <p:nvSpPr>
          <p:cNvPr id="349" name="Google Shape;349;p9"/>
          <p:cNvSpPr txBox="1"/>
          <p:nvPr/>
        </p:nvSpPr>
        <p:spPr>
          <a:xfrm>
            <a:off x="4533900" y="2600325"/>
            <a:ext cx="312420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The next two weeks</a:t>
            </a:r>
            <a:endParaRPr/>
          </a:p>
        </p:txBody>
      </p:sp>
      <p:sp>
        <p:nvSpPr>
          <p:cNvPr id="350" name="Google Shape;350;p9"/>
          <p:cNvSpPr txBox="1"/>
          <p:nvPr/>
        </p:nvSpPr>
        <p:spPr>
          <a:xfrm>
            <a:off x="4533900" y="2905125"/>
            <a:ext cx="3124200" cy="1366361"/>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cap the current non-brand keywords at $1,700 and fund buyer-led campaigns.</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exclude brand terms from Performance Max, so its sign-ups are its own.</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We add a referral exclusion for Sign in with Google, so those 481 keep their real source.</a:t>
            </a:r>
            <a:endParaRPr/>
          </a:p>
        </p:txBody>
      </p:sp>
      <p:sp>
        <p:nvSpPr>
          <p:cNvPr id="351" name="Google Shape;351;p9"/>
          <p:cNvSpPr txBox="1"/>
          <p:nvPr/>
        </p:nvSpPr>
        <p:spPr>
          <a:xfrm>
            <a:off x="824865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WHAT WE NEED</a:t>
            </a:r>
            <a:endParaRPr/>
          </a:p>
        </p:txBody>
      </p:sp>
      <p:sp>
        <p:nvSpPr>
          <p:cNvPr id="352" name="Google Shape;352;p9"/>
          <p:cNvSpPr txBox="1"/>
          <p:nvPr/>
        </p:nvSpPr>
        <p:spPr>
          <a:xfrm>
            <a:off x="8248650" y="2600325"/>
            <a:ext cx="3124200" cy="2105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75" u="none" cap="none" strike="noStrike">
                <a:solidFill>
                  <a:srgbClr val="0E1B33"/>
                </a:solidFill>
                <a:latin typeface="Instrument Sans"/>
                <a:ea typeface="Instrument Sans"/>
                <a:cs typeface="Instrument Sans"/>
                <a:sym typeface="Instrument Sans"/>
              </a:rPr>
              <a:t>Two things to confirm</a:t>
            </a:r>
            <a:endParaRPr/>
          </a:p>
        </p:txBody>
      </p:sp>
      <p:sp>
        <p:nvSpPr>
          <p:cNvPr id="353" name="Google Shape;353;p9"/>
          <p:cNvSpPr txBox="1"/>
          <p:nvPr/>
        </p:nvSpPr>
        <p:spPr>
          <a:xfrm>
            <a:off x="8248650" y="2905125"/>
            <a:ext cx="3124200" cy="749856"/>
          </a:xfrm>
          <a:prstGeom prst="rect">
            <a:avLst/>
          </a:prstGeom>
          <a:noFill/>
          <a:ln>
            <a:noFill/>
          </a:ln>
        </p:spPr>
        <p:txBody>
          <a:bodyPr anchorCtr="0" anchor="t" bIns="0" lIns="0" spcFirstLastPara="1" rIns="0" wrap="square" tIns="0">
            <a:noAutofit/>
          </a:bodyPr>
          <a:lstStyle/>
          <a:p>
            <a:pPr indent="-152400" lvl="0" marL="152400" marR="0" rtl="0" algn="l">
              <a:lnSpc>
                <a:spcPct val="145000"/>
              </a:lnSpc>
              <a:spcBef>
                <a:spcPts val="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August billed $17,342 against a $20,000 budget. Tell us what the $2,658 difference covers.</a:t>
            </a:r>
            <a:endParaRPr/>
          </a:p>
          <a:p>
            <a:pPr indent="-152400" lvl="0" marL="152400" marR="0" rtl="0" algn="l">
              <a:lnSpc>
                <a:spcPct val="145000"/>
              </a:lnSpc>
              <a:spcBef>
                <a:spcPts val="450"/>
              </a:spcBef>
              <a:spcAft>
                <a:spcPts val="0"/>
              </a:spcAft>
              <a:buClr>
                <a:srgbClr val="2A6BE0"/>
              </a:buClr>
              <a:buSzPts val="465"/>
              <a:buFont typeface="Arial"/>
              <a:buChar char="■"/>
            </a:pPr>
            <a:r>
              <a:rPr b="0" i="0" lang="en-US" sz="1011" u="none" cap="none" strike="noStrike">
                <a:solidFill>
                  <a:srgbClr val="4A5A75"/>
                </a:solidFill>
                <a:latin typeface="Instrument Sans"/>
                <a:ea typeface="Instrument Sans"/>
                <a:cs typeface="Instrument Sans"/>
                <a:sym typeface="Instrument Sans"/>
              </a:rPr>
              <a:t>Approve next month's media budget.</a:t>
            </a:r>
            <a:endParaRPr/>
          </a:p>
        </p:txBody>
      </p:sp>
      <p:sp>
        <p:nvSpPr>
          <p:cNvPr id="354" name="Google Shape;354;p9"/>
          <p:cNvSpPr/>
          <p:nvPr/>
        </p:nvSpPr>
        <p:spPr>
          <a:xfrm>
            <a:off x="609600" y="5581650"/>
            <a:ext cx="10972800" cy="561975"/>
          </a:xfrm>
          <a:prstGeom prst="roundRect">
            <a:avLst>
              <a:gd fmla="val 20338" name="adj"/>
            </a:avLst>
          </a:prstGeom>
          <a:solidFill>
            <a:srgbClr val="0E1B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9"/>
          <p:cNvSpPr txBox="1"/>
          <p:nvPr/>
        </p:nvSpPr>
        <p:spPr>
          <a:xfrm>
            <a:off x="819150" y="5581650"/>
            <a:ext cx="10553700" cy="561975"/>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None/>
            </a:pPr>
            <a:r>
              <a:rPr b="0" i="0" lang="en-US" sz="1725" u="none" cap="none" strike="noStrike">
                <a:solidFill>
                  <a:srgbClr val="F4F8FD"/>
                </a:solidFill>
                <a:latin typeface="Instrument Serif"/>
                <a:ea typeface="Instrument Serif"/>
                <a:cs typeface="Instrument Serif"/>
                <a:sym typeface="Instrument Serif"/>
              </a:rPr>
              <a:t>Each report ends with what we change next, and </a:t>
            </a:r>
            <a:r>
              <a:rPr b="0" i="1" lang="en-US" sz="1725" u="none" cap="none" strike="noStrike">
                <a:solidFill>
                  <a:srgbClr val="8CE0EC"/>
                </a:solidFill>
                <a:latin typeface="Instrument Serif"/>
                <a:ea typeface="Instrument Serif"/>
                <a:cs typeface="Instrument Serif"/>
                <a:sym typeface="Instrument Serif"/>
              </a:rPr>
              <a:t>what we need from you.</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D"/>
        </a:solidFill>
      </p:bgPr>
    </p:bg>
    <p:spTree>
      <p:nvGrpSpPr>
        <p:cNvPr id="359" name="Shape 359"/>
        <p:cNvGrpSpPr/>
        <p:nvPr/>
      </p:nvGrpSpPr>
      <p:grpSpPr>
        <a:xfrm>
          <a:off x="0" y="0"/>
          <a:ext cx="0" cy="0"/>
          <a:chOff x="0" y="0"/>
          <a:chExt cx="0" cy="0"/>
        </a:xfrm>
      </p:grpSpPr>
      <p:sp>
        <p:nvSpPr>
          <p:cNvPr id="360" name="Google Shape;360;p10"/>
          <p:cNvSpPr/>
          <p:nvPr/>
        </p:nvSpPr>
        <p:spPr>
          <a:xfrm>
            <a:off x="609600" y="561975"/>
            <a:ext cx="57150" cy="57150"/>
          </a:xfrm>
          <a:prstGeom prst="ellipse">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10"/>
          <p:cNvSpPr txBox="1"/>
          <p:nvPr/>
        </p:nvSpPr>
        <p:spPr>
          <a:xfrm>
            <a:off x="762000" y="504825"/>
            <a:ext cx="66675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825" u="none" cap="none" strike="noStrike">
                <a:solidFill>
                  <a:srgbClr val="2A6BE0"/>
                </a:solidFill>
                <a:latin typeface="JetBrains Mono"/>
                <a:ea typeface="JetBrains Mono"/>
                <a:cs typeface="JetBrains Mono"/>
                <a:sym typeface="JetBrains Mono"/>
              </a:rPr>
              <a:t>BUDGET</a:t>
            </a:r>
            <a:endParaRPr/>
          </a:p>
        </p:txBody>
      </p:sp>
      <p:sp>
        <p:nvSpPr>
          <p:cNvPr id="362" name="Google Shape;362;p10"/>
          <p:cNvSpPr txBox="1"/>
          <p:nvPr/>
        </p:nvSpPr>
        <p:spPr>
          <a:xfrm>
            <a:off x="609600" y="723900"/>
            <a:ext cx="109728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900" u="none" cap="none" strike="noStrike">
                <a:solidFill>
                  <a:srgbClr val="0E1B33"/>
                </a:solidFill>
                <a:latin typeface="Instrument Serif"/>
                <a:ea typeface="Instrument Serif"/>
                <a:cs typeface="Instrument Serif"/>
                <a:sym typeface="Instrument Serif"/>
              </a:rPr>
              <a:t>Where the </a:t>
            </a:r>
            <a:r>
              <a:rPr b="0" i="1" lang="en-US" sz="3900" u="none" cap="none" strike="noStrike">
                <a:solidFill>
                  <a:srgbClr val="2A6BE0"/>
                </a:solidFill>
                <a:latin typeface="Instrument Serif"/>
                <a:ea typeface="Instrument Serif"/>
                <a:cs typeface="Instrument Serif"/>
                <a:sym typeface="Instrument Serif"/>
              </a:rPr>
              <a:t>$20,000 to $25,000</a:t>
            </a:r>
            <a:r>
              <a:rPr b="0" i="0" lang="en-US" sz="3900" u="none" cap="none" strike="noStrike">
                <a:solidFill>
                  <a:srgbClr val="0E1B33"/>
                </a:solidFill>
                <a:latin typeface="Instrument Serif"/>
                <a:ea typeface="Instrument Serif"/>
                <a:cs typeface="Instrument Serif"/>
                <a:sym typeface="Instrument Serif"/>
              </a:rPr>
              <a:t> goes each month</a:t>
            </a:r>
            <a:endParaRPr/>
          </a:p>
        </p:txBody>
      </p:sp>
      <p:sp>
        <p:nvSpPr>
          <p:cNvPr id="363" name="Google Shape;363;p10"/>
          <p:cNvSpPr txBox="1"/>
          <p:nvPr/>
        </p:nvSpPr>
        <p:spPr>
          <a:xfrm>
            <a:off x="609600" y="1428750"/>
            <a:ext cx="10972800" cy="54292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75" u="none" cap="none" strike="noStrike">
                <a:solidFill>
                  <a:srgbClr val="4A5A75"/>
                </a:solidFill>
                <a:latin typeface="Instrument Sans"/>
                <a:ea typeface="Instrument Sans"/>
                <a:cs typeface="Instrument Sans"/>
                <a:sym typeface="Instrument Sans"/>
              </a:rPr>
              <a:t>Google carries October while we rebuild the account. Meta takes a bigger share as its tracking and creative come online. We set the campaign split in week one, once we can see inside the account.</a:t>
            </a:r>
            <a:endParaRPr/>
          </a:p>
        </p:txBody>
      </p:sp>
      <p:sp>
        <p:nvSpPr>
          <p:cNvPr id="364" name="Google Shape;364;p10"/>
          <p:cNvSpPr txBox="1"/>
          <p:nvPr/>
        </p:nvSpPr>
        <p:spPr>
          <a:xfrm>
            <a:off x="10953750" y="6534150"/>
            <a:ext cx="628650" cy="1333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750" u="none" cap="none" strike="noStrike">
                <a:solidFill>
                  <a:srgbClr val="8794AC"/>
                </a:solidFill>
                <a:latin typeface="JetBrains Mono"/>
                <a:ea typeface="JetBrains Mono"/>
                <a:cs typeface="JetBrains Mono"/>
                <a:sym typeface="JetBrains Mono"/>
              </a:rPr>
              <a:t>10</a:t>
            </a:r>
            <a:endParaRPr/>
          </a:p>
        </p:txBody>
      </p:sp>
      <p:sp>
        <p:nvSpPr>
          <p:cNvPr id="365" name="Google Shape;365;p10"/>
          <p:cNvSpPr/>
          <p:nvPr/>
        </p:nvSpPr>
        <p:spPr>
          <a:xfrm>
            <a:off x="609600" y="2162175"/>
            <a:ext cx="3543300" cy="2428875"/>
          </a:xfrm>
          <a:prstGeom prst="roundRect">
            <a:avLst>
              <a:gd fmla="val 549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10"/>
          <p:cNvSpPr txBox="1"/>
          <p:nvPr/>
        </p:nvSpPr>
        <p:spPr>
          <a:xfrm>
            <a:off x="81915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OCTOBER</a:t>
            </a:r>
            <a:endParaRPr/>
          </a:p>
        </p:txBody>
      </p:sp>
      <p:sp>
        <p:nvSpPr>
          <p:cNvPr id="367" name="Google Shape;367;p10"/>
          <p:cNvSpPr txBox="1"/>
          <p:nvPr/>
        </p:nvSpPr>
        <p:spPr>
          <a:xfrm>
            <a:off x="819150" y="2543175"/>
            <a:ext cx="31242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450" u="none" cap="none" strike="noStrike">
                <a:solidFill>
                  <a:srgbClr val="0E1B33"/>
                </a:solidFill>
                <a:latin typeface="Instrument Serif"/>
                <a:ea typeface="Instrument Serif"/>
                <a:cs typeface="Instrument Serif"/>
                <a:sym typeface="Instrument Serif"/>
              </a:rPr>
              <a:t>$20,000</a:t>
            </a:r>
            <a:endParaRPr/>
          </a:p>
        </p:txBody>
      </p:sp>
      <p:sp>
        <p:nvSpPr>
          <p:cNvPr id="368" name="Google Shape;368;p10"/>
          <p:cNvSpPr/>
          <p:nvPr/>
        </p:nvSpPr>
        <p:spPr>
          <a:xfrm>
            <a:off x="819150" y="3381375"/>
            <a:ext cx="3124200" cy="95250"/>
          </a:xfrm>
          <a:prstGeom prst="roundRect">
            <a:avLst>
              <a:gd fmla="val 50000" name="adj"/>
            </a:avLst>
          </a:prstGeom>
          <a:solidFill>
            <a:srgbClr val="8CE0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10"/>
          <p:cNvSpPr/>
          <p:nvPr/>
        </p:nvSpPr>
        <p:spPr>
          <a:xfrm>
            <a:off x="819150" y="3381375"/>
            <a:ext cx="2811780" cy="95250"/>
          </a:xfrm>
          <a:prstGeom prst="roundRect">
            <a:avLst>
              <a:gd fmla="val 50000" name="adj"/>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10"/>
          <p:cNvSpPr txBox="1"/>
          <p:nvPr/>
        </p:nvSpPr>
        <p:spPr>
          <a:xfrm>
            <a:off x="819150" y="3552825"/>
            <a:ext cx="171831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938" u="none" cap="none" strike="noStrike">
                <a:solidFill>
                  <a:srgbClr val="2A6BE0"/>
                </a:solidFill>
                <a:latin typeface="Instrument Sans"/>
                <a:ea typeface="Instrument Sans"/>
                <a:cs typeface="Instrument Sans"/>
                <a:sym typeface="Instrument Sans"/>
              </a:rPr>
              <a:t>Google about 90%</a:t>
            </a:r>
            <a:endParaRPr/>
          </a:p>
        </p:txBody>
      </p:sp>
      <p:sp>
        <p:nvSpPr>
          <p:cNvPr id="371" name="Google Shape;371;p10"/>
          <p:cNvSpPr txBox="1"/>
          <p:nvPr/>
        </p:nvSpPr>
        <p:spPr>
          <a:xfrm>
            <a:off x="2225040" y="3552825"/>
            <a:ext cx="1718310" cy="1524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38" u="none" cap="none" strike="noStrike">
                <a:solidFill>
                  <a:srgbClr val="2E8C9C"/>
                </a:solidFill>
                <a:latin typeface="Instrument Sans"/>
                <a:ea typeface="Instrument Sans"/>
                <a:cs typeface="Instrument Sans"/>
                <a:sym typeface="Instrument Sans"/>
              </a:rPr>
              <a:t>Meta about 10%</a:t>
            </a:r>
            <a:endParaRPr/>
          </a:p>
        </p:txBody>
      </p:sp>
      <p:sp>
        <p:nvSpPr>
          <p:cNvPr id="372" name="Google Shape;372;p10"/>
          <p:cNvSpPr txBox="1"/>
          <p:nvPr/>
        </p:nvSpPr>
        <p:spPr>
          <a:xfrm>
            <a:off x="819150" y="3857625"/>
            <a:ext cx="3124200" cy="6286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011" u="none" cap="none" strike="noStrike">
                <a:solidFill>
                  <a:srgbClr val="4A5A75"/>
                </a:solidFill>
                <a:latin typeface="Instrument Sans"/>
                <a:ea typeface="Instrument Sans"/>
                <a:cs typeface="Instrument Sans"/>
                <a:sym typeface="Instrument Sans"/>
              </a:rPr>
              <a:t>Brand and non-brand search carry the month. Meta spend starts only after the pixel is clean.</a:t>
            </a:r>
            <a:endParaRPr/>
          </a:p>
        </p:txBody>
      </p:sp>
      <p:sp>
        <p:nvSpPr>
          <p:cNvPr id="373" name="Google Shape;373;p10"/>
          <p:cNvSpPr/>
          <p:nvPr/>
        </p:nvSpPr>
        <p:spPr>
          <a:xfrm>
            <a:off x="4324350" y="2162175"/>
            <a:ext cx="3543300" cy="2428875"/>
          </a:xfrm>
          <a:prstGeom prst="roundRect">
            <a:avLst>
              <a:gd fmla="val 549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10"/>
          <p:cNvSpPr txBox="1"/>
          <p:nvPr/>
        </p:nvSpPr>
        <p:spPr>
          <a:xfrm>
            <a:off x="453390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NOVEMBER</a:t>
            </a:r>
            <a:endParaRPr/>
          </a:p>
        </p:txBody>
      </p:sp>
      <p:sp>
        <p:nvSpPr>
          <p:cNvPr id="375" name="Google Shape;375;p10"/>
          <p:cNvSpPr txBox="1"/>
          <p:nvPr/>
        </p:nvSpPr>
        <p:spPr>
          <a:xfrm>
            <a:off x="4533900" y="2543175"/>
            <a:ext cx="31242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450" u="none" cap="none" strike="noStrike">
                <a:solidFill>
                  <a:srgbClr val="0E1B33"/>
                </a:solidFill>
                <a:latin typeface="Instrument Serif"/>
                <a:ea typeface="Instrument Serif"/>
                <a:cs typeface="Instrument Serif"/>
                <a:sym typeface="Instrument Serif"/>
              </a:rPr>
              <a:t>$22,500</a:t>
            </a:r>
            <a:endParaRPr/>
          </a:p>
        </p:txBody>
      </p:sp>
      <p:sp>
        <p:nvSpPr>
          <p:cNvPr id="376" name="Google Shape;376;p10"/>
          <p:cNvSpPr/>
          <p:nvPr/>
        </p:nvSpPr>
        <p:spPr>
          <a:xfrm>
            <a:off x="4533900" y="3381375"/>
            <a:ext cx="3124200" cy="95250"/>
          </a:xfrm>
          <a:prstGeom prst="roundRect">
            <a:avLst>
              <a:gd fmla="val 50000" name="adj"/>
            </a:avLst>
          </a:prstGeom>
          <a:solidFill>
            <a:srgbClr val="8CE0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10"/>
          <p:cNvSpPr/>
          <p:nvPr/>
        </p:nvSpPr>
        <p:spPr>
          <a:xfrm>
            <a:off x="4533900" y="3381375"/>
            <a:ext cx="2155698" cy="95250"/>
          </a:xfrm>
          <a:prstGeom prst="roundRect">
            <a:avLst>
              <a:gd fmla="val 50000" name="adj"/>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10"/>
          <p:cNvSpPr txBox="1"/>
          <p:nvPr/>
        </p:nvSpPr>
        <p:spPr>
          <a:xfrm>
            <a:off x="4533900" y="3552825"/>
            <a:ext cx="171831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938" u="none" cap="none" strike="noStrike">
                <a:solidFill>
                  <a:srgbClr val="2A6BE0"/>
                </a:solidFill>
                <a:latin typeface="Instrument Sans"/>
                <a:ea typeface="Instrument Sans"/>
                <a:cs typeface="Instrument Sans"/>
                <a:sym typeface="Instrument Sans"/>
              </a:rPr>
              <a:t>Google about 70%</a:t>
            </a:r>
            <a:endParaRPr/>
          </a:p>
        </p:txBody>
      </p:sp>
      <p:sp>
        <p:nvSpPr>
          <p:cNvPr id="379" name="Google Shape;379;p10"/>
          <p:cNvSpPr txBox="1"/>
          <p:nvPr/>
        </p:nvSpPr>
        <p:spPr>
          <a:xfrm>
            <a:off x="5939790" y="3552825"/>
            <a:ext cx="1718310" cy="1524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38" u="none" cap="none" strike="noStrike">
                <a:solidFill>
                  <a:srgbClr val="2E8C9C"/>
                </a:solidFill>
                <a:latin typeface="Instrument Sans"/>
                <a:ea typeface="Instrument Sans"/>
                <a:cs typeface="Instrument Sans"/>
                <a:sym typeface="Instrument Sans"/>
              </a:rPr>
              <a:t>Meta about 30%</a:t>
            </a:r>
            <a:endParaRPr/>
          </a:p>
        </p:txBody>
      </p:sp>
      <p:sp>
        <p:nvSpPr>
          <p:cNvPr id="380" name="Google Shape;380;p10"/>
          <p:cNvSpPr txBox="1"/>
          <p:nvPr/>
        </p:nvSpPr>
        <p:spPr>
          <a:xfrm>
            <a:off x="4533900" y="3857625"/>
            <a:ext cx="3124200" cy="6286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011" u="none" cap="none" strike="noStrike">
                <a:solidFill>
                  <a:srgbClr val="4A5A75"/>
                </a:solidFill>
                <a:latin typeface="Instrument Sans"/>
                <a:ea typeface="Instrument Sans"/>
                <a:cs typeface="Instrument Sans"/>
                <a:sym typeface="Instrument Sans"/>
              </a:rPr>
              <a:t>Meta goes live alongside the accounting vertical test, and non-brand scales into the pockets that work.</a:t>
            </a:r>
            <a:endParaRPr/>
          </a:p>
        </p:txBody>
      </p:sp>
      <p:sp>
        <p:nvSpPr>
          <p:cNvPr id="381" name="Google Shape;381;p10"/>
          <p:cNvSpPr/>
          <p:nvPr/>
        </p:nvSpPr>
        <p:spPr>
          <a:xfrm>
            <a:off x="8039100" y="2162175"/>
            <a:ext cx="3543300" cy="2428875"/>
          </a:xfrm>
          <a:prstGeom prst="roundRect">
            <a:avLst>
              <a:gd fmla="val 5490"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10"/>
          <p:cNvSpPr txBox="1"/>
          <p:nvPr/>
        </p:nvSpPr>
        <p:spPr>
          <a:xfrm>
            <a:off x="8248650" y="2371725"/>
            <a:ext cx="312420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88" u="none" cap="none" strike="noStrike">
                <a:solidFill>
                  <a:srgbClr val="8794AC"/>
                </a:solidFill>
                <a:latin typeface="JetBrains Mono"/>
                <a:ea typeface="JetBrains Mono"/>
                <a:cs typeface="JetBrains Mono"/>
                <a:sym typeface="JetBrains Mono"/>
              </a:rPr>
              <a:t>DECEMBER</a:t>
            </a:r>
            <a:endParaRPr/>
          </a:p>
        </p:txBody>
      </p:sp>
      <p:sp>
        <p:nvSpPr>
          <p:cNvPr id="383" name="Google Shape;383;p10"/>
          <p:cNvSpPr txBox="1"/>
          <p:nvPr/>
        </p:nvSpPr>
        <p:spPr>
          <a:xfrm>
            <a:off x="8248650" y="2543175"/>
            <a:ext cx="3124200" cy="49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450" u="none" cap="none" strike="noStrike">
                <a:solidFill>
                  <a:srgbClr val="0E1B33"/>
                </a:solidFill>
                <a:latin typeface="Instrument Serif"/>
                <a:ea typeface="Instrument Serif"/>
                <a:cs typeface="Instrument Serif"/>
                <a:sym typeface="Instrument Serif"/>
              </a:rPr>
              <a:t>$25,000</a:t>
            </a:r>
            <a:endParaRPr/>
          </a:p>
        </p:txBody>
      </p:sp>
      <p:sp>
        <p:nvSpPr>
          <p:cNvPr id="384" name="Google Shape;384;p10"/>
          <p:cNvSpPr/>
          <p:nvPr/>
        </p:nvSpPr>
        <p:spPr>
          <a:xfrm>
            <a:off x="8248650" y="3381375"/>
            <a:ext cx="3124200" cy="95250"/>
          </a:xfrm>
          <a:prstGeom prst="roundRect">
            <a:avLst>
              <a:gd fmla="val 50000" name="adj"/>
            </a:avLst>
          </a:prstGeom>
          <a:solidFill>
            <a:srgbClr val="8CE0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10"/>
          <p:cNvSpPr/>
          <p:nvPr/>
        </p:nvSpPr>
        <p:spPr>
          <a:xfrm>
            <a:off x="8248650" y="3381375"/>
            <a:ext cx="1937004" cy="95250"/>
          </a:xfrm>
          <a:prstGeom prst="roundRect">
            <a:avLst>
              <a:gd fmla="val 50000" name="adj"/>
            </a:avLst>
          </a:prstGeom>
          <a:solidFill>
            <a:srgbClr val="2A6B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10"/>
          <p:cNvSpPr txBox="1"/>
          <p:nvPr/>
        </p:nvSpPr>
        <p:spPr>
          <a:xfrm>
            <a:off x="8248650" y="3552825"/>
            <a:ext cx="171831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938" u="none" cap="none" strike="noStrike">
                <a:solidFill>
                  <a:srgbClr val="2A6BE0"/>
                </a:solidFill>
                <a:latin typeface="Instrument Sans"/>
                <a:ea typeface="Instrument Sans"/>
                <a:cs typeface="Instrument Sans"/>
                <a:sym typeface="Instrument Sans"/>
              </a:rPr>
              <a:t>Google about 60%</a:t>
            </a:r>
            <a:endParaRPr/>
          </a:p>
        </p:txBody>
      </p:sp>
      <p:sp>
        <p:nvSpPr>
          <p:cNvPr id="387" name="Google Shape;387;p10"/>
          <p:cNvSpPr txBox="1"/>
          <p:nvPr/>
        </p:nvSpPr>
        <p:spPr>
          <a:xfrm>
            <a:off x="9654540" y="3552825"/>
            <a:ext cx="1718310" cy="1524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38" u="none" cap="none" strike="noStrike">
                <a:solidFill>
                  <a:srgbClr val="2E8C9C"/>
                </a:solidFill>
                <a:latin typeface="Instrument Sans"/>
                <a:ea typeface="Instrument Sans"/>
                <a:cs typeface="Instrument Sans"/>
                <a:sym typeface="Instrument Sans"/>
              </a:rPr>
              <a:t>Meta about 40%</a:t>
            </a:r>
            <a:endParaRPr/>
          </a:p>
        </p:txBody>
      </p:sp>
      <p:sp>
        <p:nvSpPr>
          <p:cNvPr id="388" name="Google Shape;388;p10"/>
          <p:cNvSpPr txBox="1"/>
          <p:nvPr/>
        </p:nvSpPr>
        <p:spPr>
          <a:xfrm>
            <a:off x="8248650" y="3857625"/>
            <a:ext cx="3124200" cy="6286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011" u="none" cap="none" strike="noStrike">
                <a:solidFill>
                  <a:srgbClr val="4A5A75"/>
                </a:solidFill>
                <a:latin typeface="Instrument Sans"/>
                <a:ea typeface="Instrument Sans"/>
                <a:cs typeface="Instrument Sans"/>
                <a:sym typeface="Instrument Sans"/>
              </a:rPr>
              <a:t>Retargeting opens, and budget follows the campaigns t</a:t>
            </a:r>
            <a:r>
              <a:rPr lang="en-US" sz="1011">
                <a:solidFill>
                  <a:srgbClr val="4A5A75"/>
                </a:solidFill>
                <a:latin typeface="Instrument Sans"/>
                <a:ea typeface="Instrument Sans"/>
                <a:cs typeface="Instrument Sans"/>
                <a:sym typeface="Instrument Sans"/>
              </a:rPr>
              <a:t>hat are performing well.</a:t>
            </a:r>
            <a:r>
              <a:rPr b="0" i="0" lang="en-US" sz="1011" u="none" cap="none" strike="noStrike">
                <a:solidFill>
                  <a:srgbClr val="4A5A75"/>
                </a:solidFill>
                <a:latin typeface="Instrument Sans"/>
                <a:ea typeface="Instrument Sans"/>
                <a:cs typeface="Instrument Sans"/>
                <a:sym typeface="Instrument Sans"/>
              </a:rPr>
              <a:t> We review LinkedIn, Reddit and ChatGPT ads for Q1.</a:t>
            </a:r>
            <a:endParaRPr/>
          </a:p>
        </p:txBody>
      </p:sp>
      <p:sp>
        <p:nvSpPr>
          <p:cNvPr id="389" name="Google Shape;389;p10"/>
          <p:cNvSpPr/>
          <p:nvPr/>
        </p:nvSpPr>
        <p:spPr>
          <a:xfrm>
            <a:off x="609600" y="5248275"/>
            <a:ext cx="3543300" cy="895350"/>
          </a:xfrm>
          <a:prstGeom prst="roundRect">
            <a:avLst>
              <a:gd fmla="val 14893" name="adj"/>
            </a:avLst>
          </a:prstGeom>
          <a:solidFill>
            <a:srgbClr val="E3E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0" name="Google Shape;390;p10"/>
          <p:cNvSpPr txBox="1"/>
          <p:nvPr/>
        </p:nvSpPr>
        <p:spPr>
          <a:xfrm>
            <a:off x="800100" y="5400675"/>
            <a:ext cx="3162300" cy="5905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011" u="none" cap="none" strike="noStrike">
                <a:solidFill>
                  <a:srgbClr val="4A5A75"/>
                </a:solidFill>
                <a:latin typeface="Instrument Sans"/>
                <a:ea typeface="Instrument Sans"/>
                <a:cs typeface="Instrument Sans"/>
                <a:sym typeface="Instrument Sans"/>
              </a:rPr>
              <a:t>These shares show direction, not a commitment. We set the campaign-level split in week one.</a:t>
            </a:r>
            <a:endParaRPr/>
          </a:p>
        </p:txBody>
      </p:sp>
      <p:sp>
        <p:nvSpPr>
          <p:cNvPr id="391" name="Google Shape;391;p10"/>
          <p:cNvSpPr/>
          <p:nvPr/>
        </p:nvSpPr>
        <p:spPr>
          <a:xfrm>
            <a:off x="4324350" y="5248275"/>
            <a:ext cx="3543300" cy="895350"/>
          </a:xfrm>
          <a:prstGeom prst="roundRect">
            <a:avLst>
              <a:gd fmla="val 1489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10"/>
          <p:cNvSpPr txBox="1"/>
          <p:nvPr/>
        </p:nvSpPr>
        <p:spPr>
          <a:xfrm>
            <a:off x="4514850" y="5400675"/>
            <a:ext cx="3162300" cy="5905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011" u="none" cap="none" strike="noStrike">
                <a:solidFill>
                  <a:srgbClr val="4A5A75"/>
                </a:solidFill>
                <a:latin typeface="Instrument Sans"/>
                <a:ea typeface="Instrument Sans"/>
                <a:cs typeface="Instrument Sans"/>
                <a:sym typeface="Instrument Sans"/>
              </a:rPr>
              <a:t>Every new line has a kill date. We </a:t>
            </a:r>
            <a:r>
              <a:rPr lang="en-US" sz="1011">
                <a:solidFill>
                  <a:srgbClr val="4A5A75"/>
                </a:solidFill>
                <a:latin typeface="Instrument Sans"/>
                <a:ea typeface="Instrument Sans"/>
                <a:cs typeface="Instrument Sans"/>
                <a:sym typeface="Instrument Sans"/>
              </a:rPr>
              <a:t>pause any line that misses its target.</a:t>
            </a:r>
            <a:endParaRPr/>
          </a:p>
        </p:txBody>
      </p:sp>
      <p:sp>
        <p:nvSpPr>
          <p:cNvPr id="393" name="Google Shape;393;p10"/>
          <p:cNvSpPr/>
          <p:nvPr/>
        </p:nvSpPr>
        <p:spPr>
          <a:xfrm>
            <a:off x="8039100" y="5248275"/>
            <a:ext cx="3543300" cy="895350"/>
          </a:xfrm>
          <a:prstGeom prst="roundRect">
            <a:avLst>
              <a:gd fmla="val 14893" name="adj"/>
            </a:avLst>
          </a:prstGeom>
          <a:solidFill>
            <a:srgbClr val="FFFFFF"/>
          </a:solidFill>
          <a:ln cap="flat" cmpd="sng" w="9525">
            <a:solidFill>
              <a:srgbClr val="D5E2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4" name="Google Shape;394;p10"/>
          <p:cNvSpPr txBox="1"/>
          <p:nvPr/>
        </p:nvSpPr>
        <p:spPr>
          <a:xfrm>
            <a:off x="8229600" y="5400675"/>
            <a:ext cx="3162300" cy="5905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011" u="none" cap="none" strike="noStrike">
                <a:solidFill>
                  <a:srgbClr val="4A5A75"/>
                </a:solidFill>
                <a:latin typeface="Instrument Sans"/>
                <a:ea typeface="Instrument Sans"/>
                <a:cs typeface="Instrument Sans"/>
                <a:sym typeface="Instrument Sans"/>
              </a:rPr>
              <a:t>The accounts stay in SignWell's name. The spend, the history and the data stay yours</a:t>
            </a:r>
            <a:r>
              <a:rPr lang="en-US" sz="1011">
                <a:solidFill>
                  <a:srgbClr val="4A5A75"/>
                </a:solidFill>
                <a:latin typeface="Instrument Sans"/>
                <a:ea typeface="Instrument Sans"/>
                <a:cs typeface="Instrument Sans"/>
                <a:sym typeface="Instrument Sans"/>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