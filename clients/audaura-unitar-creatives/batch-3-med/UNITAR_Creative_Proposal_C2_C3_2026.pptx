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Roboto Medium"/>
      <p:regular r:id="rId36"/>
      <p:bold r:id="rId37"/>
      <p:italic r:id="rId38"/>
      <p:boldItalic r:id="rId39"/>
    </p:embeddedFont>
    <p:embeddedFont>
      <p:font typeface="Urbanis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5" name="Kin Xian La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11AE29-183F-4D18-BB4E-05CFDA7A71FF}">
  <a:tblStyle styleId="{AE11AE29-183F-4D18-BB4E-05CFDA7A71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regular.fntdata"/><Relationship Id="rId20" Type="http://schemas.openxmlformats.org/officeDocument/2006/relationships/slide" Target="slides/slide13.xml"/><Relationship Id="rId42" Type="http://schemas.openxmlformats.org/officeDocument/2006/relationships/font" Target="fonts/Urbanist-italic.fntdata"/><Relationship Id="rId41" Type="http://schemas.openxmlformats.org/officeDocument/2006/relationships/font" Target="fonts/Urbanist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schemas.openxmlformats.org/officeDocument/2006/relationships/font" Target="fonts/Urbanist-bold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-bold.fntdata"/><Relationship Id="rId10" Type="http://schemas.openxmlformats.org/officeDocument/2006/relationships/slide" Target="slides/slide3.xml"/><Relationship Id="rId32" Type="http://schemas.openxmlformats.org/officeDocument/2006/relationships/font" Target="fonts/Roboto-regular.fntdata"/><Relationship Id="rId13" Type="http://schemas.openxmlformats.org/officeDocument/2006/relationships/slide" Target="slides/slide6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5.xml"/><Relationship Id="rId34" Type="http://schemas.openxmlformats.org/officeDocument/2006/relationships/font" Target="fonts/Roboto-italic.fntdata"/><Relationship Id="rId15" Type="http://schemas.openxmlformats.org/officeDocument/2006/relationships/slide" Target="slides/slide8.xml"/><Relationship Id="rId37" Type="http://schemas.openxmlformats.org/officeDocument/2006/relationships/font" Target="fonts/RobotoMedium-bold.fntdata"/><Relationship Id="rId14" Type="http://schemas.openxmlformats.org/officeDocument/2006/relationships/slide" Target="slides/slide7.xml"/><Relationship Id="rId36" Type="http://schemas.openxmlformats.org/officeDocument/2006/relationships/font" Target="fonts/RobotoMedium-regular.fntdata"/><Relationship Id="rId17" Type="http://schemas.openxmlformats.org/officeDocument/2006/relationships/slide" Target="slides/slide10.xml"/><Relationship Id="rId39" Type="http://schemas.openxmlformats.org/officeDocument/2006/relationships/font" Target="fonts/RobotoMedium-boldItalic.fntdata"/><Relationship Id="rId16" Type="http://schemas.openxmlformats.org/officeDocument/2006/relationships/slide" Target="slides/slide9.xml"/><Relationship Id="rId38" Type="http://schemas.openxmlformats.org/officeDocument/2006/relationships/font" Target="fonts/RobotoMedium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11T03:29:34.617">
    <p:pos x="6000" y="0"/>
    <p:text>Please change to all blue UNITAR logo as grey b/ground makan our grey colour in the logo (I will provide the asset) 
. Change to blue 35BB logo ( I will provide the asset) 
. Any ways to improve the copy without hypen as its synonym with ChatGPT. Do advise if its part of new ads experimental approach
. Revise MED to MEd
. Revise to ... Leadership and Management (official name use "and", not symbol)
. MOHE requirement - Add this code somewhere in the ads, smaller font will do
(R2-DL/0114/7/0012) (04/27) (MQA/FA 1877)
. MOHE requirement - add this details somewhere in the ads, preferably at the bottom, smaller font will do
UNITAR CAPITAL SDN BHD 200801041472(0842825-T)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11T03:29:50.612">
    <p:pos x="6000" y="0"/>
    <p:text>. Change 35BB logo ( I will provide the asset) 
. Revise That to that
. Revise MED to MEd
. Revise to ... Leadership and Management (official name use "and", not symbol)
. MOHE requirement - Add this code somewhere in the ads, smaller font will do
(R2-DL/0114/7/0012) (04/27) (MQA/FA 1877)
. Any ways to improve the copy without hypen as its synonym with ChatGPT. Do advise if its part of new ads experimental approach
. MOHE requirement - add this details somewhere in the ads, preferably at the bottom, smaller font will do
UNITAR CAPITAL SDN BHD 200801041472(0842825-T)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5-11T07:45:22.280">
    <p:pos x="6000" y="0"/>
    <p:text>. Change 35BB logo ( I will provide the asset)
. Missing space (... Language. Now, Formalise It.)
. Any ways to improve the copy without hypen as its synonym with ChatGPT. Do advise if its part of new ads experimental approach
. Revise MED to MEd
. MOHE requirement - Add this code somewhere in the ads, smaller font will do
(R2-DL/0114/7/0015) (04/27) (MQA/FA 1876)
. MOHE requirement - add this details somewhere in the ads, preferably at the bottom, smaller font will do
UNITAR CAPITAL SDN BHD 200801041472(0842825-T)
Talent/graphic/vector used - I leave it Diyana/ Auduara to advise, assuming it is part of experimental approach</p:text>
  </p:cm>
  <p:cm authorId="0" idx="4" dt="2026-05-11T09:15:32.293">
    <p:pos x="1855" y="1448"/>
    <p:text>Add space after the period.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5-11T07:45:08.185">
    <p:pos x="6000" y="0"/>
    <p:text>. Change 35BB logo ( I will provide the asset)
. MOHE requirement - Add this code somewhere in the ads, smaller font will do
(R2-DL/0114/7/0015) (04/27) (MQA/FA 1876)
. Revise to Student-Get-Student
. MOHE requirement - add this details somewhere in the ads, preferably at the bottom, smaller font will do
UNITAR CAPITAL SDN BHD 200801041472(0842825-T)
Talent/graphic/vector used - I leave it Diyana/ Auduara to advise, assuming it is part of experimental approach
The copy - somehow sounds repetitive for programme mentioned.</p:text>
  </p:cm>
  <p:cm authorId="0" idx="6" dt="2026-05-12T03:39:49.793">
    <p:pos x="1855" y="1448"/>
    <p:text>Changed description. Please update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5-11T07:44:47.853">
    <p:pos x="6000" y="0"/>
    <p:text>. Change 35BB logo ( I will provide the asset)
. Revise Is to is
. Revise MED to MEd
. MOHE requirement - Add this code somewhere in the ads, smaller font will do
(R-DL/0111/7/0026 (10/31) (MQA/FA15069)
. MOHE requirement - add this details somewhere in the ads, preferably at the bottom, smaller font will do
UNITAR CAPITAL SDN BHD 200801041472(0842825-T)
Talent/graphic/vector used - I leave it Diyana/ Auduara to advise, assuming it is part of experimental approach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5-11T03:30:53.007">
    <p:pos x="6000" y="0"/>
    <p:text>. Change 35BB logo ( I will provide the asset) 
. Any ways to improve the copy without hyphen as its synonym with ChatGPT. Do advise if its part of new ads experimental approach
. Revise MED to MEd
. MOHE requirement - Add this code somewhere in the ads, smaller font will do
(R-DL/0111/7/0026 (10/31) (MQA/FA15069)
. .. RM4,500 bursary or RM4,500 Teacher's Day bursary? To be standardised or depends to ads? Please advise 
. MOHE requirement - add this details somewhere in the ads, preferably at the bottom, smaller font will do
UNITAR CAPITAL SDN BHD 200801041472(0842825-T)
Talent/graphic/vector used - I leave it Diyana/ Auduara to advise, assuming it is part of experimental approach</p:text>
  </p:cm>
  <p:cm authorId="0" idx="9" dt="2026-05-11T10:11:08.535">
    <p:pos x="1855" y="1448"/>
    <p:text>Added Teachers' Day bursary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6-05-11T03:31:04.180">
    <p:pos x="6000" y="0"/>
    <p:text>. Change 35BB logo ( I will provide the asset) 
. Any ways to improve the copy without hyphen as its synonym with ChatGPT. Do advise if its part of new ads experimental approach
. Revise MED to MEd
. MOHE requirement - Add this code somewhere in the ads, smaller font will do
(R-DL/0111/7/0026 (10/31) (MQA/FA15069)
. .. RM4,500 bursary or RM4,500 Teacher's Day bursary? To be standardised or depends to ads? Please advise 
. MOHE requirement - add this details somewhere in the ads, preferably at the bottom, smaller font will do
UNITAR CAPITAL SDN BHD 200801041472(0842825-T)
Talent/graphic/vector used - I leave it Diyana/ Auduara to advise, assuming it is part of experimental approach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05-11T03:31:14.381">
    <p:pos x="6000" y="0"/>
    <p:text>. Change 35BB logo ( I will provide the asset) 
. Any ways to improve the copy without hyphen as its synonym with ChatGPT. Do advise if its part of new ads experimental approach
. Revise MED to MEd
. MOHE requirement - Add this code somewhere in the ads, smaller font will do
(R2-DL/0112/7/0005) (04/27) (MQA/FA 1873)
. MOHE requirement - add this details somewhere in the ads, preferably at the bottom, smaller font will do
UNITAR CAPITAL SDN BHD 200801041472(0842825-T)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6-05-11T03:31:26.473">
    <p:pos x="6000" y="0"/>
    <p:text>. Change 35BB logo ( I will provide the asset) 
. Any ways to improve the copy without hyphen as its synonym with ChatGPT. Do advise if its part of new ads experimental approach
. Revise MED to MEd
. MOHE requirement - Add this code somewhere in the ads, smaller font will do
(R2-DL/0112/7/0005) (04/27) (MQA/FA 1873)
. MOHE requirement - add this details somewhere in the ads, preferably at the bottom, smaller font will do
UNITAR CAPITAL SDN BHD 200801041472(0842825-T)</p:text>
  </p:cm>
  <p:cm authorId="0" idx="13" dt="2026-05-11T10:10:35.931">
    <p:pos x="1855" y="1448"/>
    <p:text>Added Teacher's Day bursary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6-05-11T03:31:55.813">
    <p:pos x="6000" y="0"/>
    <p:text>. Change 35BB logo ( I will provide the asset) 
. Revise MED to MEd
. MOHE requirement - add this details somewhere in the ads, preferably at the bottom, smaller font will do
UNITAR CAPITAL SDN BHD 200801041472(0842825-T)
Talent/graphic/vector used - I leave it Diyana/ Auduara to advise, assuming it is part of experimental approach</p:text>
  </p:cm>
  <p:cm authorId="0" idx="15" dt="2026-05-12T03:45:22.112">
    <p:pos x="1855" y="1448"/>
    <p:text>List all 4 programs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afe6e7c5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afe6e7c5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fe6e7c5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fe6e7c5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afe6e7c5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afe6e7c5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afe6e7c5f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afe6e7c5f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afe6e7c5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afe6e7c5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afe6e7c5f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afe6e7c5f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afe6e7c5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afe6e7c5f_0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afe6e7c5f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afe6e7c5f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afe6e7c5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afe6e7c5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afe6e7c5f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afe6e7c5f_0_3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afe6e7c5f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afe6e7c5f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afe6e7c5f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afe6e7c5f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afe6e7c5f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afe6e7c5f_0_3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afe6e7c5f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afe6e7c5f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afe6e7c5f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afe6e7c5f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7e1621df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7e1621df1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7e1621df1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7e1621df1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7e1621df1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7e1621df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7e1621df1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7e1621df1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7e1621df1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7e1621df1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7e1621df1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7e1621df1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7e1621df1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7e1621df1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7e1621df1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7e1621df1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7e1621df1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7e1621df1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2.jpg"/><Relationship Id="rId5" Type="http://schemas.openxmlformats.org/officeDocument/2006/relationships/image" Target="../media/image1.png"/><Relationship Id="rId6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Relationship Id="rId4" Type="http://schemas.openxmlformats.org/officeDocument/2006/relationships/image" Target="../media/image19.jp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Relationship Id="rId4" Type="http://schemas.openxmlformats.org/officeDocument/2006/relationships/image" Target="../media/image17.jpg"/><Relationship Id="rId5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Relationship Id="rId4" Type="http://schemas.openxmlformats.org/officeDocument/2006/relationships/image" Target="../media/image5.jpg"/><Relationship Id="rId5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Relationship Id="rId4" Type="http://schemas.openxmlformats.org/officeDocument/2006/relationships/image" Target="../media/image10.jpg"/><Relationship Id="rId5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6.xml"/><Relationship Id="rId4" Type="http://schemas.openxmlformats.org/officeDocument/2006/relationships/image" Target="../media/image13.jpg"/><Relationship Id="rId5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7.xml"/><Relationship Id="rId4" Type="http://schemas.openxmlformats.org/officeDocument/2006/relationships/image" Target="../media/image18.jpg"/><Relationship Id="rId5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8.xml"/><Relationship Id="rId4" Type="http://schemas.openxmlformats.org/officeDocument/2006/relationships/image" Target="../media/image21.jpg"/><Relationship Id="rId5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9.xml"/><Relationship Id="rId4" Type="http://schemas.openxmlformats.org/officeDocument/2006/relationships/image" Target="../media/image20.jpg"/><Relationship Id="rId5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0.xml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78644" y="696413"/>
            <a:ext cx="5301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Master of Education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(Educational Leadership &amp; Management)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428625" y="619385"/>
            <a:ext cx="42900" cy="8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1: </a:t>
            </a:r>
            <a:r>
              <a:rPr b="1" lang="en" sz="900">
                <a:solidFill>
                  <a:schemeClr val="dk1"/>
                </a:solidFill>
              </a:rPr>
              <a:t>Aspiration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Ready to Lead Beyond the Classroom?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Bangkit Bersama. Take the next step with UNITAR's MEd in Educational Leadership and Management.</a:t>
            </a:r>
            <a:r>
              <a:rPr lang="en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Fully online, RM10,000 after Teachers' Day bursary.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00"/>
                </a:highlight>
              </a:rPr>
              <a:t>(R2-DL/0114/7/0012) (04/27) (MQA/FA 1877)</a:t>
            </a:r>
            <a:endParaRPr b="1"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highlight>
                  <a:srgbClr val="FFFF00"/>
                </a:highlight>
              </a:rPr>
              <a:t>MOHE requirement, add: UNITAR CAPITAL SDN BHD 200801041472(0842825-T)</a:t>
            </a:r>
            <a:endParaRPr b="1"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65" name="Google Shape;65;p14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68" name="Google Shape;68;p14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4" title="UNILAD Master of Education - Educational Leadership &amp; Management - AD 1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75" y="1269900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BLUE - SECONDARY 35BB 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3725" y="135100"/>
            <a:ext cx="1828076" cy="182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title="UNILAD Master of Education - Educational Leadership &amp; Management - AD 1 - 9x16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3026" y="674800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2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Pragmatist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A Leadership Qualification that Works Around Your Career.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UNITAR's online MEd in Educational Leadership and Management. 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Study at your own pace. RM10,000 after a RM4,500 Teachers' Day bursary. 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T&amp;Cs apply.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(R2-DL/0114/7/0012) (04/27) (MQA/FA 1877)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MOHE requirement, add: UNITAR CAPITAL SDN BHD 200801041472(0842825-T)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5" title="UNILAD Master of Education - Educational Leadership &amp; Management - AD 2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5" y="1152562"/>
            <a:ext cx="2650201" cy="265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title="UNILAD Master of Education - Educational Leadership &amp; Management - AD 2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326" y="918588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578644" y="696413"/>
            <a:ext cx="530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Master of Education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(TESL)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28625" y="619385"/>
            <a:ext cx="42900" cy="8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1: </a:t>
            </a:r>
            <a:r>
              <a:rPr b="1" lang="en" sz="900">
                <a:solidFill>
                  <a:schemeClr val="dk1"/>
                </a:solidFill>
              </a:rPr>
              <a:t>Identity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You've Built Your Career on Language. </a:t>
            </a:r>
            <a:r>
              <a:rPr lang="en" sz="900">
                <a:solidFill>
                  <a:schemeClr val="dk1"/>
                </a:solidFill>
              </a:rPr>
              <a:t>Now Formalise It.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angkit Bersama. Grow further with UNITAR's MEd in TESL. 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Fully online. RM10,000 after Teachers' Day bursary.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(R2-DL/0114/7/0015) (04/27) (MQA/FA 1876)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MOHE requirement, add: UNITAR CAPITAL SDN BHD 200801041472(0842825-T)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102" name="Google Shape;102;p17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105" name="Google Shape;105;p17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7" title="UNILAD Master of Education - TESL- AD 1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75" y="1298775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UNILAD Master of Education - TESL- AD 1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326" y="1269888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2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Urgency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Teachers' Day Offer: Master of Education in TESL at RM10,000.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RM4,500 off your MEd in TESL.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Stackable with Registration Fee Waiver and Student-Get-Student referral. T&amp;Cs apply.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(R2-DL/0114/7/0015) (04/27) (MQA/FA 1876)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MOHE requirement, add: UNITAR CAPITAL SDN BHD 200801041472(0842825-T)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117" name="Google Shape;117;p18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120" name="Google Shape;120;p18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8" title="UNILAD Master of Education - TESL- AD 2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75" y="1298775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title="UNILAD Master of Education - TESL- AD 2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5976" y="865863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578644" y="696413"/>
            <a:ext cx="530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Master of Education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Instructional Technology</a:t>
            </a: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428625" y="619385"/>
            <a:ext cx="42900" cy="8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1: </a:t>
            </a:r>
            <a:r>
              <a:rPr b="1" lang="en" sz="900">
                <a:solidFill>
                  <a:schemeClr val="dk1"/>
                </a:solidFill>
              </a:rPr>
              <a:t>Forward-looking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The Future of Teaching is Digital. Are You Ready?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b="1" lang="en" sz="900">
                <a:solidFill>
                  <a:schemeClr val="dk1"/>
                </a:solidFill>
              </a:rPr>
              <a:t>: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UNITAR's online MEd in Instructional Technology.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Fully online, RM10,000 after Teachers' Day bursary. T&amp;Cs apply.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(R-DL/0111/7/0026 (10/31) (MQA/FA15069)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MOHE requirement, add: UNITAR CAPITAL SDN BHD 200801041472(0842825-T)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138" name="Google Shape;138;p20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141" name="Google Shape;141;p20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0" title="UNILAD Master of Education - Instructional Technology- AD 1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75" y="1327325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 title="UNILAD Master of Education - Instructional Technology- AD 1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326" y="1269888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2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Professional Growth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Turn Your Passion for EdTech Into a Postgraduate Qualification.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900">
                <a:solidFill>
                  <a:schemeClr val="dk1"/>
                </a:solidFill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UNITAR's online MEd in Instructional Technology, built for educators who believe technology transforms learning.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Fully online, RM10,000 after a RM4,500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Teachers' Day bursary</a:t>
            </a:r>
            <a:r>
              <a:rPr lang="en" sz="900">
                <a:solidFill>
                  <a:schemeClr val="dk1"/>
                </a:solidFill>
              </a:rPr>
              <a:t>. T&amp;Cs apply.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(R-DL/0111/7/0026 (10/31) (MQA/FA15069)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MOHE requirement, add: UNITAR CAPITAL SDN BHD 200801041472(0842825-T)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153" name="Google Shape;153;p21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156" name="Google Shape;156;p21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1" title="UNILAD Master of Education - Instructional Technology- AD 2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75" y="1269900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 title="UNILAD Master of Education - Instructional Technology- AD 2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326" y="1269888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578644" y="696413"/>
            <a:ext cx="530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Master of Education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Early Childhood Education</a:t>
            </a: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428625" y="619385"/>
            <a:ext cx="42900" cy="8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1: </a:t>
            </a:r>
            <a:r>
              <a:rPr b="1" lang="en" sz="900">
                <a:solidFill>
                  <a:schemeClr val="dk1"/>
                </a:solidFill>
              </a:rPr>
              <a:t>Emotional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The Earliest Years Matter Most. So Does Your Expertise.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Bangkit Bersama. Grow with UNITAR's MEd in Early Childhood Education.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Fully online. RM10,000 after Teachers' Day bursary. T&amp;Cs apply.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174" name="Google Shape;174;p23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177" name="Google Shape;177;p23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3" title="UNILAD Master of Education - Early Childhood Education- AD 1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75" y="1298775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 title="UNILAD Master of Education - Early Childhood Education- AD 1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326" y="1269888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2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Credentials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Grow Your Impact in Early Childhood Education.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UNITAR's online MEd in Early Childhood Education, built for educators ready to go further.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Fully online, RM10,000 after a RM4,500 </a:t>
            </a:r>
            <a:r>
              <a:rPr lang="en" sz="900">
                <a:solidFill>
                  <a:schemeClr val="dk1"/>
                </a:solidFill>
              </a:rPr>
              <a:t>Teachers' Day </a:t>
            </a:r>
            <a:r>
              <a:rPr lang="en" sz="900">
                <a:solidFill>
                  <a:schemeClr val="dk1"/>
                </a:solidFill>
              </a:rPr>
              <a:t>bursary. T&amp;Cs apply.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(R2-DL/0112/7/0005) (04/27) (MQA/FA 1873)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MOHE requirement, add: UNITAR CAPITAL SDN BHD 200801041472(0842825-T)</a:t>
            </a:r>
            <a:endParaRPr b="1" sz="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189" name="Google Shape;189;p24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192" name="Google Shape;192;p24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4" title="UNILAD Master of Education - Early Childhood Education- AD 2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75" y="1159900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 title="UNILAD Master of Education - Early Childhood Education- AD 2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326" y="1269888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578644" y="696413"/>
            <a:ext cx="530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Master of Education (ALL)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428625" y="619385"/>
            <a:ext cx="42900" cy="8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1: </a:t>
            </a:r>
            <a:r>
              <a:rPr b="1" lang="en" sz="900">
                <a:solidFill>
                  <a:schemeClr val="dk1"/>
                </a:solidFill>
              </a:rPr>
              <a:t>Bangkit Bersama Headline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This Teachers' Day, UNITAR Invests in You.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Bangkit Bersama. Get a RM4,500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Teachers' Day bursary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 across UNITAR's fully online Master of Education programmes.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Educational Leadership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TESL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Instructional Technology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Early Childhood Education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Tuition fees at RM10,000.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(R2-DL/0112/7/0005) (04/27) (MQA/FA 1873)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MOHE requirement: UNITAR CAPITAL SDN BHD 200801041472(0842825-T)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210" name="Google Shape;210;p26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213" name="Google Shape;213;p26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6" title="UNILAD Master of Education (ALL) - AD 1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75" y="1298775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6" title="UNILAD Master of Education (ALL) - AD 1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326" y="1269888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2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Offer-led Headline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Master of Education. RM10,000 After Bursary.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  <a:highlight>
                  <a:srgbClr val="FFFF00"/>
                </a:highlight>
              </a:rPr>
              <a:t>Save RM4,500 with UNITAR's Teachers' Day bursary across four online MED specialisations: Educational Leadership, TESL, Instructional Technology, and Early Childhood Education.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T&amp;Cs apply.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MOHE requirement, add: UNITAR CAPITAL SDN BHD 200801041472(0842825-T)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98175" y="4514021"/>
            <a:ext cx="2603700" cy="53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</p:txBody>
      </p:sp>
      <p:graphicFrame>
        <p:nvGraphicFramePr>
          <p:cNvPr id="225" name="Google Shape;225;p27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228" name="Google Shape;228;p27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7" title="UNILAD Master of Education (ALL) - AD 2 - 1x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75" y="1298775"/>
            <a:ext cx="2603699" cy="26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 title="UNILAD Master of Education (ALL) - AD 2 - 9x1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326" y="1269888"/>
            <a:ext cx="2250000" cy="403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/>
        </p:nvSpPr>
        <p:spPr>
          <a:xfrm>
            <a:off x="578644" y="696413"/>
            <a:ext cx="530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UNITAR Pakistan MBA</a:t>
            </a:r>
            <a:endParaRPr b="1" sz="2700">
              <a:solidFill>
                <a:srgbClr val="11182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428625" y="619385"/>
            <a:ext cx="42900" cy="8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1: </a:t>
            </a:r>
            <a:r>
              <a:rPr b="1" lang="en" sz="900">
                <a:solidFill>
                  <a:schemeClr val="dk1"/>
                </a:solidFill>
              </a:rPr>
              <a:t>Promotion Ceiling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3" name="Google Shape;243;p29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Your Experience Says Manager. Your Payslip Disagrees.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You've been doing the work. Study 100% online with no visa and no leave of absence required.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MQA-accredited MBA from UNITAR. No campus required.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98175" y="3700574"/>
            <a:ext cx="2603700" cy="1578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- Add program code: (R-DL/0414/7/0306)(04/2033)(MQA/FA14345)</a:t>
            </a:r>
            <a:br>
              <a:rPr b="1" lang="en" sz="800">
                <a:solidFill>
                  <a:schemeClr val="dk1"/>
                </a:solidFill>
              </a:rPr>
            </a:br>
            <a:br>
              <a:rPr b="1" lang="en" sz="800">
                <a:solidFill>
                  <a:schemeClr val="dk1"/>
                </a:solidFill>
              </a:rPr>
            </a:br>
            <a:r>
              <a:rPr b="1" lang="en" sz="800">
                <a:solidFill>
                  <a:schemeClr val="dk1"/>
                </a:solidFill>
              </a:rPr>
              <a:t>- Update headline to “You Have Manager Level Experience. No Get The Manager Level Job”</a:t>
            </a:r>
            <a:br>
              <a:rPr b="1" lang="en" sz="800">
                <a:solidFill>
                  <a:schemeClr val="dk1"/>
                </a:solidFill>
              </a:rPr>
            </a:br>
            <a:br>
              <a:rPr b="1" lang="en" sz="800">
                <a:solidFill>
                  <a:schemeClr val="dk1"/>
                </a:solidFill>
              </a:rPr>
            </a:br>
            <a:r>
              <a:rPr b="1" lang="en" sz="800">
                <a:solidFill>
                  <a:schemeClr val="dk1"/>
                </a:solidFill>
              </a:rPr>
              <a:t>- Update sub-headline to “</a:t>
            </a:r>
            <a:r>
              <a:rPr lang="en" sz="900">
                <a:solidFill>
                  <a:schemeClr val="dk1"/>
                </a:solidFill>
              </a:rPr>
              <a:t>Study 100% online with no visa or no leave of absence required.”</a:t>
            </a:r>
            <a:br>
              <a:rPr lang="en" sz="900">
                <a:solidFill>
                  <a:schemeClr val="dk1"/>
                </a:solidFill>
              </a:rPr>
            </a:br>
            <a:br>
              <a:rPr lang="en" sz="900">
                <a:solidFill>
                  <a:schemeClr val="dk1"/>
                </a:solidFill>
              </a:rPr>
            </a:br>
            <a:r>
              <a:rPr b="1" lang="en" sz="900">
                <a:solidFill>
                  <a:schemeClr val="dk1"/>
                </a:solidFill>
              </a:rPr>
              <a:t>- Move the CTA button higher.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graphicFrame>
        <p:nvGraphicFramePr>
          <p:cNvPr id="246" name="Google Shape;246;p29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29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48" name="Google Shape;248;p29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249" name="Google Shape;249;p29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9" title="UNILAD May Batch 2 - Pakistan MBA - AD 1 - 1x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75" y="687225"/>
            <a:ext cx="2603699" cy="260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1: </a:t>
            </a:r>
            <a:r>
              <a:rPr b="1" lang="en" sz="900">
                <a:solidFill>
                  <a:schemeClr val="dk1"/>
                </a:solidFill>
              </a:rPr>
              <a:t>Promotion Ceiling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7" name="Google Shape;257;p30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You Have the Experience. The Master's Is What's Missing.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UNITAR's online MBA is designed for working professionals. No relocation. No career break.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MQA-accredited and fully online.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graphicFrame>
        <p:nvGraphicFramePr>
          <p:cNvPr id="259" name="Google Shape;259;p30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262" name="Google Shape;262;p30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0" title="UNILAD May Batch 2 - Pakistan MBA - AD 2 - 1x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75" y="675275"/>
            <a:ext cx="2603699" cy="260369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/>
          <p:nvPr/>
        </p:nvSpPr>
        <p:spPr>
          <a:xfrm>
            <a:off x="98175" y="3700581"/>
            <a:ext cx="2603700" cy="1350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- Add program code: (R-DL/0414/7/0306)(04/2033)(MQA/FA14345)</a:t>
            </a:r>
            <a:br>
              <a:rPr b="1" lang="en" sz="800">
                <a:solidFill>
                  <a:schemeClr val="dk1"/>
                </a:solidFill>
              </a:rPr>
            </a:br>
            <a:br>
              <a:rPr b="1" lang="en" sz="800">
                <a:solidFill>
                  <a:schemeClr val="dk1"/>
                </a:solidFill>
              </a:rPr>
            </a:br>
            <a:r>
              <a:rPr b="1" lang="en" sz="800">
                <a:solidFill>
                  <a:schemeClr val="dk1"/>
                </a:solidFill>
              </a:rPr>
              <a:t>- Update “No relocation” to “No relocation needed”</a:t>
            </a:r>
            <a:endParaRPr b="1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2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The Family Pride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1" name="Google Shape;271;p31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the Certificate Is in Hand, the Conversation Changes.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An MQA-accredited MBA from UNITAR. Fully online so you can study from home and graduate with credentials that matter.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graphicFrame>
        <p:nvGraphicFramePr>
          <p:cNvPr id="273" name="Google Shape;273;p31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31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276" name="Google Shape;276;p31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31" title="UNILAD May Batch 2 - Pakistan MBA - AD 3 - 1x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75" y="675275"/>
            <a:ext cx="2650201" cy="26502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1"/>
          <p:cNvSpPr/>
          <p:nvPr/>
        </p:nvSpPr>
        <p:spPr>
          <a:xfrm>
            <a:off x="98175" y="3700581"/>
            <a:ext cx="2603700" cy="1350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- Add program code: (R-DL/0414/7/0306)(04/2033)(MQA/FA14345)</a:t>
            </a:r>
            <a:endParaRPr b="1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2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The Family Pride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Imagine Sharing That News With Your Family.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UNITAR's online MBA. No visa. No relocation. Just a qualification your family will be proud of.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graphicFrame>
        <p:nvGraphicFramePr>
          <p:cNvPr id="287" name="Google Shape;287;p32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32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89" name="Google Shape;289;p32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290" name="Google Shape;290;p32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2" title="UNILAD May Batch 2 - Pakistan MBA - AD 4 - 1x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75" y="675275"/>
            <a:ext cx="2603699" cy="260369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2"/>
          <p:cNvSpPr/>
          <p:nvPr/>
        </p:nvSpPr>
        <p:spPr>
          <a:xfrm>
            <a:off x="98175" y="3700581"/>
            <a:ext cx="2603700" cy="1350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- Add program code: (R-DL/0414/7/0306)(04/2033)(MQA/FA14345)</a:t>
            </a:r>
            <a:br>
              <a:rPr b="1" lang="en" sz="800">
                <a:solidFill>
                  <a:schemeClr val="dk1"/>
                </a:solidFill>
              </a:rPr>
            </a:br>
            <a:br>
              <a:rPr b="1" lang="en" sz="800">
                <a:solidFill>
                  <a:schemeClr val="dk1"/>
                </a:solidFill>
              </a:rPr>
            </a:br>
            <a:r>
              <a:rPr b="1" lang="en" sz="800">
                <a:solidFill>
                  <a:schemeClr val="dk1"/>
                </a:solidFill>
              </a:rPr>
              <a:t>- Text at the bottom is too small to read and blending in with the background. Pls fix that.</a:t>
            </a:r>
            <a:endParaRPr b="1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3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The Price Anchor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99" name="Google Shape;299;p33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MBA From Malaysia. Not a Mortgage.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lang="en" sz="900">
                <a:solidFill>
                  <a:schemeClr val="dk1"/>
                </a:solidFill>
              </a:rPr>
              <a:t> Top MBAs in Pakistan can cost up to PKR 4.5 million. UNITAR's MQA-accredited online MBA is RM33,800 in total.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Study from home with no relocation and no break in income.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3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graphicFrame>
        <p:nvGraphicFramePr>
          <p:cNvPr id="301" name="Google Shape;301;p33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2" name="Google Shape;302;p33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303" name="Google Shape;303;p33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304" name="Google Shape;304;p33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33" title="UNILAD May Batch 2 - Pakistan MBA - AD 5 - 1x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75" y="675275"/>
            <a:ext cx="2603699" cy="26036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3"/>
          <p:cNvSpPr/>
          <p:nvPr/>
        </p:nvSpPr>
        <p:spPr>
          <a:xfrm>
            <a:off x="98175" y="3700581"/>
            <a:ext cx="2603700" cy="1350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- Add program code: (R-DL/0414/7/0306)(04/2033)(MQA/FA14345)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- Text is too small to read and blending in with the wall. Pls fix that.</a:t>
            </a:r>
            <a:endParaRPr b="1"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3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The Price Anchor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12" name="Google Shape;312;p34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13" name="Google Shape;313;p34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A Full MBA. One Price. No Hidden Semesters.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UNITAR's online MBA costs RM33,800 in total. MQA-accredited and fully online with no campus visits required. Quality first. A price that makes sense second.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4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graphicFrame>
        <p:nvGraphicFramePr>
          <p:cNvPr id="315" name="Google Shape;315;p34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317" name="Google Shape;317;p34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318" name="Google Shape;318;p34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34" title="UNILAD May Batch 2 - Pakistan MBA - AD 6 - 1x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75" y="675275"/>
            <a:ext cx="2603699" cy="260369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4"/>
          <p:cNvSpPr/>
          <p:nvPr/>
        </p:nvSpPr>
        <p:spPr>
          <a:xfrm>
            <a:off x="98175" y="3700581"/>
            <a:ext cx="2603700" cy="1350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- Add program code: (R-DL/0414/7/0306)(04/2033)(MQA/FA14345)</a:t>
            </a:r>
            <a:endParaRPr b="1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4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Credibility</a:t>
            </a:r>
            <a:r>
              <a:rPr b="1" lang="en" sz="900">
                <a:solidFill>
                  <a:schemeClr val="dk1"/>
                </a:solidFill>
              </a:rPr>
              <a:t> Factor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27" name="Google Shape;327;p35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Asia's First QS 5-Star Rated University for Online Learning.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Not all online degrees are equal. UNITAR is MQA-accredited and independently QS-rated, built for professionals who can't put their careers on hold.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5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graphicFrame>
        <p:nvGraphicFramePr>
          <p:cNvPr id="329" name="Google Shape;329;p35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0" name="Google Shape;330;p35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332" name="Google Shape;332;p35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35" title="UNILAD May Batch 2 - Pakistan MBA - AD 7 - 1x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75" y="675275"/>
            <a:ext cx="2603699" cy="260369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5"/>
          <p:cNvSpPr/>
          <p:nvPr/>
        </p:nvSpPr>
        <p:spPr>
          <a:xfrm>
            <a:off x="98175" y="3700581"/>
            <a:ext cx="2603700" cy="1350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- Add program code: (R-DL/0414/7/0306)(04/2033)(MQA/FA14345)</a:t>
            </a:r>
            <a:endParaRPr b="1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"/>
          <p:cNvSpPr txBox="1"/>
          <p:nvPr>
            <p:ph idx="1" type="body"/>
          </p:nvPr>
        </p:nvSpPr>
        <p:spPr>
          <a:xfrm>
            <a:off x="3007350" y="57675"/>
            <a:ext cx="325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Details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b="1" lang="en" sz="900">
                <a:solidFill>
                  <a:schemeClr val="dk1"/>
                </a:solidFill>
              </a:rPr>
              <a:t>4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900">
                <a:solidFill>
                  <a:schemeClr val="dk1"/>
                </a:solidFill>
              </a:rPr>
              <a:t>Credibility Factor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340" name="Google Shape;340;p36"/>
          <p:cNvSpPr/>
          <p:nvPr/>
        </p:nvSpPr>
        <p:spPr>
          <a:xfrm>
            <a:off x="98175" y="687225"/>
            <a:ext cx="2603700" cy="38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41" name="Google Shape;341;p36"/>
          <p:cNvSpPr txBox="1"/>
          <p:nvPr>
            <p:ph idx="1" type="body"/>
          </p:nvPr>
        </p:nvSpPr>
        <p:spPr>
          <a:xfrm>
            <a:off x="2945850" y="2299629"/>
            <a:ext cx="3253200" cy="2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Copy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Headline: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Malaysian MBA You Can Verify. Not Just Trust.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chemeClr val="dk1"/>
                </a:solidFill>
              </a:rPr>
              <a:t>UNITAR is QS 5-Star rated for online learning, the first in Asia. MQA-accredited.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Fully online with no visa, no relocation, and no campus visits required.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Elements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&lt;Unitar Logo&gt;</a:t>
            </a:r>
            <a:b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CTA BUTTON: "Apply Now"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6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graphicFrame>
        <p:nvGraphicFramePr>
          <p:cNvPr id="343" name="Google Shape;343;p36"/>
          <p:cNvGraphicFramePr/>
          <p:nvPr/>
        </p:nvGraphicFramePr>
        <p:xfrm>
          <a:off x="3007338" y="674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{AE11AE29-183F-4D18-BB4E-05CFDA7A71FF}</a:tableStyleId>
              </a:tblPr>
              <a:tblGrid>
                <a:gridCol w="1537875"/>
                <a:gridCol w="1220825"/>
              </a:tblGrid>
              <a:tr h="2391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 Summary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Dimensions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1080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1080 x 1920 pixels</a:t>
                      </a:r>
                      <a:b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1920 x 1080 pixels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to Callout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Mechanic Validity Period</a:t>
                      </a:r>
                      <a:endParaRPr sz="8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TBC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4" name="Google Shape;344;p36"/>
          <p:cNvSpPr txBox="1"/>
          <p:nvPr>
            <p:ph idx="1" type="body"/>
          </p:nvPr>
        </p:nvSpPr>
        <p:spPr>
          <a:xfrm>
            <a:off x="6443125" y="-225"/>
            <a:ext cx="26037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 u="sng">
                <a:solidFill>
                  <a:schemeClr val="dk1"/>
                </a:solidFill>
              </a:rPr>
              <a:t>Ad Details</a:t>
            </a:r>
            <a:endParaRPr b="1" sz="7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Post Copy: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Headline: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CTA: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Page Link: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00"/>
              <a:buNone/>
            </a:pPr>
            <a:r>
              <a:rPr b="1" lang="en" sz="700">
                <a:solidFill>
                  <a:schemeClr val="dk1"/>
                </a:solidFill>
              </a:rPr>
              <a:t>Final Asset Link: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6619969" y="2923763"/>
            <a:ext cx="22500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*UNITAR Font Options*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Poppins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- Century Gothic</a:t>
            </a:r>
            <a:endParaRPr b="1" sz="1100"/>
          </a:p>
        </p:txBody>
      </p:sp>
      <p:sp>
        <p:nvSpPr>
          <p:cNvPr id="346" name="Google Shape;346;p36"/>
          <p:cNvSpPr txBox="1"/>
          <p:nvPr/>
        </p:nvSpPr>
        <p:spPr>
          <a:xfrm>
            <a:off x="0" y="0"/>
            <a:ext cx="2603700" cy="441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AD1 - 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Dimension: 1:1 (Square) / 1080 x 1080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36" title="UNILAD May Batch 2 - Pakistan MBA - AD 8 - 1x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75" y="675275"/>
            <a:ext cx="2603699" cy="260369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6"/>
          <p:cNvSpPr/>
          <p:nvPr/>
        </p:nvSpPr>
        <p:spPr>
          <a:xfrm>
            <a:off x="98175" y="3700581"/>
            <a:ext cx="2603700" cy="1350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Feedback from UNITAR: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- </a:t>
            </a:r>
            <a:r>
              <a:rPr b="1" lang="en" sz="800"/>
              <a:t>Add program code: (R-DL/0414/7/0306)(04/2033)(MQA/FA14345)</a:t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- Update headline to:</a:t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“A Malaysian MBA You Can Verify And Trust.</a:t>
            </a:r>
            <a:endParaRPr b="1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