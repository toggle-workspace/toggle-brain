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toggle-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1371600" cy="3754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2176272"/>
            <a:ext cx="78299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4A7BF7"/>
                </a:solidFill>
                <a:latin typeface="Inter Tight"/>
              </a:rPr>
              <a:t>RESEARCH BRIEF · 24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78608"/>
            <a:ext cx="848246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Inter Tight"/>
              </a:rPr>
              <a:t>Kojo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Inter Tight"/>
              </a:rPr>
              <a:t>Materials procurement software for </a:t>
            </a:r>
            <a:r>
              <a:rPr sz="2700" b="1" i="0">
                <a:solidFill>
                  <a:srgbClr val="4A7BF7"/>
                </a:solidFill>
                <a:latin typeface="Inter Tight"/>
              </a:rPr>
              <a:t>trade contractors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17136"/>
            <a:ext cx="674247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0B8C9"/>
                </a:solidFill>
                <a:latin typeface="Inter Tight"/>
              </a:rPr>
              <a:t>Prepared for the introduction call with Alex Ioannidis, Head of Marketing at Kojo. Everything here comes from public sources, so treat the numbers as a starting point and confirm them on the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650992"/>
            <a:ext cx="2834640" cy="18288"/>
          </a:xfrm>
          <a:prstGeom prst="rect">
            <a:avLst/>
          </a:prstGeom>
          <a:solidFill>
            <a:srgbClr val="2A3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797296"/>
            <a:ext cx="8699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0A8"/>
                </a:solidFill>
                <a:latin typeface="Inter Tight"/>
              </a:rPr>
              <a:t>Toggle Solutions · Referred by Lawrence · Decision needed before 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WHO THEY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Kojo sells the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buying system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 behind a construction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Trade contractors use Kojo to request, order, receive and pay for the materials that go into a building. It replaces the texts, spreadsheets and emailed PDFs that move that work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usekojo.com · Contrary Research company report · TechCrunch · Pulse2 (Wesco Series C extension)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21408"/>
            <a:ext cx="5491854" cy="221284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21408"/>
            <a:ext cx="5491854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77439"/>
            <a:ext cx="501636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The problem, as a contractor lives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4A4A4A"/>
                </a:solidFill>
                <a:latin typeface="Inter Tight"/>
              </a:rPr>
              <a:t>A foreman texts a material list from site. Someone in the office retypes it into an email. The supplier replies with a PDF quote. Weeks later an invoice arrives and nobody checks it against the quote or against what was delivered.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A4A"/>
                </a:solidFill>
                <a:latin typeface="Inter Tight"/>
              </a:rPr>
              <a:t>Materials are roughly 40% of what a project costs, so every error in that chain lands straight on the margin.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9678" y="2121408"/>
            <a:ext cx="5163648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2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7422" y="2377439"/>
            <a:ext cx="4688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The company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Founded 2018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in San Francisco as Agora, renamed Kojo in 2022 when it moved beyond electrical.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Maria Davidson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is co-founder and CEO, ex Goldman Sachs and 8VC.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$83.6 million raised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across four rounds. Battery Ventures led the $39M Series C.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Wesco International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, the distributor, put in $10M in October 2025 and is also a supply partner.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About 150 staff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, selling into the United States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2581579" cy="117043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43984"/>
            <a:ext cx="41148" cy="117043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590288"/>
            <a:ext cx="219753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$2B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Material orders processed a year (March 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2827" y="4443984"/>
            <a:ext cx="2581579" cy="117043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2827" y="4443984"/>
            <a:ext cx="41148" cy="117043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2283" y="4590288"/>
            <a:ext cx="219753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25,000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Projects powered, across 47 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7287" y="4443984"/>
            <a:ext cx="2581579" cy="117043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287" y="4443984"/>
            <a:ext cx="41148" cy="1170432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6743" y="4590288"/>
            <a:ext cx="219753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15,000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Construction professionals on the platform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747" y="4443984"/>
            <a:ext cx="2581579" cy="117043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51747" y="4443984"/>
            <a:ext cx="41148" cy="1170432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203" y="4590288"/>
            <a:ext cx="219753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$30M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Saved for customers on material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WHAT THEY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Seven modules,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one record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 of every dollar of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Contractors rarely buy all seven at once. Purchasing and Field usually land first, then Accounting, and Warehouse and Prefab follow as the account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6B7280"/>
                </a:solidFill>
                <a:latin typeface="Inter Tight"/>
              </a:rPr>
              <a:t>Toggle × Kojo · Research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3969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39696"/>
            <a:ext cx="2581579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40864"/>
            <a:ext cx="2179243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Field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foreman orders materials from a phone, tagged to the right job, without calling the office.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7" y="213969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2827" y="2139696"/>
            <a:ext cx="2581579" cy="502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3995" y="2340864"/>
            <a:ext cx="2179243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Purchasing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office turns those requests into quotes, compares vendor prices and issues the purchase order.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13969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139696"/>
            <a:ext cx="2581579" cy="50292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8455" y="2340864"/>
            <a:ext cx="2179243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Accounting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Every invoice is matched against the purchase order and the delivery note before anyone pays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747" y="213969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747" y="2139696"/>
            <a:ext cx="2581579" cy="50292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2915" y="2340864"/>
            <a:ext cx="2179243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Warehouse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Stock counts, transfers between jobs and a record of what left the yard and where it went.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87705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877056"/>
            <a:ext cx="2581579" cy="50292"/>
          </a:xfrm>
          <a:prstGeom prst="rect">
            <a:avLst/>
          </a:prstGeom>
          <a:solidFill>
            <a:srgbClr val="F5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078224"/>
            <a:ext cx="217924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Prefab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assembly shop takes a requisition, builds the assembly and ships it to site as one tracked item.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2827" y="387705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22827" y="3877056"/>
            <a:ext cx="2581579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3995" y="4078224"/>
            <a:ext cx="217924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Tool Tracking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Who holds which tool, which job it sits on and when it was last serviced.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3877056"/>
            <a:ext cx="2581579" cy="15727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877056"/>
            <a:ext cx="2581579" cy="502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8455" y="4078224"/>
            <a:ext cx="217924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Operations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project manager sees committed cost, delivery dates and where a job is drifting.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1747" y="3877055"/>
            <a:ext cx="2581579" cy="1572768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51747" y="3877055"/>
            <a:ext cx="2581579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2915" y="4096511"/>
            <a:ext cx="2179243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Why it holds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Each module adds seats and adds data. Once purchase history and vendor pricing sit in Kojo, moving out means losing the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The integrations are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the switching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Kojo only works if the money it moves shows up where finance and the project manager already look. Three connection types carry that weight.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usekojo.com/integrations · Procore Marketplace listing · Wesco Series C extension announcement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39696"/>
            <a:ext cx="3478682" cy="241401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139696"/>
            <a:ext cx="3478682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77439"/>
            <a:ext cx="303977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ERP AND ACCOUNTING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0F0F"/>
                </a:solidFill>
                <a:latin typeface="Inter Tight"/>
              </a:rPr>
              <a:t>13 systems connected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Sage Intacct, Sage 300 CRE, Sage 100, QuickBooks Online and Desktop, Vista, Spectrum, Acumatica, CMiC, Foundation, Deltek ComputerEase, eCMS, Access Coins.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What the customer gets: 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Orders and costs land in the accounting system within minutes, so job cost is current instead of a month behind.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6506" y="2139696"/>
            <a:ext cx="3478682" cy="241401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6506" y="2139696"/>
            <a:ext cx="3478682" cy="502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2377439"/>
            <a:ext cx="303977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PROJECT MANAGEMENT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0F0F"/>
                </a:solidFill>
                <a:latin typeface="Inter Tight"/>
              </a:rPr>
              <a:t>Procore and Autodesk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Purchase orders sync into Procore commitments and the project budget. Kojo is listed on the Procore marketplace.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What the customer gets: 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The project manager sees committed cost without asking purchasing, which is how Kojo gets in front of general contractors.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4644" y="2139696"/>
            <a:ext cx="3478682" cy="241401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4644" y="2139696"/>
            <a:ext cx="3478682" cy="50292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4100" y="2377439"/>
            <a:ext cx="303977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SUPPLIERS AND DISTRIBUTORS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0F0F"/>
                </a:solidFill>
                <a:latin typeface="Inter Tight"/>
              </a:rPr>
              <a:t>10 named partners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Wesco, Graybar, Rexel, Border States, Hajoca, Mayer, Dakota Supply, US Electrical Services, Crawford, Professional Contractor Supply.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What the customer gets: 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Live catalog pricing and stock at the moment of ordering. This is where the 3.5% material saving and the caught invoice errors come from.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791456"/>
            <a:ext cx="10874959" cy="658368"/>
          </a:xfrm>
          <a:prstGeom prst="rect">
            <a:avLst/>
          </a:prstGeom>
          <a:solidFill>
            <a:srgbClr val="DDE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791456"/>
            <a:ext cx="45720" cy="65836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10328"/>
            <a:ext cx="1041775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Wesco is a supply partner and an investor. </a:t>
            </a:r>
            <a:r>
              <a:rPr sz="1200" b="0" i="0">
                <a:solidFill>
                  <a:srgbClr val="0F0F0F"/>
                </a:solidFill>
                <a:latin typeface="Inter Tight"/>
              </a:rPr>
              <a:t>A distributor putting $10 million into the software its customers buy through is a channel Toggle can market against, and a story most competitors cannot copy.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USP AND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They sell a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number the CFO can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Every claim on the site is a percentage of money saved. That is the right instinct, and it gives Toggle something rare in B2B, a headline a buyer can verify.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usekojo.com homepage claims · Kojo invoice-matching data · the $50M example is a Toggle illustration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84831"/>
            <a:ext cx="2057948" cy="107899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84831"/>
            <a:ext cx="41148" cy="10789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231136"/>
            <a:ext cx="167390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75%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Less manual data 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2620" y="2084831"/>
            <a:ext cx="2057948" cy="107899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620" y="2084831"/>
            <a:ext cx="41148" cy="10789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82076" y="2231136"/>
            <a:ext cx="167390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4 hrs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Saved per foreman, per week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6873" y="2084831"/>
            <a:ext cx="2057948" cy="107899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6873" y="2084831"/>
            <a:ext cx="41148" cy="1078992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6329" y="2231136"/>
            <a:ext cx="167390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3.5%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Saved on materials each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1125" y="2084831"/>
            <a:ext cx="2057948" cy="107899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1125" y="2084831"/>
            <a:ext cx="41148" cy="1078992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0581" y="2231136"/>
            <a:ext cx="167390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3%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Saved by catching invoice errors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75378" y="2084831"/>
            <a:ext cx="2057948" cy="1078992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75378" y="2084831"/>
            <a:ext cx="41148" cy="1078992"/>
          </a:xfrm>
          <a:prstGeom prst="rect">
            <a:avLst/>
          </a:prstGeom>
          <a:solidFill>
            <a:srgbClr val="F59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4834" y="2231136"/>
            <a:ext cx="167390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27%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Of invoices carry a discrepancy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19856"/>
            <a:ext cx="5981227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657600"/>
            <a:ext cx="55057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The claim nobody else can make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4A4A4A"/>
                </a:solidFill>
                <a:latin typeface="Inter Tight"/>
              </a:rPr>
              <a:t>Procurement built on an MEP parts catalog, with a live distributor network behind the price, covering the chain from the foreman's phone to the paid invoice. Procore owns the project record. Kojo owns the material record.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A4A"/>
                </a:solidFill>
                <a:latin typeface="Inter Tight"/>
              </a:rPr>
              <a:t>Benefit by role: the foreman gets his afternoon back, purchasing gets a price comparison, finance stops paying for errors, operations sees committed cost the same week.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9051" y="3419856"/>
            <a:ext cx="4674275" cy="1737360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9051" y="3419856"/>
            <a:ext cx="4674275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96795" y="3675888"/>
            <a:ext cx="419878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The math to say out loud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0F0F"/>
                </a:solidFill>
                <a:latin typeface="Inter Tight"/>
              </a:rPr>
              <a:t>A contractor doing $50 million a year spends about $20 million on materials. Kojo's own 3.5% saving is $700,000. That is the line that gets a COO to take the demo, and it is the angle most of their ads are not running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A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nameable list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 of a few thousand US contractors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The buyer can be listed by trade, revenue band and state, which decides how Toggle would spend the money. Broad reach is the wrong instrument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usekojo.com customer pages · Contrary Research · NECA and MCAA partnership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66543"/>
            <a:ext cx="3478682" cy="250545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66543"/>
            <a:ext cx="3478682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FIRMOGRAPHICS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87168"/>
            <a:ext cx="3076346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0F0F"/>
                </a:solidFill>
                <a:latin typeface="Inter Tight"/>
              </a:rPr>
              <a:t>Who buys it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Specialty trade contractors and self-perform general contractors.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Electrical, mechanical and plumbing lead. Concrete, drywall, glazing, roofing and flooring follow.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Commercial work: hospitals, schools, stadiums, offices and multifamily. Not home repair.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Roughly $10M to $500M in revenue, big enough to employ a purchasing manager and run a warehouse.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6506" y="2066543"/>
            <a:ext cx="3478682" cy="250545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6506" y="2066543"/>
            <a:ext cx="3478682" cy="502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7674" y="2267712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BUYING COMMITTEE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7674" y="2487168"/>
            <a:ext cx="3076346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0F0F"/>
                </a:solidFill>
                <a:latin typeface="Inter Tight"/>
              </a:rPr>
              <a:t>Who signs and who blocks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COO or VP of Operations holds the budget and feels the margin loss.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Purchasing manager is the daily user and the internal champion.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CFO or controller buys the invoice-matching story.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Warehouse manager owns inventory accuracy.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field foreman decides whether it survives. If he will not use the app, the account churns.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4644" y="2066543"/>
            <a:ext cx="3478682" cy="250545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4644" y="2066543"/>
            <a:ext cx="3478682" cy="50292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5812" y="2267712"/>
            <a:ext cx="307634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REGIONS AND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812" y="2487168"/>
            <a:ext cx="3076346" cy="1901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0F0F"/>
                </a:solidFill>
                <a:latin typeface="Inter Tight"/>
              </a:rPr>
              <a:t>Where they are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United States only, active in 47 states. No stated international push.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Density sits in Texas, Florida, California, the Carolinas and the Northeast corridor.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They gather at NECA for electrical and MCAA for mechanical, both already Kojo partners, plus Procore Groundbreak and the distributor counter.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buyer skews 40 plus and has little patience for software that adds steps.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846320"/>
            <a:ext cx="10874959" cy="603504"/>
          </a:xfrm>
          <a:prstGeom prst="rect">
            <a:avLst/>
          </a:prstGeom>
          <a:solidFill>
            <a:srgbClr val="DDE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846320"/>
            <a:ext cx="45720" cy="603504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965192"/>
            <a:ext cx="104177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For marketing this means: </a:t>
            </a:r>
            <a:r>
              <a:rPr sz="1200" b="0" i="0">
                <a:solidFill>
                  <a:srgbClr val="0F0F0F"/>
                </a:solidFill>
                <a:latin typeface="Inter Tight"/>
              </a:rPr>
              <a:t>account based targeting against a named list beats broad prospecting, and the trade associations are a paid channel Kojo already has a relationship with.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Two challengers,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one platform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, and a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Most lost deals go to a contractor who decides Excel and a phone call are good enough, so the campaign has to argue against the status quo before it argues against a vendor.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Contrary Research competitor section · Capterra and TrustRadius alternative listings · Procore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103120"/>
            <a:ext cx="10872216" cy="310896"/>
          </a:xfrm>
          <a:prstGeom prst="rect">
            <a:avLst/>
          </a:prstGeom>
          <a:solidFill>
            <a:srgbClr val="0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185415"/>
            <a:ext cx="16550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2185415"/>
            <a:ext cx="1472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3" y="2185415"/>
            <a:ext cx="51755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WHAT THEY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7504" y="2185415"/>
            <a:ext cx="16916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TOGGLE'S 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14015"/>
            <a:ext cx="1087221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487168"/>
            <a:ext cx="16550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StructShare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2487168"/>
            <a:ext cx="14721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Direct challenger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3" y="2487168"/>
            <a:ext cx="5175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Founded 2017, about $8M raised. Same MEP procurement job, lighter on inventory and warehouse.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2487168"/>
            <a:ext cx="1691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Kojo wins on depth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17520"/>
            <a:ext cx="10872216" cy="603504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090672"/>
            <a:ext cx="16550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Field 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3" y="3090672"/>
            <a:ext cx="14721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Direct challenger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3" y="3090672"/>
            <a:ext cx="5175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Founded 2022, about $4.7M raised. AI-first quote and invoice capture, thinner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3090672"/>
            <a:ext cx="1691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Kojo wins on breadth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621024"/>
            <a:ext cx="1087221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694176"/>
            <a:ext cx="16550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Procore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3" y="3694176"/>
            <a:ext cx="14721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Platform incumbent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3" y="3694176"/>
            <a:ext cx="5175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Public, about $11.5B market cap. Owns the project record and sells procurement inside it. Also a formal integration partner.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3694176"/>
            <a:ext cx="1691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Partner and threat at once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224528"/>
            <a:ext cx="10872216" cy="603504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297680"/>
            <a:ext cx="165506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Excel, phone,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0903" y="4297680"/>
            <a:ext cx="147218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The real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3" y="4297680"/>
            <a:ext cx="5175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No licence fee, no rollout, no foreman to train. Costs the contractor 3 to 4% of materials and nobody has measured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4297680"/>
            <a:ext cx="1691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Where the budget actually sits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065776"/>
            <a:ext cx="5327751" cy="10241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065776"/>
            <a:ext cx="41148" cy="1024128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230368"/>
            <a:ext cx="490712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F0F0F"/>
                </a:solidFill>
                <a:latin typeface="Inter Tight"/>
              </a:rPr>
              <a:t>Watch list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Trimble and Autodesk can bundle procurement into suites contractors already pay for. ToolWatch competes on tool tracking alone. Vergo, CostCrunch and DigiBuild are early but loud on AI.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5575" y="5065776"/>
            <a:ext cx="5327751" cy="1024128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5575" y="5065776"/>
            <a:ext cx="41148" cy="10241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5031" y="5230368"/>
            <a:ext cx="4907127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3056C9"/>
                </a:solidFill>
                <a:latin typeface="Inter Tight"/>
              </a:rPr>
              <a:t>What this hands the campaign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Competitor search volume is small. The money goes on problem-aware terms and on creating demand among contractors who do not yet know this category exists.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A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$1.6 billion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 software market sitting on a $3.9 trillion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The software category is small and growing steadily. The pool of money it manages is enormous, which is why the savings pitch outperforms a software pitch.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spc="30">
                <a:solidFill>
                  <a:srgbClr val="6B7280"/>
                </a:solidFill>
                <a:latin typeface="Inter Tight"/>
              </a:rPr>
              <a:t>Sources: Research and Markets and GM Insights procurement software forecasts · Contrary Research · US Census NAICS 2382 · Dun and Bradstreet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66543"/>
            <a:ext cx="2581579" cy="11155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66543"/>
            <a:ext cx="41148" cy="111556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212848"/>
            <a:ext cx="2197531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$1.62B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Construction procurement software market,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2827" y="2066543"/>
            <a:ext cx="2581579" cy="11155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2827" y="2066543"/>
            <a:ext cx="41148" cy="111556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2283" y="2212848"/>
            <a:ext cx="2197531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$2.60B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Same market by 2032, about 8.2% a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2066543"/>
            <a:ext cx="2581579" cy="11155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2066543"/>
            <a:ext cx="41148" cy="1115568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743" y="2212848"/>
            <a:ext cx="2197531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$24.2B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Wider construction tech by 2033, 16.9% a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747" y="2066543"/>
            <a:ext cx="2581579" cy="11155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51747" y="2066543"/>
            <a:ext cx="41148" cy="1115568"/>
          </a:xfrm>
          <a:prstGeom prst="rect">
            <a:avLst/>
          </a:prstGeom>
          <a:solidFill>
            <a:srgbClr val="F2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203" y="2212848"/>
            <a:ext cx="2197531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F0F0F"/>
                </a:solidFill>
                <a:latin typeface="Inter Tight"/>
              </a:rPr>
              <a:t>$3.9T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Inter Tight"/>
              </a:rPr>
              <a:t>Global spend on construction materials each year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1568"/>
            <a:ext cx="565497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21024"/>
            <a:ext cx="517949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How many companies could actually buy it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331,067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building equipment contractor establishments in the US (NAICS 2382).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120,172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electrical and 208,058 plumbing, heating and air conditioning firms sit inside that.</a:t>
            </a:r>
          </a:p>
          <a:p>
            <a:pPr algn="l" marL="155448" indent="-155448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4A7BF7"/>
                </a:solidFill>
                <a:latin typeface="Inter Tight"/>
              </a:rPr>
              <a:t>▪  </a:t>
            </a:r>
            <a:r>
              <a:rPr sz="950" b="1" i="0">
                <a:solidFill>
                  <a:srgbClr val="0F0F0F"/>
                </a:solidFill>
                <a:latin typeface="Inter Tight"/>
              </a:rPr>
              <a:t>About 945,000</a:t>
            </a:r>
            <a:r>
              <a:rPr sz="950" b="0" i="0">
                <a:solidFill>
                  <a:srgbClr val="4A4A4A"/>
                </a:solidFill>
                <a:latin typeface="Inter Tight"/>
              </a:rPr>
              <a:t> specialty trade contractor records overall, most of them too small to buy.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2802" y="3401568"/>
            <a:ext cx="5000524" cy="1828800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2802" y="3401568"/>
            <a:ext cx="5000524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0546" y="3639312"/>
            <a:ext cx="452503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The number that matters for media planning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0F0F0F"/>
                </a:solidFill>
                <a:latin typeface="Inter Tight"/>
              </a:rPr>
              <a:t>Only contractors with a purchasing function and a warehouse are real buyers. Take 5% of the 331,067 and the target is roughly 16,500 companies. Kojo counts customers in the hundreds, so penetration is still low single digits.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56C9"/>
                </a:solidFill>
                <a:latin typeface="Inter Tight"/>
              </a:rPr>
              <a:t>The 5% is Toggle's assumption and Alex should correct it with their own list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WHAT TOGGLE WOULD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F0F0F"/>
                </a:solidFill>
                <a:latin typeface="Inter Tight"/>
              </a:rPr>
              <a:t>Prove the pipeline, </a:t>
            </a:r>
            <a:r>
              <a:rPr sz="3000" b="1" i="0">
                <a:solidFill>
                  <a:srgbClr val="3056C9"/>
                </a:solidFill>
                <a:latin typeface="Inter Tight"/>
              </a:rPr>
              <a:t>then buy the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Their Demand Gen Manager leaves on 5 October, so the first job is making sure nothing goes unowned. Say this out loud if Alex asks what we would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6B7280"/>
                </a:solidFill>
                <a:latin typeface="Inter Tight"/>
              </a:rPr>
              <a:t>Toggle × Kojo · Research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66543"/>
            <a:ext cx="3490874" cy="20299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66543"/>
            <a:ext cx="3490874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30885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DAYS 1 TO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87168"/>
            <a:ext cx="3088538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Take the handover and fix the measurement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One tracking spec across GA4, the site and the CRM.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Self-reported attribution on the demo form, because nothing else catches association and webinar pipeline.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One dashboard that reports pipeline by source, so October does not lose the history.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0410" y="2066543"/>
            <a:ext cx="3490874" cy="20299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2066543"/>
            <a:ext cx="3490874" cy="50292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2267712"/>
            <a:ext cx="30885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DAYS 31 TO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1578" y="2487168"/>
            <a:ext cx="3088538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Capture the demand that already exists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Google and Microsoft search on the terms a purchasing manager types, including Procore materials integration and competitor names.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Bing matters here. This buyer works on a desktop in an office.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Rebuild the demo page and the trade landing pages around the savings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2452" y="2066543"/>
            <a:ext cx="3490874" cy="202996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2452" y="2066543"/>
            <a:ext cx="3490874" cy="50292"/>
          </a:xfrm>
          <a:prstGeom prst="rect">
            <a:avLst/>
          </a:prstGeom>
          <a:solidFill>
            <a:srgbClr val="8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3620" y="2267712"/>
            <a:ext cx="308853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3056C9"/>
                </a:solidFill>
                <a:latin typeface="Inter Tight"/>
              </a:rPr>
              <a:t>DAYS 61 TO 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620" y="2487168"/>
            <a:ext cx="3088538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0F0F"/>
                </a:solidFill>
                <a:latin typeface="Inter Tight"/>
              </a:rPr>
              <a:t>Create demand across the named list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LinkedIn account based campaigns against the contractor list, split by trade and revenue band.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Meta and YouTube for the foreman audience, who are not on LinkedIn during the day.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Cut the webinars and customer stories into short video, and put Alex and the founder on LinkedIn weekly.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224528"/>
            <a:ext cx="6949440" cy="292608"/>
          </a:xfrm>
          <a:prstGeom prst="rect">
            <a:avLst/>
          </a:prstGeom>
          <a:solidFill>
            <a:srgbClr val="0A1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306824"/>
            <a:ext cx="206654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MEDIA LINE, PER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4306824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LEAN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306824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306824"/>
            <a:ext cx="13350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FFFFFF"/>
                </a:solidFill>
                <a:latin typeface="Inter Tight"/>
              </a:rPr>
              <a:t>SCALE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517136"/>
            <a:ext cx="694944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590288"/>
            <a:ext cx="2066543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Google and Microsoft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384" y="4590288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$8,000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590288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$12,000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4590288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$18,000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805172"/>
            <a:ext cx="6949440" cy="28803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878324"/>
            <a:ext cx="2066543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LinkedIn, account 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4878324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$4,000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4878324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$8,000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4878324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$14,000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093208"/>
            <a:ext cx="6949440" cy="2880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166360"/>
            <a:ext cx="2066543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Meta, YouTube, retargeting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2384" y="5166360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$2,500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6864" y="5166360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$4,000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1344" y="5166360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$7,000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381244"/>
            <a:ext cx="6949440" cy="288036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454396"/>
            <a:ext cx="2066543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Creative and testing reserve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72384" y="5454396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5454396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$1,000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344" y="5454396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A4A"/>
                </a:solidFill>
                <a:latin typeface="Inter Tight"/>
              </a:rPr>
              <a:t>$1,000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669280"/>
            <a:ext cx="6949440" cy="288036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742432"/>
            <a:ext cx="2066543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Monthly media 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2384" y="5742432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$15,000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6864" y="5742432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$25,000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81344" y="5742432"/>
            <a:ext cx="1335024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0F0F"/>
                </a:solidFill>
                <a:latin typeface="Inter Tight"/>
              </a:rPr>
              <a:t>$40,000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5552" y="4224528"/>
            <a:ext cx="3687775" cy="1828800"/>
          </a:xfrm>
          <a:prstGeom prst="rect">
            <a:avLst/>
          </a:prstGeom>
          <a:solidFill>
            <a:srgbClr val="DDE5FE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45552" y="4224528"/>
            <a:ext cx="3687775" cy="50292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65008" y="4443984"/>
            <a:ext cx="3248863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056C9"/>
                </a:solidFill>
                <a:latin typeface="Inter Tight"/>
              </a:rPr>
              <a:t>How to frame the money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Recommend the core tier: $25,000 a month in media on a 90 day commitment, every new line carrying a kill date. Toggle's fee gets quoted once we see the accounts.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56C9"/>
                </a:solidFill>
                <a:latin typeface="Inter Tight"/>
              </a:rPr>
              <a:t>These are Toggle's planning numbers. Ask Alex for current spend before committing to any of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ggle-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199" y="420624"/>
            <a:ext cx="1024128" cy="2803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3056C9"/>
                </a:solidFill>
                <a:latin typeface="Inter Tight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056C9"/>
                </a:solidFill>
                <a:latin typeface="Inter Tight"/>
              </a:rPr>
              <a:t>Ten questions </a:t>
            </a:r>
            <a:r>
              <a:rPr sz="3000" b="1" i="0">
                <a:solidFill>
                  <a:srgbClr val="0F0F0F"/>
                </a:solidFill>
                <a:latin typeface="Inter Tight"/>
              </a:rPr>
              <a:t>for Alex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93524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4A"/>
                </a:solidFill>
                <a:latin typeface="Inter Tight"/>
              </a:rPr>
              <a:t>Answers to the first four decide whether Toggle can quote at all. The rest shape the scope.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199632"/>
            <a:ext cx="10874959" cy="10972"/>
          </a:xfrm>
          <a:prstGeom prst="rect">
            <a:avLst/>
          </a:prstGeom>
          <a:solidFill>
            <a:srgbClr val="E4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09360"/>
            <a:ext cx="9352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 spc="30">
                <a:solidFill>
                  <a:srgbClr val="6B7280"/>
                </a:solidFill>
                <a:latin typeface="Inter Tight"/>
              </a:rPr>
              <a:t>Toggle × Kojo · Research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687" y="63093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0F0F"/>
                </a:solidFill>
                <a:latin typeface="Inter Tight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29968"/>
            <a:ext cx="5327751" cy="5669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29968"/>
            <a:ext cx="41148" cy="5669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30552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does pipeline look like by source today, and which source do you actually trust?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53277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97480"/>
            <a:ext cx="41148" cy="5669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7121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98064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is the average contract value and how long does it take to go from demo request to signature?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364992"/>
            <a:ext cx="5327751" cy="5669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364992"/>
            <a:ext cx="41148" cy="5669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5387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65576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How many accounts are on the target list, and how do you segment it by trade and revenue?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32504"/>
            <a:ext cx="53277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032504"/>
            <a:ext cx="41148" cy="5669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20624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133088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is the split between new logos and expansion inside contractors you already have?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700016"/>
            <a:ext cx="5327751" cy="5669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0016"/>
            <a:ext cx="41148" cy="566928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8737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800600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is monthly media spend now, across which platforms, and who has been running it?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5575" y="2029968"/>
            <a:ext cx="53277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5575" y="2029968"/>
            <a:ext cx="41148" cy="56692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6743" y="220370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7367" y="2130552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does the Demand Gen Manager own that becomes unowned on 5 October?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5575" y="2697480"/>
            <a:ext cx="5327751" cy="5669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5575" y="2697480"/>
            <a:ext cx="41148" cy="56692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6743" y="2871216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7367" y="2798064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Which channel has produced the best closed-won so far: associations, webinars, search or outbound?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5575" y="3364992"/>
            <a:ext cx="53277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5575" y="3364992"/>
            <a:ext cx="41148" cy="56692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6743" y="35387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7367" y="3465576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How much pipeline comes through Procore, Autodesk and the distributors, and is Wesco a live co-marketing channel?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05575" y="4032504"/>
            <a:ext cx="5327751" cy="566928"/>
          </a:xfrm>
          <a:prstGeom prst="rect">
            <a:avLst/>
          </a:prstGeom>
          <a:solidFill>
            <a:srgbClr val="F2F3F6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5575" y="4032504"/>
            <a:ext cx="41148" cy="56692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20624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27367" y="4133088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percentage of demo requests become qualified opportunities, and where do the rest fall out?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5575" y="4700016"/>
            <a:ext cx="532775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5575" y="4700016"/>
            <a:ext cx="41148" cy="566928"/>
          </a:xfrm>
          <a:prstGeom prst="rect">
            <a:avLst/>
          </a:prstGeom>
          <a:solidFill>
            <a:srgbClr val="2ECC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6743" y="487375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27367" y="4800600"/>
            <a:ext cx="4486503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0F0F"/>
                </a:solidFill>
                <a:latin typeface="Inter Tight"/>
              </a:rPr>
              <a:t>What number would make this a clear win for you by the end of the quarter?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541264"/>
            <a:ext cx="10874959" cy="512064"/>
          </a:xfrm>
          <a:prstGeom prst="rect">
            <a:avLst/>
          </a:prstGeom>
          <a:solidFill>
            <a:srgbClr val="DDE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368" y="5541264"/>
            <a:ext cx="45720" cy="512064"/>
          </a:xfrm>
          <a:prstGeom prst="rect">
            <a:avLst/>
          </a:prstGeom>
          <a:solidFill>
            <a:srgbClr val="4A7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5660136"/>
            <a:ext cx="104177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056C9"/>
                </a:solidFill>
                <a:latin typeface="Inter Tight"/>
              </a:rPr>
              <a:t>Ask question 06 early. </a:t>
            </a:r>
            <a:r>
              <a:rPr sz="1200" b="0" i="0">
                <a:solidFill>
                  <a:srgbClr val="0F0F0F"/>
                </a:solidFill>
                <a:latin typeface="Inter Tight"/>
              </a:rPr>
              <a:t>A departure on 5 October with an overlap window is the reason this call is happening, and it tells Toggle how fast the scope has to start.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