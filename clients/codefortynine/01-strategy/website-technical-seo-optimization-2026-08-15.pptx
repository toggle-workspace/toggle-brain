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 front that this is a separate piece of work from the ongoing paid media, and that the two weeks are a start rather than a finish.
Update checklist:
The start date appears once here and once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matters because it separates this from the monthly retainer work. Say it out loud rather than leaving it on the slide.
Update checklist:
The page count of 10 comes from the signed scope and appears here and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of what changes for the client. Avoid going into implementation detail unless they ask.
Update checklist:
The three schema types listed in row one come from the signed scope and should match it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thing to secure here is agreement on which 10 pages are the core ones. Ask for that list or offer to propose it.
Update checklist:
The page count of 10 and the page types come from the signed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sets expectations. Say plainly that two weeks buys a start on this project, not a finished one, and that the audit and research have to come before anything gets implemented.
Update checklist:
The date split is the only thing that changes. Keep the left column to work that can begin without waiting on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page list so the conversation ends with something for them to send back.
Update checklist:
The page count of 10 appears here, on slide 2 and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ordan/Desktop/Claude Code/toggle-brain/assets/logos/toggle-wordmark-black.png"/>
          <p:cNvPicPr>
            <a:picLocks noChangeAspect="1"/>
          </p:cNvPicPr>
          <p:nvPr/>
        </p:nvPicPr>
        <p:blipFill>
          <a:blip r:embed="rId1"/>
          <a:stretch>
            <a:fillRect/>
          </a:stretch>
        </p:blipFill>
        <p:spPr>
          <a:xfrm>
            <a:off x="457200" y="384048"/>
            <a:ext cx="1188720" cy="325526"/>
          </a:xfrm>
          <a:prstGeom prst="rect">
            <a:avLst/>
          </a:prstGeom>
        </p:spPr>
      </p:pic>
      <p:pic>
        <p:nvPicPr>
          <p:cNvPr id="3" name="Image 1" descr="C:/Users/Jordan/Desktop/Claude Code/toggle-brain/assets/illustrations/step-form.png"/>
          <p:cNvPicPr>
            <a:picLocks noChangeAspect="1"/>
          </p:cNvPicPr>
          <p:nvPr/>
        </p:nvPicPr>
        <p:blipFill>
          <a:blip r:embed="rId2"/>
          <a:stretch>
            <a:fillRect/>
          </a:stretch>
        </p:blipFill>
        <p:spPr>
          <a:xfrm>
            <a:off x="5532120" y="1481328"/>
            <a:ext cx="2834640" cy="2194560"/>
          </a:xfrm>
          <a:prstGeom prst="rect">
            <a:avLst/>
          </a:prstGeom>
        </p:spPr>
      </p:pic>
      <p:sp>
        <p:nvSpPr>
          <p:cNvPr id="4" name="Text 0"/>
          <p:cNvSpPr/>
          <p:nvPr/>
        </p:nvSpPr>
        <p:spPr>
          <a:xfrm>
            <a:off x="457200" y="1572768"/>
            <a:ext cx="4754880" cy="566928"/>
          </a:xfrm>
          <a:prstGeom prst="rect">
            <a:avLst/>
          </a:prstGeom>
          <a:noFill/>
          <a:ln/>
        </p:spPr>
        <p:txBody>
          <a:bodyPr wrap="square" lIns="0" tIns="0" rIns="0" bIns="0" rtlCol="0" anchor="b"/>
          <a:lstStyle/>
          <a:p>
            <a:pPr indent="0" marL="0">
              <a:buNone/>
            </a:pPr>
            <a:r>
              <a:rPr lang="en-US" sz="3600" b="1" dirty="0">
                <a:solidFill>
                  <a:srgbClr val="4A7BF7"/>
                </a:solidFill>
                <a:latin typeface="Inter Tight" pitchFamily="34" charset="0"/>
                <a:ea typeface="Inter Tight" pitchFamily="34" charset="-122"/>
                <a:cs typeface="Inter Tight" pitchFamily="34" charset="-120"/>
              </a:rPr>
              <a:t>CodeFortyNine</a:t>
            </a:r>
            <a:endParaRPr lang="en-US" sz="3600" dirty="0"/>
          </a:p>
        </p:txBody>
      </p:sp>
      <p:sp>
        <p:nvSpPr>
          <p:cNvPr id="5" name="Text 1"/>
          <p:cNvSpPr/>
          <p:nvPr/>
        </p:nvSpPr>
        <p:spPr>
          <a:xfrm>
            <a:off x="457200" y="2157984"/>
            <a:ext cx="4754880" cy="896112"/>
          </a:xfrm>
          <a:prstGeom prst="rect">
            <a:avLst/>
          </a:prstGeom>
          <a:noFill/>
          <a:ln/>
        </p:spPr>
        <p:txBody>
          <a:bodyPr wrap="square" lIns="0" tIns="0" rIns="0" bIns="0" rtlCol="0" anchor="t"/>
          <a:lstStyle/>
          <a:p>
            <a:pPr indent="0" marL="0">
              <a:lnSpc>
                <a:spcPct val="105000"/>
              </a:lnSpc>
              <a:buNone/>
            </a:pPr>
            <a:r>
              <a:rPr lang="en-US" sz="3050" b="1" dirty="0">
                <a:solidFill>
                  <a:srgbClr val="0F0F0F"/>
                </a:solidFill>
                <a:latin typeface="Inter Tight" pitchFamily="34" charset="0"/>
                <a:ea typeface="Inter Tight" pitchFamily="34" charset="-122"/>
                <a:cs typeface="Inter Tight" pitchFamily="34" charset="-120"/>
              </a:rPr>
              <a:t>Website Technical SEO Optimization</a:t>
            </a:r>
            <a:endParaRPr lang="en-US" sz="3050" dirty="0"/>
          </a:p>
        </p:txBody>
      </p:sp>
      <p:sp>
        <p:nvSpPr>
          <p:cNvPr id="6" name="Text 2"/>
          <p:cNvSpPr/>
          <p:nvPr/>
        </p:nvSpPr>
        <p:spPr>
          <a:xfrm>
            <a:off x="457200" y="3255264"/>
            <a:ext cx="4572000" cy="457200"/>
          </a:xfrm>
          <a:prstGeom prst="rect">
            <a:avLst/>
          </a:prstGeom>
          <a:noFill/>
          <a:ln/>
        </p:spPr>
        <p:txBody>
          <a:bodyPr wrap="square" lIns="0" tIns="0" rIns="0" bIns="0" rtlCol="0" anchor="t"/>
          <a:lstStyle/>
          <a:p>
            <a:pPr indent="0" marL="0">
              <a:lnSpc>
                <a:spcPct val="125000"/>
              </a:lnSpc>
              <a:buNone/>
            </a:pPr>
            <a:r>
              <a:rPr lang="en-US" sz="850" dirty="0">
                <a:solidFill>
                  <a:srgbClr val="4A4A4A"/>
                </a:solidFill>
                <a:latin typeface="Inter Tight" pitchFamily="34" charset="0"/>
                <a:ea typeface="Inter Tight" pitchFamily="34" charset="-122"/>
                <a:cs typeface="Inter Tight" pitchFamily="34" charset="-120"/>
              </a:rPr>
              <a:t>A one off project with a fixed scope. Work begins on 15 August and runs past the first two weeks.</a:t>
            </a:r>
            <a:endParaRPr lang="en-US" sz="850" dirty="0"/>
          </a:p>
        </p:txBody>
      </p:sp>
      <p:sp>
        <p:nvSpPr>
          <p:cNvPr id="7" name="Text 3"/>
          <p:cNvSpPr/>
          <p:nvPr/>
        </p:nvSpPr>
        <p:spPr>
          <a:xfrm>
            <a:off x="457200" y="4315968"/>
            <a:ext cx="2560320" cy="219456"/>
          </a:xfrm>
          <a:prstGeom prst="rect">
            <a:avLst/>
          </a:prstGeom>
          <a:noFill/>
          <a:ln/>
        </p:spPr>
        <p:txBody>
          <a:bodyPr wrap="square" lIns="0" tIns="0" rIns="0" bIns="0" rtlCol="0" anchor="ctr"/>
          <a:lstStyle/>
          <a:p>
            <a:pPr indent="0" marL="0">
              <a:buNone/>
            </a:pPr>
            <a:r>
              <a:rPr lang="en-US" sz="750" dirty="0">
                <a:solidFill>
                  <a:srgbClr val="9AA0A8"/>
                </a:solidFill>
                <a:latin typeface="Inter Tight" pitchFamily="34" charset="0"/>
                <a:ea typeface="Inter Tight" pitchFamily="34" charset="-122"/>
                <a:cs typeface="Inter Tight" pitchFamily="34" charset="-120"/>
              </a:rPr>
              <a:t>[ Search Engine Optimization ]</a:t>
            </a:r>
            <a:endParaRPr lang="en-US" sz="750" dirty="0"/>
          </a:p>
        </p:txBody>
      </p:sp>
      <p:sp>
        <p:nvSpPr>
          <p:cNvPr id="8" name="Text 4"/>
          <p:cNvSpPr/>
          <p:nvPr/>
        </p:nvSpPr>
        <p:spPr>
          <a:xfrm>
            <a:off x="6492240" y="4315968"/>
            <a:ext cx="2194560" cy="219456"/>
          </a:xfrm>
          <a:prstGeom prst="rect">
            <a:avLst/>
          </a:prstGeom>
          <a:noFill/>
          <a:ln/>
        </p:spPr>
        <p:txBody>
          <a:bodyPr wrap="square" lIns="0" tIns="0" rIns="0" bIns="0"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Starting 15 August 2026 ]</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What the project covers</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Two workstreams inside one fixed scope. Each gets its own slide next.</a:t>
            </a:r>
            <a:endParaRPr lang="en-US" sz="850" dirty="0"/>
          </a:p>
        </p:txBody>
      </p:sp>
      <p:sp>
        <p:nvSpPr>
          <p:cNvPr id="5" name="Shape 3"/>
          <p:cNvSpPr/>
          <p:nvPr/>
        </p:nvSpPr>
        <p:spPr>
          <a:xfrm>
            <a:off x="457200" y="1243584"/>
            <a:ext cx="4005072" cy="1993392"/>
          </a:xfrm>
          <a:prstGeom prst="roundRect">
            <a:avLst>
              <a:gd name="adj" fmla="val 4128"/>
            </a:avLst>
          </a:prstGeom>
          <a:solidFill>
            <a:srgbClr val="F2F3F6"/>
          </a:solidFill>
          <a:ln/>
        </p:spPr>
      </p:sp>
      <p:sp>
        <p:nvSpPr>
          <p:cNvPr id="6" name="Shape 4"/>
          <p:cNvSpPr/>
          <p:nvPr/>
        </p:nvSpPr>
        <p:spPr>
          <a:xfrm>
            <a:off x="457200" y="1243584"/>
            <a:ext cx="4005072" cy="51206"/>
          </a:xfrm>
          <a:prstGeom prst="rect">
            <a:avLst/>
          </a:prstGeom>
          <a:solidFill>
            <a:srgbClr val="2ECC9B"/>
          </a:solidFill>
          <a:ln/>
        </p:spPr>
      </p:sp>
      <p:sp>
        <p:nvSpPr>
          <p:cNvPr id="7" name="Shape 5"/>
          <p:cNvSpPr/>
          <p:nvPr/>
        </p:nvSpPr>
        <p:spPr>
          <a:xfrm>
            <a:off x="658368" y="1463040"/>
            <a:ext cx="241402" cy="241402"/>
          </a:xfrm>
          <a:prstGeom prst="ellipse">
            <a:avLst/>
          </a:prstGeom>
          <a:solidFill>
            <a:srgbClr val="3056C9"/>
          </a:solidFill>
          <a:ln/>
        </p:spPr>
      </p:sp>
      <p:sp>
        <p:nvSpPr>
          <p:cNvPr id="8" name="Text 6"/>
          <p:cNvSpPr/>
          <p:nvPr/>
        </p:nvSpPr>
        <p:spPr>
          <a:xfrm>
            <a:off x="658368" y="1463040"/>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1</a:t>
            </a:r>
            <a:endParaRPr lang="en-US" sz="750" dirty="0"/>
          </a:p>
        </p:txBody>
      </p:sp>
      <p:sp>
        <p:nvSpPr>
          <p:cNvPr id="9" name="Text 7"/>
          <p:cNvSpPr/>
          <p:nvPr/>
        </p:nvSpPr>
        <p:spPr>
          <a:xfrm>
            <a:off x="987552" y="1463040"/>
            <a:ext cx="3200400"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Technical SEO</a:t>
            </a:r>
            <a:endParaRPr lang="en-US" sz="950" dirty="0"/>
          </a:p>
        </p:txBody>
      </p:sp>
      <p:sp>
        <p:nvSpPr>
          <p:cNvPr id="10" name="Shape 8"/>
          <p:cNvSpPr/>
          <p:nvPr/>
        </p:nvSpPr>
        <p:spPr>
          <a:xfrm>
            <a:off x="676656" y="1897380"/>
            <a:ext cx="44806" cy="44806"/>
          </a:xfrm>
          <a:prstGeom prst="ellipse">
            <a:avLst/>
          </a:prstGeom>
          <a:solidFill>
            <a:srgbClr val="2ECC9B"/>
          </a:solidFill>
          <a:ln/>
        </p:spPr>
      </p:sp>
      <p:sp>
        <p:nvSpPr>
          <p:cNvPr id="11" name="Text 9"/>
          <p:cNvSpPr/>
          <p:nvPr/>
        </p:nvSpPr>
        <p:spPr>
          <a:xfrm>
            <a:off x="822960" y="1847088"/>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Schema markup for Organization, Product or SoftwareApplication, and FAQ</a:t>
            </a:r>
            <a:endParaRPr lang="en-US" sz="750" dirty="0"/>
          </a:p>
        </p:txBody>
      </p:sp>
      <p:sp>
        <p:nvSpPr>
          <p:cNvPr id="12" name="Shape 10"/>
          <p:cNvSpPr/>
          <p:nvPr/>
        </p:nvSpPr>
        <p:spPr>
          <a:xfrm>
            <a:off x="676656" y="2318004"/>
            <a:ext cx="44806" cy="44806"/>
          </a:xfrm>
          <a:prstGeom prst="ellipse">
            <a:avLst/>
          </a:prstGeom>
          <a:solidFill>
            <a:srgbClr val="2ECC9B"/>
          </a:solidFill>
          <a:ln/>
        </p:spPr>
      </p:sp>
      <p:sp>
        <p:nvSpPr>
          <p:cNvPr id="13" name="Text 11"/>
          <p:cNvSpPr/>
          <p:nvPr/>
        </p:nvSpPr>
        <p:spPr>
          <a:xfrm>
            <a:off x="822960" y="2267712"/>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XML sitemap and robots.txt reviewed and cleaned up</a:t>
            </a:r>
            <a:endParaRPr lang="en-US" sz="750" dirty="0"/>
          </a:p>
        </p:txBody>
      </p:sp>
      <p:sp>
        <p:nvSpPr>
          <p:cNvPr id="14" name="Shape 12"/>
          <p:cNvSpPr/>
          <p:nvPr/>
        </p:nvSpPr>
        <p:spPr>
          <a:xfrm>
            <a:off x="676656" y="2738628"/>
            <a:ext cx="44806" cy="44806"/>
          </a:xfrm>
          <a:prstGeom prst="ellipse">
            <a:avLst/>
          </a:prstGeom>
          <a:solidFill>
            <a:srgbClr val="2ECC9B"/>
          </a:solidFill>
          <a:ln/>
        </p:spPr>
      </p:sp>
      <p:sp>
        <p:nvSpPr>
          <p:cNvPr id="15" name="Text 13"/>
          <p:cNvSpPr/>
          <p:nvPr/>
        </p:nvSpPr>
        <p:spPr>
          <a:xfrm>
            <a:off x="822960" y="2688336"/>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Internal linking structure reviewed and restructured</a:t>
            </a:r>
            <a:endParaRPr lang="en-US" sz="750" dirty="0"/>
          </a:p>
        </p:txBody>
      </p:sp>
      <p:sp>
        <p:nvSpPr>
          <p:cNvPr id="16" name="Shape 14"/>
          <p:cNvSpPr/>
          <p:nvPr/>
        </p:nvSpPr>
        <p:spPr>
          <a:xfrm>
            <a:off x="4681728" y="1243584"/>
            <a:ext cx="4005072" cy="1993392"/>
          </a:xfrm>
          <a:prstGeom prst="roundRect">
            <a:avLst>
              <a:gd name="adj" fmla="val 4128"/>
            </a:avLst>
          </a:prstGeom>
          <a:solidFill>
            <a:srgbClr val="F2F3F6"/>
          </a:solidFill>
          <a:ln/>
        </p:spPr>
      </p:sp>
      <p:sp>
        <p:nvSpPr>
          <p:cNvPr id="17" name="Shape 15"/>
          <p:cNvSpPr/>
          <p:nvPr/>
        </p:nvSpPr>
        <p:spPr>
          <a:xfrm>
            <a:off x="4681728" y="1243584"/>
            <a:ext cx="4005072" cy="51206"/>
          </a:xfrm>
          <a:prstGeom prst="rect">
            <a:avLst/>
          </a:prstGeom>
          <a:solidFill>
            <a:srgbClr val="8E6BE6"/>
          </a:solidFill>
          <a:ln/>
        </p:spPr>
      </p:sp>
      <p:sp>
        <p:nvSpPr>
          <p:cNvPr id="18" name="Shape 16"/>
          <p:cNvSpPr/>
          <p:nvPr/>
        </p:nvSpPr>
        <p:spPr>
          <a:xfrm>
            <a:off x="4882896" y="1463040"/>
            <a:ext cx="241402" cy="241402"/>
          </a:xfrm>
          <a:prstGeom prst="ellipse">
            <a:avLst/>
          </a:prstGeom>
          <a:solidFill>
            <a:srgbClr val="3056C9"/>
          </a:solidFill>
          <a:ln/>
        </p:spPr>
      </p:sp>
      <p:sp>
        <p:nvSpPr>
          <p:cNvPr id="19" name="Text 17"/>
          <p:cNvSpPr/>
          <p:nvPr/>
        </p:nvSpPr>
        <p:spPr>
          <a:xfrm>
            <a:off x="4882896" y="1463040"/>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2</a:t>
            </a:r>
            <a:endParaRPr lang="en-US" sz="750" dirty="0"/>
          </a:p>
        </p:txBody>
      </p:sp>
      <p:sp>
        <p:nvSpPr>
          <p:cNvPr id="20" name="Text 18"/>
          <p:cNvSpPr/>
          <p:nvPr/>
        </p:nvSpPr>
        <p:spPr>
          <a:xfrm>
            <a:off x="5212080" y="1463040"/>
            <a:ext cx="3200400"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On-Page SEO</a:t>
            </a:r>
            <a:endParaRPr lang="en-US" sz="950" dirty="0"/>
          </a:p>
        </p:txBody>
      </p:sp>
      <p:sp>
        <p:nvSpPr>
          <p:cNvPr id="21" name="Shape 19"/>
          <p:cNvSpPr/>
          <p:nvPr/>
        </p:nvSpPr>
        <p:spPr>
          <a:xfrm>
            <a:off x="4901184" y="1897380"/>
            <a:ext cx="44806" cy="44806"/>
          </a:xfrm>
          <a:prstGeom prst="ellipse">
            <a:avLst/>
          </a:prstGeom>
          <a:solidFill>
            <a:srgbClr val="8E6BE6"/>
          </a:solidFill>
          <a:ln/>
        </p:spPr>
      </p:sp>
      <p:sp>
        <p:nvSpPr>
          <p:cNvPr id="22" name="Text 20"/>
          <p:cNvSpPr/>
          <p:nvPr/>
        </p:nvSpPr>
        <p:spPr>
          <a:xfrm>
            <a:off x="5047488" y="1847088"/>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Keyword research and mapping for up to 10 core pages</a:t>
            </a:r>
            <a:endParaRPr lang="en-US" sz="750" dirty="0"/>
          </a:p>
        </p:txBody>
      </p:sp>
      <p:sp>
        <p:nvSpPr>
          <p:cNvPr id="23" name="Shape 21"/>
          <p:cNvSpPr/>
          <p:nvPr/>
        </p:nvSpPr>
        <p:spPr>
          <a:xfrm>
            <a:off x="4901184" y="2318004"/>
            <a:ext cx="44806" cy="44806"/>
          </a:xfrm>
          <a:prstGeom prst="ellipse">
            <a:avLst/>
          </a:prstGeom>
          <a:solidFill>
            <a:srgbClr val="8E6BE6"/>
          </a:solidFill>
          <a:ln/>
        </p:spPr>
      </p:sp>
      <p:sp>
        <p:nvSpPr>
          <p:cNvPr id="24" name="Text 22"/>
          <p:cNvSpPr/>
          <p:nvPr/>
        </p:nvSpPr>
        <p:spPr>
          <a:xfrm>
            <a:off x="5047488" y="2267712"/>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Product, features, pricing and use case pages covered</a:t>
            </a:r>
            <a:endParaRPr lang="en-US" sz="750" dirty="0"/>
          </a:p>
        </p:txBody>
      </p:sp>
      <p:sp>
        <p:nvSpPr>
          <p:cNvPr id="25" name="Shape 23"/>
          <p:cNvSpPr/>
          <p:nvPr/>
        </p:nvSpPr>
        <p:spPr>
          <a:xfrm>
            <a:off x="4901184" y="2738628"/>
            <a:ext cx="44806" cy="44806"/>
          </a:xfrm>
          <a:prstGeom prst="ellipse">
            <a:avLst/>
          </a:prstGeom>
          <a:solidFill>
            <a:srgbClr val="8E6BE6"/>
          </a:solidFill>
          <a:ln/>
        </p:spPr>
      </p:sp>
      <p:sp>
        <p:nvSpPr>
          <p:cNvPr id="26" name="Text 24"/>
          <p:cNvSpPr/>
          <p:nvPr/>
        </p:nvSpPr>
        <p:spPr>
          <a:xfrm>
            <a:off x="5047488" y="2688336"/>
            <a:ext cx="3520440" cy="420624"/>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Meta titles and descriptions rewritten for priority pages</a:t>
            </a:r>
            <a:endParaRPr lang="en-US" sz="750" dirty="0"/>
          </a:p>
        </p:txBody>
      </p:sp>
      <p:sp>
        <p:nvSpPr>
          <p:cNvPr id="27" name="Shape 25"/>
          <p:cNvSpPr/>
          <p:nvPr/>
        </p:nvSpPr>
        <p:spPr>
          <a:xfrm>
            <a:off x="457200" y="3401568"/>
            <a:ext cx="8229600" cy="603504"/>
          </a:xfrm>
          <a:prstGeom prst="roundRect">
            <a:avLst>
              <a:gd name="adj" fmla="val 12121"/>
            </a:avLst>
          </a:prstGeom>
          <a:solidFill>
            <a:srgbClr val="DDE5FE"/>
          </a:solidFill>
          <a:ln/>
        </p:spPr>
      </p:sp>
      <p:sp>
        <p:nvSpPr>
          <p:cNvPr id="28" name="Text 26"/>
          <p:cNvSpPr/>
          <p:nvPr/>
        </p:nvSpPr>
        <p:spPr>
          <a:xfrm>
            <a:off x="640080" y="3401568"/>
            <a:ext cx="7863840" cy="603504"/>
          </a:xfrm>
          <a:prstGeom prst="rect">
            <a:avLst/>
          </a:prstGeom>
          <a:noFill/>
          <a:ln/>
        </p:spPr>
        <p:txBody>
          <a:bodyPr wrap="square" lIns="0" tIns="0" rIns="0" bIns="0" rtlCol="0" anchor="ctr"/>
          <a:lstStyle/>
          <a:p>
            <a:pPr indent="0" marL="0">
              <a:lnSpc>
                <a:spcPct val="125000"/>
              </a:lnSpc>
              <a:buNone/>
            </a:pPr>
            <a:r>
              <a:rPr lang="en-US" sz="750" b="1" dirty="0">
                <a:solidFill>
                  <a:srgbClr val="3056C9"/>
                </a:solidFill>
                <a:latin typeface="Inter Tight" pitchFamily="34" charset="0"/>
                <a:ea typeface="Inter Tight" pitchFamily="34" charset="-122"/>
                <a:cs typeface="Inter Tight" pitchFamily="34" charset="-120"/>
              </a:rPr>
              <a:t>How this sits alongside the paid work: </a:t>
            </a:r>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this is a single fixed scope project rather than part of the always on services. It does not repeat month to month, and it runs in parallel with the Google Ads work rather than replacing any of it.</a:t>
            </a:r>
            <a:endParaRPr lang="en-US" sz="750" dirty="0"/>
          </a:p>
        </p:txBody>
      </p:sp>
      <p:sp>
        <p:nvSpPr>
          <p:cNvPr id="29" name="Shape 27"/>
          <p:cNvSpPr/>
          <p:nvPr/>
        </p:nvSpPr>
        <p:spPr>
          <a:xfrm>
            <a:off x="457200" y="4315968"/>
            <a:ext cx="8229600" cy="310896"/>
          </a:xfrm>
          <a:prstGeom prst="rect">
            <a:avLst/>
          </a:prstGeom>
          <a:solidFill>
            <a:srgbClr val="3056C9"/>
          </a:solidFill>
          <a:ln/>
        </p:spPr>
      </p:sp>
      <p:sp>
        <p:nvSpPr>
          <p:cNvPr id="30" name="Text 28"/>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2 workstreams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Up to 10 core pages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One fixed scope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Workstream 1: Technical SEO</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Three pieces of work that change how search engines read and crawl the site.</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91640"/>
                <a:gridCol w="3154680"/>
                <a:gridCol w="338328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Area</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What we do</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What it changes</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859536">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Schema markup</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 implement Organization, Product or SoftwareApplication, and FAQ markup across the relevant pages.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Search engines read the site as a named software product with a publisher behind it, rather than as a set of generic pages.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804672">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XML sitemap and robots.txt</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 review both files, correct what is wrong, and remove what should not be there.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Crawlers get a clean map of the site and stop reaching pages that were never meant to be indexed.</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804672">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Internal linking</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 review the internal link structure and restructure the paths between pages.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Link equity flows toward the product, features and pricing pages instead of settling on pages that do not sell.</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315968"/>
            <a:ext cx="8229600" cy="310896"/>
          </a:xfrm>
          <a:prstGeom prst="rect">
            <a:avLst/>
          </a:prstGeom>
          <a:solidFill>
            <a:srgbClr val="3056C9"/>
          </a:solidFill>
          <a:ln/>
        </p:spPr>
      </p:sp>
      <p:sp>
        <p:nvSpPr>
          <p:cNvPr id="7" name="Text 4"/>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3 areas of technical work</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Schema, crawl and link structure</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Begins 15 August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Workstream 2: On-Page SEO</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Keyword targets get assigned page by page, then the pages get written to match.</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920240"/>
                <a:gridCol w="1554480"/>
                <a:gridCol w="475488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Area</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Scope</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What we do</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1188720">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Keyword research and mapping</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100" b="1" dirty="0">
                          <a:solidFill>
                            <a:srgbClr val="4A7BF7"/>
                          </a:solidFill>
                          <a:latin typeface="Inter Tight" pitchFamily="34" charset="0"/>
                          <a:ea typeface="Inter Tight" pitchFamily="34" charset="-122"/>
                          <a:cs typeface="Inter Tight" pitchFamily="34" charset="-120"/>
                        </a:rPr>
                        <a:t>Up to 10 core pages</a:t>
                      </a:r>
                      <a:endParaRPr lang="en-US" sz="11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 research the terms buyers use, then map one primary target to each core page across product, features, pricing and use cases. Each page ends up with a job of its own instead of several pages competing for the same term.</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1005840">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Meta titles and descriptions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Priority pages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 rewrite the title and description on the priority pages so the text shown in search results matches what the page is targeting and gives someone a reason to click it.</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968496"/>
            <a:ext cx="8229600" cy="457200"/>
          </a:xfrm>
          <a:prstGeom prst="roundRect">
            <a:avLst>
              <a:gd name="adj" fmla="val 16000"/>
            </a:avLst>
          </a:prstGeom>
          <a:solidFill>
            <a:srgbClr val="DDE5FE"/>
          </a:solidFill>
          <a:ln/>
        </p:spPr>
      </p:sp>
      <p:sp>
        <p:nvSpPr>
          <p:cNvPr id="7" name="Text 4"/>
          <p:cNvSpPr/>
          <p:nvPr/>
        </p:nvSpPr>
        <p:spPr>
          <a:xfrm>
            <a:off x="640080" y="3968496"/>
            <a:ext cx="7863840" cy="457200"/>
          </a:xfrm>
          <a:prstGeom prst="rect">
            <a:avLst/>
          </a:prstGeom>
          <a:noFill/>
          <a:ln/>
        </p:spPr>
        <p:txBody>
          <a:bodyPr wrap="square" lIns="0" tIns="0" rIns="0" bIns="0" rtlCol="0" anchor="ctr"/>
          <a:lstStyle/>
          <a:p>
            <a:pPr indent="0" marL="0">
              <a:buNone/>
            </a:pPr>
            <a:r>
              <a:rPr lang="en-US" sz="750" b="1" dirty="0">
                <a:solidFill>
                  <a:srgbClr val="3056C9"/>
                </a:solidFill>
                <a:latin typeface="Inter Tight" pitchFamily="34" charset="0"/>
                <a:ea typeface="Inter Tight" pitchFamily="34" charset="-122"/>
                <a:cs typeface="Inter Tight" pitchFamily="34" charset="-120"/>
              </a:rPr>
              <a:t>Pages in scope: </a:t>
            </a:r>
            <a:pPr indent="0" marL="0">
              <a:buNone/>
            </a:pPr>
            <a:r>
              <a:rPr lang="en-US" sz="750" dirty="0">
                <a:solidFill>
                  <a:srgbClr val="4A4A4A"/>
                </a:solidFill>
                <a:latin typeface="Inter Tight" pitchFamily="34" charset="0"/>
                <a:ea typeface="Inter Tight" pitchFamily="34" charset="-122"/>
                <a:cs typeface="Inter Tight" pitchFamily="34" charset="-120"/>
              </a:rPr>
              <a:t>product, features, pricing and use case pages. We agree the final list of 10 with you before the mapping work starts.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Where we start, and what runs on</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The first two weeks open this project rather than close it. Here is the split.</a:t>
            </a:r>
            <a:endParaRPr lang="en-US" sz="850" dirty="0"/>
          </a:p>
        </p:txBody>
      </p:sp>
      <p:sp>
        <p:nvSpPr>
          <p:cNvPr id="5" name="Shape 3"/>
          <p:cNvSpPr/>
          <p:nvPr/>
        </p:nvSpPr>
        <p:spPr>
          <a:xfrm>
            <a:off x="457200" y="1280160"/>
            <a:ext cx="4005072" cy="2615184"/>
          </a:xfrm>
          <a:prstGeom prst="roundRect">
            <a:avLst>
              <a:gd name="adj" fmla="val 3147"/>
            </a:avLst>
          </a:prstGeom>
          <a:solidFill>
            <a:srgbClr val="DDE5FE"/>
          </a:solidFill>
          <a:ln/>
        </p:spPr>
      </p:sp>
      <p:sp>
        <p:nvSpPr>
          <p:cNvPr id="6" name="Shape 4"/>
          <p:cNvSpPr/>
          <p:nvPr/>
        </p:nvSpPr>
        <p:spPr>
          <a:xfrm>
            <a:off x="457200" y="1280160"/>
            <a:ext cx="4005072" cy="51206"/>
          </a:xfrm>
          <a:prstGeom prst="rect">
            <a:avLst/>
          </a:prstGeom>
          <a:solidFill>
            <a:srgbClr val="4A7BF7"/>
          </a:solidFill>
          <a:ln/>
        </p:spPr>
      </p:sp>
      <p:sp>
        <p:nvSpPr>
          <p:cNvPr id="7" name="Text 5"/>
          <p:cNvSpPr/>
          <p:nvPr/>
        </p:nvSpPr>
        <p:spPr>
          <a:xfrm>
            <a:off x="658368" y="1463040"/>
            <a:ext cx="3566160" cy="201168"/>
          </a:xfrm>
          <a:prstGeom prst="rect">
            <a:avLst/>
          </a:prstGeom>
          <a:noFill/>
          <a:ln/>
        </p:spPr>
        <p:txBody>
          <a:bodyPr wrap="square" lIns="0" tIns="0" rIns="0" bIns="0" rtlCol="0" anchor="ctr"/>
          <a:lstStyle/>
          <a:p>
            <a:pPr indent="0" marL="0">
              <a:buNone/>
            </a:pPr>
            <a:r>
              <a:rPr lang="en-US" sz="800" b="1" dirty="0">
                <a:solidFill>
                  <a:srgbClr val="3056C9"/>
                </a:solidFill>
                <a:latin typeface="Inter Tight" pitchFamily="34" charset="0"/>
                <a:ea typeface="Inter Tight" pitchFamily="34" charset="-122"/>
                <a:cs typeface="Inter Tight" pitchFamily="34" charset="-120"/>
              </a:rPr>
              <a:t>15 to 30 August</a:t>
            </a:r>
            <a:endParaRPr lang="en-US" sz="800" dirty="0"/>
          </a:p>
        </p:txBody>
      </p:sp>
      <p:sp>
        <p:nvSpPr>
          <p:cNvPr id="8" name="Text 6"/>
          <p:cNvSpPr/>
          <p:nvPr/>
        </p:nvSpPr>
        <p:spPr>
          <a:xfrm>
            <a:off x="658368" y="1682496"/>
            <a:ext cx="3566160" cy="274320"/>
          </a:xfrm>
          <a:prstGeom prst="rect">
            <a:avLst/>
          </a:prstGeom>
          <a:noFill/>
          <a:ln/>
        </p:spPr>
        <p:txBody>
          <a:bodyPr wrap="square" lIns="0" tIns="0" rIns="0" bIns="0" rtlCol="0" anchor="ctr"/>
          <a:lstStyle/>
          <a:p>
            <a:pPr indent="0" marL="0">
              <a:buNone/>
            </a:pPr>
            <a:r>
              <a:rPr lang="en-US" sz="1700" b="1" dirty="0">
                <a:solidFill>
                  <a:srgbClr val="4A7BF7"/>
                </a:solidFill>
                <a:latin typeface="Inter Tight" pitchFamily="34" charset="0"/>
                <a:ea typeface="Inter Tight" pitchFamily="34" charset="-122"/>
                <a:cs typeface="Inter Tight" pitchFamily="34" charset="-120"/>
              </a:rPr>
              <a:t>Starts in the first two weeks</a:t>
            </a:r>
            <a:endParaRPr lang="en-US" sz="1700" dirty="0"/>
          </a:p>
        </p:txBody>
      </p:sp>
      <p:sp>
        <p:nvSpPr>
          <p:cNvPr id="9" name="Shape 7"/>
          <p:cNvSpPr/>
          <p:nvPr/>
        </p:nvSpPr>
        <p:spPr>
          <a:xfrm>
            <a:off x="676656" y="2171700"/>
            <a:ext cx="44806" cy="44806"/>
          </a:xfrm>
          <a:prstGeom prst="ellipse">
            <a:avLst/>
          </a:prstGeom>
          <a:solidFill>
            <a:srgbClr val="4A7BF7"/>
          </a:solidFill>
          <a:ln/>
        </p:spPr>
      </p:sp>
      <p:sp>
        <p:nvSpPr>
          <p:cNvPr id="10" name="Text 8"/>
          <p:cNvSpPr/>
          <p:nvPr/>
        </p:nvSpPr>
        <p:spPr>
          <a:xfrm>
            <a:off x="822960" y="2121408"/>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A full technical crawl of the site to establish what is there today</a:t>
            </a:r>
            <a:endParaRPr lang="en-US" sz="750" dirty="0"/>
          </a:p>
        </p:txBody>
      </p:sp>
      <p:sp>
        <p:nvSpPr>
          <p:cNvPr id="11" name="Shape 9"/>
          <p:cNvSpPr/>
          <p:nvPr/>
        </p:nvSpPr>
        <p:spPr>
          <a:xfrm>
            <a:off x="676656" y="2574036"/>
            <a:ext cx="44806" cy="44806"/>
          </a:xfrm>
          <a:prstGeom prst="ellipse">
            <a:avLst/>
          </a:prstGeom>
          <a:solidFill>
            <a:srgbClr val="4A7BF7"/>
          </a:solidFill>
          <a:ln/>
        </p:spPr>
      </p:sp>
      <p:sp>
        <p:nvSpPr>
          <p:cNvPr id="12" name="Text 10"/>
          <p:cNvSpPr/>
          <p:nvPr/>
        </p:nvSpPr>
        <p:spPr>
          <a:xfrm>
            <a:off x="822960" y="2523744"/>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XML sitemap and robots.txt reviewed, with the cleanup list drawn up</a:t>
            </a:r>
            <a:endParaRPr lang="en-US" sz="750" dirty="0"/>
          </a:p>
        </p:txBody>
      </p:sp>
      <p:sp>
        <p:nvSpPr>
          <p:cNvPr id="13" name="Shape 11"/>
          <p:cNvSpPr/>
          <p:nvPr/>
        </p:nvSpPr>
        <p:spPr>
          <a:xfrm>
            <a:off x="676656" y="2976372"/>
            <a:ext cx="44806" cy="44806"/>
          </a:xfrm>
          <a:prstGeom prst="ellipse">
            <a:avLst/>
          </a:prstGeom>
          <a:solidFill>
            <a:srgbClr val="4A7BF7"/>
          </a:solidFill>
          <a:ln/>
        </p:spPr>
      </p:sp>
      <p:sp>
        <p:nvSpPr>
          <p:cNvPr id="14" name="Text 12"/>
          <p:cNvSpPr/>
          <p:nvPr/>
        </p:nvSpPr>
        <p:spPr>
          <a:xfrm>
            <a:off x="822960" y="2926080"/>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An audit of the schema already in place, if any</a:t>
            </a:r>
            <a:endParaRPr lang="en-US" sz="750" dirty="0"/>
          </a:p>
        </p:txBody>
      </p:sp>
      <p:sp>
        <p:nvSpPr>
          <p:cNvPr id="15" name="Shape 13"/>
          <p:cNvSpPr/>
          <p:nvPr/>
        </p:nvSpPr>
        <p:spPr>
          <a:xfrm>
            <a:off x="676656" y="3378708"/>
            <a:ext cx="44806" cy="44806"/>
          </a:xfrm>
          <a:prstGeom prst="ellipse">
            <a:avLst/>
          </a:prstGeom>
          <a:solidFill>
            <a:srgbClr val="4A7BF7"/>
          </a:solidFill>
          <a:ln/>
        </p:spPr>
      </p:sp>
      <p:sp>
        <p:nvSpPr>
          <p:cNvPr id="16" name="Text 14"/>
          <p:cNvSpPr/>
          <p:nvPr/>
        </p:nvSpPr>
        <p:spPr>
          <a:xfrm>
            <a:off x="822960" y="3328416"/>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Keyword research opens across the core pages</a:t>
            </a:r>
            <a:endParaRPr lang="en-US" sz="750" dirty="0"/>
          </a:p>
        </p:txBody>
      </p:sp>
      <p:sp>
        <p:nvSpPr>
          <p:cNvPr id="17" name="Shape 15"/>
          <p:cNvSpPr/>
          <p:nvPr/>
        </p:nvSpPr>
        <p:spPr>
          <a:xfrm>
            <a:off x="4681728" y="1280160"/>
            <a:ext cx="4005072" cy="2615184"/>
          </a:xfrm>
          <a:prstGeom prst="roundRect">
            <a:avLst>
              <a:gd name="adj" fmla="val 3147"/>
            </a:avLst>
          </a:prstGeom>
          <a:solidFill>
            <a:srgbClr val="F2F3F6"/>
          </a:solidFill>
          <a:ln/>
        </p:spPr>
      </p:sp>
      <p:sp>
        <p:nvSpPr>
          <p:cNvPr id="18" name="Shape 16"/>
          <p:cNvSpPr/>
          <p:nvPr/>
        </p:nvSpPr>
        <p:spPr>
          <a:xfrm>
            <a:off x="4681728" y="1280160"/>
            <a:ext cx="4005072" cy="51206"/>
          </a:xfrm>
          <a:prstGeom prst="rect">
            <a:avLst/>
          </a:prstGeom>
          <a:solidFill>
            <a:srgbClr val="2C2C36"/>
          </a:solidFill>
          <a:ln/>
        </p:spPr>
      </p:sp>
      <p:sp>
        <p:nvSpPr>
          <p:cNvPr id="19" name="Text 17"/>
          <p:cNvSpPr/>
          <p:nvPr/>
        </p:nvSpPr>
        <p:spPr>
          <a:xfrm>
            <a:off x="4882896" y="1463040"/>
            <a:ext cx="3566160" cy="201168"/>
          </a:xfrm>
          <a:prstGeom prst="rect">
            <a:avLst/>
          </a:prstGeom>
          <a:noFill/>
          <a:ln/>
        </p:spPr>
        <p:txBody>
          <a:bodyPr wrap="square" lIns="0" tIns="0" rIns="0" bIns="0" rtlCol="0" anchor="ctr"/>
          <a:lstStyle/>
          <a:p>
            <a:pPr indent="0" marL="0">
              <a:buNone/>
            </a:pPr>
            <a:r>
              <a:rPr lang="en-US" sz="800" b="1" dirty="0">
                <a:solidFill>
                  <a:srgbClr val="3056C9"/>
                </a:solidFill>
                <a:latin typeface="Inter Tight" pitchFamily="34" charset="0"/>
                <a:ea typeface="Inter Tight" pitchFamily="34" charset="-122"/>
                <a:cs typeface="Inter Tight" pitchFamily="34" charset="-120"/>
              </a:rPr>
              <a:t>After 30 August</a:t>
            </a:r>
            <a:endParaRPr lang="en-US" sz="800" dirty="0"/>
          </a:p>
        </p:txBody>
      </p:sp>
      <p:sp>
        <p:nvSpPr>
          <p:cNvPr id="20" name="Text 18"/>
          <p:cNvSpPr/>
          <p:nvPr/>
        </p:nvSpPr>
        <p:spPr>
          <a:xfrm>
            <a:off x="4882896" y="1682496"/>
            <a:ext cx="3566160" cy="274320"/>
          </a:xfrm>
          <a:prstGeom prst="rect">
            <a:avLst/>
          </a:prstGeom>
          <a:noFill/>
          <a:ln/>
        </p:spPr>
        <p:txBody>
          <a:bodyPr wrap="square" lIns="0" tIns="0" rIns="0" bIns="0" rtlCol="0" anchor="ctr"/>
          <a:lstStyle/>
          <a:p>
            <a:pPr indent="0" marL="0">
              <a:buNone/>
            </a:pPr>
            <a:r>
              <a:rPr lang="en-US" sz="1700" b="1" dirty="0">
                <a:solidFill>
                  <a:srgbClr val="0F0F0F"/>
                </a:solidFill>
                <a:latin typeface="Inter Tight" pitchFamily="34" charset="0"/>
                <a:ea typeface="Inter Tight" pitchFamily="34" charset="-122"/>
                <a:cs typeface="Inter Tight" pitchFamily="34" charset="-120"/>
              </a:rPr>
              <a:t>Continues from there</a:t>
            </a:r>
            <a:endParaRPr lang="en-US" sz="1700" dirty="0"/>
          </a:p>
        </p:txBody>
      </p:sp>
      <p:sp>
        <p:nvSpPr>
          <p:cNvPr id="21" name="Shape 19"/>
          <p:cNvSpPr/>
          <p:nvPr/>
        </p:nvSpPr>
        <p:spPr>
          <a:xfrm>
            <a:off x="4901184" y="2171700"/>
            <a:ext cx="44806" cy="44806"/>
          </a:xfrm>
          <a:prstGeom prst="ellipse">
            <a:avLst/>
          </a:prstGeom>
          <a:solidFill>
            <a:srgbClr val="2C2C36"/>
          </a:solidFill>
          <a:ln/>
        </p:spPr>
      </p:sp>
      <p:sp>
        <p:nvSpPr>
          <p:cNvPr id="22" name="Text 20"/>
          <p:cNvSpPr/>
          <p:nvPr/>
        </p:nvSpPr>
        <p:spPr>
          <a:xfrm>
            <a:off x="5047488" y="2121408"/>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Schema markup written and implemented across the site</a:t>
            </a:r>
            <a:endParaRPr lang="en-US" sz="750" dirty="0"/>
          </a:p>
        </p:txBody>
      </p:sp>
      <p:sp>
        <p:nvSpPr>
          <p:cNvPr id="23" name="Shape 21"/>
          <p:cNvSpPr/>
          <p:nvPr/>
        </p:nvSpPr>
        <p:spPr>
          <a:xfrm>
            <a:off x="4901184" y="2574036"/>
            <a:ext cx="44806" cy="44806"/>
          </a:xfrm>
          <a:prstGeom prst="ellipse">
            <a:avLst/>
          </a:prstGeom>
          <a:solidFill>
            <a:srgbClr val="2C2C36"/>
          </a:solidFill>
          <a:ln/>
        </p:spPr>
      </p:sp>
      <p:sp>
        <p:nvSpPr>
          <p:cNvPr id="24" name="Text 22"/>
          <p:cNvSpPr/>
          <p:nvPr/>
        </p:nvSpPr>
        <p:spPr>
          <a:xfrm>
            <a:off x="5047488" y="2523744"/>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Internal linking restructured against the crawl findings</a:t>
            </a:r>
            <a:endParaRPr lang="en-US" sz="750" dirty="0"/>
          </a:p>
        </p:txBody>
      </p:sp>
      <p:sp>
        <p:nvSpPr>
          <p:cNvPr id="25" name="Shape 23"/>
          <p:cNvSpPr/>
          <p:nvPr/>
        </p:nvSpPr>
        <p:spPr>
          <a:xfrm>
            <a:off x="4901184" y="2976372"/>
            <a:ext cx="44806" cy="44806"/>
          </a:xfrm>
          <a:prstGeom prst="ellipse">
            <a:avLst/>
          </a:prstGeom>
          <a:solidFill>
            <a:srgbClr val="2C2C36"/>
          </a:solidFill>
          <a:ln/>
        </p:spPr>
      </p:sp>
      <p:sp>
        <p:nvSpPr>
          <p:cNvPr id="26" name="Text 24"/>
          <p:cNvSpPr/>
          <p:nvPr/>
        </p:nvSpPr>
        <p:spPr>
          <a:xfrm>
            <a:off x="5047488" y="2926080"/>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Keyword mapping finalized page by page</a:t>
            </a:r>
            <a:endParaRPr lang="en-US" sz="750" dirty="0"/>
          </a:p>
        </p:txBody>
      </p:sp>
      <p:sp>
        <p:nvSpPr>
          <p:cNvPr id="27" name="Shape 25"/>
          <p:cNvSpPr/>
          <p:nvPr/>
        </p:nvSpPr>
        <p:spPr>
          <a:xfrm>
            <a:off x="4901184" y="3378708"/>
            <a:ext cx="44806" cy="44806"/>
          </a:xfrm>
          <a:prstGeom prst="ellipse">
            <a:avLst/>
          </a:prstGeom>
          <a:solidFill>
            <a:srgbClr val="2C2C36"/>
          </a:solidFill>
          <a:ln/>
        </p:spPr>
      </p:sp>
      <p:sp>
        <p:nvSpPr>
          <p:cNvPr id="28" name="Text 26"/>
          <p:cNvSpPr/>
          <p:nvPr/>
        </p:nvSpPr>
        <p:spPr>
          <a:xfrm>
            <a:off x="5047488" y="3328416"/>
            <a:ext cx="3520440" cy="402336"/>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Meta titles and descriptions rewritten for the priority pages</a:t>
            </a:r>
            <a:endParaRPr lang="en-US" sz="750" dirty="0"/>
          </a:p>
        </p:txBody>
      </p:sp>
      <p:sp>
        <p:nvSpPr>
          <p:cNvPr id="29" name="Shape 27"/>
          <p:cNvSpPr/>
          <p:nvPr/>
        </p:nvSpPr>
        <p:spPr>
          <a:xfrm>
            <a:off x="457200" y="4315968"/>
            <a:ext cx="8229600" cy="310896"/>
          </a:xfrm>
          <a:prstGeom prst="rect">
            <a:avLst/>
          </a:prstGeom>
          <a:solidFill>
            <a:srgbClr val="3056C9"/>
          </a:solidFill>
          <a:ln/>
        </p:spPr>
      </p:sp>
      <p:sp>
        <p:nvSpPr>
          <p:cNvPr id="30" name="Text 28"/>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Work opens on 15 August</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Delivery runs beyond the two weeks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One fixed scope, billed once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Jordan/Desktop/Claude Code/toggle-brain/assets/logos/toggle-wordmark-black.png"/>
          <p:cNvPicPr>
            <a:picLocks noChangeAspect="1"/>
          </p:cNvPicPr>
          <p:nvPr/>
        </p:nvPicPr>
        <p:blipFill>
          <a:blip r:embed="rId1"/>
          <a:stretch>
            <a:fillRect/>
          </a:stretch>
        </p:blipFill>
        <p:spPr>
          <a:xfrm>
            <a:off x="457200" y="384048"/>
            <a:ext cx="1188720" cy="325526"/>
          </a:xfrm>
          <a:prstGeom prst="rect">
            <a:avLst/>
          </a:prstGeom>
        </p:spPr>
      </p:pic>
      <p:sp>
        <p:nvSpPr>
          <p:cNvPr id="3"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4" name="Text 1"/>
          <p:cNvSpPr/>
          <p:nvPr/>
        </p:nvSpPr>
        <p:spPr>
          <a:xfrm>
            <a:off x="457200" y="1847088"/>
            <a:ext cx="5486400" cy="658368"/>
          </a:xfrm>
          <a:prstGeom prst="rect">
            <a:avLst/>
          </a:prstGeom>
          <a:noFill/>
          <a:ln/>
        </p:spPr>
        <p:txBody>
          <a:bodyPr wrap="square" lIns="0" tIns="0" rIns="0" bIns="0" rtlCol="0" anchor="ctr"/>
          <a:lstStyle/>
          <a:p>
            <a:pPr indent="0" marL="0">
              <a:buNone/>
            </a:pPr>
            <a:r>
              <a:rPr lang="en-US" sz="3600" b="1" dirty="0">
                <a:solidFill>
                  <a:srgbClr val="4A7BF7"/>
                </a:solidFill>
                <a:latin typeface="Inter Tight" pitchFamily="34" charset="0"/>
                <a:ea typeface="Inter Tight" pitchFamily="34" charset="-122"/>
                <a:cs typeface="Inter Tight" pitchFamily="34" charset="-120"/>
              </a:rPr>
              <a:t>Thank you</a:t>
            </a:r>
            <a:endParaRPr lang="en-US" sz="3600" dirty="0"/>
          </a:p>
        </p:txBody>
      </p:sp>
      <p:sp>
        <p:nvSpPr>
          <p:cNvPr id="5" name="Text 2"/>
          <p:cNvSpPr/>
          <p:nvPr/>
        </p:nvSpPr>
        <p:spPr>
          <a:xfrm>
            <a:off x="457200" y="2596896"/>
            <a:ext cx="5303520" cy="658368"/>
          </a:xfrm>
          <a:prstGeom prst="rect">
            <a:avLst/>
          </a:prstGeom>
          <a:noFill/>
          <a:ln/>
        </p:spPr>
        <p:txBody>
          <a:bodyPr wrap="square" lIns="0" tIns="0" rIns="0" bIns="0" rtlCol="0" anchor="t"/>
          <a:lstStyle/>
          <a:p>
            <a:pPr indent="0" marL="0">
              <a:lnSpc>
                <a:spcPct val="130000"/>
              </a:lnSpc>
              <a:buNone/>
            </a:pPr>
            <a:r>
              <a:rPr lang="en-US" sz="850" dirty="0">
                <a:solidFill>
                  <a:srgbClr val="4A4A4A"/>
                </a:solidFill>
                <a:latin typeface="Inter Tight" pitchFamily="34" charset="0"/>
                <a:ea typeface="Inter Tight" pitchFamily="34" charset="-122"/>
                <a:cs typeface="Inter Tight" pitchFamily="34" charset="-120"/>
              </a:rPr>
              <a:t>We open this project on 15 August alongside the Google Ads work. The one thing we need from you to keep it moving is agreement on which 10 pages count as the core set.</a:t>
            </a:r>
            <a:endParaRPr lang="en-US" sz="850" dirty="0"/>
          </a:p>
        </p:txBody>
      </p:sp>
      <p:sp>
        <p:nvSpPr>
          <p:cNvPr id="6" name="Shape 3"/>
          <p:cNvSpPr/>
          <p:nvPr/>
        </p:nvSpPr>
        <p:spPr>
          <a:xfrm>
            <a:off x="457200" y="3493008"/>
            <a:ext cx="777240" cy="32004"/>
          </a:xfrm>
          <a:prstGeom prst="rect">
            <a:avLst/>
          </a:prstGeom>
          <a:solidFill>
            <a:srgbClr val="4A7BF7"/>
          </a:solidFill>
          <a:ln/>
        </p:spPr>
      </p:sp>
      <p:sp>
        <p:nvSpPr>
          <p:cNvPr id="7" name="Text 4"/>
          <p:cNvSpPr/>
          <p:nvPr/>
        </p:nvSpPr>
        <p:spPr>
          <a:xfrm>
            <a:off x="457200" y="4315968"/>
            <a:ext cx="2194560" cy="219456"/>
          </a:xfrm>
          <a:prstGeom prst="rect">
            <a:avLst/>
          </a:prstGeom>
          <a:noFill/>
          <a:ln/>
        </p:spPr>
        <p:txBody>
          <a:bodyPr wrap="square" lIns="0" tIns="0" rIns="0" bIns="0" rtlCol="0" anchor="ctr"/>
          <a:lstStyle/>
          <a:p>
            <a:pPr indent="0" marL="0">
              <a:buNone/>
            </a:pPr>
            <a:r>
              <a:rPr lang="en-US" sz="750" dirty="0">
                <a:solidFill>
                  <a:srgbClr val="9AA0A8"/>
                </a:solidFill>
                <a:latin typeface="Inter Tight" pitchFamily="34" charset="0"/>
                <a:ea typeface="Inter Tight" pitchFamily="34" charset="-122"/>
                <a:cs typeface="Inter Tight" pitchFamily="34" charset="-120"/>
              </a:rPr>
              <a:t>[ Toggle Solutions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CodeFortyNine Website Technical SEO Optimization</dc:title>
  <dc:subject>PptxGenJS Presentation</dc:subject>
  <dc:creator>Toggle Solutions</dc:creator>
  <cp:lastModifiedBy>Toggle Solutions</cp:lastModifiedBy>
  <cp:revision>1</cp:revision>
  <dcterms:created xsi:type="dcterms:W3CDTF">2026-08-13T10:02:10Z</dcterms:created>
  <dcterms:modified xsi:type="dcterms:W3CDTF">2026-08-13T10:02:10Z</dcterms:modified>
</cp:coreProperties>
</file>