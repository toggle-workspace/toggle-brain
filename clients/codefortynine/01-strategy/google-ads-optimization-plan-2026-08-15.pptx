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Confirm the start date of 15 August is still correct before sending.
Update checklist:
Client name and the date range in the bottom right seal are the only fields that change per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deck. Walk through the four in order, then say each one gets its own slide.
Update checklist:
Card titles and bodies are plain text boxes. If an optimization is added or dropped, keep the count at four so the two by two grid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is that this money is not being cut, it is being moved to the ad groups that already convert.
Update checklist:
The four spend cells and the two count cells come from the Immediate Action tab of the optimization log.
Check the arithmetic: 403.86 plus 243.85 plus 74.45 equals 722.16, and the paused ad group count must equal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the level of the move. Do not list individual keywords unless asked.
Two keywords are named because each one carries several hundred euros on its own.
Update checklist:
The three figure cells come from the Immediate Action tab and the keyword research list.
Check that 12 plus 2 matches the keyword lines in the log, and that the 14 added keywords sum to 1,040 monthly searches.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that a person searching for a migration tool and a person searching for Deep Clone by name are not the same buyer and should not share a budget.
Update checklist:
The two headline counts, 5 campaigns with 13 ad groups and 3 campaigns, are the only figures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ads are already drafted and checked against Google character limits. Offer to share the full copy sheet if they want to read every headline.
Update checklist:
The ad counts come from the campaign structure workbook, three responsive search ads per campaign.
If a fourth extension type gets added, the four cards need to be resized to fit the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of what happens while they are away. Keep it factual and short.
Update checklist:
The three date ranges are the only fields that change. The counts in each description must match slides 3, 4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pick one of the four before they leave on 17 August, so the calendar invite is already in place when they are back.
Update checklist:
The four rows hold day, date and time. If the start date moves, update the follow on dates in the callout below the table as well.
Check the weekdays: 1 September 2026 is a Tuesday and 2 September 2026 is a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call slot question so the meeting ends with a decision to make.
Update checklist:
The start date appears once in the closing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Jordan/Desktop/Claude Code/toggle-brain/assets/logos/toggle-wordmark-black.png"/>
          <p:cNvPicPr>
            <a:picLocks noChangeAspect="1"/>
          </p:cNvPicPr>
          <p:nvPr/>
        </p:nvPicPr>
        <p:blipFill>
          <a:blip r:embed="rId1"/>
          <a:stretch>
            <a:fillRect/>
          </a:stretch>
        </p:blipFill>
        <p:spPr>
          <a:xfrm>
            <a:off x="457200" y="384048"/>
            <a:ext cx="1188720" cy="325526"/>
          </a:xfrm>
          <a:prstGeom prst="rect">
            <a:avLst/>
          </a:prstGeom>
        </p:spPr>
      </p:pic>
      <p:pic>
        <p:nvPicPr>
          <p:cNvPr id="3" name="Image 1" descr="C:/Users/Jordan/Desktop/Claude Code/toggle-brain/assets/illustrations/step-form.png"/>
          <p:cNvPicPr>
            <a:picLocks noChangeAspect="1"/>
          </p:cNvPicPr>
          <p:nvPr/>
        </p:nvPicPr>
        <p:blipFill>
          <a:blip r:embed="rId2"/>
          <a:stretch>
            <a:fillRect/>
          </a:stretch>
        </p:blipFill>
        <p:spPr>
          <a:xfrm>
            <a:off x="5532120" y="1481328"/>
            <a:ext cx="2834640" cy="2194560"/>
          </a:xfrm>
          <a:prstGeom prst="rect">
            <a:avLst/>
          </a:prstGeom>
        </p:spPr>
      </p:pic>
      <p:sp>
        <p:nvSpPr>
          <p:cNvPr id="4" name="Text 0"/>
          <p:cNvSpPr/>
          <p:nvPr/>
        </p:nvSpPr>
        <p:spPr>
          <a:xfrm>
            <a:off x="457200" y="1572768"/>
            <a:ext cx="4754880" cy="566928"/>
          </a:xfrm>
          <a:prstGeom prst="rect">
            <a:avLst/>
          </a:prstGeom>
          <a:noFill/>
          <a:ln/>
        </p:spPr>
        <p:txBody>
          <a:bodyPr wrap="square" lIns="0" tIns="0" rIns="0" bIns="0" rtlCol="0" anchor="b"/>
          <a:lstStyle/>
          <a:p>
            <a:pPr indent="0" marL="0">
              <a:buNone/>
            </a:pPr>
            <a:r>
              <a:rPr lang="en-US" sz="3600" b="1" dirty="0">
                <a:solidFill>
                  <a:srgbClr val="4A7BF7"/>
                </a:solidFill>
                <a:latin typeface="Inter Tight" pitchFamily="34" charset="0"/>
                <a:ea typeface="Inter Tight" pitchFamily="34" charset="-122"/>
                <a:cs typeface="Inter Tight" pitchFamily="34" charset="-120"/>
              </a:rPr>
              <a:t>CodeFortyNine</a:t>
            </a:r>
            <a:endParaRPr lang="en-US" sz="3600" dirty="0"/>
          </a:p>
        </p:txBody>
      </p:sp>
      <p:sp>
        <p:nvSpPr>
          <p:cNvPr id="5" name="Text 1"/>
          <p:cNvSpPr/>
          <p:nvPr/>
        </p:nvSpPr>
        <p:spPr>
          <a:xfrm>
            <a:off x="457200" y="2157984"/>
            <a:ext cx="4754880" cy="896112"/>
          </a:xfrm>
          <a:prstGeom prst="rect">
            <a:avLst/>
          </a:prstGeom>
          <a:noFill/>
          <a:ln/>
        </p:spPr>
        <p:txBody>
          <a:bodyPr wrap="square" lIns="0" tIns="0" rIns="0" bIns="0" rtlCol="0" anchor="t"/>
          <a:lstStyle/>
          <a:p>
            <a:pPr indent="0" marL="0">
              <a:lnSpc>
                <a:spcPct val="105000"/>
              </a:lnSpc>
              <a:buNone/>
            </a:pPr>
            <a:r>
              <a:rPr lang="en-US" sz="3050" b="1" dirty="0">
                <a:solidFill>
                  <a:srgbClr val="0F0F0F"/>
                </a:solidFill>
                <a:latin typeface="Inter Tight" pitchFamily="34" charset="0"/>
                <a:ea typeface="Inter Tight" pitchFamily="34" charset="-122"/>
                <a:cs typeface="Inter Tight" pitchFamily="34" charset="-120"/>
              </a:rPr>
              <a:t>Google Ads Optimization Plan</a:t>
            </a:r>
            <a:endParaRPr lang="en-US" sz="3050" dirty="0"/>
          </a:p>
        </p:txBody>
      </p:sp>
      <p:sp>
        <p:nvSpPr>
          <p:cNvPr id="6" name="Text 2"/>
          <p:cNvSpPr/>
          <p:nvPr/>
        </p:nvSpPr>
        <p:spPr>
          <a:xfrm>
            <a:off x="457200" y="3255264"/>
            <a:ext cx="4480560" cy="457200"/>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Prepared for the 15 August start, covering the first two weeks of work.</a:t>
            </a:r>
            <a:endParaRPr lang="en-US" sz="850" dirty="0"/>
          </a:p>
        </p:txBody>
      </p:sp>
      <p:sp>
        <p:nvSpPr>
          <p:cNvPr id="7" name="Text 3"/>
          <p:cNvSpPr/>
          <p:nvPr/>
        </p:nvSpPr>
        <p:spPr>
          <a:xfrm>
            <a:off x="457200" y="4315968"/>
            <a:ext cx="2011680" cy="219456"/>
          </a:xfrm>
          <a:prstGeom prst="rect">
            <a:avLst/>
          </a:prstGeom>
          <a:noFill/>
          <a:ln/>
        </p:spPr>
        <p:txBody>
          <a:bodyPr wrap="square" lIns="0" tIns="0" rIns="0" bIns="0" rtlCol="0" anchor="ctr"/>
          <a:lstStyle/>
          <a:p>
            <a:pPr indent="0" marL="0">
              <a:buNone/>
            </a:pPr>
            <a:r>
              <a:rPr lang="en-US" sz="750" dirty="0">
                <a:solidFill>
                  <a:srgbClr val="9AA0A8"/>
                </a:solidFill>
                <a:latin typeface="Inter Tight" pitchFamily="34" charset="0"/>
                <a:ea typeface="Inter Tight" pitchFamily="34" charset="-122"/>
                <a:cs typeface="Inter Tight" pitchFamily="34" charset="-120"/>
              </a:rPr>
              <a:t>[ Google Search ]</a:t>
            </a:r>
            <a:endParaRPr lang="en-US" sz="750" dirty="0"/>
          </a:p>
        </p:txBody>
      </p:sp>
      <p:sp>
        <p:nvSpPr>
          <p:cNvPr id="8" name="Text 4"/>
          <p:cNvSpPr/>
          <p:nvPr/>
        </p:nvSpPr>
        <p:spPr>
          <a:xfrm>
            <a:off x="6492240" y="4315968"/>
            <a:ext cx="2194560" cy="219456"/>
          </a:xfrm>
          <a:prstGeom prst="rect">
            <a:avLst/>
          </a:prstGeom>
          <a:noFill/>
          <a:ln/>
        </p:spPr>
        <p:txBody>
          <a:bodyPr wrap="square" lIns="0" tIns="0" rIns="0" bIns="0"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[ 15 to 30 August 2026 ]</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What we are working on</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Four optimizations, run in sequence from 15 August. The slides that follow take each one in turn.</a:t>
            </a:r>
            <a:endParaRPr lang="en-US" sz="850" dirty="0"/>
          </a:p>
        </p:txBody>
      </p:sp>
      <p:sp>
        <p:nvSpPr>
          <p:cNvPr id="5" name="Shape 3"/>
          <p:cNvSpPr/>
          <p:nvPr/>
        </p:nvSpPr>
        <p:spPr>
          <a:xfrm>
            <a:off x="457200" y="1243584"/>
            <a:ext cx="4005072" cy="1517904"/>
          </a:xfrm>
          <a:prstGeom prst="roundRect">
            <a:avLst>
              <a:gd name="adj" fmla="val 5422"/>
            </a:avLst>
          </a:prstGeom>
          <a:solidFill>
            <a:srgbClr val="F2F3F6"/>
          </a:solidFill>
          <a:ln/>
        </p:spPr>
      </p:sp>
      <p:sp>
        <p:nvSpPr>
          <p:cNvPr id="6" name="Shape 4"/>
          <p:cNvSpPr/>
          <p:nvPr/>
        </p:nvSpPr>
        <p:spPr>
          <a:xfrm>
            <a:off x="457200" y="1243584"/>
            <a:ext cx="4005072" cy="51206"/>
          </a:xfrm>
          <a:prstGeom prst="rect">
            <a:avLst/>
          </a:prstGeom>
          <a:solidFill>
            <a:srgbClr val="4A7BF7"/>
          </a:solidFill>
          <a:ln/>
        </p:spPr>
      </p:sp>
      <p:sp>
        <p:nvSpPr>
          <p:cNvPr id="7" name="Shape 5"/>
          <p:cNvSpPr/>
          <p:nvPr/>
        </p:nvSpPr>
        <p:spPr>
          <a:xfrm>
            <a:off x="658368" y="1463040"/>
            <a:ext cx="241402" cy="241402"/>
          </a:xfrm>
          <a:prstGeom prst="ellipse">
            <a:avLst/>
          </a:prstGeom>
          <a:solidFill>
            <a:srgbClr val="3056C9"/>
          </a:solidFill>
          <a:ln/>
        </p:spPr>
      </p:sp>
      <p:sp>
        <p:nvSpPr>
          <p:cNvPr id="8" name="Text 6"/>
          <p:cNvSpPr/>
          <p:nvPr/>
        </p:nvSpPr>
        <p:spPr>
          <a:xfrm>
            <a:off x="658368" y="1463040"/>
            <a:ext cx="241402" cy="241402"/>
          </a:xfrm>
          <a:prstGeom prst="rect">
            <a:avLst/>
          </a:prstGeom>
          <a:noFill/>
          <a:ln/>
        </p:spPr>
        <p:txBody>
          <a:bodyPr wrap="none" lIns="0" tIns="0" rIns="0" bIns="0" rtlCol="0" anchor="ctr"/>
          <a:lstStyle/>
          <a:p>
            <a:pPr algn="ctr" indent="0" marL="0">
              <a:buNone/>
            </a:pPr>
            <a:r>
              <a:rPr lang="en-US" sz="750" b="1" dirty="0">
                <a:solidFill>
                  <a:srgbClr val="FFFFFF"/>
                </a:solidFill>
                <a:latin typeface="Inter Tight" pitchFamily="34" charset="0"/>
                <a:ea typeface="Inter Tight" pitchFamily="34" charset="-122"/>
                <a:cs typeface="Inter Tight" pitchFamily="34" charset="-120"/>
              </a:rPr>
              <a:t>1</a:t>
            </a:r>
            <a:endParaRPr lang="en-US" sz="750" dirty="0"/>
          </a:p>
        </p:txBody>
      </p:sp>
      <p:sp>
        <p:nvSpPr>
          <p:cNvPr id="9" name="Text 7"/>
          <p:cNvSpPr/>
          <p:nvPr/>
        </p:nvSpPr>
        <p:spPr>
          <a:xfrm>
            <a:off x="987552" y="1463040"/>
            <a:ext cx="3255264" cy="256032"/>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Pause what does not convert</a:t>
            </a:r>
            <a:endParaRPr lang="en-US" sz="950" dirty="0"/>
          </a:p>
        </p:txBody>
      </p:sp>
      <p:sp>
        <p:nvSpPr>
          <p:cNvPr id="10" name="Text 8"/>
          <p:cNvSpPr/>
          <p:nvPr/>
        </p:nvSpPr>
        <p:spPr>
          <a:xfrm>
            <a:off x="658368" y="1810512"/>
            <a:ext cx="3602736" cy="713232"/>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Seven ad groups spent across 30 days and returned nothing. We switch them off and let the budget flow to the ad groups that do convert.</a:t>
            </a:r>
            <a:endParaRPr lang="en-US" sz="750" dirty="0"/>
          </a:p>
        </p:txBody>
      </p:sp>
      <p:sp>
        <p:nvSpPr>
          <p:cNvPr id="11" name="Shape 9"/>
          <p:cNvSpPr/>
          <p:nvPr/>
        </p:nvSpPr>
        <p:spPr>
          <a:xfrm>
            <a:off x="4681728" y="1243584"/>
            <a:ext cx="4005072" cy="1517904"/>
          </a:xfrm>
          <a:prstGeom prst="roundRect">
            <a:avLst>
              <a:gd name="adj" fmla="val 5422"/>
            </a:avLst>
          </a:prstGeom>
          <a:solidFill>
            <a:srgbClr val="F2F3F6"/>
          </a:solidFill>
          <a:ln/>
        </p:spPr>
      </p:sp>
      <p:sp>
        <p:nvSpPr>
          <p:cNvPr id="12" name="Shape 10"/>
          <p:cNvSpPr/>
          <p:nvPr/>
        </p:nvSpPr>
        <p:spPr>
          <a:xfrm>
            <a:off x="4681728" y="1243584"/>
            <a:ext cx="4005072" cy="51206"/>
          </a:xfrm>
          <a:prstGeom prst="rect">
            <a:avLst/>
          </a:prstGeom>
          <a:solidFill>
            <a:srgbClr val="2ECC9B"/>
          </a:solidFill>
          <a:ln/>
        </p:spPr>
      </p:sp>
      <p:sp>
        <p:nvSpPr>
          <p:cNvPr id="13" name="Shape 11"/>
          <p:cNvSpPr/>
          <p:nvPr/>
        </p:nvSpPr>
        <p:spPr>
          <a:xfrm>
            <a:off x="4882896" y="1463040"/>
            <a:ext cx="241402" cy="241402"/>
          </a:xfrm>
          <a:prstGeom prst="ellipse">
            <a:avLst/>
          </a:prstGeom>
          <a:solidFill>
            <a:srgbClr val="3056C9"/>
          </a:solidFill>
          <a:ln/>
        </p:spPr>
      </p:sp>
      <p:sp>
        <p:nvSpPr>
          <p:cNvPr id="14" name="Text 12"/>
          <p:cNvSpPr/>
          <p:nvPr/>
        </p:nvSpPr>
        <p:spPr>
          <a:xfrm>
            <a:off x="4882896" y="1463040"/>
            <a:ext cx="241402" cy="241402"/>
          </a:xfrm>
          <a:prstGeom prst="rect">
            <a:avLst/>
          </a:prstGeom>
          <a:noFill/>
          <a:ln/>
        </p:spPr>
        <p:txBody>
          <a:bodyPr wrap="none" lIns="0" tIns="0" rIns="0" bIns="0" rtlCol="0" anchor="ctr"/>
          <a:lstStyle/>
          <a:p>
            <a:pPr algn="ctr" indent="0" marL="0">
              <a:buNone/>
            </a:pPr>
            <a:r>
              <a:rPr lang="en-US" sz="750" b="1" dirty="0">
                <a:solidFill>
                  <a:srgbClr val="FFFFFF"/>
                </a:solidFill>
                <a:latin typeface="Inter Tight" pitchFamily="34" charset="0"/>
                <a:ea typeface="Inter Tight" pitchFamily="34" charset="-122"/>
                <a:cs typeface="Inter Tight" pitchFamily="34" charset="-120"/>
              </a:rPr>
              <a:t>2</a:t>
            </a:r>
            <a:endParaRPr lang="en-US" sz="750" dirty="0"/>
          </a:p>
        </p:txBody>
      </p:sp>
      <p:sp>
        <p:nvSpPr>
          <p:cNvPr id="15" name="Text 13"/>
          <p:cNvSpPr/>
          <p:nvPr/>
        </p:nvSpPr>
        <p:spPr>
          <a:xfrm>
            <a:off x="5212080" y="1463040"/>
            <a:ext cx="3255264" cy="256032"/>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Tighten keywords and match types</a:t>
            </a:r>
            <a:endParaRPr lang="en-US" sz="950" dirty="0"/>
          </a:p>
        </p:txBody>
      </p:sp>
      <p:sp>
        <p:nvSpPr>
          <p:cNvPr id="16" name="Text 14"/>
          <p:cNvSpPr/>
          <p:nvPr/>
        </p:nvSpPr>
        <p:spPr>
          <a:xfrm>
            <a:off x="4882896" y="1810512"/>
            <a:ext cx="3602736" cy="713232"/>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We pause the keywords that spend without converting, move the two biggest broad match terms to phrase match, and add a validated set of new ones.</a:t>
            </a:r>
            <a:endParaRPr lang="en-US" sz="750" dirty="0"/>
          </a:p>
        </p:txBody>
      </p:sp>
      <p:sp>
        <p:nvSpPr>
          <p:cNvPr id="17" name="Shape 15"/>
          <p:cNvSpPr/>
          <p:nvPr/>
        </p:nvSpPr>
        <p:spPr>
          <a:xfrm>
            <a:off x="457200" y="2907792"/>
            <a:ext cx="4005072" cy="1517904"/>
          </a:xfrm>
          <a:prstGeom prst="roundRect">
            <a:avLst>
              <a:gd name="adj" fmla="val 5422"/>
            </a:avLst>
          </a:prstGeom>
          <a:solidFill>
            <a:srgbClr val="F2F3F6"/>
          </a:solidFill>
          <a:ln/>
        </p:spPr>
      </p:sp>
      <p:sp>
        <p:nvSpPr>
          <p:cNvPr id="18" name="Shape 16"/>
          <p:cNvSpPr/>
          <p:nvPr/>
        </p:nvSpPr>
        <p:spPr>
          <a:xfrm>
            <a:off x="457200" y="2907792"/>
            <a:ext cx="4005072" cy="51206"/>
          </a:xfrm>
          <a:prstGeom prst="rect">
            <a:avLst/>
          </a:prstGeom>
          <a:solidFill>
            <a:srgbClr val="8E6BE6"/>
          </a:solidFill>
          <a:ln/>
        </p:spPr>
      </p:sp>
      <p:sp>
        <p:nvSpPr>
          <p:cNvPr id="19" name="Shape 17"/>
          <p:cNvSpPr/>
          <p:nvPr/>
        </p:nvSpPr>
        <p:spPr>
          <a:xfrm>
            <a:off x="658368" y="3127248"/>
            <a:ext cx="241402" cy="241402"/>
          </a:xfrm>
          <a:prstGeom prst="ellipse">
            <a:avLst/>
          </a:prstGeom>
          <a:solidFill>
            <a:srgbClr val="3056C9"/>
          </a:solidFill>
          <a:ln/>
        </p:spPr>
      </p:sp>
      <p:sp>
        <p:nvSpPr>
          <p:cNvPr id="20" name="Text 18"/>
          <p:cNvSpPr/>
          <p:nvPr/>
        </p:nvSpPr>
        <p:spPr>
          <a:xfrm>
            <a:off x="658368" y="3127248"/>
            <a:ext cx="241402" cy="241402"/>
          </a:xfrm>
          <a:prstGeom prst="rect">
            <a:avLst/>
          </a:prstGeom>
          <a:noFill/>
          <a:ln/>
        </p:spPr>
        <p:txBody>
          <a:bodyPr wrap="none" lIns="0" tIns="0" rIns="0" bIns="0" rtlCol="0" anchor="ctr"/>
          <a:lstStyle/>
          <a:p>
            <a:pPr algn="ctr" indent="0" marL="0">
              <a:buNone/>
            </a:pPr>
            <a:r>
              <a:rPr lang="en-US" sz="750" b="1" dirty="0">
                <a:solidFill>
                  <a:srgbClr val="FFFFFF"/>
                </a:solidFill>
                <a:latin typeface="Inter Tight" pitchFamily="34" charset="0"/>
                <a:ea typeface="Inter Tight" pitchFamily="34" charset="-122"/>
                <a:cs typeface="Inter Tight" pitchFamily="34" charset="-120"/>
              </a:rPr>
              <a:t>3</a:t>
            </a:r>
            <a:endParaRPr lang="en-US" sz="750" dirty="0"/>
          </a:p>
        </p:txBody>
      </p:sp>
      <p:sp>
        <p:nvSpPr>
          <p:cNvPr id="21" name="Text 19"/>
          <p:cNvSpPr/>
          <p:nvPr/>
        </p:nvSpPr>
        <p:spPr>
          <a:xfrm>
            <a:off x="987552" y="3127248"/>
            <a:ext cx="3255264" cy="256032"/>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Rebuild the campaign structure</a:t>
            </a:r>
            <a:endParaRPr lang="en-US" sz="950" dirty="0"/>
          </a:p>
        </p:txBody>
      </p:sp>
      <p:sp>
        <p:nvSpPr>
          <p:cNvPr id="22" name="Text 20"/>
          <p:cNvSpPr/>
          <p:nvPr/>
        </p:nvSpPr>
        <p:spPr>
          <a:xfrm>
            <a:off x="658368" y="3474720"/>
            <a:ext cx="3602736" cy="713232"/>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Five campaigns organized by product feature become three organized by buyer intent, so budget follows the way people search.</a:t>
            </a:r>
            <a:endParaRPr lang="en-US" sz="750" dirty="0"/>
          </a:p>
        </p:txBody>
      </p:sp>
      <p:sp>
        <p:nvSpPr>
          <p:cNvPr id="23" name="Shape 21"/>
          <p:cNvSpPr/>
          <p:nvPr/>
        </p:nvSpPr>
        <p:spPr>
          <a:xfrm>
            <a:off x="4681728" y="2907792"/>
            <a:ext cx="4005072" cy="1517904"/>
          </a:xfrm>
          <a:prstGeom prst="roundRect">
            <a:avLst>
              <a:gd name="adj" fmla="val 5422"/>
            </a:avLst>
          </a:prstGeom>
          <a:solidFill>
            <a:srgbClr val="F2F3F6"/>
          </a:solidFill>
          <a:ln/>
        </p:spPr>
      </p:sp>
      <p:sp>
        <p:nvSpPr>
          <p:cNvPr id="24" name="Shape 22"/>
          <p:cNvSpPr/>
          <p:nvPr/>
        </p:nvSpPr>
        <p:spPr>
          <a:xfrm>
            <a:off x="4681728" y="2907792"/>
            <a:ext cx="4005072" cy="51206"/>
          </a:xfrm>
          <a:prstGeom prst="rect">
            <a:avLst/>
          </a:prstGeom>
          <a:solidFill>
            <a:srgbClr val="F28B4C"/>
          </a:solidFill>
          <a:ln/>
        </p:spPr>
      </p:sp>
      <p:sp>
        <p:nvSpPr>
          <p:cNvPr id="25" name="Shape 23"/>
          <p:cNvSpPr/>
          <p:nvPr/>
        </p:nvSpPr>
        <p:spPr>
          <a:xfrm>
            <a:off x="4882896" y="3127248"/>
            <a:ext cx="241402" cy="241402"/>
          </a:xfrm>
          <a:prstGeom prst="ellipse">
            <a:avLst/>
          </a:prstGeom>
          <a:solidFill>
            <a:srgbClr val="3056C9"/>
          </a:solidFill>
          <a:ln/>
        </p:spPr>
      </p:sp>
      <p:sp>
        <p:nvSpPr>
          <p:cNvPr id="26" name="Text 24"/>
          <p:cNvSpPr/>
          <p:nvPr/>
        </p:nvSpPr>
        <p:spPr>
          <a:xfrm>
            <a:off x="4882896" y="3127248"/>
            <a:ext cx="241402" cy="241402"/>
          </a:xfrm>
          <a:prstGeom prst="rect">
            <a:avLst/>
          </a:prstGeom>
          <a:noFill/>
          <a:ln/>
        </p:spPr>
        <p:txBody>
          <a:bodyPr wrap="none" lIns="0" tIns="0" rIns="0" bIns="0" rtlCol="0" anchor="ctr"/>
          <a:lstStyle/>
          <a:p>
            <a:pPr algn="ctr" indent="0" marL="0">
              <a:buNone/>
            </a:pPr>
            <a:r>
              <a:rPr lang="en-US" sz="750" b="1" dirty="0">
                <a:solidFill>
                  <a:srgbClr val="FFFFFF"/>
                </a:solidFill>
                <a:latin typeface="Inter Tight" pitchFamily="34" charset="0"/>
                <a:ea typeface="Inter Tight" pitchFamily="34" charset="-122"/>
                <a:cs typeface="Inter Tight" pitchFamily="34" charset="-120"/>
              </a:rPr>
              <a:t>4</a:t>
            </a:r>
            <a:endParaRPr lang="en-US" sz="750" dirty="0"/>
          </a:p>
        </p:txBody>
      </p:sp>
      <p:sp>
        <p:nvSpPr>
          <p:cNvPr id="27" name="Text 25"/>
          <p:cNvSpPr/>
          <p:nvPr/>
        </p:nvSpPr>
        <p:spPr>
          <a:xfrm>
            <a:off x="5212080" y="3127248"/>
            <a:ext cx="3255264" cy="256032"/>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Refresh ad copy and extensions</a:t>
            </a:r>
            <a:endParaRPr lang="en-US" sz="950" dirty="0"/>
          </a:p>
        </p:txBody>
      </p:sp>
      <p:sp>
        <p:nvSpPr>
          <p:cNvPr id="28" name="Text 26"/>
          <p:cNvSpPr/>
          <p:nvPr/>
        </p:nvSpPr>
        <p:spPr>
          <a:xfrm>
            <a:off x="4882896" y="3474720"/>
            <a:ext cx="3602736" cy="713232"/>
          </a:xfrm>
          <a:prstGeom prst="rect">
            <a:avLst/>
          </a:prstGeom>
          <a:noFill/>
          <a:ln/>
        </p:spPr>
        <p:txBody>
          <a:bodyPr wrap="square" lIns="0" tIns="0" rIns="0" bIns="0" rtlCol="0" anchor="t"/>
          <a:lstStyle/>
          <a:p>
            <a:pPr indent="0" marL="0">
              <a:lnSpc>
                <a:spcPct val="122000"/>
              </a:lnSpc>
              <a:buNone/>
            </a:pPr>
            <a:r>
              <a:rPr lang="en-US" sz="750" dirty="0">
                <a:solidFill>
                  <a:srgbClr val="4A4A4A"/>
                </a:solidFill>
                <a:latin typeface="Inter Tight" pitchFamily="34" charset="0"/>
                <a:ea typeface="Inter Tight" pitchFamily="34" charset="-122"/>
                <a:cs typeface="Inter Tight" pitchFamily="34" charset="-120"/>
              </a:rPr>
              <a:t>Nine new responsive search ads go live, along with the sitelinks, callouts and structured snippets the account is missing today.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Optimization 1: pause what does not convert</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Seven of the thirteen ad groups spent money across a 30 day window and produced no conversions at all.</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691640"/>
                <a:gridCol w="1325880"/>
                <a:gridCol w="1417320"/>
                <a:gridCol w="3794760"/>
              </a:tblGrid>
              <a:tr h="274320">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Campaign</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Ad groups paused</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Spend released</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What keeps running</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384048">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instanceclone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3 of 5</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€403.86</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Instance Clone Generic and Instance Clone Project</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84048">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generic</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1 of 2</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€243.85</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The main Generic ad group</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84048">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projectclone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3 of 4</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€74.45</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Template Project Clone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420624">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Total</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7 of 13</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100" b="1" dirty="0">
                          <a:solidFill>
                            <a:srgbClr val="4A7BF7"/>
                          </a:solidFill>
                          <a:latin typeface="Inter Tight" pitchFamily="34" charset="0"/>
                          <a:ea typeface="Inter Tight" pitchFamily="34" charset="-122"/>
                          <a:cs typeface="Inter Tight" pitchFamily="34" charset="-120"/>
                        </a:rPr>
                        <a:t>€722.16</a:t>
                      </a:r>
                      <a:endParaRPr lang="en-US" sz="11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Six ad groups continue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3438144"/>
            <a:ext cx="8229600" cy="457200"/>
          </a:xfrm>
          <a:prstGeom prst="rect">
            <a:avLst/>
          </a:prstGeom>
          <a:noFill/>
          <a:ln/>
        </p:spPr>
        <p:txBody>
          <a:bodyPr wrap="square" lIns="0" tIns="0" rIns="0" bIns="0" rtlCol="0" anchor="t"/>
          <a:lstStyle/>
          <a:p>
            <a:pPr indent="0" marL="0">
              <a:lnSpc>
                <a:spcPct val="125000"/>
              </a:lnSpc>
              <a:buNone/>
            </a:pPr>
            <a:r>
              <a:rPr lang="en-US" sz="750" dirty="0">
                <a:solidFill>
                  <a:srgbClr val="4A4A4A"/>
                </a:solidFill>
                <a:latin typeface="Inter Tight" pitchFamily="34" charset="0"/>
                <a:ea typeface="Inter Tight" pitchFamily="34" charset="-122"/>
                <a:cs typeface="Inter Tight" pitchFamily="34" charset="-120"/>
              </a:rPr>
              <a:t>The ad groups coming out are the issue, space and work item variants across all three campaigns, plus the bulk clone group. Every one of them draws clicks on searches that describe a Jira action rather than a buying decision.</a:t>
            </a:r>
            <a:endParaRPr lang="en-US" sz="750" dirty="0"/>
          </a:p>
        </p:txBody>
      </p:sp>
      <p:sp>
        <p:nvSpPr>
          <p:cNvPr id="7" name="Shape 4"/>
          <p:cNvSpPr/>
          <p:nvPr/>
        </p:nvSpPr>
        <p:spPr>
          <a:xfrm>
            <a:off x="457200" y="4315968"/>
            <a:ext cx="8229600" cy="310896"/>
          </a:xfrm>
          <a:prstGeom prst="rect">
            <a:avLst/>
          </a:prstGeom>
          <a:solidFill>
            <a:srgbClr val="3056C9"/>
          </a:solidFill>
          <a:ln/>
        </p:spPr>
      </p:sp>
      <p:sp>
        <p:nvSpPr>
          <p:cNvPr id="8" name="Text 5"/>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7 ad groups paused</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€722.16 released</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0 conversions between them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Optimization 2: tighten keywords and match types</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Three moves inside the six ad groups we keep. Broad match is where most of the waste sits.</a:t>
            </a:r>
            <a:endParaRPr lang="en-US" sz="8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417320"/>
                <a:gridCol w="2148840"/>
                <a:gridCol w="1371600"/>
                <a:gridCol w="3291840"/>
              </a:tblGrid>
              <a:tr h="274320">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Move</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Scope</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Size of the move</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Why</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530352">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Pause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12 keywords across 6 ad groups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€1,037.90</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These keywords spent through the full window and returned no conversions.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658368">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Switch to phrase match</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2 keywords, deep clone jira and jira cloud migration</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100" b="1" dirty="0">
                          <a:solidFill>
                            <a:srgbClr val="4A7BF7"/>
                          </a:solidFill>
                          <a:latin typeface="Inter Tight" pitchFamily="34" charset="0"/>
                          <a:ea typeface="Inter Tight" pitchFamily="34" charset="-122"/>
                          <a:cs typeface="Inter Tight" pitchFamily="34" charset="-120"/>
                        </a:rPr>
                        <a:t>€1,077.57</a:t>
                      </a:r>
                      <a:endParaRPr lang="en-US" sz="11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Together they are 28 percent of all spend and returned one conversion each. Phrase match keeps the intent and drops the drift.</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566928">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Add</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14 keywords across 4 themes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1,040 searches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Validated monthly volume across instance clone, project clone, brand and template themes.</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529584"/>
            <a:ext cx="8229600" cy="457200"/>
          </a:xfrm>
          <a:prstGeom prst="roundRect">
            <a:avLst>
              <a:gd name="adj" fmla="val 16000"/>
            </a:avLst>
          </a:prstGeom>
          <a:solidFill>
            <a:srgbClr val="DDE5FE"/>
          </a:solidFill>
          <a:ln/>
        </p:spPr>
      </p:sp>
      <p:sp>
        <p:nvSpPr>
          <p:cNvPr id="7" name="Text 4"/>
          <p:cNvSpPr/>
          <p:nvPr/>
        </p:nvSpPr>
        <p:spPr>
          <a:xfrm>
            <a:off x="640080" y="3529584"/>
            <a:ext cx="7863840" cy="457200"/>
          </a:xfrm>
          <a:prstGeom prst="rect">
            <a:avLst/>
          </a:prstGeom>
          <a:noFill/>
          <a:ln/>
        </p:spPr>
        <p:txBody>
          <a:bodyPr wrap="square" lIns="0" tIns="0" rIns="0" bIns="0" rtlCol="0" anchor="ctr"/>
          <a:lstStyle/>
          <a:p>
            <a:pPr indent="0" marL="0">
              <a:buNone/>
            </a:pPr>
            <a:r>
              <a:rPr lang="en-US" sz="750" b="1" dirty="0">
                <a:solidFill>
                  <a:srgbClr val="3056C9"/>
                </a:solidFill>
                <a:latin typeface="Inter Tight" pitchFamily="34" charset="0"/>
                <a:ea typeface="Inter Tight" pitchFamily="34" charset="-122"/>
                <a:cs typeface="Inter Tight" pitchFamily="34" charset="-120"/>
              </a:rPr>
              <a:t>Shared negative list: </a:t>
            </a:r>
            <a:pPr indent="0" marL="0">
              <a:buNone/>
            </a:pPr>
            <a:r>
              <a:rPr lang="en-US" sz="750" dirty="0">
                <a:solidFill>
                  <a:srgbClr val="4A4A4A"/>
                </a:solidFill>
                <a:latin typeface="Inter Tight" pitchFamily="34" charset="0"/>
                <a:ea typeface="Inter Tight" pitchFamily="34" charset="-122"/>
                <a:cs typeface="Inter Tight" pitchFamily="34" charset="-120"/>
              </a:rPr>
              <a:t>terms like jobs, position, training, hiring, KPI, free and vs get blocked across all campaigns, so research and recruitment traffic stops drawing clicks.</a:t>
            </a:r>
            <a:endParaRPr lang="en-US" sz="750" dirty="0"/>
          </a:p>
        </p:txBody>
      </p:sp>
      <p:sp>
        <p:nvSpPr>
          <p:cNvPr id="8" name="Shape 5"/>
          <p:cNvSpPr/>
          <p:nvPr/>
        </p:nvSpPr>
        <p:spPr>
          <a:xfrm>
            <a:off x="457200" y="4315968"/>
            <a:ext cx="8229600" cy="310896"/>
          </a:xfrm>
          <a:prstGeom prst="rect">
            <a:avLst/>
          </a:prstGeom>
          <a:solidFill>
            <a:srgbClr val="3056C9"/>
          </a:solidFill>
          <a:ln/>
        </p:spPr>
      </p:sp>
      <p:sp>
        <p:nvSpPr>
          <p:cNvPr id="9" name="Text 6"/>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12 paused</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2 switched to phrase</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14 added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Optimization 3: rebuild the campaign structure</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The account is built around product features today. We rebuild it around how buyers search.</a:t>
            </a:r>
            <a:endParaRPr lang="en-US" sz="850" dirty="0"/>
          </a:p>
        </p:txBody>
      </p:sp>
      <p:sp>
        <p:nvSpPr>
          <p:cNvPr id="5" name="Shape 3"/>
          <p:cNvSpPr/>
          <p:nvPr/>
        </p:nvSpPr>
        <p:spPr>
          <a:xfrm>
            <a:off x="457200" y="1298448"/>
            <a:ext cx="3703320" cy="2615184"/>
          </a:xfrm>
          <a:prstGeom prst="roundRect">
            <a:avLst>
              <a:gd name="adj" fmla="val 3147"/>
            </a:avLst>
          </a:prstGeom>
          <a:solidFill>
            <a:srgbClr val="F2F3F6"/>
          </a:solidFill>
          <a:ln/>
        </p:spPr>
      </p:sp>
      <p:sp>
        <p:nvSpPr>
          <p:cNvPr id="6" name="Shape 4"/>
          <p:cNvSpPr/>
          <p:nvPr/>
        </p:nvSpPr>
        <p:spPr>
          <a:xfrm>
            <a:off x="457200" y="1298448"/>
            <a:ext cx="3703320" cy="51206"/>
          </a:xfrm>
          <a:prstGeom prst="rect">
            <a:avLst/>
          </a:prstGeom>
          <a:solidFill>
            <a:srgbClr val="2C2C36"/>
          </a:solidFill>
          <a:ln/>
        </p:spPr>
      </p:sp>
      <p:sp>
        <p:nvSpPr>
          <p:cNvPr id="7" name="Text 5"/>
          <p:cNvSpPr/>
          <p:nvPr/>
        </p:nvSpPr>
        <p:spPr>
          <a:xfrm>
            <a:off x="658368" y="1463040"/>
            <a:ext cx="3291840" cy="219456"/>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Today</a:t>
            </a:r>
            <a:endParaRPr lang="en-US" sz="950" dirty="0"/>
          </a:p>
        </p:txBody>
      </p:sp>
      <p:sp>
        <p:nvSpPr>
          <p:cNvPr id="8" name="Text 6"/>
          <p:cNvSpPr/>
          <p:nvPr/>
        </p:nvSpPr>
        <p:spPr>
          <a:xfrm>
            <a:off x="658368" y="1700784"/>
            <a:ext cx="3291840" cy="274320"/>
          </a:xfrm>
          <a:prstGeom prst="rect">
            <a:avLst/>
          </a:prstGeom>
          <a:noFill/>
          <a:ln/>
        </p:spPr>
        <p:txBody>
          <a:bodyPr wrap="square" lIns="0" tIns="0" rIns="0" bIns="0" rtlCol="0" anchor="ctr"/>
          <a:lstStyle/>
          <a:p>
            <a:pPr indent="0" marL="0">
              <a:buNone/>
            </a:pPr>
            <a:r>
              <a:rPr lang="en-US" sz="1700" b="1" dirty="0">
                <a:solidFill>
                  <a:srgbClr val="0F0F0F"/>
                </a:solidFill>
                <a:latin typeface="Inter Tight" pitchFamily="34" charset="0"/>
                <a:ea typeface="Inter Tight" pitchFamily="34" charset="-122"/>
                <a:cs typeface="Inter Tight" pitchFamily="34" charset="-120"/>
              </a:rPr>
              <a:t>5 campaigns, 13 ad groups</a:t>
            </a:r>
            <a:endParaRPr lang="en-US" sz="1700" dirty="0"/>
          </a:p>
        </p:txBody>
      </p:sp>
      <p:sp>
        <p:nvSpPr>
          <p:cNvPr id="9" name="Shape 7"/>
          <p:cNvSpPr/>
          <p:nvPr/>
        </p:nvSpPr>
        <p:spPr>
          <a:xfrm>
            <a:off x="676656" y="2171700"/>
            <a:ext cx="44806" cy="44806"/>
          </a:xfrm>
          <a:prstGeom prst="ellipse">
            <a:avLst/>
          </a:prstGeom>
          <a:solidFill>
            <a:srgbClr val="2C2C36"/>
          </a:solidFill>
          <a:ln/>
        </p:spPr>
      </p:sp>
      <p:sp>
        <p:nvSpPr>
          <p:cNvPr id="10" name="Text 8"/>
          <p:cNvSpPr/>
          <p:nvPr/>
        </p:nvSpPr>
        <p:spPr>
          <a:xfrm>
            <a:off x="822960" y="2121408"/>
            <a:ext cx="3108960" cy="182880"/>
          </a:xfrm>
          <a:prstGeom prst="rect">
            <a:avLst/>
          </a:prstGeom>
          <a:noFill/>
          <a:ln/>
        </p:spPr>
        <p:txBody>
          <a:bodyPr wrap="square" lIns="0" tIns="0" rIns="0" bIns="0" rtlCol="0" anchor="ctr"/>
          <a:lstStyle/>
          <a:p>
            <a:pPr indent="0" marL="0">
              <a:buNone/>
            </a:pPr>
            <a:r>
              <a:rPr lang="en-US" sz="750" dirty="0">
                <a:solidFill>
                  <a:srgbClr val="4A4A4A"/>
                </a:solidFill>
                <a:latin typeface="Inter Tight" pitchFamily="34" charset="0"/>
                <a:ea typeface="Inter Tight" pitchFamily="34" charset="-122"/>
                <a:cs typeface="Inter Tight" pitchFamily="34" charset="-120"/>
              </a:rPr>
              <a:t>instanceclone</a:t>
            </a:r>
            <a:endParaRPr lang="en-US" sz="750" dirty="0"/>
          </a:p>
        </p:txBody>
      </p:sp>
      <p:sp>
        <p:nvSpPr>
          <p:cNvPr id="11" name="Shape 9"/>
          <p:cNvSpPr/>
          <p:nvPr/>
        </p:nvSpPr>
        <p:spPr>
          <a:xfrm>
            <a:off x="676656" y="2391156"/>
            <a:ext cx="44806" cy="44806"/>
          </a:xfrm>
          <a:prstGeom prst="ellipse">
            <a:avLst/>
          </a:prstGeom>
          <a:solidFill>
            <a:srgbClr val="2C2C36"/>
          </a:solidFill>
          <a:ln/>
        </p:spPr>
      </p:sp>
      <p:sp>
        <p:nvSpPr>
          <p:cNvPr id="12" name="Text 10"/>
          <p:cNvSpPr/>
          <p:nvPr/>
        </p:nvSpPr>
        <p:spPr>
          <a:xfrm>
            <a:off x="822960" y="2340864"/>
            <a:ext cx="3108960" cy="182880"/>
          </a:xfrm>
          <a:prstGeom prst="rect">
            <a:avLst/>
          </a:prstGeom>
          <a:noFill/>
          <a:ln/>
        </p:spPr>
        <p:txBody>
          <a:bodyPr wrap="square" lIns="0" tIns="0" rIns="0" bIns="0" rtlCol="0" anchor="ctr"/>
          <a:lstStyle/>
          <a:p>
            <a:pPr indent="0" marL="0">
              <a:buNone/>
            </a:pPr>
            <a:r>
              <a:rPr lang="en-US" sz="750" dirty="0">
                <a:solidFill>
                  <a:srgbClr val="4A4A4A"/>
                </a:solidFill>
                <a:latin typeface="Inter Tight" pitchFamily="34" charset="0"/>
                <a:ea typeface="Inter Tight" pitchFamily="34" charset="-122"/>
                <a:cs typeface="Inter Tight" pitchFamily="34" charset="-120"/>
              </a:rPr>
              <a:t>brand</a:t>
            </a:r>
            <a:endParaRPr lang="en-US" sz="750" dirty="0"/>
          </a:p>
        </p:txBody>
      </p:sp>
      <p:sp>
        <p:nvSpPr>
          <p:cNvPr id="13" name="Shape 11"/>
          <p:cNvSpPr/>
          <p:nvPr/>
        </p:nvSpPr>
        <p:spPr>
          <a:xfrm>
            <a:off x="676656" y="2610612"/>
            <a:ext cx="44806" cy="44806"/>
          </a:xfrm>
          <a:prstGeom prst="ellipse">
            <a:avLst/>
          </a:prstGeom>
          <a:solidFill>
            <a:srgbClr val="2C2C36"/>
          </a:solidFill>
          <a:ln/>
        </p:spPr>
      </p:sp>
      <p:sp>
        <p:nvSpPr>
          <p:cNvPr id="14" name="Text 12"/>
          <p:cNvSpPr/>
          <p:nvPr/>
        </p:nvSpPr>
        <p:spPr>
          <a:xfrm>
            <a:off x="822960" y="2560320"/>
            <a:ext cx="3108960" cy="182880"/>
          </a:xfrm>
          <a:prstGeom prst="rect">
            <a:avLst/>
          </a:prstGeom>
          <a:noFill/>
          <a:ln/>
        </p:spPr>
        <p:txBody>
          <a:bodyPr wrap="square" lIns="0" tIns="0" rIns="0" bIns="0" rtlCol="0" anchor="ctr"/>
          <a:lstStyle/>
          <a:p>
            <a:pPr indent="0" marL="0">
              <a:buNone/>
            </a:pPr>
            <a:r>
              <a:rPr lang="en-US" sz="750" dirty="0">
                <a:solidFill>
                  <a:srgbClr val="4A4A4A"/>
                </a:solidFill>
                <a:latin typeface="Inter Tight" pitchFamily="34" charset="0"/>
                <a:ea typeface="Inter Tight" pitchFamily="34" charset="-122"/>
                <a:cs typeface="Inter Tight" pitchFamily="34" charset="-120"/>
              </a:rPr>
              <a:t>generic</a:t>
            </a:r>
            <a:endParaRPr lang="en-US" sz="750" dirty="0"/>
          </a:p>
        </p:txBody>
      </p:sp>
      <p:sp>
        <p:nvSpPr>
          <p:cNvPr id="15" name="Shape 13"/>
          <p:cNvSpPr/>
          <p:nvPr/>
        </p:nvSpPr>
        <p:spPr>
          <a:xfrm>
            <a:off x="676656" y="2830068"/>
            <a:ext cx="44806" cy="44806"/>
          </a:xfrm>
          <a:prstGeom prst="ellipse">
            <a:avLst/>
          </a:prstGeom>
          <a:solidFill>
            <a:srgbClr val="2C2C36"/>
          </a:solidFill>
          <a:ln/>
        </p:spPr>
      </p:sp>
      <p:sp>
        <p:nvSpPr>
          <p:cNvPr id="16" name="Text 14"/>
          <p:cNvSpPr/>
          <p:nvPr/>
        </p:nvSpPr>
        <p:spPr>
          <a:xfrm>
            <a:off x="822960" y="2779776"/>
            <a:ext cx="3108960" cy="182880"/>
          </a:xfrm>
          <a:prstGeom prst="rect">
            <a:avLst/>
          </a:prstGeom>
          <a:noFill/>
          <a:ln/>
        </p:spPr>
        <p:txBody>
          <a:bodyPr wrap="square" lIns="0" tIns="0" rIns="0" bIns="0" rtlCol="0" anchor="ctr"/>
          <a:lstStyle/>
          <a:p>
            <a:pPr indent="0" marL="0">
              <a:buNone/>
            </a:pPr>
            <a:r>
              <a:rPr lang="en-US" sz="750" dirty="0">
                <a:solidFill>
                  <a:srgbClr val="4A4A4A"/>
                </a:solidFill>
                <a:latin typeface="Inter Tight" pitchFamily="34" charset="0"/>
                <a:ea typeface="Inter Tight" pitchFamily="34" charset="-122"/>
                <a:cs typeface="Inter Tight" pitchFamily="34" charset="-120"/>
              </a:rPr>
              <a:t>competition</a:t>
            </a:r>
            <a:endParaRPr lang="en-US" sz="750" dirty="0"/>
          </a:p>
        </p:txBody>
      </p:sp>
      <p:sp>
        <p:nvSpPr>
          <p:cNvPr id="17" name="Shape 15"/>
          <p:cNvSpPr/>
          <p:nvPr/>
        </p:nvSpPr>
        <p:spPr>
          <a:xfrm>
            <a:off x="676656" y="3049524"/>
            <a:ext cx="44806" cy="44806"/>
          </a:xfrm>
          <a:prstGeom prst="ellipse">
            <a:avLst/>
          </a:prstGeom>
          <a:solidFill>
            <a:srgbClr val="2C2C36"/>
          </a:solidFill>
          <a:ln/>
        </p:spPr>
      </p:sp>
      <p:sp>
        <p:nvSpPr>
          <p:cNvPr id="18" name="Text 16"/>
          <p:cNvSpPr/>
          <p:nvPr/>
        </p:nvSpPr>
        <p:spPr>
          <a:xfrm>
            <a:off x="822960" y="2999232"/>
            <a:ext cx="3108960" cy="182880"/>
          </a:xfrm>
          <a:prstGeom prst="rect">
            <a:avLst/>
          </a:prstGeom>
          <a:noFill/>
          <a:ln/>
        </p:spPr>
        <p:txBody>
          <a:bodyPr wrap="square" lIns="0" tIns="0" rIns="0" bIns="0" rtlCol="0" anchor="ctr"/>
          <a:lstStyle/>
          <a:p>
            <a:pPr indent="0" marL="0">
              <a:buNone/>
            </a:pPr>
            <a:r>
              <a:rPr lang="en-US" sz="750" dirty="0">
                <a:solidFill>
                  <a:srgbClr val="4A4A4A"/>
                </a:solidFill>
                <a:latin typeface="Inter Tight" pitchFamily="34" charset="0"/>
                <a:ea typeface="Inter Tight" pitchFamily="34" charset="-122"/>
                <a:cs typeface="Inter Tight" pitchFamily="34" charset="-120"/>
              </a:rPr>
              <a:t>projectclone</a:t>
            </a:r>
            <a:endParaRPr lang="en-US" sz="750" dirty="0"/>
          </a:p>
        </p:txBody>
      </p:sp>
      <p:sp>
        <p:nvSpPr>
          <p:cNvPr id="19" name="Text 17"/>
          <p:cNvSpPr/>
          <p:nvPr/>
        </p:nvSpPr>
        <p:spPr>
          <a:xfrm>
            <a:off x="658368" y="3310128"/>
            <a:ext cx="3291840" cy="402336"/>
          </a:xfrm>
          <a:prstGeom prst="rect">
            <a:avLst/>
          </a:prstGeom>
          <a:noFill/>
          <a:ln/>
        </p:spPr>
        <p:txBody>
          <a:bodyPr wrap="square" lIns="0" tIns="0" rIns="0" bIns="0" rtlCol="0" anchor="t"/>
          <a:lstStyle/>
          <a:p>
            <a:pPr indent="0" marL="0">
              <a:lnSpc>
                <a:spcPct val="120000"/>
              </a:lnSpc>
              <a:buNone/>
            </a:pPr>
            <a:r>
              <a:rPr lang="en-US" sz="750" dirty="0">
                <a:solidFill>
                  <a:srgbClr val="4A4A4A"/>
                </a:solidFill>
                <a:latin typeface="Inter Tight" pitchFamily="34" charset="0"/>
                <a:ea typeface="Inter Tight" pitchFamily="34" charset="-122"/>
                <a:cs typeface="Inter Tight" pitchFamily="34" charset="-120"/>
              </a:rPr>
              <a:t>Ad groups are split by product feature: issues, spaces, work items, epics and templates.</a:t>
            </a:r>
            <a:endParaRPr lang="en-US" sz="750" dirty="0"/>
          </a:p>
        </p:txBody>
      </p:sp>
      <p:sp>
        <p:nvSpPr>
          <p:cNvPr id="20" name="Text 18"/>
          <p:cNvSpPr/>
          <p:nvPr/>
        </p:nvSpPr>
        <p:spPr>
          <a:xfrm>
            <a:off x="4261104" y="2414016"/>
            <a:ext cx="621792" cy="365760"/>
          </a:xfrm>
          <a:prstGeom prst="rect">
            <a:avLst/>
          </a:prstGeom>
          <a:noFill/>
          <a:ln/>
        </p:spPr>
        <p:txBody>
          <a:bodyPr wrap="square" lIns="0" tIns="0" rIns="0" bIns="0" rtlCol="0" anchor="ctr"/>
          <a:lstStyle/>
          <a:p>
            <a:pPr algn="ctr" indent="0" marL="0">
              <a:buNone/>
            </a:pPr>
            <a:r>
              <a:rPr lang="en-US" sz="1100" b="1" dirty="0">
                <a:solidFill>
                  <a:srgbClr val="4A7BF7"/>
                </a:solidFill>
                <a:latin typeface="Inter Tight" pitchFamily="34" charset="0"/>
                <a:ea typeface="Inter Tight" pitchFamily="34" charset="-122"/>
                <a:cs typeface="Inter Tight" pitchFamily="34" charset="-120"/>
              </a:rPr>
              <a:t>→</a:t>
            </a:r>
            <a:endParaRPr lang="en-US" sz="1100" dirty="0"/>
          </a:p>
        </p:txBody>
      </p:sp>
      <p:sp>
        <p:nvSpPr>
          <p:cNvPr id="21" name="Shape 19"/>
          <p:cNvSpPr/>
          <p:nvPr/>
        </p:nvSpPr>
        <p:spPr>
          <a:xfrm>
            <a:off x="4983480" y="1298448"/>
            <a:ext cx="3703320" cy="2615184"/>
          </a:xfrm>
          <a:prstGeom prst="roundRect">
            <a:avLst>
              <a:gd name="adj" fmla="val 3147"/>
            </a:avLst>
          </a:prstGeom>
          <a:solidFill>
            <a:srgbClr val="DDE5FE"/>
          </a:solidFill>
          <a:ln/>
        </p:spPr>
      </p:sp>
      <p:sp>
        <p:nvSpPr>
          <p:cNvPr id="22" name="Shape 20"/>
          <p:cNvSpPr/>
          <p:nvPr/>
        </p:nvSpPr>
        <p:spPr>
          <a:xfrm>
            <a:off x="4983480" y="1298448"/>
            <a:ext cx="3703320" cy="51206"/>
          </a:xfrm>
          <a:prstGeom prst="rect">
            <a:avLst/>
          </a:prstGeom>
          <a:solidFill>
            <a:srgbClr val="4A7BF7"/>
          </a:solidFill>
          <a:ln/>
        </p:spPr>
      </p:sp>
      <p:sp>
        <p:nvSpPr>
          <p:cNvPr id="23" name="Text 21"/>
          <p:cNvSpPr/>
          <p:nvPr/>
        </p:nvSpPr>
        <p:spPr>
          <a:xfrm>
            <a:off x="5184648" y="1463040"/>
            <a:ext cx="3291840" cy="219456"/>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After the rebuild</a:t>
            </a:r>
            <a:endParaRPr lang="en-US" sz="950" dirty="0"/>
          </a:p>
        </p:txBody>
      </p:sp>
      <p:sp>
        <p:nvSpPr>
          <p:cNvPr id="24" name="Text 22"/>
          <p:cNvSpPr/>
          <p:nvPr/>
        </p:nvSpPr>
        <p:spPr>
          <a:xfrm>
            <a:off x="5184648" y="1700784"/>
            <a:ext cx="3291840" cy="274320"/>
          </a:xfrm>
          <a:prstGeom prst="rect">
            <a:avLst/>
          </a:prstGeom>
          <a:noFill/>
          <a:ln/>
        </p:spPr>
        <p:txBody>
          <a:bodyPr wrap="square" lIns="0" tIns="0" rIns="0" bIns="0" rtlCol="0" anchor="ctr"/>
          <a:lstStyle/>
          <a:p>
            <a:pPr indent="0" marL="0">
              <a:buNone/>
            </a:pPr>
            <a:r>
              <a:rPr lang="en-US" sz="1700" b="1" dirty="0">
                <a:solidFill>
                  <a:srgbClr val="4A7BF7"/>
                </a:solidFill>
                <a:latin typeface="Inter Tight" pitchFamily="34" charset="0"/>
                <a:ea typeface="Inter Tight" pitchFamily="34" charset="-122"/>
                <a:cs typeface="Inter Tight" pitchFamily="34" charset="-120"/>
              </a:rPr>
              <a:t>3 campaigns, split by intent</a:t>
            </a:r>
            <a:endParaRPr lang="en-US" sz="1700" dirty="0"/>
          </a:p>
        </p:txBody>
      </p:sp>
      <p:sp>
        <p:nvSpPr>
          <p:cNvPr id="25" name="Shape 23"/>
          <p:cNvSpPr/>
          <p:nvPr/>
        </p:nvSpPr>
        <p:spPr>
          <a:xfrm>
            <a:off x="5202936" y="2189988"/>
            <a:ext cx="44806" cy="44806"/>
          </a:xfrm>
          <a:prstGeom prst="ellipse">
            <a:avLst/>
          </a:prstGeom>
          <a:solidFill>
            <a:srgbClr val="4A7BF7"/>
          </a:solidFill>
          <a:ln/>
        </p:spPr>
      </p:sp>
      <p:sp>
        <p:nvSpPr>
          <p:cNvPr id="26" name="Text 24"/>
          <p:cNvSpPr/>
          <p:nvPr/>
        </p:nvSpPr>
        <p:spPr>
          <a:xfrm>
            <a:off x="5349240" y="2139696"/>
            <a:ext cx="3200400" cy="274320"/>
          </a:xfrm>
          <a:prstGeom prst="rect">
            <a:avLst/>
          </a:prstGeom>
          <a:noFill/>
          <a:ln/>
        </p:spPr>
        <p:txBody>
          <a:bodyPr wrap="square" lIns="0" tIns="0" rIns="0" bIns="0" rtlCol="0" anchor="t"/>
          <a:lstStyle/>
          <a:p>
            <a:pPr indent="0" marL="0">
              <a:buNone/>
            </a:pPr>
            <a:r>
              <a:rPr lang="en-US" sz="750" b="1" dirty="0">
                <a:solidFill>
                  <a:srgbClr val="0F0F0F"/>
                </a:solidFill>
                <a:latin typeface="Inter Tight" pitchFamily="34" charset="0"/>
                <a:ea typeface="Inter Tight" pitchFamily="34" charset="-122"/>
                <a:cs typeface="Inter Tight" pitchFamily="34" charset="-120"/>
              </a:rPr>
              <a:t>Generic, </a:t>
            </a:r>
            <a:pPr indent="0" marL="0">
              <a:buNone/>
            </a:pPr>
            <a:r>
              <a:rPr lang="en-US" sz="750" dirty="0">
                <a:solidFill>
                  <a:srgbClr val="4A4A4A"/>
                </a:solidFill>
                <a:latin typeface="Inter Tight" pitchFamily="34" charset="0"/>
                <a:ea typeface="Inter Tight" pitchFamily="34" charset="-122"/>
                <a:cs typeface="Inter Tight" pitchFamily="34" charset="-120"/>
              </a:rPr>
              <a:t>people describing the problem</a:t>
            </a:r>
            <a:endParaRPr lang="en-US" sz="750" dirty="0"/>
          </a:p>
        </p:txBody>
      </p:sp>
      <p:sp>
        <p:nvSpPr>
          <p:cNvPr id="27" name="Shape 25"/>
          <p:cNvSpPr/>
          <p:nvPr/>
        </p:nvSpPr>
        <p:spPr>
          <a:xfrm>
            <a:off x="5202936" y="2519172"/>
            <a:ext cx="44806" cy="44806"/>
          </a:xfrm>
          <a:prstGeom prst="ellipse">
            <a:avLst/>
          </a:prstGeom>
          <a:solidFill>
            <a:srgbClr val="4A7BF7"/>
          </a:solidFill>
          <a:ln/>
        </p:spPr>
      </p:sp>
      <p:sp>
        <p:nvSpPr>
          <p:cNvPr id="28" name="Text 26"/>
          <p:cNvSpPr/>
          <p:nvPr/>
        </p:nvSpPr>
        <p:spPr>
          <a:xfrm>
            <a:off x="5349240" y="2468880"/>
            <a:ext cx="3200400" cy="274320"/>
          </a:xfrm>
          <a:prstGeom prst="rect">
            <a:avLst/>
          </a:prstGeom>
          <a:noFill/>
          <a:ln/>
        </p:spPr>
        <p:txBody>
          <a:bodyPr wrap="square" lIns="0" tIns="0" rIns="0" bIns="0" rtlCol="0" anchor="t"/>
          <a:lstStyle/>
          <a:p>
            <a:pPr indent="0" marL="0">
              <a:buNone/>
            </a:pPr>
            <a:r>
              <a:rPr lang="en-US" sz="750" b="1" dirty="0">
                <a:solidFill>
                  <a:srgbClr val="0F0F0F"/>
                </a:solidFill>
                <a:latin typeface="Inter Tight" pitchFamily="34" charset="0"/>
                <a:ea typeface="Inter Tight" pitchFamily="34" charset="-122"/>
                <a:cs typeface="Inter Tight" pitchFamily="34" charset="-120"/>
              </a:rPr>
              <a:t>Brand, </a:t>
            </a:r>
            <a:pPr indent="0" marL="0">
              <a:buNone/>
            </a:pPr>
            <a:r>
              <a:rPr lang="en-US" sz="750" dirty="0">
                <a:solidFill>
                  <a:srgbClr val="4A4A4A"/>
                </a:solidFill>
                <a:latin typeface="Inter Tight" pitchFamily="34" charset="0"/>
                <a:ea typeface="Inter Tight" pitchFamily="34" charset="-122"/>
                <a:cs typeface="Inter Tight" pitchFamily="34" charset="-120"/>
              </a:rPr>
              <a:t>people already asking for Deep Clone</a:t>
            </a:r>
            <a:endParaRPr lang="en-US" sz="750" dirty="0"/>
          </a:p>
        </p:txBody>
      </p:sp>
      <p:sp>
        <p:nvSpPr>
          <p:cNvPr id="29" name="Shape 27"/>
          <p:cNvSpPr/>
          <p:nvPr/>
        </p:nvSpPr>
        <p:spPr>
          <a:xfrm>
            <a:off x="5202936" y="2848356"/>
            <a:ext cx="44806" cy="44806"/>
          </a:xfrm>
          <a:prstGeom prst="ellipse">
            <a:avLst/>
          </a:prstGeom>
          <a:solidFill>
            <a:srgbClr val="4A7BF7"/>
          </a:solidFill>
          <a:ln/>
        </p:spPr>
      </p:sp>
      <p:sp>
        <p:nvSpPr>
          <p:cNvPr id="30" name="Text 28"/>
          <p:cNvSpPr/>
          <p:nvPr/>
        </p:nvSpPr>
        <p:spPr>
          <a:xfrm>
            <a:off x="5349240" y="2798064"/>
            <a:ext cx="3200400" cy="274320"/>
          </a:xfrm>
          <a:prstGeom prst="rect">
            <a:avLst/>
          </a:prstGeom>
          <a:noFill/>
          <a:ln/>
        </p:spPr>
        <p:txBody>
          <a:bodyPr wrap="square" lIns="0" tIns="0" rIns="0" bIns="0" rtlCol="0" anchor="t"/>
          <a:lstStyle/>
          <a:p>
            <a:pPr indent="0" marL="0">
              <a:buNone/>
            </a:pPr>
            <a:r>
              <a:rPr lang="en-US" sz="750" b="1" dirty="0">
                <a:solidFill>
                  <a:srgbClr val="0F0F0F"/>
                </a:solidFill>
                <a:latin typeface="Inter Tight" pitchFamily="34" charset="0"/>
                <a:ea typeface="Inter Tight" pitchFamily="34" charset="-122"/>
                <a:cs typeface="Inter Tight" pitchFamily="34" charset="-120"/>
              </a:rPr>
              <a:t>Competition, </a:t>
            </a:r>
            <a:pPr indent="0" marL="0">
              <a:buNone/>
            </a:pPr>
            <a:r>
              <a:rPr lang="en-US" sz="750" dirty="0">
                <a:solidFill>
                  <a:srgbClr val="4A4A4A"/>
                </a:solidFill>
                <a:latin typeface="Inter Tight" pitchFamily="34" charset="0"/>
                <a:ea typeface="Inter Tight" pitchFamily="34" charset="-122"/>
                <a:cs typeface="Inter Tight" pitchFamily="34" charset="-120"/>
              </a:rPr>
              <a:t>people comparing against another tool</a:t>
            </a:r>
            <a:endParaRPr lang="en-US" sz="750" dirty="0"/>
          </a:p>
        </p:txBody>
      </p:sp>
      <p:sp>
        <p:nvSpPr>
          <p:cNvPr id="31" name="Text 29"/>
          <p:cNvSpPr/>
          <p:nvPr/>
        </p:nvSpPr>
        <p:spPr>
          <a:xfrm>
            <a:off x="5184648" y="3310128"/>
            <a:ext cx="3291840" cy="402336"/>
          </a:xfrm>
          <a:prstGeom prst="rect">
            <a:avLst/>
          </a:prstGeom>
          <a:noFill/>
          <a:ln/>
        </p:spPr>
        <p:txBody>
          <a:bodyPr wrap="square" lIns="0" tIns="0" rIns="0" bIns="0" rtlCol="0" anchor="t"/>
          <a:lstStyle/>
          <a:p>
            <a:pPr indent="0" marL="0">
              <a:lnSpc>
                <a:spcPct val="120000"/>
              </a:lnSpc>
              <a:buNone/>
            </a:pPr>
            <a:r>
              <a:rPr lang="en-US" sz="750" dirty="0">
                <a:solidFill>
                  <a:srgbClr val="4A4A4A"/>
                </a:solidFill>
                <a:latin typeface="Inter Tight" pitchFamily="34" charset="0"/>
                <a:ea typeface="Inter Tight" pitchFamily="34" charset="-122"/>
                <a:cs typeface="Inter Tight" pitchFamily="34" charset="-120"/>
              </a:rPr>
              <a:t>Budget can then follow intent, so the campaigns closest to a decision are funded first.</a:t>
            </a:r>
            <a:endParaRPr lang="en-US" sz="750" dirty="0"/>
          </a:p>
        </p:txBody>
      </p:sp>
      <p:sp>
        <p:nvSpPr>
          <p:cNvPr id="32" name="Shape 30"/>
          <p:cNvSpPr/>
          <p:nvPr/>
        </p:nvSpPr>
        <p:spPr>
          <a:xfrm>
            <a:off x="457200" y="4315968"/>
            <a:ext cx="8229600" cy="310896"/>
          </a:xfrm>
          <a:prstGeom prst="rect">
            <a:avLst/>
          </a:prstGeom>
          <a:solidFill>
            <a:srgbClr val="3056C9"/>
          </a:solidFill>
          <a:ln/>
        </p:spPr>
      </p:sp>
      <p:sp>
        <p:nvSpPr>
          <p:cNvPr id="33" name="Text 31"/>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Naming convention: c49deepj-new-lead-search_generic, _brand, _competition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Optimization 4: refresh ad copy and extensions</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Nine new responsive search ads are written and ready, three for each of the new campaigns.</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8229600" cy="914400"/>
        </p:xfrm>
        <a:graphic>
          <a:graphicData uri="http://schemas.openxmlformats.org/drawingml/2006/table">
            <a:tbl>
              <a:tblPr/>
              <a:tblGrid>
                <a:gridCol w="1463040"/>
                <a:gridCol w="868680"/>
                <a:gridCol w="5897880"/>
              </a:tblGrid>
              <a:tr h="274320">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Campaign</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New ads</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Messaging direction</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512064">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Generic</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3</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Points migration research toward a Jira specific tool rather than native Atlassian tooling or a generic plugin built for another platform.</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Brand</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3</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Captures validated brand demand, including cloud specific searches, with a direct push to the free trial.</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512064">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Competition</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3</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Speaks to buyers already comparing tools, with switching led messaging rather than more competitor name coverage.</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3145536"/>
            <a:ext cx="8229600" cy="219456"/>
          </a:xfrm>
          <a:prstGeom prst="rect">
            <a:avLst/>
          </a:prstGeom>
          <a:noFill/>
          <a:ln/>
        </p:spPr>
        <p:txBody>
          <a:bodyPr wrap="square" lIns="0" tIns="0" rIns="0" bIns="0" rtlCol="0" anchor="ctr"/>
          <a:lstStyle/>
          <a:p>
            <a:pPr indent="0" marL="0">
              <a:buNone/>
            </a:pPr>
            <a:r>
              <a:rPr lang="en-US" sz="950" b="1" dirty="0">
                <a:solidFill>
                  <a:srgbClr val="0F0F0F"/>
                </a:solidFill>
                <a:latin typeface="Inter Tight" pitchFamily="34" charset="0"/>
                <a:ea typeface="Inter Tight" pitchFamily="34" charset="-122"/>
                <a:cs typeface="Inter Tight" pitchFamily="34" charset="-120"/>
              </a:rPr>
              <a:t>Also being built</a:t>
            </a:r>
            <a:endParaRPr lang="en-US" sz="950" dirty="0"/>
          </a:p>
        </p:txBody>
      </p:sp>
      <p:sp>
        <p:nvSpPr>
          <p:cNvPr id="7" name="Shape 4"/>
          <p:cNvSpPr/>
          <p:nvPr/>
        </p:nvSpPr>
        <p:spPr>
          <a:xfrm>
            <a:off x="457200" y="3419856"/>
            <a:ext cx="1920240" cy="566928"/>
          </a:xfrm>
          <a:prstGeom prst="roundRect">
            <a:avLst>
              <a:gd name="adj" fmla="val 11290"/>
            </a:avLst>
          </a:prstGeom>
          <a:solidFill>
            <a:srgbClr val="F2F3F6"/>
          </a:solidFill>
          <a:ln/>
        </p:spPr>
      </p:sp>
      <p:sp>
        <p:nvSpPr>
          <p:cNvPr id="8" name="Shape 5"/>
          <p:cNvSpPr/>
          <p:nvPr/>
        </p:nvSpPr>
        <p:spPr>
          <a:xfrm>
            <a:off x="457200" y="3419856"/>
            <a:ext cx="44806" cy="566928"/>
          </a:xfrm>
          <a:prstGeom prst="rect">
            <a:avLst/>
          </a:prstGeom>
          <a:solidFill>
            <a:srgbClr val="2ECC9B"/>
          </a:solidFill>
          <a:ln/>
        </p:spPr>
      </p:sp>
      <p:sp>
        <p:nvSpPr>
          <p:cNvPr id="9" name="Text 6"/>
          <p:cNvSpPr/>
          <p:nvPr/>
        </p:nvSpPr>
        <p:spPr>
          <a:xfrm>
            <a:off x="603504" y="3502152"/>
            <a:ext cx="1691640" cy="182880"/>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Sitelinks</a:t>
            </a:r>
            <a:endParaRPr lang="en-US" sz="800" dirty="0"/>
          </a:p>
        </p:txBody>
      </p:sp>
      <p:sp>
        <p:nvSpPr>
          <p:cNvPr id="10" name="Text 7"/>
          <p:cNvSpPr/>
          <p:nvPr/>
        </p:nvSpPr>
        <p:spPr>
          <a:xfrm>
            <a:off x="603504" y="3694176"/>
            <a:ext cx="1691640" cy="237744"/>
          </a:xfrm>
          <a:prstGeom prst="rect">
            <a:avLst/>
          </a:prstGeom>
          <a:noFill/>
          <a:ln/>
        </p:spPr>
        <p:txBody>
          <a:bodyPr wrap="square" lIns="0" tIns="0" rIns="0" bIns="0" rtlCol="0" anchor="t"/>
          <a:lstStyle/>
          <a:p>
            <a:pPr indent="0" marL="0">
              <a:lnSpc>
                <a:spcPct val="115000"/>
              </a:lnSpc>
              <a:buNone/>
            </a:pPr>
            <a:r>
              <a:rPr lang="en-US" sz="700" dirty="0">
                <a:solidFill>
                  <a:srgbClr val="4A4A4A"/>
                </a:solidFill>
                <a:latin typeface="Inter Tight" pitchFamily="34" charset="0"/>
                <a:ea typeface="Inter Tight" pitchFamily="34" charset="-122"/>
                <a:cs typeface="Inter Tight" pitchFamily="34" charset="-120"/>
              </a:rPr>
              <a:t>Campaign level, none live today</a:t>
            </a:r>
            <a:endParaRPr lang="en-US" sz="700" dirty="0"/>
          </a:p>
        </p:txBody>
      </p:sp>
      <p:sp>
        <p:nvSpPr>
          <p:cNvPr id="11" name="Shape 8"/>
          <p:cNvSpPr/>
          <p:nvPr/>
        </p:nvSpPr>
        <p:spPr>
          <a:xfrm>
            <a:off x="2542032" y="3419856"/>
            <a:ext cx="1920240" cy="566928"/>
          </a:xfrm>
          <a:prstGeom prst="roundRect">
            <a:avLst>
              <a:gd name="adj" fmla="val 11290"/>
            </a:avLst>
          </a:prstGeom>
          <a:solidFill>
            <a:srgbClr val="F2F3F6"/>
          </a:solidFill>
          <a:ln/>
        </p:spPr>
      </p:sp>
      <p:sp>
        <p:nvSpPr>
          <p:cNvPr id="12" name="Shape 9"/>
          <p:cNvSpPr/>
          <p:nvPr/>
        </p:nvSpPr>
        <p:spPr>
          <a:xfrm>
            <a:off x="2542032" y="3419856"/>
            <a:ext cx="44806" cy="566928"/>
          </a:xfrm>
          <a:prstGeom prst="rect">
            <a:avLst/>
          </a:prstGeom>
          <a:solidFill>
            <a:srgbClr val="F59EC9"/>
          </a:solidFill>
          <a:ln/>
        </p:spPr>
      </p:sp>
      <p:sp>
        <p:nvSpPr>
          <p:cNvPr id="13" name="Text 10"/>
          <p:cNvSpPr/>
          <p:nvPr/>
        </p:nvSpPr>
        <p:spPr>
          <a:xfrm>
            <a:off x="2688336" y="3502152"/>
            <a:ext cx="1691640" cy="182880"/>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Callouts</a:t>
            </a:r>
            <a:endParaRPr lang="en-US" sz="800" dirty="0"/>
          </a:p>
        </p:txBody>
      </p:sp>
      <p:sp>
        <p:nvSpPr>
          <p:cNvPr id="14" name="Text 11"/>
          <p:cNvSpPr/>
          <p:nvPr/>
        </p:nvSpPr>
        <p:spPr>
          <a:xfrm>
            <a:off x="2688336" y="3694176"/>
            <a:ext cx="1691640" cy="237744"/>
          </a:xfrm>
          <a:prstGeom prst="rect">
            <a:avLst/>
          </a:prstGeom>
          <a:noFill/>
          <a:ln/>
        </p:spPr>
        <p:txBody>
          <a:bodyPr wrap="square" lIns="0" tIns="0" rIns="0" bIns="0" rtlCol="0" anchor="t"/>
          <a:lstStyle/>
          <a:p>
            <a:pPr indent="0" marL="0">
              <a:lnSpc>
                <a:spcPct val="115000"/>
              </a:lnSpc>
              <a:buNone/>
            </a:pPr>
            <a:r>
              <a:rPr lang="en-US" sz="700" dirty="0">
                <a:solidFill>
                  <a:srgbClr val="4A4A4A"/>
                </a:solidFill>
                <a:latin typeface="Inter Tight" pitchFamily="34" charset="0"/>
                <a:ea typeface="Inter Tight" pitchFamily="34" charset="-122"/>
                <a:cs typeface="Inter Tight" pitchFamily="34" charset="-120"/>
              </a:rPr>
              <a:t>Campaign level, none live today</a:t>
            </a:r>
            <a:endParaRPr lang="en-US" sz="700" dirty="0"/>
          </a:p>
        </p:txBody>
      </p:sp>
      <p:sp>
        <p:nvSpPr>
          <p:cNvPr id="15" name="Shape 12"/>
          <p:cNvSpPr/>
          <p:nvPr/>
        </p:nvSpPr>
        <p:spPr>
          <a:xfrm>
            <a:off x="4626864" y="3419856"/>
            <a:ext cx="1920240" cy="566928"/>
          </a:xfrm>
          <a:prstGeom prst="roundRect">
            <a:avLst>
              <a:gd name="adj" fmla="val 11290"/>
            </a:avLst>
          </a:prstGeom>
          <a:solidFill>
            <a:srgbClr val="F2F3F6"/>
          </a:solidFill>
          <a:ln/>
        </p:spPr>
      </p:sp>
      <p:sp>
        <p:nvSpPr>
          <p:cNvPr id="16" name="Shape 13"/>
          <p:cNvSpPr/>
          <p:nvPr/>
        </p:nvSpPr>
        <p:spPr>
          <a:xfrm>
            <a:off x="4626864" y="3419856"/>
            <a:ext cx="44806" cy="566928"/>
          </a:xfrm>
          <a:prstGeom prst="rect">
            <a:avLst/>
          </a:prstGeom>
          <a:solidFill>
            <a:srgbClr val="8E6BE6"/>
          </a:solidFill>
          <a:ln/>
        </p:spPr>
      </p:sp>
      <p:sp>
        <p:nvSpPr>
          <p:cNvPr id="17" name="Text 14"/>
          <p:cNvSpPr/>
          <p:nvPr/>
        </p:nvSpPr>
        <p:spPr>
          <a:xfrm>
            <a:off x="4773168" y="3502152"/>
            <a:ext cx="1691640" cy="182880"/>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Structured snippets</a:t>
            </a:r>
            <a:endParaRPr lang="en-US" sz="800" dirty="0"/>
          </a:p>
        </p:txBody>
      </p:sp>
      <p:sp>
        <p:nvSpPr>
          <p:cNvPr id="18" name="Text 15"/>
          <p:cNvSpPr/>
          <p:nvPr/>
        </p:nvSpPr>
        <p:spPr>
          <a:xfrm>
            <a:off x="4773168" y="3694176"/>
            <a:ext cx="1691640" cy="237744"/>
          </a:xfrm>
          <a:prstGeom prst="rect">
            <a:avLst/>
          </a:prstGeom>
          <a:noFill/>
          <a:ln/>
        </p:spPr>
        <p:txBody>
          <a:bodyPr wrap="square" lIns="0" tIns="0" rIns="0" bIns="0" rtlCol="0" anchor="t"/>
          <a:lstStyle/>
          <a:p>
            <a:pPr indent="0" marL="0">
              <a:lnSpc>
                <a:spcPct val="115000"/>
              </a:lnSpc>
              <a:buNone/>
            </a:pPr>
            <a:r>
              <a:rPr lang="en-US" sz="700" dirty="0">
                <a:solidFill>
                  <a:srgbClr val="4A4A4A"/>
                </a:solidFill>
                <a:latin typeface="Inter Tight" pitchFamily="34" charset="0"/>
                <a:ea typeface="Inter Tight" pitchFamily="34" charset="-122"/>
                <a:cs typeface="Inter Tight" pitchFamily="34" charset="-120"/>
              </a:rPr>
              <a:t>Campaign level, none live today</a:t>
            </a:r>
            <a:endParaRPr lang="en-US" sz="700" dirty="0"/>
          </a:p>
        </p:txBody>
      </p:sp>
      <p:sp>
        <p:nvSpPr>
          <p:cNvPr id="19" name="Shape 16"/>
          <p:cNvSpPr/>
          <p:nvPr/>
        </p:nvSpPr>
        <p:spPr>
          <a:xfrm>
            <a:off x="6711696" y="3419856"/>
            <a:ext cx="1920240" cy="566928"/>
          </a:xfrm>
          <a:prstGeom prst="roundRect">
            <a:avLst>
              <a:gd name="adj" fmla="val 11290"/>
            </a:avLst>
          </a:prstGeom>
          <a:solidFill>
            <a:srgbClr val="F2F3F6"/>
          </a:solidFill>
          <a:ln/>
        </p:spPr>
      </p:sp>
      <p:sp>
        <p:nvSpPr>
          <p:cNvPr id="20" name="Shape 17"/>
          <p:cNvSpPr/>
          <p:nvPr/>
        </p:nvSpPr>
        <p:spPr>
          <a:xfrm>
            <a:off x="6711696" y="3419856"/>
            <a:ext cx="44806" cy="566928"/>
          </a:xfrm>
          <a:prstGeom prst="rect">
            <a:avLst/>
          </a:prstGeom>
          <a:solidFill>
            <a:srgbClr val="F28B4C"/>
          </a:solidFill>
          <a:ln/>
        </p:spPr>
      </p:sp>
      <p:sp>
        <p:nvSpPr>
          <p:cNvPr id="21" name="Text 18"/>
          <p:cNvSpPr/>
          <p:nvPr/>
        </p:nvSpPr>
        <p:spPr>
          <a:xfrm>
            <a:off x="6858000" y="3502152"/>
            <a:ext cx="1691640" cy="182880"/>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UTM tagging</a:t>
            </a:r>
            <a:endParaRPr lang="en-US" sz="800" dirty="0"/>
          </a:p>
        </p:txBody>
      </p:sp>
      <p:sp>
        <p:nvSpPr>
          <p:cNvPr id="22" name="Text 19"/>
          <p:cNvSpPr/>
          <p:nvPr/>
        </p:nvSpPr>
        <p:spPr>
          <a:xfrm>
            <a:off x="6858000" y="3694176"/>
            <a:ext cx="1691640" cy="237744"/>
          </a:xfrm>
          <a:prstGeom prst="rect">
            <a:avLst/>
          </a:prstGeom>
          <a:noFill/>
          <a:ln/>
        </p:spPr>
        <p:txBody>
          <a:bodyPr wrap="square" lIns="0" tIns="0" rIns="0" bIns="0" rtlCol="0" anchor="t"/>
          <a:lstStyle/>
          <a:p>
            <a:pPr indent="0" marL="0">
              <a:lnSpc>
                <a:spcPct val="115000"/>
              </a:lnSpc>
              <a:buNone/>
            </a:pPr>
            <a:r>
              <a:rPr lang="en-US" sz="700" dirty="0">
                <a:solidFill>
                  <a:srgbClr val="4A4A4A"/>
                </a:solidFill>
                <a:latin typeface="Inter Tight" pitchFamily="34" charset="0"/>
                <a:ea typeface="Inter Tight" pitchFamily="34" charset="-122"/>
                <a:cs typeface="Inter Tight" pitchFamily="34" charset="-120"/>
              </a:rPr>
              <a:t>Set before anything goes live</a:t>
            </a:r>
            <a:endParaRPr lang="en-US" sz="700" dirty="0"/>
          </a:p>
        </p:txBody>
      </p:sp>
      <p:sp>
        <p:nvSpPr>
          <p:cNvPr id="23" name="Shape 20"/>
          <p:cNvSpPr/>
          <p:nvPr/>
        </p:nvSpPr>
        <p:spPr>
          <a:xfrm>
            <a:off x="457200" y="4315968"/>
            <a:ext cx="8229600" cy="310896"/>
          </a:xfrm>
          <a:prstGeom prst="rect">
            <a:avLst/>
          </a:prstGeom>
          <a:solidFill>
            <a:srgbClr val="3056C9"/>
          </a:solidFill>
          <a:ln/>
        </p:spPr>
      </p:sp>
      <p:sp>
        <p:nvSpPr>
          <p:cNvPr id="24" name="Text 21"/>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9 responsive search ads</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3 extension types</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All copy within Google character limits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The next two weeks</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How the work is sequenced between 15 and 30 August.</a:t>
            </a:r>
            <a:endParaRPr lang="en-US" sz="850" dirty="0"/>
          </a:p>
        </p:txBody>
      </p:sp>
      <p:sp>
        <p:nvSpPr>
          <p:cNvPr id="5" name="Shape 3"/>
          <p:cNvSpPr/>
          <p:nvPr/>
        </p:nvSpPr>
        <p:spPr>
          <a:xfrm>
            <a:off x="457200" y="1225296"/>
            <a:ext cx="8229600" cy="2743200"/>
          </a:xfrm>
          <a:prstGeom prst="roundRect">
            <a:avLst>
              <a:gd name="adj" fmla="val 3000"/>
            </a:avLst>
          </a:prstGeom>
          <a:solidFill>
            <a:srgbClr val="DDE5FE"/>
          </a:solidFill>
          <a:ln/>
        </p:spPr>
      </p:sp>
      <p:sp>
        <p:nvSpPr>
          <p:cNvPr id="6" name="Shape 4"/>
          <p:cNvSpPr/>
          <p:nvPr/>
        </p:nvSpPr>
        <p:spPr>
          <a:xfrm>
            <a:off x="694944" y="1444752"/>
            <a:ext cx="44806" cy="658368"/>
          </a:xfrm>
          <a:prstGeom prst="rect">
            <a:avLst/>
          </a:prstGeom>
          <a:solidFill>
            <a:srgbClr val="2ECC9B"/>
          </a:solidFill>
          <a:ln/>
        </p:spPr>
      </p:sp>
      <p:sp>
        <p:nvSpPr>
          <p:cNvPr id="7" name="Text 5"/>
          <p:cNvSpPr/>
          <p:nvPr/>
        </p:nvSpPr>
        <p:spPr>
          <a:xfrm>
            <a:off x="841248" y="1444752"/>
            <a:ext cx="1600200" cy="201168"/>
          </a:xfrm>
          <a:prstGeom prst="rect">
            <a:avLst/>
          </a:prstGeom>
          <a:noFill/>
          <a:ln/>
        </p:spPr>
        <p:txBody>
          <a:bodyPr wrap="square" lIns="0" tIns="0" rIns="0" bIns="0" rtlCol="0" anchor="ctr"/>
          <a:lstStyle/>
          <a:p>
            <a:pPr indent="0" marL="0">
              <a:buNone/>
            </a:pPr>
            <a:r>
              <a:rPr lang="en-US" sz="800" b="1" dirty="0">
                <a:solidFill>
                  <a:srgbClr val="3056C9"/>
                </a:solidFill>
                <a:latin typeface="Inter Tight" pitchFamily="34" charset="0"/>
                <a:ea typeface="Inter Tight" pitchFamily="34" charset="-122"/>
                <a:cs typeface="Inter Tight" pitchFamily="34" charset="-120"/>
              </a:rPr>
              <a:t>15 to 16 August</a:t>
            </a:r>
            <a:endParaRPr lang="en-US" sz="800" dirty="0"/>
          </a:p>
        </p:txBody>
      </p:sp>
      <p:sp>
        <p:nvSpPr>
          <p:cNvPr id="8" name="Text 6"/>
          <p:cNvSpPr/>
          <p:nvPr/>
        </p:nvSpPr>
        <p:spPr>
          <a:xfrm>
            <a:off x="841248" y="1645920"/>
            <a:ext cx="1600200" cy="201168"/>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Account setup</a:t>
            </a:r>
            <a:endParaRPr lang="en-US" sz="800" dirty="0"/>
          </a:p>
        </p:txBody>
      </p:sp>
      <p:sp>
        <p:nvSpPr>
          <p:cNvPr id="9" name="Text 7"/>
          <p:cNvSpPr/>
          <p:nvPr/>
        </p:nvSpPr>
        <p:spPr>
          <a:xfrm>
            <a:off x="2596896" y="1444752"/>
            <a:ext cx="5614416" cy="621792"/>
          </a:xfrm>
          <a:prstGeom prst="rect">
            <a:avLst/>
          </a:prstGeom>
          <a:noFill/>
          <a:ln/>
        </p:spPr>
        <p:txBody>
          <a:bodyPr wrap="square" lIns="0" tIns="0" rIns="0" bIns="0" rtlCol="0" anchor="t"/>
          <a:lstStyle/>
          <a:p>
            <a:pPr indent="0" marL="0">
              <a:lnSpc>
                <a:spcPct val="125000"/>
              </a:lnSpc>
              <a:buNone/>
            </a:pPr>
            <a:r>
              <a:rPr lang="en-US" sz="750" dirty="0">
                <a:solidFill>
                  <a:srgbClr val="4A4A4A"/>
                </a:solidFill>
                <a:latin typeface="Inter Tight" pitchFamily="34" charset="0"/>
                <a:ea typeface="Inter Tight" pitchFamily="34" charset="-122"/>
                <a:cs typeface="Inter Tight" pitchFamily="34" charset="-120"/>
              </a:rPr>
              <a:t>We confirm access, take a snapshot of the account as it stands, and prepare every change so nothing is built live.</a:t>
            </a:r>
            <a:endParaRPr lang="en-US" sz="750" dirty="0"/>
          </a:p>
        </p:txBody>
      </p:sp>
      <p:sp>
        <p:nvSpPr>
          <p:cNvPr id="10" name="Shape 8"/>
          <p:cNvSpPr/>
          <p:nvPr/>
        </p:nvSpPr>
        <p:spPr>
          <a:xfrm>
            <a:off x="694944" y="2304288"/>
            <a:ext cx="44806" cy="658368"/>
          </a:xfrm>
          <a:prstGeom prst="rect">
            <a:avLst/>
          </a:prstGeom>
          <a:solidFill>
            <a:srgbClr val="8E6BE6"/>
          </a:solidFill>
          <a:ln/>
        </p:spPr>
      </p:sp>
      <p:sp>
        <p:nvSpPr>
          <p:cNvPr id="11" name="Text 9"/>
          <p:cNvSpPr/>
          <p:nvPr/>
        </p:nvSpPr>
        <p:spPr>
          <a:xfrm>
            <a:off x="841248" y="2304288"/>
            <a:ext cx="1600200" cy="201168"/>
          </a:xfrm>
          <a:prstGeom prst="rect">
            <a:avLst/>
          </a:prstGeom>
          <a:noFill/>
          <a:ln/>
        </p:spPr>
        <p:txBody>
          <a:bodyPr wrap="square" lIns="0" tIns="0" rIns="0" bIns="0" rtlCol="0" anchor="ctr"/>
          <a:lstStyle/>
          <a:p>
            <a:pPr indent="0" marL="0">
              <a:buNone/>
            </a:pPr>
            <a:r>
              <a:rPr lang="en-US" sz="800" b="1" dirty="0">
                <a:solidFill>
                  <a:srgbClr val="3056C9"/>
                </a:solidFill>
                <a:latin typeface="Inter Tight" pitchFamily="34" charset="0"/>
                <a:ea typeface="Inter Tight" pitchFamily="34" charset="-122"/>
                <a:cs typeface="Inter Tight" pitchFamily="34" charset="-120"/>
              </a:rPr>
              <a:t>17 to 23 August</a:t>
            </a:r>
            <a:endParaRPr lang="en-US" sz="800" dirty="0"/>
          </a:p>
        </p:txBody>
      </p:sp>
      <p:sp>
        <p:nvSpPr>
          <p:cNvPr id="12" name="Text 10"/>
          <p:cNvSpPr/>
          <p:nvPr/>
        </p:nvSpPr>
        <p:spPr>
          <a:xfrm>
            <a:off x="841248" y="2505456"/>
            <a:ext cx="1600200" cy="201168"/>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Pauses and rebuild</a:t>
            </a:r>
            <a:endParaRPr lang="en-US" sz="800" dirty="0"/>
          </a:p>
        </p:txBody>
      </p:sp>
      <p:sp>
        <p:nvSpPr>
          <p:cNvPr id="13" name="Text 11"/>
          <p:cNvSpPr/>
          <p:nvPr/>
        </p:nvSpPr>
        <p:spPr>
          <a:xfrm>
            <a:off x="2596896" y="2304288"/>
            <a:ext cx="5614416" cy="621792"/>
          </a:xfrm>
          <a:prstGeom prst="rect">
            <a:avLst/>
          </a:prstGeom>
          <a:noFill/>
          <a:ln/>
        </p:spPr>
        <p:txBody>
          <a:bodyPr wrap="square" lIns="0" tIns="0" rIns="0" bIns="0" rtlCol="0" anchor="t"/>
          <a:lstStyle/>
          <a:p>
            <a:pPr indent="0" marL="0">
              <a:lnSpc>
                <a:spcPct val="125000"/>
              </a:lnSpc>
              <a:buNone/>
            </a:pPr>
            <a:r>
              <a:rPr lang="en-US" sz="750" dirty="0">
                <a:solidFill>
                  <a:srgbClr val="4A4A4A"/>
                </a:solidFill>
                <a:latin typeface="Inter Tight" pitchFamily="34" charset="0"/>
                <a:ea typeface="Inter Tight" pitchFamily="34" charset="-122"/>
                <a:cs typeface="Inter Tight" pitchFamily="34" charset="-120"/>
              </a:rPr>
              <a:t>The seven ad groups and twelve keywords go off, the two broad match terms move to phrase, and the three new campaigns get built.</a:t>
            </a:r>
            <a:endParaRPr lang="en-US" sz="750" dirty="0"/>
          </a:p>
        </p:txBody>
      </p:sp>
      <p:sp>
        <p:nvSpPr>
          <p:cNvPr id="14" name="Shape 12"/>
          <p:cNvSpPr/>
          <p:nvPr/>
        </p:nvSpPr>
        <p:spPr>
          <a:xfrm>
            <a:off x="694944" y="3163824"/>
            <a:ext cx="44806" cy="658368"/>
          </a:xfrm>
          <a:prstGeom prst="rect">
            <a:avLst/>
          </a:prstGeom>
          <a:solidFill>
            <a:srgbClr val="F28B4C"/>
          </a:solidFill>
          <a:ln/>
        </p:spPr>
      </p:sp>
      <p:sp>
        <p:nvSpPr>
          <p:cNvPr id="15" name="Text 13"/>
          <p:cNvSpPr/>
          <p:nvPr/>
        </p:nvSpPr>
        <p:spPr>
          <a:xfrm>
            <a:off x="841248" y="3163824"/>
            <a:ext cx="1600200" cy="201168"/>
          </a:xfrm>
          <a:prstGeom prst="rect">
            <a:avLst/>
          </a:prstGeom>
          <a:noFill/>
          <a:ln/>
        </p:spPr>
        <p:txBody>
          <a:bodyPr wrap="square" lIns="0" tIns="0" rIns="0" bIns="0" rtlCol="0" anchor="ctr"/>
          <a:lstStyle/>
          <a:p>
            <a:pPr indent="0" marL="0">
              <a:buNone/>
            </a:pPr>
            <a:r>
              <a:rPr lang="en-US" sz="800" b="1" dirty="0">
                <a:solidFill>
                  <a:srgbClr val="3056C9"/>
                </a:solidFill>
                <a:latin typeface="Inter Tight" pitchFamily="34" charset="0"/>
                <a:ea typeface="Inter Tight" pitchFamily="34" charset="-122"/>
                <a:cs typeface="Inter Tight" pitchFamily="34" charset="-120"/>
              </a:rPr>
              <a:t>24 to 30 August</a:t>
            </a:r>
            <a:endParaRPr lang="en-US" sz="800" dirty="0"/>
          </a:p>
        </p:txBody>
      </p:sp>
      <p:sp>
        <p:nvSpPr>
          <p:cNvPr id="16" name="Text 14"/>
          <p:cNvSpPr/>
          <p:nvPr/>
        </p:nvSpPr>
        <p:spPr>
          <a:xfrm>
            <a:off x="841248" y="3364992"/>
            <a:ext cx="1600200" cy="201168"/>
          </a:xfrm>
          <a:prstGeom prst="rect">
            <a:avLst/>
          </a:prstGeom>
          <a:noFill/>
          <a:ln/>
        </p:spPr>
        <p:txBody>
          <a:bodyPr wrap="square" lIns="0" tIns="0" rIns="0" bIns="0" rtlCol="0" anchor="ctr"/>
          <a:lstStyle/>
          <a:p>
            <a:pPr indent="0" marL="0">
              <a:buNone/>
            </a:pPr>
            <a:r>
              <a:rPr lang="en-US" sz="800" b="1" dirty="0">
                <a:solidFill>
                  <a:srgbClr val="0F0F0F"/>
                </a:solidFill>
                <a:latin typeface="Inter Tight" pitchFamily="34" charset="0"/>
                <a:ea typeface="Inter Tight" pitchFamily="34" charset="-122"/>
                <a:cs typeface="Inter Tight" pitchFamily="34" charset="-120"/>
              </a:rPr>
              <a:t>New ads go live</a:t>
            </a:r>
            <a:endParaRPr lang="en-US" sz="800" dirty="0"/>
          </a:p>
        </p:txBody>
      </p:sp>
      <p:sp>
        <p:nvSpPr>
          <p:cNvPr id="17" name="Text 15"/>
          <p:cNvSpPr/>
          <p:nvPr/>
        </p:nvSpPr>
        <p:spPr>
          <a:xfrm>
            <a:off x="2596896" y="3163824"/>
            <a:ext cx="5614416" cy="621792"/>
          </a:xfrm>
          <a:prstGeom prst="rect">
            <a:avLst/>
          </a:prstGeom>
          <a:noFill/>
          <a:ln/>
        </p:spPr>
        <p:txBody>
          <a:bodyPr wrap="square" lIns="0" tIns="0" rIns="0" bIns="0" rtlCol="0" anchor="t"/>
          <a:lstStyle/>
          <a:p>
            <a:pPr indent="0" marL="0">
              <a:lnSpc>
                <a:spcPct val="125000"/>
              </a:lnSpc>
              <a:buNone/>
            </a:pPr>
            <a:r>
              <a:rPr lang="en-US" sz="750" dirty="0">
                <a:solidFill>
                  <a:srgbClr val="4A4A4A"/>
                </a:solidFill>
                <a:latin typeface="Inter Tight" pitchFamily="34" charset="0"/>
                <a:ea typeface="Inter Tight" pitchFamily="34" charset="-122"/>
                <a:cs typeface="Inter Tight" pitchFamily="34" charset="-120"/>
              </a:rPr>
              <a:t>The nine responsive search ads and the extensions launch, and the fourteen new keywords are added with the negative list applied.</a:t>
            </a:r>
            <a:endParaRPr lang="en-US" sz="750" dirty="0"/>
          </a:p>
        </p:txBody>
      </p:sp>
      <p:sp>
        <p:nvSpPr>
          <p:cNvPr id="18" name="Shape 16"/>
          <p:cNvSpPr/>
          <p:nvPr/>
        </p:nvSpPr>
        <p:spPr>
          <a:xfrm>
            <a:off x="457200" y="4315968"/>
            <a:ext cx="8229600" cy="310896"/>
          </a:xfrm>
          <a:prstGeom prst="rect">
            <a:avLst/>
          </a:prstGeom>
          <a:solidFill>
            <a:srgbClr val="3056C9"/>
          </a:solidFill>
          <a:ln/>
        </p:spPr>
      </p:sp>
      <p:sp>
        <p:nvSpPr>
          <p:cNvPr id="19" name="Text 17"/>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Everything above runs inside the account</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No budget changes</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No changes to the Marketplace listing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3" name="Text 1"/>
          <p:cNvSpPr/>
          <p:nvPr/>
        </p:nvSpPr>
        <p:spPr>
          <a:xfrm>
            <a:off x="457200" y="402336"/>
            <a:ext cx="8229600" cy="384048"/>
          </a:xfrm>
          <a:prstGeom prst="rect">
            <a:avLst/>
          </a:prstGeom>
          <a:noFill/>
          <a:ln/>
        </p:spPr>
        <p:txBody>
          <a:bodyPr wrap="square" lIns="0" tIns="0" rIns="0" bIns="0" rtlCol="0" anchor="t"/>
          <a:lstStyle/>
          <a:p>
            <a:pPr indent="0" marL="0">
              <a:buNone/>
            </a:pPr>
            <a:r>
              <a:rPr lang="en-US" sz="2150" b="1" dirty="0">
                <a:solidFill>
                  <a:srgbClr val="4A7BF7"/>
                </a:solidFill>
                <a:latin typeface="Inter Tight" pitchFamily="34" charset="0"/>
                <a:ea typeface="Inter Tight" pitchFamily="34" charset="-122"/>
                <a:cs typeface="Inter Tight" pitchFamily="34" charset="-120"/>
              </a:rPr>
              <a:t>Setting a biweekly call</a:t>
            </a:r>
            <a:endParaRPr lang="en-US" sz="2150" dirty="0"/>
          </a:p>
        </p:txBody>
      </p:sp>
      <p:sp>
        <p:nvSpPr>
          <p:cNvPr id="4" name="Text 2"/>
          <p:cNvSpPr/>
          <p:nvPr/>
        </p:nvSpPr>
        <p:spPr>
          <a:xfrm>
            <a:off x="457200" y="841248"/>
            <a:ext cx="7863840" cy="237744"/>
          </a:xfrm>
          <a:prstGeom prst="rect">
            <a:avLst/>
          </a:prstGeom>
          <a:noFill/>
          <a:ln/>
        </p:spPr>
        <p:txBody>
          <a:bodyPr wrap="square" lIns="0" tIns="0" rIns="0" bIns="0" rtlCol="0" anchor="t"/>
          <a:lstStyle/>
          <a:p>
            <a:pPr indent="0" marL="0">
              <a:buNone/>
            </a:pPr>
            <a:r>
              <a:rPr lang="en-US" sz="850" dirty="0">
                <a:solidFill>
                  <a:srgbClr val="4A4A4A"/>
                </a:solidFill>
                <a:latin typeface="Inter Tight" pitchFamily="34" charset="0"/>
                <a:ea typeface="Inter Tight" pitchFamily="34" charset="-122"/>
                <a:cs typeface="Inter Tight" pitchFamily="34" charset="-120"/>
              </a:rPr>
              <a:t>We suggest starting the week after 30 August, then holding the same slot every second week.</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35024"/>
          <a:ext cx="8229600" cy="914400"/>
        </p:xfrm>
        <a:graphic>
          <a:graphicData uri="http://schemas.openxmlformats.org/drawingml/2006/table">
            <a:tbl>
              <a:tblPr/>
              <a:tblGrid>
                <a:gridCol w="777240"/>
                <a:gridCol w="1371600"/>
                <a:gridCol w="1874520"/>
                <a:gridCol w="1463040"/>
                <a:gridCol w="2743200"/>
              </a:tblGrid>
              <a:tr h="274320">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Option</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Day</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Date</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r>
                        <a:rPr lang="en-US" sz="750" b="1" dirty="0">
                          <a:solidFill>
                            <a:srgbClr val="FFFFFF"/>
                          </a:solidFill>
                          <a:latin typeface="Inter Tight" pitchFamily="34" charset="0"/>
                          <a:ea typeface="Inter Tight" pitchFamily="34" charset="-122"/>
                          <a:cs typeface="Inter Tight" pitchFamily="34" charset="-120"/>
                        </a:rPr>
                        <a:t>Time, CEST</a:t>
                      </a: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c>
                  <a:txBody>
                    <a:bodyPr/>
                    <a:lstStyle/>
                    <a:p>
                      <a:pPr indent="0" marL="0">
                        <a:buNone/>
                      </a:pPr>
                      <a:endParaRPr lang="en-US" sz="75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3056C9"/>
                    </a:solidFill>
                  </a:tcPr>
                </a:tc>
              </a:tr>
              <a:tr h="420624">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1</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Tuesday</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1 September 2026</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1100" b="1" dirty="0">
                          <a:solidFill>
                            <a:srgbClr val="4A7BF7"/>
                          </a:solidFill>
                          <a:latin typeface="Inter Tight" pitchFamily="34" charset="0"/>
                          <a:ea typeface="Inter Tight" pitchFamily="34" charset="-122"/>
                          <a:cs typeface="Inter Tight" pitchFamily="34" charset="-120"/>
                        </a:rPr>
                        <a:t>9:00 am</a:t>
                      </a:r>
                      <a:endParaRPr lang="en-US" sz="11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Our recommendation</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84048">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2</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Tuesday</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1 September 2026</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3:00 pm</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84048">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3</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Wednesday</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2 September 2026</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9:00 am</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r h="384048">
                <a:tc>
                  <a:txBody>
                    <a:bodyPr/>
                    <a:lstStyle/>
                    <a:p>
                      <a:pPr indent="0" marL="0">
                        <a:buNone/>
                      </a:pPr>
                      <a:r>
                        <a:rPr lang="en-US" sz="800" b="1" dirty="0">
                          <a:solidFill>
                            <a:srgbClr val="3056C9"/>
                          </a:solidFill>
                          <a:latin typeface="Inter Tight" pitchFamily="34" charset="0"/>
                          <a:ea typeface="Inter Tight" pitchFamily="34" charset="-122"/>
                          <a:cs typeface="Inter Tight" pitchFamily="34" charset="-120"/>
                        </a:rPr>
                        <a:t>4</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Wednesday</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dirty="0">
                          <a:solidFill>
                            <a:srgbClr val="4A4A4A"/>
                          </a:solidFill>
                          <a:latin typeface="Inter Tight" pitchFamily="34" charset="0"/>
                          <a:ea typeface="Inter Tight" pitchFamily="34" charset="-122"/>
                          <a:cs typeface="Inter Tight" pitchFamily="34" charset="-120"/>
                        </a:rPr>
                        <a:t>2 September 2026</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r>
                        <a:rPr lang="en-US" sz="800" b="1" dirty="0">
                          <a:solidFill>
                            <a:srgbClr val="0F0F0F"/>
                          </a:solidFill>
                          <a:latin typeface="Inter Tight" pitchFamily="34" charset="0"/>
                          <a:ea typeface="Inter Tight" pitchFamily="34" charset="-122"/>
                          <a:cs typeface="Inter Tight" pitchFamily="34" charset="-120"/>
                        </a:rPr>
                        <a:t>2:00 pm</a:t>
                      </a: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c>
                  <a:txBody>
                    <a:bodyPr/>
                    <a:lstStyle/>
                    <a:p>
                      <a:pPr indent="0" marL="0">
                        <a:buNone/>
                      </a:pPr>
                      <a:endParaRPr lang="en-US" sz="800" dirty="0">
                        <a:latin typeface="Inter Tight" charset="0"/>
                        <a:ea typeface="Inter Tight" charset="0"/>
                        <a:cs typeface="Inter Tight" charset="0"/>
                      </a:endParaRPr>
                    </a:p>
                  </a:txBody>
                  <a:tcPr marL="88900" marR="88900" marT="50800" marB="50800" anchor="ctr">
                    <a:lnL w="9525" cap="flat" cmpd="sng" algn="ctr">
                      <a:solidFill>
                        <a:srgbClr val="E4E6EE"/>
                      </a:solidFill>
                      <a:prstDash val="solid"/>
                      <a:round/>
                      <a:headEnd type="none" w="med" len="med"/>
                      <a:tailEnd type="none" w="med" len="med"/>
                    </a:lnL>
                    <a:lnR w="9525" cap="flat" cmpd="sng" algn="ctr">
                      <a:solidFill>
                        <a:srgbClr val="E4E6EE"/>
                      </a:solidFill>
                      <a:prstDash val="solid"/>
                      <a:round/>
                      <a:headEnd type="none" w="med" len="med"/>
                      <a:tailEnd type="none" w="med" len="med"/>
                    </a:lnR>
                    <a:lnT w="9525" cap="flat" cmpd="sng" algn="ctr">
                      <a:solidFill>
                        <a:srgbClr val="E4E6EE"/>
                      </a:solidFill>
                      <a:prstDash val="solid"/>
                      <a:round/>
                      <a:headEnd type="none" w="med" len="med"/>
                      <a:tailEnd type="none" w="med" len="med"/>
                    </a:lnT>
                    <a:lnB w="9525" cap="flat" cmpd="sng" algn="ctr">
                      <a:solidFill>
                        <a:srgbClr val="E4E6EE"/>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310128"/>
            <a:ext cx="8229600" cy="566928"/>
          </a:xfrm>
          <a:prstGeom prst="roundRect">
            <a:avLst>
              <a:gd name="adj" fmla="val 12903"/>
            </a:avLst>
          </a:prstGeom>
          <a:solidFill>
            <a:srgbClr val="DDE5FE"/>
          </a:solidFill>
          <a:ln/>
        </p:spPr>
      </p:sp>
      <p:sp>
        <p:nvSpPr>
          <p:cNvPr id="7" name="Text 4"/>
          <p:cNvSpPr/>
          <p:nvPr/>
        </p:nvSpPr>
        <p:spPr>
          <a:xfrm>
            <a:off x="640080" y="3310128"/>
            <a:ext cx="7863840" cy="566928"/>
          </a:xfrm>
          <a:prstGeom prst="rect">
            <a:avLst/>
          </a:prstGeom>
          <a:noFill/>
          <a:ln/>
        </p:spPr>
        <p:txBody>
          <a:bodyPr wrap="square" lIns="0" tIns="0" rIns="0" bIns="0" rtlCol="0" anchor="ctr"/>
          <a:lstStyle/>
          <a:p>
            <a:pPr indent="0" marL="0">
              <a:lnSpc>
                <a:spcPct val="125000"/>
              </a:lnSpc>
              <a:buNone/>
            </a:pPr>
            <a:r>
              <a:rPr lang="en-US" sz="750" dirty="0">
                <a:solidFill>
                  <a:srgbClr val="4A4A4A"/>
                </a:solidFill>
                <a:latin typeface="Inter Tight" pitchFamily="34" charset="0"/>
                <a:ea typeface="Inter Tight" pitchFamily="34" charset="-122"/>
                <a:cs typeface="Inter Tight" pitchFamily="34" charset="-120"/>
              </a:rPr>
              <a:t>Whichever slot you pick becomes the standing one. If we start on Tuesday 1 September, the following calls fall on 15 September, 29 September and so on. If you would rather start on Wednesday 2 September, the next one lands on 16 September.</a:t>
            </a:r>
            <a:endParaRPr lang="en-US" sz="750" dirty="0"/>
          </a:p>
        </p:txBody>
      </p:sp>
      <p:sp>
        <p:nvSpPr>
          <p:cNvPr id="8" name="Shape 5"/>
          <p:cNvSpPr/>
          <p:nvPr/>
        </p:nvSpPr>
        <p:spPr>
          <a:xfrm>
            <a:off x="457200" y="4315968"/>
            <a:ext cx="8229600" cy="310896"/>
          </a:xfrm>
          <a:prstGeom prst="rect">
            <a:avLst/>
          </a:prstGeom>
          <a:solidFill>
            <a:srgbClr val="3056C9"/>
          </a:solidFill>
          <a:ln/>
        </p:spPr>
      </p:sp>
      <p:sp>
        <p:nvSpPr>
          <p:cNvPr id="9" name="Text 6"/>
          <p:cNvSpPr/>
          <p:nvPr/>
        </p:nvSpPr>
        <p:spPr>
          <a:xfrm>
            <a:off x="621792" y="4315968"/>
            <a:ext cx="790041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Inter Tight" pitchFamily="34" charset="0"/>
                <a:ea typeface="Inter Tight" pitchFamily="34" charset="-122"/>
                <a:cs typeface="Inter Tight" pitchFamily="34" charset="-120"/>
              </a:rPr>
              <a:t>Every second week</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Tuesday or Wednesday</a:t>
            </a:r>
            <a:pPr algn="ctr" indent="0" marL="0">
              <a:buNone/>
            </a:pPr>
            <a:r>
              <a:rPr lang="en-US" sz="800" b="1" dirty="0">
                <a:solidFill>
                  <a:srgbClr val="FFFFFF"/>
                </a:solidFill>
                <a:latin typeface="Inter Tight" pitchFamily="34" charset="0"/>
                <a:ea typeface="Inter Tight" pitchFamily="34" charset="-122"/>
                <a:cs typeface="Inter Tight" pitchFamily="34" charset="-120"/>
              </a:rPr>
              <a:t>   |   </a:t>
            </a:r>
            <a:pPr algn="ctr" indent="0" marL="0">
              <a:buNone/>
            </a:pPr>
            <a:r>
              <a:rPr lang="en-US" sz="800" b="1" dirty="0">
                <a:solidFill>
                  <a:srgbClr val="FFFFFF"/>
                </a:solidFill>
                <a:latin typeface="Inter Tight" pitchFamily="34" charset="0"/>
                <a:ea typeface="Inter Tight" pitchFamily="34" charset="-122"/>
                <a:cs typeface="Inter Tight" pitchFamily="34" charset="-120"/>
              </a:rPr>
              <a:t>Same time each session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Jordan/Desktop/Claude Code/toggle-brain/assets/logos/toggle-wordmark-black.png"/>
          <p:cNvPicPr>
            <a:picLocks noChangeAspect="1"/>
          </p:cNvPicPr>
          <p:nvPr/>
        </p:nvPicPr>
        <p:blipFill>
          <a:blip r:embed="rId1"/>
          <a:stretch>
            <a:fillRect/>
          </a:stretch>
        </p:blipFill>
        <p:spPr>
          <a:xfrm>
            <a:off x="457200" y="384048"/>
            <a:ext cx="1188720" cy="325526"/>
          </a:xfrm>
          <a:prstGeom prst="rect">
            <a:avLst/>
          </a:prstGeom>
        </p:spPr>
      </p:pic>
      <p:sp>
        <p:nvSpPr>
          <p:cNvPr id="3" name="Text 0"/>
          <p:cNvSpPr/>
          <p:nvPr/>
        </p:nvSpPr>
        <p:spPr>
          <a:xfrm>
            <a:off x="7315200" y="237744"/>
            <a:ext cx="1371600" cy="182880"/>
          </a:xfrm>
          <a:prstGeom prst="rect">
            <a:avLst/>
          </a:prstGeom>
          <a:noFill/>
          <a:ln/>
        </p:spPr>
        <p:txBody>
          <a:bodyPr wrap="square" rtlCol="0" anchor="ctr"/>
          <a:lstStyle/>
          <a:p>
            <a:pPr algn="r" indent="0" marL="0">
              <a:buNone/>
            </a:pPr>
            <a:r>
              <a:rPr lang="en-US" sz="750" dirty="0">
                <a:solidFill>
                  <a:srgbClr val="9AA0A8"/>
                </a:solidFill>
                <a:latin typeface="Inter Tight" pitchFamily="34" charset="0"/>
                <a:ea typeface="Inter Tight" pitchFamily="34" charset="-122"/>
                <a:cs typeface="Inter Tight" pitchFamily="34" charset="-120"/>
              </a:rPr>
              <a:t>[ toggle.solutions ]</a:t>
            </a:r>
            <a:endParaRPr lang="en-US" sz="750" dirty="0"/>
          </a:p>
        </p:txBody>
      </p:sp>
      <p:sp>
        <p:nvSpPr>
          <p:cNvPr id="4" name="Text 1"/>
          <p:cNvSpPr/>
          <p:nvPr/>
        </p:nvSpPr>
        <p:spPr>
          <a:xfrm>
            <a:off x="457200" y="1847088"/>
            <a:ext cx="5486400" cy="658368"/>
          </a:xfrm>
          <a:prstGeom prst="rect">
            <a:avLst/>
          </a:prstGeom>
          <a:noFill/>
          <a:ln/>
        </p:spPr>
        <p:txBody>
          <a:bodyPr wrap="square" lIns="0" tIns="0" rIns="0" bIns="0" rtlCol="0" anchor="ctr"/>
          <a:lstStyle/>
          <a:p>
            <a:pPr indent="0" marL="0">
              <a:buNone/>
            </a:pPr>
            <a:r>
              <a:rPr lang="en-US" sz="3600" b="1" dirty="0">
                <a:solidFill>
                  <a:srgbClr val="4A7BF7"/>
                </a:solidFill>
                <a:latin typeface="Inter Tight" pitchFamily="34" charset="0"/>
                <a:ea typeface="Inter Tight" pitchFamily="34" charset="-122"/>
                <a:cs typeface="Inter Tight" pitchFamily="34" charset="-120"/>
              </a:rPr>
              <a:t>Thank you</a:t>
            </a:r>
            <a:endParaRPr lang="en-US" sz="3600" dirty="0"/>
          </a:p>
        </p:txBody>
      </p:sp>
      <p:sp>
        <p:nvSpPr>
          <p:cNvPr id="5" name="Text 2"/>
          <p:cNvSpPr/>
          <p:nvPr/>
        </p:nvSpPr>
        <p:spPr>
          <a:xfrm>
            <a:off x="457200" y="2596896"/>
            <a:ext cx="5120640" cy="658368"/>
          </a:xfrm>
          <a:prstGeom prst="rect">
            <a:avLst/>
          </a:prstGeom>
          <a:noFill/>
          <a:ln/>
        </p:spPr>
        <p:txBody>
          <a:bodyPr wrap="square" lIns="0" tIns="0" rIns="0" bIns="0" rtlCol="0" anchor="t"/>
          <a:lstStyle/>
          <a:p>
            <a:pPr indent="0" marL="0">
              <a:lnSpc>
                <a:spcPct val="130000"/>
              </a:lnSpc>
              <a:buNone/>
            </a:pPr>
            <a:r>
              <a:rPr lang="en-US" sz="850" dirty="0">
                <a:solidFill>
                  <a:srgbClr val="4A4A4A"/>
                </a:solidFill>
                <a:latin typeface="Inter Tight" pitchFamily="34" charset="0"/>
                <a:ea typeface="Inter Tight" pitchFamily="34" charset="-122"/>
                <a:cs typeface="Inter Tight" pitchFamily="34" charset="-120"/>
              </a:rPr>
              <a:t>We start on 15 August and the first two weeks are already mapped out. Let us know which call slot works for you and we will hold it from September onward.</a:t>
            </a:r>
            <a:endParaRPr lang="en-US" sz="850" dirty="0"/>
          </a:p>
        </p:txBody>
      </p:sp>
      <p:sp>
        <p:nvSpPr>
          <p:cNvPr id="6" name="Shape 3"/>
          <p:cNvSpPr/>
          <p:nvPr/>
        </p:nvSpPr>
        <p:spPr>
          <a:xfrm>
            <a:off x="457200" y="3456432"/>
            <a:ext cx="777240" cy="32004"/>
          </a:xfrm>
          <a:prstGeom prst="rect">
            <a:avLst/>
          </a:prstGeom>
          <a:solidFill>
            <a:srgbClr val="4A7BF7"/>
          </a:solidFill>
          <a:ln/>
        </p:spPr>
      </p:sp>
      <p:sp>
        <p:nvSpPr>
          <p:cNvPr id="7" name="Text 4"/>
          <p:cNvSpPr/>
          <p:nvPr/>
        </p:nvSpPr>
        <p:spPr>
          <a:xfrm>
            <a:off x="457200" y="4315968"/>
            <a:ext cx="2194560" cy="219456"/>
          </a:xfrm>
          <a:prstGeom prst="rect">
            <a:avLst/>
          </a:prstGeom>
          <a:noFill/>
          <a:ln/>
        </p:spPr>
        <p:txBody>
          <a:bodyPr wrap="square" lIns="0" tIns="0" rIns="0" bIns="0" rtlCol="0" anchor="ctr"/>
          <a:lstStyle/>
          <a:p>
            <a:pPr indent="0" marL="0">
              <a:buNone/>
            </a:pPr>
            <a:r>
              <a:rPr lang="en-US" sz="750" dirty="0">
                <a:solidFill>
                  <a:srgbClr val="9AA0A8"/>
                </a:solidFill>
                <a:latin typeface="Inter Tight" pitchFamily="34" charset="0"/>
                <a:ea typeface="Inter Tight" pitchFamily="34" charset="-122"/>
                <a:cs typeface="Inter Tight" pitchFamily="34" charset="-120"/>
              </a:rPr>
              <a:t>[ Toggle Solutions ]</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CodeFortyNine Google Ads Optimization Plan</dc:title>
  <dc:subject>PptxGenJS Presentation</dc:subject>
  <dc:creator>Toggle Solutions</dc:creator>
  <cp:lastModifiedBy>Toggle Solutions</cp:lastModifiedBy>
  <cp:revision>1</cp:revision>
  <dcterms:created xsi:type="dcterms:W3CDTF">2026-08-13T09:40:58Z</dcterms:created>
  <dcterms:modified xsi:type="dcterms:W3CDTF">2026-08-13T09:40:58Z</dcterms:modified>
</cp:coreProperties>
</file>