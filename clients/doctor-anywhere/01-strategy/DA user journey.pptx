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Epilogue Light"/>
      <p:regular r:id="rId21"/>
      <p:bold r:id="rId22"/>
      <p:italic r:id="rId23"/>
      <p:boldItalic r:id="rId24"/>
    </p:embeddedFont>
    <p:embeddedFont>
      <p:font typeface="Epilogue SemiBold"/>
      <p:regular r:id="rId25"/>
      <p:bold r:id="rId26"/>
      <p:italic r:id="rId27"/>
      <p:boldItalic r:id="rId28"/>
    </p:embeddedFont>
    <p:embeddedFont>
      <p:font typeface="Epilogue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77ED7A-C26B-47AC-A8F9-6AF23B8789D2}">
  <a:tblStyle styleId="{7A77ED7A-C26B-47AC-A8F9-6AF23B8789D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EpilogueLight-bold.fntdata"/><Relationship Id="rId21" Type="http://schemas.openxmlformats.org/officeDocument/2006/relationships/font" Target="fonts/EpilogueLight-regular.fntdata"/><Relationship Id="rId24" Type="http://schemas.openxmlformats.org/officeDocument/2006/relationships/font" Target="fonts/EpilogueLight-boldItalic.fntdata"/><Relationship Id="rId23" Type="http://schemas.openxmlformats.org/officeDocument/2006/relationships/font" Target="fonts/Epilogue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EpilogueSemiBold-bold.fntdata"/><Relationship Id="rId25" Type="http://schemas.openxmlformats.org/officeDocument/2006/relationships/font" Target="fonts/EpilogueSemiBold-regular.fntdata"/><Relationship Id="rId28" Type="http://schemas.openxmlformats.org/officeDocument/2006/relationships/font" Target="fonts/EpilogueSemiBold-boldItalic.fntdata"/><Relationship Id="rId27" Type="http://schemas.openxmlformats.org/officeDocument/2006/relationships/font" Target="fonts/Epilogue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Epilogu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pilogue-italic.fntdata"/><Relationship Id="rId30" Type="http://schemas.openxmlformats.org/officeDocument/2006/relationships/font" Target="fonts/Epilogue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Epilogue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9cb7f6fbc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Ref: https://docs.google.com/presentation/d/1libK6QabR1DrhQZF0sdoUm2jki4w2AWx/edit#slide=id.p3</a:t>
            </a:r>
            <a:endParaRPr/>
          </a:p>
        </p:txBody>
      </p:sp>
      <p:sp>
        <p:nvSpPr>
          <p:cNvPr id="52" name="Google Shape;52;g3b9cb7f6fbc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9cb7f6fbc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9cb7f6fbc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9cb7f6fb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9cb7f6fb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9cb7f6fb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9cb7f6fb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9cb7f6fb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9cb7f6fb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9cb7f6fb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9cb7f6fb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9cb7f6fbc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9cb7f6fbc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9cb7f6fb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9cb7f6fb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9cb7f6fb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9cb7f6fb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9cb7f6fbc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9cb7f6fbc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9cb7f6fbc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9cb7f6fbc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9cb7f6fb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9cb7f6fb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9cb7f6fbc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9cb7f6fbc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5.jpg"/><Relationship Id="rId5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toranywhere.sng.link/Avkkq/9v17/r8a4" TargetMode="External"/><Relationship Id="rId4" Type="http://schemas.openxmlformats.org/officeDocument/2006/relationships/hyperlink" Target="https://medsuites.doctoranywhere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9.jpg"/><Relationship Id="rId5" Type="http://schemas.openxmlformats.org/officeDocument/2006/relationships/image" Target="../media/image18.jpg"/><Relationship Id="rId6" Type="http://schemas.openxmlformats.org/officeDocument/2006/relationships/image" Target="../media/image11.jpg"/><Relationship Id="rId7" Type="http://schemas.openxmlformats.org/officeDocument/2006/relationships/image" Target="../media/image2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3.jpg"/><Relationship Id="rId5" Type="http://schemas.openxmlformats.org/officeDocument/2006/relationships/image" Target="../media/image5.jpg"/><Relationship Id="rId6" Type="http://schemas.openxmlformats.org/officeDocument/2006/relationships/image" Target="../media/image1.jpg"/><Relationship Id="rId7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image" Target="../media/image6.jpg"/><Relationship Id="rId5" Type="http://schemas.openxmlformats.org/officeDocument/2006/relationships/image" Target="../media/image13.jpg"/><Relationship Id="rId6" Type="http://schemas.openxmlformats.org/officeDocument/2006/relationships/image" Target="../media/image10.jpg"/><Relationship Id="rId7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4.jpg"/><Relationship Id="rId5" Type="http://schemas.openxmlformats.org/officeDocument/2006/relationships/image" Target="../media/image16.jpg"/><Relationship Id="rId6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5" Type="http://schemas.openxmlformats.org/officeDocument/2006/relationships/hyperlink" Target="https://doctoranywhere.sng.link/Avkkq/9v17/r8a4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Relationship Id="rId4" Type="http://schemas.openxmlformats.org/officeDocument/2006/relationships/image" Target="../media/image19.jpg"/><Relationship Id="rId5" Type="http://schemas.openxmlformats.org/officeDocument/2006/relationships/image" Target="../media/image23.jpg"/><Relationship Id="rId6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toranywhere.com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8051" r="22783" t="0"/>
          <a:stretch/>
        </p:blipFill>
        <p:spPr>
          <a:xfrm>
            <a:off x="3807100" y="0"/>
            <a:ext cx="53368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5340025" y="-5812081"/>
            <a:ext cx="2568762" cy="5127676"/>
          </a:xfrm>
          <a:custGeom>
            <a:rect b="b" l="l" r="r" t="t"/>
            <a:pathLst>
              <a:path extrusionOk="0" h="5826904" w="2919048">
                <a:moveTo>
                  <a:pt x="5596" y="0"/>
                </a:moveTo>
                <a:cubicBezTo>
                  <a:pt x="1614651" y="0"/>
                  <a:pt x="2919048" y="1304397"/>
                  <a:pt x="2919048" y="2913452"/>
                </a:cubicBezTo>
                <a:cubicBezTo>
                  <a:pt x="2919048" y="4522507"/>
                  <a:pt x="1614651" y="5826904"/>
                  <a:pt x="5596" y="5826904"/>
                </a:cubicBezTo>
                <a:lnTo>
                  <a:pt x="0" y="5826622"/>
                </a:lnTo>
                <a:lnTo>
                  <a:pt x="0" y="283"/>
                </a:lnTo>
                <a:close/>
              </a:path>
            </a:pathLst>
          </a:custGeom>
          <a:solidFill>
            <a:srgbClr val="00C1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-1129443" y="-801713"/>
            <a:ext cx="6289802" cy="6750898"/>
          </a:xfrm>
          <a:custGeom>
            <a:rect b="b" l="l" r="r" t="t"/>
            <a:pathLst>
              <a:path extrusionOk="0" h="6700643" w="6242980">
                <a:moveTo>
                  <a:pt x="1122788" y="0"/>
                </a:moveTo>
                <a:lnTo>
                  <a:pt x="2516025" y="0"/>
                </a:lnTo>
                <a:lnTo>
                  <a:pt x="2515986" y="1"/>
                </a:lnTo>
                <a:lnTo>
                  <a:pt x="2892659" y="1"/>
                </a:lnTo>
                <a:cubicBezTo>
                  <a:pt x="4742990" y="1"/>
                  <a:pt x="6242980" y="1499991"/>
                  <a:pt x="6242980" y="3350322"/>
                </a:cubicBezTo>
                <a:cubicBezTo>
                  <a:pt x="6242980" y="5200653"/>
                  <a:pt x="4742990" y="6700643"/>
                  <a:pt x="2892659" y="6700643"/>
                </a:cubicBezTo>
                <a:lnTo>
                  <a:pt x="2516025" y="6700643"/>
                </a:lnTo>
                <a:lnTo>
                  <a:pt x="2502802" y="6700643"/>
                </a:lnTo>
                <a:lnTo>
                  <a:pt x="1122788" y="6700643"/>
                </a:lnTo>
                <a:cubicBezTo>
                  <a:pt x="509992" y="6700643"/>
                  <a:pt x="13223" y="6203874"/>
                  <a:pt x="13223" y="5591078"/>
                </a:cubicBezTo>
                <a:lnTo>
                  <a:pt x="13223" y="5586725"/>
                </a:lnTo>
                <a:lnTo>
                  <a:pt x="0" y="5572176"/>
                </a:lnTo>
                <a:lnTo>
                  <a:pt x="0" y="1128469"/>
                </a:lnTo>
                <a:lnTo>
                  <a:pt x="13223" y="1113920"/>
                </a:lnTo>
                <a:lnTo>
                  <a:pt x="13223" y="1109565"/>
                </a:lnTo>
                <a:cubicBezTo>
                  <a:pt x="13223" y="496769"/>
                  <a:pt x="509992" y="0"/>
                  <a:pt x="1122788" y="0"/>
                </a:cubicBezTo>
                <a:close/>
              </a:path>
            </a:pathLst>
          </a:custGeom>
          <a:solidFill>
            <a:srgbClr val="00C1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009072" y="-6625398"/>
            <a:ext cx="3037830" cy="6075662"/>
          </a:xfrm>
          <a:custGeom>
            <a:rect b="b" l="l" r="r" t="t"/>
            <a:pathLst>
              <a:path extrusionOk="0" h="6137032" w="3068515">
                <a:moveTo>
                  <a:pt x="3068515" y="0"/>
                </a:moveTo>
                <a:lnTo>
                  <a:pt x="3068515" y="6137032"/>
                </a:lnTo>
                <a:lnTo>
                  <a:pt x="2754778" y="6121190"/>
                </a:lnTo>
                <a:cubicBezTo>
                  <a:pt x="1207460" y="5964051"/>
                  <a:pt x="0" y="4657293"/>
                  <a:pt x="0" y="3068516"/>
                </a:cubicBezTo>
                <a:cubicBezTo>
                  <a:pt x="0" y="1479740"/>
                  <a:pt x="1207460" y="172981"/>
                  <a:pt x="2754778" y="15843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440" l="-98872" r="-98872" t="0"/>
            </a:stretch>
          </a:blip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202850" y="1833050"/>
            <a:ext cx="2805000" cy="12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DA User Journey</a:t>
            </a:r>
            <a:endParaRPr sz="3400">
              <a:solidFill>
                <a:schemeClr val="lt1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pic>
        <p:nvPicPr>
          <p:cNvPr descr="Logo, company name&#10;&#10;Description automatically generated" id="59" name="Google Shape;5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2841" y="676288"/>
            <a:ext cx="730409" cy="64187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1202862" y="4129406"/>
            <a:ext cx="2456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Updated 22 Jan 2026</a:t>
            </a:r>
            <a:endParaRPr b="1" sz="120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4804397" y="3370442"/>
            <a:ext cx="307500" cy="307500"/>
          </a:xfrm>
          <a:prstGeom prst="ellipse">
            <a:avLst/>
          </a:prstGeom>
          <a:solidFill>
            <a:srgbClr val="FF91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EA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1881725" y="2224075"/>
            <a:ext cx="568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APP</a:t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326725" y="531976"/>
            <a:ext cx="85827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b="1" lang="en" sz="1100">
                <a:solidFill>
                  <a:schemeClr val="dk2"/>
                </a:solidFill>
              </a:rPr>
              <a:t>VIRTUAL CONSULT (VC)</a:t>
            </a:r>
            <a:endParaRPr b="1"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Book and join VC service via app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Also can Book via web (info page)→ download app → join VC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Service received via App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b="1" lang="en" sz="1100">
                <a:solidFill>
                  <a:schemeClr val="dk2"/>
                </a:solidFill>
              </a:rPr>
              <a:t>VACCINATION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	Book via App → DA Market Place (mobile web)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Book via Web→  (has more info on types of vaccine) Booking based on type of Vaccinnes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	Service received via In-clinic or Home-based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b="1" lang="en" sz="1100">
                <a:solidFill>
                  <a:schemeClr val="dk2"/>
                </a:solidFill>
              </a:rPr>
              <a:t>HOME-BASED CARE /(MOBS)  </a:t>
            </a:r>
            <a:r>
              <a:rPr b="1" lang="en" sz="1100">
                <a:solidFill>
                  <a:schemeClr val="accent1"/>
                </a:solidFill>
              </a:rPr>
              <a:t>(DOCTOR HOUSE CALL)</a:t>
            </a:r>
            <a:endParaRPr b="1" sz="1100">
              <a:solidFill>
                <a:schemeClr val="accen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Book Via app → DA Marketplace (mobile web) → Booking Form (incognito)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Book via web (has More infor) → Booking form (incognito)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Service via Home-based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Services offer: Vaccination, Health Screening, Wound dressing, etc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b="1" lang="en" sz="1300">
                <a:solidFill>
                  <a:schemeClr val="dk2"/>
                </a:solidFill>
              </a:rPr>
              <a:t>HEALTH SCREENING</a:t>
            </a:r>
            <a:endParaRPr b="1" sz="13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Book via app →   DA Market Place (mobile web) and fill form</a:t>
            </a:r>
            <a:endParaRPr sz="13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Book via web (info page)→ fill up form</a:t>
            </a:r>
            <a:endParaRPr sz="13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Services via In-clinic or via home-based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119025" y="135950"/>
            <a:ext cx="56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SUMMARY DA SERVICES &amp; USER JOURNEY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280650" y="314800"/>
            <a:ext cx="8582700" cy="54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5.  </a:t>
            </a:r>
            <a:r>
              <a:rPr b="1" lang="en" sz="1300">
                <a:solidFill>
                  <a:schemeClr val="dk2"/>
                </a:solidFill>
              </a:rPr>
              <a:t>KIDS CLINIC</a:t>
            </a:r>
            <a:endParaRPr b="1" sz="13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Services under Kids Clinic are </a:t>
            </a:r>
            <a:r>
              <a:rPr b="1" lang="en" sz="1100">
                <a:solidFill>
                  <a:schemeClr val="dk2"/>
                </a:solidFill>
              </a:rPr>
              <a:t>VC + Flu Vaccination</a:t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lphaLcParenBoth"/>
            </a:pPr>
            <a:r>
              <a:rPr lang="en" sz="1100">
                <a:solidFill>
                  <a:schemeClr val="dk2"/>
                </a:solidFill>
              </a:rPr>
              <a:t>VC: 			Book and service via app</a:t>
            </a:r>
            <a:endParaRPr sz="1100">
              <a:solidFill>
                <a:schemeClr val="dk2"/>
              </a:solidFill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Book via web (info page)→ download app</a:t>
            </a:r>
            <a:endParaRPr sz="1100">
              <a:solidFill>
                <a:schemeClr val="dk2"/>
              </a:solidFill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Service received via App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lphaLcParenBoth"/>
            </a:pPr>
            <a:r>
              <a:rPr lang="en" sz="1100">
                <a:solidFill>
                  <a:schemeClr val="dk2"/>
                </a:solidFill>
              </a:rPr>
              <a:t>Vaccination: 		Book via App thru DA Market Place (mobile-web)</a:t>
            </a:r>
            <a:endParaRPr sz="1100">
              <a:solidFill>
                <a:schemeClr val="dk2"/>
              </a:solidFill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Book via Web (have more info on types of vaccines)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			Service via DA In-clinic or DA Home-based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Kids Clinic “dedicated tile” in app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https://doctoranywhere.sng.link/Avkkq/9v17/r8a4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99999"/>
                </a:solidFill>
              </a:rPr>
              <a:t>6. </a:t>
            </a:r>
            <a:r>
              <a:rPr b="1" lang="en" sz="1300">
                <a:solidFill>
                  <a:srgbClr val="999999"/>
                </a:solidFill>
              </a:rPr>
              <a:t> WOMEN’S HEALTH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99999"/>
                </a:solidFill>
              </a:rPr>
              <a:t>7</a:t>
            </a:r>
            <a:r>
              <a:rPr b="1" lang="en" sz="1300" u="sng">
                <a:solidFill>
                  <a:schemeClr val="hlink"/>
                </a:solidFill>
                <a:hlinkClick r:id="rId4"/>
              </a:rPr>
              <a:t>. MEDSUITES (CENTER AT ORCHARD RD). </a:t>
            </a:r>
            <a:endParaRPr b="1" sz="13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99999"/>
                </a:solidFill>
              </a:rPr>
              <a:t>Book health screenings via web</a:t>
            </a:r>
            <a:endParaRPr sz="13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99999"/>
                </a:solidFill>
              </a:rPr>
              <a:t>Book some packages via DA Market Place</a:t>
            </a:r>
            <a:endParaRPr sz="13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119025" y="135950"/>
            <a:ext cx="56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VC</a:t>
            </a:r>
            <a:r>
              <a:rPr lang="en" sz="1800">
                <a:solidFill>
                  <a:schemeClr val="dk2"/>
                </a:solidFill>
              </a:rPr>
              <a:t> USER JOURNEY- IN APP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3" name="Google Shape;83;p17" title="WhatsApp Image 2026-01-22 at 8.19.58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802" y="888466"/>
            <a:ext cx="1511700" cy="3276300"/>
          </a:xfrm>
          <a:prstGeom prst="roundRect">
            <a:avLst>
              <a:gd fmla="val 16667" name="adj"/>
            </a:avLst>
          </a:prstGeom>
          <a:noFill/>
          <a:ln cap="flat" cmpd="sng" w="41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" name="Google Shape;84;p17"/>
          <p:cNvSpPr/>
          <p:nvPr/>
        </p:nvSpPr>
        <p:spPr>
          <a:xfrm>
            <a:off x="209425" y="2772038"/>
            <a:ext cx="690600" cy="634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156600" y="1458913"/>
            <a:ext cx="960900" cy="634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 title="WhatsApp Image 2026-01-22 at 1.04.20 PM (4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825" y="914967"/>
            <a:ext cx="1511700" cy="3276000"/>
          </a:xfrm>
          <a:prstGeom prst="roundRect">
            <a:avLst>
              <a:gd fmla="val 16667" name="adj"/>
            </a:avLst>
          </a:prstGeom>
          <a:noFill/>
          <a:ln cap="flat" cmpd="sng" w="5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7" name="Google Shape;87;p17" title="WhatsApp Image 2026-01-22 at 4.35.55 PM (2)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4950" y="925027"/>
            <a:ext cx="1536600" cy="3330000"/>
          </a:xfrm>
          <a:prstGeom prst="roundRect">
            <a:avLst>
              <a:gd fmla="val 16667" name="adj"/>
            </a:avLst>
          </a:prstGeom>
          <a:noFill/>
          <a:ln cap="flat" cmpd="sng" w="5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17" title="WhatsApp Image 2026-01-22 at 4.35.55 PM (1)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8975" y="924709"/>
            <a:ext cx="1536600" cy="3330300"/>
          </a:xfrm>
          <a:prstGeom prst="roundRect">
            <a:avLst>
              <a:gd fmla="val 16667" name="adj"/>
            </a:avLst>
          </a:prstGeom>
          <a:noFill/>
          <a:ln cap="flat" cmpd="sng" w="5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Google Shape;89;p17" title="WhatsApp Image 2026-01-22 at 4.35.55 PM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3001" y="926138"/>
            <a:ext cx="1511700" cy="3276000"/>
          </a:xfrm>
          <a:prstGeom prst="roundRect">
            <a:avLst>
              <a:gd fmla="val 16667" name="adj"/>
            </a:avLst>
          </a:prstGeom>
          <a:noFill/>
          <a:ln cap="flat" cmpd="sng" w="5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" name="Google Shape;90;p17"/>
          <p:cNvSpPr/>
          <p:nvPr/>
        </p:nvSpPr>
        <p:spPr>
          <a:xfrm>
            <a:off x="488375" y="3756088"/>
            <a:ext cx="473400" cy="461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1896650" y="2137838"/>
            <a:ext cx="619800" cy="634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/>
        </p:nvSpPr>
        <p:spPr>
          <a:xfrm>
            <a:off x="119025" y="135950"/>
            <a:ext cx="56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VACCINATION</a:t>
            </a:r>
            <a:r>
              <a:rPr lang="en" sz="1800">
                <a:solidFill>
                  <a:schemeClr val="dk2"/>
                </a:solidFill>
              </a:rPr>
              <a:t> USER JOURNEY- IN APP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7" name="Google Shape;97;p18" title="WhatsApp Image 2026-01-22 at 1.04.20 PM (3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546" y="777589"/>
            <a:ext cx="1373100" cy="2975400"/>
          </a:xfrm>
          <a:prstGeom prst="roundRect">
            <a:avLst>
              <a:gd fmla="val 16667" name="adj"/>
            </a:avLst>
          </a:prstGeom>
          <a:noFill/>
          <a:ln cap="flat" cmpd="sng" w="61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" name="Google Shape;98;p18" title="WhatsApp Image 2026-01-22 at 1.04.20 PM (2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2468" y="777589"/>
            <a:ext cx="1373100" cy="2976000"/>
          </a:xfrm>
          <a:prstGeom prst="roundRect">
            <a:avLst>
              <a:gd fmla="val 16667" name="adj"/>
            </a:avLst>
          </a:prstGeom>
          <a:noFill/>
          <a:ln cap="flat" cmpd="sng" w="61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" name="Google Shape;99;p18" title="WhatsApp Image 2026-01-22 at 1.04.20 PM (1)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2292" y="726500"/>
            <a:ext cx="1373100" cy="2976000"/>
          </a:xfrm>
          <a:prstGeom prst="roundRect">
            <a:avLst>
              <a:gd fmla="val 16667" name="adj"/>
            </a:avLst>
          </a:prstGeom>
          <a:noFill/>
          <a:ln cap="flat" cmpd="sng" w="61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0" name="Google Shape;100;p18" title="WhatsApp Image 2026-01-22 at 1.04.20 P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4821" y="726500"/>
            <a:ext cx="1411200" cy="3058500"/>
          </a:xfrm>
          <a:prstGeom prst="roundRect">
            <a:avLst>
              <a:gd fmla="val 16667" name="adj"/>
            </a:avLst>
          </a:prstGeom>
          <a:noFill/>
          <a:ln cap="flat" cmpd="sng" w="61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p18" title="WhatsApp Image 2026-01-22 at 8.19.58 AM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6625" y="809336"/>
            <a:ext cx="1373100" cy="2975700"/>
          </a:xfrm>
          <a:prstGeom prst="roundRect">
            <a:avLst>
              <a:gd fmla="val 16667" name="adj"/>
            </a:avLst>
          </a:prstGeom>
          <a:noFill/>
          <a:ln cap="flat" cmpd="sng" w="38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18"/>
          <p:cNvSpPr/>
          <p:nvPr/>
        </p:nvSpPr>
        <p:spPr>
          <a:xfrm>
            <a:off x="2043793" y="2993664"/>
            <a:ext cx="627300" cy="576000"/>
          </a:xfrm>
          <a:prstGeom prst="ellipse">
            <a:avLst/>
          </a:prstGeom>
          <a:noFill/>
          <a:ln cap="flat" cmpd="sng" w="8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2"/>
          </a:p>
        </p:txBody>
      </p:sp>
      <p:sp>
        <p:nvSpPr>
          <p:cNvPr id="103" name="Google Shape;103;p18"/>
          <p:cNvSpPr/>
          <p:nvPr/>
        </p:nvSpPr>
        <p:spPr>
          <a:xfrm>
            <a:off x="723124" y="3454671"/>
            <a:ext cx="328500" cy="298500"/>
          </a:xfrm>
          <a:prstGeom prst="ellipse">
            <a:avLst/>
          </a:prstGeom>
          <a:noFill/>
          <a:ln cap="flat" cmpd="sng" w="8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25" lIns="83025" spcFirstLastPara="1" rIns="83025" wrap="square" tIns="83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2"/>
          </a:p>
        </p:txBody>
      </p:sp>
      <p:sp>
        <p:nvSpPr>
          <p:cNvPr id="104" name="Google Shape;104;p18"/>
          <p:cNvSpPr txBox="1"/>
          <p:nvPr/>
        </p:nvSpPr>
        <p:spPr>
          <a:xfrm>
            <a:off x="3836845" y="3785049"/>
            <a:ext cx="12885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25" lIns="83025" spcFirstLastPara="1" rIns="83025" wrap="square" tIns="83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8">
                <a:solidFill>
                  <a:schemeClr val="dk2"/>
                </a:solidFill>
              </a:rPr>
              <a:t>DA Market Place</a:t>
            </a:r>
            <a:endParaRPr sz="999"/>
          </a:p>
        </p:txBody>
      </p:sp>
      <p:sp>
        <p:nvSpPr>
          <p:cNvPr id="105" name="Google Shape;105;p18"/>
          <p:cNvSpPr txBox="1"/>
          <p:nvPr/>
        </p:nvSpPr>
        <p:spPr>
          <a:xfrm>
            <a:off x="1581900" y="3996700"/>
            <a:ext cx="57984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Booked via DA Marketplace (mobile web)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Service delivered in clinic or home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Primary objective: Completed booking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Recommended lead channel: Web Conversion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WhatsApp Image 2026-01-22 at 8.19.58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125" y="760175"/>
            <a:ext cx="1352400" cy="29310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" name="Google Shape;111;p19" title="WhatsApp Image 2026-01-22 at 8.19.57 AM (3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2213" y="849875"/>
            <a:ext cx="1311000" cy="28410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" name="Google Shape;112;p19" title="WhatsApp Image 2026-01-22 at 8.19.57 AM (1)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4905" y="849875"/>
            <a:ext cx="1311000" cy="28413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" name="Google Shape;113;p19" title="WhatsApp Image 2026-01-22 at 8.19.57 A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2156" y="849874"/>
            <a:ext cx="1311000" cy="28413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" name="Google Shape;114;p19" title="WhatsApp Image 2026-01-22 at 8.19.56 AM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7656" y="849718"/>
            <a:ext cx="1352400" cy="28413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" name="Google Shape;115;p19"/>
          <p:cNvSpPr txBox="1"/>
          <p:nvPr/>
        </p:nvSpPr>
        <p:spPr>
          <a:xfrm>
            <a:off x="119025" y="135950"/>
            <a:ext cx="817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HOME BASED (DOCTOR HOUSE CALL)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2142203" y="2722500"/>
            <a:ext cx="617700" cy="567300"/>
          </a:xfrm>
          <a:prstGeom prst="ellipse">
            <a:avLst/>
          </a:prstGeom>
          <a:noFill/>
          <a:ln cap="flat" cmpd="sng" w="8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2"/>
          </a:p>
        </p:txBody>
      </p:sp>
      <p:sp>
        <p:nvSpPr>
          <p:cNvPr id="117" name="Google Shape;117;p19"/>
          <p:cNvSpPr txBox="1"/>
          <p:nvPr/>
        </p:nvSpPr>
        <p:spPr>
          <a:xfrm>
            <a:off x="2163236" y="3691185"/>
            <a:ext cx="1269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95">
                <a:solidFill>
                  <a:schemeClr val="dk2"/>
                </a:solidFill>
              </a:rPr>
              <a:t>DA Market Place</a:t>
            </a:r>
            <a:endParaRPr sz="984"/>
          </a:p>
        </p:txBody>
      </p:sp>
      <p:sp>
        <p:nvSpPr>
          <p:cNvPr id="118" name="Google Shape;118;p19"/>
          <p:cNvSpPr txBox="1"/>
          <p:nvPr/>
        </p:nvSpPr>
        <p:spPr>
          <a:xfrm>
            <a:off x="1771750" y="3941252"/>
            <a:ext cx="58431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Booked via DA Marketplace → web form (incognito)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Service delivered offline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Primary objective: Completed booking request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Recommended lead channel: Web Conversion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/>
        </p:nvSpPr>
        <p:spPr>
          <a:xfrm>
            <a:off x="119025" y="135950"/>
            <a:ext cx="817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HEALTH SCREENING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4" name="Google Shape;124;p20" title="WhatsApp Image 2026-01-22 at 8.19.58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675" y="710274"/>
            <a:ext cx="1330500" cy="2883300"/>
          </a:xfrm>
          <a:prstGeom prst="roundRect">
            <a:avLst>
              <a:gd fmla="val 16667" name="adj"/>
            </a:avLst>
          </a:prstGeom>
          <a:noFill/>
          <a:ln cap="flat" cmpd="sng" w="36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5" name="Google Shape;125;p20" title="WhatsApp Image 2026-01-22 at 8.22.23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399" y="675696"/>
            <a:ext cx="1362300" cy="2952600"/>
          </a:xfrm>
          <a:prstGeom prst="roundRect">
            <a:avLst>
              <a:gd fmla="val 16667" name="adj"/>
            </a:avLst>
          </a:prstGeom>
          <a:noFill/>
          <a:ln cap="flat" cmpd="sng" w="7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" name="Google Shape;126;p20" title="WhatsApp Image 2026-01-22 at 8.22.22 PM (1)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4946" y="675696"/>
            <a:ext cx="1362300" cy="2952600"/>
          </a:xfrm>
          <a:prstGeom prst="roundRect">
            <a:avLst>
              <a:gd fmla="val 16667" name="adj"/>
            </a:avLst>
          </a:prstGeom>
          <a:noFill/>
          <a:ln cap="flat" cmpd="sng" w="7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" name="Google Shape;127;p20" title="WhatsApp Image 2026-01-22 at 8.22.22 P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4901" y="675674"/>
            <a:ext cx="1362300" cy="2952600"/>
          </a:xfrm>
          <a:prstGeom prst="roundRect">
            <a:avLst>
              <a:gd fmla="val 16667" name="adj"/>
            </a:avLst>
          </a:prstGeom>
          <a:noFill/>
          <a:ln cap="flat" cmpd="sng" w="7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" name="Google Shape;128;p20"/>
          <p:cNvSpPr/>
          <p:nvPr/>
        </p:nvSpPr>
        <p:spPr>
          <a:xfrm>
            <a:off x="1773044" y="2378213"/>
            <a:ext cx="607800" cy="558000"/>
          </a:xfrm>
          <a:prstGeom prst="ellipse">
            <a:avLst/>
          </a:prstGeom>
          <a:noFill/>
          <a:ln cap="flat" cmpd="sng" w="83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50" lIns="80450" spcFirstLastPara="1" rIns="80450" wrap="square" tIns="8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129" name="Google Shape;129;p20"/>
          <p:cNvSpPr txBox="1"/>
          <p:nvPr/>
        </p:nvSpPr>
        <p:spPr>
          <a:xfrm>
            <a:off x="3257190" y="3739325"/>
            <a:ext cx="12486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50" lIns="80450" spcFirstLastPara="1" rIns="80450" wrap="square" tIns="80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80">
                <a:solidFill>
                  <a:schemeClr val="dk2"/>
                </a:solidFill>
              </a:rPr>
              <a:t>DA Market Place</a:t>
            </a:r>
            <a:endParaRPr sz="968"/>
          </a:p>
        </p:txBody>
      </p:sp>
      <p:sp>
        <p:nvSpPr>
          <p:cNvPr id="130" name="Google Shape;130;p20"/>
          <p:cNvSpPr txBox="1"/>
          <p:nvPr/>
        </p:nvSpPr>
        <p:spPr>
          <a:xfrm>
            <a:off x="2205650" y="4037225"/>
            <a:ext cx="50745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Booked via web form / DA Marketplace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Service delivered in clinic or home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Primary objective: Qualified booking form submission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Recommended lead channel: Web Conversion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119025" y="135950"/>
            <a:ext cx="56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KIDS CLINIC</a:t>
            </a:r>
            <a:r>
              <a:rPr lang="en" sz="1800">
                <a:solidFill>
                  <a:schemeClr val="dk2"/>
                </a:solidFill>
              </a:rPr>
              <a:t> USER JOURNEY- IN APP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 b="13457" l="0" r="0" t="0"/>
          <a:stretch/>
        </p:blipFill>
        <p:spPr>
          <a:xfrm>
            <a:off x="3545450" y="641625"/>
            <a:ext cx="1547100" cy="418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251" y="719124"/>
            <a:ext cx="2544501" cy="361669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/>
          <p:nvPr/>
        </p:nvSpPr>
        <p:spPr>
          <a:xfrm>
            <a:off x="1640025" y="2868125"/>
            <a:ext cx="690600" cy="634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5231600" y="3079875"/>
            <a:ext cx="141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Vaccination journey</a:t>
            </a:r>
            <a:endParaRPr sz="700"/>
          </a:p>
        </p:txBody>
      </p:sp>
      <p:sp>
        <p:nvSpPr>
          <p:cNvPr id="140" name="Google Shape;140;p21"/>
          <p:cNvSpPr txBox="1"/>
          <p:nvPr/>
        </p:nvSpPr>
        <p:spPr>
          <a:xfrm>
            <a:off x="5198250" y="3946650"/>
            <a:ext cx="141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VC journey</a:t>
            </a:r>
            <a:endParaRPr sz="700"/>
          </a:p>
        </p:txBody>
      </p:sp>
      <p:sp>
        <p:nvSpPr>
          <p:cNvPr id="141" name="Google Shape;141;p21"/>
          <p:cNvSpPr txBox="1"/>
          <p:nvPr/>
        </p:nvSpPr>
        <p:spPr>
          <a:xfrm>
            <a:off x="5231600" y="1779700"/>
            <a:ext cx="141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VC journey</a:t>
            </a:r>
            <a:endParaRPr sz="700"/>
          </a:p>
        </p:txBody>
      </p:sp>
      <p:sp>
        <p:nvSpPr>
          <p:cNvPr id="142" name="Google Shape;142;p21"/>
          <p:cNvSpPr txBox="1"/>
          <p:nvPr/>
        </p:nvSpPr>
        <p:spPr>
          <a:xfrm>
            <a:off x="5231600" y="2213100"/>
            <a:ext cx="141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DA Market place journy</a:t>
            </a:r>
            <a:endParaRPr sz="700"/>
          </a:p>
        </p:txBody>
      </p:sp>
      <p:sp>
        <p:nvSpPr>
          <p:cNvPr id="143" name="Google Shape;143;p21"/>
          <p:cNvSpPr txBox="1"/>
          <p:nvPr/>
        </p:nvSpPr>
        <p:spPr>
          <a:xfrm>
            <a:off x="5805525" y="5976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ttps://doctoranywhere.sng.link/Avkkq/9v17/r8a4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/>
        </p:nvSpPr>
        <p:spPr>
          <a:xfrm>
            <a:off x="119025" y="135950"/>
            <a:ext cx="56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DA MARKET PLACE (MOBILE WEB)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9" name="Google Shape;149;p22" title="WhatsApp Image 2026-01-22 at 8.11.56 PM (2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6" y="778259"/>
            <a:ext cx="1786200" cy="3870600"/>
          </a:xfrm>
          <a:prstGeom prst="roundRect">
            <a:avLst>
              <a:gd fmla="val 16667" name="adj"/>
            </a:avLst>
          </a:prstGeom>
          <a:noFill/>
          <a:ln cap="flat" cmpd="sng" w="8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0" name="Google Shape;150;p22" title="WhatsApp Image 2026-01-22 at 8.11.56 PM (1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4425" y="778250"/>
            <a:ext cx="1786200" cy="3870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22" title="WhatsApp Image 2026-01-22 at 8.11.56 P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9536" y="778250"/>
            <a:ext cx="1786200" cy="3870600"/>
          </a:xfrm>
          <a:prstGeom prst="roundRect">
            <a:avLst>
              <a:gd fmla="val 16667" name="adj"/>
            </a:avLst>
          </a:prstGeom>
          <a:noFill/>
          <a:ln cap="flat" cmpd="sng" w="8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2" name="Google Shape;152;p22" title="WhatsApp Image 2026-01-22 at 8.19.58 A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975" y="778252"/>
            <a:ext cx="1831200" cy="3968700"/>
          </a:xfrm>
          <a:prstGeom prst="roundRect">
            <a:avLst>
              <a:gd fmla="val 16667" name="adj"/>
            </a:avLst>
          </a:prstGeom>
          <a:noFill/>
          <a:ln cap="flat" cmpd="sng" w="41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" name="Google Shape;153;p22"/>
          <p:cNvSpPr/>
          <p:nvPr/>
        </p:nvSpPr>
        <p:spPr>
          <a:xfrm>
            <a:off x="1636150" y="1552650"/>
            <a:ext cx="690600" cy="634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1529175" y="1699775"/>
            <a:ext cx="568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WEB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3326565" y="22538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https://doctoranywhere.com/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4" title="Screenshot 2026-01-22 at 8.24.4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19" y="1566887"/>
            <a:ext cx="2964628" cy="1728405"/>
          </a:xfrm>
          <a:prstGeom prst="rect">
            <a:avLst/>
          </a:prstGeom>
          <a:noFill/>
          <a:ln cap="flat" cmpd="sng" w="8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" name="Google Shape;165;p24"/>
          <p:cNvSpPr txBox="1"/>
          <p:nvPr/>
        </p:nvSpPr>
        <p:spPr>
          <a:xfrm>
            <a:off x="119025" y="135950"/>
            <a:ext cx="568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VIRTUAL CONSULT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119025" y="2768100"/>
            <a:ext cx="690600" cy="634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4" title="Screenshot 2026-01-22 at 8.26.5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7648" y="1502925"/>
            <a:ext cx="2731331" cy="172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 title="Screenshot 2026-01-22 at 8.26.5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7277" y="1566875"/>
            <a:ext cx="2698977" cy="1664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5" title="Screenshot 2026-01-22 at 8.15.5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4700" y="1600775"/>
            <a:ext cx="2307785" cy="1694524"/>
          </a:xfrm>
          <a:prstGeom prst="rect">
            <a:avLst/>
          </a:prstGeom>
          <a:noFill/>
          <a:ln cap="flat" cmpd="sng" w="8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4" name="Google Shape;174;p25" title="Screenshot 2026-01-22 at 8.24.5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0268" y="1566887"/>
            <a:ext cx="3107799" cy="1728404"/>
          </a:xfrm>
          <a:prstGeom prst="rect">
            <a:avLst/>
          </a:prstGeom>
          <a:noFill/>
          <a:ln cap="flat" cmpd="sng" w="8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5" name="Google Shape;175;p25" title="Screenshot 2026-01-22 at 8.24.44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019" y="1566887"/>
            <a:ext cx="2964628" cy="1728405"/>
          </a:xfrm>
          <a:prstGeom prst="rect">
            <a:avLst/>
          </a:prstGeom>
          <a:noFill/>
          <a:ln cap="flat" cmpd="sng" w="8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" name="Google Shape;176;p25"/>
          <p:cNvSpPr txBox="1"/>
          <p:nvPr/>
        </p:nvSpPr>
        <p:spPr>
          <a:xfrm>
            <a:off x="119025" y="135950"/>
            <a:ext cx="568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DOCTOR HOUSE CALL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1907775" y="2703675"/>
            <a:ext cx="690600" cy="634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Google Shape;182;p26"/>
          <p:cNvGraphicFramePr/>
          <p:nvPr/>
        </p:nvGraphicFramePr>
        <p:xfrm>
          <a:off x="119025" y="188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{7A77ED7A-C26B-47AC-A8F9-6AF23B8789D2}</a:tableStyleId>
              </a:tblPr>
              <a:tblGrid>
                <a:gridCol w="2124075"/>
                <a:gridCol w="1457325"/>
                <a:gridCol w="2152650"/>
                <a:gridCol w="3333750"/>
              </a:tblGrid>
              <a:tr h="361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Service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Where service is delivered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Lead Conversion Channel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Why this wins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Virtual Consult (VC)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 Install → VC completed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Closed-loop journey, fastest time-to-care, strongest signal quality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Vaccination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In-clinic / Home-based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Web Conversion (DA Marketplace)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High-consideration, content-heavy, booking happens on web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Health Screening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In-clinic / Home-based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Web Conversion (Form / Marketplace)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Package comparison + intent validation best handled on web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Home-Based Care (Doctor House Call)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Offline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Web Conversion (Booking Form)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Urgent, intent-led; app install adds friction without delivery benefit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26"/>
          <p:cNvSpPr txBox="1"/>
          <p:nvPr/>
        </p:nvSpPr>
        <p:spPr>
          <a:xfrm>
            <a:off x="119025" y="135950"/>
            <a:ext cx="56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PAID MEDIA ATTRIBUTION: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269725" y="597650"/>
            <a:ext cx="8708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Drive users to the channel where value is delivered and attribution is clean — not where it’s convenient to send traffic.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This means: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VC → App install (new users)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VC → Current users with app → REMIND → web  URL 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All other services → Web (mobile web / DA Marketplace) 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