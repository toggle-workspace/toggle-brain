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BEFD74-6946-4D7A-ABE7-456227482ED9}">
  <a:tblStyle styleId="{2ABEFD74-6946-4D7A-ABE7-456227482E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F219C23-2D71-41CD-9275-C88AA14EDE3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LVmYBgrlbHfaxnll3_TEhDV889_JigohL1IJEmjmT4/edit?gid=0#gid=0"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n7NKO1r53FrmOoicwTjUvsS-aJH7bt6U_wygyYRyu3k/edit?gid=0#gid=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g3ef718d04a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g3ef718d04a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g3ef718d04a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3f2cd3522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g3f2cd35225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g3f2cd35225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Google conv. = Joined VC</a:t>
            </a:r>
            <a:endParaRPr/>
          </a:p>
          <a:p>
            <a:pPr indent="0" lvl="0" marL="0" rtl="0" algn="l">
              <a:spcBef>
                <a:spcPts val="0"/>
              </a:spcBef>
              <a:spcAft>
                <a:spcPts val="0"/>
              </a:spcAft>
              <a:buNone/>
            </a:pPr>
            <a:r>
              <a:rPr lang="en-US"/>
              <a:t>Meta, Apple Search, Taboola, TikTok conv.  = App Install</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2cd35225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2cd352258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CVR calculation for GHS &amp; SODA</a:t>
            </a:r>
            <a:endParaRPr/>
          </a:p>
        </p:txBody>
      </p:sp>
      <p:sp>
        <p:nvSpPr>
          <p:cNvPr id="104" name="Google Shape;104;g3f2cd352258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Conversions are mainly marketplace purchases. Did not take into account form submissions</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2cd352258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2cd352258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Google conv. = Joined VC</a:t>
            </a:r>
            <a:endParaRPr/>
          </a:p>
          <a:p>
            <a:pPr indent="0" lvl="0" marL="0" rtl="0" algn="l">
              <a:spcBef>
                <a:spcPts val="0"/>
              </a:spcBef>
              <a:spcAft>
                <a:spcPts val="0"/>
              </a:spcAft>
              <a:buNone/>
            </a:pPr>
            <a:r>
              <a:rPr lang="en-US"/>
              <a:t>Meta, Apple Search, Taboola, TikTok conv.  = App Install</a:t>
            </a:r>
            <a:endParaRPr/>
          </a:p>
        </p:txBody>
      </p:sp>
      <p:sp>
        <p:nvSpPr>
          <p:cNvPr id="145" name="Google Shape;145;g3f2cd352258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Mainly track marketplace purchase. Did not take into account form submissions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LinkedIn and TikTok were mainly top funnel campaigns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MOBS here consist of house call, vaccines, health screening, etc.</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2cd35225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f2cd352258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Mainly track marketplace purchase. Did not take into account form submissions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LinkedIn and TikTok were mainly top funnel campaigns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MOBS here consist of house call, vaccines, health screening, etc.</a:t>
            </a:r>
            <a:endParaRPr/>
          </a:p>
        </p:txBody>
      </p:sp>
      <p:sp>
        <p:nvSpPr>
          <p:cNvPr id="187" name="Google Shape;187;g3f2cd352258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f1771064c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ef1771064c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ef1771064c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f1771064c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ef1771064c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ef1771064c_0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f1771064c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ef1771064c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ef1771064c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1771064c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ef1771064c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50">
                <a:solidFill>
                  <a:srgbClr val="444746"/>
                </a:solidFill>
                <a:latin typeface="Roboto"/>
                <a:ea typeface="Roboto"/>
                <a:cs typeface="Roboto"/>
                <a:sym typeface="Roboto"/>
              </a:rPr>
              <a:t>Closed deal based on this sheet:</a:t>
            </a:r>
            <a:endParaRPr sz="1050">
              <a:solidFill>
                <a:srgbClr val="444746"/>
              </a:solidFill>
              <a:latin typeface="Roboto"/>
              <a:ea typeface="Roboto"/>
              <a:cs typeface="Roboto"/>
              <a:sym typeface="Roboto"/>
            </a:endParaRPr>
          </a:p>
          <a:p>
            <a:pPr indent="0" lvl="0" marL="0" rtl="0" algn="l">
              <a:spcBef>
                <a:spcPts val="0"/>
              </a:spcBef>
              <a:spcAft>
                <a:spcPts val="0"/>
              </a:spcAft>
              <a:buNone/>
            </a:pPr>
            <a:r>
              <a:rPr lang="en-US" sz="1050">
                <a:solidFill>
                  <a:srgbClr val="0B57D0"/>
                </a:solidFill>
                <a:uFill>
                  <a:noFill/>
                </a:uFill>
                <a:latin typeface="Roboto"/>
                <a:ea typeface="Roboto"/>
                <a:cs typeface="Roboto"/>
                <a:sym typeface="Roboto"/>
                <a:hlinkClick r:id="rId2">
                  <a:extLst>
                    <a:ext uri="{A12FA001-AC4F-418D-AE19-62706E023703}">
                      <ahyp:hlinkClr val="tx"/>
                    </a:ext>
                  </a:extLst>
                </a:hlinkClick>
              </a:rPr>
              <a:t>https://docs.google.com/spreadsheets/d/1n7NKO1r53FrmOoicwTjUvsS-aJH7bt6U_wygyYRyu3k/edit?gid=0#gid=0</a:t>
            </a:r>
            <a:endParaRPr/>
          </a:p>
        </p:txBody>
      </p:sp>
      <p:sp>
        <p:nvSpPr>
          <p:cNvPr id="248" name="Google Shape;248;g3ef1771064c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f1771064c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ef1771064c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ef1771064c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Total recommended budget for July: </a:t>
            </a:r>
            <a:endParaRPr/>
          </a:p>
          <a:p>
            <a:pPr indent="-317500" lvl="0" marL="457200" rtl="0" algn="l">
              <a:spcBef>
                <a:spcPts val="0"/>
              </a:spcBef>
              <a:spcAft>
                <a:spcPts val="0"/>
              </a:spcAft>
              <a:buSzPts val="1400"/>
              <a:buChar char="-"/>
            </a:pPr>
            <a:r>
              <a:rPr lang="en-US"/>
              <a:t>GHS: $63,334</a:t>
            </a:r>
            <a:endParaRPr/>
          </a:p>
          <a:p>
            <a:pPr indent="-317500" lvl="0" marL="457200" rtl="0" algn="l">
              <a:spcBef>
                <a:spcPts val="0"/>
              </a:spcBef>
              <a:spcAft>
                <a:spcPts val="0"/>
              </a:spcAft>
              <a:buSzPts val="1400"/>
              <a:buChar char="-"/>
            </a:pPr>
            <a:r>
              <a:rPr lang="en-US"/>
              <a:t>SODA: $5,000</a:t>
            </a:r>
            <a:endParaRPr/>
          </a:p>
        </p:txBody>
      </p:sp>
      <p:sp>
        <p:nvSpPr>
          <p:cNvPr id="288" name="Google Shape;2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hyperlink" Target="https://ads.google.com/aw_cm/ExternalPreview?ocid=243625884&amp;euid=6504451576&amp;pt=CopGCJzflXQQ-JvInRgaBWVuX1VTYvVFCqUzCAESoDMSuwIquAJodHRwczovL2RvY3RvcmFueXdoZXJlLmNvbS9kYS12aXJ0dWFsLWNsaW5pYz93cHNyYz1Hb29nbGUlMjBBZFdvcmRzJndwY2lkPSU3QmNhbXBhaWduaWQlN0Qmd3BzY2lkPSU3QmFkZ3JvdXBpZCU3RCZ3cGNyaWQ9JTdCY3JlYXRpdmUlN0Qmd3Brd2lkPSU3QnRhcmdldGlkJTdEJndwa3duPSU3QmtleXdvcmQlN0Qmd3BrbWF0Y2g9JTdCbWF0Y2h0eXBlJTdEJndwc25ldG49JTdCbmV0d29yayU3RCZ1dG1fY2FtcGFpZ249dmlydHVhbC1jbGluaWMtcG1heCZ1dG1fc291cmNlPWdvb2dsZSZ1dG1fY29udGVudD1mbHUtc3VyZ2UmdXRtX21lZGl1bT1jcGOiBicKJQohCh8aHQobRG9jdG9yIGluIDUgTWlucywgTm8gVHJhdmVsWAGiBiQKIgoeChwaGgoYMjQvNyBPbmxpbmUgTWVkaWNhbCBDYXJlWAGiBiAKHgoaChgaFgoUU2tpcCB0aGUgQ2xpbmljIFdhaXRYAaIGIwohCh0KGxoZChdSZWFsIERvY3RvcnMsIFJlYWwgQ2FyZVgBogYlCiMKHwodGhsKGU1lZHMgRGVsaXZlcmVkIGluIDMgSG91cnNYAaIGJgokCiAKHhocChpTZWUgYSBHUCBBbnl0aW1lLCBBbnl3aGVyZVgBogYpCicKIwohGh8KHUhlYWx0aGNhcmUgYXQgWW91ciBGaW5nZXJ0aXBzWAGiBioKKAokCiIaIAoeRG9jdG9ycyBBdmFpbGFibGUgRGF5IG9yIG5pZ2h0WAGiBiUKIwofCh0aGwoZQ2FyZSBXaXRob3V0IExlYXZpbmcgSG9tZVgBogYjCiEKHQobGhkKF09uLURlbWFuZCBEb2N0b3IgVmlzaXRzWAGiBiQKIgoeChwaGgoYR2V0IFRydXN0ZWQgTWVkaWNhbCBIZWxwWAGiBiEKHwobChkaFwoVU3BlYWsgdG8gYSBEb2N0b3IgTm93WAGiBiMKIQodChsaGQoXQXZvaWQgQ3Jvd2RzLCBTdGF5IFNhZmVYAaIGIAoeChoKGBoWChRObyBRdWV1ZXMsIE5vIFRyYXZlbFgBogYkCiIKHgocGhoKGENsaW5pYyBXYWl0cz8gR28gT25saW5lIVgBogZaClgKVApSGlAKTlNraXAgY2xpbmljIHF1ZXVlcyBhbmQgZ2V0IGEgZG9jdG9yIGluIDUgbWludXRlcyBmcm9tIHRoZSBjb21mb3J0IG9mIHlvdXIgaG9tZVgCogZaClgKVApSGlAKTkNvbnZlbmllbnQgY2FyZSB3aGVuIHlvdSBuZWVkIGl0IOKAlCBmcmllbmRseSBkb2N0b3JzIGF2YWlsYWJsZSBhbnl0aW1lIG9ubGluZVgCogZmCmQKYApeGlwKWkZhc3QsIHJlbGlhYmxlIHZpcnR1YWwgY2FyZSB3aXRoIG5vIHNpY2sgY3Jvd2RzIOKAlCBkb2N0b3IgdmlzaXRzIG1hZGUgZWFzeSBhbmQgYWNjZXNzaWJsZVgCogZcCloKVgpUGlIKUFNlZSBhIGRvY3RvciBvbmxpbmUgaW4gNSBtaW5zIGFuZCBnZXQgbWVkcyBkZWxpdmVyZWQgdG8geW91ciBkb29yc3RlcCBpbiAzIGhvdXJzWAKiBlYKVApQCk4aTApKQXZvaWQgY3Jvd2RlZCBjbGluaWNz4oCUc2VlIGEgZnJpZW5kbHkgZG9jdG9yIG9ubGluZSBhbnl0aW1lLCBkYXkgb3IgbmlnaHRYAqIGWwpZClUKUxpRCk9TZWUgYSBkb2N0b3IgaW4gNSBtaW51dGVzLCBhbnl0aW1lLCBhbnl3aGVyZSwgd2l0aCBmcmllbmRseSBjYXJlIHlvdSBjYW4gdHJ1c3QuWAOiBmUKYwpfCl0aWwpZQWNjZXNzIGRvY3RvcnMgMjQvNyBwbHVzIG1lZGljYXRpb24gZGVsaXZlcmVkIHRvIHlvdXIgZG9vcnN0ZXAgaW4gMyBob3VycyAtIGV2ZW4gYXQgbmlnaHRYA6IGZgpkCmAKXhpcClpMYXRlLW5pZ2h0IHdvcnJpZXM_IERvY3RvcnMgYXJlIG9ubGluZSAyNC83IOKAlCBnZXQgY2FyZSBpbiBtaW51dGVzLiBTcGVhayB0byBhIGRvY3RvciBub3dYA6IGWwpZClUKUxpRCk9SZWFsIGRvY3RvcnMgb24gZGVtYW5kLCBkYXkgb3IgbmlnaHQuIFN0YXJ0IHlvdXIgY29uc3VsdGF0aW9uIGFueXdoZXJlIHlvdSBhcmUuWAOiBk4KTApICkYaRApCRXhwZXJpZW5jZSB2aXJ0dWFsIGhlYWx0aGNhcmUgZGVzaWduZWQgZm9yIHlvdXIgYnVzeSwgbW9kZXJuIGxpZmUuWAOiBskBCsYBCikKJwjl_cqciQkSHkNvcHkgb2YgRG9jSW41XzYoMTIwMHg2MjgpLmpwZyKWAQiAgICQ8q3Dq98BIOfICDqCAQjpCRDhEho8aHR0cHM6Ly90cGMuZ29vZ2xlc3luZGljYXRpb24uY29tL3NpbWdhZC81NDQ2MDI4OTcwMzU2MzM3MTk4IjxodHRwczovL3RwYy5nb29nbGVzeW5kaWNhdGlvbi5jb20vcGltZ2FkLzU0NDYwMjg5NzAzNTYzMzcxOThQAVgEogbJAQrGAQopCicIuJ3KnIkJEh5Db3B5IG9mIERvY0luNV83KDEyMDB4NjI4KS5qcGcilgEIgICAkPKt3bWjASDLogg6ggEI6QkQ4RIaPGh0dHBzOi8vdHBjLmdvb2dsZXN5bmRpY2F0aW9uLmNvbS9zaW1nYWQvNzE4MDE3MDM0MTA5MjQxODg5OCI8aHR0cHM6Ly90cGMuZ29vZ2xlc3luZGljYXRpb24uY29tL3BpbWdhZC83MTgwMTcwMzQxMDkyNDE4ODk4UAFYBKIGyAEKxQEKKQonCJGQ9PWICRIeQ29weSBvZiBEb2NJbjVfNCgxMjAweDYyOCkuanBnIpUBCICAgJDyrYOcEiCwlQg6ggEI6QkQ4RIaPGh0dHBzOi8vdHBjLmdvb2dsZXN5bmRpY2F0aW9uLmNvbS9zaW1nYWQvOTM4ODc5Mjc1MjczMjcxMTkxNSI8aHR0cHM6Ly90cGMuZ29vZ2xlc3luZGljYXRpb24uY29tL3BpbWdhZC85Mzg4NzkyNzUyNzMyNzExOTE1UAFYBKIGyQEKxgEKKQonCM7gypyJCRIeQ29weSBvZiBEb2NJbjVfNSgxMjAweDYyOCkuanBnIpYBCICAgJDyrd3MzAEg3LEIOoIBCOkJEOESGjxodHRwczovL3RwYy5nb29nbGVzeW5kaWNhdGlvbi5jb20vc2ltZ2FkLzUyOTc5NjY0NTg4NTE0MTMxMTgiPGh0dHBzOi8vdHBjLmdvb2dsZXN5bmRpY2F0aW9uLmNvbS9waW1nYWQvNTI5Nzk2NjQ1ODg1MTQxMzExOFABWASiBssBCsgBCioKKAix18yciQkSH0NvcHkgb2YgRG9jSW41XzUoMTIwMHgxMjAwKS5qcGcilwEIgICAkPKtw7U4IJfBDTqEAQjhEhDhEho9aHR0cHM6Ly90cGMuZ29vZ2xlc3luZGljYXRpb24uY29tL3NpbWdhZC8xMDk3MzMyMTUzOTc5NjY1NDUxNyI9aHR0cHM6Ly90cGMuZ29vZ2xlc3luZGljYXRpb24uY29tL3BpbWdhZC8xMDk3MzMyMTUzOTc5NjY1NDUxN1ABWAWiBswBCskBCioKKAiU2MyciQkSH0NvcHkgb2YgRG9jSW41XzYoMTIwMHgxMjAwKS5qcGcimAEIgICAkPKt3duDASDhlQ86hAEI4RIQ4RIaPWh0dHBzOi8vdHBjLmdvb2dsZXN5bmRpY2F0aW9uLmNvbS9zaW1nYWQvMTM0MjI1Mjc3NjkyMDc1NDY5NDAiPWh0dHBzOi8vdHBjLmdvb2dsZXN5bmRpY2F0aW9uLmNvbS9waW1nYWQvMTM0MjI1Mjc3NjkyMDc1NDY5NDBQAVgFogbJAQrGAQoqCigIl9jMnIkJEh9Db3B5IG9mIERvY0luNV83KDEyMDB4MTIwMCkuanBnIpUBCICAgJDyrd3cICDf-gw6ggEI4RIQ4RIaPGh0dHBzOi8vdHBjLmdvb2dsZXN5bmRpY2F0aW9uLmNvbS9zaW1nYWQvNDM3NjIzODI3MjY4NDAyNzI2OCI8aHR0cHM6Ly90cGMuZ29vZ2xlc3luZGljYXRpb24uY29tL3BpbWdhZC80Mzc2MjM4MjcyNjg0MDI3MjY4UAFYBaIGygEKxwEKKgooCKnYzJyJCRIfQ29weSBvZiBEb2NJbjVfNCgxMjAweDEyMDApLmpwZyKWAQiAgICQ8q39954BIPbIDjqCAQjhEhDhEho8aHR0cHM6Ly90cGMuZ29vZ2xlc3luZGljYXRpb24uY29tL3NpbWdhZC8zNTAzOTQyMjAyNDM3MTU1NjQzIjxodHRwczovL3RwYy5nb29nbGVzeW5kaWNhdGlvbi5jb20vcGltZ2FkLzM1MDM5NDIyMDI0MzcxNTU2NDNQAVgFogbKAQrHAQopCicIvriFrIkJEh5Db3B5IG9mIERvY0luNV82KDk2MHgxMjAwKS5qcGcilwEIgICAkPKt3c1vIOCQDDqEAQjhEhCBDxo9aHR0cHM6Ly90cGMuZ29vZ2xlc3luZGljYXRpb24uY29tL3NpbWdhZC8xMDA1ODA0MjIwNDc4MzI4MzAxNiI9aHR0cHM6Ly90cGMuZ29vZ2xlc3luZGljYXRpb24uY29tL3BpbWdhZC8xMDA1ODA0MjIwNDc4MzI4MzAxNlABWCGiBssBCsgBCikKJwjBuIWsiQkSHkNvcHkgb2YgRG9jSW41XzcoOTYweDEyMDApLmpwZyKYAQiAgICQ8q3djYgBIIeOCzqEAQjhEhCBDxo9aHR0cHM6Ly90cGMuZ29vZ2xlc3luZGljYXRpb24uY29tL3NpbWdhZC8xMzE1NDMzNTQxNTEzMDU5NzI3NSI9aHR0cHM6Ly90cGMuZ29vZ2xlc3luZGljYXRpb24uY29tL3BpbWdhZC8xMzE1NDMzNTQxNTEzMDU5NzI3NVABWCGiBskBCsYBCikKJwjpnfT1iAkSHkNvcHkgb2YgRG9jSW41XzQoOTYweDEyMDApLmpwZyKWAQiAgICQ8q29rpwBIP6BDTqCAQjhEhCBDxo8aHR0cHM6Ly90cGMuZ29vZ2xlc3luZGljYXRpb24uY29tL3NpbWdhZC8yMTc2MjUwMDEzNzY0MjE2ODg5IjxodHRwczovL3RwYy5nb29nbGVzeW5kaWNhdGlvbi5jb20vcGltZ2FkLzIxNzYyNTAwMTM3NjQyMTY4ODlQAVghogbHAQrEAQopCicIktb39YgJEh5Db3B5IG9mIERvY0luNV81KDk2MHgxMjAwKS5qcGcilAEIgICAkPKt_cXkASC7vQs6gAEI4RIQgQ8aO2h0dHBzOi8vdHBjLmdvb2dsZXN5bmRpY2F0aW9uLmNvbS9zaW1nYWQvMzI5OTI3MzQxNDk0ODUzMTU3IjtodHRwczovL3RwYy5nb29nbGVzeW5kaWNhdGlvbi5jb20vcGltZ2FkLzMyOTkyNzM0MTQ5NDg1MzE1N1ABWCGiBrsBCrgBChgKFgiGo4P4jgkqDQoLeGJZMlpJZm1LUm86mQEKG0RvY3RvciBpbiA1IE1pbnMsIE5vIFRyYXZlbBDVdRowaHR0cHM6Ly9pLnl0aW1nLmNvbS92aS94YlkyWklmbUtSby9ocWRlZmF1bHQuanBnIQAAAAAAAOI_Og9Eb2N0b3IgQW55d2hlcmVCK2h0dHBzOi8vd3d3LnlvdXR1YmUuY29tL3dhdGNoP3Y9eGJZMlpJZm1LUm9YDKIGuwEKuAEKGAoWCImjg_iOCSoNCgt6T2VKbWpLZzhsVTqZAQobRG9jdG9yIGluIDUgTWlucywgTm8gVHJhdmVsEN11GjBodHRwczovL2kueXRpbWcuY29tL3ZpL3pPZUptaktnOGxVL2hxZGVmYXVsdC5qcGchHMdxHMdx_D86D0RvY3RvciBBbnl3aGVyZUIraHR0cHM6Ly93d3cueW91dHViZS5jb20vd2F0Y2g_dj16T2VKbWpLZzhsVVgMoga7AQq4AQoYChYIjKOD-I4JKg0KC2dzX3h1dVRQSThROpkBChtEb2N0b3IgaW4gNSBNaW5zLCBObyBUcmF2ZWwQ1XUaMGh0dHBzOi8vaS55dGltZy5jb20vdmkvZ3NfeHV1VFBJOFEvaHFkZWZhdWx0LmpwZyEAAAAAAADwPzoPRG9jdG9yIEFueXdoZXJlQitodHRwczovL3d3dy55b3V0dWJlLmNvbS93YXRjaD92PWdzX3h1dVRQSThRWAyiBg0KCwoHCgWCAgIIB1googbJAQrGAQopCicI5f3KnIkJEh5Db3B5IG9mIERvY0luNV82KDEyMDB4NjI4KS5qcGcilgEIgICAkPKtw6vfASDnyAg6ggEI6QkQ4RIaPGh0dHBzOi8vdHBjLmdvb2dsZXN5bmRpY2F0aW9uLmNvbS9zaW1nYWQvNTQ0NjAyODk3MDM1NjMzNzE5OCI8aHR0cHM6Ly90cGMuZ29vZ2xlc3luZGljYXRpb24uY29tL3BpbWdhZC81NDQ2MDI4OTcwMzU2MzM3MTk4UAFYO6IGyQEKxgEKKQonCLidypyJCRIeQ29weSBvZiBEb2NJbjVfNygxMjAweDYyOCkuanBnIpYBCICAgJDyrd21owEgy6IIOoIBCOkJEOESGjxodHRwczovL3RwYy5nb29nbGVzeW5kaWNhdGlvbi5jb20vc2ltZ2FkLzcxODAxNzAzNDEwOTI0MTg4OTgiPGh0dHBzOi8vdHBjLmdvb2dsZXN5bmRpY2F0aW9uLmNvbS9waW1nYWQvNzE4MDE3MDM0MTA5MjQxODg5OFABWDuiBsgBCsUBCikKJwiRkPT1iAkSHkNvcHkgb2YgRG9jSW41XzQoMTIwMHg2MjgpLmpwZyKVAQiAgICQ8q2DnBIgsJUIOoIBCOkJEOESGjxodHRwczovL3RwYy5nb29nbGVzeW5kaWNhdGlvbi5jb20vc2ltZ2FkLzkzODg3OTI3NTI3MzI3MTE5MTUiPGh0dHBzOi8vdHBjLmdvb2dsZXN5bmRpY2F0aW9uLmNvbS9waW1nYWQvOTM4ODc5Mjc1MjczMjcxMTkxNVABWDuiBskBCsYBCikKJwjO4MqciQkSHkNvcHkgb2YgRG9jSW41XzUoMTIwMHg2MjgpLmpwZyKWAQiAgICQ8q3dzMwBINyxCDqCAQjpCRDhEho8aHR0cHM6Ly90cGMuZ29vZ2xlc3luZGljYXRpb24uY29tL3NpbWdhZC81Mjk3OTY2NDU4ODUxNDEzMTE4IjxodHRwczovL3RwYy5nb29nbGVzeW5kaWNhdGlvbi5jb20vcGltZ2FkLzUyOTc5NjY0NTg4NTE0MTMxMThQAVg7ogbLAQrIAQoqCigIsdfMnIkJEh9Db3B5IG9mIERvY0luNV81KDEyMDB4MTIwMCkuanBnIpcBCICAgJDyrcO1OCCXwQ06hAEI4RIQ4RIaPWh0dHBzOi8vdHBjLmdvb2dsZXN5bmRpY2F0aW9uLmNvbS9zaW1nYWQvMTA5NzMzMjE1Mzk3OTY2NTQ1MTciPWh0dHBzOi8vdHBjLmdvb2dsZXN5bmRpY2F0aW9uLmNvbS9waW1nYWQvMTA5NzMzMjE1Mzk3OTY2NTQ1MTdQAVg7ogbMAQrJAQoqCigIlNjMnIkJEh9Db3B5IG9mIERvY0luNV82KDEyMDB4MTIwMCkuanBnIpgBCICAgJDyrd3bgwEg4ZUPOoQBCOESEOESGj1odHRwczovL3RwYy5nb29nbGVzeW5kaWNhdGlvbi5jb20vc2ltZ2FkLzEzNDIyNTI3NzY5MjA3NTQ2OTQwIj1odHRwczovL3RwYy5nb29nbGVzeW5kaWNhdGlvbi5jb20vcGltZ2FkLzEzNDIyNTI3NzY5MjA3NTQ2OTQwUAFYO6IGyQEKxgEKKgooCJfYzJyJCRIfQ29weSBvZiBEb2NJbjVfNygxMjAweDEyMDApLmpwZyKVAQiAgICQ8q3d3CAg3_oMOoIBCOESEOESGjxodHRwczovL3RwYy5nb29nbGVzeW5kaWNhdGlvbi5jb20vc2ltZ2FkLzQzNzYyMzgyNzI2ODQwMjcyNjgiPGh0dHBzOi8vdHBjLmdvb2dsZXN5bmRpY2F0aW9uLmNvbS9waW1nYWQvNDM3NjIzODI3MjY4NDAyNzI2OFABWDuiBsoBCscBCioKKAip2MyciQkSH0NvcHkgb2YgRG9jSW41XzQoMTIwMHgxMjAwKS5qcGcilgEIgICAkPKt_feeASD2yA46ggEI4RIQ4RIaPGh0dHBzOi8vdHBjLmdvb2dsZXN5bmRpY2F0aW9uLmNvbS9zaW1nYWQvMzUwMzk0MjIwMjQzNzE1NTY0MyI8aHR0cHM6Ly90cGMuZ29vZ2xlc3luZGljYXRpb24uY29tL3BpbWdhZC8zNTAzOTQyMjAyNDM3MTU1NjQzUAFYOwoGCAESAjIACrEOCAESrA4KKAj46Yr_VeAHDfIIGQoAEgAaACIRUm9ib3RvOm5vcm1hbDo0MDD4CAGiBigKJgoiCiAI4dK628wIygEWChRQYWVkaWF0cmljIEZvcm11bGFyeVggogYmCiQKIAoeCOTSutvMCMoBFAoSQXZhaWxhYmxlIDI0IEhvdXJzWCCiBioKKAokCiIIz_zqnM0IygEYChZJZGVhbCBmb3IgYnVzeSBwYXJlbnRzWCCiBpYBCpMBCo4BCosBCMLc-eLMCGonaHR0cHM6Ly9kb2N0b3Jhbnl3aGVyZS5jb20va2lkcy1jbGluaWMvqgFYChVTZWUgQSBLaWQtRnJpZW5kbHkgR1ASHjI0LzcgY2FyZSBmb3IgeW91ciBsaXR0bGUgb25lcxofTm8gbmVlZCB0byB0cmF2ZWwgdG8gdGhlIGNsaW5pY1gfogagAQqdAQqYAQqVAQjF3PnizAhqLmh0dHBzOi8vZG9jdG9yYW55d2hlcmUuY29tL2NoaWxkLXZhY2NpbmF0aW9ucy-qAVsKEUNoaWxkIFZhY2NpbmF0aW9uEiNQcm90ZWN0IHlvdXIgY2hpbGQgYWdhaW5zdCBkaXNlYXNlcxohRnVsbHkgc3Vic2lkaXNlZCBmb3IgU2luZ2Fwb3JlYW5zWB-iBqABCp0BCpgBCpUBCPSZhoDNCGouaHR0cHM6Ly9kb2N0b3Jhbnl3aGVyZS5jb20vY2hpbGQtdmFjY2luYXRpb25zL6oBWwoRQ2hpbGQgVmFjY2luYXRpb24SI1Byb3RlY3QgeW91ciBjaGlsZCBhZ2FpbnN0IGRpc2Vhc2VzGiFGdWxseSBzdWJzaWRpc2VkIGZvciBTaW5nYXBvcmVhbnNYH6IG5gIK4wIK3gIK2wII8pPAmb8JavkBaHR0cHM6Ly93d3cuY29nbml0b2Zvcm1zLmNvbS9Eb2N0b3JBbnl3aGVyZS9Eb2N0b3JBbnl3aGVyZURvY3RvckhvdXNlQ2FsbHNBbmRIb21lTnVyc2luZ1Byb2NlZHVyZXM_X2dsPTEqb3QweXVyKl9nY2xfYXUqTVRBeU9EVTVORFkzTWk0eE56WTVOREEyTXpBMypfZ2EqTWpBNU9USXhPREk0TWk0eE56WTVOREEyTXpBNCpfZ2FfMUQ0VzlLTlZTWCpjekUzTmprMk1EVXdNVElrYnpJa1p6RWtkREUzTmprMk1EVXhNeklrYWpZd0pHd3dKR2d3qgFVChhCb29rIGEgaG91c2UgY2FsbCBkb2N0b3ISGUNhcmUgZnJvbSBsaWNlbnNlZCBkb2N0b3IaHllvdXIgZG9jdG9yLCBhdCB5b3VyIGRvb3JzdGVwLlgfogZiCmAKXApaCIn10-LMCKIBUAoPU2VydmljZSBjYXRhbG9nEhUyNC83IFRlbGVjb25zdWx0YXRpb24SE1ZhY2NpbmF0aW9uIGF0IEhvbWUSEUhvdXNlIENhbGwgRG9jdG9yWB6iBiEKHwobChkIoqHaoAQaEQoPRG9jdG9yIEFueXdoZXJlWCmiBuEBCt4BCi0KKwiZx_WJiQkSIkRBIFN0YWNrIENvbG91ciAxMjAweDEyMDAgY29weS5wbmciqgEIgICAkPLt2ZoMIPSTBCgDOosBCOESEOASGjxodHRwczovL3RwYy5nb29nbGVzeW5kaWNhdGlvbi5jb20vc2ltZ2FkLzI3MDAyNzE1NTcxOTU0OTE4NDYiPGh0dHBzOi8vdHBjLmdvb2dsZXN5bmRpY2F0aW9uLmNvbS9waW1nYWQvMjcwMDI3MTU1NzE5NTQ5MTg0NinQYPSMlvzvP0DIqr7F-MPw5wdQAVgGogbeAQrbAQonCiUIh6n9sIkJEhxEQSBMYW5kc2NhcGUgQ29sb3VyIGNvcHkucG5nIq0BCICAgJDy7Zm3ayCBqgEoAzqNAQjZBBDgEho9aHR0cHM6Ly90cGMuZ29vZ2xlc3luZGljYXRpb24uY29tL3NpbWdhZC8xODMzOTY5Njc2NjEwMDE1MDk5MyI9aHR0cHM6Ly90cGMuZ29vZ2xlc3luZGljYXRpb24uY29tL3BpbWdhZC8xODMzOTY5Njc2NjEwMDE1MDk5MylIL_mPXvIPQECGrYK1vqyR0fsBUAFYB6IG4QEK3gEKLQorCJnH9YmJCRIiREEgU3RhY2sgQ29sb3VyIDEyMDB4MTIwMCBjb3B5LnBuZyKqAQiAgICQ8u3Zmgwg9JMEKAM6iwEI4RIQ4BIaPGh0dHBzOi8vdHBjLmdvb2dsZXN5bmRpY2F0aW9uLmNvbS9zaW1nYWQvMjcwMDI3MTU1NzE5NTQ5MTg0NiI8aHR0cHM6Ly90cGMuZ29vZ2xlc3luZGljYXRpb24uY29tL3BpbWdhZC8yNzAwMjcxNTU3MTk1NDkxODQ2KdBg9IyW_O8_QMiqvsX4w_DnB1ABWDgKiwQIARKGBCoAogaeAQqbAQqWAQqTAQjcoO3VVaIBiQEKD1NlcnZpY2UgY2F0YWxvZxIUR2VuZXJhbCBQcmFjdGl0aW9uZXISFExhY3RhdGlvbiBDb25zdWx0YW50EhRTZXh1YWwgSGVhbHRoIEFkdmljZRITTWVkaWNhdGlvbiBEZWxpdmVyeRIJUmVmZXJyYWxzEhRTcGVjaWFsaXN0cyBSZWZlcnJhbFgeoga5AQq2AQqxAQquAQjfoO3VVaIBpAEKD1NlcnZpY2UgY2F0YWxvZxIMSGVhbHRoaWVyIFNHEglHUCBEb2N0b3ISC1NwZWNpYWxpc3RzEhNOdXRyaXRpb24gJiBGaXRuZXNzEhBIZWFsdGggU2NyZWVuaW5nEg9NZW50YWwgV2VsbG5lc3MSDFZhY2NpbmF0aW9ucxIPQ2hpbGRyZW4gQ2xpbmljEhRNZW4gJiBXb21lbidzIEhlYWx0aFgeogYwIi4KDzE4IFlpc2h1biBBdmUgORIAGhJEQSBDbGluaWMgQCBZaXNodW4gyoXltZ0DogYzIjEKEDQ2MCBBbGV4YW5kcmEgUmQSABoUQWRlcHQgSGVhbHRoIFB0ZSBMdGQgzYXltZ0DogY5IjcKEjE0MCBDb3Jwb3JhdGlvbiBEchIAGhhEQSBDbGluaWMgQCBUYW1hbiBKdXJvbmcg0IXltZ0DqAENEkxBQkMyenVZRmdvZHN1R1RjQXU4Mkx5OURweDlGUF9tT2lGYXM4eUNaRUNLUUJEUE5Ra0pqS3lfSFM5TDBKTlhueUR2Q0lrRlE1Y3FEIhYSDEgBUAF4AJABAKABACgBOgEBQgECKJKr8-zvMzCAkPvTCToIEAEoHjAEOABCDkFXTl9DTV9FRElUSU5H" TargetMode="External"/><Relationship Id="rId5" Type="http://schemas.openxmlformats.org/officeDocument/2006/relationships/hyperlink" Target="https://www.facebook.com/61556882610880/posts/122302123580229420/" TargetMode="External"/><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ads.google.com/aw_cm/ExternalPreview?ocid=243625884&amp;euid=6504451576&amp;pt=CvRVCJzflXQQ-JvInRgaBWVuX1VTYt9VCvQsCAES7ywiAKIGlgI6kwIKI2RvY3RvcmFueXdoZXJlLmNvbS9oZWFsdGgvc2NyZWVuaW5nEh5FQ0csIEJsb29kIFRlc3QsIENhbmNlciBNYXJrZXIaHUN1c3RvbWlzYWJsZSBQYWNrYWdlcy9BZGQtT25zKk5JbmNsdWRlcyBhIGNvbXByZWhlbnNpdmUgaGVhbHRoIHJlcG9ydCBhbmQgZG9jdG9yIHJldmlldy4gTm8gZmFzdGluZyByZXF1aXJlZC4yW0FkZC1vbiBoZWFsdGggY2hlY2tzIGFzIG5lZWRlZDogRUNHLCBDYW5jZXIgTWFya2VyLCBCbG9vZCBUZXN0LCBJbWFnaW5nICYgVWx0cmFzb3VuZCBUZXN0cy44AaIGlgI6kwIKI2RvY3RvcmFueXdoZXJlLmNvbS9oZWFsdGgvc2NyZWVuaW5nEh5FQ0csIEJsb29kIFRlc3QsIENhbmNlciBNYXJrZXIaHUN1c3RvbWlzYWJsZSBQYWNrYWdlcy9BZGQtT25zKltFc3NlbnRpYWwgJiBjb21wcmVoZW5zaXZlIGhlYWx0aCBjaGVja3MuIEJvb2sgeW91ciBhbm51YWwgaGVhbHRoIGNoZWNrdXAgZm9yIHBlYWNlIG9mIG1pbmQuMk5JbmNsdWRlcyBhIGNvbXByZWhlbnNpdmUgaGVhbHRoIHJlcG9ydCBhbmQgZG9jdG9yIHJldmlldy4gTm8gZmFzdGluZyByZXF1aXJlZC44AaIGswI6sAIKI2RvY3RvcmFueXdoZXJlLmNvbS9oZWFsdGgvc2NyZWVuaW5nEh1HZXQgU2NyZWVuZWQgQXQgSG9tZSBmci4gJDEyORocSW4tQ2xpbmljIEhlYWx0aCBDaGVja3VwICQ4NiITRWFzeSBPbmxpbmUgQm9va2luZypYR2V0IHNjcmVlbmVkIGNvbnZlbmllbnRseSBhdCBob21lLCBvciBhdCBhbnkgb2YgREEgY2xpbmljcyBpc2xhbmR3aWRlLiBCb29rIGFwcG9pbnRtZW50LjJbQWRkLW9uIGhlYWx0aCBjaGVja3MgYXMgbmVlZGVkOiBFQ0csIENhbmNlciBNYXJrZXIsIEJsb29kIFRlc3QsIEltYWdpbmcgJiBVbHRyYXNvdW5kIFRlc3RzLjgBogabAjqYAgojZG9jdG9yYW55d2hlcmUuY29tL2hlYWx0aC9zY3JlZW5pbmcSHUN1c3RvbWlzYWJsZSBQYWNrYWdlcy9BZGQtT25zGhlCb29rIEFuIEFwcG9pbnRtZW50IFRvZGF5KlhHZXQgc2NyZWVuZWQgY29udmVuaWVudGx5IGF0IGhvbWUsIG9yIGF0IGFueSBvZiBEQSBjbGluaWNzIGlzbGFuZHdpZGUuIEJvb2sgYXBwb2ludG1lbnQuMltBZGQtb24gaGVhbHRoIGNoZWNrcyBhcyBuZWVkZWQ6IEVDRywgQ2FuY2VyIE1hcmtlciwgQmxvb2QgVGVzdCwgSW1hZ2luZyAmIFVsdHJhc291bmQgVGVzdHMuOAGiBrQCOrECCiNkb2N0b3Jhbnl3aGVyZS5jb20vaGVhbHRoL3NjcmVlbmluZxIWSW5jbHVkZXMgMS0xIEdQIFJldmlldxocSW4tQ2xpbmljIEhlYWx0aCBDaGVja3VwICQ4NiIbTm9uLUZhc3RpbmcgSGVhbHRoIENoZWNrdXBzKlhHZXQgc2NyZWVuZWQgY29udmVuaWVudGx5IGF0IGhvbWUsIG9yIGF0IGFueSBvZiBEQSBjbGluaWNzIGlzbGFuZHdpZGUuIEJvb2sgYXBwb2ludG1lbnQuMltBZGQtb24gaGVhbHRoIGNoZWNrcyBhcyBuZWVkZWQ6IEVDRywgQ2FuY2VyIE1hcmtlciwgQmxvb2QgVGVzdCwgSW1hZ2luZyAmIFVsdHJhc291bmQgVGVzdHMuOAGiBpMCOpACCiNkb2N0b3Jhbnl3aGVyZS5jb20vaGVhbHRoL3NjcmVlbmluZxIbSGVhbHRoIFNjcmVlbmluZ3MgU2luZ2Fwb3JlGh1HZXQgU2NyZWVuZWQgQXQgSG9tZSBmci4gJDEyOSpOSW5jbHVkZXMgYSBjb21wcmVoZW5zaXZlIGhlYWx0aCByZXBvcnQgYW5kIGRvY3RvciByZXZpZXcuIE5vIGZhc3RpbmcgcmVxdWlyZWQuMltFc3NlbnRpYWwgJiBjb21wcmVoZW5zaXZlIGhlYWx0aCBjaGVja3MuIEJvb2sgeW91ciBhbm51YWwgaGVhbHRoIGNoZWNrdXAgZm9yIHBlYWNlIG9mIG1pbmQuOAGiBpMCOpACCiNkb2N0b3Jhbnl3aGVyZS5jb20vaGVhbHRoL3NjcmVlbmluZxIeRUNHLCBCbG9vZCBUZXN0LCBDYW5jZXIgTWFya2VyGh1DdXN0b21pc2FibGUgUGFja2FnZXMvQWRkLU9ucypOSW5jbHVkZXMgYSBjb21wcmVoZW5zaXZlIGhlYWx0aCByZXBvcnQgYW5kIGRvY3RvciByZXZpZXcuIE5vIGZhc3RpbmcgcmVxdWlyZWQuMlhHZXQgc2NyZWVuZWQgY29udmVuaWVudGx5IGF0IGhvbWUsIG9yIGF0IGFueSBvZiBEQSBjbGluaWNzIGlzbGFuZHdpZGUuIEJvb2sgYXBwb2ludG1lbnQuOAGiBqkCOqYCCiNkb2N0b3Jhbnl3aGVyZS5jb20vaGVhbHRoL3NjcmVlbmluZxIcU3Vic2lkaXNlZCBIZWFsdGggU2NyZWVuaW5ncxodQ3VzdG9taXNlZCBQYWNrYWdlcyAmIEFkZC1PbnMiE0Vhc3kgT25saW5lIEJvb2tpbmcqTkluY2x1ZGVzIGEgY29tcHJlaGVuc2l2ZSBoZWFsdGggcmVwb3J0IGFuZCBkb2N0b3IgcmV2aWV3LiBObyBmYXN0aW5nIHJlcXVpcmVkLjJbRXNzZW50aWFsICYgY29tcHJlaGVuc2l2ZSBoZWFsdGggY2hlY2tzLiBCb29rIHlvdXIgYW5udWFsIGhlYWx0aCBjaGVja3VwIGZvciBwZWFjZSBvZiBtaW5kLjgBogadAjqaAgojZG9jdG9yYW55d2hlcmUuY29tL2hlYWx0aC9zY3JlZW5pbmcSG0NvbG9yZWN0YWwgQ2FuY2VyIFNjcmVlbmluZxodQ3VzdG9taXNhYmxlIFBhY2thZ2VzL0FkZC1PbnMqW0Vzc2VudGlhbCAmIGNvbXByZWhlbnNpdmUgaGVhbHRoIGNoZWNrcy4gQm9vayB5b3VyIGFubnVhbCBoZWFsdGggY2hlY2t1cCBmb3IgcGVhY2Ugb2YgbWluZC4yWEdldCBzY3JlZW5lZCBjb252ZW5pZW50bHkgYXQgaG9tZSwgb3IgYXQgYW55IG9mIERBIGNsaW5pY3MgaXNsYW5kd2lkZS4gQm9vayBhcHBvaW50bWVudC44AaIGmAI6lQIKI2RvY3RvcmFueXdoZXJlLmNvbS9oZWFsdGgvc2NyZWVuaW5nEhhTdWJzaWRpc2VkIEhlYWx0aCBDaGVja3MaG0NvbG9yZWN0YWwgQ2FuY2VyIFNjcmVlbmluZypYR2V0IHNjcmVlbmVkIGNvbnZlbmllbnRseSBhdCBob21lLCBvciBhdCBhbnkgb2YgREEgY2xpbmljcyBpc2xhbmR3aWRlLiBCb29rIGFwcG9pbnRtZW50LjJbRXNzZW50aWFsICYgY29tcHJlaGVuc2l2ZSBoZWFsdGggY2hlY2tzLiBCb29rIHlvdXIgYW5udWFsIGhlYWx0aCBjaGVja3VwIGZvciBwZWFjZSBvZiBtaW5kLjgBogaWAjqTAgojZG9jdG9yYW55d2hlcmUuY29tL2hlYWx0aC9zY3JlZW5pbmcSHkVDRywgQmxvb2QgVGVzdCwgQ2FuY2VyIE1hcmtlchodQ3VzdG9taXNhYmxlIFBhY2thZ2VzL0FkZC1PbnMqTkluY2x1ZGVzIGEgY29tcHJlaGVuc2l2ZSBoZWFsdGggcmVwb3J0IGFuZCBkb2N0b3IgcmV2aWV3LiBObyBmYXN0aW5nIHJlcXVpcmVkLjJbQWRkLW9uIGhlYWx0aCBjaGVja3MgYXMgbmVlZGVkOiBFQ0csIENhbmNlciBNYXJrZXIsIEJsb29kIFRlc3QsIEltYWdpbmcgJiBVbHRyYXNvdW5kIFRlc3RzLjgAogaWAjqTAgojZG9jdG9yYW55d2hlcmUuY29tL2hlYWx0aC9zY3JlZW5pbmcSHkVDRywgQmxvb2QgVGVzdCwgQ2FuY2VyIE1hcmtlchodQ3VzdG9taXNhYmxlIFBhY2thZ2VzL0FkZC1PbnMqW0Vzc2VudGlhbCAmIGNvbXByZWhlbnNpdmUgaGVhbHRoIGNoZWNrcy4gQm9vayB5b3VyIGFubnVhbCBoZWFsdGggY2hlY2t1cCBmb3IgcGVhY2Ugb2YgbWluZC4yTkluY2x1ZGVzIGEgY29tcHJlaGVuc2l2ZSBoZWFsdGggcmVwb3J0IGFuZCBkb2N0b3IgcmV2aWV3LiBObyBmYXN0aW5nIHJlcXVpcmVkLjgAogaeAjqbAgojZG9jdG9yYW55d2hlcmUuY29tL2hlYWx0aC9zY3JlZW5pbmcSHUdldCBTY3JlZW5lZCBBdCBIb21lIGZyLiAkMTI5GhxJbi1DbGluaWMgSGVhbHRoIENoZWNrdXAgJDg2KlhHZXQgc2NyZWVuZWQgY29udmVuaWVudGx5IGF0IGhvbWUsIG9yIGF0IGFueSBvZiBEQSBjbGluaWNzIGlzbGFuZHdpZGUuIEJvb2sgYXBwb2ludG1lbnQuMltBZGQtb24gaGVhbHRoIGNoZWNrcyBhcyBuZWVkZWQ6IEVDRywgQ2FuY2VyIE1hcmtlciwgQmxvb2QgVGVzdCwgSW1hZ2luZyAmIFVsdHJhc291bmQgVGVzdHMuOACiBpsCOpgCCiNkb2N0b3Jhbnl3aGVyZS5jb20vaGVhbHRoL3NjcmVlbmluZxIdQ3VzdG9taXNhYmxlIFBhY2thZ2VzL0FkZC1PbnMaGUJvb2sgQW4gQXBwb2ludG1lbnQgVG9kYXkqWEdldCBzY3JlZW5lZCBjb252ZW5pZW50bHkgYXQgaG9tZSwgb3IgYXQgYW55IG9mIERBIGNsaW5pY3MgaXNsYW5kd2lkZS4gQm9vayBhcHBvaW50bWVudC4yW0FkZC1vbiBoZWFsdGggY2hlY2tzIGFzIG5lZWRlZDogRUNHLCBDYW5jZXIgTWFya2VyLCBCbG9vZCBUZXN0LCBJbWFnaW5nICYgVWx0cmFzb3VuZCBUZXN0cy44AKIGlwI6lAIKI2RvY3RvcmFueXdoZXJlLmNvbS9oZWFsdGgvc2NyZWVuaW5nEhZJbmNsdWRlcyAxLTEgR1AgUmV2aWV3GhxJbi1DbGluaWMgSGVhbHRoIENoZWNrdXAgJDg2KlhHZXQgc2NyZWVuZWQgY29udmVuaWVudGx5IGF0IGhvbWUsIG9yIGF0IGFueSBvZiBEQSBjbGluaWNzIGlzbGFuZHdpZGUuIEJvb2sgYXBwb2ludG1lbnQuMltBZGQtb24gaGVhbHRoIGNoZWNrcyBhcyBuZWVkZWQ6IEVDRywgQ2FuY2VyIE1hcmtlciwgQmxvb2QgVGVzdCwgSW1hZ2luZyAmIFVsdHJhc291bmQgVGVzdHMuOACiBpMCOpACCiNkb2N0b3Jhbnl3aGVyZS5jb20vaGVhbHRoL3NjcmVlbmluZxIbSGVhbHRoIFNjcmVlbmluZ3MgU2luZ2Fwb3JlGh1HZXQgU2NyZWVuZWQgQXQgSG9tZSBmci4gJDEyOSpOSW5jbHVkZXMgYSBjb21wcmVoZW5zaXZlIGhlYWx0aCByZXBvcnQgYW5kIGRvY3RvciByZXZpZXcuIE5vIGZhc3RpbmcgcmVxdWlyZWQuMltFc3NlbnRpYWwgJiBjb21wcmVoZW5zaXZlIGhlYWx0aCBjaGVja3MuIEJvb2sgeW91ciBhbm51YWwgaGVhbHRoIGNoZWNrdXAgZm9yIHBlYWNlIG9mIG1pbmQuOACiBpMCOpACCiNkb2N0b3Jhbnl3aGVyZS5jb20vaGVhbHRoL3NjcmVlbmluZxIeRUNHLCBCbG9vZCBUZXN0LCBDYW5jZXIgTWFya2VyGh1DdXN0b21pc2FibGUgUGFja2FnZXMvQWRkLU9ucypOSW5jbHVkZXMgYSBjb21wcmVoZW5zaXZlIGhlYWx0aCByZXBvcnQgYW5kIGRvY3RvciByZXZpZXcuIE5vIGZhc3RpbmcgcmVxdWlyZWQuMlhHZXQgc2NyZWVuZWQgY29udmVuaWVudGx5IGF0IGhvbWUsIG9yIGF0IGFueSBvZiBEQSBjbGluaWNzIGlzbGFuZHdpZGUuIEJvb2sgYXBwb2ludG1lbnQuOACiBpQCOpECCiNkb2N0b3Jhbnl3aGVyZS5jb20vaGVhbHRoL3NjcmVlbmluZxIcU3Vic2lkaXNlZCBIZWFsdGggU2NyZWVuaW5ncxodQ3VzdG9taXNlZCBQYWNrYWdlcyAmIEFkZC1PbnMqTkluY2x1ZGVzIGEgY29tcHJlaGVuc2l2ZSBoZWFsdGggcmVwb3J0IGFuZCBkb2N0b3IgcmV2aWV3LiBObyBmYXN0aW5nIHJlcXVpcmVkLjJbRXNzZW50aWFsICYgY29tcHJlaGVuc2l2ZSBoZWFsdGggY2hlY2tzLiBCb29rIHlvdXIgYW5udWFsIGhlYWx0aCBjaGVja3VwIGZvciBwZWFjZSBvZiBtaW5kLjgAogadAjqaAgojZG9jdG9yYW55d2hlcmUuY29tL2hlYWx0aC9zY3JlZW5pbmcSG0NvbG9yZWN0YWwgQ2FuY2VyIFNjcmVlbmluZxodQ3VzdG9taXNhYmxlIFBhY2thZ2VzL0FkZC1PbnMqW0Vzc2VudGlhbCAmIGNvbXByZWhlbnNpdmUgaGVhbHRoIGNoZWNrcy4gQm9vayB5b3VyIGFubnVhbCBoZWFsdGggY2hlY2t1cCBmb3IgcGVhY2Ugb2YgbWluZC4yWEdldCBzY3JlZW5lZCBjb252ZW5pZW50bHkgYXQgaG9tZSwgb3IgYXQgYW55IG9mIERBIGNsaW5pY3MgaXNsYW5kd2lkZS4gQm9vayBhcHBvaW50bWVudC44AKIGmAI6lQIKI2RvY3RvcmFueXdoZXJlLmNvbS9oZWFsdGgvc2NyZWVuaW5nEhhTdWJzaWRpc2VkIEhlYWx0aCBDaGVja3MaG0NvbG9yZWN0YWwgQ2FuY2VyIFNjcmVlbmluZypYR2V0IHNjcmVlbmVkIGNvbnZlbmllbnRseSBhdCBob21lLCBvciBhdCBhbnkgb2YgREEgY2xpbmljcyBpc2xhbmR3aWRlLiBCb29rIGFwcG9pbnRtZW50LjJbRXNzZW50aWFsICYgY29tcHJlaGVuc2l2ZSBoZWFsdGggY2hlY2tzLiBCb29rIHlvdXIgYW5udWFsIGhlYWx0aCBjaGVja3VwIGZvciBwZWFjZSBvZiBtaW5kLjgACgYIARICMgAKxSIIARLAIgoGCKfQxfNCogYtCisKJwolCM-Bte-sAcoBGwoZR2V0IFNjcmVlbmVkIENvbnZlbmllbnRseVggogYnCiUKIQofCNKBte-sAcoBFQoTTm8gRmFzdGluZyBSZXF1aXJlZFggogYpCicKIwohCNWBte-sAcoBFwoVREEgQ2xpbmljcyBJc2xhbmR3aWRlWCCiBisKKQolCiMI2IG176wBygEZChdFc3NlbnRpYWwgSGVhbHRoIENoZWNrc1ggogbtAwrqAwrlAwriAwiymfH62gGiA9cDCAcQARoCZW4ibQoEQ29yZRIORm9yIGFnZXMgMjAtMzAaCgoDU0dEEOCaxSgqSWh0dHBzOi8vZG9jdG9yYW55d2hlcmUuY29tL2hlYWx0aC1zY3JlZW5pbmdzLyMxNjM0NjI3NTAyNTY1LWQ5MjA1ZTY2LWI5NGQibwoGU2VsZWN0Eg5Gb3IgYWdlcyAzMC00MBoKCgNTR0QQgNDDQipJaHR0cHM6Ly9kb2N0b3Jhbnl3aGVyZS5jb20vaGVhbHRoLXNjcmVlbmluZ3MvIzE2MzQ2Mjc1MDI1NjUtZDkyMDVlNjYtYjk0ZCJuCgVFbGl0ZRIOQWJvdmUgNDAgeWVhcnMaCgoDU0dEEKCFwlwqSWh0dHBzOi8vZG9jdG9yYW55d2hlcmUuY29tL2hlYWx0aC1zY3JlZW5pbmdzLyMxNjM0NjI3NTAyNTY1LWQ5MjA1ZTY2LWI5NGQifQoIUHJlc3RpZ2USGU1vc3QgQ29tcHJlaGVuc2l2ZSBTY3JlZW4aCwoDU0dEEIClvaoBKklodHRwczovL2RvY3RvcmFueXdoZXJlLmNvbS9oZWFsdGgtc2NyZWVuaW5ncy8jMTYzNDYyNzUwMjU2NS1kOTIwNWU2Ni1iOTRkWDKiBtIBCs8BCsoBCscBCI2p5r5VanVodHRwczovL21hcmtldHBsYWNlLmRvY3RvcmFueXdoZXJlLmNvbS9jYXRlZ29yaWVzL3Byb2R1Y3QvaGVhbHRoLXNjcmVlbmluZy9kYS1oZWFsdGgtc2NyZWVuaW5nP3R5cGU9JmlkPTE1Nzgmc3ViPTEwNDmqAUcKGUhlYWx0aCBTY3JlZW5pbmcgUGFja2FnZXMSF0luLWNsaW5pYyBvciBob21lLWJhc2VkGhFWaWV3IGFsbCBwYWNrYWdlc1gfogahAQqeAQqZAQqWAQiKvMjk2gFqMWh0dHBzOi8vZG9jdG9yYW55d2hlcmUuY29tL2hlYWx0aC1zY3JlZW5pbmdzLyNtZW6qAVkKGU1lbuKAmXMgSGVhbHRoIFNjcmVlbmluZ3MSHFN1YnNpZGlzZWQgaGVhbHRoIHNjcmVlbmluZ3MaHkRBIGNsaW5pY3MgYXJlIENIQVMtYWNjcmVkaXRlZFgfogafAQqcAQqXAQqUAQiNvMjk2gFqLWh0dHBzOi8vZG9jdG9yYW55d2hlcmUuY29tL2hlYWx0aC1zY3JlZW5pbmdzL6oBWwobV29tZW7igJlzIEhlYWx0aCBTY3JlZW5pbmdzEhxTdWJzaWRpc2VkIGhlYWx0aCBzY3JlZW5pbmdzGh5EQSBjbGluaWNzIGFyZSBDSEFTLWFjY3JlZGl0ZWRYH6IGiQEKhgEKgQEKfwiCoOPDtANqJWh0dHBzOi8vZG9jdG9yYW55d2hlcmUuY29tL2RhLWNsaW5pYy-qAU4KD1NjcmVlbiBmb3IgTGlmZRIiTGVhcm4gbW9yZSBhYm91dCBzdWJzaWRpc2VkIGhlYWx0aBoXc2NyZWVuaW5ncyBpbiBTaW5nYXBvcmVYH6IG3wEK3AEKKwopCIKvkYcpEiFDb250cmFjZXB0aXZlQWRfTG9nbzEyMDB4MTIwMC5qcGciqgEIgICAoNeItfcWIJzIDCgBOosBCLAJELAJGjxodHRwczovL3RwYy5nb29nbGVzeW5kaWNhdGlvbi5jb20vc2ltZ2FkLzIzMjU4NTMzNjAyMTMwOTUwNzYiPGh0dHBzOi8vdHBjLmdvb2dsZXN5bmRpY2F0aW9uLmNvbS9waW1nYWQvMjMyNTg1MzM2MDIxMzA5NTA3NikAAAAAAADwP0Dt1Mqo_-Pk4AJQAVg4ogbzBgrwBgoJCgcI9-PBxLkBWDHaAd8GCndodHRwczovL2xoMy5nb29nbGV1c2VyY29udGVudC5jb20vZDcxbkx5Y3hneGdNRDIzZlFJaGpKektlckJMQ3FkNmtwbEhZVzEwR2h2UnNJX2tPM3FMRGxyR3h5ZG82OGF6YXhmajcxSnhudlZ3PXc1MTItaDUxMhIcRG9jdG9yIEFueXdoZXJlIC0gSGVhbHRoY2FyZRoFZW5fU0cgAiorCgJpZAoFaWRfSUQSHkRvY3RvciBBbnl3aGVyZSAtIFRlbGVtZWRpY2luZSopCgJtcwoFbXNfTVkSHERvY3RvciBBbnl3aGVyZSAtIFRlbGVoZWFsdGgqQwoCdGgKBXRoX1RIEjZEb2N0b3IgQW55d2hlcmUgLSDguYHguJ7guJfguKLguYzguK3guK3guJnguYTguKXguJnguYwqHAoCdmkKBXZpX1ZOEg9Eb2N0b3IgQW55d2hlcmUqMQoCemgKBXpoX0NOEiTku7vkvZXlnLDmlrnnmoTljLvnlJ8gLSDov5znqIvljLvnlpcqYQoCZW4KBWVuX0FVCgVlbl9DQQoFZW5fR0IKBWVuX0lFCgVlbl9JTgoFZW5fTloKBWVuX1NHCgVlbl9VUwoFZW5fWkESHERvY3RvciBBbnl3aGVyZSAtIEhlYWx0aGNhcmUqYQoCZW4KBWVuX0FVCgVlbl9DQQoFZW5fR0IKBWVuX0lFCgVlbl9JTgoFZW5fTloKBWVuX1NHCgVlbl9VUwoFZW5fWkESHERvY3RvciBBbnl3aGVyZSAtIFRlbGVoZWFsdGgqYQoCZW4KBWVuX0FVCgVlbl9DQQoFZW5fR0IKBWVuX0lFCgVlbl9JTgoFZW5fTloKBWVuX1NHCgVlbl9VUwoFZW5fWkESHERvY3RvciBBbnl3aGVyZSAtIFRlbGVoZWFsdGgqYQoCZW4KBWVuX0FVCgVlbl9DQQoFZW5fR0IKBWVuX0lFCgVlbl9JTgoFZW5fTloKBWVuX1NHCgVlbl9VUwoFZW5fWkESHERvY3RvciBBbnl3aGVyZSAtIFRlbGVoZWFsdGgqQwoCdGgKBXRoX1RIEjZEb2N0b3IgQW55d2hlcmUgLSDguYHguJ7guJfguKLguYzguK3guK3guJnguYTguKXguJnguYyiBuANCt0NCgkKBwiD5MHEuQFYMdoBzA0Kdmh0dHBzOi8vbGgzLmdvb2dsZXVzZXJjb250ZW50LmNvbS9WNzRjVlRUaWlXdHR0WEZTRXJoYU9GcWtRTktHaENYTEZWXzRkTHBJSTVFSWZrTUtER2lKel9PY2tyblZTZmhDT1ZOXzdsamZTdz13NTEyLWg1MTISG0RvY3RvciBBbnl3aGVyZTogSGVhbHRoY2FyZRoCZW4gASokCgVhcl9TQRIbRG9jdG9yIEFueXdoZXJlOiBIZWFsdGhjYXJlKiQKBWNhX0VTEhtEb2N0b3IgQW55d2hlcmU6IEhlYWx0aGNhcmUqJAoFY3NfQ1oSG0RvY3RvciBBbnl3aGVyZTogSGVhbHRoY2FyZSokCgVkYV9ESxIbRG9jdG9yIEFueXdoZXJlOiBIZWFsdGhjYXJlKiQKBWRlX0RFEhtEb2N0b3IgQW55d2hlcmU6IEhlYWx0aGNhcmUqJAoFZWxfR1ISG0RvY3RvciBBbnl3aGVyZTogSGVhbHRoY2FyZSohCgJlbhIbRG9jdG9yIEFueXdoZXJlOiBIZWFsdGhjYXJlKiQKBWVuX0FVEhtEb2N0b3IgQW55d2hlcmU6IEhlYWx0aGNhcmUqJAoFZW5fQ0ESG0RvY3RvciBBbnl3aGVyZTogSGVhbHRoY2FyZSokCgVlbl9HQhIbRG9jdG9yIEFueXdoZXJlOiBIZWFsdGhjYXJlKiQKBWVuX1VTEhtEb2N0b3IgQW55d2hlcmU6IEhlYWx0aGNhcmUqJAoFZXNfRVMSG0RvY3RvciBBbnl3aGVyZTogSGVhbHRoY2FyZSokCgVlc19NWBIbRG9jdG9yIEFueXdoZXJlOiBIZWFsdGhjYXJlKiQKBWZpX0ZJEhtEb2N0b3IgQW55d2hlcmU6IEhlYWx0aGNhcmUqJAoFZnJfQ0ESG0RvY3RvciBBbnl3aGVyZTogSGVhbHRoY2FyZSokCgVmcl9GUhIbRG9jdG9yIEFueXdoZXJlOiBIZWFsdGhjYXJlKiQKBWhpX0lOEhtEb2N0b3IgQW55d2hlcmU6IEhlYWx0aGNhcmUqJAoFaHJfSFISG0RvY3RvciBBbnl3aGVyZTogSGVhbHRoY2FyZSokCgVodV9IVRIbRG9jdG9yIEFueXdoZXJlOiBIZWFsdGhjYXJlKiUKBWlkX0lEEhxEb2N0b3IgQW55d2hlcmUgLSBUZWxlaGVhbHRoKiQKBWl0X0lUEhtEb2N0b3IgQW55d2hlcmU6IEhlYWx0aGNhcmUqJAoFaXdfSUwSG0RvY3RvciBBbnl3aGVyZTogSGVhbHRoY2FyZSokCgVqYV9KUBIbRG9jdG9yIEFueXdoZXJlOiBIZWFsdGhjYXJlKiQKBWtvX0tSEhtEb2N0b3IgQW55d2hlcmU6IEhlYWx0aGNhcmUqJQoFbXNfTVkSHERvY3RvciBBbnl3aGVyZSAtIFRlbGVoZWFsdGgqJAoFbmJfTk8SG0RvY3RvciBBbnl3aGVyZTogSGVhbHRoY2FyZSokCgVubF9OTBIbRG9jdG9yIEFueXdoZXJlOiBIZWFsdGhjYXJlKiQKBW5vX05PEhtEb2N0b3IgQW55d2hlcmU6IEhlYWx0aGNhcmUqJAoFcGxfUEwSG0RvY3RvciBBbnl3aGVyZTogSGVhbHRoY2FyZSokCgVwdF9CUhIbRG9jdG9yIEFueXdoZXJlOiBIZWFsdGhjYXJlKiQKBXB0X1BUEhtEb2N0b3IgQW55d2hlcmU6IEhlYWx0aGNhcmUqJAoFcm9fUk8SG0RvY3RvciBBbnl3aGVyZTogSGVhbHRoY2FyZSokCgVydV9SVRIbRG9jdG9yIEFueXdoZXJlOiBIZWFsdGhjYXJlKiQKBXNrX1NLEhtEb2N0b3IgQW55d2hlcmU6IEhlYWx0aGNhcmUqJAoFc3ZfU0USG0RvY3RvciBBbnl3aGVyZTogSGVhbHRoY2FyZSo_CgV0aF9USBI2RG9jdG9yIEFueXdoZXJlIC0g4LmB4Lie4LiX4Lii4LmM4Lit4Lit4LiZ4LmE4Lil4LiZ4LmMKiQKBXRyX1RSEhtEb2N0b3IgQW55d2hlcmU6IEhlYWx0aGNhcmUqJAoFdWtfVUESG0RvY3RvciBBbnl3aGVyZTogSGVhbHRoY2FyZSolCgV2aV9WThIcRG9jdG9yIEFueXdoZXJlIC0gVGVsZWhlYWx0aCokCgV6aF9DThIbRG9jdG9yIEFueXdoZXJlOiBIZWFsdGhjYXJlKiQKBXpoX1RXEhtEb2N0b3IgQW55d2hlcmU6IEhlYWx0aGNhcmWiBjkiNwoSMTQwIENvcnBvcmF0aW9uIERyEgAaGERBIENsaW5pYyBAIFRhbWFuIEp1cm9uZyDQheW1nQOiBi4iLAoOMjQ4IFNpbWVpIFN0IDMSABoRREEgQ2xpbmljIEAgU2ltZWkg1oXltZ0DogY6IjgKFTUyNSBBbmcgTW8gS2lvIEF2ZSAxMBIAGhZEQSBDbGluaWMgQCBBbmcgTW8gS2lvINmF5bWdAwqSBggBEo0GKgCiBp4BCpsBCpYBCpMBCNyg7dVVogGJAQoPU2VydmljZSBjYXRhbG9nEhRHZW5lcmFsIFByYWN0aXRpb25lchIUTGFjdGF0aW9uIENvbnN1bHRhbnQSFFNleHVhbCBIZWFsdGggQWR2aWNlEhNNZWRpY2F0aW9uIERlbGl2ZXJ5EglSZWZlcnJhbHMSFFNwZWNpYWxpc3RzIFJlZmVycmFsWB6iBrkBCrYBCrEBCq4BCN-g7dVVogGkAQoPU2VydmljZSBjYXRhbG9nEgxIZWFsdGhpZXIgU0cSCUdQIERvY3RvchILU3BlY2lhbGlzdHMSE051dHJpdGlvbiAmIEZpdG5lc3MSEEhlYWx0aCBTY3JlZW5pbmcSD01lbnRhbCBXZWxsbmVzcxIMVmFjY2luYXRpb25zEg9DaGlsZHJlbiBDbGluaWMSFE1lbiAmIFdvbWVuJ3MgSGVhbHRoWB6iBiEKHwobChkIoqHaoAQaEQoPRG9jdG9yIEFueXdoZXJlWCmiBt8BCtwBCisKKQiCr5GHKRIhQ29udHJhY2VwdGl2ZUFkX0xvZ28xMjAweDEyMDAuanBnIqoBCICAgKDXiLX3FiCcyAwoATqLAQiwCRCwCRo8aHR0cHM6Ly90cGMuZ29vZ2xlc3luZGljYXRpb24uY29tL3NpbWdhZC8yMzI1ODUzMzYwMjEzMDk1MDc2IjxodHRwczovL3RwYy5nb29nbGVzeW5kaWNhdGlvbi5jb20vcGltZ2FkLzIzMjU4NTMzNjAyMTMwOTUwNzYpAAAAAAAA8D9A7dTKqP_j5OACUAFYOKIGMCIuCg8xOCBZaXNodW4gQXZlIDkSABoSREEgQ2xpbmljIEAgWWlzaHVuIMqF5bWdA6IGMyIxChA0NjAgQWxleGFuZHJhIFJkEgAaFEFkZXB0IEhlYWx0aCBQdGUgTHRkIM2F5bWdA6IGOSI3ChIxNDAgQ29ycG9yYXRpb24gRHISABoYREEgQ2xpbmljIEAgVGFtYW4gSnVyb25nINCF5bWdA6ABJBJMQUJDMnp1YXVDcmp3bXpRbjN5di1BY3doWVl4YVRBbVJRekF6ZXJaNHhESGtlM2Y1dUdJQll0QjZHOHlPNVpOVjNINnpxZEg3dlJqYiITEgxIAVABWAFgAWgBcAAoAUIBAijy3PTt7zMwgJD70wk6CBABKB4wBDgAQg5BV05fQ01fRURJVElOR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ads.google.com/aw_cm/ExternalPreview?ocid=7554764585&amp;euid=6504451576&amp;pt=CvlZCKmespIcEPibyJ0YGgVlbl9VU2LjWQqYLAgBEpMsIgCiBpYCOpMCCiF3d3cuc29kYS5pbnN1cmUvZW1wbG95ZWUvYmVuZWZpdHMSGUVtcGxveWVlIEhlYWx0aCBJbnN1cmFuY2UaHkZsZXhpLCBBZmZvcmRhYmxlLCBUcmFuc3BhcmVudCpYMiwwMDArIHRvdGFsIHBhbmVsIHByb3ZpZGVycyAtIEdQcywgc3BlY2lhbGlzdHMsIGhvc3BpdGFscywgZGVudGFsLCBhbmQgbW9yZS4gQm9vayBkZW1vLjJXU2V0dXAgZW1wbG95ZWUgYmVuZWZpdHMgaW4gbWludXRlcy4gR1AgdmlzaXRzICQxNC4xNy4gQ29zdC1lZmZlY3RpdmUgc29sdXRpb24gZm9yIFNNRXMuOAGiBpYCOpMCCiF3d3cuc29kYS5pbnN1cmUvZW1wbG95ZWUvYmVuZWZpdHMSGUVtcGxveWVlIEhlYWx0aCBJbnN1cmFuY2UaHkZsZXhpLCBBZmZvcmRhYmxlLCBUcmFuc3BhcmVudCpXUHJldmVudCBhYnVzZSB3aXRoIGNvLXBheSAmIGNhcC92aXNpdCBjb250cm9scy4gU3RheSB3aXRoaW4gYnVkZ2V0IGFuZCBwcmV2ZW50IG92ZXJ1c2UuMlgyLDAwMCsgdG90YWwgcGFuZWwgcHJvdmlkZXJzIC0gR1BzLCBzcGVjaWFsaXN0cywgaG9zcGl0YWxzLCBkZW50YWwsIGFuZCBtb3JlLiBCb29rIGRlbW8uOAGiBpECOo4CCiF3d3cuc29kYS5pbnN1cmUvZW1wbG95ZWUvYmVuZWZpdHMSGUVtcGxveWVlIEhlYWx0aCBJbnN1cmFuY2UaGVNpbXBsZSBUbyBPbmJvYXJkIGluIE1pbnMqWDIsMDAwKyB0b3RhbCBwYW5lbCBwcm92aWRlcnMgLSBHUHMsIHNwZWNpYWxpc3RzLCBob3NwaXRhbHMsIGRlbnRhbCwgYW5kIG1vcmUuIEJvb2sgZGVtby4yV1ByZXZlbnQgYWJ1c2Ugd2l0aCBjby1wYXkgJiBjYXAvdmlzaXQgY29udHJvbHMuIFN0YXkgd2l0aGluIGJ1ZGdldCBhbmQgcHJldmVudCBvdmVydXNlLjgBogaWAjqTAgohd3d3LnNvZGEuaW5zdXJlL2VtcGxveWVlL2JlbmVmaXRzEhxMb3ctY29zdCBPdXRwYXRpZW50IEJlbmVmaXRzGhtBdXRvbWF0ZWQgQ2xhaW1zIFByb2Nlc3NpbmcqWDIsMDAwKyB0b3RhbCBwYW5lbCBwcm92aWRlcnMgLSBHUHMsIHNwZWNpYWxpc3RzLCBob3NwaXRhbHMsIGRlbnRhbCwgYW5kIG1vcmUuIEJvb2sgZGVtby4yV1ByZXZlbnQgYWJ1c2Ugd2l0aCBjby1wYXkgJiBjYXAvdmlzaXQgY29udHJvbHMuIFN0YXkgd2l0aGluIGJ1ZGdldCBhbmQgcHJldmVudCBvdmVydXNlLjgBogaYAjqVAgohd3d3LnNvZGEuaW5zdXJlL2VtcGxveWVlL2JlbmVmaXRzEh1Tb2RhIGJ5IERBOiBFbXBsb3llZSBCZW5lZml0cxocVGFpbG9yZWQgZm9yIFN0YXJ0dXBzICYgU01FcypYMiwwMDArIHRvdGFsIHBhbmVsIHByb3ZpZGVycyAtIEdQcywgc3BlY2lhbGlzdHMsIGhvc3BpdGFscywgZGVudGFsLCBhbmQgbW9yZS4gQm9vayBkZW1vLjJXU2V0dXAgZW1wbG95ZWUgYmVuZWZpdHMgaW4gbWludXRlcy4gR1AgdmlzaXRzICQxNC4xNy4gQ29zdC1lZmZlY3RpdmUgc29sdXRpb24gZm9yIFNNRXMuOAGiBpUCOpICCiF3d3cuc29kYS5pbnN1cmUvZW1wbG95ZWUvYmVuZWZpdHMSGUVtcGxveWVlIEhlYWx0aCBJbnN1cmFuY2UaHENhc2hsZXNzIENsYWltcywgWmVybyBIYXNzbGUqV1NldHVwIGVtcGxveWVlIGJlbmVmaXRzIGluIG1pbnV0ZXMuIEdQIHZpc2l0cyAkMTQuMTcuIENvc3QtZWZmZWN0aXZlIHNvbHV0aW9uIGZvciBTTUVzLjJZUGF5LWFzLXlvdS11c2Ugd2l0aCBubyB3YXN0ZWQgcHJlbWl1bXMuIEZsZXhpYmxlLCBBZmZvcmRhYmxlLCBUcmFuc3BhcmVudC4gUmVxdWVzdCBxdW90ZS44AaIGrAI6qQIKIXd3dy5zb2RhLmluc3VyZS9lbXBsb3llZS9iZW5lZml0cxIdU29kYSBieSBEQTogRW1wbG95ZWUgQmVuZWZpdHMaFUdldCBTdGFydGVkIEluc3RhbnRseSIZU2ltcGxlIFRvIE9uYm9hcmQgaW4gTWlucypXU2V0dXAgZW1wbG95ZWUgYmVuZWZpdHMgaW4gbWludXRlcy4gR1AgdmlzaXRzICQxNC4xNy4gQ29zdC1lZmZlY3RpdmUgc29sdXRpb24gZm9yIFNNRXMuMlgyLDAwMCsgdG90YWwgcGFuZWwgcHJvdmlkZXJzIC0gR1BzLCBzcGVjaWFsaXN0cywgaG9zcGl0YWxzLCBkZW50YWwsIGFuZCBtb3JlLiBCb29rIGRlbW8uOAGiBpUCOpICCiF3d3cuc29kYS5pbnN1cmUvZW1wbG95ZWUvYmVuZWZpdHMSGUVtcGxveWVlIEhlYWx0aCBJbnN1cmFuY2UaHkZsZXhpLCBBZmZvcmRhYmxlLCBUcmFuc3BhcmVudCpXUHJldmVudCBhYnVzZSB3aXRoIGNvLXBheSAmIGNhcC92aXNpdCBjb250cm9scy4gU3RheSB3aXRoaW4gYnVkZ2V0IGFuZCBwcmV2ZW50IG92ZXJ1c2UuMldTZXR1cCBlbXBsb3llZSBiZW5lZml0cyBpbiBtaW51dGVzLiBHUCB2aXNpdHMgJDE0LjE3LiBDb3N0LWVmZmVjdGl2ZSBzb2x1dGlvbiBmb3IgU01Fcy44AaIGlQI6kgIKIXd3dy5zb2RhLmluc3VyZS9lbXBsb3llZS9iZW5lZml0cxIZRW1wbG95ZWUgSGVhbHRoIEluc3VyYW5jZRobQXV0b21hdGVkIENsYWltcyBQcm9jZXNzaW5nKllQYXktYXMteW91LXVzZSB3aXRoIG5vIHdhc3RlZCBwcmVtaXVtcy4gRmxleGlibGUsIEFmZm9yZGFibGUsIFRyYW5zcGFyZW50LiBSZXF1ZXN0IHF1b3RlLjJYMiwwMDArIHRvdGFsIHBhbmVsIHByb3ZpZGVycyAtIEdQcywgc3BlY2lhbGlzdHMsIGhvc3BpdGFscywgZGVudGFsLCBhbmQgbW9yZS4gQm9vayBkZW1vLjgBogaYAjqVAgohd3d3LnNvZGEuaW5zdXJlL2VtcGxveWVlL2JlbmVmaXRzEhxMb3ctY29zdCBPdXRwYXRpZW50IEJlbmVmaXRzGhxUYWlsb3JlZCBmb3IgU3RhcnR1cHMgJiBTTUVzKllQYXktYXMteW91LXVzZSB3aXRoIG5vIHdhc3RlZCBwcmVtaXVtcy4gRmxleGlibGUsIEFmZm9yZGFibGUsIFRyYW5zcGFyZW50LiBSZXF1ZXN0IHF1b3RlLjJXUHJldmVudCBhYnVzZSB3aXRoIGNvLXBheSAmIGNhcC92aXNpdCBjb250cm9scy4gU3RheSB3aXRoaW4gYnVkZ2V0IGFuZCBwcmV2ZW50IG92ZXJ1c2UuOAGiBpYCOpMCCiF3d3cuc29kYS5pbnN1cmUvZW1wbG95ZWUvYmVuZWZpdHMSGUVtcGxveWVlIEhlYWx0aCBJbnN1cmFuY2UaHkZsZXhpLCBBZmZvcmRhYmxlLCBUcmFuc3BhcmVudCpYMiwwMDArIHRvdGFsIHBhbmVsIHByb3ZpZGVycyAtIEdQcywgc3BlY2lhbGlzdHMsIGhvc3BpdGFscywgZGVudGFsLCBhbmQgbW9yZS4gQm9vayBkZW1vLjJXU2V0dXAgZW1wbG95ZWUgYmVuZWZpdHMgaW4gbWludXRlcy4gR1AgdmlzaXRzICQxNC4xNy4gQ29zdC1lZmZlY3RpdmUgc29sdXRpb24gZm9yIFNNRXMuOACiBpYCOpMCCiF3d3cuc29kYS5pbnN1cmUvZW1wbG95ZWUvYmVuZWZpdHMSGUVtcGxveWVlIEhlYWx0aCBJbnN1cmFuY2UaHkZsZXhpLCBBZmZvcmRhYmxlLCBUcmFuc3BhcmVudCpXUHJldmVudCBhYnVzZSB3aXRoIGNvLXBheSAmIGNhcC92aXNpdCBjb250cm9scy4gU3RheSB3aXRoaW4gYnVkZ2V0IGFuZCBwcmV2ZW50IG92ZXJ1c2UuMlgyLDAwMCsgdG90YWwgcGFuZWwgcHJvdmlkZXJzIC0gR1BzLCBzcGVjaWFsaXN0cywgaG9zcGl0YWxzLCBkZW50YWwsIGFuZCBtb3JlLiBCb29rIGRlbW8uOACiBpECOo4CCiF3d3cuc29kYS5pbnN1cmUvZW1wbG95ZWUvYmVuZWZpdHMSGUVtcGxveWVlIEhlYWx0aCBJbnN1cmFuY2UaGVNpbXBsZSBUbyBPbmJvYXJkIGluIE1pbnMqWDIsMDAwKyB0b3RhbCBwYW5lbCBwcm92aWRlcnMgLSBHUHMsIHNwZWNpYWxpc3RzLCBob3NwaXRhbHMsIGRlbnRhbCwgYW5kIG1vcmUuIEJvb2sgZGVtby4yV1ByZXZlbnQgYWJ1c2Ugd2l0aCBjby1wYXkgJiBjYXAvdmlzaXQgY29udHJvbHMuIFN0YXkgd2l0aGluIGJ1ZGdldCBhbmQgcHJldmVudCBvdmVydXNlLjgAogaWAjqTAgohd3d3LnNvZGEuaW5zdXJlL2VtcGxveWVlL2JlbmVmaXRzEhxMb3ctY29zdCBPdXRwYXRpZW50IEJlbmVmaXRzGhtBdXRvbWF0ZWQgQ2xhaW1zIFByb2Nlc3NpbmcqWDIsMDAwKyB0b3RhbCBwYW5lbCBwcm92aWRlcnMgLSBHUHMsIHNwZWNpYWxpc3RzLCBob3NwaXRhbHMsIGRlbnRhbCwgYW5kIG1vcmUuIEJvb2sgZGVtby4yV1ByZXZlbnQgYWJ1c2Ugd2l0aCBjby1wYXkgJiBjYXAvdmlzaXQgY29udHJvbHMuIFN0YXkgd2l0aGluIGJ1ZGdldCBhbmQgcHJldmVudCBvdmVydXNlLjgAogaYAjqVAgohd3d3LnNvZGEuaW5zdXJlL2VtcGxveWVlL2JlbmVmaXRzEh1Tb2RhIGJ5IERBOiBFbXBsb3llZSBCZW5lZml0cxocVGFpbG9yZWQgZm9yIFN0YXJ0dXBzICYgU01FcypYMiwwMDArIHRvdGFsIHBhbmVsIHByb3ZpZGVycyAtIEdQcywgc3BlY2lhbGlzdHMsIGhvc3BpdGFscywgZGVudGFsLCBhbmQgbW9yZS4gQm9vayBkZW1vLjJXU2V0dXAgZW1wbG95ZWUgYmVuZWZpdHMgaW4gbWludXRlcy4gR1AgdmlzaXRzICQxNC4xNy4gQ29zdC1lZmZlY3RpdmUgc29sdXRpb24gZm9yIFNNRXMuOACiBpUCOpICCiF3d3cuc29kYS5pbnN1cmUvZW1wbG95ZWUvYmVuZWZpdHMSGUVtcGxveWVlIEhlYWx0aCBJbnN1cmFuY2UaHENhc2hsZXNzIENsYWltcywgWmVybyBIYXNzbGUqV1NldHVwIGVtcGxveWVlIGJlbmVmaXRzIGluIG1pbnV0ZXMuIEdQIHZpc2l0cyAkMTQuMTcuIENvc3QtZWZmZWN0aXZlIHNvbHV0aW9uIGZvciBTTUVzLjJZUGF5LWFzLXlvdS11c2Ugd2l0aCBubyB3YXN0ZWQgcHJlbWl1bXMuIEZsZXhpYmxlLCBBZmZvcmRhYmxlLCBUcmFuc3BhcmVudC4gUmVxdWVzdCBxdW90ZS44AKIGkQI6jgIKIXd3dy5zb2RhLmluc3VyZS9lbXBsb3llZS9iZW5lZml0cxIdU29kYSBieSBEQTogRW1wbG95ZWUgQmVuZWZpdHMaFUdldCBTdGFydGVkIEluc3RhbnRseSpXU2V0dXAgZW1wbG95ZWUgYmVuZWZpdHMgaW4gbWludXRlcy4gR1AgdmlzaXRzICQxNC4xNy4gQ29zdC1lZmZlY3RpdmUgc29sdXRpb24gZm9yIFNNRXMuMlgyLDAwMCsgdG90YWwgcGFuZWwgcHJvdmlkZXJzIC0gR1BzLCBzcGVjaWFsaXN0cywgaG9zcGl0YWxzLCBkZW50YWwsIGFuZCBtb3JlLiBCb29rIGRlbW8uOACiBpUCOpICCiF3d3cuc29kYS5pbnN1cmUvZW1wbG95ZWUvYmVuZWZpdHMSGUVtcGxveWVlIEhlYWx0aCBJbnN1cmFuY2UaHkZsZXhpLCBBZmZvcmRhYmxlLCBUcmFuc3BhcmVudCpXUHJldmVudCBhYnVzZSB3aXRoIGNvLXBheSAmIGNhcC92aXNpdCBjb250cm9scy4gU3RheSB3aXRoaW4gYnVkZ2V0IGFuZCBwcmV2ZW50IG92ZXJ1c2UuMldTZXR1cCBlbXBsb3llZSBiZW5lZml0cyBpbiBtaW51dGVzLiBHUCB2aXNpdHMgJDE0LjE3LiBDb3N0LWVmZmVjdGl2ZSBzb2x1dGlvbiBmb3IgU01Fcy44AKIGlQI6kgIKIXd3dy5zb2RhLmluc3VyZS9lbXBsb3llZS9iZW5lZml0cxIZRW1wbG95ZWUgSGVhbHRoIEluc3VyYW5jZRobQXV0b21hdGVkIENsYWltcyBQcm9jZXNzaW5nKllQYXktYXMteW91LXVzZSB3aXRoIG5vIHdhc3RlZCBwcmVtaXVtcy4gRmxleGlibGUsIEFmZm9yZGFibGUsIFRyYW5zcGFyZW50LiBSZXF1ZXN0IHF1b3RlLjJYMiwwMDArIHRvdGFsIHBhbmVsIHByb3ZpZGVycyAtIEdQcywgc3BlY2lhbGlzdHMsIGhvc3BpdGFscywgZGVudGFsLCBhbmQgbW9yZS4gQm9vayBkZW1vLjgAogaYAjqVAgohd3d3LnNvZGEuaW5zdXJlL2VtcGxveWVlL2JlbmVmaXRzEhxMb3ctY29zdCBPdXRwYXRpZW50IEJlbmVmaXRzGhxUYWlsb3JlZCBmb3IgU3RhcnR1cHMgJiBTTUVzKllQYXktYXMteW91LXVzZSB3aXRoIG5vIHdhc3RlZCBwcmVtaXVtcy4gRmxleGlibGUsIEFmZm9yZGFibGUsIFRyYW5zcGFyZW50LiBSZXF1ZXN0IHF1b3RlLjJXUHJldmVudCBhYnVzZSB3aXRoIGNvLXBheSAmIGNhcC92aXNpdCBjb250cm9scy4gU3RheSB3aXRoaW4gYnVkZ2V0IGFuZCBwcmV2ZW50IG92ZXJ1c2UuOAAKBggBEgIyAAq_HAgBErocCgYI1Nmf1FWiBikKJwojCiEIxaPzl6sIygEXChVGbGV4aWJsZSAmIEFmZm9yZGFibGVYIKIGJAoiCh4KHAjIo_OXqwjKARIKEFBheS1QZXItVXNlIE9ubHlYIKIGKgooCiQKIgjLo_OXqwjKARgKFlBlcmZlY3QgZm9yIFNNRXMgJiBIUnNYIKIGLQorCicKJQjOo_OXqwjKARsKGTJrKyBUb3RhbCBQYW5lbCBQcm92aWRlcnNYIKIGsQUKrgUKqQUKpgUI6qPvnq4ISoYFCgpTb2RhIGJ5IERBGhpSZXF1ZXN0IGluc3RhbnQgZnJlZSBxdW90ZSKLAVdlJ3JlIGV4Y2l0ZWQgdG8gc2hvdyB5b3UgYSBiZXR0ZXIgd2F5IHRvIG1hbmFnZSBlbXBsb3llZSBiZW5lZml0cy4gRmlsbCBpbiB5b3VyIGRldGFpbHMgdG8gZ2V0IGEgZnJlZSBvdmVydmlldyBvZiBvdXIgYWxsLWluLW9uZSBwbGF0Zm9ybS4qI2h0dHBzOi8vc29kYS5pbnN1cmUvcHJpdmFjeS1wb2xpY3kvMhVTdWJtaXNzaW9uIHN1Y2Nlc3NmdWw6UFRoYW5rcywgd2UndmUgcmVjZWl2ZWQgeW91ciBkZXRhaWxzIGFuZCB3aWxsIGJlIGluIHRvdWNoIHdpdGhpbiAzIGJ1c2luZXNzIGRheXMuQgQIAygAQgQIDCgAQgQICygAQgQIASgASmYKZAo6aHR0cHM6Ly9ob29rLmV1MS5tYWtlLmNvbS8zdHRqbjB1dXh5MWFlNHZjdTFvbWd2ZmU0OXVnYjRhMhIkN2E4OWVlOTQtYTJkYS00OTk4LWEzMDYtYmJmZTM4ZmFkZWZkGAFaBwisn-KfrghgAWgMchRhbmQgZ2V0IGEgZnJlZSBxdW90ZXgBigFxChpXaGF0IHNpemUgaXMgeW91ciBjb21wYW55PxJRCg4xLTEwIGVtcGxveWVlcwoPMTEtNTAgZW1wbG95ZWVzChA1MS0yMDAgZW1wbG95ZWVzChEyMDEtNTAwIGVtcGxveWVlcwoJQWJvdmUgNTAwMACKASEKHVdoYXQgaW5kdXN0cnkgZG8geW91IHdvcmsgaW4_MACSAQJlbmoUaHR0cHM6Ly9zb2RhLmluc3VyZS9YEaIGbwptCmkKZwiMs6LNvgmiAV0KEkluc3VyYW5jZSBjb3ZlcmFnZRIWQmVuZWZpdHMgYnVpbHQgdG8gZmxleBIUUmVkdWNlIHlvdXIgSFIgYWRtaW4SGVNpbXBsaWZ5IGVtcGxveWVlIGJlbmVmaXRYHqIGzwEKzAEKGQoXCMnT7pW9CRIOU29kYS1UNS0xMC5qcGcirAEIgICAkOqYiJmRASCKmg0oATqLAQiBDxCBDxo8aHR0cHM6Ly90cGMuZ29vZ2xlc3luZGljYXRpb24uY29tL3NpbWdhZC80MjI2NDUzNDU3NDMxMzIwMjUyIjxodHRwczovL3RwYy5nb29nbGVzeW5kaWNhdGlvbi5jb20vcGltZ2FkLzQyMjY0NTM0NTc0MzEzMjAyNTIpAAAAAAAA8D9AwLTD07b5qdyWAVABWDuiBtUBCtIBCh0KGwjq9snmvgkSEjE3NjgwNjI3NTUzMDIuanBlZyKuAQiAgICQ6pS6sdMBILv7AigBOo0BCKAGEKAGGj1odHRwczovL3RwYy5nb29nbGVzeW5kaWNhdGlvbi5jb20vc2ltZ2FkLzExNzczOTk3ODMyMTM3NDU0MjMyIj1odHRwczovL3RwYy5nb29nbGVzeW5kaWNhdGlvbi5jb20vcGltZ2FkLzExNzczOTk3ODMyMTM3NDU0MjMyKQAAAAAAAPA_QL6OhP7d2cmDowFQAVg7ogbWAQrTAQogCh4Ix-qIsK0KEhVDb3N0XzEyMDB4MTIwMC0wNS5qcGcirAEIgICAkI6LpqWJASC6hP8BKAE6iwEIiScQiCcaPGh0dHBzOi8vdHBjLmdvb2dsZXN5bmRpY2F0aW9uLmNvbS9zaW1nYWQvNTU0NjczNzgxNjQxNjI0Njg3MiI8aHR0cHM6Ly90cGMuZ29vZ2xlc3luZGljYXRpb24uY29tL3BpbWdhZC81NTQ2NzM3ODE2NDE2MjQ2ODcyKbPDSadc_u8_QKayxNOQ3M_fJ1ABWDuiBtoBCtcBCiEKHwiUpqyAuQoSFlBlb3BsZV8xMjAweDYyOC0xNS5wbmcirwEIgICAkP65s7i-ASDjkecBKAM6jQEIuhQQiScaPWh0dHBzOi8vdHBjLmdvb2dsZXN5bmRpY2F0aW9uLmNvbS9zaW1nYWQvMTcwNTU0Mjc2OTc3ODYzMTEwNzkiPWh0dHBzOi8vdHBjLmdvb2dsZXN5bmRpY2F0aW9uLmNvbS9waW1nYWQvMTcwNTU0Mjc2OTc3ODYzMTEwNzkp2chhfFSQ_j9Av5nspP6mjcrOAVABWDuiBtkBCtYBCiUKIwiZidWAuQoSGlBlb3BsZV8xMjAweDYyOC0xNF8xOjEucG5nIqoBCICAgJD-ubP1PSC0mWooAzqLAQi6FBC6FBo8aHR0cHM6Ly90cGMuZ29vZ2xlc3luZGljYXRpb24uY29tL3NpbWdhZC8xMjExMTU1MDc2NjUyNjQ1MTY1IjxodHRwczovL3RwYy5nb29nbGVzeW5kaWNhdGlvbi5jb20vcGltZ2FkLzEyMTExNTUwNzY2NTI2NDUxNjUpAAAAAAAA8D9A9-raz62O_7YIUAFYO6IG3gEK2wEKJQojCPaU74C5ChIaUGVvcGxlXzk2MHgxMjAwLTAzXzE6MS5wbmcirwEIgICAkP65-5ybASD05OMBKAM6jQEIzhUQzhUaPWh0dHBzOi8vdHBjLmdvb2dsZXN5bmRpY2F0aW9uLmNvbS9zaW1nYWQvMTYwNzQxNTMyOTcyNDE5NTgzMzYiPWh0dHBzOi8vdHBjLmdvb2dsZXN5bmRpY2F0aW9uLmNvbS9waW1nYWQvMTYwNzQxNTMyOTcyNDE5NTgzMzYpAAAAAAAA8D9Ar6TM0NOcqKaXAVABWDuiBtoBCtcBCiUKIwiv9PGAuQoSGlBlb3BsZV8xMjAweDYyOC0xNl8xOjEucG5nIqsBCICAgJD-uafnBCCUhLwCKAM6iwEIhREQhREaPGh0dHBzOi8vdHBjLmdvb2dsZXN5bmRpY2F0aW9uLmNvbS9zaW1nYWQvMjgwMTMyMjU4OTY3Mjk2NTAzOCI8aHR0cHM6Ly90cGMuZ29vZ2xlc3luZGljYXRpb24uY29tL3BpbWdhZC8yODAxMzIyNTg5NjcyOTY1MDM4KQAAAAAAAPA_QNeju5qCi7r7TVABWDuiBtwBCtkBCiYKJAjt0IWnuQoSG1Blb3BsZV8xMjAweDEyMDAtMDhfMToxLnBuZyKsAQiAgICQ_rn94Wkg9LfaASgDOosBCI8OEI8OGjxodHRwczovL3RwYy5nb29nbGVzeW5kaWNhdGlvbi5jb20vc2ltZ2FkLzgzMTY2MzcwNTIxNzczMjM1NDIiPGh0dHBzOi8vdHBjLmdvb2dsZXN5bmRpY2F0aW9uLmNvbS9waW1nYWQvODMxNjYzNzA1MjE3NzMyMzU0MikAAAAAAADwP0DZqpyBspyClZUBUAFYO6IG3gEK2wEKKAomCMm9xqe5ChIdUGVvcGxlXzk2MHgxMjAwLTAzXzEuOTE6MS5wbmcirAEIgICAkP65-4hYINrr_gEoAzqLAQj9DhDQHBo8aHR0cHM6Ly90cGMuZ29vZ2xlc3luZGljYXRpb24uY29tL3NpbWdhZC82Njc0MjkxNDI2MDcyODYxMjgzIjxodHRwczovL3RwYy5nb29nbGVzeW5kaWNhdGlvbi5jb20vcGltZ2FkLzY2NzQyOTE0MjYwNzI4NjEyODMpaTEmCsSU_j9A2cT9v6igqey9AVABWDuiBtsBCtgBCiUKIwin3MunuQoSGlBlb3BsZV85NjB4MTIwMC0wNF8xOjEucG5nIqwBCICAgJD-ucek_AEg8oLaASgDOosBCPEPEPEPGjxodHRwczovL3RwYy5nb29nbGVzeW5kaWNhdGlvbi5jb20vc2ltZ2FkLzY3ODYyMTQxOTUzNTM5NzUzMTUiPGh0dHBzOi8vdHBjLmdvb2dsZXN5bmRpY2F0aW9uLmNvbS9waW1nYWQvNjc4NjIxNDE5NTM1Mzk3NTMxNSkAAAAAAADwP0D3wPXYh47W8X5QAVg7ogbdAQraAQolCiMI9tjPp7kKEhpQZW9wbGVfOTYweDEyMDAtMDJfMToxLnBuZyKuAQiAgICQ_rnHsSwg8fnZASgDOo0BCJ4SEJ4SGj1odHRwczovL3RwYy5nb29nbGVzeW5kaWNhdGlvbi5jb20vc2ltZ2FkLzEwNzkwMDc4Nzc1OTk3ODk3NDg3Ij1odHRwczovL3RwYy5nb29nbGVzeW5kaWNhdGlvbi5jb20vcGltZ2FkLzEwNzkwMDc4Nzc1OTk3ODk3NDg3KQAAAAAAAPA_QLSF84OzheHPoAFQAVg7ogbUAQrRAQofCh0Iwa7xhJYIEhRTb2RhTG9nbzEyMDAgKDEpLnBuZyKrAQiAgICQoqT7-rMBIK2vAigDOosBCLAJELAJGjxodHRwczovL3RwYy5nb29nbGVzeW5kaWNhdGlvbi5jb20vc2ltZ2FkLzE4NDQxMjAyODI5NjQ1Mjk0OTYiPGh0dHBzOi8vdHBjLmdvb2dsZXN5bmRpY2F0aW9uLmNvbS9waW1nYWQvMTg0NDEyMDI4Mjk2NDUyOTQ5NikAAAAAAADwP0DZ4eek5a3htgtQAVg4CvgQCAES8xAqAKIGIwohCh0KGwj5-Oi12AjKAREKD0Z1bGx5IEF1dG9tYXRlZFggogYgCh4KGgoYCPz46LXYCMoBDgoMTm8gUGFwZXJ3b3JrWCCiBrEFCq4FCqkFCqYFCOqj756uCEqGBQoKU29kYSBieSBEQRoaUmVxdWVzdCBpbnN0YW50IGZyZWUgcXVvdGUiiwFXZSdyZSBleGNpdGVkIHRvIHNob3cgeW91IGEgYmV0dGVyIHdheSB0byBtYW5hZ2UgZW1wbG95ZWUgYmVuZWZpdHMuIEZpbGwgaW4geW91ciBkZXRhaWxzIHRvIGdldCBhIGZyZWUgb3ZlcnZpZXcgb2Ygb3VyIGFsbC1pbi1vbmUgcGxhdGZvcm0uKiNodHRwczovL3NvZGEuaW5zdXJlL3ByaXZhY3ktcG9saWN5LzIVU3VibWlzc2lvbiBzdWNjZXNzZnVsOlBUaGFua3MsIHdlJ3ZlIHJlY2VpdmVkIHlvdXIgZGV0YWlscyBhbmQgd2lsbCBiZSBpbiB0b3VjaCB3aXRoaW4gMyBidXNpbmVzcyBkYXlzLkIECAMoAEIECAwoAEIECAsoAEIECAEoAEpmCmQKOmh0dHBzOi8vaG9vay5ldTEubWFrZS5jb20vM3R0am4wdXV4eTFhZTR2Y3Uxb21ndmZlNDl1Z2I0YTISJDdhODllZTk0LWEyZGEtNDk5OC1hMzA2LWJiZmUzOGZhZGVmZBgBWgcIrJ_in64IYAFoDHIUYW5kIGdldCBhIGZyZWUgcXVvdGV4AYoBcQoaV2hhdCBzaXplIGlzIHlvdXIgY29tcGFueT8SUQoOMS0xMCBlbXBsb3llZXMKDzExLTUwIGVtcGxveWVlcwoQNTEtMjAwIGVtcGxveWVlcwoRMjAxLTUwMCBlbXBsb3llZXMKCUFib3ZlIDUwMDAAigEhCh1XaGF0IGluZHVzdHJ5IGRvIHlvdSB3b3JrIGluPzAAkgECZW5qFGh0dHBzOi8vc29kYS5pbnN1cmUvWBGiBpECCo4CCokCCoYCCISItoqWCKID-wEIBhoCZW4iTwoMU29kYSBTdGFydGVyEhZMb3ctY29zdCBwbGFuIGZvciBTTUVzGgcKA1NHRBAAIAQqHGh0dHBzOi8vc29kYS5pbnN1cmUvcHJpY2luZy8iTwoJU29kYSBQbHVzEhdJbmNsLiBub24tcGFuZWwgY2xpbmljcxoJCgNTR0QQgIl6IAQqHGh0dHBzOi8vc29kYS5pbnN1cmUvcHJpY2luZy8iUQoJU29kYSBGbGV4EhhDdXN0b21pc2VkIGZsZXggc3BlbmRpbmcaCgoDU0dEEICS9AEgBCocaHR0cHM6Ly9zb2RhLmluc3VyZS9wcmljaW5nL1gyogZ1CnMKbwptCMqY4_zACGocaHR0cHM6Ly9zb2RhLmluc3VyZS9wcmljaW5nL6oBRQoMVmlldyBQcmljaW5nEhlTaW1wbGUsIFRyYW5zcGFyZW50IFBsYW5zGhpDb21wYXJlIHBsYW5zIGFuZCBmZWF0dXJlc1gfogacAQqZAQqUAQqRAQjNmOP8wAhqMWh0dHBzOi8vc29kYS5pbnN1cmUvQUktcG93ZXJlZC1jbGFpbXMtYXV0b21hdGlvbi-qAVQKE0FJLVBvd2VyZWQgQmVuZWZpdHMSG0NsYWltcyBwcm9jZXNzZWQgaW4gc2Vjb25kcxogU3BlbmQgbGVzcyB0aW1lIGNoYXNpbmcgcmVjZWlwdHNYH6IGhAEKgQEKfQp7CNCY4_zACGoqaHR0cHM6Ly9zb2RhLmluc3VyZS9zZWxmLXNlcnZlLW9uYm9hcmRpbmcvqgFFChVTZWxmLVNlcnZlIE9uYm9hcmRpbmcSElNpZ24gdXAgaW4gbWludXRlcxoYQWRkIHlvdXIgdGVhbSBpbiBzZWNvbmRzWB-iBpEBCo4BCokBCoYBCNOY4_zACGotaHR0cHM6Ly9zb2RhLmluc3VyZS9zb2RhLWZvci1taWNyby1jb21wYW5pZXMvqgFNChZNaWNybyBDb21wYW5pZXMgKDEtMTApEh5TdGFydCBzbWFsbCwgc2NhbGUgYXMgeW91IGhpcmUaE05vIEhSIGRlcHQgcmVxdWlyZWRYH6IGlwEKlAEKjwEKjAEI1pjj_MAIai1odHRwczovL3NvZGEuaW5zdXJlL3NvZGEtZm9yLXNtYWxsLWNvbXBhbmllcy-qAVMKGFNtYWxsIEJ1c2luZXNzZXMgKDEwLTUwKRIiRG9uJ3Qgd2FzdGUgbW9uZXkgb24gaGlnaCBwcmVtaXVtcxoTU2V0IHlvdXIgb3duIGJ1ZGdldFgfogaZAQqWAQqRAQqOAQjZmOP8wAhqLmh0dHBzOi8vc29kYS5pbnN1cmUvc29kYS1mb3ItbWVkaXVtLWNvbXBhbmllcy-qAVQKFUZvciBNaWQtU2l6ZSAoNTEtMjAwKRIYU3RyZWFtbGluZSBIUiBvcGVyYXRpb25zGiFDb250cm9sIGNvc3RzICYgb3B0aW1pc2UgY292ZXJhZ2VYH6IGHQobChcKFQi8zc2ElggaDAoKU29kYSBieSBEQVgpogbNAQrKAQoXChUIkvrw0PwIEgxsb2dvICgyKS5wbmcirAEIgICAkMaH798DIM5TKAM6jQEI0QUQ0AUaPWh0dHBzOi8vdHBjLmdvb2dsZXN5bmRpY2F0aW9uLmNvbS9zaW1nYWQvMTY3MzYwOTUzMjQyOTgwMzcxNTgiPWh0dHBzOi8vdHBjLmdvb2dsZXN5bmRpY2F0aW9uLmNvbS9waW1nYWQvMTY3MzYwOTUzMjQyOTgwMzcxNTgpxFgmVKP07z9Am5_2j8-t3eamAVABWDigASQSTkFCQzJ6dVloUWdwUEtWWlo0R2VyeERDLW1TY3dXM0dBeWdHRlFSQklwc21USC1IOTJUOUZ5SXEyOXZJVnl0ZkU0VHVTNFZ5a09iMWpSUSITEgxIAVABWAFgAWgBcAEoAUIBAiiQiruT8DMwgJDkwAQ6CBABKA4wBDgAQg5BV05fQ01fRURJVElORw==" TargetMode="Externa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E89"/>
        </a:solidFill>
      </p:bgPr>
    </p:bg>
    <p:spTree>
      <p:nvGrpSpPr>
        <p:cNvPr id="15" name="Shape 15"/>
        <p:cNvGrpSpPr/>
        <p:nvPr/>
      </p:nvGrpSpPr>
      <p:grpSpPr>
        <a:xfrm>
          <a:off x="0" y="0"/>
          <a:ext cx="0" cy="0"/>
          <a:chOff x="0" y="0"/>
          <a:chExt cx="0" cy="0"/>
        </a:xfrm>
      </p:grpSpPr>
      <p:sp>
        <p:nvSpPr>
          <p:cNvPr id="16" name="Google Shape;16;p3"/>
          <p:cNvSpPr/>
          <p:nvPr/>
        </p:nvSpPr>
        <p:spPr>
          <a:xfrm>
            <a:off x="7498080" y="-1005840"/>
            <a:ext cx="2926080" cy="2926080"/>
          </a:xfrm>
          <a:prstGeom prst="ellipse">
            <a:avLst/>
          </a:prstGeom>
          <a:solidFill>
            <a:srgbClr val="0D39D8">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321040" y="3291840"/>
            <a:ext cx="2194560" cy="2194560"/>
          </a:xfrm>
          <a:prstGeom prst="ellipse">
            <a:avLst/>
          </a:prstGeom>
          <a:solidFill>
            <a:srgbClr val="0D39D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371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Arial"/>
              <a:buNone/>
            </a:pPr>
            <a:r>
              <a:rPr b="1" i="0" lang="en-US" sz="1200" u="none" cap="none" strike="noStrike">
                <a:solidFill>
                  <a:srgbClr val="CADCFC"/>
                </a:solidFill>
                <a:latin typeface="Arial"/>
                <a:ea typeface="Arial"/>
                <a:cs typeface="Arial"/>
                <a:sym typeface="Arial"/>
              </a:rPr>
              <a:t>DOCTOR ANYWHERE  ·</a:t>
            </a:r>
            <a:r>
              <a:rPr b="1" lang="en-US" sz="1200">
                <a:solidFill>
                  <a:srgbClr val="CADCFC"/>
                </a:solidFill>
              </a:rPr>
              <a:t> </a:t>
            </a:r>
            <a:r>
              <a:rPr b="1" i="0" lang="en-US" sz="1200" u="none" cap="none" strike="noStrike">
                <a:solidFill>
                  <a:srgbClr val="CADCFC"/>
                </a:solidFill>
                <a:latin typeface="Arial"/>
                <a:ea typeface="Arial"/>
                <a:cs typeface="Arial"/>
                <a:sym typeface="Arial"/>
              </a:rPr>
              <a:t> PAID MEDIA AUDIT</a:t>
            </a:r>
            <a:endParaRPr b="0" i="0" sz="1200" u="none" cap="none" strike="noStrike">
              <a:solidFill>
                <a:schemeClr val="dk1"/>
              </a:solidFill>
              <a:latin typeface="Calibri"/>
              <a:ea typeface="Calibri"/>
              <a:cs typeface="Calibri"/>
              <a:sym typeface="Calibri"/>
            </a:endParaRPr>
          </a:p>
        </p:txBody>
      </p:sp>
      <p:sp>
        <p:nvSpPr>
          <p:cNvPr id="19" name="Google Shape;19;p3"/>
          <p:cNvSpPr/>
          <p:nvPr/>
        </p:nvSpPr>
        <p:spPr>
          <a:xfrm>
            <a:off x="548640" y="178308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Arial"/>
              <a:buNone/>
            </a:pPr>
            <a:r>
              <a:rPr b="1" i="0" lang="en-US" sz="4200" u="none" cap="none" strike="noStrike">
                <a:solidFill>
                  <a:srgbClr val="FFFFFF"/>
                </a:solidFill>
                <a:latin typeface="Arial"/>
                <a:ea typeface="Arial"/>
                <a:cs typeface="Arial"/>
                <a:sym typeface="Arial"/>
              </a:rPr>
              <a:t>GHS </a:t>
            </a:r>
            <a:r>
              <a:rPr b="1" lang="en-US" sz="4200">
                <a:solidFill>
                  <a:srgbClr val="FFFFFF"/>
                </a:solidFill>
              </a:rPr>
              <a:t>&amp; SODA </a:t>
            </a:r>
            <a:r>
              <a:rPr b="1" i="0" lang="en-US" sz="4200" u="none" cap="none" strike="noStrike">
                <a:solidFill>
                  <a:srgbClr val="FFFFFF"/>
                </a:solidFill>
                <a:latin typeface="Arial"/>
                <a:ea typeface="Arial"/>
                <a:cs typeface="Arial"/>
                <a:sym typeface="Arial"/>
              </a:rPr>
              <a:t>Paid Ads</a:t>
            </a:r>
            <a:r>
              <a:rPr b="1" lang="en-US" sz="4200">
                <a:solidFill>
                  <a:srgbClr val="FFFFFF"/>
                </a:solidFill>
              </a:rPr>
              <a:t>:</a:t>
            </a:r>
            <a:r>
              <a:rPr b="1" i="0" lang="en-US" sz="4200" u="none" cap="none" strike="noStrike">
                <a:solidFill>
                  <a:srgbClr val="FFFFFF"/>
                </a:solidFill>
                <a:latin typeface="Arial"/>
                <a:ea typeface="Arial"/>
                <a:cs typeface="Arial"/>
                <a:sym typeface="Arial"/>
              </a:rPr>
              <a:t> Performance Audit</a:t>
            </a:r>
            <a:endParaRPr b="0" i="0" sz="4200" u="none" cap="none" strike="noStrike">
              <a:solidFill>
                <a:schemeClr val="dk1"/>
              </a:solidFill>
              <a:latin typeface="Calibri"/>
              <a:ea typeface="Calibri"/>
              <a:cs typeface="Calibri"/>
              <a:sym typeface="Calibri"/>
            </a:endParaRPr>
          </a:p>
        </p:txBody>
      </p:sp>
      <p:sp>
        <p:nvSpPr>
          <p:cNvPr id="20" name="Google Shape;20;p3"/>
          <p:cNvSpPr/>
          <p:nvPr/>
        </p:nvSpPr>
        <p:spPr>
          <a:xfrm>
            <a:off x="548640" y="27432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Arial"/>
              <a:buNone/>
            </a:pPr>
            <a:r>
              <a:rPr b="0" i="0" lang="en-US" sz="1600" u="none" cap="none" strike="noStrike">
                <a:solidFill>
                  <a:srgbClr val="CADCFC"/>
                </a:solidFill>
                <a:latin typeface="Arial"/>
                <a:ea typeface="Arial"/>
                <a:cs typeface="Arial"/>
                <a:sym typeface="Arial"/>
              </a:rPr>
              <a:t>Spend, return, and what we'd change next  ·  1 Jan – </a:t>
            </a:r>
            <a:r>
              <a:rPr lang="en-US" sz="1600">
                <a:solidFill>
                  <a:srgbClr val="CADCFC"/>
                </a:solidFill>
              </a:rPr>
              <a:t>30</a:t>
            </a:r>
            <a:r>
              <a:rPr b="0" i="0" lang="en-US" sz="1600" u="none" cap="none" strike="noStrike">
                <a:solidFill>
                  <a:srgbClr val="CADCFC"/>
                </a:solidFill>
                <a:latin typeface="Arial"/>
                <a:ea typeface="Arial"/>
                <a:cs typeface="Arial"/>
                <a:sym typeface="Arial"/>
              </a:rPr>
              <a:t> </a:t>
            </a:r>
            <a:r>
              <a:rPr lang="en-US" sz="1600">
                <a:solidFill>
                  <a:srgbClr val="CADCFC"/>
                </a:solidFill>
              </a:rPr>
              <a:t>June</a:t>
            </a:r>
            <a:r>
              <a:rPr b="0" i="0" lang="en-US" sz="1600" u="none" cap="none" strike="noStrike">
                <a:solidFill>
                  <a:srgbClr val="CADCFC"/>
                </a:solidFill>
                <a:latin typeface="Arial"/>
                <a:ea typeface="Arial"/>
                <a:cs typeface="Arial"/>
                <a:sym typeface="Arial"/>
              </a:rPr>
              <a:t> 2026</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Caveat</a:t>
            </a:r>
            <a:endParaRPr b="0" i="0" sz="1100" u="none" cap="none" strike="noStrike">
              <a:solidFill>
                <a:schemeClr val="dk1"/>
              </a:solidFill>
              <a:latin typeface="Calibri"/>
              <a:ea typeface="Calibri"/>
              <a:cs typeface="Calibri"/>
              <a:sym typeface="Calibri"/>
            </a:endParaRPr>
          </a:p>
        </p:txBody>
      </p:sp>
      <p:sp>
        <p:nvSpPr>
          <p:cNvPr id="28" name="Google Shape;28;p4"/>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Context </a:t>
            </a:r>
            <a:endParaRPr b="0" i="0" sz="2800" u="none" cap="none" strike="noStrike">
              <a:solidFill>
                <a:schemeClr val="dk1"/>
              </a:solidFill>
              <a:latin typeface="Calibri"/>
              <a:ea typeface="Calibri"/>
              <a:cs typeface="Calibri"/>
              <a:sym typeface="Calibri"/>
            </a:endParaRPr>
          </a:p>
        </p:txBody>
      </p:sp>
      <p:sp>
        <p:nvSpPr>
          <p:cNvPr id="29" name="Google Shape;29;p4"/>
          <p:cNvSpPr/>
          <p:nvPr/>
        </p:nvSpPr>
        <p:spPr>
          <a:xfrm>
            <a:off x="457200" y="1575008"/>
            <a:ext cx="8229600" cy="603600"/>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640080" y="1575008"/>
            <a:ext cx="1554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Context</a:t>
            </a:r>
            <a:endParaRPr b="1" sz="1100">
              <a:solidFill>
                <a:srgbClr val="0D39D8"/>
              </a:solidFill>
            </a:endParaRPr>
          </a:p>
        </p:txBody>
      </p:sp>
      <p:sp>
        <p:nvSpPr>
          <p:cNvPr id="31" name="Google Shape;31;p4"/>
          <p:cNvSpPr/>
          <p:nvPr/>
        </p:nvSpPr>
        <p:spPr>
          <a:xfrm>
            <a:off x="2194560" y="1575008"/>
            <a:ext cx="63552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lang="en-US" sz="1050">
                <a:solidFill>
                  <a:srgbClr val="575757"/>
                </a:solidFill>
              </a:rPr>
              <a:t>2025 was Google-heavy; 2026 introduced new channel testing across the mix.</a:t>
            </a:r>
            <a:endParaRPr sz="1050">
              <a:solidFill>
                <a:srgbClr val="575757"/>
              </a:solidFill>
            </a:endParaRPr>
          </a:p>
        </p:txBody>
      </p:sp>
      <p:sp>
        <p:nvSpPr>
          <p:cNvPr id="32" name="Google Shape;32;p4"/>
          <p:cNvSpPr/>
          <p:nvPr/>
        </p:nvSpPr>
        <p:spPr>
          <a:xfrm>
            <a:off x="457200" y="2269952"/>
            <a:ext cx="8229600" cy="603600"/>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40080" y="2269952"/>
            <a:ext cx="1554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Attribution</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2194560" y="2269952"/>
            <a:ext cx="63552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lang="en-US" sz="1050">
                <a:solidFill>
                  <a:srgbClr val="575757"/>
                </a:solidFill>
              </a:rPr>
              <a:t>Working under a constrained condition with no Singular cross-channel attribution — Joined VC tracking exists on Google only. Singular integration is in the works to close this gap; figures should be read as directional until live.</a:t>
            </a:r>
            <a:endParaRPr sz="1050">
              <a:solidFill>
                <a:srgbClr val="575757"/>
              </a:solidFill>
            </a:endParaRPr>
          </a:p>
        </p:txBody>
      </p:sp>
      <p:sp>
        <p:nvSpPr>
          <p:cNvPr id="35" name="Google Shape;35;p4"/>
          <p:cNvSpPr/>
          <p:nvPr/>
        </p:nvSpPr>
        <p:spPr>
          <a:xfrm>
            <a:off x="457200" y="2964896"/>
            <a:ext cx="8229600" cy="603600"/>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40080" y="2964896"/>
            <a:ext cx="1554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Funnel shift</a:t>
            </a:r>
            <a:endParaRPr b="1" sz="1100">
              <a:solidFill>
                <a:srgbClr val="0D39D8"/>
              </a:solidFill>
            </a:endParaRPr>
          </a:p>
        </p:txBody>
      </p:sp>
      <p:sp>
        <p:nvSpPr>
          <p:cNvPr id="37" name="Google Shape;37;p4"/>
          <p:cNvSpPr/>
          <p:nvPr/>
        </p:nvSpPr>
        <p:spPr>
          <a:xfrm>
            <a:off x="2194560" y="2964896"/>
            <a:ext cx="63552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lang="en-US" sz="1050">
                <a:solidFill>
                  <a:srgbClr val="575757"/>
                </a:solidFill>
              </a:rPr>
              <a:t>2025 focused on bottom-funnel, conversion-ready demand; 2026 expanded into full-funnel activity across the new channels. Some underperformance in this period reflects early-stage upper and mid-funnel learning, not steady-state channel performance.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5"/>
          <p:cNvSpPr/>
          <p:nvPr/>
        </p:nvSpPr>
        <p:spPr>
          <a:xfrm>
            <a:off x="457200" y="17373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640080" y="10057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Learnings </a:t>
            </a:r>
            <a:endParaRPr b="0" i="0" sz="1100" u="none" cap="none" strike="noStrike">
              <a:solidFill>
                <a:schemeClr val="dk1"/>
              </a:solidFill>
              <a:latin typeface="Calibri"/>
              <a:ea typeface="Calibri"/>
              <a:cs typeface="Calibri"/>
              <a:sym typeface="Calibri"/>
            </a:endParaRPr>
          </a:p>
        </p:txBody>
      </p:sp>
      <p:sp>
        <p:nvSpPr>
          <p:cNvPr id="45" name="Google Shape;45;p5"/>
          <p:cNvSpPr/>
          <p:nvPr/>
        </p:nvSpPr>
        <p:spPr>
          <a:xfrm>
            <a:off x="457200" y="36575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Overall learnings from H1 2026</a:t>
            </a:r>
            <a:endParaRPr b="0" i="0" sz="2800" u="none" cap="none" strike="noStrike">
              <a:solidFill>
                <a:schemeClr val="dk1"/>
              </a:solidFill>
              <a:latin typeface="Calibri"/>
              <a:ea typeface="Calibri"/>
              <a:cs typeface="Calibri"/>
              <a:sym typeface="Calibri"/>
            </a:endParaRPr>
          </a:p>
        </p:txBody>
      </p:sp>
      <p:graphicFrame>
        <p:nvGraphicFramePr>
          <p:cNvPr id="46" name="Google Shape;46;p5"/>
          <p:cNvGraphicFramePr/>
          <p:nvPr/>
        </p:nvGraphicFramePr>
        <p:xfrm>
          <a:off x="427513" y="1042575"/>
          <a:ext cx="3000000" cy="3000000"/>
        </p:xfrm>
        <a:graphic>
          <a:graphicData uri="http://schemas.openxmlformats.org/drawingml/2006/table">
            <a:tbl>
              <a:tblPr>
                <a:noFill/>
                <a:tableStyleId>{2ABEFD74-6946-4D7A-ABE7-456227482ED9}</a:tableStyleId>
              </a:tblPr>
              <a:tblGrid>
                <a:gridCol w="923550"/>
                <a:gridCol w="3571300"/>
                <a:gridCol w="3794125"/>
              </a:tblGrid>
              <a:tr h="381000">
                <a:tc>
                  <a:txBody>
                    <a:bodyPr/>
                    <a:lstStyle/>
                    <a:p>
                      <a:pPr indent="0" lvl="0" marL="0" marR="0" rtl="0" algn="ctr">
                        <a:spcBef>
                          <a:spcPts val="0"/>
                        </a:spcBef>
                        <a:spcAft>
                          <a:spcPts val="0"/>
                        </a:spcAft>
                        <a:buClr>
                          <a:srgbClr val="FFFFFF"/>
                        </a:buClr>
                        <a:buSzPts val="1000"/>
                        <a:buFont typeface="Arial"/>
                        <a:buNone/>
                      </a:pPr>
                      <a:r>
                        <a:rPr b="1" lang="en-US" sz="1200">
                          <a:solidFill>
                            <a:srgbClr val="FFFFFF"/>
                          </a:solidFill>
                        </a:rPr>
                        <a:t>No</a:t>
                      </a:r>
                      <a:endParaRPr sz="12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ctr">
                        <a:spcBef>
                          <a:spcPts val="0"/>
                        </a:spcBef>
                        <a:spcAft>
                          <a:spcPts val="0"/>
                        </a:spcAft>
                        <a:buClr>
                          <a:srgbClr val="FFFFFF"/>
                        </a:buClr>
                        <a:buSzPts val="1000"/>
                        <a:buFont typeface="Arial"/>
                        <a:buNone/>
                      </a:pPr>
                      <a:r>
                        <a:rPr b="1" lang="en-US" sz="1200">
                          <a:solidFill>
                            <a:srgbClr val="FFFFFF"/>
                          </a:solidFill>
                        </a:rPr>
                        <a:t>Learnings</a:t>
                      </a:r>
                      <a:endParaRPr sz="12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ctr">
                        <a:spcBef>
                          <a:spcPts val="0"/>
                        </a:spcBef>
                        <a:spcAft>
                          <a:spcPts val="0"/>
                        </a:spcAft>
                        <a:buClr>
                          <a:srgbClr val="FFFFFF"/>
                        </a:buClr>
                        <a:buSzPts val="1000"/>
                        <a:buFont typeface="Arial"/>
                        <a:buNone/>
                      </a:pPr>
                      <a:r>
                        <a:rPr b="1" lang="en-US" sz="1200">
                          <a:solidFill>
                            <a:srgbClr val="FFFFFF"/>
                          </a:solidFill>
                        </a:rPr>
                        <a:t>How it shaped the recommendation</a:t>
                      </a:r>
                      <a:endParaRPr sz="12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381000">
                <a:tc>
                  <a:txBody>
                    <a:bodyPr/>
                    <a:lstStyle/>
                    <a:p>
                      <a:pPr indent="0" lvl="0" marL="0" rtl="0" algn="ctr">
                        <a:spcBef>
                          <a:spcPts val="0"/>
                        </a:spcBef>
                        <a:spcAft>
                          <a:spcPts val="0"/>
                        </a:spcAft>
                        <a:buNone/>
                      </a:pPr>
                      <a:r>
                        <a:rPr lang="en-US" sz="900"/>
                        <a:t>1</a:t>
                      </a:r>
                      <a:endParaRPr sz="900"/>
                    </a:p>
                  </a:txBody>
                  <a:tcPr marT="91425" marB="91425" marR="91425" marL="91425">
                    <a:lnT cap="flat" cmpd="sng" w="9525">
                      <a:solidFill>
                        <a:srgbClr val="EEEFF0"/>
                      </a:solidFill>
                      <a:prstDash val="solid"/>
                      <a:round/>
                      <a:headEnd len="sm" w="sm" type="none"/>
                      <a:tailEnd len="sm" w="sm" type="none"/>
                    </a:lnT>
                  </a:tcPr>
                </a:tc>
                <a:tc>
                  <a:txBody>
                    <a:bodyPr/>
                    <a:lstStyle/>
                    <a:p>
                      <a:pPr indent="0" lvl="0" marL="0" rtl="0" algn="l">
                        <a:spcBef>
                          <a:spcPts val="0"/>
                        </a:spcBef>
                        <a:spcAft>
                          <a:spcPts val="0"/>
                        </a:spcAft>
                        <a:buNone/>
                      </a:pPr>
                      <a:r>
                        <a:rPr b="1" lang="en-US" sz="900">
                          <a:solidFill>
                            <a:srgbClr val="C77F00"/>
                          </a:solidFill>
                        </a:rPr>
                        <a:t>Some of our data foundations need work.</a:t>
                      </a:r>
                      <a:endParaRPr b="1" sz="900">
                        <a:solidFill>
                          <a:srgbClr val="C77F00"/>
                        </a:solidFill>
                      </a:endParaRPr>
                    </a:p>
                    <a:p>
                      <a:pPr indent="0" lvl="0" marL="0" rtl="0" algn="l">
                        <a:spcBef>
                          <a:spcPts val="0"/>
                        </a:spcBef>
                        <a:spcAft>
                          <a:spcPts val="0"/>
                        </a:spcAft>
                        <a:buNone/>
                      </a:pPr>
                      <a:r>
                        <a:rPr lang="en-US" sz="900"/>
                        <a:t>A few channels lack revenue tracking (Meta/ASA on VC, SODA beyond Google), and some AOVs are narrower than the real service scope (MOBS), so a few "weak" numbers may reflect gaps, not real underperformance.</a:t>
                      </a:r>
                      <a:endParaRPr sz="900"/>
                    </a:p>
                  </a:txBody>
                  <a:tcPr marT="91425" marB="91425" marR="91425" marL="91425">
                    <a:lnT cap="flat" cmpd="sng" w="9525">
                      <a:solidFill>
                        <a:srgbClr val="EEEFF0"/>
                      </a:solidFill>
                      <a:prstDash val="solid"/>
                      <a:round/>
                      <a:headEnd len="sm" w="sm" type="none"/>
                      <a:tailEnd len="sm" w="sm" type="none"/>
                    </a:lnT>
                  </a:tcPr>
                </a:tc>
                <a:tc>
                  <a:txBody>
                    <a:bodyPr/>
                    <a:lstStyle/>
                    <a:p>
                      <a:pPr indent="0" lvl="0" marL="0" rtl="0" algn="l">
                        <a:spcBef>
                          <a:spcPts val="0"/>
                        </a:spcBef>
                        <a:spcAft>
                          <a:spcPts val="0"/>
                        </a:spcAft>
                        <a:buNone/>
                      </a:pPr>
                      <a:r>
                        <a:rPr lang="en-US" sz="900"/>
                        <a:t>We're holding spend steady on those channels and prioritizing the tracking/AOV fixes before making bigger calls.</a:t>
                      </a:r>
                      <a:endParaRPr sz="900"/>
                    </a:p>
                  </a:txBody>
                  <a:tcPr marT="91425" marB="91425" marR="91425" marL="91425">
                    <a:lnT cap="flat" cmpd="sng" w="9525">
                      <a:solidFill>
                        <a:srgbClr val="EEEFF0"/>
                      </a:solidFill>
                      <a:prstDash val="solid"/>
                      <a:round/>
                      <a:headEnd len="sm" w="sm" type="none"/>
                      <a:tailEnd len="sm" w="sm" type="none"/>
                    </a:lnT>
                  </a:tcPr>
                </a:tc>
              </a:tr>
              <a:tr h="381000">
                <a:tc>
                  <a:txBody>
                    <a:bodyPr/>
                    <a:lstStyle/>
                    <a:p>
                      <a:pPr indent="0" lvl="0" marL="0" rtl="0" algn="ctr">
                        <a:spcBef>
                          <a:spcPts val="0"/>
                        </a:spcBef>
                        <a:spcAft>
                          <a:spcPts val="0"/>
                        </a:spcAft>
                        <a:buNone/>
                      </a:pPr>
                      <a:r>
                        <a:rPr lang="en-US" sz="900"/>
                        <a:t>2</a:t>
                      </a:r>
                      <a:endParaRPr sz="900"/>
                    </a:p>
                  </a:txBody>
                  <a:tcPr marT="91425" marB="91425" marR="91425" marL="91425"/>
                </a:tc>
                <a:tc>
                  <a:txBody>
                    <a:bodyPr/>
                    <a:lstStyle/>
                    <a:p>
                      <a:pPr indent="0" lvl="0" marL="0" rtl="0" algn="l">
                        <a:spcBef>
                          <a:spcPts val="0"/>
                        </a:spcBef>
                        <a:spcAft>
                          <a:spcPts val="0"/>
                        </a:spcAft>
                        <a:buNone/>
                      </a:pPr>
                      <a:r>
                        <a:rPr b="1" lang="en-US" sz="900">
                          <a:solidFill>
                            <a:srgbClr val="C77F00"/>
                          </a:solidFill>
                        </a:rPr>
                        <a:t>Creative angle seems to matter more than the channel itself</a:t>
                      </a:r>
                      <a:r>
                        <a:rPr lang="en-US" sz="900">
                          <a:solidFill>
                            <a:srgbClr val="C77F00"/>
                          </a:solidFill>
                        </a:rPr>
                        <a:t>.</a:t>
                      </a:r>
                      <a:endParaRPr sz="900">
                        <a:solidFill>
                          <a:srgbClr val="C77F00"/>
                        </a:solidFill>
                      </a:endParaRPr>
                    </a:p>
                    <a:p>
                      <a:pPr indent="0" lvl="0" marL="0" rtl="0" algn="l">
                        <a:spcBef>
                          <a:spcPts val="0"/>
                        </a:spcBef>
                        <a:spcAft>
                          <a:spcPts val="0"/>
                        </a:spcAft>
                        <a:buNone/>
                      </a:pPr>
                      <a:r>
                        <a:rPr lang="en-US" sz="900"/>
                        <a:t>Each top-performing ad won by speaking to one specific concern, such as speed, lifestyle, customisation, loss-aversion, rather than a generic pitch.</a:t>
                      </a:r>
                      <a:endParaRPr sz="900"/>
                    </a:p>
                  </a:txBody>
                  <a:tcPr marT="91425" marB="91425" marR="91425" marL="91425"/>
                </a:tc>
                <a:tc>
                  <a:txBody>
                    <a:bodyPr/>
                    <a:lstStyle/>
                    <a:p>
                      <a:pPr indent="0" lvl="0" marL="0" rtl="0" algn="l">
                        <a:spcBef>
                          <a:spcPts val="0"/>
                        </a:spcBef>
                        <a:spcAft>
                          <a:spcPts val="0"/>
                        </a:spcAft>
                        <a:buNone/>
                      </a:pPr>
                      <a:r>
                        <a:rPr lang="en-US" sz="900"/>
                        <a:t>Extending MedSuites' lifestyle-led creative to VC's Meta ads, which still leans towards purchase-intent audiences.</a:t>
                      </a:r>
                      <a:endParaRPr sz="900"/>
                    </a:p>
                  </a:txBody>
                  <a:tcPr marT="91425" marB="91425" marR="91425" marL="91425"/>
                </a:tc>
              </a:tr>
              <a:tr h="381000">
                <a:tc>
                  <a:txBody>
                    <a:bodyPr/>
                    <a:lstStyle/>
                    <a:p>
                      <a:pPr indent="0" lvl="0" marL="0" rtl="0" algn="ctr">
                        <a:spcBef>
                          <a:spcPts val="0"/>
                        </a:spcBef>
                        <a:spcAft>
                          <a:spcPts val="0"/>
                        </a:spcAft>
                        <a:buNone/>
                      </a:pPr>
                      <a:r>
                        <a:rPr lang="en-US" sz="900"/>
                        <a:t>3</a:t>
                      </a:r>
                      <a:endParaRPr sz="900"/>
                    </a:p>
                  </a:txBody>
                  <a:tcPr marT="91425" marB="91425" marR="91425" marL="91425"/>
                </a:tc>
                <a:tc>
                  <a:txBody>
                    <a:bodyPr/>
                    <a:lstStyle/>
                    <a:p>
                      <a:pPr indent="0" lvl="0" marL="0" rtl="0" algn="l">
                        <a:spcBef>
                          <a:spcPts val="0"/>
                        </a:spcBef>
                        <a:spcAft>
                          <a:spcPts val="0"/>
                        </a:spcAft>
                        <a:buNone/>
                      </a:pPr>
                      <a:r>
                        <a:rPr b="1" lang="en-US" sz="900">
                          <a:solidFill>
                            <a:srgbClr val="C77F00"/>
                          </a:solidFill>
                        </a:rPr>
                        <a:t>Meta performs very differently depending on the product</a:t>
                      </a:r>
                      <a:r>
                        <a:rPr lang="en-US" sz="900">
                          <a:solidFill>
                            <a:srgbClr val="C77F00"/>
                          </a:solidFill>
                        </a:rPr>
                        <a:t>.</a:t>
                      </a:r>
                      <a:endParaRPr sz="900">
                        <a:solidFill>
                          <a:srgbClr val="C77F00"/>
                        </a:solidFill>
                      </a:endParaRPr>
                    </a:p>
                    <a:p>
                      <a:pPr indent="0" lvl="0" marL="0" rtl="0" algn="l">
                        <a:spcBef>
                          <a:spcPts val="0"/>
                        </a:spcBef>
                        <a:spcAft>
                          <a:spcPts val="0"/>
                        </a:spcAft>
                        <a:buNone/>
                      </a:pPr>
                      <a:r>
                        <a:rPr lang="en-US" sz="900"/>
                        <a:t>It's MedSuites' strongest channel and MOBS' weakest.</a:t>
                      </a:r>
                      <a:endParaRPr sz="900"/>
                    </a:p>
                  </a:txBody>
                  <a:tcPr marT="91425" marB="91425" marR="91425" marL="91425"/>
                </a:tc>
                <a:tc>
                  <a:txBody>
                    <a:bodyPr/>
                    <a:lstStyle/>
                    <a:p>
                      <a:pPr indent="0" lvl="0" marL="0" rtl="0" algn="l">
                        <a:spcBef>
                          <a:spcPts val="0"/>
                        </a:spcBef>
                        <a:spcAft>
                          <a:spcPts val="0"/>
                        </a:spcAft>
                        <a:buNone/>
                      </a:pPr>
                      <a:r>
                        <a:rPr lang="en-US" sz="900"/>
                        <a:t>Shifting Meta budget from MOBS toward MedSuites, the clearest reallocation we found.</a:t>
                      </a:r>
                      <a:endParaRPr sz="900"/>
                    </a:p>
                  </a:txBody>
                  <a:tcPr marT="91425" marB="91425" marR="91425" marL="91425"/>
                </a:tc>
              </a:tr>
              <a:tr h="381000">
                <a:tc>
                  <a:txBody>
                    <a:bodyPr/>
                    <a:lstStyle/>
                    <a:p>
                      <a:pPr indent="0" lvl="0" marL="0" rtl="0" algn="ctr">
                        <a:spcBef>
                          <a:spcPts val="0"/>
                        </a:spcBef>
                        <a:spcAft>
                          <a:spcPts val="0"/>
                        </a:spcAft>
                        <a:buNone/>
                      </a:pPr>
                      <a:r>
                        <a:rPr lang="en-US" sz="900"/>
                        <a:t>4</a:t>
                      </a:r>
                      <a:endParaRPr sz="900"/>
                    </a:p>
                  </a:txBody>
                  <a:tcPr marT="91425" marB="91425" marR="91425" marL="91425"/>
                </a:tc>
                <a:tc>
                  <a:txBody>
                    <a:bodyPr/>
                    <a:lstStyle/>
                    <a:p>
                      <a:pPr indent="0" lvl="0" marL="0" rtl="0" algn="l">
                        <a:spcBef>
                          <a:spcPts val="0"/>
                        </a:spcBef>
                        <a:spcAft>
                          <a:spcPts val="0"/>
                        </a:spcAft>
                        <a:buNone/>
                      </a:pPr>
                      <a:r>
                        <a:rPr b="1" lang="en-US" sz="900">
                          <a:solidFill>
                            <a:srgbClr val="C77F00"/>
                          </a:solidFill>
                        </a:rPr>
                        <a:t>LinkedIn hasn't found its fit yet.</a:t>
                      </a:r>
                      <a:endParaRPr b="1" sz="900">
                        <a:solidFill>
                          <a:srgbClr val="C77F00"/>
                        </a:solidFill>
                      </a:endParaRPr>
                    </a:p>
                    <a:p>
                      <a:pPr indent="0" lvl="0" marL="0" rtl="0" algn="l">
                        <a:spcBef>
                          <a:spcPts val="0"/>
                        </a:spcBef>
                        <a:spcAft>
                          <a:spcPts val="0"/>
                        </a:spcAft>
                        <a:buNone/>
                      </a:pPr>
                      <a:r>
                        <a:rPr lang="en-US" sz="900"/>
                        <a:t>High cost, little confirmed return across both MOBS and SODA.</a:t>
                      </a:r>
                      <a:endParaRPr sz="900"/>
                    </a:p>
                  </a:txBody>
                  <a:tcPr marT="91425" marB="91425" marR="91425" marL="91425"/>
                </a:tc>
                <a:tc>
                  <a:txBody>
                    <a:bodyPr/>
                    <a:lstStyle/>
                    <a:p>
                      <a:pPr indent="0" lvl="0" marL="0" rtl="0" algn="l">
                        <a:spcBef>
                          <a:spcPts val="0"/>
                        </a:spcBef>
                        <a:spcAft>
                          <a:spcPts val="0"/>
                        </a:spcAft>
                        <a:buNone/>
                      </a:pPr>
                      <a:r>
                        <a:rPr lang="en-US" sz="900"/>
                        <a:t>Paused in both MOBS and SODA, with spend redirected to stronger channels.</a:t>
                      </a:r>
                      <a:endParaRPr sz="900"/>
                    </a:p>
                  </a:txBody>
                  <a:tcPr marT="91425" marB="91425" marR="91425" marL="91425"/>
                </a:tc>
              </a:tr>
              <a:tr h="381000">
                <a:tc>
                  <a:txBody>
                    <a:bodyPr/>
                    <a:lstStyle/>
                    <a:p>
                      <a:pPr indent="0" lvl="0" marL="0" rtl="0" algn="ctr">
                        <a:spcBef>
                          <a:spcPts val="0"/>
                        </a:spcBef>
                        <a:spcAft>
                          <a:spcPts val="0"/>
                        </a:spcAft>
                        <a:buNone/>
                      </a:pPr>
                      <a:r>
                        <a:rPr lang="en-US" sz="900"/>
                        <a:t>5</a:t>
                      </a:r>
                      <a:endParaRPr sz="900"/>
                    </a:p>
                  </a:txBody>
                  <a:tcPr marT="91425" marB="91425" marR="91425" marL="91425"/>
                </a:tc>
                <a:tc>
                  <a:txBody>
                    <a:bodyPr/>
                    <a:lstStyle/>
                    <a:p>
                      <a:pPr indent="0" lvl="0" marL="0" rtl="0" algn="l">
                        <a:spcBef>
                          <a:spcPts val="0"/>
                        </a:spcBef>
                        <a:spcAft>
                          <a:spcPts val="0"/>
                        </a:spcAft>
                        <a:buNone/>
                      </a:pPr>
                      <a:r>
                        <a:rPr b="1" lang="en-US" sz="900">
                          <a:solidFill>
                            <a:srgbClr val="C77F00"/>
                          </a:solidFill>
                        </a:rPr>
                        <a:t>H1 2026 was a deliberate testing period</a:t>
                      </a:r>
                      <a:r>
                        <a:rPr lang="en-US" sz="900">
                          <a:solidFill>
                            <a:srgbClr val="C77F00"/>
                          </a:solidFill>
                        </a:rPr>
                        <a:t>.</a:t>
                      </a:r>
                      <a:endParaRPr sz="900">
                        <a:solidFill>
                          <a:srgbClr val="C77F00"/>
                        </a:solidFill>
                      </a:endParaRPr>
                    </a:p>
                    <a:p>
                      <a:pPr indent="0" lvl="0" marL="0" rtl="0" algn="l">
                        <a:spcBef>
                          <a:spcPts val="0"/>
                        </a:spcBef>
                        <a:spcAft>
                          <a:spcPts val="0"/>
                        </a:spcAft>
                        <a:buNone/>
                      </a:pPr>
                      <a:r>
                        <a:rPr lang="en-US" sz="900"/>
                        <a:t>We moved from 2025's Google-heavy, bottom-funnel focus to testing new channels across the full funnel, so some softness likely reflects early learning rather than failure.</a:t>
                      </a:r>
                      <a:endParaRPr sz="900"/>
                    </a:p>
                  </a:txBody>
                  <a:tcPr marT="91425" marB="91425" marR="91425" marL="91425"/>
                </a:tc>
                <a:tc>
                  <a:txBody>
                    <a:bodyPr/>
                    <a:lstStyle/>
                    <a:p>
                      <a:pPr indent="0" lvl="0" marL="0" rtl="0" algn="l">
                        <a:spcBef>
                          <a:spcPts val="0"/>
                        </a:spcBef>
                        <a:spcAft>
                          <a:spcPts val="0"/>
                        </a:spcAft>
                        <a:buNone/>
                      </a:pPr>
                      <a:r>
                        <a:rPr lang="en-US" sz="900"/>
                        <a:t>Keeping smaller awareness channels like TikTok running rather than cutting on ROAS alone, while pausing genuinely dead spend like Taboola.</a:t>
                      </a:r>
                      <a:endParaRPr sz="9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6"/>
          <p:cNvSpPr/>
          <p:nvPr/>
        </p:nvSpPr>
        <p:spPr>
          <a:xfrm>
            <a:off x="457200" y="411480"/>
            <a:ext cx="118872" cy="118872"/>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640080" y="33832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EXECUTIVE SUMMARY - GHS</a:t>
            </a:r>
            <a:endParaRPr b="0" i="0" sz="1100" u="none" cap="none" strike="noStrike">
              <a:solidFill>
                <a:schemeClr val="dk1"/>
              </a:solidFill>
              <a:latin typeface="Calibri"/>
              <a:ea typeface="Calibri"/>
              <a:cs typeface="Calibri"/>
              <a:sym typeface="Calibri"/>
            </a:endParaRPr>
          </a:p>
        </p:txBody>
      </p:sp>
      <p:sp>
        <p:nvSpPr>
          <p:cNvPr id="54" name="Google Shape;54;p6"/>
          <p:cNvSpPr/>
          <p:nvPr/>
        </p:nvSpPr>
        <p:spPr>
          <a:xfrm>
            <a:off x="457200" y="60350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Spend &amp; return at a glance</a:t>
            </a:r>
            <a:endParaRPr b="0" i="0" sz="2800" u="none" cap="none" strike="noStrike">
              <a:solidFill>
                <a:schemeClr val="dk1"/>
              </a:solidFill>
              <a:latin typeface="Calibri"/>
              <a:ea typeface="Calibri"/>
              <a:cs typeface="Calibri"/>
              <a:sym typeface="Calibri"/>
            </a:endParaRPr>
          </a:p>
        </p:txBody>
      </p:sp>
      <p:sp>
        <p:nvSpPr>
          <p:cNvPr id="55" name="Google Shape;55;p6"/>
          <p:cNvSpPr/>
          <p:nvPr/>
        </p:nvSpPr>
        <p:spPr>
          <a:xfrm>
            <a:off x="457200" y="1325880"/>
            <a:ext cx="26060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621792" y="1444752"/>
            <a:ext cx="2331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TOTAL PAID SPEND</a:t>
            </a:r>
            <a:endParaRPr b="0" i="0" sz="1000" u="none" cap="none" strike="noStrike">
              <a:solidFill>
                <a:schemeClr val="dk1"/>
              </a:solidFill>
              <a:latin typeface="Calibri"/>
              <a:ea typeface="Calibri"/>
              <a:cs typeface="Calibri"/>
              <a:sym typeface="Calibri"/>
            </a:endParaRPr>
          </a:p>
        </p:txBody>
      </p:sp>
      <p:sp>
        <p:nvSpPr>
          <p:cNvPr id="57" name="Google Shape;57;p6"/>
          <p:cNvSpPr/>
          <p:nvPr/>
        </p:nvSpPr>
        <p:spPr>
          <a:xfrm>
            <a:off x="621792" y="1655064"/>
            <a:ext cx="2331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$543,326.39</a:t>
            </a:r>
            <a:endParaRPr b="0" i="0" sz="2400" u="none" cap="none" strike="noStrike">
              <a:solidFill>
                <a:schemeClr val="dk1"/>
              </a:solidFill>
              <a:latin typeface="Calibri"/>
              <a:ea typeface="Calibri"/>
              <a:cs typeface="Calibri"/>
              <a:sym typeface="Calibri"/>
            </a:endParaRPr>
          </a:p>
        </p:txBody>
      </p:sp>
      <p:sp>
        <p:nvSpPr>
          <p:cNvPr id="58" name="Google Shape;58;p6"/>
          <p:cNvSpPr/>
          <p:nvPr/>
        </p:nvSpPr>
        <p:spPr>
          <a:xfrm>
            <a:off x="621792" y="2039112"/>
            <a:ext cx="2331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Jan–</a:t>
            </a:r>
            <a:r>
              <a:rPr i="1" lang="en-US" sz="850">
                <a:solidFill>
                  <a:srgbClr val="96999B"/>
                </a:solidFill>
              </a:rPr>
              <a:t>June</a:t>
            </a:r>
            <a:r>
              <a:rPr b="0" i="1" lang="en-US" sz="850" u="none" cap="none" strike="noStrike">
                <a:solidFill>
                  <a:srgbClr val="96999B"/>
                </a:solidFill>
                <a:latin typeface="Arial"/>
                <a:ea typeface="Arial"/>
                <a:cs typeface="Arial"/>
                <a:sym typeface="Arial"/>
              </a:rPr>
              <a:t> · VC + MedSuites + MOBS</a:t>
            </a:r>
            <a:endParaRPr b="0" i="0" sz="850" u="none" cap="none" strike="noStrike">
              <a:solidFill>
                <a:schemeClr val="dk1"/>
              </a:solidFill>
              <a:latin typeface="Calibri"/>
              <a:ea typeface="Calibri"/>
              <a:cs typeface="Calibri"/>
              <a:sym typeface="Calibri"/>
            </a:endParaRPr>
          </a:p>
        </p:txBody>
      </p:sp>
      <p:sp>
        <p:nvSpPr>
          <p:cNvPr id="59" name="Google Shape;59;p6"/>
          <p:cNvSpPr/>
          <p:nvPr/>
        </p:nvSpPr>
        <p:spPr>
          <a:xfrm>
            <a:off x="3246120" y="1325880"/>
            <a:ext cx="26060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3410712" y="1444752"/>
            <a:ext cx="2331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TOTAL REVENUE</a:t>
            </a:r>
            <a:endParaRPr b="0" i="0" sz="1000" u="none" cap="none" strike="noStrike">
              <a:solidFill>
                <a:schemeClr val="dk1"/>
              </a:solidFill>
              <a:latin typeface="Calibri"/>
              <a:ea typeface="Calibri"/>
              <a:cs typeface="Calibri"/>
              <a:sym typeface="Calibri"/>
            </a:endParaRPr>
          </a:p>
        </p:txBody>
      </p:sp>
      <p:sp>
        <p:nvSpPr>
          <p:cNvPr id="61" name="Google Shape;61;p6"/>
          <p:cNvSpPr/>
          <p:nvPr/>
        </p:nvSpPr>
        <p:spPr>
          <a:xfrm>
            <a:off x="3410712" y="1655064"/>
            <a:ext cx="2331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$1,204,277.78</a:t>
            </a:r>
            <a:endParaRPr b="0" i="0" sz="2400" u="none" cap="none" strike="noStrike">
              <a:solidFill>
                <a:schemeClr val="dk1"/>
              </a:solidFill>
              <a:latin typeface="Calibri"/>
              <a:ea typeface="Calibri"/>
              <a:cs typeface="Calibri"/>
              <a:sym typeface="Calibri"/>
            </a:endParaRPr>
          </a:p>
        </p:txBody>
      </p:sp>
      <p:sp>
        <p:nvSpPr>
          <p:cNvPr id="62" name="Google Shape;62;p6"/>
          <p:cNvSpPr/>
          <p:nvPr/>
        </p:nvSpPr>
        <p:spPr>
          <a:xfrm>
            <a:off x="3410712" y="2039112"/>
            <a:ext cx="2331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conversions × avg bill</a:t>
            </a:r>
            <a:endParaRPr b="0" i="0" sz="850" u="none" cap="none" strike="noStrike">
              <a:solidFill>
                <a:schemeClr val="dk1"/>
              </a:solidFill>
              <a:latin typeface="Calibri"/>
              <a:ea typeface="Calibri"/>
              <a:cs typeface="Calibri"/>
              <a:sym typeface="Calibri"/>
            </a:endParaRPr>
          </a:p>
        </p:txBody>
      </p:sp>
      <p:sp>
        <p:nvSpPr>
          <p:cNvPr id="63" name="Google Shape;63;p6"/>
          <p:cNvSpPr/>
          <p:nvPr/>
        </p:nvSpPr>
        <p:spPr>
          <a:xfrm>
            <a:off x="6035040" y="1325880"/>
            <a:ext cx="26060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6199632" y="1444752"/>
            <a:ext cx="2331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BLENDED ROAS</a:t>
            </a:r>
            <a:endParaRPr b="0" i="0" sz="1000" u="none" cap="none" strike="noStrike">
              <a:solidFill>
                <a:schemeClr val="dk1"/>
              </a:solidFill>
              <a:latin typeface="Calibri"/>
              <a:ea typeface="Calibri"/>
              <a:cs typeface="Calibri"/>
              <a:sym typeface="Calibri"/>
            </a:endParaRPr>
          </a:p>
        </p:txBody>
      </p:sp>
      <p:sp>
        <p:nvSpPr>
          <p:cNvPr id="65" name="Google Shape;65;p6"/>
          <p:cNvSpPr/>
          <p:nvPr/>
        </p:nvSpPr>
        <p:spPr>
          <a:xfrm>
            <a:off x="6199632" y="1655064"/>
            <a:ext cx="2331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2.22x</a:t>
            </a:r>
            <a:endParaRPr b="0" i="0" sz="2400" u="none" cap="none" strike="noStrike">
              <a:solidFill>
                <a:schemeClr val="dk1"/>
              </a:solidFill>
              <a:latin typeface="Calibri"/>
              <a:ea typeface="Calibri"/>
              <a:cs typeface="Calibri"/>
              <a:sym typeface="Calibri"/>
            </a:endParaRPr>
          </a:p>
        </p:txBody>
      </p:sp>
      <p:sp>
        <p:nvSpPr>
          <p:cNvPr id="66" name="Google Shape;66;p6"/>
          <p:cNvSpPr/>
          <p:nvPr/>
        </p:nvSpPr>
        <p:spPr>
          <a:xfrm>
            <a:off x="6199632" y="2039112"/>
            <a:ext cx="2331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spend</a:t>
            </a:r>
            <a:endParaRPr b="0" i="0" sz="850" u="none" cap="none" strike="noStrike">
              <a:solidFill>
                <a:schemeClr val="dk1"/>
              </a:solidFill>
              <a:latin typeface="Calibri"/>
              <a:ea typeface="Calibri"/>
              <a:cs typeface="Calibri"/>
              <a:sym typeface="Calibri"/>
            </a:endParaRPr>
          </a:p>
        </p:txBody>
      </p:sp>
      <p:graphicFrame>
        <p:nvGraphicFramePr>
          <p:cNvPr id="67" name="Google Shape;67;p6"/>
          <p:cNvGraphicFramePr/>
          <p:nvPr/>
        </p:nvGraphicFramePr>
        <p:xfrm>
          <a:off x="457200" y="2395500"/>
          <a:ext cx="3000000" cy="3000000"/>
        </p:xfrm>
        <a:graphic>
          <a:graphicData uri="http://schemas.openxmlformats.org/drawingml/2006/table">
            <a:tbl>
              <a:tblPr>
                <a:noFill/>
                <a:tableStyleId>{4F219C23-2D71-41CD-9275-C88AA14EDE3B}</a:tableStyleId>
              </a:tblPr>
              <a:tblGrid>
                <a:gridCol w="1371575"/>
                <a:gridCol w="1371575"/>
                <a:gridCol w="1371575"/>
                <a:gridCol w="1371575"/>
                <a:gridCol w="1371575"/>
                <a:gridCol w="1371575"/>
              </a:tblGrid>
              <a:tr h="365750">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Sub-unit</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Spend</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Conversions</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Revenue</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ROAS</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100">
                          <a:solidFill>
                            <a:srgbClr val="FFFFFF"/>
                          </a:solidFill>
                        </a:rPr>
                        <a:t>Conversion Rate</a:t>
                      </a:r>
                      <a:endParaRPr b="1"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441975">
                <a:tc>
                  <a:txBody>
                    <a:bodyPr/>
                    <a:lstStyle/>
                    <a:p>
                      <a:pPr indent="0" lvl="0" marL="0" marR="0" rtl="0" algn="l">
                        <a:spcBef>
                          <a:spcPts val="0"/>
                        </a:spcBef>
                        <a:spcAft>
                          <a:spcPts val="0"/>
                        </a:spcAft>
                        <a:buClr>
                          <a:srgbClr val="575757"/>
                        </a:buClr>
                        <a:buSzPts val="1150"/>
                        <a:buFont typeface="Arial"/>
                        <a:buNone/>
                      </a:pPr>
                      <a:r>
                        <a:rPr lang="en-US" sz="1150" u="none" cap="none" strike="noStrike">
                          <a:solidFill>
                            <a:srgbClr val="575757"/>
                          </a:solidFill>
                          <a:latin typeface="Arial"/>
                          <a:ea typeface="Arial"/>
                          <a:cs typeface="Arial"/>
                          <a:sym typeface="Arial"/>
                        </a:rPr>
                        <a:t>VC — Virtual Consult</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$376,737.92</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45,294</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$864,462.72</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2.29x</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1150">
                          <a:solidFill>
                            <a:srgbClr val="C77F00"/>
                          </a:solidFill>
                        </a:rPr>
                        <a:t>15.21%</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575757"/>
                        </a:buClr>
                        <a:buSzPts val="1150"/>
                        <a:buFont typeface="Arial"/>
                        <a:buNone/>
                      </a:pPr>
                      <a:r>
                        <a:rPr lang="en-US" sz="1150" u="none" cap="none" strike="noStrike">
                          <a:solidFill>
                            <a:srgbClr val="575757"/>
                          </a:solidFill>
                          <a:latin typeface="Arial"/>
                          <a:ea typeface="Arial"/>
                          <a:cs typeface="Arial"/>
                          <a:sym typeface="Arial"/>
                        </a:rPr>
                        <a:t>MedSuites</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$39,642.00</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529</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$235,828.20</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5.95x</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1150">
                          <a:solidFill>
                            <a:srgbClr val="C77F00"/>
                          </a:solidFill>
                        </a:rPr>
                        <a:t>0.98%</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575757"/>
                        </a:buClr>
                        <a:buSzPts val="1150"/>
                        <a:buFont typeface="Arial"/>
                        <a:buNone/>
                      </a:pPr>
                      <a:r>
                        <a:rPr lang="en-US" sz="1150" u="none" cap="none" strike="noStrike">
                          <a:solidFill>
                            <a:srgbClr val="575757"/>
                          </a:solidFill>
                          <a:latin typeface="Arial"/>
                          <a:ea typeface="Arial"/>
                          <a:cs typeface="Arial"/>
                          <a:sym typeface="Arial"/>
                        </a:rPr>
                        <a:t>MOBS</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$126,946.47</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562</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$103,986.86</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50"/>
                        <a:buFont typeface="Arial"/>
                        <a:buNone/>
                      </a:pPr>
                      <a:r>
                        <a:rPr b="1" lang="en-US" sz="1150">
                          <a:solidFill>
                            <a:srgbClr val="C77F00"/>
                          </a:solidFill>
                        </a:rPr>
                        <a:t>0.81x</a:t>
                      </a:r>
                      <a:endParaRPr sz="11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1150">
                          <a:solidFill>
                            <a:srgbClr val="C77F00"/>
                          </a:solidFill>
                        </a:rPr>
                        <a:t>0.39%</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bl>
          </a:graphicData>
        </a:graphic>
      </p:graphicFrame>
      <p:sp>
        <p:nvSpPr>
          <p:cNvPr id="68" name="Google Shape;68;p6"/>
          <p:cNvSpPr/>
          <p:nvPr/>
        </p:nvSpPr>
        <p:spPr>
          <a:xfrm>
            <a:off x="457200" y="4390225"/>
            <a:ext cx="5577900" cy="713100"/>
          </a:xfrm>
          <a:prstGeom prst="roundRect">
            <a:avLst>
              <a:gd fmla="val 10256"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640080" y="4390225"/>
            <a:ext cx="52122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150"/>
              <a:buFont typeface="Arial"/>
              <a:buNone/>
            </a:pPr>
            <a:r>
              <a:rPr b="1" i="0" lang="en-US" sz="1150" u="none" cap="none" strike="noStrike">
                <a:solidFill>
                  <a:srgbClr val="0A1E89"/>
                </a:solidFill>
                <a:latin typeface="Arial"/>
                <a:ea typeface="Arial"/>
                <a:cs typeface="Arial"/>
                <a:sym typeface="Arial"/>
              </a:rPr>
              <a:t>Headline:  </a:t>
            </a:r>
            <a:r>
              <a:rPr lang="en-US" sz="1150">
                <a:solidFill>
                  <a:srgbClr val="C77F00"/>
                </a:solidFill>
              </a:rPr>
              <a:t>VC is the volume engine, MedSuites is the highest return per dollar spent, but MOBS is spending more than it generates. Resolving this one unit is what moves the overall portfolio’s needle.</a:t>
            </a:r>
            <a:endParaRPr b="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7"/>
          <p:cNvSpPr/>
          <p:nvPr/>
        </p:nvSpPr>
        <p:spPr>
          <a:xfrm>
            <a:off x="457200" y="411480"/>
            <a:ext cx="118872" cy="118872"/>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640080" y="33832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VC · PERFORMANCE</a:t>
            </a:r>
            <a:endParaRPr b="0" i="0" sz="1100" u="none" cap="none" strike="noStrike">
              <a:solidFill>
                <a:schemeClr val="dk1"/>
              </a:solidFill>
              <a:latin typeface="Calibri"/>
              <a:ea typeface="Calibri"/>
              <a:cs typeface="Calibri"/>
              <a:sym typeface="Calibri"/>
            </a:endParaRPr>
          </a:p>
        </p:txBody>
      </p:sp>
      <p:sp>
        <p:nvSpPr>
          <p:cNvPr id="77" name="Google Shape;77;p7"/>
          <p:cNvSpPr/>
          <p:nvPr/>
        </p:nvSpPr>
        <p:spPr>
          <a:xfrm>
            <a:off x="457200" y="60350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Virtual Consult</a:t>
            </a:r>
            <a:r>
              <a:rPr b="1" lang="en-US" sz="2800">
                <a:solidFill>
                  <a:srgbClr val="121212"/>
                </a:solidFill>
              </a:rPr>
              <a:t>:</a:t>
            </a:r>
            <a:r>
              <a:rPr b="1" i="0" lang="en-US" sz="2800" u="none" cap="none" strike="noStrike">
                <a:solidFill>
                  <a:srgbClr val="121212"/>
                </a:solidFill>
                <a:latin typeface="Arial"/>
                <a:ea typeface="Arial"/>
                <a:cs typeface="Arial"/>
                <a:sym typeface="Arial"/>
              </a:rPr>
              <a:t> </a:t>
            </a:r>
            <a:r>
              <a:rPr b="1" lang="en-US" sz="2800">
                <a:solidFill>
                  <a:srgbClr val="121212"/>
                </a:solidFill>
              </a:rPr>
              <a:t>C</a:t>
            </a:r>
            <a:r>
              <a:rPr b="1" i="0" lang="en-US" sz="2800" u="none" cap="none" strike="noStrike">
                <a:solidFill>
                  <a:srgbClr val="121212"/>
                </a:solidFill>
                <a:latin typeface="Arial"/>
                <a:ea typeface="Arial"/>
                <a:cs typeface="Arial"/>
                <a:sym typeface="Arial"/>
              </a:rPr>
              <a:t>ore acquisition engine</a:t>
            </a:r>
            <a:endParaRPr b="0" i="0" sz="2800" u="none" cap="none" strike="noStrike">
              <a:solidFill>
                <a:schemeClr val="dk1"/>
              </a:solidFill>
              <a:latin typeface="Calibri"/>
              <a:ea typeface="Calibri"/>
              <a:cs typeface="Calibri"/>
              <a:sym typeface="Calibri"/>
            </a:endParaRPr>
          </a:p>
        </p:txBody>
      </p:sp>
      <p:sp>
        <p:nvSpPr>
          <p:cNvPr id="78" name="Google Shape;78;p7"/>
          <p:cNvSpPr/>
          <p:nvPr/>
        </p:nvSpPr>
        <p:spPr>
          <a:xfrm>
            <a:off x="45720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62179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SPEND</a:t>
            </a:r>
            <a:endParaRPr b="0" i="0" sz="1000" u="none" cap="none" strike="noStrike">
              <a:solidFill>
                <a:schemeClr val="dk1"/>
              </a:solidFill>
              <a:latin typeface="Calibri"/>
              <a:ea typeface="Calibri"/>
              <a:cs typeface="Calibri"/>
              <a:sym typeface="Calibri"/>
            </a:endParaRPr>
          </a:p>
        </p:txBody>
      </p:sp>
      <p:sp>
        <p:nvSpPr>
          <p:cNvPr id="80" name="Google Shape;80;p7"/>
          <p:cNvSpPr/>
          <p:nvPr/>
        </p:nvSpPr>
        <p:spPr>
          <a:xfrm>
            <a:off x="523549" y="1700775"/>
            <a:ext cx="1744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$376,737.92</a:t>
            </a:r>
            <a:endParaRPr b="0" i="0" sz="2400" u="none" cap="none" strike="noStrike">
              <a:solidFill>
                <a:schemeClr val="dk1"/>
              </a:solidFill>
              <a:latin typeface="Calibri"/>
              <a:ea typeface="Calibri"/>
              <a:cs typeface="Calibri"/>
              <a:sym typeface="Calibri"/>
            </a:endParaRPr>
          </a:p>
        </p:txBody>
      </p:sp>
      <p:sp>
        <p:nvSpPr>
          <p:cNvPr id="81" name="Google Shape;81;p7"/>
          <p:cNvSpPr/>
          <p:nvPr/>
        </p:nvSpPr>
        <p:spPr>
          <a:xfrm>
            <a:off x="62179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Jan–June</a:t>
            </a:r>
            <a:r>
              <a:rPr b="0" i="1" lang="en-US" sz="850" u="none" cap="none" strike="noStrike">
                <a:solidFill>
                  <a:srgbClr val="96999B"/>
                </a:solidFill>
                <a:latin typeface="Arial"/>
                <a:ea typeface="Arial"/>
                <a:cs typeface="Arial"/>
                <a:sym typeface="Arial"/>
              </a:rPr>
              <a:t>, paid</a:t>
            </a:r>
            <a:endParaRPr b="0" i="0" sz="850" u="none" cap="none" strike="noStrike">
              <a:solidFill>
                <a:schemeClr val="dk1"/>
              </a:solidFill>
              <a:latin typeface="Calibri"/>
              <a:ea typeface="Calibri"/>
              <a:cs typeface="Calibri"/>
              <a:sym typeface="Calibri"/>
            </a:endParaRPr>
          </a:p>
        </p:txBody>
      </p:sp>
      <p:sp>
        <p:nvSpPr>
          <p:cNvPr id="82" name="Google Shape;82;p7"/>
          <p:cNvSpPr/>
          <p:nvPr/>
        </p:nvSpPr>
        <p:spPr>
          <a:xfrm>
            <a:off x="256032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272491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CONVERSIONS</a:t>
            </a:r>
            <a:endParaRPr b="0" i="0" sz="1000" u="none" cap="none" strike="noStrike">
              <a:solidFill>
                <a:schemeClr val="dk1"/>
              </a:solidFill>
              <a:latin typeface="Calibri"/>
              <a:ea typeface="Calibri"/>
              <a:cs typeface="Calibri"/>
              <a:sym typeface="Calibri"/>
            </a:endParaRPr>
          </a:p>
        </p:txBody>
      </p:sp>
      <p:sp>
        <p:nvSpPr>
          <p:cNvPr id="84" name="Google Shape;84;p7"/>
          <p:cNvSpPr/>
          <p:nvPr/>
        </p:nvSpPr>
        <p:spPr>
          <a:xfrm>
            <a:off x="272491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45,294</a:t>
            </a:r>
            <a:endParaRPr b="0" i="0" sz="2400" u="none" cap="none" strike="noStrike">
              <a:solidFill>
                <a:schemeClr val="dk1"/>
              </a:solidFill>
              <a:latin typeface="Calibri"/>
              <a:ea typeface="Calibri"/>
              <a:cs typeface="Calibri"/>
              <a:sym typeface="Calibri"/>
            </a:endParaRPr>
          </a:p>
        </p:txBody>
      </p:sp>
      <p:sp>
        <p:nvSpPr>
          <p:cNvPr id="85" name="Google Shape;85;p7"/>
          <p:cNvSpPr/>
          <p:nvPr/>
        </p:nvSpPr>
        <p:spPr>
          <a:xfrm>
            <a:off x="272491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Join VCs / installs</a:t>
            </a:r>
            <a:endParaRPr b="0" i="0" sz="850" u="none" cap="none" strike="noStrike">
              <a:solidFill>
                <a:schemeClr val="dk1"/>
              </a:solidFill>
              <a:latin typeface="Calibri"/>
              <a:ea typeface="Calibri"/>
              <a:cs typeface="Calibri"/>
              <a:sym typeface="Calibri"/>
            </a:endParaRPr>
          </a:p>
        </p:txBody>
      </p:sp>
      <p:sp>
        <p:nvSpPr>
          <p:cNvPr id="86" name="Google Shape;86;p7"/>
          <p:cNvSpPr/>
          <p:nvPr/>
        </p:nvSpPr>
        <p:spPr>
          <a:xfrm>
            <a:off x="466344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482803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REVENUE</a:t>
            </a:r>
            <a:endParaRPr b="0" i="0" sz="1000" u="none" cap="none" strike="noStrike">
              <a:solidFill>
                <a:schemeClr val="dk1"/>
              </a:solidFill>
              <a:latin typeface="Calibri"/>
              <a:ea typeface="Calibri"/>
              <a:cs typeface="Calibri"/>
              <a:sym typeface="Calibri"/>
            </a:endParaRPr>
          </a:p>
        </p:txBody>
      </p:sp>
      <p:sp>
        <p:nvSpPr>
          <p:cNvPr id="88" name="Google Shape;88;p7"/>
          <p:cNvSpPr/>
          <p:nvPr/>
        </p:nvSpPr>
        <p:spPr>
          <a:xfrm>
            <a:off x="4828025" y="1700775"/>
            <a:ext cx="1744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$864,462.72</a:t>
            </a:r>
            <a:endParaRPr b="0" i="0" sz="2400" u="none" cap="none" strike="noStrike">
              <a:solidFill>
                <a:schemeClr val="dk1"/>
              </a:solidFill>
              <a:latin typeface="Calibri"/>
              <a:ea typeface="Calibri"/>
              <a:cs typeface="Calibri"/>
              <a:sym typeface="Calibri"/>
            </a:endParaRPr>
          </a:p>
        </p:txBody>
      </p:sp>
      <p:sp>
        <p:nvSpPr>
          <p:cNvPr id="89" name="Google Shape;89;p7"/>
          <p:cNvSpPr/>
          <p:nvPr/>
        </p:nvSpPr>
        <p:spPr>
          <a:xfrm>
            <a:off x="482803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 conv × $40.26</a:t>
            </a:r>
            <a:endParaRPr b="0" i="0" sz="850" u="none" cap="none" strike="noStrike">
              <a:solidFill>
                <a:schemeClr val="dk1"/>
              </a:solidFill>
              <a:latin typeface="Calibri"/>
              <a:ea typeface="Calibri"/>
              <a:cs typeface="Calibri"/>
              <a:sym typeface="Calibri"/>
            </a:endParaRPr>
          </a:p>
        </p:txBody>
      </p:sp>
      <p:sp>
        <p:nvSpPr>
          <p:cNvPr id="90" name="Google Shape;90;p7"/>
          <p:cNvSpPr/>
          <p:nvPr/>
        </p:nvSpPr>
        <p:spPr>
          <a:xfrm>
            <a:off x="676656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93115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ROAS</a:t>
            </a:r>
            <a:endParaRPr b="0" i="0" sz="1000" u="none" cap="none" strike="noStrike">
              <a:solidFill>
                <a:schemeClr val="dk1"/>
              </a:solidFill>
              <a:latin typeface="Calibri"/>
              <a:ea typeface="Calibri"/>
              <a:cs typeface="Calibri"/>
              <a:sym typeface="Calibri"/>
            </a:endParaRPr>
          </a:p>
        </p:txBody>
      </p:sp>
      <p:sp>
        <p:nvSpPr>
          <p:cNvPr id="92" name="Google Shape;92;p7"/>
          <p:cNvSpPr/>
          <p:nvPr/>
        </p:nvSpPr>
        <p:spPr>
          <a:xfrm>
            <a:off x="693115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2.29x</a:t>
            </a:r>
            <a:endParaRPr b="0" i="0" sz="2400" u="none" cap="none" strike="noStrike">
              <a:solidFill>
                <a:schemeClr val="dk1"/>
              </a:solidFill>
              <a:latin typeface="Calibri"/>
              <a:ea typeface="Calibri"/>
              <a:cs typeface="Calibri"/>
              <a:sym typeface="Calibri"/>
            </a:endParaRPr>
          </a:p>
        </p:txBody>
      </p:sp>
      <p:sp>
        <p:nvSpPr>
          <p:cNvPr id="93" name="Google Shape;93;p7"/>
          <p:cNvSpPr/>
          <p:nvPr/>
        </p:nvSpPr>
        <p:spPr>
          <a:xfrm>
            <a:off x="693115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spend</a:t>
            </a:r>
            <a:endParaRPr b="0" i="0" sz="850" u="none" cap="none" strike="noStrike">
              <a:solidFill>
                <a:schemeClr val="dk1"/>
              </a:solidFill>
              <a:latin typeface="Calibri"/>
              <a:ea typeface="Calibri"/>
              <a:cs typeface="Calibri"/>
              <a:sym typeface="Calibri"/>
            </a:endParaRPr>
          </a:p>
        </p:txBody>
      </p:sp>
      <p:graphicFrame>
        <p:nvGraphicFramePr>
          <p:cNvPr id="94" name="Google Shape;94;p7"/>
          <p:cNvGraphicFramePr/>
          <p:nvPr/>
        </p:nvGraphicFramePr>
        <p:xfrm>
          <a:off x="117150" y="2468880"/>
          <a:ext cx="3000000" cy="3000000"/>
        </p:xfrm>
        <a:graphic>
          <a:graphicData uri="http://schemas.openxmlformats.org/drawingml/2006/table">
            <a:tbl>
              <a:tblPr>
                <a:noFill/>
                <a:tableStyleId>{4F219C23-2D71-41CD-9275-C88AA14EDE3B}</a:tableStyleId>
              </a:tblPr>
              <a:tblGrid>
                <a:gridCol w="1110850"/>
                <a:gridCol w="1121775"/>
                <a:gridCol w="646650"/>
                <a:gridCol w="831225"/>
                <a:gridCol w="892950"/>
                <a:gridCol w="615425"/>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Google</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$300,915.67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21,</a:t>
                      </a:r>
                      <a:r>
                        <a:rPr b="1" lang="en-US" sz="850">
                          <a:solidFill>
                            <a:schemeClr val="dk1"/>
                          </a:solidFill>
                        </a:rPr>
                        <a:t>472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$14.01</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$864,462.72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2.87x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361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Meta</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$47,563.37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4,8</a:t>
                      </a:r>
                      <a:r>
                        <a:rPr b="1" lang="en-US" sz="850">
                          <a:solidFill>
                            <a:schemeClr val="dk1"/>
                          </a:solidFill>
                        </a:rPr>
                        <a:t>22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$9.86</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Apple Search Ads</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$17,270.03</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a:t>
                      </a:r>
                      <a:r>
                        <a:rPr b="1" lang="en-US" sz="850">
                          <a:solidFill>
                            <a:schemeClr val="dk1"/>
                          </a:solidFill>
                        </a:rPr>
                        <a:t>9,555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$0.88</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850">
                          <a:solidFill>
                            <a:srgbClr val="575757"/>
                          </a:solidFill>
                        </a:rPr>
                        <a:t>Taboola Ads</a:t>
                      </a:r>
                      <a:endParaRPr sz="850">
                        <a:solidFill>
                          <a:srgbClr val="575757"/>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$5,573.54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$1,393.39</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TikTok Ads</a:t>
                      </a:r>
                      <a:endParaRPr sz="8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$2,824.04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71</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$39.78</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850">
                          <a:solidFill>
                            <a:srgbClr val="575757"/>
                          </a:solidFill>
                        </a:rPr>
                        <a:t>LinkedIn Ads</a:t>
                      </a:r>
                      <a:endParaRPr sz="8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$2,591.27</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950" u="none" cap="none" strike="noStrike">
                          <a:solidFill>
                            <a:srgbClr val="575757"/>
                          </a:solidFill>
                          <a:latin typeface="Arial"/>
                          <a:ea typeface="Arial"/>
                          <a:cs typeface="Arial"/>
                          <a:sym typeface="Arial"/>
                        </a:rPr>
                        <a:t>TOTAL</a:t>
                      </a:r>
                      <a:endParaRPr sz="9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$376,737.92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45,294</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$8.32</a:t>
                      </a:r>
                      <a:endParaRPr b="1"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$864,462.72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2.29x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95" name="Google Shape;95;p7"/>
          <p:cNvSpPr/>
          <p:nvPr/>
        </p:nvSpPr>
        <p:spPr>
          <a:xfrm>
            <a:off x="399400" y="4869305"/>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$40.26 avg bill.  ROAS = revenue ÷ spend.  First-transaction basis.</a:t>
            </a:r>
            <a:endParaRPr b="0" i="0" sz="850" u="none" cap="none" strike="noStrike">
              <a:solidFill>
                <a:schemeClr val="dk1"/>
              </a:solidFill>
              <a:latin typeface="Calibri"/>
              <a:ea typeface="Calibri"/>
              <a:cs typeface="Calibri"/>
              <a:sym typeface="Calibri"/>
            </a:endParaRPr>
          </a:p>
        </p:txBody>
      </p:sp>
      <p:sp>
        <p:nvSpPr>
          <p:cNvPr id="96" name="Google Shape;96;p7"/>
          <p:cNvSpPr/>
          <p:nvPr/>
        </p:nvSpPr>
        <p:spPr>
          <a:xfrm>
            <a:off x="5394960" y="2468880"/>
            <a:ext cx="3291840" cy="1417320"/>
          </a:xfrm>
          <a:prstGeom prst="roundRect">
            <a:avLst>
              <a:gd fmla="val 5161"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5577840" y="2606040"/>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000"/>
              <a:buFont typeface="Arial"/>
              <a:buNone/>
            </a:pPr>
            <a:r>
              <a:rPr b="1" lang="en-US" sz="1000">
                <a:solidFill>
                  <a:srgbClr val="0D39D8"/>
                </a:solidFill>
              </a:rPr>
              <a:t>Insight</a:t>
            </a:r>
            <a:endParaRPr b="0" i="0" sz="1000" u="none" cap="none" strike="noStrike">
              <a:solidFill>
                <a:schemeClr val="dk1"/>
              </a:solidFill>
              <a:latin typeface="Calibri"/>
              <a:ea typeface="Calibri"/>
              <a:cs typeface="Calibri"/>
              <a:sym typeface="Calibri"/>
            </a:endParaRPr>
          </a:p>
        </p:txBody>
      </p:sp>
      <p:sp>
        <p:nvSpPr>
          <p:cNvPr id="98" name="Google Shape;98;p7"/>
          <p:cNvSpPr/>
          <p:nvPr/>
        </p:nvSpPr>
        <p:spPr>
          <a:xfrm>
            <a:off x="5577840" y="2852928"/>
            <a:ext cx="297180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7F00"/>
              </a:buClr>
              <a:buSzPts val="1050"/>
              <a:buFont typeface="Arial"/>
              <a:buNone/>
            </a:pPr>
            <a:r>
              <a:rPr lang="en-US" sz="1050">
                <a:solidFill>
                  <a:srgbClr val="C77F00"/>
                </a:solidFill>
              </a:rPr>
              <a:t>Google is the only channel with Joined VC tracking and carries all measurable revenue at 2.87x ROAS; all other channels report app installs only — channel-level ROAS beyond Google cannot be confirmed.</a:t>
            </a:r>
            <a:endParaRPr b="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575757"/>
              </a:buClr>
              <a:buSzPts val="1050"/>
              <a:buFont typeface="Arial"/>
              <a:buNone/>
            </a:pPr>
            <a:r>
              <a:t/>
            </a:r>
            <a:endParaRPr b="0" i="0" sz="1050" u="none" cap="none" strike="noStrike">
              <a:solidFill>
                <a:schemeClr val="dk1"/>
              </a:solidFill>
              <a:latin typeface="Calibri"/>
              <a:ea typeface="Calibri"/>
              <a:cs typeface="Calibri"/>
              <a:sym typeface="Calibri"/>
            </a:endParaRPr>
          </a:p>
        </p:txBody>
      </p:sp>
      <p:sp>
        <p:nvSpPr>
          <p:cNvPr id="99" name="Google Shape;99;p7"/>
          <p:cNvSpPr/>
          <p:nvPr/>
        </p:nvSpPr>
        <p:spPr>
          <a:xfrm>
            <a:off x="5394950" y="4023350"/>
            <a:ext cx="3291900" cy="960000"/>
          </a:xfrm>
          <a:prstGeom prst="roundRect">
            <a:avLst>
              <a:gd fmla="val 9412"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5577840" y="4114710"/>
            <a:ext cx="2971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50"/>
              <a:buFont typeface="Arial"/>
              <a:buNone/>
            </a:pPr>
            <a:r>
              <a:rPr b="1" i="0" lang="en-US" sz="1050" u="none" cap="none" strike="noStrike">
                <a:solidFill>
                  <a:srgbClr val="0A1E89"/>
                </a:solidFill>
                <a:latin typeface="Arial"/>
                <a:ea typeface="Arial"/>
                <a:cs typeface="Arial"/>
                <a:sym typeface="Arial"/>
              </a:rPr>
              <a:t>N</a:t>
            </a:r>
            <a:r>
              <a:rPr b="1" lang="en-US" sz="1050">
                <a:solidFill>
                  <a:srgbClr val="0A1E89"/>
                </a:solidFill>
              </a:rPr>
              <a:t>ext Month</a:t>
            </a:r>
            <a:r>
              <a:rPr b="1" i="0" lang="en-US" sz="1050" u="none" cap="none" strike="noStrike">
                <a:solidFill>
                  <a:srgbClr val="0A1E89"/>
                </a:solidFill>
                <a:latin typeface="Arial"/>
                <a:ea typeface="Arial"/>
                <a:cs typeface="Arial"/>
                <a:sym typeface="Arial"/>
              </a:rPr>
              <a:t>:  </a:t>
            </a:r>
            <a:r>
              <a:rPr lang="en-US" sz="1050">
                <a:solidFill>
                  <a:srgbClr val="C77F00"/>
                </a:solidFill>
              </a:rPr>
              <a:t>Pause Taboola; review LinkedIn for corporate-focused campaigns; keep TikTok for lightweight awareness; reinforce Google with higher budget allocation; maintain Meta and ASA spend pending cross-channel tracking validation.</a:t>
            </a:r>
            <a:endParaRPr b="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05" name="Shape 105"/>
        <p:cNvGrpSpPr/>
        <p:nvPr/>
      </p:nvGrpSpPr>
      <p:grpSpPr>
        <a:xfrm>
          <a:off x="0" y="0"/>
          <a:ext cx="0" cy="0"/>
          <a:chOff x="0" y="0"/>
          <a:chExt cx="0" cy="0"/>
        </a:xfrm>
      </p:grpSpPr>
      <p:sp>
        <p:nvSpPr>
          <p:cNvPr id="106" name="Google Shape;106;p8"/>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VC · PERFORMANCE</a:t>
            </a:r>
            <a:endParaRPr b="0" i="0" sz="1100" u="none" cap="none" strike="noStrike">
              <a:solidFill>
                <a:schemeClr val="dk1"/>
              </a:solidFill>
              <a:latin typeface="Calibri"/>
              <a:ea typeface="Calibri"/>
              <a:cs typeface="Calibri"/>
              <a:sym typeface="Calibri"/>
            </a:endParaRPr>
          </a:p>
        </p:txBody>
      </p:sp>
      <p:sp>
        <p:nvSpPr>
          <p:cNvPr id="108" name="Google Shape;108;p8"/>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Virtual Consult</a:t>
            </a:r>
            <a:r>
              <a:rPr b="1" lang="en-US" sz="2800">
                <a:solidFill>
                  <a:srgbClr val="121212"/>
                </a:solidFill>
              </a:rPr>
              <a:t>:</a:t>
            </a:r>
            <a:r>
              <a:rPr b="1" i="0" lang="en-US" sz="2800" u="none" cap="none" strike="noStrike">
                <a:solidFill>
                  <a:srgbClr val="121212"/>
                </a:solidFill>
                <a:latin typeface="Arial"/>
                <a:ea typeface="Arial"/>
                <a:cs typeface="Arial"/>
                <a:sym typeface="Arial"/>
              </a:rPr>
              <a:t> </a:t>
            </a:r>
            <a:r>
              <a:rPr b="1" lang="en-US" sz="2800">
                <a:solidFill>
                  <a:srgbClr val="121212"/>
                </a:solidFill>
              </a:rPr>
              <a:t>Updated Data with Conv. Rate</a:t>
            </a:r>
            <a:endParaRPr b="0" i="0" sz="2800" u="none" cap="none" strike="noStrike">
              <a:solidFill>
                <a:schemeClr val="dk1"/>
              </a:solidFill>
              <a:latin typeface="Calibri"/>
              <a:ea typeface="Calibri"/>
              <a:cs typeface="Calibri"/>
              <a:sym typeface="Calibri"/>
            </a:endParaRPr>
          </a:p>
        </p:txBody>
      </p:sp>
      <p:graphicFrame>
        <p:nvGraphicFramePr>
          <p:cNvPr id="109" name="Google Shape;109;p8"/>
          <p:cNvGraphicFramePr/>
          <p:nvPr/>
        </p:nvGraphicFramePr>
        <p:xfrm>
          <a:off x="640063" y="1517980"/>
          <a:ext cx="3000000" cy="3000000"/>
        </p:xfrm>
        <a:graphic>
          <a:graphicData uri="http://schemas.openxmlformats.org/drawingml/2006/table">
            <a:tbl>
              <a:tblPr>
                <a:noFill/>
                <a:tableStyleId>{4F219C23-2D71-41CD-9275-C88AA14EDE3B}</a:tableStyleId>
              </a:tblPr>
              <a:tblGrid>
                <a:gridCol w="1143375"/>
                <a:gridCol w="1143375"/>
                <a:gridCol w="1143375"/>
                <a:gridCol w="1143375"/>
                <a:gridCol w="1143375"/>
                <a:gridCol w="1143375"/>
                <a:gridCol w="1143375"/>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Conv. Rate</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Google</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$300,915.67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21,</a:t>
                      </a:r>
                      <a:r>
                        <a:rPr b="1" lang="en-US" sz="850">
                          <a:solidFill>
                            <a:schemeClr val="dk1"/>
                          </a:solidFill>
                        </a:rPr>
                        <a:t>472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$14.01</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$864,462.72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2.87x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11.70%</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361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Meta</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$47,563.37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4,8</a:t>
                      </a:r>
                      <a:r>
                        <a:rPr b="1" lang="en-US" sz="850">
                          <a:solidFill>
                            <a:schemeClr val="dk1"/>
                          </a:solidFill>
                        </a:rPr>
                        <a:t>22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$9.86</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10.09%</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Apple Search Ads</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$17,270.03</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a:t>
                      </a:r>
                      <a:r>
                        <a:rPr b="1" lang="en-US" sz="850">
                          <a:solidFill>
                            <a:schemeClr val="dk1"/>
                          </a:solidFill>
                        </a:rPr>
                        <a:t>9,555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$0.88</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95.30%</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850">
                          <a:solidFill>
                            <a:srgbClr val="575757"/>
                          </a:solidFill>
                        </a:rPr>
                        <a:t>Taboola Ads</a:t>
                      </a:r>
                      <a:endParaRPr sz="850">
                        <a:solidFill>
                          <a:srgbClr val="575757"/>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$5,573.54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$1,393.39</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0.01%</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TikTok Ads</a:t>
                      </a:r>
                      <a:endParaRPr sz="8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$2,824.04</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71</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$39.78</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0.45%</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850">
                          <a:solidFill>
                            <a:srgbClr val="575757"/>
                          </a:solidFill>
                        </a:rPr>
                        <a:t>LinkedIn Ads</a:t>
                      </a:r>
                      <a:endParaRPr sz="8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$2,591.27</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950" u="none" cap="none" strike="noStrike">
                          <a:solidFill>
                            <a:srgbClr val="575757"/>
                          </a:solidFill>
                          <a:latin typeface="Arial"/>
                          <a:ea typeface="Arial"/>
                          <a:cs typeface="Arial"/>
                          <a:sym typeface="Arial"/>
                        </a:rPr>
                        <a:t>TOTAL</a:t>
                      </a:r>
                      <a:endParaRPr sz="9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$376,737.92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45,294</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$8.32</a:t>
                      </a:r>
                      <a:endParaRPr b="1"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$864,462.72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2.29x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15.21%</a:t>
                      </a:r>
                      <a:endParaRPr b="1" sz="9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110" name="Google Shape;110;p8"/>
          <p:cNvSpPr/>
          <p:nvPr/>
        </p:nvSpPr>
        <p:spPr>
          <a:xfrm>
            <a:off x="399400" y="4869305"/>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$40.26 avg bill.  ROAS = revenue ÷ spend.  First-transaction basis.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9"/>
          <p:cNvSpPr/>
          <p:nvPr/>
        </p:nvSpPr>
        <p:spPr>
          <a:xfrm>
            <a:off x="457200" y="411480"/>
            <a:ext cx="118872" cy="118872"/>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640080" y="33832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MEDSUITES · PERFORMANCE</a:t>
            </a:r>
            <a:endParaRPr b="0" i="0" sz="1100" u="none" cap="none" strike="noStrike">
              <a:solidFill>
                <a:schemeClr val="dk1"/>
              </a:solidFill>
              <a:latin typeface="Calibri"/>
              <a:ea typeface="Calibri"/>
              <a:cs typeface="Calibri"/>
              <a:sym typeface="Calibri"/>
            </a:endParaRPr>
          </a:p>
        </p:txBody>
      </p:sp>
      <p:sp>
        <p:nvSpPr>
          <p:cNvPr id="118" name="Google Shape;118;p9"/>
          <p:cNvSpPr/>
          <p:nvPr/>
        </p:nvSpPr>
        <p:spPr>
          <a:xfrm>
            <a:off x="457200" y="60350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Health screening</a:t>
            </a:r>
            <a:r>
              <a:rPr b="1" lang="en-US" sz="2800">
                <a:solidFill>
                  <a:srgbClr val="121212"/>
                </a:solidFill>
              </a:rPr>
              <a:t>: H</a:t>
            </a:r>
            <a:r>
              <a:rPr b="1" i="0" lang="en-US" sz="2800" u="none" cap="none" strike="noStrike">
                <a:solidFill>
                  <a:srgbClr val="121212"/>
                </a:solidFill>
                <a:latin typeface="Arial"/>
                <a:ea typeface="Arial"/>
                <a:cs typeface="Arial"/>
                <a:sym typeface="Arial"/>
              </a:rPr>
              <a:t>ighest basket value</a:t>
            </a:r>
            <a:endParaRPr b="0" i="0" sz="2800" u="none" cap="none" strike="noStrike">
              <a:solidFill>
                <a:schemeClr val="dk1"/>
              </a:solidFill>
              <a:latin typeface="Calibri"/>
              <a:ea typeface="Calibri"/>
              <a:cs typeface="Calibri"/>
              <a:sym typeface="Calibri"/>
            </a:endParaRPr>
          </a:p>
        </p:txBody>
      </p:sp>
      <p:sp>
        <p:nvSpPr>
          <p:cNvPr id="119" name="Google Shape;119;p9"/>
          <p:cNvSpPr/>
          <p:nvPr/>
        </p:nvSpPr>
        <p:spPr>
          <a:xfrm>
            <a:off x="45720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62179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SPEND</a:t>
            </a:r>
            <a:endParaRPr b="0" i="0" sz="1000" u="none" cap="none" strike="noStrike">
              <a:solidFill>
                <a:schemeClr val="dk1"/>
              </a:solidFill>
              <a:latin typeface="Calibri"/>
              <a:ea typeface="Calibri"/>
              <a:cs typeface="Calibri"/>
              <a:sym typeface="Calibri"/>
            </a:endParaRPr>
          </a:p>
        </p:txBody>
      </p:sp>
      <p:sp>
        <p:nvSpPr>
          <p:cNvPr id="121" name="Google Shape;121;p9"/>
          <p:cNvSpPr/>
          <p:nvPr/>
        </p:nvSpPr>
        <p:spPr>
          <a:xfrm>
            <a:off x="62179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$39,642.00</a:t>
            </a:r>
            <a:endParaRPr b="0" i="0" sz="2400" u="none" cap="none" strike="noStrike">
              <a:solidFill>
                <a:schemeClr val="dk1"/>
              </a:solidFill>
              <a:latin typeface="Calibri"/>
              <a:ea typeface="Calibri"/>
              <a:cs typeface="Calibri"/>
              <a:sym typeface="Calibri"/>
            </a:endParaRPr>
          </a:p>
        </p:txBody>
      </p:sp>
      <p:sp>
        <p:nvSpPr>
          <p:cNvPr id="122" name="Google Shape;122;p9"/>
          <p:cNvSpPr/>
          <p:nvPr/>
        </p:nvSpPr>
        <p:spPr>
          <a:xfrm>
            <a:off x="62179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Jan–June</a:t>
            </a:r>
            <a:r>
              <a:rPr b="0" i="1" lang="en-US" sz="850" u="none" cap="none" strike="noStrike">
                <a:solidFill>
                  <a:srgbClr val="96999B"/>
                </a:solidFill>
                <a:latin typeface="Arial"/>
                <a:ea typeface="Arial"/>
                <a:cs typeface="Arial"/>
                <a:sym typeface="Arial"/>
              </a:rPr>
              <a:t>, paid</a:t>
            </a:r>
            <a:endParaRPr b="0" i="0" sz="850" u="none" cap="none" strike="noStrike">
              <a:solidFill>
                <a:schemeClr val="dk1"/>
              </a:solidFill>
              <a:latin typeface="Calibri"/>
              <a:ea typeface="Calibri"/>
              <a:cs typeface="Calibri"/>
              <a:sym typeface="Calibri"/>
            </a:endParaRPr>
          </a:p>
        </p:txBody>
      </p:sp>
      <p:sp>
        <p:nvSpPr>
          <p:cNvPr id="123" name="Google Shape;123;p9"/>
          <p:cNvSpPr/>
          <p:nvPr/>
        </p:nvSpPr>
        <p:spPr>
          <a:xfrm>
            <a:off x="256032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272491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CONVERSIONS</a:t>
            </a:r>
            <a:endParaRPr b="0" i="0" sz="1000" u="none" cap="none" strike="noStrike">
              <a:solidFill>
                <a:schemeClr val="dk1"/>
              </a:solidFill>
              <a:latin typeface="Calibri"/>
              <a:ea typeface="Calibri"/>
              <a:cs typeface="Calibri"/>
              <a:sym typeface="Calibri"/>
            </a:endParaRPr>
          </a:p>
        </p:txBody>
      </p:sp>
      <p:sp>
        <p:nvSpPr>
          <p:cNvPr id="125" name="Google Shape;125;p9"/>
          <p:cNvSpPr/>
          <p:nvPr/>
        </p:nvSpPr>
        <p:spPr>
          <a:xfrm>
            <a:off x="272491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529</a:t>
            </a:r>
            <a:endParaRPr b="0" i="0" sz="2400" u="none" cap="none" strike="noStrike">
              <a:solidFill>
                <a:schemeClr val="dk1"/>
              </a:solidFill>
              <a:latin typeface="Calibri"/>
              <a:ea typeface="Calibri"/>
              <a:cs typeface="Calibri"/>
              <a:sym typeface="Calibri"/>
            </a:endParaRPr>
          </a:p>
        </p:txBody>
      </p:sp>
      <p:sp>
        <p:nvSpPr>
          <p:cNvPr id="126" name="Google Shape;126;p9"/>
          <p:cNvSpPr/>
          <p:nvPr/>
        </p:nvSpPr>
        <p:spPr>
          <a:xfrm>
            <a:off x="272491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purchases</a:t>
            </a:r>
            <a:endParaRPr b="0" i="0" sz="850" u="none" cap="none" strike="noStrike">
              <a:solidFill>
                <a:schemeClr val="dk1"/>
              </a:solidFill>
              <a:latin typeface="Calibri"/>
              <a:ea typeface="Calibri"/>
              <a:cs typeface="Calibri"/>
              <a:sym typeface="Calibri"/>
            </a:endParaRPr>
          </a:p>
        </p:txBody>
      </p:sp>
      <p:sp>
        <p:nvSpPr>
          <p:cNvPr id="127" name="Google Shape;127;p9"/>
          <p:cNvSpPr/>
          <p:nvPr/>
        </p:nvSpPr>
        <p:spPr>
          <a:xfrm>
            <a:off x="466344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482803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REVENUE</a:t>
            </a:r>
            <a:endParaRPr b="0" i="0" sz="1000" u="none" cap="none" strike="noStrike">
              <a:solidFill>
                <a:schemeClr val="dk1"/>
              </a:solidFill>
              <a:latin typeface="Calibri"/>
              <a:ea typeface="Calibri"/>
              <a:cs typeface="Calibri"/>
              <a:sym typeface="Calibri"/>
            </a:endParaRPr>
          </a:p>
        </p:txBody>
      </p:sp>
      <p:sp>
        <p:nvSpPr>
          <p:cNvPr id="129" name="Google Shape;129;p9"/>
          <p:cNvSpPr/>
          <p:nvPr/>
        </p:nvSpPr>
        <p:spPr>
          <a:xfrm>
            <a:off x="4828025" y="1700775"/>
            <a:ext cx="17331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$235,828.20</a:t>
            </a:r>
            <a:endParaRPr b="0" i="0" sz="2400" u="none" cap="none" strike="noStrike">
              <a:solidFill>
                <a:schemeClr val="dk1"/>
              </a:solidFill>
              <a:latin typeface="Calibri"/>
              <a:ea typeface="Calibri"/>
              <a:cs typeface="Calibri"/>
              <a:sym typeface="Calibri"/>
            </a:endParaRPr>
          </a:p>
        </p:txBody>
      </p:sp>
      <p:sp>
        <p:nvSpPr>
          <p:cNvPr id="130" name="Google Shape;130;p9"/>
          <p:cNvSpPr/>
          <p:nvPr/>
        </p:nvSpPr>
        <p:spPr>
          <a:xfrm>
            <a:off x="482803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 conv × $4</a:t>
            </a:r>
            <a:r>
              <a:rPr i="1" lang="en-US" sz="850">
                <a:solidFill>
                  <a:srgbClr val="96999B"/>
                </a:solidFill>
              </a:rPr>
              <a:t>45.80</a:t>
            </a:r>
            <a:endParaRPr b="0" i="0" sz="850" u="none" cap="none" strike="noStrike">
              <a:solidFill>
                <a:schemeClr val="dk1"/>
              </a:solidFill>
              <a:latin typeface="Calibri"/>
              <a:ea typeface="Calibri"/>
              <a:cs typeface="Calibri"/>
              <a:sym typeface="Calibri"/>
            </a:endParaRPr>
          </a:p>
        </p:txBody>
      </p:sp>
      <p:sp>
        <p:nvSpPr>
          <p:cNvPr id="131" name="Google Shape;131;p9"/>
          <p:cNvSpPr/>
          <p:nvPr/>
        </p:nvSpPr>
        <p:spPr>
          <a:xfrm>
            <a:off x="676656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693115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ROAS</a:t>
            </a:r>
            <a:endParaRPr b="0" i="0" sz="1000" u="none" cap="none" strike="noStrike">
              <a:solidFill>
                <a:schemeClr val="dk1"/>
              </a:solidFill>
              <a:latin typeface="Calibri"/>
              <a:ea typeface="Calibri"/>
              <a:cs typeface="Calibri"/>
              <a:sym typeface="Calibri"/>
            </a:endParaRPr>
          </a:p>
        </p:txBody>
      </p:sp>
      <p:sp>
        <p:nvSpPr>
          <p:cNvPr id="133" name="Google Shape;133;p9"/>
          <p:cNvSpPr/>
          <p:nvPr/>
        </p:nvSpPr>
        <p:spPr>
          <a:xfrm>
            <a:off x="693115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5.95x</a:t>
            </a:r>
            <a:endParaRPr b="0" i="0" sz="2400" u="none" cap="none" strike="noStrike">
              <a:solidFill>
                <a:schemeClr val="dk1"/>
              </a:solidFill>
              <a:latin typeface="Calibri"/>
              <a:ea typeface="Calibri"/>
              <a:cs typeface="Calibri"/>
              <a:sym typeface="Calibri"/>
            </a:endParaRPr>
          </a:p>
        </p:txBody>
      </p:sp>
      <p:sp>
        <p:nvSpPr>
          <p:cNvPr id="134" name="Google Shape;134;p9"/>
          <p:cNvSpPr/>
          <p:nvPr/>
        </p:nvSpPr>
        <p:spPr>
          <a:xfrm>
            <a:off x="693115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spend</a:t>
            </a:r>
            <a:endParaRPr b="0" i="0" sz="850" u="none" cap="none" strike="noStrike">
              <a:solidFill>
                <a:schemeClr val="dk1"/>
              </a:solidFill>
              <a:latin typeface="Calibri"/>
              <a:ea typeface="Calibri"/>
              <a:cs typeface="Calibri"/>
              <a:sym typeface="Calibri"/>
            </a:endParaRPr>
          </a:p>
        </p:txBody>
      </p:sp>
      <p:graphicFrame>
        <p:nvGraphicFramePr>
          <p:cNvPr id="135" name="Google Shape;135;p9"/>
          <p:cNvGraphicFramePr/>
          <p:nvPr/>
        </p:nvGraphicFramePr>
        <p:xfrm>
          <a:off x="457200" y="2468880"/>
          <a:ext cx="3000000" cy="3000000"/>
        </p:xfrm>
        <a:graphic>
          <a:graphicData uri="http://schemas.openxmlformats.org/drawingml/2006/table">
            <a:tbl>
              <a:tblPr>
                <a:noFill/>
                <a:tableStyleId>{4F219C23-2D71-41CD-9275-C88AA14EDE3B}</a:tableStyleId>
              </a:tblPr>
              <a:tblGrid>
                <a:gridCol w="929200"/>
                <a:gridCol w="881300"/>
                <a:gridCol w="598050"/>
                <a:gridCol w="777200"/>
                <a:gridCol w="941750"/>
                <a:gridCol w="581675"/>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Google</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$17,119.68</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127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$134.80</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$56,616.80</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3.31x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Meta</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$22,522.32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402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$56.03</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$179,211.60</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7.96x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950" u="none" cap="none" strike="noStrike">
                          <a:solidFill>
                            <a:srgbClr val="575757"/>
                          </a:solidFill>
                          <a:latin typeface="Arial"/>
                          <a:ea typeface="Arial"/>
                          <a:cs typeface="Arial"/>
                          <a:sym typeface="Arial"/>
                        </a:rPr>
                        <a:t>TOTAL</a:t>
                      </a:r>
                      <a:endParaRPr sz="9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$39,642.00</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529</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$74.94</a:t>
                      </a:r>
                      <a:endParaRPr b="1" sz="9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$235,828.20</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5.95x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136" name="Google Shape;136;p9"/>
          <p:cNvSpPr/>
          <p:nvPr/>
        </p:nvSpPr>
        <p:spPr>
          <a:xfrm>
            <a:off x="457200" y="4526280"/>
            <a:ext cx="4709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$4</a:t>
            </a:r>
            <a:r>
              <a:rPr i="1" lang="en-US" sz="850">
                <a:solidFill>
                  <a:srgbClr val="96999B"/>
                </a:solidFill>
              </a:rPr>
              <a:t>45.80</a:t>
            </a:r>
            <a:r>
              <a:rPr b="0" i="1" lang="en-US" sz="850" u="none" cap="none" strike="noStrike">
                <a:solidFill>
                  <a:srgbClr val="96999B"/>
                </a:solidFill>
                <a:latin typeface="Arial"/>
                <a:ea typeface="Arial"/>
                <a:cs typeface="Arial"/>
                <a:sym typeface="Arial"/>
              </a:rPr>
              <a:t> avg bill.  ROAS = revenue ÷ spend.  First-transaction basis.</a:t>
            </a:r>
            <a:endParaRPr b="0" i="0" sz="850" u="none" cap="none" strike="noStrike">
              <a:solidFill>
                <a:schemeClr val="dk1"/>
              </a:solidFill>
              <a:latin typeface="Calibri"/>
              <a:ea typeface="Calibri"/>
              <a:cs typeface="Calibri"/>
              <a:sym typeface="Calibri"/>
            </a:endParaRPr>
          </a:p>
        </p:txBody>
      </p:sp>
      <p:sp>
        <p:nvSpPr>
          <p:cNvPr id="137" name="Google Shape;137;p9"/>
          <p:cNvSpPr/>
          <p:nvPr/>
        </p:nvSpPr>
        <p:spPr>
          <a:xfrm>
            <a:off x="5394960" y="2468880"/>
            <a:ext cx="3291840" cy="1417320"/>
          </a:xfrm>
          <a:prstGeom prst="roundRect">
            <a:avLst>
              <a:gd fmla="val 5161"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5577840" y="2606040"/>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000"/>
              <a:buFont typeface="Arial"/>
              <a:buNone/>
            </a:pPr>
            <a:r>
              <a:rPr b="1" lang="en-US" sz="1000">
                <a:solidFill>
                  <a:srgbClr val="0D39D8"/>
                </a:solidFill>
              </a:rPr>
              <a:t>Insight:</a:t>
            </a:r>
            <a:endParaRPr b="0" i="0" sz="1000" u="none" cap="none" strike="noStrike">
              <a:solidFill>
                <a:schemeClr val="dk1"/>
              </a:solidFill>
              <a:latin typeface="Calibri"/>
              <a:ea typeface="Calibri"/>
              <a:cs typeface="Calibri"/>
              <a:sym typeface="Calibri"/>
            </a:endParaRPr>
          </a:p>
        </p:txBody>
      </p:sp>
      <p:sp>
        <p:nvSpPr>
          <p:cNvPr id="139" name="Google Shape;139;p9"/>
          <p:cNvSpPr/>
          <p:nvPr/>
        </p:nvSpPr>
        <p:spPr>
          <a:xfrm>
            <a:off x="5577840" y="2852928"/>
            <a:ext cx="2971800" cy="960120"/>
          </a:xfrm>
          <a:prstGeom prst="rect">
            <a:avLst/>
          </a:prstGeom>
          <a:noFill/>
          <a:ln>
            <a:noFill/>
          </a:ln>
        </p:spPr>
        <p:txBody>
          <a:bodyPr anchorCtr="0" anchor="t" bIns="0" lIns="0" spcFirstLastPara="1" rIns="0" wrap="square" tIns="0">
            <a:noAutofit/>
          </a:bodyPr>
          <a:lstStyle/>
          <a:p>
            <a:pPr indent="0" lvl="0" marL="0" marR="0" rtl="0" algn="l">
              <a:spcBef>
                <a:spcPts val="500"/>
              </a:spcBef>
              <a:spcAft>
                <a:spcPts val="0"/>
              </a:spcAft>
              <a:buClr>
                <a:srgbClr val="575757"/>
              </a:buClr>
              <a:buSzPts val="1050"/>
              <a:buFont typeface="Arial"/>
              <a:buNone/>
            </a:pPr>
            <a:r>
              <a:rPr lang="en-US" sz="1050">
                <a:solidFill>
                  <a:srgbClr val="C77F00"/>
                </a:solidFill>
              </a:rPr>
              <a:t>Meta leads on efficiency at 7.96x ROAS and $56.03 cost per conversion vs Google's 3.31x, though with marketplace purchases. True ROAS is likely higher across both channels.</a:t>
            </a:r>
            <a:endParaRPr sz="1050">
              <a:solidFill>
                <a:srgbClr val="C77F00"/>
              </a:solidFill>
            </a:endParaRPr>
          </a:p>
        </p:txBody>
      </p:sp>
      <p:sp>
        <p:nvSpPr>
          <p:cNvPr id="140" name="Google Shape;140;p9"/>
          <p:cNvSpPr/>
          <p:nvPr/>
        </p:nvSpPr>
        <p:spPr>
          <a:xfrm>
            <a:off x="5394950" y="4023348"/>
            <a:ext cx="3291900" cy="960000"/>
          </a:xfrm>
          <a:prstGeom prst="roundRect">
            <a:avLst>
              <a:gd fmla="val 9412"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5577840" y="4172385"/>
            <a:ext cx="2971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50"/>
              <a:buFont typeface="Arial"/>
              <a:buNone/>
            </a:pPr>
            <a:r>
              <a:rPr b="1" i="0" lang="en-US" sz="1050" u="none" cap="none" strike="noStrike">
                <a:solidFill>
                  <a:srgbClr val="0A1E89"/>
                </a:solidFill>
                <a:latin typeface="Arial"/>
                <a:ea typeface="Arial"/>
                <a:cs typeface="Arial"/>
                <a:sym typeface="Arial"/>
              </a:rPr>
              <a:t>N</a:t>
            </a:r>
            <a:r>
              <a:rPr b="1" lang="en-US" sz="1050">
                <a:solidFill>
                  <a:srgbClr val="0A1E89"/>
                </a:solidFill>
              </a:rPr>
              <a:t>ext month</a:t>
            </a:r>
            <a:r>
              <a:rPr b="1" i="0" lang="en-US" sz="1050" u="none" cap="none" strike="noStrike">
                <a:solidFill>
                  <a:srgbClr val="0A1E89"/>
                </a:solidFill>
                <a:latin typeface="Arial"/>
                <a:ea typeface="Arial"/>
                <a:cs typeface="Arial"/>
                <a:sym typeface="Arial"/>
              </a:rPr>
              <a:t>: </a:t>
            </a:r>
            <a:r>
              <a:rPr b="1" i="0" lang="en-US" sz="1050" u="none" cap="none" strike="noStrike">
                <a:solidFill>
                  <a:srgbClr val="0A1E89"/>
                </a:solidFill>
                <a:latin typeface="Arial"/>
                <a:ea typeface="Arial"/>
                <a:cs typeface="Arial"/>
                <a:sym typeface="Arial"/>
              </a:rPr>
              <a:t> </a:t>
            </a:r>
            <a:r>
              <a:rPr lang="en-US" sz="1050">
                <a:solidFill>
                  <a:srgbClr val="C77F00"/>
                </a:solidFill>
              </a:rPr>
              <a:t>Scale Meta budget by reallocating from underperforming Google campaigns; consolidate Google spend into Search and Pmax only; activate Longevity campaign on both channels from July.</a:t>
            </a:r>
            <a:endParaRPr sz="1050">
              <a:solidFill>
                <a:srgbClr val="C77F00"/>
              </a:solidFill>
            </a:endParaRPr>
          </a:p>
          <a:p>
            <a:pPr indent="0" lvl="0" marL="0" marR="0" rtl="0" algn="l">
              <a:spcBef>
                <a:spcPts val="0"/>
              </a:spcBef>
              <a:spcAft>
                <a:spcPts val="0"/>
              </a:spcAft>
              <a:buClr>
                <a:srgbClr val="0A1E89"/>
              </a:buClr>
              <a:buSzPts val="1050"/>
              <a:buFont typeface="Arial"/>
              <a:buNone/>
            </a:pPr>
            <a:r>
              <a:t/>
            </a:r>
            <a:endParaRPr sz="1050">
              <a:solidFill>
                <a:srgbClr val="C77F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46" name="Shape 146"/>
        <p:cNvGrpSpPr/>
        <p:nvPr/>
      </p:nvGrpSpPr>
      <p:grpSpPr>
        <a:xfrm>
          <a:off x="0" y="0"/>
          <a:ext cx="0" cy="0"/>
          <a:chOff x="0" y="0"/>
          <a:chExt cx="0" cy="0"/>
        </a:xfrm>
      </p:grpSpPr>
      <p:sp>
        <p:nvSpPr>
          <p:cNvPr id="147" name="Google Shape;147;p10"/>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Medsuites</a:t>
            </a:r>
            <a:r>
              <a:rPr b="1" i="0" lang="en-US" sz="1100" u="none" cap="none" strike="noStrike">
                <a:solidFill>
                  <a:srgbClr val="0D39D8"/>
                </a:solidFill>
                <a:latin typeface="Arial"/>
                <a:ea typeface="Arial"/>
                <a:cs typeface="Arial"/>
                <a:sym typeface="Arial"/>
              </a:rPr>
              <a:t> · PERFORMANCE</a:t>
            </a:r>
            <a:endParaRPr b="0" i="0" sz="1100" u="none" cap="none" strike="noStrike">
              <a:solidFill>
                <a:schemeClr val="dk1"/>
              </a:solidFill>
              <a:latin typeface="Calibri"/>
              <a:ea typeface="Calibri"/>
              <a:cs typeface="Calibri"/>
              <a:sym typeface="Calibri"/>
            </a:endParaRPr>
          </a:p>
        </p:txBody>
      </p:sp>
      <p:sp>
        <p:nvSpPr>
          <p:cNvPr id="149" name="Google Shape;149;p10"/>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Medsuites</a:t>
            </a:r>
            <a:r>
              <a:rPr b="1" lang="en-US" sz="2800">
                <a:solidFill>
                  <a:srgbClr val="121212"/>
                </a:solidFill>
              </a:rPr>
              <a:t>:</a:t>
            </a:r>
            <a:r>
              <a:rPr b="1" i="0" lang="en-US" sz="2800" u="none" cap="none" strike="noStrike">
                <a:solidFill>
                  <a:srgbClr val="121212"/>
                </a:solidFill>
                <a:latin typeface="Arial"/>
                <a:ea typeface="Arial"/>
                <a:cs typeface="Arial"/>
                <a:sym typeface="Arial"/>
              </a:rPr>
              <a:t> </a:t>
            </a:r>
            <a:r>
              <a:rPr b="1" lang="en-US" sz="2800">
                <a:solidFill>
                  <a:srgbClr val="121212"/>
                </a:solidFill>
              </a:rPr>
              <a:t>Updated Data with Conv. Rate</a:t>
            </a:r>
            <a:endParaRPr b="0" i="0" sz="2800" u="none" cap="none" strike="noStrike">
              <a:solidFill>
                <a:schemeClr val="dk1"/>
              </a:solidFill>
              <a:latin typeface="Calibri"/>
              <a:ea typeface="Calibri"/>
              <a:cs typeface="Calibri"/>
              <a:sym typeface="Calibri"/>
            </a:endParaRPr>
          </a:p>
        </p:txBody>
      </p:sp>
      <p:graphicFrame>
        <p:nvGraphicFramePr>
          <p:cNvPr id="150" name="Google Shape;150;p10"/>
          <p:cNvGraphicFramePr/>
          <p:nvPr/>
        </p:nvGraphicFramePr>
        <p:xfrm>
          <a:off x="913563" y="1885380"/>
          <a:ext cx="3000000" cy="3000000"/>
        </p:xfrm>
        <a:graphic>
          <a:graphicData uri="http://schemas.openxmlformats.org/drawingml/2006/table">
            <a:tbl>
              <a:tblPr>
                <a:noFill/>
                <a:tableStyleId>{4F219C23-2D71-41CD-9275-C88AA14EDE3B}</a:tableStyleId>
              </a:tblPr>
              <a:tblGrid>
                <a:gridCol w="1038050"/>
                <a:gridCol w="1038050"/>
                <a:gridCol w="1038050"/>
                <a:gridCol w="1038050"/>
                <a:gridCol w="1038050"/>
                <a:gridCol w="1038050"/>
                <a:gridCol w="1038050"/>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Conv. Rate</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Google</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$17,119.68</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127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$134.80</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$56,616.80</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3.31x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0.80%</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850" u="none" cap="none" strike="noStrike">
                          <a:solidFill>
                            <a:srgbClr val="575757"/>
                          </a:solidFill>
                          <a:latin typeface="Arial"/>
                          <a:ea typeface="Arial"/>
                          <a:cs typeface="Arial"/>
                          <a:sym typeface="Arial"/>
                        </a:rPr>
                        <a:t>Meta</a:t>
                      </a:r>
                      <a:endParaRPr sz="8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$22,522.32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402</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$56.03</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$179,211.60</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7.96x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1.05%</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950" u="none" cap="none" strike="noStrike">
                          <a:solidFill>
                            <a:srgbClr val="575757"/>
                          </a:solidFill>
                          <a:latin typeface="Arial"/>
                          <a:ea typeface="Arial"/>
                          <a:cs typeface="Arial"/>
                          <a:sym typeface="Arial"/>
                        </a:rPr>
                        <a:t>TOTAL</a:t>
                      </a:r>
                      <a:endParaRPr sz="9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$39,642.00</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529</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$74.94</a:t>
                      </a:r>
                      <a:endParaRPr b="1" sz="9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$235,828.20</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5.95x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0.98%</a:t>
                      </a:r>
                      <a:endParaRPr b="1" sz="9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151" name="Google Shape;151;p10"/>
          <p:cNvSpPr/>
          <p:nvPr/>
        </p:nvSpPr>
        <p:spPr>
          <a:xfrm>
            <a:off x="457200" y="4526280"/>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$4</a:t>
            </a:r>
            <a:r>
              <a:rPr i="1" lang="en-US" sz="850">
                <a:solidFill>
                  <a:srgbClr val="96999B"/>
                </a:solidFill>
              </a:rPr>
              <a:t>45.80</a:t>
            </a:r>
            <a:r>
              <a:rPr b="0" i="1" lang="en-US" sz="850" u="none" cap="none" strike="noStrike">
                <a:solidFill>
                  <a:srgbClr val="96999B"/>
                </a:solidFill>
                <a:latin typeface="Arial"/>
                <a:ea typeface="Arial"/>
                <a:cs typeface="Arial"/>
                <a:sym typeface="Arial"/>
              </a:rPr>
              <a:t> avg bill.  ROAS = revenue ÷ spend.  First-transaction basis.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457200" y="411480"/>
            <a:ext cx="118872" cy="118872"/>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640080" y="33832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MOBS · PERFORMANCE</a:t>
            </a:r>
            <a:endParaRPr b="0" i="0" sz="1100" u="none" cap="none" strike="noStrike">
              <a:solidFill>
                <a:schemeClr val="dk1"/>
              </a:solidFill>
              <a:latin typeface="Calibri"/>
              <a:ea typeface="Calibri"/>
              <a:cs typeface="Calibri"/>
              <a:sym typeface="Calibri"/>
            </a:endParaRPr>
          </a:p>
        </p:txBody>
      </p:sp>
      <p:sp>
        <p:nvSpPr>
          <p:cNvPr id="159" name="Google Shape;159;p11"/>
          <p:cNvSpPr/>
          <p:nvPr/>
        </p:nvSpPr>
        <p:spPr>
          <a:xfrm>
            <a:off x="457200" y="60350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Mobile Services (MOBS)</a:t>
            </a:r>
            <a:endParaRPr b="0" i="0" sz="2800" u="none" cap="none" strike="noStrike">
              <a:solidFill>
                <a:schemeClr val="dk1"/>
              </a:solidFill>
              <a:latin typeface="Calibri"/>
              <a:ea typeface="Calibri"/>
              <a:cs typeface="Calibri"/>
              <a:sym typeface="Calibri"/>
            </a:endParaRPr>
          </a:p>
        </p:txBody>
      </p:sp>
      <p:sp>
        <p:nvSpPr>
          <p:cNvPr id="160" name="Google Shape;160;p11"/>
          <p:cNvSpPr/>
          <p:nvPr/>
        </p:nvSpPr>
        <p:spPr>
          <a:xfrm>
            <a:off x="45720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62179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SPEND</a:t>
            </a:r>
            <a:endParaRPr b="0" i="0" sz="1000" u="none" cap="none" strike="noStrike">
              <a:solidFill>
                <a:schemeClr val="dk1"/>
              </a:solidFill>
              <a:latin typeface="Calibri"/>
              <a:ea typeface="Calibri"/>
              <a:cs typeface="Calibri"/>
              <a:sym typeface="Calibri"/>
            </a:endParaRPr>
          </a:p>
        </p:txBody>
      </p:sp>
      <p:sp>
        <p:nvSpPr>
          <p:cNvPr id="162" name="Google Shape;162;p11"/>
          <p:cNvSpPr/>
          <p:nvPr/>
        </p:nvSpPr>
        <p:spPr>
          <a:xfrm>
            <a:off x="527750" y="1700775"/>
            <a:ext cx="173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$126,946.47</a:t>
            </a:r>
            <a:endParaRPr b="0" i="0" sz="2400" u="none" cap="none" strike="noStrike">
              <a:solidFill>
                <a:schemeClr val="dk1"/>
              </a:solidFill>
              <a:latin typeface="Calibri"/>
              <a:ea typeface="Calibri"/>
              <a:cs typeface="Calibri"/>
              <a:sym typeface="Calibri"/>
            </a:endParaRPr>
          </a:p>
        </p:txBody>
      </p:sp>
      <p:sp>
        <p:nvSpPr>
          <p:cNvPr id="163" name="Google Shape;163;p11"/>
          <p:cNvSpPr/>
          <p:nvPr/>
        </p:nvSpPr>
        <p:spPr>
          <a:xfrm>
            <a:off x="62179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Jan–June</a:t>
            </a:r>
            <a:r>
              <a:rPr b="0" i="1" lang="en-US" sz="850" u="none" cap="none" strike="noStrike">
                <a:solidFill>
                  <a:srgbClr val="96999B"/>
                </a:solidFill>
                <a:latin typeface="Arial"/>
                <a:ea typeface="Arial"/>
                <a:cs typeface="Arial"/>
                <a:sym typeface="Arial"/>
              </a:rPr>
              <a:t>, paid</a:t>
            </a:r>
            <a:endParaRPr b="0" i="0" sz="850" u="none" cap="none" strike="noStrike">
              <a:solidFill>
                <a:schemeClr val="dk1"/>
              </a:solidFill>
              <a:latin typeface="Calibri"/>
              <a:ea typeface="Calibri"/>
              <a:cs typeface="Calibri"/>
              <a:sym typeface="Calibri"/>
            </a:endParaRPr>
          </a:p>
        </p:txBody>
      </p:sp>
      <p:sp>
        <p:nvSpPr>
          <p:cNvPr id="164" name="Google Shape;164;p11"/>
          <p:cNvSpPr/>
          <p:nvPr/>
        </p:nvSpPr>
        <p:spPr>
          <a:xfrm>
            <a:off x="256032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a:off x="272491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CONVERSIONS</a:t>
            </a:r>
            <a:endParaRPr b="0" i="0" sz="1000" u="none" cap="none" strike="noStrike">
              <a:solidFill>
                <a:schemeClr val="dk1"/>
              </a:solidFill>
              <a:latin typeface="Calibri"/>
              <a:ea typeface="Calibri"/>
              <a:cs typeface="Calibri"/>
              <a:sym typeface="Calibri"/>
            </a:endParaRPr>
          </a:p>
        </p:txBody>
      </p:sp>
      <p:sp>
        <p:nvSpPr>
          <p:cNvPr id="166" name="Google Shape;166;p11"/>
          <p:cNvSpPr/>
          <p:nvPr/>
        </p:nvSpPr>
        <p:spPr>
          <a:xfrm>
            <a:off x="272491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562</a:t>
            </a:r>
            <a:endParaRPr b="0" i="0" sz="2400" u="none" cap="none" strike="noStrike">
              <a:solidFill>
                <a:schemeClr val="dk1"/>
              </a:solidFill>
              <a:latin typeface="Calibri"/>
              <a:ea typeface="Calibri"/>
              <a:cs typeface="Calibri"/>
              <a:sym typeface="Calibri"/>
            </a:endParaRPr>
          </a:p>
        </p:txBody>
      </p:sp>
      <p:sp>
        <p:nvSpPr>
          <p:cNvPr id="167" name="Google Shape;167;p11"/>
          <p:cNvSpPr/>
          <p:nvPr/>
        </p:nvSpPr>
        <p:spPr>
          <a:xfrm>
            <a:off x="272491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bookings</a:t>
            </a:r>
            <a:endParaRPr b="0" i="0" sz="850" u="none" cap="none" strike="noStrike">
              <a:solidFill>
                <a:schemeClr val="dk1"/>
              </a:solidFill>
              <a:latin typeface="Calibri"/>
              <a:ea typeface="Calibri"/>
              <a:cs typeface="Calibri"/>
              <a:sym typeface="Calibri"/>
            </a:endParaRPr>
          </a:p>
        </p:txBody>
      </p:sp>
      <p:sp>
        <p:nvSpPr>
          <p:cNvPr id="168" name="Google Shape;168;p11"/>
          <p:cNvSpPr/>
          <p:nvPr/>
        </p:nvSpPr>
        <p:spPr>
          <a:xfrm>
            <a:off x="466344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482803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REVENUE</a:t>
            </a:r>
            <a:endParaRPr b="0" i="0" sz="1000" u="none" cap="none" strike="noStrike">
              <a:solidFill>
                <a:schemeClr val="dk1"/>
              </a:solidFill>
              <a:latin typeface="Calibri"/>
              <a:ea typeface="Calibri"/>
              <a:cs typeface="Calibri"/>
              <a:sym typeface="Calibri"/>
            </a:endParaRPr>
          </a:p>
        </p:txBody>
      </p:sp>
      <p:sp>
        <p:nvSpPr>
          <p:cNvPr id="170" name="Google Shape;170;p11"/>
          <p:cNvSpPr/>
          <p:nvPr/>
        </p:nvSpPr>
        <p:spPr>
          <a:xfrm>
            <a:off x="4828025" y="1700775"/>
            <a:ext cx="1729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$103,986.86</a:t>
            </a:r>
            <a:endParaRPr b="0" i="0" sz="2400" u="none" cap="none" strike="noStrike">
              <a:solidFill>
                <a:schemeClr val="dk1"/>
              </a:solidFill>
              <a:latin typeface="Calibri"/>
              <a:ea typeface="Calibri"/>
              <a:cs typeface="Calibri"/>
              <a:sym typeface="Calibri"/>
            </a:endParaRPr>
          </a:p>
        </p:txBody>
      </p:sp>
      <p:sp>
        <p:nvSpPr>
          <p:cNvPr id="171" name="Google Shape;171;p11"/>
          <p:cNvSpPr/>
          <p:nvPr/>
        </p:nvSpPr>
        <p:spPr>
          <a:xfrm>
            <a:off x="4828032" y="2084832"/>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 conv × $18</a:t>
            </a:r>
            <a:r>
              <a:rPr i="1" lang="en-US" sz="850">
                <a:solidFill>
                  <a:srgbClr val="96999B"/>
                </a:solidFill>
              </a:rPr>
              <a:t>5.03</a:t>
            </a:r>
            <a:endParaRPr b="0" i="0" sz="850" u="none" cap="none" strike="noStrike">
              <a:solidFill>
                <a:schemeClr val="dk1"/>
              </a:solidFill>
              <a:latin typeface="Calibri"/>
              <a:ea typeface="Calibri"/>
              <a:cs typeface="Calibri"/>
              <a:sym typeface="Calibri"/>
            </a:endParaRPr>
          </a:p>
        </p:txBody>
      </p:sp>
      <p:sp>
        <p:nvSpPr>
          <p:cNvPr id="172" name="Google Shape;172;p11"/>
          <p:cNvSpPr/>
          <p:nvPr/>
        </p:nvSpPr>
        <p:spPr>
          <a:xfrm>
            <a:off x="6766560" y="1371600"/>
            <a:ext cx="192024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6931152" y="1490472"/>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ROAS</a:t>
            </a:r>
            <a:endParaRPr b="0" i="0" sz="1000" u="none" cap="none" strike="noStrike">
              <a:solidFill>
                <a:schemeClr val="dk1"/>
              </a:solidFill>
              <a:latin typeface="Calibri"/>
              <a:ea typeface="Calibri"/>
              <a:cs typeface="Calibri"/>
              <a:sym typeface="Calibri"/>
            </a:endParaRPr>
          </a:p>
        </p:txBody>
      </p:sp>
      <p:sp>
        <p:nvSpPr>
          <p:cNvPr id="174" name="Google Shape;174;p11"/>
          <p:cNvSpPr/>
          <p:nvPr/>
        </p:nvSpPr>
        <p:spPr>
          <a:xfrm>
            <a:off x="6931152" y="1700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0.81x</a:t>
            </a:r>
            <a:endParaRPr b="0" i="0" sz="2400" u="none" cap="none" strike="noStrike">
              <a:solidFill>
                <a:schemeClr val="dk1"/>
              </a:solidFill>
              <a:latin typeface="Calibri"/>
              <a:ea typeface="Calibri"/>
              <a:cs typeface="Calibri"/>
              <a:sym typeface="Calibri"/>
            </a:endParaRPr>
          </a:p>
        </p:txBody>
      </p:sp>
      <p:sp>
        <p:nvSpPr>
          <p:cNvPr id="175" name="Google Shape;175;p11"/>
          <p:cNvSpPr/>
          <p:nvPr/>
        </p:nvSpPr>
        <p:spPr>
          <a:xfrm>
            <a:off x="6931152" y="2084832"/>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spend</a:t>
            </a:r>
            <a:endParaRPr b="0" i="0" sz="850" u="none" cap="none" strike="noStrike">
              <a:solidFill>
                <a:schemeClr val="dk1"/>
              </a:solidFill>
              <a:latin typeface="Calibri"/>
              <a:ea typeface="Calibri"/>
              <a:cs typeface="Calibri"/>
              <a:sym typeface="Calibri"/>
            </a:endParaRPr>
          </a:p>
        </p:txBody>
      </p:sp>
      <p:graphicFrame>
        <p:nvGraphicFramePr>
          <p:cNvPr id="176" name="Google Shape;176;p11"/>
          <p:cNvGraphicFramePr/>
          <p:nvPr/>
        </p:nvGraphicFramePr>
        <p:xfrm>
          <a:off x="330950" y="2468880"/>
          <a:ext cx="3000000" cy="3000000"/>
        </p:xfrm>
        <a:graphic>
          <a:graphicData uri="http://schemas.openxmlformats.org/drawingml/2006/table">
            <a:tbl>
              <a:tblPr>
                <a:noFill/>
                <a:tableStyleId>{4F219C23-2D71-41CD-9275-C88AA14EDE3B}</a:tableStyleId>
              </a:tblPr>
              <a:tblGrid>
                <a:gridCol w="851625"/>
                <a:gridCol w="908575"/>
                <a:gridCol w="618325"/>
                <a:gridCol w="967025"/>
                <a:gridCol w="937150"/>
                <a:gridCol w="552700"/>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Google</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$81,867.66</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445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$183.97</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$82,338.35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1.00x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Meta</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$40,533.56</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117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$346.44</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$21,648.51</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0.53x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1050">
                          <a:solidFill>
                            <a:srgbClr val="575757"/>
                          </a:solidFill>
                        </a:rPr>
                        <a:t>LinkedIn</a:t>
                      </a:r>
                      <a:endParaRPr sz="10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$2,300.00</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1050">
                          <a:solidFill>
                            <a:srgbClr val="575757"/>
                          </a:solidFill>
                        </a:rPr>
                        <a:t>TikTok</a:t>
                      </a:r>
                      <a:endParaRPr sz="1050">
                        <a:solidFill>
                          <a:srgbClr val="575757"/>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$2,245.25</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1050" u="none" cap="none" strike="noStrike">
                          <a:solidFill>
                            <a:srgbClr val="575757"/>
                          </a:solidFill>
                          <a:latin typeface="Arial"/>
                          <a:ea typeface="Arial"/>
                          <a:cs typeface="Arial"/>
                          <a:sym typeface="Arial"/>
                        </a:rPr>
                        <a:t>TOTAL</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$126,946.47</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562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$225.88</a:t>
                      </a:r>
                      <a:endParaRPr b="1"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$103,986.86</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0.81x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177" name="Google Shape;177;p11"/>
          <p:cNvSpPr/>
          <p:nvPr/>
        </p:nvSpPr>
        <p:spPr>
          <a:xfrm>
            <a:off x="457200" y="4526280"/>
            <a:ext cx="4709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$18</a:t>
            </a:r>
            <a:r>
              <a:rPr i="1" lang="en-US" sz="850">
                <a:solidFill>
                  <a:srgbClr val="96999B"/>
                </a:solidFill>
              </a:rPr>
              <a:t>5.03</a:t>
            </a:r>
            <a:r>
              <a:rPr b="0" i="1" lang="en-US" sz="850" u="none" cap="none" strike="noStrike">
                <a:solidFill>
                  <a:srgbClr val="96999B"/>
                </a:solidFill>
                <a:latin typeface="Arial"/>
                <a:ea typeface="Arial"/>
                <a:cs typeface="Arial"/>
                <a:sym typeface="Arial"/>
              </a:rPr>
              <a:t> avg bill.  ROAS = revenue ÷ spend.  First-transaction basis.</a:t>
            </a:r>
            <a:endParaRPr b="0" i="0" sz="850" u="none" cap="none" strike="noStrike">
              <a:solidFill>
                <a:schemeClr val="dk1"/>
              </a:solidFill>
              <a:latin typeface="Calibri"/>
              <a:ea typeface="Calibri"/>
              <a:cs typeface="Calibri"/>
              <a:sym typeface="Calibri"/>
            </a:endParaRPr>
          </a:p>
        </p:txBody>
      </p:sp>
      <p:sp>
        <p:nvSpPr>
          <p:cNvPr id="178" name="Google Shape;178;p11"/>
          <p:cNvSpPr/>
          <p:nvPr/>
        </p:nvSpPr>
        <p:spPr>
          <a:xfrm>
            <a:off x="5394960" y="2468880"/>
            <a:ext cx="3291840" cy="1417320"/>
          </a:xfrm>
          <a:prstGeom prst="roundRect">
            <a:avLst>
              <a:gd fmla="val 5161"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5577840" y="2606040"/>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000"/>
              <a:buFont typeface="Arial"/>
              <a:buNone/>
            </a:pPr>
            <a:r>
              <a:rPr b="1" lang="en-US" sz="1000">
                <a:solidFill>
                  <a:srgbClr val="0D39D8"/>
                </a:solidFill>
              </a:rPr>
              <a:t>Insight:</a:t>
            </a:r>
            <a:endParaRPr b="0" i="0" sz="1000" u="none" cap="none" strike="noStrike">
              <a:solidFill>
                <a:schemeClr val="dk1"/>
              </a:solidFill>
              <a:latin typeface="Calibri"/>
              <a:ea typeface="Calibri"/>
              <a:cs typeface="Calibri"/>
              <a:sym typeface="Calibri"/>
            </a:endParaRPr>
          </a:p>
        </p:txBody>
      </p:sp>
      <p:sp>
        <p:nvSpPr>
          <p:cNvPr id="180" name="Google Shape;180;p11"/>
          <p:cNvSpPr/>
          <p:nvPr/>
        </p:nvSpPr>
        <p:spPr>
          <a:xfrm>
            <a:off x="5577840" y="2852928"/>
            <a:ext cx="2971800" cy="960120"/>
          </a:xfrm>
          <a:prstGeom prst="rect">
            <a:avLst/>
          </a:prstGeom>
          <a:noFill/>
          <a:ln>
            <a:noFill/>
          </a:ln>
        </p:spPr>
        <p:txBody>
          <a:bodyPr anchorCtr="0" anchor="t" bIns="0" lIns="0" spcFirstLastPara="1" rIns="0" wrap="square" tIns="0">
            <a:noAutofit/>
          </a:bodyPr>
          <a:lstStyle/>
          <a:p>
            <a:pPr indent="0" lvl="0" marL="0" marR="0" rtl="0" algn="l">
              <a:spcBef>
                <a:spcPts val="500"/>
              </a:spcBef>
              <a:spcAft>
                <a:spcPts val="0"/>
              </a:spcAft>
              <a:buClr>
                <a:srgbClr val="575757"/>
              </a:buClr>
              <a:buSzPts val="1050"/>
              <a:buFont typeface="Arial"/>
              <a:buNone/>
            </a:pPr>
            <a:r>
              <a:rPr lang="en-US" sz="1050">
                <a:solidFill>
                  <a:srgbClr val="C77F00"/>
                </a:solidFill>
              </a:rPr>
              <a:t>ROAS is understated, as ABS reflects home care only and excludes form submission conversions; Google breakeven at 1.00x, Meta underperforms at 0.53x; LinkedIn and TikTok are top-funnel only.</a:t>
            </a:r>
            <a:endParaRPr sz="1050">
              <a:solidFill>
                <a:srgbClr val="C77F00"/>
              </a:solidFill>
            </a:endParaRPr>
          </a:p>
          <a:p>
            <a:pPr indent="0" lvl="0" marL="0" marR="0" rtl="0" algn="l">
              <a:spcBef>
                <a:spcPts val="500"/>
              </a:spcBef>
              <a:spcAft>
                <a:spcPts val="0"/>
              </a:spcAft>
              <a:buClr>
                <a:srgbClr val="575757"/>
              </a:buClr>
              <a:buSzPts val="1050"/>
              <a:buFont typeface="Arial"/>
              <a:buNone/>
            </a:pPr>
            <a:r>
              <a:t/>
            </a:r>
            <a:endParaRPr sz="1050">
              <a:solidFill>
                <a:srgbClr val="C77F00"/>
              </a:solidFill>
            </a:endParaRPr>
          </a:p>
        </p:txBody>
      </p:sp>
      <p:sp>
        <p:nvSpPr>
          <p:cNvPr id="181" name="Google Shape;181;p11"/>
          <p:cNvSpPr/>
          <p:nvPr/>
        </p:nvSpPr>
        <p:spPr>
          <a:xfrm>
            <a:off x="5394950" y="4023348"/>
            <a:ext cx="3291900" cy="914400"/>
          </a:xfrm>
          <a:prstGeom prst="roundRect">
            <a:avLst>
              <a:gd fmla="val 9412"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5577840" y="4091910"/>
            <a:ext cx="2971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50"/>
              <a:buFont typeface="Arial"/>
              <a:buNone/>
            </a:pPr>
            <a:r>
              <a:rPr b="1" i="0" lang="en-US" sz="1050" u="none" cap="none" strike="noStrike">
                <a:solidFill>
                  <a:srgbClr val="0A1E89"/>
                </a:solidFill>
                <a:latin typeface="Arial"/>
                <a:ea typeface="Arial"/>
                <a:cs typeface="Arial"/>
                <a:sym typeface="Arial"/>
              </a:rPr>
              <a:t>N</a:t>
            </a:r>
            <a:r>
              <a:rPr b="1" lang="en-US" sz="1050">
                <a:solidFill>
                  <a:srgbClr val="0A1E89"/>
                </a:solidFill>
              </a:rPr>
              <a:t>ext Month</a:t>
            </a:r>
            <a:r>
              <a:rPr b="1" i="0" lang="en-US" sz="1050" u="none" cap="none" strike="noStrike">
                <a:solidFill>
                  <a:srgbClr val="0A1E89"/>
                </a:solidFill>
                <a:latin typeface="Arial"/>
                <a:ea typeface="Arial"/>
                <a:cs typeface="Arial"/>
                <a:sym typeface="Arial"/>
              </a:rPr>
              <a:t>:  </a:t>
            </a:r>
            <a:r>
              <a:rPr lang="en-US" sz="1050">
                <a:solidFill>
                  <a:srgbClr val="C77F00"/>
                </a:solidFill>
              </a:rPr>
              <a:t>Establish a blended MOBS AOV across all service types; consolidate spend into Google as the stronger direct-response channel; reduce Meta until cost per booking improves; pause LinkedIn and TikTok.</a:t>
            </a:r>
            <a:endParaRPr sz="1050">
              <a:solidFill>
                <a:srgbClr val="C77F00"/>
              </a:solidFill>
            </a:endParaRPr>
          </a:p>
        </p:txBody>
      </p:sp>
      <p:sp>
        <p:nvSpPr>
          <p:cNvPr id="183" name="Google Shape;183;p11"/>
          <p:cNvSpPr/>
          <p:nvPr/>
        </p:nvSpPr>
        <p:spPr>
          <a:xfrm>
            <a:off x="457225" y="4800605"/>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Conversion = Bookings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8" name="Shape 188"/>
        <p:cNvGrpSpPr/>
        <p:nvPr/>
      </p:nvGrpSpPr>
      <p:grpSpPr>
        <a:xfrm>
          <a:off x="0" y="0"/>
          <a:ext cx="0" cy="0"/>
          <a:chOff x="0" y="0"/>
          <a:chExt cx="0" cy="0"/>
        </a:xfrm>
      </p:grpSpPr>
      <p:sp>
        <p:nvSpPr>
          <p:cNvPr id="189" name="Google Shape;189;p12"/>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2"/>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MOBS · PERFORMANCE</a:t>
            </a:r>
            <a:endParaRPr b="0" i="0" sz="1100" u="none" cap="none" strike="noStrike">
              <a:solidFill>
                <a:schemeClr val="dk1"/>
              </a:solidFill>
              <a:latin typeface="Calibri"/>
              <a:ea typeface="Calibri"/>
              <a:cs typeface="Calibri"/>
              <a:sym typeface="Calibri"/>
            </a:endParaRPr>
          </a:p>
        </p:txBody>
      </p:sp>
      <p:sp>
        <p:nvSpPr>
          <p:cNvPr id="191" name="Google Shape;191;p12"/>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MOBS: Updated Data with Conv. Rate</a:t>
            </a:r>
            <a:endParaRPr b="0" i="0" sz="2800" u="none" cap="none" strike="noStrike">
              <a:solidFill>
                <a:schemeClr val="dk1"/>
              </a:solidFill>
              <a:latin typeface="Calibri"/>
              <a:ea typeface="Calibri"/>
              <a:cs typeface="Calibri"/>
              <a:sym typeface="Calibri"/>
            </a:endParaRPr>
          </a:p>
        </p:txBody>
      </p:sp>
      <p:graphicFrame>
        <p:nvGraphicFramePr>
          <p:cNvPr id="192" name="Google Shape;192;p12"/>
          <p:cNvGraphicFramePr/>
          <p:nvPr/>
        </p:nvGraphicFramePr>
        <p:xfrm>
          <a:off x="792813" y="1350817"/>
          <a:ext cx="3000000" cy="3000000"/>
        </p:xfrm>
        <a:graphic>
          <a:graphicData uri="http://schemas.openxmlformats.org/drawingml/2006/table">
            <a:tbl>
              <a:tblPr>
                <a:noFill/>
                <a:tableStyleId>{4F219C23-2D71-41CD-9275-C88AA14EDE3B}</a:tableStyleId>
              </a:tblPr>
              <a:tblGrid>
                <a:gridCol w="1105500"/>
                <a:gridCol w="1105500"/>
                <a:gridCol w="1105500"/>
                <a:gridCol w="1105500"/>
                <a:gridCol w="1105500"/>
                <a:gridCol w="1105500"/>
                <a:gridCol w="1105500"/>
              </a:tblGrid>
              <a:tr h="451900">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Conv</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Conv</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Revenue</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ROAS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Conv. Rate</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451900">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Google</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$81,867.66</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445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$183.97</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$82,338.35</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1.00x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0.49%</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451900">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Meta</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$40,533.56</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117</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$346.44</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$21,648.51</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050"/>
                        <a:buFont typeface="Arial"/>
                        <a:buNone/>
                      </a:pPr>
                      <a:r>
                        <a:rPr b="1" lang="en-US" sz="850">
                          <a:solidFill>
                            <a:schemeClr val="dk1"/>
                          </a:solidFill>
                        </a:rPr>
                        <a:t>0.53x</a:t>
                      </a:r>
                      <a:endParaRPr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0.22%</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451900">
                <a:tc>
                  <a:txBody>
                    <a:bodyPr/>
                    <a:lstStyle/>
                    <a:p>
                      <a:pPr indent="0" lvl="0" marL="0" marR="0" rtl="0" algn="l">
                        <a:spcBef>
                          <a:spcPts val="0"/>
                        </a:spcBef>
                        <a:spcAft>
                          <a:spcPts val="0"/>
                        </a:spcAft>
                        <a:buNone/>
                      </a:pPr>
                      <a:r>
                        <a:rPr lang="en-US" sz="1050">
                          <a:solidFill>
                            <a:srgbClr val="575757"/>
                          </a:solidFill>
                        </a:rPr>
                        <a:t>LinkedIn</a:t>
                      </a:r>
                      <a:endParaRPr sz="10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$2,300.00</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451900">
                <a:tc>
                  <a:txBody>
                    <a:bodyPr/>
                    <a:lstStyle/>
                    <a:p>
                      <a:pPr indent="0" lvl="0" marL="0" marR="0" rtl="0" algn="l">
                        <a:spcBef>
                          <a:spcPts val="0"/>
                        </a:spcBef>
                        <a:spcAft>
                          <a:spcPts val="0"/>
                        </a:spcAft>
                        <a:buNone/>
                      </a:pPr>
                      <a:r>
                        <a:rPr lang="en-US" sz="1050">
                          <a:solidFill>
                            <a:srgbClr val="575757"/>
                          </a:solidFill>
                        </a:rPr>
                        <a:t>TikTok</a:t>
                      </a:r>
                      <a:endParaRPr sz="1050">
                        <a:solidFill>
                          <a:srgbClr val="575757"/>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$2,245.25</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850">
                          <a:solidFill>
                            <a:schemeClr val="dk1"/>
                          </a:solidFill>
                        </a:rPr>
                        <a:t>N/A</a:t>
                      </a:r>
                      <a:endParaRPr b="1" sz="8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451900">
                <a:tc>
                  <a:txBody>
                    <a:bodyPr/>
                    <a:lstStyle/>
                    <a:p>
                      <a:pPr indent="0" lvl="0" marL="0" marR="0" rtl="0" algn="l">
                        <a:spcBef>
                          <a:spcPts val="0"/>
                        </a:spcBef>
                        <a:spcAft>
                          <a:spcPts val="0"/>
                        </a:spcAft>
                        <a:buClr>
                          <a:srgbClr val="575757"/>
                        </a:buClr>
                        <a:buSzPts val="1050"/>
                        <a:buFont typeface="Arial"/>
                        <a:buNone/>
                      </a:pPr>
                      <a:r>
                        <a:rPr b="1" lang="en-US" sz="1050" u="none" cap="none" strike="noStrike">
                          <a:solidFill>
                            <a:srgbClr val="575757"/>
                          </a:solidFill>
                          <a:latin typeface="Arial"/>
                          <a:ea typeface="Arial"/>
                          <a:cs typeface="Arial"/>
                          <a:sym typeface="Arial"/>
                        </a:rPr>
                        <a:t>TOTAL</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$126,946.47</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562</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$225.88</a:t>
                      </a:r>
                      <a:endParaRPr b="1"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$103,986.86</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Clr>
                          <a:srgbClr val="C77F00"/>
                        </a:buClr>
                        <a:buSzPts val="1050"/>
                        <a:buFont typeface="Arial"/>
                        <a:buNone/>
                      </a:pPr>
                      <a:r>
                        <a:rPr b="1" lang="en-US" sz="950">
                          <a:solidFill>
                            <a:schemeClr val="dk1"/>
                          </a:solidFill>
                        </a:rPr>
                        <a:t>0.81x</a:t>
                      </a:r>
                      <a:endParaRPr sz="950" u="none" cap="none" strike="noStrike">
                        <a:solidFill>
                          <a:schemeClr val="dk1"/>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marR="0" rtl="0" algn="r">
                        <a:spcBef>
                          <a:spcPts val="0"/>
                        </a:spcBef>
                        <a:spcAft>
                          <a:spcPts val="0"/>
                        </a:spcAft>
                        <a:buNone/>
                      </a:pPr>
                      <a:r>
                        <a:rPr b="1" lang="en-US" sz="950">
                          <a:solidFill>
                            <a:schemeClr val="dk1"/>
                          </a:solidFill>
                        </a:rPr>
                        <a:t>0.39%</a:t>
                      </a:r>
                      <a:endParaRPr b="1" sz="950">
                        <a:solidFill>
                          <a:schemeClr val="dk1"/>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193" name="Google Shape;193;p12"/>
          <p:cNvSpPr/>
          <p:nvPr/>
        </p:nvSpPr>
        <p:spPr>
          <a:xfrm>
            <a:off x="457200" y="4526280"/>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b="0" i="1" lang="en-US" sz="850" u="none" cap="none" strike="noStrike">
                <a:solidFill>
                  <a:srgbClr val="96999B"/>
                </a:solidFill>
                <a:latin typeface="Arial"/>
                <a:ea typeface="Arial"/>
                <a:cs typeface="Arial"/>
                <a:sym typeface="Arial"/>
              </a:rPr>
              <a:t>Revenue = conversions × $18</a:t>
            </a:r>
            <a:r>
              <a:rPr i="1" lang="en-US" sz="850">
                <a:solidFill>
                  <a:srgbClr val="96999B"/>
                </a:solidFill>
              </a:rPr>
              <a:t>5.03</a:t>
            </a:r>
            <a:r>
              <a:rPr b="0" i="1" lang="en-US" sz="850" u="none" cap="none" strike="noStrike">
                <a:solidFill>
                  <a:srgbClr val="96999B"/>
                </a:solidFill>
                <a:latin typeface="Arial"/>
                <a:ea typeface="Arial"/>
                <a:cs typeface="Arial"/>
                <a:sym typeface="Arial"/>
              </a:rPr>
              <a:t> avg bill.  ROAS = revenue ÷ spend.  First-transaction basis.</a:t>
            </a:r>
            <a:endParaRPr b="0" i="0" sz="850" u="none" cap="none" strike="noStrike">
              <a:solidFill>
                <a:schemeClr val="dk1"/>
              </a:solidFill>
              <a:latin typeface="Calibri"/>
              <a:ea typeface="Calibri"/>
              <a:cs typeface="Calibri"/>
              <a:sym typeface="Calibri"/>
            </a:endParaRPr>
          </a:p>
        </p:txBody>
      </p:sp>
      <p:sp>
        <p:nvSpPr>
          <p:cNvPr id="194" name="Google Shape;194;p12"/>
          <p:cNvSpPr/>
          <p:nvPr/>
        </p:nvSpPr>
        <p:spPr>
          <a:xfrm>
            <a:off x="457225" y="4800605"/>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Conversion = Bookings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3"/>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
          <p:cNvSpPr/>
          <p:nvPr/>
        </p:nvSpPr>
        <p:spPr>
          <a:xfrm>
            <a:off x="640077" y="338325"/>
            <a:ext cx="532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WHAT'S WORKING · CREATIVE</a:t>
            </a:r>
            <a:endParaRPr b="0" i="0" sz="1100" u="none" cap="none" strike="noStrike">
              <a:solidFill>
                <a:schemeClr val="dk1"/>
              </a:solidFill>
              <a:latin typeface="Calibri"/>
              <a:ea typeface="Calibri"/>
              <a:cs typeface="Calibri"/>
              <a:sym typeface="Calibri"/>
            </a:endParaRPr>
          </a:p>
        </p:txBody>
      </p:sp>
      <p:sp>
        <p:nvSpPr>
          <p:cNvPr id="202" name="Google Shape;202;p13"/>
          <p:cNvSpPr/>
          <p:nvPr/>
        </p:nvSpPr>
        <p:spPr>
          <a:xfrm>
            <a:off x="457200" y="603500"/>
            <a:ext cx="57597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Top creatives by sub-unit</a:t>
            </a:r>
            <a:endParaRPr b="0" i="0" sz="2800" u="none" cap="none" strike="noStrike">
              <a:solidFill>
                <a:schemeClr val="dk1"/>
              </a:solidFill>
              <a:latin typeface="Calibri"/>
              <a:ea typeface="Calibri"/>
              <a:cs typeface="Calibri"/>
              <a:sym typeface="Calibri"/>
            </a:endParaRPr>
          </a:p>
        </p:txBody>
      </p:sp>
      <p:sp>
        <p:nvSpPr>
          <p:cNvPr id="203" name="Google Shape;203;p13"/>
          <p:cNvSpPr/>
          <p:nvPr/>
        </p:nvSpPr>
        <p:spPr>
          <a:xfrm>
            <a:off x="1089342" y="3365838"/>
            <a:ext cx="1914300" cy="424200"/>
          </a:xfrm>
          <a:prstGeom prst="roundRect">
            <a:avLst>
              <a:gd fmla="val 11765"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
          <p:cNvSpPr/>
          <p:nvPr/>
        </p:nvSpPr>
        <p:spPr>
          <a:xfrm>
            <a:off x="1258088" y="3361450"/>
            <a:ext cx="1576800" cy="42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00"/>
              <a:buFont typeface="Arial"/>
              <a:buNone/>
            </a:pPr>
            <a:r>
              <a:rPr b="1" i="0" lang="en-US" sz="1000" u="none" cap="none" strike="noStrike">
                <a:solidFill>
                  <a:srgbClr val="0A1E89"/>
                </a:solidFill>
                <a:latin typeface="Arial"/>
                <a:ea typeface="Arial"/>
                <a:cs typeface="Arial"/>
                <a:sym typeface="Arial"/>
              </a:rPr>
              <a:t>Key metric:  </a:t>
            </a:r>
            <a:r>
              <a:rPr i="1" lang="en-US" sz="1000">
                <a:solidFill>
                  <a:srgbClr val="C77F00"/>
                </a:solidFill>
              </a:rPr>
              <a:t>ROAS - 3.38x</a:t>
            </a:r>
            <a:endParaRPr b="0" i="0" sz="1000" u="none" cap="none" strike="noStrike">
              <a:solidFill>
                <a:schemeClr val="dk1"/>
              </a:solidFill>
              <a:latin typeface="Calibri"/>
              <a:ea typeface="Calibri"/>
              <a:cs typeface="Calibri"/>
              <a:sym typeface="Calibri"/>
            </a:endParaRPr>
          </a:p>
        </p:txBody>
      </p:sp>
      <p:pic>
        <p:nvPicPr>
          <p:cNvPr id="205" name="Google Shape;205;p13"/>
          <p:cNvPicPr preferRelativeResize="0"/>
          <p:nvPr/>
        </p:nvPicPr>
        <p:blipFill>
          <a:blip r:embed="rId3">
            <a:alphaModFix/>
          </a:blip>
          <a:stretch>
            <a:fillRect/>
          </a:stretch>
        </p:blipFill>
        <p:spPr>
          <a:xfrm>
            <a:off x="971425" y="1562861"/>
            <a:ext cx="2150143" cy="1632650"/>
          </a:xfrm>
          <a:prstGeom prst="rect">
            <a:avLst/>
          </a:prstGeom>
          <a:noFill/>
          <a:ln>
            <a:noFill/>
          </a:ln>
        </p:spPr>
      </p:pic>
      <p:sp>
        <p:nvSpPr>
          <p:cNvPr id="206" name="Google Shape;206;p13"/>
          <p:cNvSpPr/>
          <p:nvPr/>
        </p:nvSpPr>
        <p:spPr>
          <a:xfrm>
            <a:off x="576000" y="4029900"/>
            <a:ext cx="3412500" cy="88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Hook / format:  </a:t>
            </a:r>
            <a:r>
              <a:rPr lang="en-US" sz="1000">
                <a:solidFill>
                  <a:srgbClr val="C77F00"/>
                </a:solidFill>
              </a:rPr>
              <a:t>Pmax responsive ad; speed and 24/7 accessibility as the core hook.</a:t>
            </a:r>
            <a:endParaRPr sz="1000">
              <a:solidFill>
                <a:srgbClr val="C77F00"/>
              </a:solidFill>
            </a:endParaRPr>
          </a:p>
          <a:p>
            <a:pPr indent="0" lvl="0" marL="0" marR="0" rtl="0" algn="l">
              <a:spcBef>
                <a:spcPts val="0"/>
              </a:spcBef>
              <a:spcAft>
                <a:spcPts val="0"/>
              </a:spcAft>
              <a:buClr>
                <a:srgbClr val="575757"/>
              </a:buClr>
              <a:buSzPts val="1000"/>
              <a:buFont typeface="Arial"/>
              <a:buNone/>
            </a:pPr>
            <a:r>
              <a:t/>
            </a:r>
            <a:endParaRPr sz="1000">
              <a:solidFill>
                <a:srgbClr val="C77F00"/>
              </a:solidFill>
            </a:endParaRPr>
          </a:p>
          <a:p>
            <a:pPr indent="0" lvl="0" marL="0" marR="0" rtl="0" algn="l">
              <a:spcBef>
                <a:spcPts val="30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Why it works: </a:t>
            </a:r>
            <a:r>
              <a:rPr lang="en-US" sz="1000">
                <a:solidFill>
                  <a:srgbClr val="C77F00"/>
                </a:solidFill>
              </a:rPr>
              <a:t>Directly addresses the biggest barrier to VC adoption: Time. "Doctor in 5 mins" reframes healthcare as instant and frictionless, resonating with busy urban users who associate seeing a doctor with waiting.</a:t>
            </a:r>
            <a:endParaRPr b="0" sz="1000" u="none" cap="none" strike="noStrike">
              <a:solidFill>
                <a:schemeClr val="dk1"/>
              </a:solidFill>
              <a:latin typeface="Calibri"/>
              <a:ea typeface="Calibri"/>
              <a:cs typeface="Calibri"/>
              <a:sym typeface="Calibri"/>
            </a:endParaRPr>
          </a:p>
        </p:txBody>
      </p:sp>
      <p:sp>
        <p:nvSpPr>
          <p:cNvPr id="207" name="Google Shape;207;p13"/>
          <p:cNvSpPr/>
          <p:nvPr/>
        </p:nvSpPr>
        <p:spPr>
          <a:xfrm>
            <a:off x="1077472" y="1220188"/>
            <a:ext cx="1783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300"/>
              <a:buFont typeface="Arial"/>
              <a:buNone/>
            </a:pPr>
            <a:r>
              <a:rPr b="1" i="0" lang="en-US" sz="1300" u="none" cap="none" strike="noStrike">
                <a:solidFill>
                  <a:srgbClr val="121212"/>
                </a:solidFill>
                <a:latin typeface="Arial"/>
                <a:ea typeface="Arial"/>
                <a:cs typeface="Arial"/>
                <a:sym typeface="Arial"/>
              </a:rPr>
              <a:t>VC —</a:t>
            </a:r>
            <a:r>
              <a:rPr b="1" lang="en-US" sz="1300">
                <a:solidFill>
                  <a:srgbClr val="121212"/>
                </a:solidFill>
              </a:rPr>
              <a:t> </a:t>
            </a:r>
            <a:r>
              <a:rPr b="1" lang="en-US" sz="1300" u="sng">
                <a:solidFill>
                  <a:schemeClr val="hlink"/>
                </a:solidFill>
                <a:hlinkClick r:id="rId4"/>
              </a:rPr>
              <a:t>Doctor in 5 mins</a:t>
            </a:r>
            <a:endParaRPr b="0" i="0" sz="1300" u="none" cap="none" strike="noStrike">
              <a:solidFill>
                <a:schemeClr val="dk1"/>
              </a:solidFill>
              <a:latin typeface="Calibri"/>
              <a:ea typeface="Calibri"/>
              <a:cs typeface="Calibri"/>
              <a:sym typeface="Calibri"/>
            </a:endParaRPr>
          </a:p>
        </p:txBody>
      </p:sp>
      <p:sp>
        <p:nvSpPr>
          <p:cNvPr id="208" name="Google Shape;208;p13"/>
          <p:cNvSpPr/>
          <p:nvPr/>
        </p:nvSpPr>
        <p:spPr>
          <a:xfrm>
            <a:off x="6921825" y="2544313"/>
            <a:ext cx="1740900" cy="424200"/>
          </a:xfrm>
          <a:prstGeom prst="roundRect">
            <a:avLst>
              <a:gd fmla="val 11765"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
          <p:cNvSpPr/>
          <p:nvPr/>
        </p:nvSpPr>
        <p:spPr>
          <a:xfrm>
            <a:off x="7020375" y="2544313"/>
            <a:ext cx="1700400" cy="42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00"/>
              <a:buFont typeface="Arial"/>
              <a:buNone/>
            </a:pPr>
            <a:r>
              <a:rPr b="1" i="0" lang="en-US" sz="1000" u="none" cap="none" strike="noStrike">
                <a:solidFill>
                  <a:srgbClr val="0A1E89"/>
                </a:solidFill>
                <a:latin typeface="Arial"/>
                <a:ea typeface="Arial"/>
                <a:cs typeface="Arial"/>
                <a:sym typeface="Arial"/>
              </a:rPr>
              <a:t>Key metric:  </a:t>
            </a:r>
            <a:r>
              <a:rPr i="1" lang="en-US" sz="1000">
                <a:solidFill>
                  <a:srgbClr val="C77F00"/>
                </a:solidFill>
              </a:rPr>
              <a:t>ROAS - 24.49x</a:t>
            </a:r>
            <a:endParaRPr b="0" i="0" sz="1000" u="none" cap="none" strike="noStrike">
              <a:solidFill>
                <a:schemeClr val="dk1"/>
              </a:solidFill>
              <a:latin typeface="Calibri"/>
              <a:ea typeface="Calibri"/>
              <a:cs typeface="Calibri"/>
              <a:sym typeface="Calibri"/>
            </a:endParaRPr>
          </a:p>
        </p:txBody>
      </p:sp>
      <p:sp>
        <p:nvSpPr>
          <p:cNvPr id="210" name="Google Shape;210;p13"/>
          <p:cNvSpPr/>
          <p:nvPr/>
        </p:nvSpPr>
        <p:spPr>
          <a:xfrm>
            <a:off x="6606600" y="3195500"/>
            <a:ext cx="2429400" cy="156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Hook / format:  </a:t>
            </a:r>
            <a:r>
              <a:rPr lang="en-US" sz="1000">
                <a:solidFill>
                  <a:srgbClr val="C77F00"/>
                </a:solidFill>
              </a:rPr>
              <a:t>30-second Meta video; opens on calm lifestyle imagery with empowerment-led copy ("stay strong, stay sharp")</a:t>
            </a:r>
            <a:endParaRPr sz="1000">
              <a:solidFill>
                <a:srgbClr val="C77F00"/>
              </a:solidFill>
            </a:endParaRPr>
          </a:p>
          <a:p>
            <a:pPr indent="0" lvl="0" marL="0" marR="0" rtl="0" algn="l">
              <a:spcBef>
                <a:spcPts val="0"/>
              </a:spcBef>
              <a:spcAft>
                <a:spcPts val="0"/>
              </a:spcAft>
              <a:buClr>
                <a:srgbClr val="575757"/>
              </a:buClr>
              <a:buSzPts val="1000"/>
              <a:buFont typeface="Arial"/>
              <a:buNone/>
            </a:pPr>
            <a:r>
              <a:t/>
            </a:r>
            <a:endParaRPr sz="1000">
              <a:solidFill>
                <a:srgbClr val="C77F00"/>
              </a:solidFill>
            </a:endParaRPr>
          </a:p>
          <a:p>
            <a:pPr indent="0" lvl="0" marL="0" marR="0" rtl="0" algn="l">
              <a:spcBef>
                <a:spcPts val="30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Why it works:  </a:t>
            </a:r>
            <a:r>
              <a:rPr lang="en-US" sz="1000">
                <a:solidFill>
                  <a:srgbClr val="C77F00"/>
                </a:solidFill>
              </a:rPr>
              <a:t>Lifestyle and aspiration framing over clinical messaging lowers purchase anxiety for a considered health decision. Due to premium pricing, emotional resonance drives conversion better than a transactional approach.</a:t>
            </a:r>
            <a:endParaRPr b="0" sz="1000" u="none" cap="none" strike="noStrike">
              <a:solidFill>
                <a:schemeClr val="dk1"/>
              </a:solidFill>
              <a:latin typeface="Calibri"/>
              <a:ea typeface="Calibri"/>
              <a:cs typeface="Calibri"/>
              <a:sym typeface="Calibri"/>
            </a:endParaRPr>
          </a:p>
        </p:txBody>
      </p:sp>
      <p:sp>
        <p:nvSpPr>
          <p:cNvPr id="211" name="Google Shape;211;p13"/>
          <p:cNvSpPr/>
          <p:nvPr/>
        </p:nvSpPr>
        <p:spPr>
          <a:xfrm>
            <a:off x="4191038" y="1207100"/>
            <a:ext cx="2483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300"/>
              <a:buFont typeface="Arial"/>
              <a:buNone/>
            </a:pPr>
            <a:r>
              <a:rPr b="1" lang="en-US" sz="1300">
                <a:solidFill>
                  <a:srgbClr val="121212"/>
                </a:solidFill>
              </a:rPr>
              <a:t>Medsuites</a:t>
            </a:r>
            <a:r>
              <a:rPr b="1" i="0" lang="en-US" sz="1300" u="none" cap="none" strike="noStrike">
                <a:solidFill>
                  <a:srgbClr val="121212"/>
                </a:solidFill>
                <a:latin typeface="Arial"/>
                <a:ea typeface="Arial"/>
                <a:cs typeface="Arial"/>
                <a:sym typeface="Arial"/>
              </a:rPr>
              <a:t> — </a:t>
            </a:r>
            <a:r>
              <a:rPr b="1" lang="en-US" sz="1300" u="sng">
                <a:solidFill>
                  <a:schemeClr val="hlink"/>
                </a:solidFill>
                <a:hlinkClick r:id="rId5"/>
              </a:rPr>
              <a:t>Health Screening</a:t>
            </a:r>
            <a:endParaRPr b="0" i="0" sz="1300" u="none" cap="none" strike="noStrike">
              <a:solidFill>
                <a:schemeClr val="dk1"/>
              </a:solidFill>
              <a:latin typeface="Calibri"/>
              <a:ea typeface="Calibri"/>
              <a:cs typeface="Calibri"/>
              <a:sym typeface="Calibri"/>
            </a:endParaRPr>
          </a:p>
        </p:txBody>
      </p:sp>
      <p:pic>
        <p:nvPicPr>
          <p:cNvPr id="212" name="Google Shape;212;p13"/>
          <p:cNvPicPr preferRelativeResize="0"/>
          <p:nvPr/>
        </p:nvPicPr>
        <p:blipFill>
          <a:blip r:embed="rId6">
            <a:alphaModFix/>
          </a:blip>
          <a:stretch>
            <a:fillRect/>
          </a:stretch>
        </p:blipFill>
        <p:spPr>
          <a:xfrm>
            <a:off x="4582737" y="1512351"/>
            <a:ext cx="1700300" cy="3101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4"/>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640077" y="338325"/>
            <a:ext cx="532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WHAT'S WORKING · CREATIVE</a:t>
            </a:r>
            <a:endParaRPr b="0" i="0" sz="1100" u="none" cap="none" strike="noStrike">
              <a:solidFill>
                <a:schemeClr val="dk1"/>
              </a:solidFill>
              <a:latin typeface="Calibri"/>
              <a:ea typeface="Calibri"/>
              <a:cs typeface="Calibri"/>
              <a:sym typeface="Calibri"/>
            </a:endParaRPr>
          </a:p>
        </p:txBody>
      </p:sp>
      <p:sp>
        <p:nvSpPr>
          <p:cNvPr id="220" name="Google Shape;220;p14"/>
          <p:cNvSpPr/>
          <p:nvPr/>
        </p:nvSpPr>
        <p:spPr>
          <a:xfrm>
            <a:off x="457200" y="603500"/>
            <a:ext cx="57597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Top creatives by sub-unit</a:t>
            </a:r>
            <a:endParaRPr b="0" i="0" sz="2800" u="none" cap="none" strike="noStrike">
              <a:solidFill>
                <a:schemeClr val="dk1"/>
              </a:solidFill>
              <a:latin typeface="Calibri"/>
              <a:ea typeface="Calibri"/>
              <a:cs typeface="Calibri"/>
              <a:sym typeface="Calibri"/>
            </a:endParaRPr>
          </a:p>
        </p:txBody>
      </p:sp>
      <p:sp>
        <p:nvSpPr>
          <p:cNvPr id="221" name="Google Shape;221;p14"/>
          <p:cNvSpPr/>
          <p:nvPr/>
        </p:nvSpPr>
        <p:spPr>
          <a:xfrm>
            <a:off x="3092442" y="3862063"/>
            <a:ext cx="1914300" cy="424200"/>
          </a:xfrm>
          <a:prstGeom prst="roundRect">
            <a:avLst>
              <a:gd fmla="val 11765"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3261188" y="3857675"/>
            <a:ext cx="1576800" cy="42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00"/>
              <a:buFont typeface="Arial"/>
              <a:buNone/>
            </a:pPr>
            <a:r>
              <a:rPr b="1" i="0" lang="en-US" sz="1000" u="none" cap="none" strike="noStrike">
                <a:solidFill>
                  <a:srgbClr val="0A1E89"/>
                </a:solidFill>
                <a:latin typeface="Arial"/>
                <a:ea typeface="Arial"/>
                <a:cs typeface="Arial"/>
                <a:sym typeface="Arial"/>
              </a:rPr>
              <a:t>Key metric:  </a:t>
            </a:r>
            <a:r>
              <a:rPr i="1" lang="en-US" sz="1000">
                <a:solidFill>
                  <a:srgbClr val="C77F00"/>
                </a:solidFill>
              </a:rPr>
              <a:t>ROAS - 2.97x</a:t>
            </a:r>
            <a:endParaRPr b="0" i="0" sz="1000" u="none" cap="none" strike="noStrike">
              <a:solidFill>
                <a:schemeClr val="dk1"/>
              </a:solidFill>
              <a:latin typeface="Calibri"/>
              <a:ea typeface="Calibri"/>
              <a:cs typeface="Calibri"/>
              <a:sym typeface="Calibri"/>
            </a:endParaRPr>
          </a:p>
        </p:txBody>
      </p:sp>
      <p:sp>
        <p:nvSpPr>
          <p:cNvPr id="223" name="Google Shape;223;p14"/>
          <p:cNvSpPr/>
          <p:nvPr/>
        </p:nvSpPr>
        <p:spPr>
          <a:xfrm>
            <a:off x="5316850" y="1899513"/>
            <a:ext cx="3459900" cy="17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Hook / format:</a:t>
            </a:r>
            <a:r>
              <a:rPr b="1" lang="en-US" sz="1000" u="none" cap="none" strike="noStrike">
                <a:solidFill>
                  <a:srgbClr val="575757"/>
                </a:solidFill>
                <a:latin typeface="Arial"/>
                <a:ea typeface="Arial"/>
                <a:cs typeface="Arial"/>
                <a:sym typeface="Arial"/>
              </a:rPr>
              <a:t> </a:t>
            </a:r>
            <a:r>
              <a:rPr b="1" lang="en-US" sz="1000" u="none" cap="none" strike="noStrike">
                <a:solidFill>
                  <a:srgbClr val="575757"/>
                </a:solidFill>
                <a:latin typeface="Arial"/>
                <a:ea typeface="Arial"/>
                <a:cs typeface="Arial"/>
                <a:sym typeface="Arial"/>
              </a:rPr>
              <a:t> </a:t>
            </a:r>
            <a:r>
              <a:rPr lang="en-US" sz="1000">
                <a:solidFill>
                  <a:srgbClr val="C77F00"/>
                </a:solidFill>
              </a:rPr>
              <a:t>Responsive search ad; leads with customisability ("Customisable Packages/Add-Ons") paired with a direct booking CTA</a:t>
            </a:r>
            <a:endParaRPr sz="1000">
              <a:solidFill>
                <a:srgbClr val="C77F00"/>
              </a:solidFill>
            </a:endParaRPr>
          </a:p>
          <a:p>
            <a:pPr indent="0" lvl="0" marL="0" marR="0" rtl="0" algn="l">
              <a:spcBef>
                <a:spcPts val="0"/>
              </a:spcBef>
              <a:spcAft>
                <a:spcPts val="0"/>
              </a:spcAft>
              <a:buClr>
                <a:srgbClr val="575757"/>
              </a:buClr>
              <a:buSzPts val="1000"/>
              <a:buFont typeface="Arial"/>
              <a:buNone/>
            </a:pPr>
            <a:r>
              <a:t/>
            </a:r>
            <a:endParaRPr sz="1000">
              <a:solidFill>
                <a:srgbClr val="C77F00"/>
              </a:solidFill>
            </a:endParaRPr>
          </a:p>
          <a:p>
            <a:pPr indent="0" lvl="0" marL="0" marR="0" rtl="0" algn="l">
              <a:spcBef>
                <a:spcPts val="30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Why it works:  </a:t>
            </a:r>
            <a:r>
              <a:rPr lang="en-US" sz="1000">
                <a:solidFill>
                  <a:srgbClr val="C77F00"/>
                </a:solidFill>
              </a:rPr>
              <a:t>Customisation is potentially a right hook for health screening. The key purchase barrier is relevance, not price. By signalling flexibility upfront and listing specific test, the ad pre-answers "does this cover what I need?" before the user even clicks, which drives higher-intent traffic to the booking page.</a:t>
            </a:r>
            <a:endParaRPr b="0" sz="1000" u="none" cap="none" strike="noStrike">
              <a:solidFill>
                <a:schemeClr val="dk1"/>
              </a:solidFill>
              <a:latin typeface="Calibri"/>
              <a:ea typeface="Calibri"/>
              <a:cs typeface="Calibri"/>
              <a:sym typeface="Calibri"/>
            </a:endParaRPr>
          </a:p>
        </p:txBody>
      </p:sp>
      <p:sp>
        <p:nvSpPr>
          <p:cNvPr id="224" name="Google Shape;224;p14"/>
          <p:cNvSpPr/>
          <p:nvPr/>
        </p:nvSpPr>
        <p:spPr>
          <a:xfrm>
            <a:off x="2650400" y="1485425"/>
            <a:ext cx="2798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300"/>
              <a:buFont typeface="Arial"/>
              <a:buNone/>
            </a:pPr>
            <a:r>
              <a:rPr b="1" lang="en-US" sz="1300">
                <a:solidFill>
                  <a:srgbClr val="121212"/>
                </a:solidFill>
              </a:rPr>
              <a:t>MOBS</a:t>
            </a:r>
            <a:r>
              <a:rPr b="1" i="0" lang="en-US" sz="1300" u="none" cap="none" strike="noStrike">
                <a:solidFill>
                  <a:srgbClr val="121212"/>
                </a:solidFill>
                <a:latin typeface="Arial"/>
                <a:ea typeface="Arial"/>
                <a:cs typeface="Arial"/>
                <a:sym typeface="Arial"/>
              </a:rPr>
              <a:t> —</a:t>
            </a:r>
            <a:r>
              <a:rPr b="1" lang="en-US" sz="1300">
                <a:solidFill>
                  <a:srgbClr val="121212"/>
                </a:solidFill>
              </a:rPr>
              <a:t> </a:t>
            </a:r>
            <a:r>
              <a:rPr b="1" lang="en-US" sz="1300" u="sng">
                <a:solidFill>
                  <a:schemeClr val="hlink"/>
                </a:solidFill>
                <a:hlinkClick r:id="rId3"/>
              </a:rPr>
              <a:t>Public Health Screening</a:t>
            </a:r>
            <a:endParaRPr b="0" i="0" sz="1300" u="none" cap="none" strike="noStrike">
              <a:solidFill>
                <a:schemeClr val="dk1"/>
              </a:solidFill>
              <a:latin typeface="Calibri"/>
              <a:ea typeface="Calibri"/>
              <a:cs typeface="Calibri"/>
              <a:sym typeface="Calibri"/>
            </a:endParaRPr>
          </a:p>
        </p:txBody>
      </p:sp>
      <p:pic>
        <p:nvPicPr>
          <p:cNvPr id="225" name="Google Shape;225;p14"/>
          <p:cNvPicPr preferRelativeResize="0"/>
          <p:nvPr/>
        </p:nvPicPr>
        <p:blipFill>
          <a:blip r:embed="rId4">
            <a:alphaModFix/>
          </a:blip>
          <a:stretch>
            <a:fillRect/>
          </a:stretch>
        </p:blipFill>
        <p:spPr>
          <a:xfrm>
            <a:off x="2951339" y="1790763"/>
            <a:ext cx="2109225" cy="19859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5"/>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EXECUTIVE SUMMARY - </a:t>
            </a:r>
            <a:r>
              <a:rPr b="1" lang="en-US" sz="1100">
                <a:solidFill>
                  <a:srgbClr val="0D39D8"/>
                </a:solidFill>
              </a:rPr>
              <a:t>SODA</a:t>
            </a:r>
            <a:endParaRPr b="0" i="0" sz="1100" u="none" cap="none" strike="noStrike">
              <a:solidFill>
                <a:schemeClr val="dk1"/>
              </a:solidFill>
              <a:latin typeface="Calibri"/>
              <a:ea typeface="Calibri"/>
              <a:cs typeface="Calibri"/>
              <a:sym typeface="Calibri"/>
            </a:endParaRPr>
          </a:p>
        </p:txBody>
      </p:sp>
      <p:sp>
        <p:nvSpPr>
          <p:cNvPr id="233" name="Google Shape;233;p15"/>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Spend &amp; return at a glance</a:t>
            </a:r>
            <a:endParaRPr b="0" i="0" sz="2800" u="none" cap="none" strike="noStrike">
              <a:solidFill>
                <a:schemeClr val="dk1"/>
              </a:solidFill>
              <a:latin typeface="Calibri"/>
              <a:ea typeface="Calibri"/>
              <a:cs typeface="Calibri"/>
              <a:sym typeface="Calibri"/>
            </a:endParaRPr>
          </a:p>
        </p:txBody>
      </p:sp>
      <p:sp>
        <p:nvSpPr>
          <p:cNvPr id="234" name="Google Shape;234;p15"/>
          <p:cNvSpPr/>
          <p:nvPr/>
        </p:nvSpPr>
        <p:spPr>
          <a:xfrm>
            <a:off x="1874488" y="1362818"/>
            <a:ext cx="260610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2039080" y="1481690"/>
            <a:ext cx="233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TOTAL PAID SPEND</a:t>
            </a:r>
            <a:endParaRPr b="0" i="0" sz="1000" u="none" cap="none" strike="noStrike">
              <a:solidFill>
                <a:schemeClr val="dk1"/>
              </a:solidFill>
              <a:latin typeface="Calibri"/>
              <a:ea typeface="Calibri"/>
              <a:cs typeface="Calibri"/>
              <a:sym typeface="Calibri"/>
            </a:endParaRPr>
          </a:p>
        </p:txBody>
      </p:sp>
      <p:sp>
        <p:nvSpPr>
          <p:cNvPr id="236" name="Google Shape;236;p15"/>
          <p:cNvSpPr/>
          <p:nvPr/>
        </p:nvSpPr>
        <p:spPr>
          <a:xfrm>
            <a:off x="2039080" y="1692002"/>
            <a:ext cx="2331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$53,875.22</a:t>
            </a:r>
            <a:endParaRPr b="0" i="0" sz="2400" u="none" cap="none" strike="noStrike">
              <a:solidFill>
                <a:schemeClr val="dk1"/>
              </a:solidFill>
              <a:latin typeface="Calibri"/>
              <a:ea typeface="Calibri"/>
              <a:cs typeface="Calibri"/>
              <a:sym typeface="Calibri"/>
            </a:endParaRPr>
          </a:p>
        </p:txBody>
      </p:sp>
      <p:sp>
        <p:nvSpPr>
          <p:cNvPr id="237" name="Google Shape;237;p15"/>
          <p:cNvSpPr/>
          <p:nvPr/>
        </p:nvSpPr>
        <p:spPr>
          <a:xfrm>
            <a:off x="2039080" y="2076050"/>
            <a:ext cx="2331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Jan–June</a:t>
            </a:r>
            <a:r>
              <a:rPr b="0" i="1" lang="en-US" sz="850" u="none" cap="none" strike="noStrike">
                <a:solidFill>
                  <a:srgbClr val="96999B"/>
                </a:solidFill>
                <a:latin typeface="Arial"/>
                <a:ea typeface="Arial"/>
                <a:cs typeface="Arial"/>
                <a:sym typeface="Arial"/>
              </a:rPr>
              <a:t> · </a:t>
            </a:r>
            <a:r>
              <a:rPr i="1" lang="en-US" sz="850">
                <a:solidFill>
                  <a:srgbClr val="96999B"/>
                </a:solidFill>
              </a:rPr>
              <a:t>SODA only</a:t>
            </a:r>
            <a:endParaRPr b="0" i="0" sz="850" u="none" cap="none" strike="noStrike">
              <a:solidFill>
                <a:schemeClr val="dk1"/>
              </a:solidFill>
              <a:latin typeface="Calibri"/>
              <a:ea typeface="Calibri"/>
              <a:cs typeface="Calibri"/>
              <a:sym typeface="Calibri"/>
            </a:endParaRPr>
          </a:p>
        </p:txBody>
      </p:sp>
      <p:sp>
        <p:nvSpPr>
          <p:cNvPr id="238" name="Google Shape;238;p15"/>
          <p:cNvSpPr/>
          <p:nvPr/>
        </p:nvSpPr>
        <p:spPr>
          <a:xfrm>
            <a:off x="4663408" y="1362818"/>
            <a:ext cx="260610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4828000" y="1481690"/>
            <a:ext cx="233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lang="en-US" sz="1000">
                <a:solidFill>
                  <a:srgbClr val="96999B"/>
                </a:solidFill>
              </a:rPr>
              <a:t>Closed Deals</a:t>
            </a:r>
            <a:endParaRPr b="0" i="0" sz="1000" u="none" cap="none" strike="noStrike">
              <a:solidFill>
                <a:schemeClr val="dk1"/>
              </a:solidFill>
              <a:latin typeface="Calibri"/>
              <a:ea typeface="Calibri"/>
              <a:cs typeface="Calibri"/>
              <a:sym typeface="Calibri"/>
            </a:endParaRPr>
          </a:p>
        </p:txBody>
      </p:sp>
      <p:sp>
        <p:nvSpPr>
          <p:cNvPr id="240" name="Google Shape;240;p15"/>
          <p:cNvSpPr/>
          <p:nvPr/>
        </p:nvSpPr>
        <p:spPr>
          <a:xfrm>
            <a:off x="4828000" y="1692002"/>
            <a:ext cx="2331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25</a:t>
            </a:r>
            <a:endParaRPr b="0" i="0" sz="2400" u="none" cap="none" strike="noStrike">
              <a:solidFill>
                <a:schemeClr val="dk1"/>
              </a:solidFill>
              <a:latin typeface="Calibri"/>
              <a:ea typeface="Calibri"/>
              <a:cs typeface="Calibri"/>
              <a:sym typeface="Calibri"/>
            </a:endParaRPr>
          </a:p>
        </p:txBody>
      </p:sp>
      <p:sp>
        <p:nvSpPr>
          <p:cNvPr id="241" name="Google Shape;241;p15"/>
          <p:cNvSpPr/>
          <p:nvPr/>
        </p:nvSpPr>
        <p:spPr>
          <a:xfrm>
            <a:off x="4828000" y="2076050"/>
            <a:ext cx="2331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customers won</a:t>
            </a:r>
            <a:endParaRPr b="0" i="0" sz="850" u="none" cap="none" strike="noStrike">
              <a:solidFill>
                <a:schemeClr val="dk1"/>
              </a:solidFill>
              <a:latin typeface="Calibri"/>
              <a:ea typeface="Calibri"/>
              <a:cs typeface="Calibri"/>
              <a:sym typeface="Calibri"/>
            </a:endParaRPr>
          </a:p>
        </p:txBody>
      </p:sp>
      <p:graphicFrame>
        <p:nvGraphicFramePr>
          <p:cNvPr id="242" name="Google Shape;242;p15"/>
          <p:cNvGraphicFramePr/>
          <p:nvPr/>
        </p:nvGraphicFramePr>
        <p:xfrm>
          <a:off x="1805925" y="2560900"/>
          <a:ext cx="3000000" cy="3000000"/>
        </p:xfrm>
        <a:graphic>
          <a:graphicData uri="http://schemas.openxmlformats.org/drawingml/2006/table">
            <a:tbl>
              <a:tblPr>
                <a:noFill/>
                <a:tableStyleId>{4F219C23-2D71-41CD-9275-C88AA14EDE3B}</a:tableStyleId>
              </a:tblPr>
              <a:tblGrid>
                <a:gridCol w="2560325"/>
                <a:gridCol w="1417325"/>
                <a:gridCol w="1554475"/>
              </a:tblGrid>
              <a:tr h="365750">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Sub-unit</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Spend</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100"/>
                        <a:buFont typeface="Arial"/>
                        <a:buNone/>
                      </a:pPr>
                      <a:r>
                        <a:rPr b="1" lang="en-US" sz="1100">
                          <a:solidFill>
                            <a:srgbClr val="FFFFFF"/>
                          </a:solidFill>
                        </a:rPr>
                        <a:t>Closed Deals</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365750">
                <a:tc>
                  <a:txBody>
                    <a:bodyPr/>
                    <a:lstStyle/>
                    <a:p>
                      <a:pPr indent="0" lvl="0" marL="0" marR="0" rtl="0" algn="l">
                        <a:spcBef>
                          <a:spcPts val="0"/>
                        </a:spcBef>
                        <a:spcAft>
                          <a:spcPts val="0"/>
                        </a:spcAft>
                        <a:buNone/>
                      </a:pPr>
                      <a:r>
                        <a:rPr lang="en-US" sz="1150">
                          <a:solidFill>
                            <a:srgbClr val="575757"/>
                          </a:solidFill>
                        </a:rPr>
                        <a:t>SODA</a:t>
                      </a:r>
                      <a:endParaRPr sz="11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1150">
                          <a:solidFill>
                            <a:srgbClr val="C77F00"/>
                          </a:solidFill>
                        </a:rPr>
                        <a:t>$53,875.22</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lang="en-US" sz="1150">
                          <a:solidFill>
                            <a:srgbClr val="C77F00"/>
                          </a:solidFill>
                        </a:rPr>
                        <a:t>25</a:t>
                      </a:r>
                      <a:endParaRPr b="1" sz="1150">
                        <a:solidFill>
                          <a:srgbClr val="C77F00"/>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bl>
          </a:graphicData>
        </a:graphic>
      </p:graphicFrame>
      <p:sp>
        <p:nvSpPr>
          <p:cNvPr id="243" name="Google Shape;243;p15"/>
          <p:cNvSpPr/>
          <p:nvPr/>
        </p:nvSpPr>
        <p:spPr>
          <a:xfrm>
            <a:off x="457200" y="3722575"/>
            <a:ext cx="5577900" cy="811800"/>
          </a:xfrm>
          <a:prstGeom prst="roundRect">
            <a:avLst>
              <a:gd fmla="val 10256"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40075" y="3930625"/>
            <a:ext cx="52122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150"/>
              <a:buFont typeface="Arial"/>
              <a:buNone/>
            </a:pPr>
            <a:r>
              <a:rPr b="1" i="0" lang="en-US" sz="1150" u="none" cap="none" strike="noStrike">
                <a:solidFill>
                  <a:srgbClr val="0A1E89"/>
                </a:solidFill>
                <a:latin typeface="Arial"/>
                <a:ea typeface="Arial"/>
                <a:cs typeface="Arial"/>
                <a:sym typeface="Arial"/>
              </a:rPr>
              <a:t>Headline:  </a:t>
            </a:r>
            <a:r>
              <a:rPr lang="en-US" sz="1150">
                <a:solidFill>
                  <a:srgbClr val="C77F00"/>
                </a:solidFill>
              </a:rPr>
              <a:t>Paid contributed to 25 closed deals in H1, but without CRM source attribution or validated deal values, we're closing business without knowing which channel or message is driving it. Fixing that is the highest-leverage action for H2.</a:t>
            </a:r>
            <a:endParaRPr sz="1150">
              <a:solidFill>
                <a:srgbClr val="C77F00"/>
              </a:solidFill>
            </a:endParaRPr>
          </a:p>
          <a:p>
            <a:pPr indent="0" lvl="0" marL="0" marR="0" rtl="0" algn="l">
              <a:spcBef>
                <a:spcPts val="0"/>
              </a:spcBef>
              <a:spcAft>
                <a:spcPts val="0"/>
              </a:spcAft>
              <a:buClr>
                <a:srgbClr val="0A1E89"/>
              </a:buClr>
              <a:buSzPts val="1150"/>
              <a:buFont typeface="Arial"/>
              <a:buNone/>
            </a:pPr>
            <a:r>
              <a:t/>
            </a:r>
            <a:endParaRPr i="1" sz="1150">
              <a:solidFill>
                <a:srgbClr val="C77F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6"/>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640080" y="33832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lang="en-US" sz="1100">
                <a:solidFill>
                  <a:srgbClr val="0D39D8"/>
                </a:solidFill>
              </a:rPr>
              <a:t>SODA</a:t>
            </a:r>
            <a:r>
              <a:rPr b="1" i="0" lang="en-US" sz="1100" u="none" cap="none" strike="noStrike">
                <a:solidFill>
                  <a:srgbClr val="0D39D8"/>
                </a:solidFill>
                <a:latin typeface="Arial"/>
                <a:ea typeface="Arial"/>
                <a:cs typeface="Arial"/>
                <a:sym typeface="Arial"/>
              </a:rPr>
              <a:t> · PERFORMANCE</a:t>
            </a:r>
            <a:endParaRPr b="0" i="0" sz="1100" u="none" cap="none" strike="noStrike">
              <a:solidFill>
                <a:schemeClr val="dk1"/>
              </a:solidFill>
              <a:latin typeface="Calibri"/>
              <a:ea typeface="Calibri"/>
              <a:cs typeface="Calibri"/>
              <a:sym typeface="Calibri"/>
            </a:endParaRPr>
          </a:p>
        </p:txBody>
      </p:sp>
      <p:sp>
        <p:nvSpPr>
          <p:cNvPr id="252" name="Google Shape;252;p16"/>
          <p:cNvSpPr/>
          <p:nvPr/>
        </p:nvSpPr>
        <p:spPr>
          <a:xfrm>
            <a:off x="457200" y="60350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lang="en-US" sz="2800">
                <a:solidFill>
                  <a:srgbClr val="121212"/>
                </a:solidFill>
              </a:rPr>
              <a:t>SODA</a:t>
            </a:r>
            <a:endParaRPr b="0" i="0" sz="2800" u="none" cap="none" strike="noStrike">
              <a:solidFill>
                <a:schemeClr val="dk1"/>
              </a:solidFill>
              <a:latin typeface="Calibri"/>
              <a:ea typeface="Calibri"/>
              <a:cs typeface="Calibri"/>
              <a:sym typeface="Calibri"/>
            </a:endParaRPr>
          </a:p>
        </p:txBody>
      </p:sp>
      <p:sp>
        <p:nvSpPr>
          <p:cNvPr id="253" name="Google Shape;253;p16"/>
          <p:cNvSpPr/>
          <p:nvPr/>
        </p:nvSpPr>
        <p:spPr>
          <a:xfrm>
            <a:off x="1600100" y="1328375"/>
            <a:ext cx="192030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1764692" y="1447247"/>
            <a:ext cx="1645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i="0" lang="en-US" sz="1000" u="none" cap="none" strike="noStrike">
                <a:solidFill>
                  <a:srgbClr val="96999B"/>
                </a:solidFill>
                <a:latin typeface="Arial"/>
                <a:ea typeface="Arial"/>
                <a:cs typeface="Arial"/>
                <a:sym typeface="Arial"/>
              </a:rPr>
              <a:t>SPEND</a:t>
            </a:r>
            <a:endParaRPr b="0" i="0" sz="1000" u="none" cap="none" strike="noStrike">
              <a:solidFill>
                <a:schemeClr val="dk1"/>
              </a:solidFill>
              <a:latin typeface="Calibri"/>
              <a:ea typeface="Calibri"/>
              <a:cs typeface="Calibri"/>
              <a:sym typeface="Calibri"/>
            </a:endParaRPr>
          </a:p>
        </p:txBody>
      </p:sp>
      <p:sp>
        <p:nvSpPr>
          <p:cNvPr id="255" name="Google Shape;255;p16"/>
          <p:cNvSpPr/>
          <p:nvPr/>
        </p:nvSpPr>
        <p:spPr>
          <a:xfrm>
            <a:off x="1670650" y="1657550"/>
            <a:ext cx="17397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$53,875.22</a:t>
            </a:r>
            <a:endParaRPr b="0" i="0" sz="2400" u="none" cap="none" strike="noStrike">
              <a:solidFill>
                <a:schemeClr val="dk1"/>
              </a:solidFill>
              <a:latin typeface="Calibri"/>
              <a:ea typeface="Calibri"/>
              <a:cs typeface="Calibri"/>
              <a:sym typeface="Calibri"/>
            </a:endParaRPr>
          </a:p>
        </p:txBody>
      </p:sp>
      <p:sp>
        <p:nvSpPr>
          <p:cNvPr id="256" name="Google Shape;256;p16"/>
          <p:cNvSpPr/>
          <p:nvPr/>
        </p:nvSpPr>
        <p:spPr>
          <a:xfrm>
            <a:off x="1764692" y="2041607"/>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Jan–June</a:t>
            </a:r>
            <a:r>
              <a:rPr b="0" i="1" lang="en-US" sz="850" u="none" cap="none" strike="noStrike">
                <a:solidFill>
                  <a:srgbClr val="96999B"/>
                </a:solidFill>
                <a:latin typeface="Arial"/>
                <a:ea typeface="Arial"/>
                <a:cs typeface="Arial"/>
                <a:sym typeface="Arial"/>
              </a:rPr>
              <a:t>, paid</a:t>
            </a:r>
            <a:endParaRPr b="0" i="0" sz="850" u="none" cap="none" strike="noStrike">
              <a:solidFill>
                <a:schemeClr val="dk1"/>
              </a:solidFill>
              <a:latin typeface="Calibri"/>
              <a:ea typeface="Calibri"/>
              <a:cs typeface="Calibri"/>
              <a:sym typeface="Calibri"/>
            </a:endParaRPr>
          </a:p>
        </p:txBody>
      </p:sp>
      <p:sp>
        <p:nvSpPr>
          <p:cNvPr id="257" name="Google Shape;257;p16"/>
          <p:cNvSpPr/>
          <p:nvPr/>
        </p:nvSpPr>
        <p:spPr>
          <a:xfrm>
            <a:off x="3703220" y="1328375"/>
            <a:ext cx="192030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3867812" y="1447247"/>
            <a:ext cx="1645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lang="en-US" sz="1000">
                <a:solidFill>
                  <a:srgbClr val="96999B"/>
                </a:solidFill>
              </a:rPr>
              <a:t>Leads</a:t>
            </a:r>
            <a:endParaRPr b="0" i="0" sz="1000" u="none" cap="none" strike="noStrike">
              <a:solidFill>
                <a:schemeClr val="dk1"/>
              </a:solidFill>
              <a:latin typeface="Calibri"/>
              <a:ea typeface="Calibri"/>
              <a:cs typeface="Calibri"/>
              <a:sym typeface="Calibri"/>
            </a:endParaRPr>
          </a:p>
        </p:txBody>
      </p:sp>
      <p:sp>
        <p:nvSpPr>
          <p:cNvPr id="259" name="Google Shape;259;p16"/>
          <p:cNvSpPr/>
          <p:nvPr/>
        </p:nvSpPr>
        <p:spPr>
          <a:xfrm>
            <a:off x="3867812" y="1657559"/>
            <a:ext cx="1645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00"/>
              </a:buClr>
              <a:buSzPts val="2400"/>
              <a:buFont typeface="Arial"/>
              <a:buNone/>
            </a:pPr>
            <a:r>
              <a:rPr b="1" lang="en-US" sz="2400">
                <a:solidFill>
                  <a:srgbClr val="C77F00"/>
                </a:solidFill>
              </a:rPr>
              <a:t>234</a:t>
            </a:r>
            <a:endParaRPr b="0" i="0" sz="2400" u="none" cap="none" strike="noStrike">
              <a:solidFill>
                <a:schemeClr val="dk1"/>
              </a:solidFill>
              <a:latin typeface="Calibri"/>
              <a:ea typeface="Calibri"/>
              <a:cs typeface="Calibri"/>
              <a:sym typeface="Calibri"/>
            </a:endParaRPr>
          </a:p>
        </p:txBody>
      </p:sp>
      <p:sp>
        <p:nvSpPr>
          <p:cNvPr id="260" name="Google Shape;260;p16"/>
          <p:cNvSpPr/>
          <p:nvPr/>
        </p:nvSpPr>
        <p:spPr>
          <a:xfrm>
            <a:off x="3867812" y="2041607"/>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Form submissions</a:t>
            </a:r>
            <a:endParaRPr b="0" i="0" sz="850" u="none" cap="none" strike="noStrike">
              <a:solidFill>
                <a:schemeClr val="dk1"/>
              </a:solidFill>
              <a:latin typeface="Calibri"/>
              <a:ea typeface="Calibri"/>
              <a:cs typeface="Calibri"/>
              <a:sym typeface="Calibri"/>
            </a:endParaRPr>
          </a:p>
        </p:txBody>
      </p:sp>
      <p:sp>
        <p:nvSpPr>
          <p:cNvPr id="261" name="Google Shape;261;p16"/>
          <p:cNvSpPr/>
          <p:nvPr/>
        </p:nvSpPr>
        <p:spPr>
          <a:xfrm>
            <a:off x="5806340" y="1328375"/>
            <a:ext cx="1920300" cy="914400"/>
          </a:xfrm>
          <a:prstGeom prst="roundRect">
            <a:avLst>
              <a:gd fmla="val 8000"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5970932" y="1447247"/>
            <a:ext cx="1645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1000"/>
              <a:buFont typeface="Arial"/>
              <a:buNone/>
            </a:pPr>
            <a:r>
              <a:rPr b="1" lang="en-US" sz="1000">
                <a:solidFill>
                  <a:srgbClr val="96999B"/>
                </a:solidFill>
              </a:rPr>
              <a:t>Closed Deals</a:t>
            </a:r>
            <a:endParaRPr b="0" i="0" sz="1000" u="none" cap="none" strike="noStrike">
              <a:solidFill>
                <a:schemeClr val="dk1"/>
              </a:solidFill>
              <a:latin typeface="Calibri"/>
              <a:ea typeface="Calibri"/>
              <a:cs typeface="Calibri"/>
              <a:sym typeface="Calibri"/>
            </a:endParaRPr>
          </a:p>
        </p:txBody>
      </p:sp>
      <p:sp>
        <p:nvSpPr>
          <p:cNvPr id="263" name="Google Shape;263;p16"/>
          <p:cNvSpPr/>
          <p:nvPr/>
        </p:nvSpPr>
        <p:spPr>
          <a:xfrm>
            <a:off x="5970932" y="1657559"/>
            <a:ext cx="1645800" cy="38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77F00"/>
              </a:buClr>
              <a:buSzPts val="2400"/>
              <a:buFont typeface="Arial"/>
              <a:buNone/>
            </a:pPr>
            <a:r>
              <a:rPr b="1" lang="en-US" sz="2400">
                <a:solidFill>
                  <a:srgbClr val="C77F00"/>
                </a:solidFill>
              </a:rPr>
              <a:t>25</a:t>
            </a:r>
            <a:endParaRPr b="0" i="0" sz="2400" u="none" cap="none" strike="noStrike">
              <a:solidFill>
                <a:schemeClr val="dk1"/>
              </a:solidFill>
              <a:latin typeface="Calibri"/>
              <a:ea typeface="Calibri"/>
              <a:cs typeface="Calibri"/>
              <a:sym typeface="Calibri"/>
            </a:endParaRPr>
          </a:p>
        </p:txBody>
      </p:sp>
      <p:sp>
        <p:nvSpPr>
          <p:cNvPr id="264" name="Google Shape;264;p16"/>
          <p:cNvSpPr/>
          <p:nvPr/>
        </p:nvSpPr>
        <p:spPr>
          <a:xfrm>
            <a:off x="5970932" y="2041607"/>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Customers Won</a:t>
            </a:r>
            <a:endParaRPr b="0" i="0" sz="850" u="none" cap="none" strike="noStrike">
              <a:solidFill>
                <a:schemeClr val="dk1"/>
              </a:solidFill>
              <a:latin typeface="Calibri"/>
              <a:ea typeface="Calibri"/>
              <a:cs typeface="Calibri"/>
              <a:sym typeface="Calibri"/>
            </a:endParaRPr>
          </a:p>
        </p:txBody>
      </p:sp>
      <p:graphicFrame>
        <p:nvGraphicFramePr>
          <p:cNvPr id="265" name="Google Shape;265;p16"/>
          <p:cNvGraphicFramePr/>
          <p:nvPr/>
        </p:nvGraphicFramePr>
        <p:xfrm>
          <a:off x="207075" y="2492005"/>
          <a:ext cx="3000000" cy="3000000"/>
        </p:xfrm>
        <a:graphic>
          <a:graphicData uri="http://schemas.openxmlformats.org/drawingml/2006/table">
            <a:tbl>
              <a:tblPr>
                <a:noFill/>
                <a:tableStyleId>{4F219C23-2D71-41CD-9275-C88AA14EDE3B}</a:tableStyleId>
              </a:tblPr>
              <a:tblGrid>
                <a:gridCol w="860275"/>
                <a:gridCol w="860275"/>
                <a:gridCol w="860275"/>
                <a:gridCol w="860275"/>
                <a:gridCol w="860275"/>
                <a:gridCol w="860275"/>
              </a:tblGrid>
              <a:tr h="2743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Channel</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Spend</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a:solidFill>
                            <a:srgbClr val="FFFFFF"/>
                          </a:solidFill>
                        </a:rPr>
                        <a:t>Leads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Cost per Lead</a:t>
                      </a:r>
                      <a:endParaRPr b="1" sz="100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00"/>
                        <a:buFont typeface="Arial"/>
                        <a:buNone/>
                      </a:pPr>
                      <a:r>
                        <a:rPr b="1" lang="en-US" sz="1000">
                          <a:solidFill>
                            <a:srgbClr val="FFFFFF"/>
                          </a:solidFill>
                        </a:rPr>
                        <a:t>Closed Deals</a:t>
                      </a:r>
                      <a:endParaRPr sz="10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00">
                          <a:solidFill>
                            <a:srgbClr val="FFFFFF"/>
                          </a:solidFill>
                        </a:rPr>
                        <a:t>Conv. Rate</a:t>
                      </a:r>
                      <a:endParaRPr b="1" sz="1000">
                        <a:solidFill>
                          <a:srgbClr val="FFFFFF"/>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274325">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Google</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$24,955.40</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120</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$207.96</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900">
                          <a:solidFill>
                            <a:srgbClr val="3D3D3A"/>
                          </a:solidFill>
                        </a:rPr>
                        <a:t>25</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900">
                          <a:solidFill>
                            <a:srgbClr val="3D3D3A"/>
                          </a:solidFill>
                        </a:rPr>
                        <a:t>1.59%</a:t>
                      </a:r>
                      <a:endParaRPr sz="900">
                        <a:solidFill>
                          <a:srgbClr val="3D3D3A"/>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92900">
                <a:tc>
                  <a:txBody>
                    <a:bodyPr/>
                    <a:lstStyle/>
                    <a:p>
                      <a:pPr indent="0" lvl="0" marL="0" marR="0" rtl="0" algn="l">
                        <a:spcBef>
                          <a:spcPts val="0"/>
                        </a:spcBef>
                        <a:spcAft>
                          <a:spcPts val="0"/>
                        </a:spcAft>
                        <a:buClr>
                          <a:srgbClr val="575757"/>
                        </a:buClr>
                        <a:buSzPts val="1050"/>
                        <a:buFont typeface="Arial"/>
                        <a:buNone/>
                      </a:pPr>
                      <a:r>
                        <a:rPr lang="en-US" sz="1050" u="none" cap="none" strike="noStrike">
                          <a:solidFill>
                            <a:srgbClr val="575757"/>
                          </a:solidFill>
                          <a:latin typeface="Arial"/>
                          <a:ea typeface="Arial"/>
                          <a:cs typeface="Arial"/>
                          <a:sym typeface="Arial"/>
                        </a:rPr>
                        <a:t>Meta</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$18,545.47</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95</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$195.22</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sz="900">
                          <a:solidFill>
                            <a:srgbClr val="3D3D3A"/>
                          </a:solidFill>
                        </a:rPr>
                        <a:t>-</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900">
                          <a:solidFill>
                            <a:srgbClr val="3D3D3A"/>
                          </a:solidFill>
                        </a:rPr>
                        <a:t>8.67%</a:t>
                      </a:r>
                      <a:endParaRPr sz="900">
                        <a:solidFill>
                          <a:srgbClr val="3D3D3A"/>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None/>
                      </a:pPr>
                      <a:r>
                        <a:rPr lang="en-US" sz="1050">
                          <a:solidFill>
                            <a:srgbClr val="575757"/>
                          </a:solidFill>
                        </a:rPr>
                        <a:t>LinkedIn</a:t>
                      </a:r>
                      <a:endParaRPr sz="105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$10,374.35</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19</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US" sz="850"/>
                        <a:t>$546.02</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900">
                          <a:solidFill>
                            <a:srgbClr val="3D3D3A"/>
                          </a:solidFill>
                        </a:rPr>
                        <a:t>-</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900">
                          <a:solidFill>
                            <a:srgbClr val="3D3D3A"/>
                          </a:solidFill>
                        </a:rPr>
                        <a:t>0.50%</a:t>
                      </a:r>
                      <a:endParaRPr sz="900">
                        <a:solidFill>
                          <a:srgbClr val="3D3D3A"/>
                        </a:solidFil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575757"/>
                        </a:buClr>
                        <a:buSzPts val="1050"/>
                        <a:buFont typeface="Arial"/>
                        <a:buNone/>
                      </a:pPr>
                      <a:r>
                        <a:rPr b="1" lang="en-US" sz="1050" u="none" cap="none" strike="noStrike">
                          <a:solidFill>
                            <a:srgbClr val="575757"/>
                          </a:solidFill>
                          <a:latin typeface="Arial"/>
                          <a:ea typeface="Arial"/>
                          <a:cs typeface="Arial"/>
                          <a:sym typeface="Arial"/>
                        </a:rPr>
                        <a:t>TOTAL</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rtl="0" algn="l">
                        <a:spcBef>
                          <a:spcPts val="0"/>
                        </a:spcBef>
                        <a:spcAft>
                          <a:spcPts val="0"/>
                        </a:spcAft>
                        <a:buNone/>
                      </a:pPr>
                      <a:r>
                        <a:rPr b="1" lang="en-US" sz="850"/>
                        <a:t>$53,875.22</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rtl="0" algn="l">
                        <a:spcBef>
                          <a:spcPts val="0"/>
                        </a:spcBef>
                        <a:spcAft>
                          <a:spcPts val="0"/>
                        </a:spcAft>
                        <a:buNone/>
                      </a:pPr>
                      <a:r>
                        <a:rPr b="1" lang="en-US" sz="850"/>
                        <a:t>234</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rtl="0" algn="l">
                        <a:spcBef>
                          <a:spcPts val="0"/>
                        </a:spcBef>
                        <a:spcAft>
                          <a:spcPts val="0"/>
                        </a:spcAft>
                        <a:buNone/>
                      </a:pPr>
                      <a:r>
                        <a:rPr b="1" lang="en-US" sz="850"/>
                        <a:t>$230.24</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rtl="0" algn="l">
                        <a:spcBef>
                          <a:spcPts val="0"/>
                        </a:spcBef>
                        <a:spcAft>
                          <a:spcPts val="0"/>
                        </a:spcAft>
                        <a:buNone/>
                      </a:pPr>
                      <a:r>
                        <a:rPr b="1" lang="en-US" sz="850"/>
                        <a:t>25*</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c>
                  <a:txBody>
                    <a:bodyPr/>
                    <a:lstStyle/>
                    <a:p>
                      <a:pPr indent="0" lvl="0" marL="0" rtl="0" algn="l">
                        <a:spcBef>
                          <a:spcPts val="0"/>
                        </a:spcBef>
                        <a:spcAft>
                          <a:spcPts val="0"/>
                        </a:spcAft>
                        <a:buNone/>
                      </a:pPr>
                      <a:r>
                        <a:rPr b="1" lang="en-US" sz="850"/>
                        <a:t>1.88%</a:t>
                      </a:r>
                      <a:endParaRPr b="1" sz="850"/>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EEF2FF"/>
                    </a:solidFill>
                  </a:tcPr>
                </a:tc>
              </a:tr>
            </a:tbl>
          </a:graphicData>
        </a:graphic>
      </p:graphicFrame>
      <p:sp>
        <p:nvSpPr>
          <p:cNvPr id="266" name="Google Shape;266;p16"/>
          <p:cNvSpPr/>
          <p:nvPr/>
        </p:nvSpPr>
        <p:spPr>
          <a:xfrm>
            <a:off x="5518085" y="2450505"/>
            <a:ext cx="3291900" cy="1417200"/>
          </a:xfrm>
          <a:prstGeom prst="roundRect">
            <a:avLst>
              <a:gd fmla="val 5161" name="adj"/>
            </a:avLst>
          </a:prstGeom>
          <a:solidFill>
            <a:srgbClr val="FFFF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5700965" y="2587665"/>
            <a:ext cx="292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000"/>
              <a:buFont typeface="Arial"/>
              <a:buNone/>
            </a:pPr>
            <a:r>
              <a:rPr b="1" lang="en-US" sz="1000">
                <a:solidFill>
                  <a:srgbClr val="0D39D8"/>
                </a:solidFill>
              </a:rPr>
              <a:t>Insight:</a:t>
            </a:r>
            <a:endParaRPr b="0" i="0" sz="1000" u="none" cap="none" strike="noStrike">
              <a:solidFill>
                <a:schemeClr val="dk1"/>
              </a:solidFill>
              <a:latin typeface="Calibri"/>
              <a:ea typeface="Calibri"/>
              <a:cs typeface="Calibri"/>
              <a:sym typeface="Calibri"/>
            </a:endParaRPr>
          </a:p>
        </p:txBody>
      </p:sp>
      <p:sp>
        <p:nvSpPr>
          <p:cNvPr id="268" name="Google Shape;268;p16"/>
          <p:cNvSpPr/>
          <p:nvPr/>
        </p:nvSpPr>
        <p:spPr>
          <a:xfrm>
            <a:off x="5700965" y="2834553"/>
            <a:ext cx="2971800" cy="960000"/>
          </a:xfrm>
          <a:prstGeom prst="rect">
            <a:avLst/>
          </a:prstGeom>
          <a:noFill/>
          <a:ln>
            <a:noFill/>
          </a:ln>
        </p:spPr>
        <p:txBody>
          <a:bodyPr anchorCtr="0" anchor="t" bIns="0" lIns="0" spcFirstLastPara="1" rIns="0" wrap="square" tIns="0">
            <a:noAutofit/>
          </a:bodyPr>
          <a:lstStyle/>
          <a:p>
            <a:pPr indent="0" lvl="0" marL="0" marR="0" rtl="0" algn="l">
              <a:spcBef>
                <a:spcPts val="500"/>
              </a:spcBef>
              <a:spcAft>
                <a:spcPts val="0"/>
              </a:spcAft>
              <a:buClr>
                <a:srgbClr val="575757"/>
              </a:buClr>
              <a:buSzPts val="1050"/>
              <a:buFont typeface="Arial"/>
              <a:buNone/>
            </a:pPr>
            <a:r>
              <a:rPr lang="en-US" sz="1050">
                <a:solidFill>
                  <a:srgbClr val="C77F00"/>
                </a:solidFill>
              </a:rPr>
              <a:t>Google carries all 25 sales-tracked closed deals, though attribution is based on sales team tagging rather than UTM; Meta has the lowest CPL but no source tracking in CRM; LinkedIn's CPL is relatively higher than average B2B benchmarks and remains unvalidated against deal outcomes.</a:t>
            </a:r>
            <a:endParaRPr sz="1050">
              <a:solidFill>
                <a:srgbClr val="C77F00"/>
              </a:solidFill>
            </a:endParaRPr>
          </a:p>
          <a:p>
            <a:pPr indent="0" lvl="0" marL="0" marR="0" rtl="0" algn="l">
              <a:spcBef>
                <a:spcPts val="500"/>
              </a:spcBef>
              <a:spcAft>
                <a:spcPts val="0"/>
              </a:spcAft>
              <a:buClr>
                <a:srgbClr val="575757"/>
              </a:buClr>
              <a:buSzPts val="1050"/>
              <a:buFont typeface="Arial"/>
              <a:buNone/>
            </a:pPr>
            <a:r>
              <a:t/>
            </a:r>
            <a:endParaRPr i="1" sz="1050">
              <a:solidFill>
                <a:srgbClr val="C77F00"/>
              </a:solidFill>
            </a:endParaRPr>
          </a:p>
          <a:p>
            <a:pPr indent="0" lvl="0" marL="0" marR="0" rtl="0" algn="l">
              <a:spcBef>
                <a:spcPts val="500"/>
              </a:spcBef>
              <a:spcAft>
                <a:spcPts val="0"/>
              </a:spcAft>
              <a:buClr>
                <a:srgbClr val="575757"/>
              </a:buClr>
              <a:buSzPts val="1050"/>
              <a:buFont typeface="Arial"/>
              <a:buNone/>
            </a:pPr>
            <a:r>
              <a:t/>
            </a:r>
            <a:endParaRPr i="1" sz="1050">
              <a:solidFill>
                <a:srgbClr val="C77F00"/>
              </a:solidFill>
            </a:endParaRPr>
          </a:p>
        </p:txBody>
      </p:sp>
      <p:sp>
        <p:nvSpPr>
          <p:cNvPr id="269" name="Google Shape;269;p16"/>
          <p:cNvSpPr/>
          <p:nvPr/>
        </p:nvSpPr>
        <p:spPr>
          <a:xfrm>
            <a:off x="5518075" y="4004973"/>
            <a:ext cx="3291900" cy="960000"/>
          </a:xfrm>
          <a:prstGeom prst="roundRect">
            <a:avLst>
              <a:gd fmla="val 9412"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5700975" y="4004973"/>
            <a:ext cx="29718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50"/>
              <a:buFont typeface="Arial"/>
              <a:buNone/>
            </a:pPr>
            <a:r>
              <a:rPr b="1" i="0" lang="en-US" sz="1050" u="none" cap="none" strike="noStrike">
                <a:solidFill>
                  <a:srgbClr val="0A1E89"/>
                </a:solidFill>
                <a:latin typeface="Arial"/>
                <a:ea typeface="Arial"/>
                <a:cs typeface="Arial"/>
                <a:sym typeface="Arial"/>
              </a:rPr>
              <a:t>NEXT MONTH:  </a:t>
            </a:r>
            <a:r>
              <a:rPr lang="en-US" sz="1050">
                <a:solidFill>
                  <a:srgbClr val="C77F00"/>
                </a:solidFill>
              </a:rPr>
              <a:t>Fix lead source capture in CRM to enable channel-level deal attribution; maintain Google as primary channel; pause LinkedIn while we rework the targeting strategy; validate Meta's lead quality with sales team before increasing spend.</a:t>
            </a:r>
            <a:endParaRPr sz="1050">
              <a:solidFill>
                <a:srgbClr val="C77F00"/>
              </a:solidFill>
            </a:endParaRPr>
          </a:p>
        </p:txBody>
      </p:sp>
      <p:sp>
        <p:nvSpPr>
          <p:cNvPr id="271" name="Google Shape;271;p16"/>
          <p:cNvSpPr/>
          <p:nvPr/>
        </p:nvSpPr>
        <p:spPr>
          <a:xfrm>
            <a:off x="433350" y="4253330"/>
            <a:ext cx="470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999B"/>
              </a:buClr>
              <a:buSzPts val="850"/>
              <a:buFont typeface="Arial"/>
              <a:buNone/>
            </a:pPr>
            <a:r>
              <a:rPr i="1" lang="en-US" sz="850">
                <a:solidFill>
                  <a:srgbClr val="96999B"/>
                </a:solidFill>
              </a:rPr>
              <a:t>*Closed deals sourced from sales tracker; attributed to ads by sales team, not tied to UTM tracking. Channel-level breakdown not available.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7"/>
          <p:cNvSpPr/>
          <p:nvPr/>
        </p:nvSpPr>
        <p:spPr>
          <a:xfrm>
            <a:off x="457200" y="41148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640077" y="338325"/>
            <a:ext cx="532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WHAT'S WORKING · CREATIVE</a:t>
            </a:r>
            <a:endParaRPr b="0" i="0" sz="1100" u="none" cap="none" strike="noStrike">
              <a:solidFill>
                <a:schemeClr val="dk1"/>
              </a:solidFill>
              <a:latin typeface="Calibri"/>
              <a:ea typeface="Calibri"/>
              <a:cs typeface="Calibri"/>
              <a:sym typeface="Calibri"/>
            </a:endParaRPr>
          </a:p>
        </p:txBody>
      </p:sp>
      <p:sp>
        <p:nvSpPr>
          <p:cNvPr id="279" name="Google Shape;279;p17"/>
          <p:cNvSpPr/>
          <p:nvPr/>
        </p:nvSpPr>
        <p:spPr>
          <a:xfrm>
            <a:off x="457200" y="603500"/>
            <a:ext cx="57597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Top creative</a:t>
            </a:r>
            <a:endParaRPr b="0" i="0" sz="2800" u="none" cap="none" strike="noStrike">
              <a:solidFill>
                <a:schemeClr val="dk1"/>
              </a:solidFill>
              <a:latin typeface="Calibri"/>
              <a:ea typeface="Calibri"/>
              <a:cs typeface="Calibri"/>
              <a:sym typeface="Calibri"/>
            </a:endParaRPr>
          </a:p>
        </p:txBody>
      </p:sp>
      <p:sp>
        <p:nvSpPr>
          <p:cNvPr id="280" name="Google Shape;280;p17"/>
          <p:cNvSpPr/>
          <p:nvPr/>
        </p:nvSpPr>
        <p:spPr>
          <a:xfrm>
            <a:off x="6117900" y="1651100"/>
            <a:ext cx="1996800" cy="424200"/>
          </a:xfrm>
          <a:prstGeom prst="roundRect">
            <a:avLst>
              <a:gd fmla="val 11765" name="adj"/>
            </a:avLst>
          </a:prstGeom>
          <a:solidFill>
            <a:srgbClr val="EEF2FF"/>
          </a:solidFill>
          <a:ln cap="flat" cmpd="sng" w="12700">
            <a:solidFill>
              <a:srgbClr val="EEEFF0"/>
            </a:solidFill>
            <a:prstDash val="solid"/>
            <a:round/>
            <a:headEnd len="sm" w="sm" type="none"/>
            <a:tailEnd len="sm" w="sm" type="none"/>
          </a:ln>
          <a:effectLst>
            <a:outerShdw blurRad="889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
          <p:cNvSpPr/>
          <p:nvPr/>
        </p:nvSpPr>
        <p:spPr>
          <a:xfrm>
            <a:off x="6216451" y="1651100"/>
            <a:ext cx="1794000" cy="42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E89"/>
              </a:buClr>
              <a:buSzPts val="1000"/>
              <a:buFont typeface="Arial"/>
              <a:buNone/>
            </a:pPr>
            <a:r>
              <a:rPr b="1" i="0" lang="en-US" sz="1000" u="none" cap="none" strike="noStrike">
                <a:solidFill>
                  <a:srgbClr val="0A1E89"/>
                </a:solidFill>
                <a:latin typeface="Arial"/>
                <a:ea typeface="Arial"/>
                <a:cs typeface="Arial"/>
                <a:sym typeface="Arial"/>
              </a:rPr>
              <a:t>Key metric:  </a:t>
            </a:r>
            <a:r>
              <a:rPr i="1" lang="en-US" sz="1000">
                <a:solidFill>
                  <a:srgbClr val="C77F00"/>
                </a:solidFill>
              </a:rPr>
              <a:t>CPL - $163.48</a:t>
            </a:r>
            <a:endParaRPr b="0" i="0" sz="1000" u="none" cap="none" strike="noStrike">
              <a:solidFill>
                <a:schemeClr val="dk1"/>
              </a:solidFill>
              <a:latin typeface="Calibri"/>
              <a:ea typeface="Calibri"/>
              <a:cs typeface="Calibri"/>
              <a:sym typeface="Calibri"/>
            </a:endParaRPr>
          </a:p>
        </p:txBody>
      </p:sp>
      <p:sp>
        <p:nvSpPr>
          <p:cNvPr id="282" name="Google Shape;282;p17"/>
          <p:cNvSpPr/>
          <p:nvPr/>
        </p:nvSpPr>
        <p:spPr>
          <a:xfrm>
            <a:off x="5432700" y="2263613"/>
            <a:ext cx="3367200" cy="20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Hook / format:  </a:t>
            </a:r>
            <a:r>
              <a:rPr lang="en-US" sz="1000">
                <a:solidFill>
                  <a:srgbClr val="C77F00"/>
                </a:solidFill>
              </a:rPr>
              <a:t>Responsive search ad; dual-focused hook as headline leads with ease of onboarding ("Simple To Onboard in Mins"), while image creative leads with loss aversion ("Your employees stopped believing in their benefits").</a:t>
            </a:r>
            <a:endParaRPr sz="1000">
              <a:solidFill>
                <a:srgbClr val="C77F00"/>
              </a:solidFill>
            </a:endParaRPr>
          </a:p>
          <a:p>
            <a:pPr indent="0" lvl="0" marL="0" marR="0" rtl="0" algn="l">
              <a:spcBef>
                <a:spcPts val="0"/>
              </a:spcBef>
              <a:spcAft>
                <a:spcPts val="0"/>
              </a:spcAft>
              <a:buClr>
                <a:srgbClr val="575757"/>
              </a:buClr>
              <a:buSzPts val="1000"/>
              <a:buFont typeface="Arial"/>
              <a:buNone/>
            </a:pPr>
            <a:r>
              <a:t/>
            </a:r>
            <a:endParaRPr sz="1000">
              <a:solidFill>
                <a:srgbClr val="C77F00"/>
              </a:solidFill>
            </a:endParaRPr>
          </a:p>
          <a:p>
            <a:pPr indent="0" lvl="0" marL="0" marR="0" rtl="0" algn="l">
              <a:spcBef>
                <a:spcPts val="300"/>
              </a:spcBef>
              <a:spcAft>
                <a:spcPts val="0"/>
              </a:spcAft>
              <a:buClr>
                <a:srgbClr val="575757"/>
              </a:buClr>
              <a:buSzPts val="1000"/>
              <a:buFont typeface="Arial"/>
              <a:buNone/>
            </a:pPr>
            <a:r>
              <a:rPr b="1" i="0" lang="en-US" sz="1000" u="none" cap="none" strike="noStrike">
                <a:solidFill>
                  <a:srgbClr val="575757"/>
                </a:solidFill>
                <a:latin typeface="Arial"/>
                <a:ea typeface="Arial"/>
                <a:cs typeface="Arial"/>
                <a:sym typeface="Arial"/>
              </a:rPr>
              <a:t>Why it works: </a:t>
            </a:r>
            <a:r>
              <a:rPr b="1" i="1" lang="en-US" sz="1000" u="none" cap="none" strike="noStrike">
                <a:solidFill>
                  <a:srgbClr val="575757"/>
                </a:solidFill>
                <a:latin typeface="Arial"/>
                <a:ea typeface="Arial"/>
                <a:cs typeface="Arial"/>
                <a:sym typeface="Arial"/>
              </a:rPr>
              <a:t> </a:t>
            </a:r>
            <a:r>
              <a:rPr lang="en-US" sz="1000">
                <a:solidFill>
                  <a:srgbClr val="C77F00"/>
                </a:solidFill>
              </a:rPr>
              <a:t>The headline neutralises the primary SME objection, which is implementation complexity, while the image creative triggers loss aversion by making disengaged employees the threat. The sitelink "Small Businesses (10–50)" pre-qualifies intent before the click, which filters for the right audience and drives higher conversion efficiency.</a:t>
            </a:r>
            <a:endParaRPr b="0" sz="1000" u="none" cap="none" strike="noStrike">
              <a:solidFill>
                <a:schemeClr val="dk1"/>
              </a:solidFill>
              <a:latin typeface="Calibri"/>
              <a:ea typeface="Calibri"/>
              <a:cs typeface="Calibri"/>
              <a:sym typeface="Calibri"/>
            </a:endParaRPr>
          </a:p>
        </p:txBody>
      </p:sp>
      <p:sp>
        <p:nvSpPr>
          <p:cNvPr id="283" name="Google Shape;283;p17"/>
          <p:cNvSpPr/>
          <p:nvPr/>
        </p:nvSpPr>
        <p:spPr>
          <a:xfrm>
            <a:off x="2160250" y="1207100"/>
            <a:ext cx="2483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300"/>
              <a:buFont typeface="Arial"/>
              <a:buNone/>
            </a:pPr>
            <a:r>
              <a:rPr b="1" lang="en-US" sz="1300">
                <a:solidFill>
                  <a:srgbClr val="121212"/>
                </a:solidFill>
              </a:rPr>
              <a:t>SODA</a:t>
            </a:r>
            <a:r>
              <a:rPr b="1" i="0" lang="en-US" sz="1300" u="none" cap="none" strike="noStrike">
                <a:solidFill>
                  <a:srgbClr val="121212"/>
                </a:solidFill>
                <a:latin typeface="Arial"/>
                <a:ea typeface="Arial"/>
                <a:cs typeface="Arial"/>
                <a:sym typeface="Arial"/>
              </a:rPr>
              <a:t> — </a:t>
            </a:r>
            <a:r>
              <a:rPr b="1" lang="en-US" sz="1300" u="sng">
                <a:solidFill>
                  <a:schemeClr val="hlink"/>
                </a:solidFill>
                <a:hlinkClick r:id="rId3"/>
              </a:rPr>
              <a:t>Employee Benefits</a:t>
            </a:r>
            <a:endParaRPr b="0" i="0" sz="1300" u="none" cap="none" strike="noStrike">
              <a:solidFill>
                <a:schemeClr val="dk1"/>
              </a:solidFill>
              <a:latin typeface="Calibri"/>
              <a:ea typeface="Calibri"/>
              <a:cs typeface="Calibri"/>
              <a:sym typeface="Calibri"/>
            </a:endParaRPr>
          </a:p>
        </p:txBody>
      </p:sp>
      <p:pic>
        <p:nvPicPr>
          <p:cNvPr id="284" name="Google Shape;284;p17"/>
          <p:cNvPicPr preferRelativeResize="0"/>
          <p:nvPr/>
        </p:nvPicPr>
        <p:blipFill>
          <a:blip r:embed="rId4">
            <a:alphaModFix/>
          </a:blip>
          <a:stretch>
            <a:fillRect/>
          </a:stretch>
        </p:blipFill>
        <p:spPr>
          <a:xfrm>
            <a:off x="1627726" y="1564225"/>
            <a:ext cx="3548725" cy="2790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p:nvPr/>
        </p:nvSpPr>
        <p:spPr>
          <a:xfrm>
            <a:off x="457200" y="173730"/>
            <a:ext cx="118800" cy="118800"/>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640080" y="10057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RECOMMENDATIONS</a:t>
            </a:r>
            <a:endParaRPr b="0" i="0" sz="1100" u="none" cap="none" strike="noStrike">
              <a:solidFill>
                <a:schemeClr val="dk1"/>
              </a:solidFill>
              <a:latin typeface="Calibri"/>
              <a:ea typeface="Calibri"/>
              <a:cs typeface="Calibri"/>
              <a:sym typeface="Calibri"/>
            </a:endParaRPr>
          </a:p>
        </p:txBody>
      </p:sp>
      <p:sp>
        <p:nvSpPr>
          <p:cNvPr id="292" name="Google Shape;292;p18"/>
          <p:cNvSpPr/>
          <p:nvPr/>
        </p:nvSpPr>
        <p:spPr>
          <a:xfrm>
            <a:off x="457200" y="365754"/>
            <a:ext cx="82296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Next month</a:t>
            </a:r>
            <a:r>
              <a:rPr b="1" lang="en-US" sz="2800">
                <a:solidFill>
                  <a:srgbClr val="121212"/>
                </a:solidFill>
              </a:rPr>
              <a:t>: B</a:t>
            </a:r>
            <a:r>
              <a:rPr b="1" i="0" lang="en-US" sz="2800" u="none" cap="none" strike="noStrike">
                <a:solidFill>
                  <a:srgbClr val="121212"/>
                </a:solidFill>
                <a:latin typeface="Arial"/>
                <a:ea typeface="Arial"/>
                <a:cs typeface="Arial"/>
                <a:sym typeface="Arial"/>
              </a:rPr>
              <a:t>udget &amp; optimization</a:t>
            </a:r>
            <a:endParaRPr b="0" i="0" sz="2800" u="none" cap="none" strike="noStrike">
              <a:solidFill>
                <a:schemeClr val="dk1"/>
              </a:solidFill>
              <a:latin typeface="Calibri"/>
              <a:ea typeface="Calibri"/>
              <a:cs typeface="Calibri"/>
              <a:sym typeface="Calibri"/>
            </a:endParaRPr>
          </a:p>
        </p:txBody>
      </p:sp>
      <p:graphicFrame>
        <p:nvGraphicFramePr>
          <p:cNvPr id="293" name="Google Shape;293;p18"/>
          <p:cNvGraphicFramePr/>
          <p:nvPr/>
        </p:nvGraphicFramePr>
        <p:xfrm>
          <a:off x="284300" y="1051595"/>
          <a:ext cx="3000000" cy="3000000"/>
        </p:xfrm>
        <a:graphic>
          <a:graphicData uri="http://schemas.openxmlformats.org/drawingml/2006/table">
            <a:tbl>
              <a:tblPr>
                <a:noFill/>
                <a:tableStyleId>{4F219C23-2D71-41CD-9275-C88AA14EDE3B}</a:tableStyleId>
              </a:tblPr>
              <a:tblGrid>
                <a:gridCol w="1039175"/>
                <a:gridCol w="1138425"/>
                <a:gridCol w="1204350"/>
                <a:gridCol w="1219325"/>
                <a:gridCol w="978275"/>
                <a:gridCol w="2995825"/>
              </a:tblGrid>
              <a:tr h="384050">
                <a:tc>
                  <a:txBody>
                    <a:bodyPr/>
                    <a:lstStyle/>
                    <a:p>
                      <a:pPr indent="0" lvl="0" marL="0" marR="0" rtl="0" algn="l">
                        <a:spcBef>
                          <a:spcPts val="0"/>
                        </a:spcBef>
                        <a:spcAft>
                          <a:spcPts val="0"/>
                        </a:spcAft>
                        <a:buClr>
                          <a:srgbClr val="FFFFFF"/>
                        </a:buClr>
                        <a:buSzPts val="1050"/>
                        <a:buFont typeface="Arial"/>
                        <a:buNone/>
                      </a:pPr>
                      <a:r>
                        <a:rPr b="1" lang="en-US" sz="1050">
                          <a:solidFill>
                            <a:srgbClr val="FFFFFF"/>
                          </a:solidFill>
                        </a:rPr>
                        <a:t>BU</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50"/>
                        <a:buFont typeface="Arial"/>
                        <a:buNone/>
                      </a:pPr>
                      <a:r>
                        <a:rPr b="1" lang="en-US" sz="1050">
                          <a:solidFill>
                            <a:srgbClr val="FFFFFF"/>
                          </a:solidFill>
                        </a:rPr>
                        <a:t>June Period</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Recommended for July</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None/>
                      </a:pPr>
                      <a:r>
                        <a:rPr b="1" lang="en-US" sz="1050">
                          <a:solidFill>
                            <a:srgbClr val="FFFFFF"/>
                          </a:solidFill>
                        </a:rPr>
                        <a:t>Forecasted Volume</a:t>
                      </a:r>
                      <a:endParaRPr b="1" sz="1050" u="none" cap="none" strike="noStrike">
                        <a:solidFill>
                          <a:srgbClr val="FFFFFF"/>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r">
                        <a:spcBef>
                          <a:spcPts val="0"/>
                        </a:spcBef>
                        <a:spcAft>
                          <a:spcPts val="0"/>
                        </a:spcAft>
                        <a:buClr>
                          <a:srgbClr val="FFFFFF"/>
                        </a:buClr>
                        <a:buSzPts val="1050"/>
                        <a:buFont typeface="Arial"/>
                        <a:buNone/>
                      </a:pPr>
                      <a:r>
                        <a:rPr b="1" lang="en-US" sz="1050">
                          <a:solidFill>
                            <a:srgbClr val="FFFFFF"/>
                          </a:solidFill>
                        </a:rPr>
                        <a:t>Forecasted Revenue</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c>
                  <a:txBody>
                    <a:bodyPr/>
                    <a:lstStyle/>
                    <a:p>
                      <a:pPr indent="0" lvl="0" marL="0" marR="0" rtl="0" algn="l">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Rationale</a:t>
                      </a:r>
                      <a:endParaRPr sz="105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0A1E89"/>
                    </a:solidFill>
                  </a:tcPr>
                </a:tc>
              </a:tr>
              <a:tr h="384050">
                <a:tc>
                  <a:txBody>
                    <a:bodyPr/>
                    <a:lstStyle/>
                    <a:p>
                      <a:pPr indent="0" lvl="0" marL="0" marR="0" rtl="0" algn="l">
                        <a:spcBef>
                          <a:spcPts val="0"/>
                        </a:spcBef>
                        <a:spcAft>
                          <a:spcPts val="0"/>
                        </a:spcAft>
                        <a:buClr>
                          <a:srgbClr val="575757"/>
                        </a:buClr>
                        <a:buSzPts val="1100"/>
                        <a:buFont typeface="Arial"/>
                        <a:buNone/>
                      </a:pPr>
                      <a:r>
                        <a:rPr lang="en-US" sz="1100" u="none" cap="none" strike="noStrike">
                          <a:solidFill>
                            <a:srgbClr val="575757"/>
                          </a:solidFill>
                          <a:latin typeface="Arial"/>
                          <a:ea typeface="Arial"/>
                          <a:cs typeface="Arial"/>
                          <a:sym typeface="Arial"/>
                        </a:rPr>
                        <a:t>VC</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$12,894.15</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$35,334</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1,963 Joined VCs</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$79,030</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77F00"/>
                        </a:buClr>
                        <a:buSzPts val="1100"/>
                        <a:buFont typeface="Arial"/>
                        <a:buNone/>
                      </a:pPr>
                      <a:r>
                        <a:rPr lang="en-US" sz="900">
                          <a:solidFill>
                            <a:srgbClr val="C77F00"/>
                          </a:solidFill>
                        </a:rPr>
                        <a:t>Reinforcing Google after pausing Taboola and reviewing LinkedIn as its the only channel with confirmed Joined VC revenue.</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575757"/>
                        </a:buClr>
                        <a:buSzPts val="1100"/>
                        <a:buFont typeface="Arial"/>
                        <a:buNone/>
                      </a:pPr>
                      <a:r>
                        <a:rPr lang="en-US" sz="1100" u="none" cap="none" strike="noStrike">
                          <a:solidFill>
                            <a:srgbClr val="575757"/>
                          </a:solidFill>
                          <a:latin typeface="Arial"/>
                          <a:ea typeface="Arial"/>
                          <a:cs typeface="Arial"/>
                          <a:sym typeface="Arial"/>
                        </a:rPr>
                        <a:t>MedSuites</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$5,842.53</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$19,000</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158 Bookings</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$70,436</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77F00"/>
                        </a:buClr>
                        <a:buSzPts val="1100"/>
                        <a:buFont typeface="Arial"/>
                        <a:buNone/>
                      </a:pPr>
                      <a:r>
                        <a:rPr lang="en-US" sz="900">
                          <a:solidFill>
                            <a:srgbClr val="C77F00"/>
                          </a:solidFill>
                        </a:rPr>
                        <a:t>Scaling Meta (8x ROAS) by reallocating from Google; Longevity campaign activates on both channels in July.</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575757"/>
                        </a:buClr>
                        <a:buSzPts val="1100"/>
                        <a:buFont typeface="Arial"/>
                        <a:buNone/>
                      </a:pPr>
                      <a:r>
                        <a:rPr lang="en-US" sz="1100" u="none" cap="none" strike="noStrike">
                          <a:solidFill>
                            <a:srgbClr val="575757"/>
                          </a:solidFill>
                          <a:latin typeface="Arial"/>
                          <a:ea typeface="Arial"/>
                          <a:cs typeface="Arial"/>
                          <a:sym typeface="Arial"/>
                        </a:rPr>
                        <a:t>MOBS</a:t>
                      </a:r>
                      <a:endParaRPr sz="11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$9,308.83</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$9,000</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50 Bookings</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$9,252</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77F00"/>
                        </a:buClr>
                        <a:buSzPts val="1100"/>
                        <a:buFont typeface="Arial"/>
                        <a:buNone/>
                      </a:pPr>
                      <a:r>
                        <a:rPr lang="en-US" sz="900">
                          <a:solidFill>
                            <a:srgbClr val="C77F00"/>
                          </a:solidFill>
                        </a:rPr>
                        <a:t>Budget maintain while consolidating into Google and reducing Meta; LinkedIn and TikTok paused pending blended AOV validation.</a:t>
                      </a:r>
                      <a:endParaRPr sz="900" u="none" cap="none" strike="noStrike">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None/>
                      </a:pPr>
                      <a:r>
                        <a:rPr lang="en-US" sz="1100">
                          <a:solidFill>
                            <a:srgbClr val="575757"/>
                          </a:solidFill>
                        </a:rPr>
                        <a:t>SODA</a:t>
                      </a:r>
                      <a:endParaRPr sz="1100" u="none" cap="none" strike="noStrike">
                        <a:solidFill>
                          <a:srgbClr val="575757"/>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$5,638.72</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$5,000</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21 Leads</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C77F00"/>
                        </a:buClr>
                        <a:buSzPts val="1100"/>
                        <a:buFont typeface="Arial"/>
                        <a:buNone/>
                      </a:pPr>
                      <a:r>
                        <a:rPr b="1" lang="en-US" sz="900">
                          <a:solidFill>
                            <a:srgbClr val="C77F00"/>
                          </a:solidFill>
                        </a:rPr>
                        <a:t>N/A</a:t>
                      </a:r>
                      <a:endParaRPr b="1"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77F00"/>
                        </a:buClr>
                        <a:buSzPts val="1100"/>
                        <a:buFont typeface="Arial"/>
                        <a:buNone/>
                      </a:pPr>
                      <a:r>
                        <a:rPr lang="en-US" sz="900">
                          <a:solidFill>
                            <a:srgbClr val="C77F00"/>
                          </a:solidFill>
                        </a:rPr>
                        <a:t>Reallocating LinkedIn spend into Google, as its the only channel with confirmed closed-deal attribution, while CRM source mapping gets fixed.</a:t>
                      </a:r>
                      <a:endParaRPr sz="900" u="none" cap="none" strike="noStrike">
                        <a:solidFill>
                          <a:srgbClr val="C77F00"/>
                        </a:solidFill>
                        <a:latin typeface="Arial"/>
                        <a:ea typeface="Arial"/>
                        <a:cs typeface="Arial"/>
                        <a:sym typeface="Arial"/>
                      </a:endParaRPr>
                    </a:p>
                  </a:txBody>
                  <a:tcPr marT="45725" marB="45725" marR="91450" marL="91450" anchor="ctr">
                    <a:lnL cap="flat" cmpd="sng" w="9525">
                      <a:solidFill>
                        <a:srgbClr val="EEEFF0"/>
                      </a:solidFill>
                      <a:prstDash val="solid"/>
                      <a:round/>
                      <a:headEnd len="sm" w="sm" type="none"/>
                      <a:tailEnd len="sm" w="sm" type="none"/>
                    </a:lnL>
                    <a:lnR cap="flat" cmpd="sng" w="9525">
                      <a:solidFill>
                        <a:srgbClr val="EEEFF0"/>
                      </a:solidFill>
                      <a:prstDash val="solid"/>
                      <a:round/>
                      <a:headEnd len="sm" w="sm" type="none"/>
                      <a:tailEnd len="sm" w="sm" type="none"/>
                    </a:lnR>
                    <a:lnT cap="flat" cmpd="sng" w="9525">
                      <a:solidFill>
                        <a:srgbClr val="EEEFF0"/>
                      </a:solidFill>
                      <a:prstDash val="solid"/>
                      <a:round/>
                      <a:headEnd len="sm" w="sm" type="none"/>
                      <a:tailEnd len="sm" w="sm" type="none"/>
                    </a:lnT>
                    <a:lnB cap="flat" cmpd="sng" w="9525">
                      <a:solidFill>
                        <a:srgbClr val="EEEFF0"/>
                      </a:solidFill>
                      <a:prstDash val="solid"/>
                      <a:round/>
                      <a:headEnd len="sm" w="sm" type="none"/>
                      <a:tailEnd len="sm" w="sm" type="none"/>
                    </a:lnB>
                    <a:solidFill>
                      <a:srgbClr val="FFFFFF"/>
                    </a:solidFill>
                  </a:tcPr>
                </a:tc>
              </a:tr>
            </a:tbl>
          </a:graphicData>
        </a:graphic>
      </p:graphicFrame>
      <p:sp>
        <p:nvSpPr>
          <p:cNvPr id="294" name="Google Shape;294;p18"/>
          <p:cNvSpPr/>
          <p:nvPr/>
        </p:nvSpPr>
        <p:spPr>
          <a:xfrm>
            <a:off x="284300" y="349575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200"/>
              <a:buFont typeface="Arial"/>
              <a:buNone/>
            </a:pPr>
            <a:r>
              <a:rPr b="1" i="0" lang="en-US" sz="1200" u="none" cap="none" strike="noStrike">
                <a:solidFill>
                  <a:srgbClr val="0D39D8"/>
                </a:solidFill>
                <a:latin typeface="Arial"/>
                <a:ea typeface="Arial"/>
                <a:cs typeface="Arial"/>
                <a:sym typeface="Arial"/>
              </a:rPr>
              <a:t>TOP OPTIMIZATION ACTIONS</a:t>
            </a:r>
            <a:endParaRPr b="0" i="0" sz="1200" u="none" cap="none" strike="noStrike">
              <a:solidFill>
                <a:schemeClr val="dk1"/>
              </a:solidFill>
              <a:latin typeface="Calibri"/>
              <a:ea typeface="Calibri"/>
              <a:cs typeface="Calibri"/>
              <a:sym typeface="Calibri"/>
            </a:endParaRPr>
          </a:p>
        </p:txBody>
      </p:sp>
      <p:sp>
        <p:nvSpPr>
          <p:cNvPr id="295" name="Google Shape;295;p18"/>
          <p:cNvSpPr/>
          <p:nvPr/>
        </p:nvSpPr>
        <p:spPr>
          <a:xfrm>
            <a:off x="284300" y="3814980"/>
            <a:ext cx="7680900" cy="1140600"/>
          </a:xfrm>
          <a:prstGeom prst="rect">
            <a:avLst/>
          </a:prstGeom>
          <a:noFill/>
          <a:ln>
            <a:noFill/>
          </a:ln>
        </p:spPr>
        <p:txBody>
          <a:bodyPr anchorCtr="0" anchor="ctr" bIns="0" lIns="0" spcFirstLastPara="1" rIns="0" wrap="square" tIns="0">
            <a:noAutofit/>
          </a:bodyPr>
          <a:lstStyle/>
          <a:p>
            <a:pPr indent="-301625" lvl="0" marL="457200" marR="0" rtl="0" algn="l">
              <a:spcBef>
                <a:spcPts val="0"/>
              </a:spcBef>
              <a:spcAft>
                <a:spcPts val="0"/>
              </a:spcAft>
              <a:buClr>
                <a:srgbClr val="C77F00"/>
              </a:buClr>
              <a:buSzPts val="1150"/>
              <a:buFont typeface="Arial"/>
              <a:buAutoNum type="arabicPeriod"/>
            </a:pPr>
            <a:r>
              <a:rPr lang="en-US" sz="1150">
                <a:solidFill>
                  <a:srgbClr val="C77F00"/>
                </a:solidFill>
              </a:rPr>
              <a:t>Shift Meta budget from MOBS to MedSuites. Same channel, opposite returns, and the single highest-leverage reallocation available in the portfolio.</a:t>
            </a:r>
            <a:endParaRPr sz="1150">
              <a:solidFill>
                <a:srgbClr val="C77F00"/>
              </a:solidFill>
            </a:endParaRPr>
          </a:p>
          <a:p>
            <a:pPr indent="-301625" lvl="0" marL="457200" marR="0" rtl="0" algn="l">
              <a:spcBef>
                <a:spcPts val="0"/>
              </a:spcBef>
              <a:spcAft>
                <a:spcPts val="0"/>
              </a:spcAft>
              <a:buClr>
                <a:srgbClr val="C77F00"/>
              </a:buClr>
              <a:buSzPts val="1150"/>
              <a:buFont typeface="Arial"/>
              <a:buAutoNum type="arabicPeriod"/>
            </a:pPr>
            <a:r>
              <a:rPr lang="en-US" sz="1150">
                <a:solidFill>
                  <a:srgbClr val="C77F00"/>
                </a:solidFill>
              </a:rPr>
              <a:t>Extend MedSuites' lifestyle and aspiration angle to VC's Meta creative, which still leans transactional; pause Taboola ads entirely for the BUs.</a:t>
            </a:r>
            <a:endParaRPr sz="1150">
              <a:solidFill>
                <a:srgbClr val="C77F00"/>
              </a:solidFill>
            </a:endParaRPr>
          </a:p>
          <a:p>
            <a:pPr indent="-301625" lvl="0" marL="457200" marR="0" rtl="0" algn="l">
              <a:spcBef>
                <a:spcPts val="0"/>
              </a:spcBef>
              <a:spcAft>
                <a:spcPts val="0"/>
              </a:spcAft>
              <a:buClr>
                <a:srgbClr val="C77F00"/>
              </a:buClr>
              <a:buSzPts val="1150"/>
              <a:buFont typeface="Arial"/>
              <a:buAutoNum type="arabicPeriod"/>
            </a:pPr>
            <a:r>
              <a:rPr lang="en-US" sz="1150">
                <a:solidFill>
                  <a:srgbClr val="C77F00"/>
                </a:solidFill>
              </a:rPr>
              <a:t>Fix SODA's UTM-to-CRM lead source mapping and establish a blended MOBS AOV across service lines as both BUs are scaling July budget on incomplete attribution.</a:t>
            </a:r>
            <a:endParaRPr sz="1150">
              <a:solidFill>
                <a:srgbClr val="C77F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00" name="Shape 300"/>
        <p:cNvGrpSpPr/>
        <p:nvPr/>
      </p:nvGrpSpPr>
      <p:grpSpPr>
        <a:xfrm>
          <a:off x="0" y="0"/>
          <a:ext cx="0" cy="0"/>
          <a:chOff x="0" y="0"/>
          <a:chExt cx="0" cy="0"/>
        </a:xfrm>
      </p:grpSpPr>
      <p:sp>
        <p:nvSpPr>
          <p:cNvPr id="301" name="Google Shape;301;p19"/>
          <p:cNvSpPr/>
          <p:nvPr/>
        </p:nvSpPr>
        <p:spPr>
          <a:xfrm>
            <a:off x="457200" y="411480"/>
            <a:ext cx="118872" cy="118872"/>
          </a:xfrm>
          <a:prstGeom prst="ellipse">
            <a:avLst/>
          </a:prstGeom>
          <a:solidFill>
            <a:srgbClr val="0D39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640080" y="33832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APPENDIX</a:t>
            </a:r>
            <a:endParaRPr b="0" i="0" sz="1100" u="none" cap="none" strike="noStrike">
              <a:solidFill>
                <a:schemeClr val="dk1"/>
              </a:solidFill>
              <a:latin typeface="Calibri"/>
              <a:ea typeface="Calibri"/>
              <a:cs typeface="Calibri"/>
              <a:sym typeface="Calibri"/>
            </a:endParaRPr>
          </a:p>
        </p:txBody>
      </p:sp>
      <p:sp>
        <p:nvSpPr>
          <p:cNvPr id="303" name="Google Shape;303;p19"/>
          <p:cNvSpPr/>
          <p:nvPr/>
        </p:nvSpPr>
        <p:spPr>
          <a:xfrm>
            <a:off x="457200" y="603504"/>
            <a:ext cx="8229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800"/>
              <a:buFont typeface="Arial"/>
              <a:buNone/>
            </a:pPr>
            <a:r>
              <a:rPr b="1" i="0" lang="en-US" sz="2800" u="none" cap="none" strike="noStrike">
                <a:solidFill>
                  <a:srgbClr val="121212"/>
                </a:solidFill>
                <a:latin typeface="Arial"/>
                <a:ea typeface="Arial"/>
                <a:cs typeface="Arial"/>
                <a:sym typeface="Arial"/>
              </a:rPr>
              <a:t>How these numbers were built</a:t>
            </a:r>
            <a:endParaRPr b="0" i="0" sz="2800" u="none" cap="none" strike="noStrike">
              <a:solidFill>
                <a:schemeClr val="dk1"/>
              </a:solidFill>
              <a:latin typeface="Calibri"/>
              <a:ea typeface="Calibri"/>
              <a:cs typeface="Calibri"/>
              <a:sym typeface="Calibri"/>
            </a:endParaRPr>
          </a:p>
        </p:txBody>
      </p:sp>
      <p:sp>
        <p:nvSpPr>
          <p:cNvPr id="304" name="Google Shape;304;p19"/>
          <p:cNvSpPr/>
          <p:nvPr/>
        </p:nvSpPr>
        <p:spPr>
          <a:xfrm>
            <a:off x="457200" y="1417320"/>
            <a:ext cx="8229600" cy="603504"/>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640080" y="1417320"/>
            <a:ext cx="15544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Period</a:t>
            </a:r>
            <a:endParaRPr b="0" i="0" sz="1100" u="none" cap="none" strike="noStrike">
              <a:solidFill>
                <a:schemeClr val="dk1"/>
              </a:solidFill>
              <a:latin typeface="Calibri"/>
              <a:ea typeface="Calibri"/>
              <a:cs typeface="Calibri"/>
              <a:sym typeface="Calibri"/>
            </a:endParaRPr>
          </a:p>
        </p:txBody>
      </p:sp>
      <p:sp>
        <p:nvSpPr>
          <p:cNvPr id="306" name="Google Shape;306;p19"/>
          <p:cNvSpPr/>
          <p:nvPr/>
        </p:nvSpPr>
        <p:spPr>
          <a:xfrm>
            <a:off x="2194560" y="1417320"/>
            <a:ext cx="6355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b="0" i="0" lang="en-US" sz="1050" u="none" cap="none" strike="noStrike">
                <a:solidFill>
                  <a:srgbClr val="575757"/>
                </a:solidFill>
                <a:latin typeface="Arial"/>
                <a:ea typeface="Arial"/>
                <a:cs typeface="Arial"/>
                <a:sym typeface="Arial"/>
              </a:rPr>
              <a:t>1 Jan – 3</a:t>
            </a:r>
            <a:r>
              <a:rPr lang="en-US" sz="1050">
                <a:solidFill>
                  <a:srgbClr val="575757"/>
                </a:solidFill>
              </a:rPr>
              <a:t>0</a:t>
            </a:r>
            <a:r>
              <a:rPr b="0" i="0" lang="en-US" sz="1050" u="none" cap="none" strike="noStrike">
                <a:solidFill>
                  <a:srgbClr val="575757"/>
                </a:solidFill>
                <a:latin typeface="Arial"/>
                <a:ea typeface="Arial"/>
                <a:cs typeface="Arial"/>
                <a:sym typeface="Arial"/>
              </a:rPr>
              <a:t> </a:t>
            </a:r>
            <a:r>
              <a:rPr lang="en-US" sz="1050">
                <a:solidFill>
                  <a:srgbClr val="575757"/>
                </a:solidFill>
              </a:rPr>
              <a:t>June</a:t>
            </a:r>
            <a:r>
              <a:rPr b="0" i="0" lang="en-US" sz="1050" u="none" cap="none" strike="noStrike">
                <a:solidFill>
                  <a:srgbClr val="575757"/>
                </a:solidFill>
                <a:latin typeface="Arial"/>
                <a:ea typeface="Arial"/>
                <a:cs typeface="Arial"/>
                <a:sym typeface="Arial"/>
              </a:rPr>
              <a:t> 2026. Paid advertising only — organic and CRM excluded.</a:t>
            </a:r>
            <a:endParaRPr b="0" i="0" sz="1050" u="none" cap="none" strike="noStrike">
              <a:solidFill>
                <a:schemeClr val="dk1"/>
              </a:solidFill>
              <a:latin typeface="Calibri"/>
              <a:ea typeface="Calibri"/>
              <a:cs typeface="Calibri"/>
              <a:sym typeface="Calibri"/>
            </a:endParaRPr>
          </a:p>
        </p:txBody>
      </p:sp>
      <p:sp>
        <p:nvSpPr>
          <p:cNvPr id="307" name="Google Shape;307;p19"/>
          <p:cNvSpPr/>
          <p:nvPr/>
        </p:nvSpPr>
        <p:spPr>
          <a:xfrm>
            <a:off x="457200" y="2112264"/>
            <a:ext cx="8229600" cy="603504"/>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640080" y="2112264"/>
            <a:ext cx="15544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Conversions</a:t>
            </a:r>
            <a:endParaRPr b="0" i="0" sz="1100" u="none" cap="none" strike="noStrike">
              <a:solidFill>
                <a:schemeClr val="dk1"/>
              </a:solidFill>
              <a:latin typeface="Calibri"/>
              <a:ea typeface="Calibri"/>
              <a:cs typeface="Calibri"/>
              <a:sym typeface="Calibri"/>
            </a:endParaRPr>
          </a:p>
        </p:txBody>
      </p:sp>
      <p:sp>
        <p:nvSpPr>
          <p:cNvPr id="309" name="Google Shape;309;p19"/>
          <p:cNvSpPr/>
          <p:nvPr/>
        </p:nvSpPr>
        <p:spPr>
          <a:xfrm>
            <a:off x="2194560" y="2112264"/>
            <a:ext cx="6355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b="0" i="0" lang="en-US" sz="1050" u="none" cap="none" strike="noStrike">
                <a:solidFill>
                  <a:srgbClr val="575757"/>
                </a:solidFill>
                <a:latin typeface="Arial"/>
                <a:ea typeface="Arial"/>
                <a:cs typeface="Arial"/>
                <a:sym typeface="Arial"/>
              </a:rPr>
              <a:t>Platform-reported actuals (Google, Meta, TikTok, Apple Search Ads). Each platform is last-click on its own data; cross-platform overlap is not de-duplicated.</a:t>
            </a:r>
            <a:endParaRPr b="0" i="0" sz="1050" u="none" cap="none" strike="noStrike">
              <a:solidFill>
                <a:schemeClr val="dk1"/>
              </a:solidFill>
              <a:latin typeface="Calibri"/>
              <a:ea typeface="Calibri"/>
              <a:cs typeface="Calibri"/>
              <a:sym typeface="Calibri"/>
            </a:endParaRPr>
          </a:p>
        </p:txBody>
      </p:sp>
      <p:sp>
        <p:nvSpPr>
          <p:cNvPr id="310" name="Google Shape;310;p19"/>
          <p:cNvSpPr/>
          <p:nvPr/>
        </p:nvSpPr>
        <p:spPr>
          <a:xfrm>
            <a:off x="457200" y="2807208"/>
            <a:ext cx="8229600" cy="603504"/>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640080" y="2807208"/>
            <a:ext cx="15544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Revenue</a:t>
            </a:r>
            <a:endParaRPr b="0" i="0" sz="1100" u="none" cap="none" strike="noStrike">
              <a:solidFill>
                <a:schemeClr val="dk1"/>
              </a:solidFill>
              <a:latin typeface="Calibri"/>
              <a:ea typeface="Calibri"/>
              <a:cs typeface="Calibri"/>
              <a:sym typeface="Calibri"/>
            </a:endParaRPr>
          </a:p>
        </p:txBody>
      </p:sp>
      <p:sp>
        <p:nvSpPr>
          <p:cNvPr id="312" name="Google Shape;312;p19"/>
          <p:cNvSpPr/>
          <p:nvPr/>
        </p:nvSpPr>
        <p:spPr>
          <a:xfrm>
            <a:off x="2194560" y="2807208"/>
            <a:ext cx="6355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b="0" i="0" lang="en-US" sz="1050" u="none" cap="none" strike="noStrike">
                <a:solidFill>
                  <a:srgbClr val="575757"/>
                </a:solidFill>
                <a:latin typeface="Arial"/>
                <a:ea typeface="Arial"/>
                <a:cs typeface="Arial"/>
                <a:sym typeface="Arial"/>
              </a:rPr>
              <a:t>Conversions × average bill — VC $40.26, MedSuites $4</a:t>
            </a:r>
            <a:r>
              <a:rPr lang="en-US" sz="1050">
                <a:solidFill>
                  <a:srgbClr val="575757"/>
                </a:solidFill>
              </a:rPr>
              <a:t>45.80</a:t>
            </a:r>
            <a:r>
              <a:rPr b="0" i="0" lang="en-US" sz="1050" u="none" cap="none" strike="noStrike">
                <a:solidFill>
                  <a:srgbClr val="575757"/>
                </a:solidFill>
                <a:latin typeface="Arial"/>
                <a:ea typeface="Arial"/>
                <a:cs typeface="Arial"/>
                <a:sym typeface="Arial"/>
              </a:rPr>
              <a:t>, MOBS $18</a:t>
            </a:r>
            <a:r>
              <a:rPr lang="en-US" sz="1050">
                <a:solidFill>
                  <a:srgbClr val="575757"/>
                </a:solidFill>
              </a:rPr>
              <a:t>5.03</a:t>
            </a:r>
            <a:r>
              <a:rPr b="0" i="0" lang="en-US" sz="1050" u="none" cap="none" strike="noStrike">
                <a:solidFill>
                  <a:srgbClr val="575757"/>
                </a:solidFill>
                <a:latin typeface="Arial"/>
                <a:ea typeface="Arial"/>
                <a:cs typeface="Arial"/>
                <a:sym typeface="Arial"/>
              </a:rPr>
              <a:t> (YTD actuals). Single-transaction, not lifetime.</a:t>
            </a:r>
            <a:endParaRPr b="0" i="0" sz="1050" u="none" cap="none" strike="noStrike">
              <a:solidFill>
                <a:schemeClr val="dk1"/>
              </a:solidFill>
              <a:latin typeface="Calibri"/>
              <a:ea typeface="Calibri"/>
              <a:cs typeface="Calibri"/>
              <a:sym typeface="Calibri"/>
            </a:endParaRPr>
          </a:p>
        </p:txBody>
      </p:sp>
      <p:sp>
        <p:nvSpPr>
          <p:cNvPr id="313" name="Google Shape;313;p19"/>
          <p:cNvSpPr/>
          <p:nvPr/>
        </p:nvSpPr>
        <p:spPr>
          <a:xfrm>
            <a:off x="457200" y="3502152"/>
            <a:ext cx="8229600" cy="603504"/>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640080" y="3502152"/>
            <a:ext cx="15544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ROAS</a:t>
            </a:r>
            <a:endParaRPr b="0" i="0" sz="1100" u="none" cap="none" strike="noStrike">
              <a:solidFill>
                <a:schemeClr val="dk1"/>
              </a:solidFill>
              <a:latin typeface="Calibri"/>
              <a:ea typeface="Calibri"/>
              <a:cs typeface="Calibri"/>
              <a:sym typeface="Calibri"/>
            </a:endParaRPr>
          </a:p>
        </p:txBody>
      </p:sp>
      <p:sp>
        <p:nvSpPr>
          <p:cNvPr id="315" name="Google Shape;315;p19"/>
          <p:cNvSpPr/>
          <p:nvPr/>
        </p:nvSpPr>
        <p:spPr>
          <a:xfrm>
            <a:off x="2194560" y="3502152"/>
            <a:ext cx="6355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b="0" i="0" lang="en-US" sz="1050" u="none" cap="none" strike="noStrike">
                <a:solidFill>
                  <a:srgbClr val="575757"/>
                </a:solidFill>
                <a:latin typeface="Arial"/>
                <a:ea typeface="Arial"/>
                <a:cs typeface="Arial"/>
                <a:sym typeface="Arial"/>
              </a:rPr>
              <a:t>Revenue ÷ paid spend, first-transaction basis.</a:t>
            </a:r>
            <a:endParaRPr b="0" i="0" sz="1050" u="none" cap="none" strike="noStrike">
              <a:solidFill>
                <a:schemeClr val="dk1"/>
              </a:solidFill>
              <a:latin typeface="Calibri"/>
              <a:ea typeface="Calibri"/>
              <a:cs typeface="Calibri"/>
              <a:sym typeface="Calibri"/>
            </a:endParaRPr>
          </a:p>
        </p:txBody>
      </p:sp>
      <p:sp>
        <p:nvSpPr>
          <p:cNvPr id="316" name="Google Shape;316;p19"/>
          <p:cNvSpPr/>
          <p:nvPr/>
        </p:nvSpPr>
        <p:spPr>
          <a:xfrm>
            <a:off x="457200" y="4197096"/>
            <a:ext cx="8229600" cy="603504"/>
          </a:xfrm>
          <a:prstGeom prst="roundRect">
            <a:avLst>
              <a:gd fmla="val 12121" name="adj"/>
            </a:avLst>
          </a:prstGeom>
          <a:solidFill>
            <a:srgbClr val="FAFAFA"/>
          </a:solidFill>
          <a:ln cap="flat" cmpd="sng" w="12700">
            <a:solidFill>
              <a:srgbClr val="EEEFF0"/>
            </a:solidFill>
            <a:prstDash val="solid"/>
            <a:round/>
            <a:headEnd len="sm" w="sm" type="none"/>
            <a:tailEnd len="sm" w="sm" type="none"/>
          </a:ln>
          <a:effectLst>
            <a:outerShdw blurRad="889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640080" y="4197096"/>
            <a:ext cx="15544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9D8"/>
              </a:buClr>
              <a:buSzPts val="1100"/>
              <a:buFont typeface="Arial"/>
              <a:buNone/>
            </a:pPr>
            <a:r>
              <a:rPr b="1" i="0" lang="en-US" sz="1100" u="none" cap="none" strike="noStrike">
                <a:solidFill>
                  <a:srgbClr val="0D39D8"/>
                </a:solidFill>
                <a:latin typeface="Arial"/>
                <a:ea typeface="Arial"/>
                <a:cs typeface="Arial"/>
                <a:sym typeface="Arial"/>
              </a:rPr>
              <a:t>MOBS scope</a:t>
            </a:r>
            <a:endParaRPr b="0" i="0" sz="1100" u="none" cap="none" strike="noStrike">
              <a:solidFill>
                <a:schemeClr val="dk1"/>
              </a:solidFill>
              <a:latin typeface="Calibri"/>
              <a:ea typeface="Calibri"/>
              <a:cs typeface="Calibri"/>
              <a:sym typeface="Calibri"/>
            </a:endParaRPr>
          </a:p>
        </p:txBody>
      </p:sp>
      <p:sp>
        <p:nvSpPr>
          <p:cNvPr id="318" name="Google Shape;318;p19"/>
          <p:cNvSpPr/>
          <p:nvPr/>
        </p:nvSpPr>
        <p:spPr>
          <a:xfrm>
            <a:off x="2194560" y="4197096"/>
            <a:ext cx="6355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5757"/>
              </a:buClr>
              <a:buSzPts val="1050"/>
              <a:buFont typeface="Arial"/>
              <a:buNone/>
            </a:pPr>
            <a:r>
              <a:rPr b="0" i="0" lang="en-US" sz="1050" u="none" cap="none" strike="noStrike">
                <a:solidFill>
                  <a:srgbClr val="575757"/>
                </a:solidFill>
                <a:latin typeface="Arial"/>
                <a:ea typeface="Arial"/>
                <a:cs typeface="Arial"/>
                <a:sym typeface="Arial"/>
              </a:rPr>
              <a:t>Confirm conversions/revenue cover all MOB services. The Home Care dashboard alone understates MOBS materially.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