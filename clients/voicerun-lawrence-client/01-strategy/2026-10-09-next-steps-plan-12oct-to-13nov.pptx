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[VoiceRun] Meeting Notes.docx (8 Oct 2026), Notion "Media Plan: VoiceScore Insurance Q4" (Octavio), Lawrence's Notion pages captured 9 Oct 2026, and clients/voicerun-lawrence-client/01-strategy/ in toggle-brain.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Status values: To do, Waiting, In progress, Done. Change them in the table cells. When a row slips, copy it into the next week and keep the original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Roles from the 8 Oct call notes and Lawrence's Notion plan. Sync time: Thursday 10am ET. US daylight saving ends Sunday 1 Nov 2026, so 10am ET is 10pm MYT up to 29 Oct and 11pm MYT from 5 Nov. Fee: quotation TG-2026-001 says USD 2,000 a month for 3 months; Lawrence's Notion budget shows USD 1,000 a month for the agency.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rules from Octavio's media plan sections 1, 2, 5, 6 and 7, plus the 8 Oct call (Lawrence gives final review before launch).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Measurement section 9 of Octavio's media plan. Lawrence's KPI list from the parent Notion page. No cost per evaluation target appears in either plan as of 9 Oct.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Lawrence's parent page (buying committee, signals), the Target Account List page (Nick's search parameters), and Octavio's media plan section 4. Buyer pain paraphrases the workshop quote on Lawrence's parent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Conversion path and routing from Octavio's media plan sections 1, 3 and 7. The insurance landing page URL is still "[INSERT LIVE URL WHEN PUBLISHES]" in the plan; the v2 redesign exists only as a PDF (8 Oct call). Remarketing destination is not in the media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Budget from the 8 Oct call notes and Lawrence's parent page. The call put brand at about $300 to $500 a month; the Notion page says $300. October part month: launching Fri 16 Oct leaves 16 of 31 days, so about $5,200 of the $10,000 (10,000 x 16 / 31 = 5,161). ITC is a one-time event line in Lawrence's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Owners from Lawrence's readiness checklist, the Q4 Evaluation plan components table, Octavio's media plan (addressed to the agency) and the 8 Oct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Event list from Octavio's media plan sections 7 to 9 and Lawrence's tracking priorities on the 8 Oct call (smart bidding signal, remarketing, demo and form tracking). August audit: Google Ads primary conversion is "Submit Lead Form (Demo Request Web)"; demo_request exists in GA4 but is not a key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GA4 gaps confirmed in the 28 Aug audit (clients/voicerun-lawrence-client/01-strategy/2026-08-28-linkedin-and-ga4-verified-data.md): demo_request not a key event, data retention 2 months, Google signals off, product and marketing site in one property, Belgium anomaly. Tag Gateway and Enhanced Conversions are your action from the 8 Oct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LinkedIn matched and retargeting audiences need at least 300 members to serve. Google Ads can take several hours to show a new conversion, so check the next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Launch actions from Octavio's media plan section 7. Negatives: the call says they are messy and should move to account level. Test-automation leak (LambdaTest, QA Wolf, Mabl) is from Lawrence's Paid Campaigns audit: "automated QA scoring" took 54% of the Automated Call Scoring ad group's spend. Deepfake and transcription overlap came up on the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Daily budget: $3,000 / 30.4 = $98.68. The landing page experience figure (69 of 73 scored keywords below average) is from the 27 Aug Google Ads audit, which covered the campaigns visible then, not VoiceScore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from Octavio's media plan sections 1, 4, 5, 6 and 8. August audit (Lawrence's Paid Campaigns page): Ops-NA media buy ran 1.5 to 2 times above LinkedIn's own CPM and CPC forecast. Audience Expansion and Audience Network off is a Toggle recommendation, not in the media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Daily budget: $4,000 / 30.4 = $131.58 for prospecting. August figures (Canada 42.1% of impressions, entry level 19.0%, TechBuyer losing 75% to 80% of viewers before 25%) come from the 28 Aug LinkedIn audit and the August Paid Campaigns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Lawrence's Reporting Strategy &amp; Template and Measurement Definitions pages (edited 5 Oct). "Detailed paid-media optimization should remain in Toggle's channel reporting." You are named with Kuota and VoiceRun on the "What counts as Reached?"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1 to 8 are your list from the 8 Oct meeting notes. 9 to 12 came from reading the media plan and Lawrence's Q4 Evaluation plan against the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Launch target "next week" from the 8 Oct call, which matches Week 3 (12 Oct) launch in Lawrence's Q4 Evaluation plan timeline. Sync times in MYT account for US daylight saving ending 1 Nov.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Statuses as of Fri 9 Oct 2026. GTM publish access was granted on the 8 Oct call. If access lands late, launch moves with it; tell Lawrence the new date at the Thursday sync.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campaigns are in their learning period. Fix breakage (tracking, disapprovals, spend not delivering), and leave performance tuning for week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one change at a time per channel and write each one into the tracker with its date, so the October report can explain movements.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report covers the launch date to 31 Oct. Lead with evaluation requests and meetings, then explain them with channel metrics, in line with Kuota's reporting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Lawrence's Q4 plan treats week 4 onward as always-on monitoring and optimization. The webinar (Track B) is "Under Consideration" with every component On 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list. Paste each link into the Link column once it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949440" y="146304"/>
            <a:ext cx="1737360" cy="182880"/>
          </a:xfrm>
          <a:prstGeom prst="rect">
            <a:avLst/>
          </a:prstGeom>
          <a:noFill/>
          <a:ln/>
        </p:spPr>
        <p:txBody>
          <a:bodyPr wrap="square" lIns="0" tIns="0" rIns="0" bIns="0" rtlCol="0" anchor="t"/>
          <a:lstStyle/>
          <a:p>
            <a:pPr algn="r" indent="0" marL="0">
              <a:buNone/>
            </a:pPr>
            <a:r>
              <a:rPr lang="en-US" sz="800" dirty="0">
                <a:solidFill>
                  <a:srgbClr val="9AA0A8"/>
                </a:solidFill>
                <a:latin typeface="Arial" pitchFamily="34" charset="0"/>
                <a:ea typeface="Arial" pitchFamily="34" charset="-122"/>
                <a:cs typeface="Arial" pitchFamily="34" charset="-120"/>
              </a:rPr>
              <a:t>[ toggle.solutions ]</a:t>
            </a:r>
            <a:endParaRPr lang="en-US" sz="800" dirty="0"/>
          </a:p>
        </p:txBody>
      </p:sp>
      <p:sp>
        <p:nvSpPr>
          <p:cNvPr id="3" name="Shape 1"/>
          <p:cNvSpPr/>
          <p:nvPr/>
        </p:nvSpPr>
        <p:spPr>
          <a:xfrm>
            <a:off x="0" y="0"/>
            <a:ext cx="128016" cy="5143500"/>
          </a:xfrm>
          <a:prstGeom prst="rect">
            <a:avLst/>
          </a:prstGeom>
          <a:solidFill>
            <a:srgbClr val="3056C9"/>
          </a:solidFill>
          <a:ln/>
        </p:spPr>
      </p:sp>
      <p:sp>
        <p:nvSpPr>
          <p:cNvPr id="4" name="Text 2"/>
          <p:cNvSpPr/>
          <p:nvPr/>
        </p:nvSpPr>
        <p:spPr>
          <a:xfrm>
            <a:off x="548640" y="384048"/>
            <a:ext cx="1828800" cy="320040"/>
          </a:xfrm>
          <a:prstGeom prst="rect">
            <a:avLst/>
          </a:prstGeom>
          <a:noFill/>
          <a:ln/>
        </p:spPr>
        <p:txBody>
          <a:bodyPr wrap="square" lIns="0" tIns="0" rIns="0" bIns="0" rtlCol="0" anchor="t"/>
          <a:lstStyle/>
          <a:p>
            <a:pPr indent="0" marL="0">
              <a:buNone/>
            </a:pPr>
            <a:r>
              <a:rPr lang="en-US" sz="1600" b="1" dirty="0">
                <a:solidFill>
                  <a:srgbClr val="3056C9"/>
                </a:solidFill>
                <a:latin typeface="Arial" pitchFamily="34" charset="0"/>
                <a:ea typeface="Arial" pitchFamily="34" charset="-122"/>
                <a:cs typeface="Arial" pitchFamily="34" charset="-120"/>
              </a:rPr>
              <a:t>toggle</a:t>
            </a:r>
            <a:endParaRPr lang="en-US" sz="1600" dirty="0"/>
          </a:p>
        </p:txBody>
      </p:sp>
      <p:sp>
        <p:nvSpPr>
          <p:cNvPr id="5" name="Text 3"/>
          <p:cNvSpPr/>
          <p:nvPr/>
        </p:nvSpPr>
        <p:spPr>
          <a:xfrm>
            <a:off x="548640" y="1371600"/>
            <a:ext cx="7315200" cy="228600"/>
          </a:xfrm>
          <a:prstGeom prst="rect">
            <a:avLst/>
          </a:prstGeom>
          <a:noFill/>
          <a:ln/>
        </p:spPr>
        <p:txBody>
          <a:bodyPr wrap="square" lIns="0" tIns="0" rIns="0" bIns="0" rtlCol="0" anchor="t"/>
          <a:lstStyle/>
          <a:p>
            <a:pPr indent="0" marL="0">
              <a:buNone/>
            </a:pPr>
            <a:r>
              <a:rPr lang="en-US" sz="1050" dirty="0">
                <a:solidFill>
                  <a:srgbClr val="4A4A4A"/>
                </a:solidFill>
                <a:latin typeface="Arial" pitchFamily="34" charset="0"/>
                <a:ea typeface="Arial" pitchFamily="34" charset="-122"/>
                <a:cs typeface="Arial" pitchFamily="34" charset="-120"/>
              </a:rPr>
              <a:t>Internal working document. For Jordan only.</a:t>
            </a:r>
            <a:endParaRPr lang="en-US" sz="1050" dirty="0"/>
          </a:p>
        </p:txBody>
      </p:sp>
      <p:sp>
        <p:nvSpPr>
          <p:cNvPr id="6" name="Text 4"/>
          <p:cNvSpPr/>
          <p:nvPr/>
        </p:nvSpPr>
        <p:spPr>
          <a:xfrm>
            <a:off x="548640" y="1645920"/>
            <a:ext cx="7772400" cy="594360"/>
          </a:xfrm>
          <a:prstGeom prst="rect">
            <a:avLst/>
          </a:prstGeom>
          <a:noFill/>
          <a:ln/>
        </p:spPr>
        <p:txBody>
          <a:bodyPr wrap="square" lIns="0" tIns="0" rIns="0" bIns="0" rtlCol="0" anchor="t"/>
          <a:lstStyle/>
          <a:p>
            <a:pPr indent="0" marL="0">
              <a:buNone/>
            </a:pPr>
            <a:r>
              <a:rPr lang="en-US" sz="4000" b="1" dirty="0">
                <a:solidFill>
                  <a:srgbClr val="4A7BF7"/>
                </a:solidFill>
                <a:latin typeface="Arial" pitchFamily="34" charset="0"/>
                <a:ea typeface="Arial" pitchFamily="34" charset="-122"/>
                <a:cs typeface="Arial" pitchFamily="34" charset="-120"/>
              </a:rPr>
              <a:t>VoiceRun</a:t>
            </a:r>
            <a:endParaRPr lang="en-US" sz="4000" dirty="0"/>
          </a:p>
        </p:txBody>
      </p:sp>
      <p:sp>
        <p:nvSpPr>
          <p:cNvPr id="7" name="Text 5"/>
          <p:cNvSpPr/>
          <p:nvPr/>
        </p:nvSpPr>
        <p:spPr>
          <a:xfrm>
            <a:off x="548640" y="2286000"/>
            <a:ext cx="7863840" cy="411480"/>
          </a:xfrm>
          <a:prstGeom prst="rect">
            <a:avLst/>
          </a:prstGeom>
          <a:noFill/>
          <a:ln/>
        </p:spPr>
        <p:txBody>
          <a:bodyPr wrap="square" lIns="0" tIns="0" rIns="0" bIns="0" rtlCol="0" anchor="t"/>
          <a:lstStyle/>
          <a:p>
            <a:pPr indent="0" marL="0">
              <a:buNone/>
            </a:pPr>
            <a:r>
              <a:rPr lang="en-US" sz="2400" b="1" dirty="0">
                <a:solidFill>
                  <a:srgbClr val="0F0F0F"/>
                </a:solidFill>
                <a:latin typeface="Arial" pitchFamily="34" charset="0"/>
                <a:ea typeface="Arial" pitchFamily="34" charset="-122"/>
                <a:cs typeface="Arial" pitchFamily="34" charset="-120"/>
              </a:rPr>
              <a:t>VoiceScore Insurance Q4: my next steps</a:t>
            </a:r>
            <a:endParaRPr lang="en-US" sz="2400" dirty="0"/>
          </a:p>
        </p:txBody>
      </p:sp>
      <p:sp>
        <p:nvSpPr>
          <p:cNvPr id="8" name="Shape 6"/>
          <p:cNvSpPr/>
          <p:nvPr/>
        </p:nvSpPr>
        <p:spPr>
          <a:xfrm>
            <a:off x="457200" y="2852928"/>
            <a:ext cx="1005840" cy="36576"/>
          </a:xfrm>
          <a:prstGeom prst="rect">
            <a:avLst/>
          </a:prstGeom>
          <a:solidFill>
            <a:srgbClr val="4A7BF7"/>
          </a:solidFill>
          <a:ln/>
        </p:spPr>
      </p:sp>
      <p:sp>
        <p:nvSpPr>
          <p:cNvPr id="9" name="Text 7"/>
          <p:cNvSpPr/>
          <p:nvPr/>
        </p:nvSpPr>
        <p:spPr>
          <a:xfrm>
            <a:off x="548640" y="3108960"/>
            <a:ext cx="7132320" cy="548640"/>
          </a:xfrm>
          <a:prstGeom prst="rect">
            <a:avLst/>
          </a:prstGeom>
          <a:noFill/>
          <a:ln/>
        </p:spPr>
        <p:txBody>
          <a:bodyPr wrap="square" lIns="0" tIns="0" rIns="0" bIns="0" rtlCol="0" anchor="t"/>
          <a:lstStyle/>
          <a:p>
            <a:pPr indent="0" marL="0">
              <a:buNone/>
            </a:pPr>
            <a:r>
              <a:rPr lang="en-US" sz="1100" dirty="0">
                <a:solidFill>
                  <a:srgbClr val="4A4A4A"/>
                </a:solidFill>
                <a:latin typeface="Arial" pitchFamily="34" charset="0"/>
                <a:ea typeface="Arial" pitchFamily="34" charset="-122"/>
                <a:cs typeface="Arial" pitchFamily="34" charset="-120"/>
              </a:rPr>
              <a:t>This plan covers 12 October to 13 November 2026: the launch and the first 30 days of the VoiceScore campaign on Google Search and LinkedIn. It draws on the 8 October call with Lawrence and Octavio, Octavio's media plan, Lawrence's Notion plan and Toggle's August audit.</a:t>
            </a:r>
            <a:endParaRPr lang="en-US" sz="1100" dirty="0"/>
          </a:p>
        </p:txBody>
      </p:sp>
      <p:sp>
        <p:nvSpPr>
          <p:cNvPr id="10" name="Shape 8"/>
          <p:cNvSpPr/>
          <p:nvPr/>
        </p:nvSpPr>
        <p:spPr>
          <a:xfrm>
            <a:off x="457200" y="4370832"/>
            <a:ext cx="8229600" cy="310896"/>
          </a:xfrm>
          <a:prstGeom prst="rect">
            <a:avLst/>
          </a:prstGeom>
          <a:solidFill>
            <a:srgbClr val="3056C9"/>
          </a:solidFill>
          <a:ln/>
        </p:spPr>
      </p:sp>
      <p:sp>
        <p:nvSpPr>
          <p:cNvPr id="11" name="Text 9"/>
          <p:cNvSpPr/>
          <p:nvPr/>
        </p:nvSpPr>
        <p:spPr>
          <a:xfrm>
            <a:off x="640080" y="4370832"/>
            <a:ext cx="7863840" cy="310896"/>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Jordan Pinto  ·  Toggle Solutions  ·  Built 9 October 2026  ·  Launch target: week of 12 October</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949440" y="146304"/>
            <a:ext cx="1737360" cy="182880"/>
          </a:xfrm>
          <a:prstGeom prst="rect">
            <a:avLst/>
          </a:prstGeom>
          <a:noFill/>
          <a:ln/>
        </p:spPr>
        <p:txBody>
          <a:bodyPr wrap="square" lIns="0" tIns="0" rIns="0" bIns="0" rtlCol="0" anchor="t"/>
          <a:lstStyle/>
          <a:p>
            <a:pPr algn="r" indent="0" marL="0">
              <a:buNone/>
            </a:pPr>
            <a:r>
              <a:rPr lang="en-US" sz="800" dirty="0">
                <a:solidFill>
                  <a:srgbClr val="9AA0A8"/>
                </a:solidFill>
                <a:latin typeface="Arial" pitchFamily="34" charset="0"/>
                <a:ea typeface="Arial" pitchFamily="34" charset="-122"/>
                <a:cs typeface="Arial" pitchFamily="34" charset="-120"/>
              </a:rPr>
              <a:t>[ toggle.solutions ]</a:t>
            </a:r>
            <a:endParaRPr lang="en-US" sz="800" dirty="0"/>
          </a:p>
        </p:txBody>
      </p:sp>
      <p:sp>
        <p:nvSpPr>
          <p:cNvPr id="3" name="Text 1"/>
          <p:cNvSpPr/>
          <p:nvPr/>
        </p:nvSpPr>
        <p:spPr>
          <a:xfrm>
            <a:off x="457200" y="329184"/>
            <a:ext cx="8229600" cy="384048"/>
          </a:xfrm>
          <a:prstGeom prst="rect">
            <a:avLst/>
          </a:prstGeom>
          <a:noFill/>
          <a:ln/>
        </p:spPr>
        <p:txBody>
          <a:bodyPr wrap="square" lIns="0" tIns="0" rIns="0" bIns="0" rtlCol="0" anchor="t"/>
          <a:lstStyle/>
          <a:p>
            <a:pPr indent="0" marL="0">
              <a:buNone/>
            </a:pPr>
            <a:r>
              <a:rPr lang="en-US" sz="2150" b="1" dirty="0">
                <a:solidFill>
                  <a:srgbClr val="4A7BF7"/>
                </a:solidFill>
                <a:latin typeface="Arial" pitchFamily="34" charset="0"/>
                <a:ea typeface="Arial" pitchFamily="34" charset="-122"/>
                <a:cs typeface="Arial" pitchFamily="34" charset="-120"/>
              </a:rPr>
              <a:t>How to use this deck</a:t>
            </a:r>
            <a:endParaRPr lang="en-US" sz="2150" dirty="0"/>
          </a:p>
        </p:txBody>
      </p:sp>
      <p:sp>
        <p:nvSpPr>
          <p:cNvPr id="4" name="Text 2"/>
          <p:cNvSpPr/>
          <p:nvPr/>
        </p:nvSpPr>
        <p:spPr>
          <a:xfrm>
            <a:off x="457200" y="749808"/>
            <a:ext cx="8229600" cy="274320"/>
          </a:xfrm>
          <a:prstGeom prst="rect">
            <a:avLst/>
          </a:prstGeom>
          <a:noFill/>
          <a:ln/>
        </p:spPr>
        <p:txBody>
          <a:bodyPr wrap="square" lIns="0" tIns="0" rIns="0" bIns="0" rtlCol="0" anchor="t"/>
          <a:lstStyle/>
          <a:p>
            <a:pPr indent="0" marL="0">
              <a:buNone/>
            </a:pPr>
            <a:r>
              <a:rPr lang="en-US" sz="1050" dirty="0">
                <a:solidFill>
                  <a:srgbClr val="4A4A4A"/>
                </a:solidFill>
                <a:latin typeface="Arial" pitchFamily="34" charset="0"/>
                <a:ea typeface="Arial" pitchFamily="34" charset="-122"/>
                <a:cs typeface="Arial" pitchFamily="34" charset="-120"/>
              </a:rPr>
              <a:t>Treat it as your checklist. Update it as the account moves.</a:t>
            </a:r>
            <a:endParaRPr lang="en-US" sz="10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194560"/>
                <a:gridCol w="6035040"/>
              </a:tblGrid>
              <a:tr h="256032">
                <a:tc>
                  <a:txBody>
                    <a:bodyPr/>
                    <a:lstStyle/>
                    <a:p>
                      <a:pPr indent="0" marL="0">
                        <a:buNone/>
                      </a:pPr>
                      <a:r>
                        <a:rPr lang="en-US" sz="900" b="1" dirty="0">
                          <a:solidFill>
                            <a:srgbClr val="FFFFFF"/>
                          </a:solidFill>
                          <a:latin typeface="Arial" pitchFamily="34" charset="0"/>
                          <a:ea typeface="Arial" pitchFamily="34" charset="-122"/>
                          <a:cs typeface="Arial" pitchFamily="34" charset="-120"/>
                        </a:rPr>
                        <a:t>Rule</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What it means</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r>
              <a:tr h="352044">
                <a:tc>
                  <a:txBody>
                    <a:bodyPr/>
                    <a:lstStyle/>
                    <a:p>
                      <a:pPr indent="0" marL="0">
                        <a:buNone/>
                      </a:pPr>
                      <a:r>
                        <a:rPr lang="en-US" sz="900" b="1" dirty="0">
                          <a:solidFill>
                            <a:srgbClr val="3056C9"/>
                          </a:solidFill>
                          <a:latin typeface="Arial" pitchFamily="34" charset="0"/>
                          <a:ea typeface="Arial" pitchFamily="34" charset="-122"/>
                          <a:cs typeface="Arial" pitchFamily="34" charset="-120"/>
                        </a:rPr>
                        <a:t>Slides 3 to 9 are the reference</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They hold the fixed facts: who is who, the rules, the goals, the audience, the plan and the budget. Check them before you change anything in an account.</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352044">
                <a:tc>
                  <a:txBody>
                    <a:bodyPr/>
                    <a:lstStyle/>
                    <a:p>
                      <a:pPr indent="0" marL="0">
                        <a:buNone/>
                      </a:pPr>
                      <a:r>
                        <a:rPr lang="en-US" sz="900" b="1" dirty="0">
                          <a:solidFill>
                            <a:srgbClr val="3056C9"/>
                          </a:solidFill>
                          <a:latin typeface="Arial" pitchFamily="34" charset="0"/>
                          <a:ea typeface="Arial" pitchFamily="34" charset="-122"/>
                          <a:cs typeface="Arial" pitchFamily="34" charset="-120"/>
                        </a:rPr>
                        <a:t>Slides 10 to 18 are checklists</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Each one covers one part of the work: tracking, Google Search, LinkedIn, reporting and the open questions.</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r h="352044">
                <a:tc>
                  <a:txBody>
                    <a:bodyPr/>
                    <a:lstStyle/>
                    <a:p>
                      <a:pPr indent="0" marL="0">
                        <a:buNone/>
                      </a:pPr>
                      <a:r>
                        <a:rPr lang="en-US" sz="900" b="1" dirty="0">
                          <a:solidFill>
                            <a:srgbClr val="3056C9"/>
                          </a:solidFill>
                          <a:latin typeface="Arial" pitchFamily="34" charset="0"/>
                          <a:ea typeface="Arial" pitchFamily="34" charset="-122"/>
                          <a:cs typeface="Arial" pitchFamily="34" charset="-120"/>
                        </a:rPr>
                        <a:t>Slides 19 to 24 are the timeline</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Open the current week on Monday and work down the table. Anything you do not finish moves into the next week.</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219456">
                <a:tc>
                  <a:txBody>
                    <a:bodyPr/>
                    <a:lstStyle/>
                    <a:p>
                      <a:pPr indent="0" marL="0">
                        <a:buNone/>
                      </a:pPr>
                      <a:r>
                        <a:rPr lang="en-US" sz="900" b="1" dirty="0">
                          <a:solidFill>
                            <a:srgbClr val="3056C9"/>
                          </a:solidFill>
                          <a:latin typeface="Arial" pitchFamily="34" charset="0"/>
                          <a:ea typeface="Arial" pitchFamily="34" charset="-122"/>
                          <a:cs typeface="Arial" pitchFamily="34" charset="-120"/>
                        </a:rPr>
                        <a:t>Keep the Status column current</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Use To do, Waiting, In progress or Done. When a row is waiting on someone, name the person in Remark.</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r h="219456">
                <a:tc>
                  <a:txBody>
                    <a:bodyPr/>
                    <a:lstStyle/>
                    <a:p>
                      <a:pPr indent="0" marL="0">
                        <a:buNone/>
                      </a:pPr>
                      <a:r>
                        <a:rPr lang="en-US" sz="900" b="1" dirty="0">
                          <a:solidFill>
                            <a:srgbClr val="3056C9"/>
                          </a:solidFill>
                          <a:latin typeface="Arial" pitchFamily="34" charset="0"/>
                          <a:ea typeface="Arial" pitchFamily="34" charset="-122"/>
                          <a:cs typeface="Arial" pitchFamily="34" charset="-120"/>
                        </a:rPr>
                        <a:t>Slide 25 is your setup list</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It lists the sheets, folders and the dashboard you need to create. It has no dates.</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219456">
                <a:tc>
                  <a:txBody>
                    <a:bodyPr/>
                    <a:lstStyle/>
                    <a:p>
                      <a:pPr indent="0" marL="0">
                        <a:buNone/>
                      </a:pPr>
                      <a:r>
                        <a:rPr lang="en-US" sz="900" b="1" dirty="0">
                          <a:solidFill>
                            <a:srgbClr val="3056C9"/>
                          </a:solidFill>
                          <a:latin typeface="Arial" pitchFamily="34" charset="0"/>
                          <a:ea typeface="Arial" pitchFamily="34" charset="-122"/>
                          <a:cs typeface="Arial" pitchFamily="34" charset="-120"/>
                        </a:rPr>
                        <a:t>The notes carry the sources</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Each slide's speaker notes say where its facts came from.</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bl>
          </a:graphicData>
        </a:graphic>
      </p:graphicFrame>
      <p:sp>
        <p:nvSpPr>
          <p:cNvPr id="7" name="Shape 3"/>
          <p:cNvSpPr/>
          <p:nvPr/>
        </p:nvSpPr>
        <p:spPr>
          <a:xfrm>
            <a:off x="457200" y="4370832"/>
            <a:ext cx="8229600" cy="310896"/>
          </a:xfrm>
          <a:prstGeom prst="rect">
            <a:avLst/>
          </a:prstGeom>
          <a:solidFill>
            <a:srgbClr val="3056C9"/>
          </a:solidFill>
          <a:ln/>
        </p:spPr>
      </p:sp>
      <p:sp>
        <p:nvSpPr>
          <p:cNvPr id="8" name="Text 4"/>
          <p:cNvSpPr/>
          <p:nvPr/>
        </p:nvSpPr>
        <p:spPr>
          <a:xfrm>
            <a:off x="640080" y="4370832"/>
            <a:ext cx="7863840" cy="310896"/>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Sources: 8 Oct call notes  |  Octavio's media plan  |  Lawrence's Notion plan  |  Toggle's August audit</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949440" y="146304"/>
            <a:ext cx="1737360" cy="182880"/>
          </a:xfrm>
          <a:prstGeom prst="rect">
            <a:avLst/>
          </a:prstGeom>
          <a:noFill/>
          <a:ln/>
        </p:spPr>
        <p:txBody>
          <a:bodyPr wrap="square" lIns="0" tIns="0" rIns="0" bIns="0" rtlCol="0" anchor="t"/>
          <a:lstStyle/>
          <a:p>
            <a:pPr algn="r" indent="0" marL="0">
              <a:buNone/>
            </a:pPr>
            <a:r>
              <a:rPr lang="en-US" sz="800" dirty="0">
                <a:solidFill>
                  <a:srgbClr val="9AA0A8"/>
                </a:solidFill>
                <a:latin typeface="Arial" pitchFamily="34" charset="0"/>
                <a:ea typeface="Arial" pitchFamily="34" charset="-122"/>
                <a:cs typeface="Arial" pitchFamily="34" charset="-120"/>
              </a:rPr>
              <a:t>[ toggle.solutions ]</a:t>
            </a:r>
            <a:endParaRPr lang="en-US" sz="800" dirty="0"/>
          </a:p>
        </p:txBody>
      </p:sp>
      <p:sp>
        <p:nvSpPr>
          <p:cNvPr id="3" name="Text 1"/>
          <p:cNvSpPr/>
          <p:nvPr/>
        </p:nvSpPr>
        <p:spPr>
          <a:xfrm>
            <a:off x="457200" y="329184"/>
            <a:ext cx="8229600" cy="384048"/>
          </a:xfrm>
          <a:prstGeom prst="rect">
            <a:avLst/>
          </a:prstGeom>
          <a:noFill/>
          <a:ln/>
        </p:spPr>
        <p:txBody>
          <a:bodyPr wrap="square" lIns="0" tIns="0" rIns="0" bIns="0" rtlCol="0" anchor="t"/>
          <a:lstStyle/>
          <a:p>
            <a:pPr indent="0" marL="0">
              <a:buNone/>
            </a:pPr>
            <a:r>
              <a:rPr lang="en-US" sz="2150" b="1" dirty="0">
                <a:solidFill>
                  <a:srgbClr val="4A7BF7"/>
                </a:solidFill>
                <a:latin typeface="Arial" pitchFamily="34" charset="0"/>
                <a:ea typeface="Arial" pitchFamily="34" charset="-122"/>
                <a:cs typeface="Arial" pitchFamily="34" charset="-120"/>
              </a:rPr>
              <a:t>The account at a glance</a:t>
            </a:r>
            <a:endParaRPr lang="en-US" sz="2150" dirty="0"/>
          </a:p>
        </p:txBody>
      </p:sp>
      <p:sp>
        <p:nvSpPr>
          <p:cNvPr id="4" name="Text 2"/>
          <p:cNvSpPr/>
          <p:nvPr/>
        </p:nvSpPr>
        <p:spPr>
          <a:xfrm>
            <a:off x="457200" y="749808"/>
            <a:ext cx="8229600" cy="274320"/>
          </a:xfrm>
          <a:prstGeom prst="rect">
            <a:avLst/>
          </a:prstGeom>
          <a:noFill/>
          <a:ln/>
        </p:spPr>
        <p:txBody>
          <a:bodyPr wrap="square" lIns="0" tIns="0" rIns="0" bIns="0" rtlCol="0" anchor="t"/>
          <a:lstStyle/>
          <a:p>
            <a:pPr indent="0" marL="0">
              <a:buNone/>
            </a:pPr>
            <a:r>
              <a:rPr lang="en-US" sz="1050" dirty="0">
                <a:solidFill>
                  <a:srgbClr val="4A4A4A"/>
                </a:solidFill>
                <a:latin typeface="Arial" pitchFamily="34" charset="0"/>
                <a:ea typeface="Arial" pitchFamily="34" charset="-122"/>
                <a:cs typeface="Arial" pitchFamily="34" charset="-120"/>
              </a:rPr>
              <a:t>VoiceRun is now a confirmed client. This is the first campaign under the new contract.</a:t>
            </a:r>
            <a:endParaRPr lang="en-US" sz="10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828800"/>
                <a:gridCol w="6400800"/>
              </a:tblGrid>
              <a:tr h="256032">
                <a:tc>
                  <a:txBody>
                    <a:bodyPr/>
                    <a:lstStyle/>
                    <a:p>
                      <a:pPr indent="0" marL="0">
                        <a:buNone/>
                      </a:pPr>
                      <a:r>
                        <a:rPr lang="en-US" sz="850" b="1" dirty="0">
                          <a:solidFill>
                            <a:srgbClr val="FFFFFF"/>
                          </a:solidFill>
                          <a:latin typeface="Arial" pitchFamily="34" charset="0"/>
                          <a:ea typeface="Arial" pitchFamily="34" charset="-122"/>
                          <a:cs typeface="Arial" pitchFamily="34" charset="-120"/>
                        </a:rPr>
                        <a:t>Who or what</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Detail</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r>
              <a:tr h="337058">
                <a:tc>
                  <a:txBody>
                    <a:bodyPr/>
                    <a:lstStyle/>
                    <a:p>
                      <a:pPr indent="0" marL="0">
                        <a:buNone/>
                      </a:pPr>
                      <a:r>
                        <a:rPr lang="en-US" sz="850" b="1" dirty="0">
                          <a:solidFill>
                            <a:srgbClr val="3056C9"/>
                          </a:solidFill>
                          <a:latin typeface="Arial" pitchFamily="34" charset="0"/>
                          <a:ea typeface="Arial" pitchFamily="34" charset="-122"/>
                          <a:cs typeface="Arial" pitchFamily="34" charset="-120"/>
                        </a:rPr>
                        <a:t>Client</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VoiceRun, an enterprise voice AI company in Cambridge, Massachusetts. VoiceScore is its AI quality assurance grader for call centers.</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219456">
                <a:tc>
                  <a:txBody>
                    <a:bodyPr/>
                    <a:lstStyle/>
                    <a:p>
                      <a:pPr indent="0" marL="0">
                        <a:buNone/>
                      </a:pPr>
                      <a:r>
                        <a:rPr lang="en-US" sz="850" b="1" dirty="0">
                          <a:solidFill>
                            <a:srgbClr val="3056C9"/>
                          </a:solidFill>
                          <a:latin typeface="Arial" pitchFamily="34" charset="0"/>
                          <a:ea typeface="Arial" pitchFamily="34" charset="-122"/>
                          <a:cs typeface="Arial" pitchFamily="34" charset="-120"/>
                        </a:rPr>
                        <a:t>This campaign</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The campaign sells VoiceScore to US insurance call centers through LinkedIn Ads and Google Search.</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r h="219456">
                <a:tc>
                  <a:txBody>
                    <a:bodyPr/>
                    <a:lstStyle/>
                    <a:p>
                      <a:pPr indent="0" marL="0">
                        <a:buNone/>
                      </a:pPr>
                      <a:r>
                        <a:rPr lang="en-US" sz="850" b="1" dirty="0">
                          <a:solidFill>
                            <a:srgbClr val="3056C9"/>
                          </a:solidFill>
                          <a:latin typeface="Arial" pitchFamily="34" charset="0"/>
                          <a:ea typeface="Arial" pitchFamily="34" charset="-122"/>
                          <a:cs typeface="Arial" pitchFamily="34" charset="-120"/>
                        </a:rPr>
                        <a:t>Lawrence Quan (Kuota)</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He owns the strategy and reviews every campaign before it goes live.</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219456">
                <a:tc>
                  <a:txBody>
                    <a:bodyPr/>
                    <a:lstStyle/>
                    <a:p>
                      <a:pPr indent="0" marL="0">
                        <a:buNone/>
                      </a:pPr>
                      <a:r>
                        <a:rPr lang="en-US" sz="850" b="1" dirty="0">
                          <a:solidFill>
                            <a:srgbClr val="3056C9"/>
                          </a:solidFill>
                          <a:latin typeface="Arial" pitchFamily="34" charset="0"/>
                          <a:ea typeface="Arial" pitchFamily="34" charset="-122"/>
                          <a:cs typeface="Arial" pitchFamily="34" charset="-120"/>
                        </a:rPr>
                        <a:t>Octavio (Kuota)</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He is Lawrence's growth strategist. He wrote the media plan, the messaging and the creative. He prefers WhatsApp.</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r h="219456">
                <a:tc>
                  <a:txBody>
                    <a:bodyPr/>
                    <a:lstStyle/>
                    <a:p>
                      <a:pPr indent="0" marL="0">
                        <a:buNone/>
                      </a:pPr>
                      <a:r>
                        <a:rPr lang="en-US" sz="850" b="1" dirty="0">
                          <a:solidFill>
                            <a:srgbClr val="3056C9"/>
                          </a:solidFill>
                          <a:latin typeface="Arial" pitchFamily="34" charset="0"/>
                          <a:ea typeface="Arial" pitchFamily="34" charset="-122"/>
                          <a:cs typeface="Arial" pitchFamily="34" charset="-120"/>
                        </a:rPr>
                        <a:t>Nick Leonard (VoiceRun)</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He is VoiceRun's co-founder and CEO. He gets the landing page brief early next week, after SF Tech Week.</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219456">
                <a:tc>
                  <a:txBody>
                    <a:bodyPr/>
                    <a:lstStyle/>
                    <a:p>
                      <a:pPr indent="0" marL="0">
                        <a:buNone/>
                      </a:pPr>
                      <a:r>
                        <a:rPr lang="en-US" sz="850" b="1" dirty="0">
                          <a:solidFill>
                            <a:srgbClr val="3056C9"/>
                          </a:solidFill>
                          <a:latin typeface="Arial" pitchFamily="34" charset="0"/>
                          <a:ea typeface="Arial" pitchFamily="34" charset="-122"/>
                          <a:cs typeface="Arial" pitchFamily="34" charset="-120"/>
                        </a:rPr>
                        <a:t>Doug (VoiceRun)</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He runs outbound in Reply.io and is arranging your LinkedIn Campaign Manager access.</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r h="337058">
                <a:tc>
                  <a:txBody>
                    <a:bodyPr/>
                    <a:lstStyle/>
                    <a:p>
                      <a:pPr indent="0" marL="0">
                        <a:buNone/>
                      </a:pPr>
                      <a:r>
                        <a:rPr lang="en-US" sz="850" b="1" dirty="0">
                          <a:solidFill>
                            <a:srgbClr val="3056C9"/>
                          </a:solidFill>
                          <a:latin typeface="Arial" pitchFamily="34" charset="0"/>
                          <a:ea typeface="Arial" pitchFamily="34" charset="-122"/>
                          <a:cs typeface="Arial" pitchFamily="34" charset="-120"/>
                        </a:rPr>
                        <a:t>Toggle (you)</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You build, run, optimize and report on Google Search and LinkedIn Ads. You also build the tracking in Google Tag Manager.</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219456">
                <a:tc>
                  <a:txBody>
                    <a:bodyPr/>
                    <a:lstStyle/>
                    <a:p>
                      <a:pPr indent="0" marL="0">
                        <a:buNone/>
                      </a:pPr>
                      <a:r>
                        <a:rPr lang="en-US" sz="850" b="1" dirty="0">
                          <a:solidFill>
                            <a:srgbClr val="3056C9"/>
                          </a:solidFill>
                          <a:latin typeface="Arial" pitchFamily="34" charset="0"/>
                          <a:ea typeface="Arial" pitchFamily="34" charset="-122"/>
                          <a:cs typeface="Arial" pitchFamily="34" charset="-120"/>
                        </a:rPr>
                        <a:t>Weekly sync</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Thursdays at 10am ET. That is 10pm in Malaysia until 29 October and 11pm from 5 November, after US clocks change.</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r h="337058">
                <a:tc>
                  <a:txBody>
                    <a:bodyPr/>
                    <a:lstStyle/>
                    <a:p>
                      <a:pPr indent="0" marL="0">
                        <a:buNone/>
                      </a:pPr>
                      <a:r>
                        <a:rPr lang="en-US" sz="850" b="1" dirty="0">
                          <a:solidFill>
                            <a:srgbClr val="3056C9"/>
                          </a:solidFill>
                          <a:latin typeface="Arial" pitchFamily="34" charset="0"/>
                          <a:ea typeface="Arial" pitchFamily="34" charset="-122"/>
                          <a:cs typeface="Arial" pitchFamily="34" charset="-120"/>
                        </a:rPr>
                        <a:t>Contract</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The contract runs three months, invoiced monthly in arrears. The fee is still open: USD 2,000 on our quotation, USD 1,000 in Lawrence's plan.</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bl>
          </a:graphicData>
        </a:graphic>
      </p:graphicFrame>
      <p:sp>
        <p:nvSpPr>
          <p:cNvPr id="7" name="Shape 3"/>
          <p:cNvSpPr/>
          <p:nvPr/>
        </p:nvSpPr>
        <p:spPr>
          <a:xfrm>
            <a:off x="457200" y="4370832"/>
            <a:ext cx="8229600" cy="310896"/>
          </a:xfrm>
          <a:prstGeom prst="rect">
            <a:avLst/>
          </a:prstGeom>
          <a:solidFill>
            <a:srgbClr val="3056C9"/>
          </a:solidFill>
          <a:ln/>
        </p:spPr>
      </p:sp>
      <p:sp>
        <p:nvSpPr>
          <p:cNvPr id="8" name="Text 4"/>
          <p:cNvSpPr/>
          <p:nvPr/>
        </p:nvSpPr>
        <p:spPr>
          <a:xfrm>
            <a:off x="640080" y="4370832"/>
            <a:ext cx="7863840" cy="310896"/>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Communication: WhatsApp with Octavio  |  Slack is fine  |  You may be added to Kuota's Slack</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949440" y="146304"/>
            <a:ext cx="1737360" cy="182880"/>
          </a:xfrm>
          <a:prstGeom prst="rect">
            <a:avLst/>
          </a:prstGeom>
          <a:noFill/>
          <a:ln/>
        </p:spPr>
        <p:txBody>
          <a:bodyPr wrap="square" lIns="0" tIns="0" rIns="0" bIns="0" rtlCol="0" anchor="t"/>
          <a:lstStyle/>
          <a:p>
            <a:pPr algn="r" indent="0" marL="0">
              <a:buNone/>
            </a:pPr>
            <a:r>
              <a:rPr lang="en-US" sz="800" dirty="0">
                <a:solidFill>
                  <a:srgbClr val="9AA0A8"/>
                </a:solidFill>
                <a:latin typeface="Arial" pitchFamily="34" charset="0"/>
                <a:ea typeface="Arial" pitchFamily="34" charset="-122"/>
                <a:cs typeface="Arial" pitchFamily="34" charset="-120"/>
              </a:rPr>
              <a:t>[ toggle.solutions ]</a:t>
            </a:r>
            <a:endParaRPr lang="en-US" sz="800" dirty="0"/>
          </a:p>
        </p:txBody>
      </p:sp>
      <p:sp>
        <p:nvSpPr>
          <p:cNvPr id="3" name="Text 1"/>
          <p:cNvSpPr/>
          <p:nvPr/>
        </p:nvSpPr>
        <p:spPr>
          <a:xfrm>
            <a:off x="457200" y="329184"/>
            <a:ext cx="8229600" cy="384048"/>
          </a:xfrm>
          <a:prstGeom prst="rect">
            <a:avLst/>
          </a:prstGeom>
          <a:noFill/>
          <a:ln/>
        </p:spPr>
        <p:txBody>
          <a:bodyPr wrap="square" lIns="0" tIns="0" rIns="0" bIns="0" rtlCol="0" anchor="t"/>
          <a:lstStyle/>
          <a:p>
            <a:pPr indent="0" marL="0">
              <a:buNone/>
            </a:pPr>
            <a:r>
              <a:rPr lang="en-US" sz="2150" b="1" dirty="0">
                <a:solidFill>
                  <a:srgbClr val="4A7BF7"/>
                </a:solidFill>
                <a:latin typeface="Arial" pitchFamily="34" charset="0"/>
                <a:ea typeface="Arial" pitchFamily="34" charset="-122"/>
                <a:cs typeface="Arial" pitchFamily="34" charset="-120"/>
              </a:rPr>
              <a:t>Key criteria: the rules this campaign runs on</a:t>
            </a:r>
            <a:endParaRPr lang="en-US" sz="2150" dirty="0"/>
          </a:p>
        </p:txBody>
      </p:sp>
      <p:sp>
        <p:nvSpPr>
          <p:cNvPr id="4" name="Text 2"/>
          <p:cNvSpPr/>
          <p:nvPr/>
        </p:nvSpPr>
        <p:spPr>
          <a:xfrm>
            <a:off x="457200" y="749808"/>
            <a:ext cx="8229600" cy="274320"/>
          </a:xfrm>
          <a:prstGeom prst="rect">
            <a:avLst/>
          </a:prstGeom>
          <a:noFill/>
          <a:ln/>
        </p:spPr>
        <p:txBody>
          <a:bodyPr wrap="square" lIns="0" tIns="0" rIns="0" bIns="0" rtlCol="0" anchor="t"/>
          <a:lstStyle/>
          <a:p>
            <a:pPr indent="0" marL="0">
              <a:buNone/>
            </a:pPr>
            <a:r>
              <a:rPr lang="en-US" sz="1050" dirty="0">
                <a:solidFill>
                  <a:srgbClr val="4A4A4A"/>
                </a:solidFill>
                <a:latin typeface="Arial" pitchFamily="34" charset="0"/>
                <a:ea typeface="Arial" pitchFamily="34" charset="-122"/>
                <a:cs typeface="Arial" pitchFamily="34" charset="-120"/>
              </a:rPr>
              <a:t>These come from Octavio's media plan and the 8 October call. Get Lawrence's sign off before you change any of them.</a:t>
            </a:r>
            <a:endParaRPr lang="en-US" sz="10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828800"/>
                <a:gridCol w="6400800"/>
              </a:tblGrid>
              <a:tr h="256032">
                <a:tc>
                  <a:txBody>
                    <a:bodyPr/>
                    <a:lstStyle/>
                    <a:p>
                      <a:pPr indent="0" marL="0">
                        <a:buNone/>
                      </a:pPr>
                      <a:r>
                        <a:rPr lang="en-US" sz="900" b="1" dirty="0">
                          <a:solidFill>
                            <a:srgbClr val="FFFFFF"/>
                          </a:solidFill>
                          <a:latin typeface="Arial" pitchFamily="34" charset="0"/>
                          <a:ea typeface="Arial" pitchFamily="34" charset="-122"/>
                          <a:cs typeface="Arial" pitchFamily="34" charset="-120"/>
                        </a:rPr>
                        <a:t>Rule</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Detail</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r>
              <a:tr h="352044">
                <a:tc>
                  <a:txBody>
                    <a:bodyPr/>
                    <a:lstStyle/>
                    <a:p>
                      <a:pPr indent="0" marL="0">
                        <a:buNone/>
                      </a:pPr>
                      <a:r>
                        <a:rPr lang="en-US" sz="900" b="1" dirty="0">
                          <a:solidFill>
                            <a:srgbClr val="3056C9"/>
                          </a:solidFill>
                          <a:latin typeface="Arial" pitchFamily="34" charset="0"/>
                          <a:ea typeface="Arial" pitchFamily="34" charset="-122"/>
                          <a:cs typeface="Arial" pitchFamily="34" charset="-120"/>
                        </a:rPr>
                        <a:t>One offer</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Every ad sells the Free 10-Call Evaluation: 10 AI test calls, a scored report, then a 30-minute review. VoiceRun arranges it around a confirmed customer-service line and date. Prospects do not upload 10 call recordings.</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352044">
                <a:tc>
                  <a:txBody>
                    <a:bodyPr/>
                    <a:lstStyle/>
                    <a:p>
                      <a:pPr indent="0" marL="0">
                        <a:buNone/>
                      </a:pPr>
                      <a:r>
                        <a:rPr lang="en-US" sz="900" b="1" dirty="0">
                          <a:solidFill>
                            <a:srgbClr val="3056C9"/>
                          </a:solidFill>
                          <a:latin typeface="Arial" pitchFamily="34" charset="0"/>
                          <a:ea typeface="Arial" pitchFamily="34" charset="-122"/>
                          <a:cs typeface="Arial" pitchFamily="34" charset="-120"/>
                        </a:rPr>
                        <a:t>One CTA wording</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Use "Request a Free 10-Call Evaluation". Say "Request" because the visitor cannot start or book the evaluation on the spot.</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r h="352044">
                <a:tc>
                  <a:txBody>
                    <a:bodyPr/>
                    <a:lstStyle/>
                    <a:p>
                      <a:pPr indent="0" marL="0">
                        <a:buNone/>
                      </a:pPr>
                      <a:r>
                        <a:rPr lang="en-US" sz="900" b="1" dirty="0">
                          <a:solidFill>
                            <a:srgbClr val="3056C9"/>
                          </a:solidFill>
                          <a:latin typeface="Arial" pitchFamily="34" charset="0"/>
                          <a:ea typeface="Arial" pitchFamily="34" charset="-122"/>
                          <a:cs typeface="Arial" pitchFamily="34" charset="-120"/>
                        </a:rPr>
                        <a:t>One conversion path</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Ads send people to the landing page and its evaluation form. LinkedIn Lead Gen Forms stay off for the launch, because Octavio wants prospects to see the product proof first.</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219456">
                <a:tc>
                  <a:txBody>
                    <a:bodyPr/>
                    <a:lstStyle/>
                    <a:p>
                      <a:pPr indent="0" marL="0">
                        <a:buNone/>
                      </a:pPr>
                      <a:r>
                        <a:rPr lang="en-US" sz="900" b="1" dirty="0">
                          <a:solidFill>
                            <a:srgbClr val="3056C9"/>
                          </a:solidFill>
                          <a:latin typeface="Arial" pitchFamily="34" charset="0"/>
                          <a:ea typeface="Arial" pitchFamily="34" charset="-122"/>
                          <a:cs typeface="Arial" pitchFamily="34" charset="-120"/>
                        </a:rPr>
                        <a:t>Use the supplied creative</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Use Octavio's two static ads and the video for the first test. Do not make alternatives.</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r h="219456">
                <a:tc>
                  <a:txBody>
                    <a:bodyPr/>
                    <a:lstStyle/>
                    <a:p>
                      <a:pPr indent="0" marL="0">
                        <a:buNone/>
                      </a:pPr>
                      <a:r>
                        <a:rPr lang="en-US" sz="900" b="1" dirty="0">
                          <a:solidFill>
                            <a:srgbClr val="3056C9"/>
                          </a:solidFill>
                          <a:latin typeface="Arial" pitchFamily="34" charset="0"/>
                          <a:ea typeface="Arial" pitchFamily="34" charset="-122"/>
                          <a:cs typeface="Arial" pitchFamily="34" charset="-120"/>
                        </a:rPr>
                        <a:t>Lawrence signs off</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Lawrence reviews every campaign before it goes live.</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352044">
                <a:tc>
                  <a:txBody>
                    <a:bodyPr/>
                    <a:lstStyle/>
                    <a:p>
                      <a:pPr indent="0" marL="0">
                        <a:buNone/>
                      </a:pPr>
                      <a:r>
                        <a:rPr lang="en-US" sz="900" b="1" dirty="0">
                          <a:solidFill>
                            <a:srgbClr val="3056C9"/>
                          </a:solidFill>
                          <a:latin typeface="Arial" pitchFamily="34" charset="0"/>
                          <a:ea typeface="Arial" pitchFamily="34" charset="-122"/>
                          <a:cs typeface="Arial" pitchFamily="34" charset="-120"/>
                        </a:rPr>
                        <a:t>Hold spend at plan</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Keep spend at the plan figures until conversion tracking, search-term quality and conversion behavior check out.</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r h="219456">
                <a:tc>
                  <a:txBody>
                    <a:bodyPr/>
                    <a:lstStyle/>
                    <a:p>
                      <a:pPr indent="0" marL="0">
                        <a:buNone/>
                      </a:pPr>
                      <a:r>
                        <a:rPr lang="en-US" sz="900" b="1" dirty="0">
                          <a:solidFill>
                            <a:srgbClr val="3056C9"/>
                          </a:solidFill>
                          <a:latin typeface="Arial" pitchFamily="34" charset="0"/>
                          <a:ea typeface="Arial" pitchFamily="34" charset="-122"/>
                          <a:cs typeface="Arial" pitchFamily="34" charset="-120"/>
                        </a:rPr>
                        <a:t>Judge on pipeline</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Qualified meetings, opportunities and pipeline decide success. CTR, CPC and engagement explain the result.</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bl>
          </a:graphicData>
        </a:graphic>
      </p:graphicFrame>
      <p:sp>
        <p:nvSpPr>
          <p:cNvPr id="7" name="Shape 3"/>
          <p:cNvSpPr/>
          <p:nvPr/>
        </p:nvSpPr>
        <p:spPr>
          <a:xfrm>
            <a:off x="457200" y="4370832"/>
            <a:ext cx="8229600" cy="310896"/>
          </a:xfrm>
          <a:prstGeom prst="rect">
            <a:avLst/>
          </a:prstGeom>
          <a:solidFill>
            <a:srgbClr val="3056C9"/>
          </a:solidFill>
          <a:ln/>
        </p:spPr>
      </p:sp>
      <p:sp>
        <p:nvSpPr>
          <p:cNvPr id="8" name="Text 4"/>
          <p:cNvSpPr/>
          <p:nvPr/>
        </p:nvSpPr>
        <p:spPr>
          <a:xfrm>
            <a:off x="640080" y="4370832"/>
            <a:ext cx="7863840" cy="310896"/>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Offer: Free 10-Call Evaluation  |  CTA: Request a Free 10-Call Evaluation  |  Ad CTA button: Learn More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949440" y="146304"/>
            <a:ext cx="1737360" cy="182880"/>
          </a:xfrm>
          <a:prstGeom prst="rect">
            <a:avLst/>
          </a:prstGeom>
          <a:noFill/>
          <a:ln/>
        </p:spPr>
        <p:txBody>
          <a:bodyPr wrap="square" lIns="0" tIns="0" rIns="0" bIns="0" rtlCol="0" anchor="t"/>
          <a:lstStyle/>
          <a:p>
            <a:pPr algn="r" indent="0" marL="0">
              <a:buNone/>
            </a:pPr>
            <a:r>
              <a:rPr lang="en-US" sz="800" dirty="0">
                <a:solidFill>
                  <a:srgbClr val="9AA0A8"/>
                </a:solidFill>
                <a:latin typeface="Arial" pitchFamily="34" charset="0"/>
                <a:ea typeface="Arial" pitchFamily="34" charset="-122"/>
                <a:cs typeface="Arial" pitchFamily="34" charset="-120"/>
              </a:rPr>
              <a:t>[ toggle.solutions ]</a:t>
            </a:r>
            <a:endParaRPr lang="en-US" sz="800" dirty="0"/>
          </a:p>
        </p:txBody>
      </p:sp>
      <p:sp>
        <p:nvSpPr>
          <p:cNvPr id="3" name="Text 1"/>
          <p:cNvSpPr/>
          <p:nvPr/>
        </p:nvSpPr>
        <p:spPr>
          <a:xfrm>
            <a:off x="457200" y="329184"/>
            <a:ext cx="8229600" cy="384048"/>
          </a:xfrm>
          <a:prstGeom prst="rect">
            <a:avLst/>
          </a:prstGeom>
          <a:noFill/>
          <a:ln/>
        </p:spPr>
        <p:txBody>
          <a:bodyPr wrap="square" lIns="0" tIns="0" rIns="0" bIns="0" rtlCol="0" anchor="t"/>
          <a:lstStyle/>
          <a:p>
            <a:pPr indent="0" marL="0">
              <a:buNone/>
            </a:pPr>
            <a:r>
              <a:rPr lang="en-US" sz="2150" b="1" dirty="0">
                <a:solidFill>
                  <a:srgbClr val="4A7BF7"/>
                </a:solidFill>
                <a:latin typeface="Arial" pitchFamily="34" charset="0"/>
                <a:ea typeface="Arial" pitchFamily="34" charset="-122"/>
                <a:cs typeface="Arial" pitchFamily="34" charset="-120"/>
              </a:rPr>
              <a:t>Goals and how we measure them</a:t>
            </a:r>
            <a:endParaRPr lang="en-US" sz="2150" dirty="0"/>
          </a:p>
        </p:txBody>
      </p:sp>
      <p:sp>
        <p:nvSpPr>
          <p:cNvPr id="4" name="Text 2"/>
          <p:cNvSpPr/>
          <p:nvPr/>
        </p:nvSpPr>
        <p:spPr>
          <a:xfrm>
            <a:off x="457200" y="749808"/>
            <a:ext cx="8229600" cy="274320"/>
          </a:xfrm>
          <a:prstGeom prst="rect">
            <a:avLst/>
          </a:prstGeom>
          <a:noFill/>
          <a:ln/>
        </p:spPr>
        <p:txBody>
          <a:bodyPr wrap="square" lIns="0" tIns="0" rIns="0" bIns="0" rtlCol="0" anchor="t"/>
          <a:lstStyle/>
          <a:p>
            <a:pPr indent="0" marL="0">
              <a:buNone/>
            </a:pPr>
            <a:r>
              <a:rPr lang="en-US" sz="1050" dirty="0">
                <a:solidFill>
                  <a:srgbClr val="4A4A4A"/>
                </a:solidFill>
                <a:latin typeface="Arial" pitchFamily="34" charset="0"/>
                <a:ea typeface="Arial" pitchFamily="34" charset="-122"/>
                <a:cs typeface="Arial" pitchFamily="34" charset="-120"/>
              </a:rPr>
              <a:t>Lawrence set two goals: build awareness of VoiceScore, and build pipeline for it.</a:t>
            </a:r>
            <a:endParaRPr lang="en-US" sz="10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828800"/>
                <a:gridCol w="4206240"/>
                <a:gridCol w="2194560"/>
              </a:tblGrid>
              <a:tr h="256032">
                <a:tc>
                  <a:txBody>
                    <a:bodyPr/>
                    <a:lstStyle/>
                    <a:p>
                      <a:pPr indent="0" marL="0">
                        <a:buNone/>
                      </a:pPr>
                      <a:r>
                        <a:rPr lang="en-US" sz="950" b="1" dirty="0">
                          <a:solidFill>
                            <a:srgbClr val="FFFFFF"/>
                          </a:solidFill>
                          <a:latin typeface="Arial" pitchFamily="34" charset="0"/>
                          <a:ea typeface="Arial" pitchFamily="34" charset="-122"/>
                          <a:cs typeface="Arial" pitchFamily="34" charset="-120"/>
                        </a:rPr>
                        <a:t>Level</a:t>
                      </a:r>
                      <a:endParaRPr lang="en-US" sz="9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Metric</a:t>
                      </a:r>
                      <a:endParaRPr lang="en-US" sz="9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Where you read it</a:t>
                      </a:r>
                      <a:endParaRPr lang="en-US" sz="9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r>
              <a:tr h="224663">
                <a:tc>
                  <a:txBody>
                    <a:bodyPr/>
                    <a:lstStyle/>
                    <a:p>
                      <a:pPr indent="0" marL="0">
                        <a:buNone/>
                      </a:pPr>
                      <a:r>
                        <a:rPr lang="en-US" sz="950" b="1" dirty="0">
                          <a:solidFill>
                            <a:srgbClr val="3056C9"/>
                          </a:solidFill>
                          <a:latin typeface="Arial" pitchFamily="34" charset="0"/>
                          <a:ea typeface="Arial" pitchFamily="34" charset="-122"/>
                          <a:cs typeface="Arial" pitchFamily="34" charset="-120"/>
                        </a:rPr>
                        <a:t>Primary</a:t>
                      </a:r>
                      <a:endParaRPr lang="en-US" sz="9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50" dirty="0">
                          <a:solidFill>
                            <a:srgbClr val="4A4A4A"/>
                          </a:solidFill>
                          <a:latin typeface="Arial" pitchFamily="34" charset="0"/>
                          <a:ea typeface="Arial" pitchFamily="34" charset="-122"/>
                          <a:cs typeface="Arial" pitchFamily="34" charset="-120"/>
                        </a:rPr>
                        <a:t>Evaluation requests</a:t>
                      </a:r>
                      <a:endParaRPr lang="en-US" sz="9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50" dirty="0">
                          <a:solidFill>
                            <a:srgbClr val="4A4A4A"/>
                          </a:solidFill>
                          <a:latin typeface="Arial" pitchFamily="34" charset="0"/>
                          <a:ea typeface="Arial" pitchFamily="34" charset="-122"/>
                          <a:cs typeface="Arial" pitchFamily="34" charset="-120"/>
                        </a:rPr>
                        <a:t>GA4, Google Ads, LinkedIn, HubSpot</a:t>
                      </a:r>
                      <a:endParaRPr lang="en-US" sz="9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367030">
                <a:tc>
                  <a:txBody>
                    <a:bodyPr/>
                    <a:lstStyle/>
                    <a:p>
                      <a:pPr indent="0" marL="0">
                        <a:buNone/>
                      </a:pPr>
                      <a:r>
                        <a:rPr lang="en-US" sz="950" b="1" dirty="0">
                          <a:solidFill>
                            <a:srgbClr val="3056C9"/>
                          </a:solidFill>
                          <a:latin typeface="Arial" pitchFamily="34" charset="0"/>
                          <a:ea typeface="Arial" pitchFamily="34" charset="-122"/>
                          <a:cs typeface="Arial" pitchFamily="34" charset="-120"/>
                        </a:rPr>
                        <a:t>Funnel diagnostics</a:t>
                      </a:r>
                      <a:endParaRPr lang="en-US" sz="9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50" dirty="0">
                          <a:solidFill>
                            <a:srgbClr val="4A4A4A"/>
                          </a:solidFill>
                          <a:latin typeface="Arial" pitchFamily="34" charset="0"/>
                          <a:ea typeface="Arial" pitchFamily="34" charset="-122"/>
                          <a:cs typeface="Arial" pitchFamily="34" charset="-120"/>
                        </a:rPr>
                        <a:t>Insurance landing page visits, evaluation CTA clicks, form starts, meetings booked</a:t>
                      </a:r>
                      <a:endParaRPr lang="en-US" sz="9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50" dirty="0">
                          <a:solidFill>
                            <a:srgbClr val="4A4A4A"/>
                          </a:solidFill>
                          <a:latin typeface="Arial" pitchFamily="34" charset="0"/>
                          <a:ea typeface="Arial" pitchFamily="34" charset="-122"/>
                          <a:cs typeface="Arial" pitchFamily="34" charset="-120"/>
                        </a:rPr>
                        <a:t>GA4, HubSpot</a:t>
                      </a:r>
                      <a:endParaRPr lang="en-US" sz="9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r h="224663">
                <a:tc>
                  <a:txBody>
                    <a:bodyPr/>
                    <a:lstStyle/>
                    <a:p>
                      <a:pPr indent="0" marL="0">
                        <a:buNone/>
                      </a:pPr>
                      <a:r>
                        <a:rPr lang="en-US" sz="950" b="1" dirty="0">
                          <a:solidFill>
                            <a:srgbClr val="3056C9"/>
                          </a:solidFill>
                          <a:latin typeface="Arial" pitchFamily="34" charset="0"/>
                          <a:ea typeface="Arial" pitchFamily="34" charset="-122"/>
                          <a:cs typeface="Arial" pitchFamily="34" charset="-120"/>
                        </a:rPr>
                        <a:t>Sales outcomes</a:t>
                      </a:r>
                      <a:endParaRPr lang="en-US" sz="9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50" dirty="0">
                          <a:solidFill>
                            <a:srgbClr val="4A4A4A"/>
                          </a:solidFill>
                          <a:latin typeface="Arial" pitchFamily="34" charset="0"/>
                          <a:ea typeface="Arial" pitchFamily="34" charset="-122"/>
                          <a:cs typeface="Arial" pitchFamily="34" charset="-120"/>
                        </a:rPr>
                        <a:t>Qualified meetings, opportunities, pipeline</a:t>
                      </a:r>
                      <a:endParaRPr lang="en-US" sz="9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50" dirty="0">
                          <a:solidFill>
                            <a:srgbClr val="4A4A4A"/>
                          </a:solidFill>
                          <a:latin typeface="Arial" pitchFamily="34" charset="0"/>
                          <a:ea typeface="Arial" pitchFamily="34" charset="-122"/>
                          <a:cs typeface="Arial" pitchFamily="34" charset="-120"/>
                        </a:rPr>
                        <a:t>HubSpot</a:t>
                      </a:r>
                      <a:endParaRPr lang="en-US" sz="9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224663">
                <a:tc>
                  <a:txBody>
                    <a:bodyPr/>
                    <a:lstStyle/>
                    <a:p>
                      <a:pPr indent="0" marL="0">
                        <a:buNone/>
                      </a:pPr>
                      <a:r>
                        <a:rPr lang="en-US" sz="950" b="1" dirty="0">
                          <a:solidFill>
                            <a:srgbClr val="3056C9"/>
                          </a:solidFill>
                          <a:latin typeface="Arial" pitchFamily="34" charset="0"/>
                          <a:ea typeface="Arial" pitchFamily="34" charset="-122"/>
                          <a:cs typeface="Arial" pitchFamily="34" charset="-120"/>
                        </a:rPr>
                        <a:t>Channel diagnostics</a:t>
                      </a:r>
                      <a:endParaRPr lang="en-US" sz="9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50" dirty="0">
                          <a:solidFill>
                            <a:srgbClr val="4A4A4A"/>
                          </a:solidFill>
                          <a:latin typeface="Arial" pitchFamily="34" charset="0"/>
                          <a:ea typeface="Arial" pitchFamily="34" charset="-122"/>
                          <a:cs typeface="Arial" pitchFamily="34" charset="-120"/>
                        </a:rPr>
                        <a:t>CTR, CPC, impressions, engagement</a:t>
                      </a:r>
                      <a:endParaRPr lang="en-US" sz="9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50" dirty="0">
                          <a:solidFill>
                            <a:srgbClr val="4A4A4A"/>
                          </a:solidFill>
                          <a:latin typeface="Arial" pitchFamily="34" charset="0"/>
                          <a:ea typeface="Arial" pitchFamily="34" charset="-122"/>
                          <a:cs typeface="Arial" pitchFamily="34" charset="-120"/>
                        </a:rPr>
                        <a:t>Google Ads, LinkedIn</a:t>
                      </a:r>
                      <a:endParaRPr lang="en-US" sz="9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r h="367030">
                <a:tc>
                  <a:txBody>
                    <a:bodyPr/>
                    <a:lstStyle/>
                    <a:p>
                      <a:pPr indent="0" marL="0">
                        <a:buNone/>
                      </a:pPr>
                      <a:r>
                        <a:rPr lang="en-US" sz="950" b="1" dirty="0">
                          <a:solidFill>
                            <a:srgbClr val="3056C9"/>
                          </a:solidFill>
                          <a:latin typeface="Arial" pitchFamily="34" charset="0"/>
                          <a:ea typeface="Arial" pitchFamily="34" charset="-122"/>
                          <a:cs typeface="Arial" pitchFamily="34" charset="-120"/>
                        </a:rPr>
                        <a:t>Lawrence's KPI list</a:t>
                      </a:r>
                      <a:endParaRPr lang="en-US" sz="9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50" dirty="0">
                          <a:solidFill>
                            <a:srgbClr val="4A4A4A"/>
                          </a:solidFill>
                          <a:latin typeface="Arial" pitchFamily="34" charset="0"/>
                          <a:ea typeface="Arial" pitchFamily="34" charset="-122"/>
                          <a:cs typeface="Arial" pitchFamily="34" charset="-120"/>
                        </a:rPr>
                        <a:t>Visits to the VoiceScore page, demo request page and evaluation page. VoiceScore demo requests. Deals created.</a:t>
                      </a:r>
                      <a:endParaRPr lang="en-US" sz="9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50" dirty="0">
                          <a:solidFill>
                            <a:srgbClr val="4A4A4A"/>
                          </a:solidFill>
                          <a:latin typeface="Arial" pitchFamily="34" charset="0"/>
                          <a:ea typeface="Arial" pitchFamily="34" charset="-122"/>
                          <a:cs typeface="Arial" pitchFamily="34" charset="-120"/>
                        </a:rPr>
                        <a:t>GA4, HubSpot</a:t>
                      </a:r>
                      <a:endParaRPr lang="en-US" sz="9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bl>
          </a:graphicData>
        </a:graphic>
      </p:graphicFrame>
      <p:sp>
        <p:nvSpPr>
          <p:cNvPr id="7" name="Shape 3"/>
          <p:cNvSpPr/>
          <p:nvPr/>
        </p:nvSpPr>
        <p:spPr>
          <a:xfrm>
            <a:off x="457200" y="4370832"/>
            <a:ext cx="8229600" cy="310896"/>
          </a:xfrm>
          <a:prstGeom prst="rect">
            <a:avLst/>
          </a:prstGeom>
          <a:solidFill>
            <a:srgbClr val="3056C9"/>
          </a:solidFill>
          <a:ln/>
        </p:spPr>
      </p:sp>
      <p:sp>
        <p:nvSpPr>
          <p:cNvPr id="8" name="Text 4"/>
          <p:cNvSpPr/>
          <p:nvPr/>
        </p:nvSpPr>
        <p:spPr>
          <a:xfrm>
            <a:off x="640080" y="4370832"/>
            <a:ext cx="7863840" cy="310896"/>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No cost per evaluation target exists yet. Agree one with Lawrence once two weeks of data are in.</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949440" y="146304"/>
            <a:ext cx="1737360" cy="182880"/>
          </a:xfrm>
          <a:prstGeom prst="rect">
            <a:avLst/>
          </a:prstGeom>
          <a:noFill/>
          <a:ln/>
        </p:spPr>
        <p:txBody>
          <a:bodyPr wrap="square" lIns="0" tIns="0" rIns="0" bIns="0" rtlCol="0" anchor="t"/>
          <a:lstStyle/>
          <a:p>
            <a:pPr algn="r" indent="0" marL="0">
              <a:buNone/>
            </a:pPr>
            <a:r>
              <a:rPr lang="en-US" sz="800" dirty="0">
                <a:solidFill>
                  <a:srgbClr val="9AA0A8"/>
                </a:solidFill>
                <a:latin typeface="Arial" pitchFamily="34" charset="0"/>
                <a:ea typeface="Arial" pitchFamily="34" charset="-122"/>
                <a:cs typeface="Arial" pitchFamily="34" charset="-120"/>
              </a:rPr>
              <a:t>[ toggle.solutions ]</a:t>
            </a:r>
            <a:endParaRPr lang="en-US" sz="800" dirty="0"/>
          </a:p>
        </p:txBody>
      </p:sp>
      <p:sp>
        <p:nvSpPr>
          <p:cNvPr id="3" name="Text 1"/>
          <p:cNvSpPr/>
          <p:nvPr/>
        </p:nvSpPr>
        <p:spPr>
          <a:xfrm>
            <a:off x="457200" y="329184"/>
            <a:ext cx="8229600" cy="384048"/>
          </a:xfrm>
          <a:prstGeom prst="rect">
            <a:avLst/>
          </a:prstGeom>
          <a:noFill/>
          <a:ln/>
        </p:spPr>
        <p:txBody>
          <a:bodyPr wrap="square" lIns="0" tIns="0" rIns="0" bIns="0" rtlCol="0" anchor="t"/>
          <a:lstStyle/>
          <a:p>
            <a:pPr indent="0" marL="0">
              <a:buNone/>
            </a:pPr>
            <a:r>
              <a:rPr lang="en-US" sz="2150" b="1" dirty="0">
                <a:solidFill>
                  <a:srgbClr val="4A7BF7"/>
                </a:solidFill>
                <a:latin typeface="Arial" pitchFamily="34" charset="0"/>
                <a:ea typeface="Arial" pitchFamily="34" charset="-122"/>
                <a:cs typeface="Arial" pitchFamily="34" charset="-120"/>
              </a:rPr>
              <a:t>Target audience</a:t>
            </a:r>
            <a:endParaRPr lang="en-US" sz="2150" dirty="0"/>
          </a:p>
        </p:txBody>
      </p:sp>
      <p:sp>
        <p:nvSpPr>
          <p:cNvPr id="4" name="Text 2"/>
          <p:cNvSpPr/>
          <p:nvPr/>
        </p:nvSpPr>
        <p:spPr>
          <a:xfrm>
            <a:off x="457200" y="749808"/>
            <a:ext cx="8229600" cy="274320"/>
          </a:xfrm>
          <a:prstGeom prst="rect">
            <a:avLst/>
          </a:prstGeom>
          <a:noFill/>
          <a:ln/>
        </p:spPr>
        <p:txBody>
          <a:bodyPr wrap="square" lIns="0" tIns="0" rIns="0" bIns="0" rtlCol="0" anchor="t"/>
          <a:lstStyle/>
          <a:p>
            <a:pPr indent="0" marL="0">
              <a:buNone/>
            </a:pPr>
            <a:r>
              <a:rPr lang="en-US" sz="1050" dirty="0">
                <a:solidFill>
                  <a:srgbClr val="4A4A4A"/>
                </a:solidFill>
                <a:latin typeface="Arial" pitchFamily="34" charset="0"/>
                <a:ea typeface="Arial" pitchFamily="34" charset="-122"/>
                <a:cs typeface="Arial" pitchFamily="34" charset="-120"/>
              </a:rPr>
              <a:t>You are targeting insurance companies with a real contact center, and the people who run quality assurance in them.</a:t>
            </a:r>
            <a:endParaRPr lang="en-US" sz="10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828800"/>
                <a:gridCol w="6400800"/>
              </a:tblGrid>
              <a:tr h="256032">
                <a:tc>
                  <a:txBody>
                    <a:bodyPr/>
                    <a:lstStyle/>
                    <a:p>
                      <a:pPr indent="0" marL="0">
                        <a:buNone/>
                      </a:pPr>
                      <a:r>
                        <a:rPr lang="en-US" sz="850" b="1" dirty="0">
                          <a:solidFill>
                            <a:srgbClr val="FFFFFF"/>
                          </a:solidFill>
                          <a:latin typeface="Arial" pitchFamily="34" charset="0"/>
                          <a:ea typeface="Arial" pitchFamily="34" charset="-122"/>
                          <a:cs typeface="Arial" pitchFamily="34" charset="-120"/>
                        </a:rPr>
                        <a:t>Part</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Detail</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r>
              <a:tr h="337058">
                <a:tc>
                  <a:txBody>
                    <a:bodyPr/>
                    <a:lstStyle/>
                    <a:p>
                      <a:pPr indent="0" marL="0">
                        <a:buNone/>
                      </a:pPr>
                      <a:r>
                        <a:rPr lang="en-US" sz="850" b="1" dirty="0">
                          <a:solidFill>
                            <a:srgbClr val="3056C9"/>
                          </a:solidFill>
                          <a:latin typeface="Arial" pitchFamily="34" charset="0"/>
                          <a:ea typeface="Arial" pitchFamily="34" charset="-122"/>
                          <a:cs typeface="Arial" pitchFamily="34" charset="-120"/>
                        </a:rPr>
                        <a:t>Vertical</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Insurance carriers and health plans, insurance administrators and services, other insurance organizations, and insurance-serving BPOs.</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337058">
                <a:tc>
                  <a:txBody>
                    <a:bodyPr/>
                    <a:lstStyle/>
                    <a:p>
                      <a:pPr indent="0" marL="0">
                        <a:buNone/>
                      </a:pPr>
                      <a:r>
                        <a:rPr lang="en-US" sz="850" b="1" dirty="0">
                          <a:solidFill>
                            <a:srgbClr val="3056C9"/>
                          </a:solidFill>
                          <a:latin typeface="Arial" pitchFamily="34" charset="0"/>
                          <a:ea typeface="Arial" pitchFamily="34" charset="-122"/>
                          <a:cs typeface="Arial" pitchFamily="34" charset="-120"/>
                        </a:rPr>
                        <a:t>Account fit</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The account has a meaningful contact-center operation, a QA function and a named CX or contact-center leader. Nick's list search used 201+ employees and US headquarters or large US operations.</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r h="337058">
                <a:tc>
                  <a:txBody>
                    <a:bodyPr/>
                    <a:lstStyle/>
                    <a:p>
                      <a:pPr indent="0" marL="0">
                        <a:buNone/>
                      </a:pPr>
                      <a:r>
                        <a:rPr lang="en-US" sz="850" b="1" dirty="0">
                          <a:solidFill>
                            <a:srgbClr val="3056C9"/>
                          </a:solidFill>
                          <a:latin typeface="Arial" pitchFamily="34" charset="0"/>
                          <a:ea typeface="Arial" pitchFamily="34" charset="-122"/>
                          <a:cs typeface="Arial" pitchFamily="34" charset="-120"/>
                        </a:rPr>
                        <a:t>Geography</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The LinkedIn native audience covers the United States. Nick's list also searched South America, so confirm whether paid covers it.</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219456">
                <a:tc>
                  <a:txBody>
                    <a:bodyPr/>
                    <a:lstStyle/>
                    <a:p>
                      <a:pPr indent="0" marL="0">
                        <a:buNone/>
                      </a:pPr>
                      <a:r>
                        <a:rPr lang="en-US" sz="850" b="1" dirty="0">
                          <a:solidFill>
                            <a:srgbClr val="3056C9"/>
                          </a:solidFill>
                          <a:latin typeface="Arial" pitchFamily="34" charset="0"/>
                          <a:ea typeface="Arial" pitchFamily="34" charset="-122"/>
                          <a:cs typeface="Arial" pitchFamily="34" charset="-120"/>
                        </a:rPr>
                        <a:t>Champion</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The CX or contact-center leader.</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r h="219456">
                <a:tc>
                  <a:txBody>
                    <a:bodyPr/>
                    <a:lstStyle/>
                    <a:p>
                      <a:pPr indent="0" marL="0">
                        <a:buNone/>
                      </a:pPr>
                      <a:r>
                        <a:rPr lang="en-US" sz="850" b="1" dirty="0">
                          <a:solidFill>
                            <a:srgbClr val="3056C9"/>
                          </a:solidFill>
                          <a:latin typeface="Arial" pitchFamily="34" charset="0"/>
                          <a:ea typeface="Arial" pitchFamily="34" charset="-122"/>
                          <a:cs typeface="Arial" pitchFamily="34" charset="-120"/>
                        </a:rPr>
                        <a:t>Operational evaluator</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The QA director and call-center operations.</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219456">
                <a:tc>
                  <a:txBody>
                    <a:bodyPr/>
                    <a:lstStyle/>
                    <a:p>
                      <a:pPr indent="0" marL="0">
                        <a:buNone/>
                      </a:pPr>
                      <a:r>
                        <a:rPr lang="en-US" sz="850" b="1" dirty="0">
                          <a:solidFill>
                            <a:srgbClr val="3056C9"/>
                          </a:solidFill>
                          <a:latin typeface="Arial" pitchFamily="34" charset="0"/>
                          <a:ea typeface="Arial" pitchFamily="34" charset="-122"/>
                          <a:cs typeface="Arial" pitchFamily="34" charset="-120"/>
                        </a:rPr>
                        <a:t>Later in the deal</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IT and AI leaders, finance and executive sponsors join later in the deal, so the launch ads leave them out.</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r h="337058">
                <a:tc>
                  <a:txBody>
                    <a:bodyPr/>
                    <a:lstStyle/>
                    <a:p>
                      <a:pPr indent="0" marL="0">
                        <a:buNone/>
                      </a:pPr>
                      <a:r>
                        <a:rPr lang="en-US" sz="850" b="1" dirty="0">
                          <a:solidFill>
                            <a:srgbClr val="3056C9"/>
                          </a:solidFill>
                          <a:latin typeface="Arial" pitchFamily="34" charset="0"/>
                          <a:ea typeface="Arial" pitchFamily="34" charset="-122"/>
                          <a:cs typeface="Arial" pitchFamily="34" charset="-120"/>
                        </a:rPr>
                        <a:t>Buyer pain</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QA leaders distrust AI grading. They want a system they understand that shows why a call scored the way it did. Their executives push AI on them.</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337058">
                <a:tc>
                  <a:txBody>
                    <a:bodyPr/>
                    <a:lstStyle/>
                    <a:p>
                      <a:pPr indent="0" marL="0">
                        <a:buNone/>
                      </a:pPr>
                      <a:r>
                        <a:rPr lang="en-US" sz="850" b="1" dirty="0">
                          <a:solidFill>
                            <a:srgbClr val="3056C9"/>
                          </a:solidFill>
                          <a:latin typeface="Arial" pitchFamily="34" charset="0"/>
                          <a:ea typeface="Arial" pitchFamily="34" charset="-122"/>
                          <a:cs typeface="Arial" pitchFamily="34" charset="-120"/>
                        </a:rPr>
                        <a:t>Buying signals</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An AI-agent rollout they cannot evaluate, pressure to cut QA cost, and QA scores that disagree with supervisor judgment.</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bl>
          </a:graphicData>
        </a:graphic>
      </p:graphicFrame>
      <p:sp>
        <p:nvSpPr>
          <p:cNvPr id="7" name="Shape 3"/>
          <p:cNvSpPr/>
          <p:nvPr/>
        </p:nvSpPr>
        <p:spPr>
          <a:xfrm>
            <a:off x="457200" y="4370832"/>
            <a:ext cx="8229600" cy="310896"/>
          </a:xfrm>
          <a:prstGeom prst="rect">
            <a:avLst/>
          </a:prstGeom>
          <a:solidFill>
            <a:srgbClr val="3056C9"/>
          </a:solidFill>
          <a:ln/>
        </p:spPr>
      </p:sp>
      <p:sp>
        <p:nvSpPr>
          <p:cNvPr id="8" name="Text 4"/>
          <p:cNvSpPr/>
          <p:nvPr/>
        </p:nvSpPr>
        <p:spPr>
          <a:xfrm>
            <a:off x="640080" y="4370832"/>
            <a:ext cx="7863840" cy="310896"/>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Two message angles: Trust and Inspectability  |  Accountability and Control</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949440" y="146304"/>
            <a:ext cx="1737360" cy="182880"/>
          </a:xfrm>
          <a:prstGeom prst="rect">
            <a:avLst/>
          </a:prstGeom>
          <a:noFill/>
          <a:ln/>
        </p:spPr>
        <p:txBody>
          <a:bodyPr wrap="square" lIns="0" tIns="0" rIns="0" bIns="0" rtlCol="0" anchor="t"/>
          <a:lstStyle/>
          <a:p>
            <a:pPr algn="r" indent="0" marL="0">
              <a:buNone/>
            </a:pPr>
            <a:r>
              <a:rPr lang="en-US" sz="800" dirty="0">
                <a:solidFill>
                  <a:srgbClr val="9AA0A8"/>
                </a:solidFill>
                <a:latin typeface="Arial" pitchFamily="34" charset="0"/>
                <a:ea typeface="Arial" pitchFamily="34" charset="-122"/>
                <a:cs typeface="Arial" pitchFamily="34" charset="-120"/>
              </a:rPr>
              <a:t>[ toggle.solutions ]</a:t>
            </a:r>
            <a:endParaRPr lang="en-US" sz="800" dirty="0"/>
          </a:p>
        </p:txBody>
      </p:sp>
      <p:sp>
        <p:nvSpPr>
          <p:cNvPr id="3" name="Text 1"/>
          <p:cNvSpPr/>
          <p:nvPr/>
        </p:nvSpPr>
        <p:spPr>
          <a:xfrm>
            <a:off x="457200" y="329184"/>
            <a:ext cx="8229600" cy="384048"/>
          </a:xfrm>
          <a:prstGeom prst="rect">
            <a:avLst/>
          </a:prstGeom>
          <a:noFill/>
          <a:ln/>
        </p:spPr>
        <p:txBody>
          <a:bodyPr wrap="square" lIns="0" tIns="0" rIns="0" bIns="0" rtlCol="0" anchor="t"/>
          <a:lstStyle/>
          <a:p>
            <a:pPr indent="0" marL="0">
              <a:buNone/>
            </a:pPr>
            <a:r>
              <a:rPr lang="en-US" sz="2150" b="1" dirty="0">
                <a:solidFill>
                  <a:srgbClr val="4A7BF7"/>
                </a:solidFill>
                <a:latin typeface="Arial" pitchFamily="34" charset="0"/>
                <a:ea typeface="Arial" pitchFamily="34" charset="-122"/>
                <a:cs typeface="Arial" pitchFamily="34" charset="-120"/>
              </a:rPr>
              <a:t>Our plan</a:t>
            </a:r>
            <a:endParaRPr lang="en-US" sz="2150" dirty="0"/>
          </a:p>
        </p:txBody>
      </p:sp>
      <p:sp>
        <p:nvSpPr>
          <p:cNvPr id="4" name="Text 2"/>
          <p:cNvSpPr/>
          <p:nvPr/>
        </p:nvSpPr>
        <p:spPr>
          <a:xfrm>
            <a:off x="457200" y="749808"/>
            <a:ext cx="8229600" cy="274320"/>
          </a:xfrm>
          <a:prstGeom prst="rect">
            <a:avLst/>
          </a:prstGeom>
          <a:noFill/>
          <a:ln/>
        </p:spPr>
        <p:txBody>
          <a:bodyPr wrap="square" lIns="0" tIns="0" rIns="0" bIns="0" rtlCol="0" anchor="t"/>
          <a:lstStyle/>
          <a:p>
            <a:pPr indent="0" marL="0">
              <a:buNone/>
            </a:pPr>
            <a:r>
              <a:rPr lang="en-US" sz="1050" dirty="0">
                <a:solidFill>
                  <a:srgbClr val="4A4A4A"/>
                </a:solidFill>
                <a:latin typeface="Arial" pitchFamily="34" charset="0"/>
                <a:ea typeface="Arial" pitchFamily="34" charset="-122"/>
                <a:cs typeface="Arial" pitchFamily="34" charset="-120"/>
              </a:rPr>
              <a:t>Two paid channels feed one landing page and one form. VoiceRun's sales team follows up.</a:t>
            </a:r>
            <a:endParaRPr lang="en-US" sz="1050" dirty="0"/>
          </a:p>
        </p:txBody>
      </p:sp>
      <p:sp>
        <p:nvSpPr>
          <p:cNvPr id="6" name="Shape 3"/>
          <p:cNvSpPr/>
          <p:nvPr/>
        </p:nvSpPr>
        <p:spPr>
          <a:xfrm>
            <a:off x="457200" y="1097280"/>
            <a:ext cx="1243584" cy="457200"/>
          </a:xfrm>
          <a:prstGeom prst="rect">
            <a:avLst/>
          </a:prstGeom>
          <a:solidFill>
            <a:srgbClr val="F2F3F6"/>
          </a:solidFill>
          <a:ln/>
        </p:spPr>
      </p:sp>
      <p:sp>
        <p:nvSpPr>
          <p:cNvPr id="7" name="Text 4"/>
          <p:cNvSpPr/>
          <p:nvPr/>
        </p:nvSpPr>
        <p:spPr>
          <a:xfrm>
            <a:off x="502920" y="1097280"/>
            <a:ext cx="1152144" cy="457200"/>
          </a:xfrm>
          <a:prstGeom prst="rect">
            <a:avLst/>
          </a:prstGeom>
          <a:noFill/>
          <a:ln/>
        </p:spPr>
        <p:txBody>
          <a:bodyPr wrap="square" lIns="0" tIns="0" rIns="0" bIns="0" rtlCol="0" anchor="ctr"/>
          <a:lstStyle/>
          <a:p>
            <a:pPr algn="ctr" indent="0" marL="0">
              <a:buNone/>
            </a:pPr>
            <a:r>
              <a:rPr lang="en-US" sz="900" b="1" dirty="0">
                <a:solidFill>
                  <a:srgbClr val="3056C9"/>
                </a:solidFill>
                <a:latin typeface="Arial" pitchFamily="34" charset="0"/>
                <a:ea typeface="Arial" pitchFamily="34" charset="-122"/>
                <a:cs typeface="Arial" pitchFamily="34" charset="-120"/>
              </a:rPr>
              <a:t>LinkedIn and Google Search</a:t>
            </a:r>
            <a:endParaRPr lang="en-US" sz="900" dirty="0"/>
          </a:p>
        </p:txBody>
      </p:sp>
      <p:sp>
        <p:nvSpPr>
          <p:cNvPr id="8" name="Text 5"/>
          <p:cNvSpPr/>
          <p:nvPr/>
        </p:nvSpPr>
        <p:spPr>
          <a:xfrm>
            <a:off x="1700784" y="1097280"/>
            <a:ext cx="153619" cy="457200"/>
          </a:xfrm>
          <a:prstGeom prst="rect">
            <a:avLst/>
          </a:prstGeom>
          <a:noFill/>
          <a:ln/>
        </p:spPr>
        <p:txBody>
          <a:bodyPr wrap="square" lIns="0" tIns="0" rIns="0" bIns="0" rtlCol="0" anchor="ctr"/>
          <a:lstStyle/>
          <a:p>
            <a:pPr algn="ctr" indent="0" marL="0">
              <a:buNone/>
            </a:pPr>
            <a:r>
              <a:rPr lang="en-US" sz="1400" b="1" dirty="0">
                <a:solidFill>
                  <a:srgbClr val="4A7BF7"/>
                </a:solidFill>
                <a:latin typeface="Arial" pitchFamily="34" charset="0"/>
                <a:ea typeface="Arial" pitchFamily="34" charset="-122"/>
                <a:cs typeface="Arial" pitchFamily="34" charset="-120"/>
              </a:rPr>
              <a:t>›</a:t>
            </a:r>
            <a:endParaRPr lang="en-US" sz="1400" dirty="0"/>
          </a:p>
        </p:txBody>
      </p:sp>
      <p:sp>
        <p:nvSpPr>
          <p:cNvPr id="9" name="Shape 6"/>
          <p:cNvSpPr/>
          <p:nvPr/>
        </p:nvSpPr>
        <p:spPr>
          <a:xfrm>
            <a:off x="1854403" y="1097280"/>
            <a:ext cx="1243584" cy="457200"/>
          </a:xfrm>
          <a:prstGeom prst="rect">
            <a:avLst/>
          </a:prstGeom>
          <a:solidFill>
            <a:srgbClr val="F2F3F6"/>
          </a:solidFill>
          <a:ln/>
        </p:spPr>
      </p:sp>
      <p:sp>
        <p:nvSpPr>
          <p:cNvPr id="10" name="Text 7"/>
          <p:cNvSpPr/>
          <p:nvPr/>
        </p:nvSpPr>
        <p:spPr>
          <a:xfrm>
            <a:off x="1900123" y="1097280"/>
            <a:ext cx="1152144" cy="457200"/>
          </a:xfrm>
          <a:prstGeom prst="rect">
            <a:avLst/>
          </a:prstGeom>
          <a:noFill/>
          <a:ln/>
        </p:spPr>
        <p:txBody>
          <a:bodyPr wrap="square" lIns="0" tIns="0" rIns="0" bIns="0" rtlCol="0" anchor="ctr"/>
          <a:lstStyle/>
          <a:p>
            <a:pPr algn="ctr" indent="0" marL="0">
              <a:buNone/>
            </a:pPr>
            <a:r>
              <a:rPr lang="en-US" sz="900" b="1" dirty="0">
                <a:solidFill>
                  <a:srgbClr val="3056C9"/>
                </a:solidFill>
                <a:latin typeface="Arial" pitchFamily="34" charset="0"/>
                <a:ea typeface="Arial" pitchFamily="34" charset="-122"/>
                <a:cs typeface="Arial" pitchFamily="34" charset="-120"/>
              </a:rPr>
              <a:t>Landing page</a:t>
            </a:r>
            <a:endParaRPr lang="en-US" sz="900" dirty="0"/>
          </a:p>
        </p:txBody>
      </p:sp>
      <p:sp>
        <p:nvSpPr>
          <p:cNvPr id="11" name="Text 8"/>
          <p:cNvSpPr/>
          <p:nvPr/>
        </p:nvSpPr>
        <p:spPr>
          <a:xfrm>
            <a:off x="3097987" y="1097280"/>
            <a:ext cx="153619" cy="457200"/>
          </a:xfrm>
          <a:prstGeom prst="rect">
            <a:avLst/>
          </a:prstGeom>
          <a:noFill/>
          <a:ln/>
        </p:spPr>
        <p:txBody>
          <a:bodyPr wrap="square" lIns="0" tIns="0" rIns="0" bIns="0" rtlCol="0" anchor="ctr"/>
          <a:lstStyle/>
          <a:p>
            <a:pPr algn="ctr" indent="0" marL="0">
              <a:buNone/>
            </a:pPr>
            <a:r>
              <a:rPr lang="en-US" sz="1400" b="1" dirty="0">
                <a:solidFill>
                  <a:srgbClr val="4A7BF7"/>
                </a:solidFill>
                <a:latin typeface="Arial" pitchFamily="34" charset="0"/>
                <a:ea typeface="Arial" pitchFamily="34" charset="-122"/>
                <a:cs typeface="Arial" pitchFamily="34" charset="-120"/>
              </a:rPr>
              <a:t>›</a:t>
            </a:r>
            <a:endParaRPr lang="en-US" sz="1400" dirty="0"/>
          </a:p>
        </p:txBody>
      </p:sp>
      <p:sp>
        <p:nvSpPr>
          <p:cNvPr id="12" name="Shape 9"/>
          <p:cNvSpPr/>
          <p:nvPr/>
        </p:nvSpPr>
        <p:spPr>
          <a:xfrm>
            <a:off x="3251606" y="1097280"/>
            <a:ext cx="1243584" cy="457200"/>
          </a:xfrm>
          <a:prstGeom prst="rect">
            <a:avLst/>
          </a:prstGeom>
          <a:solidFill>
            <a:srgbClr val="3056C9"/>
          </a:solidFill>
          <a:ln/>
        </p:spPr>
      </p:sp>
      <p:sp>
        <p:nvSpPr>
          <p:cNvPr id="13" name="Text 10"/>
          <p:cNvSpPr/>
          <p:nvPr/>
        </p:nvSpPr>
        <p:spPr>
          <a:xfrm>
            <a:off x="3297326" y="1097280"/>
            <a:ext cx="1152144"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Evaluation request</a:t>
            </a:r>
            <a:endParaRPr lang="en-US" sz="900" dirty="0"/>
          </a:p>
        </p:txBody>
      </p:sp>
      <p:sp>
        <p:nvSpPr>
          <p:cNvPr id="14" name="Text 11"/>
          <p:cNvSpPr/>
          <p:nvPr/>
        </p:nvSpPr>
        <p:spPr>
          <a:xfrm>
            <a:off x="4495190" y="1097280"/>
            <a:ext cx="153619" cy="457200"/>
          </a:xfrm>
          <a:prstGeom prst="rect">
            <a:avLst/>
          </a:prstGeom>
          <a:noFill/>
          <a:ln/>
        </p:spPr>
        <p:txBody>
          <a:bodyPr wrap="square" lIns="0" tIns="0" rIns="0" bIns="0" rtlCol="0" anchor="ctr"/>
          <a:lstStyle/>
          <a:p>
            <a:pPr algn="ctr" indent="0" marL="0">
              <a:buNone/>
            </a:pPr>
            <a:r>
              <a:rPr lang="en-US" sz="1400" b="1" dirty="0">
                <a:solidFill>
                  <a:srgbClr val="4A7BF7"/>
                </a:solidFill>
                <a:latin typeface="Arial" pitchFamily="34" charset="0"/>
                <a:ea typeface="Arial" pitchFamily="34" charset="-122"/>
                <a:cs typeface="Arial" pitchFamily="34" charset="-120"/>
              </a:rPr>
              <a:t>›</a:t>
            </a:r>
            <a:endParaRPr lang="en-US" sz="1400" dirty="0"/>
          </a:p>
        </p:txBody>
      </p:sp>
      <p:sp>
        <p:nvSpPr>
          <p:cNvPr id="15" name="Shape 12"/>
          <p:cNvSpPr/>
          <p:nvPr/>
        </p:nvSpPr>
        <p:spPr>
          <a:xfrm>
            <a:off x="4648810" y="1097280"/>
            <a:ext cx="1243584" cy="457200"/>
          </a:xfrm>
          <a:prstGeom prst="rect">
            <a:avLst/>
          </a:prstGeom>
          <a:solidFill>
            <a:srgbClr val="F2F3F6"/>
          </a:solidFill>
          <a:ln/>
        </p:spPr>
      </p:sp>
      <p:sp>
        <p:nvSpPr>
          <p:cNvPr id="16" name="Text 13"/>
          <p:cNvSpPr/>
          <p:nvPr/>
        </p:nvSpPr>
        <p:spPr>
          <a:xfrm>
            <a:off x="4694530" y="1097280"/>
            <a:ext cx="1152144" cy="457200"/>
          </a:xfrm>
          <a:prstGeom prst="rect">
            <a:avLst/>
          </a:prstGeom>
          <a:noFill/>
          <a:ln/>
        </p:spPr>
        <p:txBody>
          <a:bodyPr wrap="square" lIns="0" tIns="0" rIns="0" bIns="0" rtlCol="0" anchor="ctr"/>
          <a:lstStyle/>
          <a:p>
            <a:pPr algn="ctr" indent="0" marL="0">
              <a:buNone/>
            </a:pPr>
            <a:r>
              <a:rPr lang="en-US" sz="900" b="1" dirty="0">
                <a:solidFill>
                  <a:srgbClr val="3056C9"/>
                </a:solidFill>
                <a:latin typeface="Arial" pitchFamily="34" charset="0"/>
                <a:ea typeface="Arial" pitchFamily="34" charset="-122"/>
                <a:cs typeface="Arial" pitchFamily="34" charset="-120"/>
              </a:rPr>
              <a:t>Sales follow-up</a:t>
            </a:r>
            <a:endParaRPr lang="en-US" sz="900" dirty="0"/>
          </a:p>
        </p:txBody>
      </p:sp>
      <p:sp>
        <p:nvSpPr>
          <p:cNvPr id="17" name="Text 14"/>
          <p:cNvSpPr/>
          <p:nvPr/>
        </p:nvSpPr>
        <p:spPr>
          <a:xfrm>
            <a:off x="5892394" y="1097280"/>
            <a:ext cx="153619" cy="457200"/>
          </a:xfrm>
          <a:prstGeom prst="rect">
            <a:avLst/>
          </a:prstGeom>
          <a:noFill/>
          <a:ln/>
        </p:spPr>
        <p:txBody>
          <a:bodyPr wrap="square" lIns="0" tIns="0" rIns="0" bIns="0" rtlCol="0" anchor="ctr"/>
          <a:lstStyle/>
          <a:p>
            <a:pPr algn="ctr" indent="0" marL="0">
              <a:buNone/>
            </a:pPr>
            <a:r>
              <a:rPr lang="en-US" sz="1400" b="1" dirty="0">
                <a:solidFill>
                  <a:srgbClr val="4A7BF7"/>
                </a:solidFill>
                <a:latin typeface="Arial" pitchFamily="34" charset="0"/>
                <a:ea typeface="Arial" pitchFamily="34" charset="-122"/>
                <a:cs typeface="Arial" pitchFamily="34" charset="-120"/>
              </a:rPr>
              <a:t>›</a:t>
            </a:r>
            <a:endParaRPr lang="en-US" sz="1400" dirty="0"/>
          </a:p>
        </p:txBody>
      </p:sp>
      <p:sp>
        <p:nvSpPr>
          <p:cNvPr id="18" name="Shape 15"/>
          <p:cNvSpPr/>
          <p:nvPr/>
        </p:nvSpPr>
        <p:spPr>
          <a:xfrm>
            <a:off x="6046013" y="1097280"/>
            <a:ext cx="1243584" cy="457200"/>
          </a:xfrm>
          <a:prstGeom prst="rect">
            <a:avLst/>
          </a:prstGeom>
          <a:solidFill>
            <a:srgbClr val="F2F3F6"/>
          </a:solidFill>
          <a:ln/>
        </p:spPr>
      </p:sp>
      <p:sp>
        <p:nvSpPr>
          <p:cNvPr id="19" name="Text 16"/>
          <p:cNvSpPr/>
          <p:nvPr/>
        </p:nvSpPr>
        <p:spPr>
          <a:xfrm>
            <a:off x="6091733" y="1097280"/>
            <a:ext cx="1152144" cy="457200"/>
          </a:xfrm>
          <a:prstGeom prst="rect">
            <a:avLst/>
          </a:prstGeom>
          <a:noFill/>
          <a:ln/>
        </p:spPr>
        <p:txBody>
          <a:bodyPr wrap="square" lIns="0" tIns="0" rIns="0" bIns="0" rtlCol="0" anchor="ctr"/>
          <a:lstStyle/>
          <a:p>
            <a:pPr algn="ctr" indent="0" marL="0">
              <a:buNone/>
            </a:pPr>
            <a:r>
              <a:rPr lang="en-US" sz="900" b="1" dirty="0">
                <a:solidFill>
                  <a:srgbClr val="3056C9"/>
                </a:solidFill>
                <a:latin typeface="Arial" pitchFamily="34" charset="0"/>
                <a:ea typeface="Arial" pitchFamily="34" charset="-122"/>
                <a:cs typeface="Arial" pitchFamily="34" charset="-120"/>
              </a:rPr>
              <a:t>Meeting</a:t>
            </a:r>
            <a:endParaRPr lang="en-US" sz="900" dirty="0"/>
          </a:p>
        </p:txBody>
      </p:sp>
      <p:sp>
        <p:nvSpPr>
          <p:cNvPr id="20" name="Text 17"/>
          <p:cNvSpPr/>
          <p:nvPr/>
        </p:nvSpPr>
        <p:spPr>
          <a:xfrm>
            <a:off x="7289597" y="1097280"/>
            <a:ext cx="153619" cy="457200"/>
          </a:xfrm>
          <a:prstGeom prst="rect">
            <a:avLst/>
          </a:prstGeom>
          <a:noFill/>
          <a:ln/>
        </p:spPr>
        <p:txBody>
          <a:bodyPr wrap="square" lIns="0" tIns="0" rIns="0" bIns="0" rtlCol="0" anchor="ctr"/>
          <a:lstStyle/>
          <a:p>
            <a:pPr algn="ctr" indent="0" marL="0">
              <a:buNone/>
            </a:pPr>
            <a:r>
              <a:rPr lang="en-US" sz="1400" b="1" dirty="0">
                <a:solidFill>
                  <a:srgbClr val="4A7BF7"/>
                </a:solidFill>
                <a:latin typeface="Arial" pitchFamily="34" charset="0"/>
                <a:ea typeface="Arial" pitchFamily="34" charset="-122"/>
                <a:cs typeface="Arial" pitchFamily="34" charset="-120"/>
              </a:rPr>
              <a:t>›</a:t>
            </a:r>
            <a:endParaRPr lang="en-US" sz="1400" dirty="0"/>
          </a:p>
        </p:txBody>
      </p:sp>
      <p:sp>
        <p:nvSpPr>
          <p:cNvPr id="21" name="Shape 18"/>
          <p:cNvSpPr/>
          <p:nvPr/>
        </p:nvSpPr>
        <p:spPr>
          <a:xfrm>
            <a:off x="7443216" y="1097280"/>
            <a:ext cx="1243584" cy="457200"/>
          </a:xfrm>
          <a:prstGeom prst="rect">
            <a:avLst/>
          </a:prstGeom>
          <a:solidFill>
            <a:srgbClr val="F2F3F6"/>
          </a:solidFill>
          <a:ln/>
        </p:spPr>
      </p:sp>
      <p:sp>
        <p:nvSpPr>
          <p:cNvPr id="22" name="Text 19"/>
          <p:cNvSpPr/>
          <p:nvPr/>
        </p:nvSpPr>
        <p:spPr>
          <a:xfrm>
            <a:off x="7488936" y="1097280"/>
            <a:ext cx="1152144" cy="457200"/>
          </a:xfrm>
          <a:prstGeom prst="rect">
            <a:avLst/>
          </a:prstGeom>
          <a:noFill/>
          <a:ln/>
        </p:spPr>
        <p:txBody>
          <a:bodyPr wrap="square" lIns="0" tIns="0" rIns="0" bIns="0" rtlCol="0" anchor="ctr"/>
          <a:lstStyle/>
          <a:p>
            <a:pPr algn="ctr" indent="0" marL="0">
              <a:buNone/>
            </a:pPr>
            <a:r>
              <a:rPr lang="en-US" sz="900" b="1" dirty="0">
                <a:solidFill>
                  <a:srgbClr val="3056C9"/>
                </a:solidFill>
                <a:latin typeface="Arial" pitchFamily="34" charset="0"/>
                <a:ea typeface="Arial" pitchFamily="34" charset="-122"/>
                <a:cs typeface="Arial" pitchFamily="34" charset="-120"/>
              </a:rPr>
              <a:t>Opportunity</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737360"/>
          <a:ext cx="8229600" cy="914400"/>
        </p:xfrm>
        <a:graphic>
          <a:graphicData uri="http://schemas.openxmlformats.org/drawingml/2006/table">
            <a:tbl>
              <a:tblPr/>
              <a:tblGrid>
                <a:gridCol w="1645920"/>
                <a:gridCol w="3931920"/>
                <a:gridCol w="2651760"/>
              </a:tblGrid>
              <a:tr h="256032">
                <a:tc>
                  <a:txBody>
                    <a:bodyPr/>
                    <a:lstStyle/>
                    <a:p>
                      <a:pPr indent="0" marL="0">
                        <a:buNone/>
                      </a:pPr>
                      <a:r>
                        <a:rPr lang="en-US" sz="950" b="1" dirty="0">
                          <a:solidFill>
                            <a:srgbClr val="FFFFFF"/>
                          </a:solidFill>
                          <a:latin typeface="Arial" pitchFamily="34" charset="0"/>
                          <a:ea typeface="Arial" pitchFamily="34" charset="-122"/>
                          <a:cs typeface="Arial" pitchFamily="34" charset="-120"/>
                        </a:rPr>
                        <a:t>Channel</a:t>
                      </a:r>
                      <a:endParaRPr lang="en-US" sz="9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Job</a:t>
                      </a:r>
                      <a:endParaRPr lang="en-US" sz="9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Destination</a:t>
                      </a:r>
                      <a:endParaRPr lang="en-US" sz="9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r>
              <a:tr h="367030">
                <a:tc>
                  <a:txBody>
                    <a:bodyPr/>
                    <a:lstStyle/>
                    <a:p>
                      <a:pPr indent="0" marL="0">
                        <a:buNone/>
                      </a:pPr>
                      <a:r>
                        <a:rPr lang="en-US" sz="950" b="1" dirty="0">
                          <a:solidFill>
                            <a:srgbClr val="3056C9"/>
                          </a:solidFill>
                          <a:latin typeface="Arial" pitchFamily="34" charset="0"/>
                          <a:ea typeface="Arial" pitchFamily="34" charset="-122"/>
                          <a:cs typeface="Arial" pitchFamily="34" charset="-120"/>
                        </a:rPr>
                        <a:t>LinkedIn prospecting</a:t>
                      </a:r>
                      <a:endParaRPr lang="en-US" sz="9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50" dirty="0">
                          <a:solidFill>
                            <a:srgbClr val="4A4A4A"/>
                          </a:solidFill>
                          <a:latin typeface="Arial" pitchFamily="34" charset="0"/>
                          <a:ea typeface="Arial" pitchFamily="34" charset="-122"/>
                          <a:cs typeface="Arial" pitchFamily="34" charset="-120"/>
                        </a:rPr>
                        <a:t>Reach the insurance target account list and US QA and contact-center leaders with the two ad angles.</a:t>
                      </a:r>
                      <a:endParaRPr lang="en-US" sz="9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50" dirty="0">
                          <a:solidFill>
                            <a:srgbClr val="4A4A4A"/>
                          </a:solidFill>
                          <a:latin typeface="Arial" pitchFamily="34" charset="0"/>
                          <a:ea typeface="Arial" pitchFamily="34" charset="-122"/>
                          <a:cs typeface="Arial" pitchFamily="34" charset="-120"/>
                        </a:rPr>
                        <a:t>Use the VoiceScore page now and the insurance page once it goes live.</a:t>
                      </a:r>
                      <a:endParaRPr lang="en-US" sz="9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367030">
                <a:tc>
                  <a:txBody>
                    <a:bodyPr/>
                    <a:lstStyle/>
                    <a:p>
                      <a:pPr indent="0" marL="0">
                        <a:buNone/>
                      </a:pPr>
                      <a:r>
                        <a:rPr lang="en-US" sz="950" b="1" dirty="0">
                          <a:solidFill>
                            <a:srgbClr val="3056C9"/>
                          </a:solidFill>
                          <a:latin typeface="Arial" pitchFamily="34" charset="0"/>
                          <a:ea typeface="Arial" pitchFamily="34" charset="-122"/>
                          <a:cs typeface="Arial" pitchFamily="34" charset="-120"/>
                        </a:rPr>
                        <a:t>LinkedIn remarketing</a:t>
                      </a:r>
                      <a:endParaRPr lang="en-US" sz="9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50" dirty="0">
                          <a:solidFill>
                            <a:srgbClr val="4A4A4A"/>
                          </a:solidFill>
                          <a:latin typeface="Arial" pitchFamily="34" charset="0"/>
                          <a:ea typeface="Arial" pitchFamily="34" charset="-122"/>
                          <a:cs typeface="Arial" pitchFamily="34" charset="-120"/>
                        </a:rPr>
                        <a:t>Bring back people who visited the site or watched the video.</a:t>
                      </a:r>
                      <a:endParaRPr lang="en-US" sz="9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50" dirty="0">
                          <a:solidFill>
                            <a:srgbClr val="4A4A4A"/>
                          </a:solidFill>
                          <a:latin typeface="Arial" pitchFamily="34" charset="0"/>
                          <a:ea typeface="Arial" pitchFamily="34" charset="-122"/>
                          <a:cs typeface="Arial" pitchFamily="34" charset="-120"/>
                        </a:rPr>
                        <a:t>Nobody has set it yet. Agree it with Octavio.</a:t>
                      </a:r>
                      <a:endParaRPr lang="en-US" sz="9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r h="367030">
                <a:tc>
                  <a:txBody>
                    <a:bodyPr/>
                    <a:lstStyle/>
                    <a:p>
                      <a:pPr indent="0" marL="0">
                        <a:buNone/>
                      </a:pPr>
                      <a:r>
                        <a:rPr lang="en-US" sz="950" b="1" dirty="0">
                          <a:solidFill>
                            <a:srgbClr val="3056C9"/>
                          </a:solidFill>
                          <a:latin typeface="Arial" pitchFamily="34" charset="0"/>
                          <a:ea typeface="Arial" pitchFamily="34" charset="-122"/>
                          <a:cs typeface="Arial" pitchFamily="34" charset="-120"/>
                        </a:rPr>
                        <a:t>Google Search</a:t>
                      </a:r>
                      <a:endParaRPr lang="en-US" sz="9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50" dirty="0">
                          <a:solidFill>
                            <a:srgbClr val="4A4A4A"/>
                          </a:solidFill>
                          <a:latin typeface="Arial" pitchFamily="34" charset="0"/>
                          <a:ea typeface="Arial" pitchFamily="34" charset="-122"/>
                          <a:cs typeface="Arial" pitchFamily="34" charset="-120"/>
                        </a:rPr>
                        <a:t>Capture people already searching for call center QA software and automated call scoring.</a:t>
                      </a:r>
                      <a:endParaRPr lang="en-US" sz="9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50" dirty="0">
                          <a:solidFill>
                            <a:srgbClr val="4A4A4A"/>
                          </a:solidFill>
                          <a:latin typeface="Arial" pitchFamily="34" charset="0"/>
                          <a:ea typeface="Arial" pitchFamily="34" charset="-122"/>
                          <a:cs typeface="Arial" pitchFamily="34" charset="-120"/>
                        </a:rPr>
                        <a:t>Each ad group routes by intent (see the band below).</a:t>
                      </a:r>
                      <a:endParaRPr lang="en-US" sz="9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367030">
                <a:tc>
                  <a:txBody>
                    <a:bodyPr/>
                    <a:lstStyle/>
                    <a:p>
                      <a:pPr indent="0" marL="0">
                        <a:buNone/>
                      </a:pPr>
                      <a:r>
                        <a:rPr lang="en-US" sz="950" b="1" dirty="0">
                          <a:solidFill>
                            <a:srgbClr val="3056C9"/>
                          </a:solidFill>
                          <a:latin typeface="Arial" pitchFamily="34" charset="0"/>
                          <a:ea typeface="Arial" pitchFamily="34" charset="-122"/>
                          <a:cs typeface="Arial" pitchFamily="34" charset="-120"/>
                        </a:rPr>
                        <a:t>Outbound</a:t>
                      </a:r>
                      <a:endParaRPr lang="en-US" sz="9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50" dirty="0">
                          <a:solidFill>
                            <a:srgbClr val="4A4A4A"/>
                          </a:solidFill>
                          <a:latin typeface="Arial" pitchFamily="34" charset="0"/>
                          <a:ea typeface="Arial" pitchFamily="34" charset="-122"/>
                          <a:cs typeface="Arial" pitchFamily="34" charset="-120"/>
                        </a:rPr>
                        <a:t>Kuota and Doug email the same target account list with the same offer. You do not run it.</a:t>
                      </a:r>
                      <a:endParaRPr lang="en-US" sz="9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50" dirty="0">
                          <a:solidFill>
                            <a:srgbClr val="4A4A4A"/>
                          </a:solidFill>
                          <a:latin typeface="Arial" pitchFamily="34" charset="0"/>
                          <a:ea typeface="Arial" pitchFamily="34" charset="-122"/>
                          <a:cs typeface="Arial" pitchFamily="34" charset="-120"/>
                        </a:rPr>
                        <a:t>Outbound uses the same offer and pages as the ads.</a:t>
                      </a:r>
                      <a:endParaRPr lang="en-US" sz="9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bl>
          </a:graphicData>
        </a:graphic>
      </p:graphicFrame>
      <p:sp>
        <p:nvSpPr>
          <p:cNvPr id="24" name="Shape 20"/>
          <p:cNvSpPr/>
          <p:nvPr/>
        </p:nvSpPr>
        <p:spPr>
          <a:xfrm>
            <a:off x="457200" y="4370832"/>
            <a:ext cx="8229600" cy="310896"/>
          </a:xfrm>
          <a:prstGeom prst="rect">
            <a:avLst/>
          </a:prstGeom>
          <a:solidFill>
            <a:srgbClr val="3056C9"/>
          </a:solidFill>
          <a:ln/>
        </p:spPr>
      </p:sp>
      <p:sp>
        <p:nvSpPr>
          <p:cNvPr id="25" name="Text 21"/>
          <p:cNvSpPr/>
          <p:nvPr/>
        </p:nvSpPr>
        <p:spPr>
          <a:xfrm>
            <a:off x="640080" y="4370832"/>
            <a:ext cx="7863840" cy="310896"/>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Routing: general QA to /voicescore/  |  evaluation intent to /voicescore/evaluation/  |  insurance QA to the insurance page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949440" y="146304"/>
            <a:ext cx="1737360" cy="182880"/>
          </a:xfrm>
          <a:prstGeom prst="rect">
            <a:avLst/>
          </a:prstGeom>
          <a:noFill/>
          <a:ln/>
        </p:spPr>
        <p:txBody>
          <a:bodyPr wrap="square" lIns="0" tIns="0" rIns="0" bIns="0" rtlCol="0" anchor="t"/>
          <a:lstStyle/>
          <a:p>
            <a:pPr algn="r" indent="0" marL="0">
              <a:buNone/>
            </a:pPr>
            <a:r>
              <a:rPr lang="en-US" sz="800" dirty="0">
                <a:solidFill>
                  <a:srgbClr val="9AA0A8"/>
                </a:solidFill>
                <a:latin typeface="Arial" pitchFamily="34" charset="0"/>
                <a:ea typeface="Arial" pitchFamily="34" charset="-122"/>
                <a:cs typeface="Arial" pitchFamily="34" charset="-120"/>
              </a:rPr>
              <a:t>[ toggle.solutions ]</a:t>
            </a:r>
            <a:endParaRPr lang="en-US" sz="800" dirty="0"/>
          </a:p>
        </p:txBody>
      </p:sp>
      <p:sp>
        <p:nvSpPr>
          <p:cNvPr id="3" name="Text 1"/>
          <p:cNvSpPr/>
          <p:nvPr/>
        </p:nvSpPr>
        <p:spPr>
          <a:xfrm>
            <a:off x="457200" y="329184"/>
            <a:ext cx="8229600" cy="384048"/>
          </a:xfrm>
          <a:prstGeom prst="rect">
            <a:avLst/>
          </a:prstGeom>
          <a:noFill/>
          <a:ln/>
        </p:spPr>
        <p:txBody>
          <a:bodyPr wrap="square" lIns="0" tIns="0" rIns="0" bIns="0" rtlCol="0" anchor="t"/>
          <a:lstStyle/>
          <a:p>
            <a:pPr indent="0" marL="0">
              <a:buNone/>
            </a:pPr>
            <a:r>
              <a:rPr lang="en-US" sz="2150" b="1" dirty="0">
                <a:solidFill>
                  <a:srgbClr val="4A7BF7"/>
                </a:solidFill>
                <a:latin typeface="Arial" pitchFamily="34" charset="0"/>
                <a:ea typeface="Arial" pitchFamily="34" charset="-122"/>
                <a:cs typeface="Arial" pitchFamily="34" charset="-120"/>
              </a:rPr>
              <a:t>Budget</a:t>
            </a:r>
            <a:endParaRPr lang="en-US" sz="2150" dirty="0"/>
          </a:p>
        </p:txBody>
      </p:sp>
      <p:sp>
        <p:nvSpPr>
          <p:cNvPr id="4" name="Text 2"/>
          <p:cNvSpPr/>
          <p:nvPr/>
        </p:nvSpPr>
        <p:spPr>
          <a:xfrm>
            <a:off x="457200" y="749808"/>
            <a:ext cx="8229600" cy="274320"/>
          </a:xfrm>
          <a:prstGeom prst="rect">
            <a:avLst/>
          </a:prstGeom>
          <a:noFill/>
          <a:ln/>
        </p:spPr>
        <p:txBody>
          <a:bodyPr wrap="square" lIns="0" tIns="0" rIns="0" bIns="0" rtlCol="0" anchor="t"/>
          <a:lstStyle/>
          <a:p>
            <a:pPr indent="0" marL="0">
              <a:buNone/>
            </a:pPr>
            <a:r>
              <a:rPr lang="en-US" sz="1050" dirty="0">
                <a:solidFill>
                  <a:srgbClr val="4A4A4A"/>
                </a:solidFill>
                <a:latin typeface="Arial" pitchFamily="34" charset="0"/>
                <a:ea typeface="Arial" pitchFamily="34" charset="-122"/>
                <a:cs typeface="Arial" pitchFamily="34" charset="-120"/>
              </a:rPr>
              <a:t>VoiceRun pays the media bills itself. Daily figures are the monthly figure divided by 30.4.</a:t>
            </a:r>
            <a:endParaRPr lang="en-US" sz="10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651760"/>
                <a:gridCol w="1371600"/>
                <a:gridCol w="914400"/>
                <a:gridCol w="3291840"/>
              </a:tblGrid>
              <a:tr h="256032">
                <a:tc>
                  <a:txBody>
                    <a:bodyPr/>
                    <a:lstStyle/>
                    <a:p>
                      <a:pPr indent="0" marL="0">
                        <a:buNone/>
                      </a:pPr>
                      <a:r>
                        <a:rPr lang="en-US" sz="900" b="1" dirty="0">
                          <a:solidFill>
                            <a:srgbClr val="FFFFFF"/>
                          </a:solidFill>
                          <a:latin typeface="Arial" pitchFamily="34" charset="0"/>
                          <a:ea typeface="Arial" pitchFamily="34" charset="-122"/>
                          <a:cs typeface="Arial" pitchFamily="34" charset="-120"/>
                        </a:rPr>
                        <a:t>Line</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Monthly</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Daily</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Note</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r>
              <a:tr h="219456">
                <a:tc>
                  <a:txBody>
                    <a:bodyPr/>
                    <a:lstStyle/>
                    <a:p>
                      <a:pPr indent="0" marL="0">
                        <a:buNone/>
                      </a:pPr>
                      <a:r>
                        <a:rPr lang="en-US" sz="900" b="1" dirty="0">
                          <a:solidFill>
                            <a:srgbClr val="3056C9"/>
                          </a:solidFill>
                          <a:latin typeface="Arial" pitchFamily="34" charset="0"/>
                          <a:ea typeface="Arial" pitchFamily="34" charset="-122"/>
                          <a:cs typeface="Arial" pitchFamily="34" charset="-120"/>
                        </a:rPr>
                        <a:t>LinkedIn prospecting</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$4,000</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$131.58</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Toggle runs it.</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352044">
                <a:tc>
                  <a:txBody>
                    <a:bodyPr/>
                    <a:lstStyle/>
                    <a:p>
                      <a:pPr indent="0" marL="0">
                        <a:buNone/>
                      </a:pPr>
                      <a:r>
                        <a:rPr lang="en-US" sz="900" b="1" dirty="0">
                          <a:solidFill>
                            <a:srgbClr val="3056C9"/>
                          </a:solidFill>
                          <a:latin typeface="Arial" pitchFamily="34" charset="0"/>
                          <a:ea typeface="Arial" pitchFamily="34" charset="-122"/>
                          <a:cs typeface="Arial" pitchFamily="34" charset="-120"/>
                        </a:rPr>
                        <a:t>LinkedIn remarketing</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$3,000</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$98.68</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Toggle runs it. Nobody has said what feeds it in month one.</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r h="219456">
                <a:tc>
                  <a:txBody>
                    <a:bodyPr/>
                    <a:lstStyle/>
                    <a:p>
                      <a:pPr indent="0" marL="0">
                        <a:buNone/>
                      </a:pPr>
                      <a:r>
                        <a:rPr lang="en-US" sz="900" b="1" dirty="0">
                          <a:solidFill>
                            <a:srgbClr val="3056C9"/>
                          </a:solidFill>
                          <a:latin typeface="Arial" pitchFamily="34" charset="0"/>
                          <a:ea typeface="Arial" pitchFamily="34" charset="-122"/>
                          <a:cs typeface="Arial" pitchFamily="34" charset="-120"/>
                        </a:rPr>
                        <a:t>Google Search, VoiceScore</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$3,000</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$98.68</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Toggle runs it.</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219456">
                <a:tc>
                  <a:txBody>
                    <a:bodyPr/>
                    <a:lstStyle/>
                    <a:p>
                      <a:pPr indent="0" marL="0">
                        <a:buNone/>
                      </a:pPr>
                      <a:r>
                        <a:rPr lang="en-US" sz="900" b="1" dirty="0">
                          <a:solidFill>
                            <a:srgbClr val="3056C9"/>
                          </a:solidFill>
                          <a:latin typeface="Arial" pitchFamily="34" charset="0"/>
                          <a:ea typeface="Arial" pitchFamily="34" charset="-122"/>
                          <a:cs typeface="Arial" pitchFamily="34" charset="-120"/>
                        </a:rPr>
                        <a:t>VoiceScore campaign total</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$10,000</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$328.94</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This deck plans this amount.</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r h="219456">
                <a:tc>
                  <a:txBody>
                    <a:bodyPr/>
                    <a:lstStyle/>
                    <a:p>
                      <a:pPr indent="0" marL="0">
                        <a:buNone/>
                      </a:pPr>
                      <a:r>
                        <a:rPr lang="en-US" sz="900" b="1" dirty="0">
                          <a:solidFill>
                            <a:srgbClr val="3056C9"/>
                          </a:solidFill>
                          <a:latin typeface="Arial" pitchFamily="34" charset="0"/>
                          <a:ea typeface="Arial" pitchFamily="34" charset="-122"/>
                          <a:cs typeface="Arial" pitchFamily="34" charset="-120"/>
                        </a:rPr>
                        <a:t>Google Search, brand</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$300</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$9.87</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It sits outside the campaign. Ask whether it is ours.</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219456">
                <a:tc>
                  <a:txBody>
                    <a:bodyPr/>
                    <a:lstStyle/>
                    <a:p>
                      <a:pPr indent="0" marL="0">
                        <a:buNone/>
                      </a:pPr>
                      <a:r>
                        <a:rPr lang="en-US" sz="900" b="1" dirty="0">
                          <a:solidFill>
                            <a:srgbClr val="3056C9"/>
                          </a:solidFill>
                          <a:latin typeface="Arial" pitchFamily="34" charset="0"/>
                          <a:ea typeface="Arial" pitchFamily="34" charset="-122"/>
                          <a:cs typeface="Arial" pitchFamily="34" charset="-120"/>
                        </a:rPr>
                        <a:t>Google Search, non-brand (not VoiceScore)</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$1,500</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$49.34</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It sits outside the campaign. Ask whether it is ours.</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r h="219456">
                <a:tc>
                  <a:txBody>
                    <a:bodyPr/>
                    <a:lstStyle/>
                    <a:p>
                      <a:pPr indent="0" marL="0">
                        <a:buNone/>
                      </a:pPr>
                      <a:r>
                        <a:rPr lang="en-US" sz="900" b="1" dirty="0">
                          <a:solidFill>
                            <a:srgbClr val="3056C9"/>
                          </a:solidFill>
                          <a:latin typeface="Arial" pitchFamily="34" charset="0"/>
                          <a:ea typeface="Arial" pitchFamily="34" charset="-122"/>
                          <a:cs typeface="Arial" pitchFamily="34" charset="-120"/>
                        </a:rPr>
                        <a:t>ITC</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$2,000 one time</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n/a</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Event spend that Toggle does not run.</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219456">
                <a:tc>
                  <a:txBody>
                    <a:bodyPr/>
                    <a:lstStyle/>
                    <a:p>
                      <a:pPr indent="0" marL="0">
                        <a:buNone/>
                      </a:pPr>
                      <a:r>
                        <a:rPr lang="en-US" sz="900" b="1" dirty="0">
                          <a:solidFill>
                            <a:srgbClr val="3056C9"/>
                          </a:solidFill>
                          <a:latin typeface="Arial" pitchFamily="34" charset="0"/>
                          <a:ea typeface="Arial" pitchFamily="34" charset="-122"/>
                          <a:cs typeface="Arial" pitchFamily="34" charset="-120"/>
                        </a:rPr>
                        <a:t>All media</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$11,800 a month</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$388.16</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The $2,000 ITC line comes on top.</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bl>
          </a:graphicData>
        </a:graphic>
      </p:graphicFrame>
      <p:sp>
        <p:nvSpPr>
          <p:cNvPr id="7" name="Shape 3"/>
          <p:cNvSpPr/>
          <p:nvPr/>
        </p:nvSpPr>
        <p:spPr>
          <a:xfrm>
            <a:off x="457200" y="4370832"/>
            <a:ext cx="8229600" cy="310896"/>
          </a:xfrm>
          <a:prstGeom prst="rect">
            <a:avLst/>
          </a:prstGeom>
          <a:solidFill>
            <a:srgbClr val="3056C9"/>
          </a:solidFill>
          <a:ln/>
        </p:spPr>
      </p:sp>
      <p:sp>
        <p:nvSpPr>
          <p:cNvPr id="8" name="Text 4"/>
          <p:cNvSpPr/>
          <p:nvPr/>
        </p:nvSpPr>
        <p:spPr>
          <a:xfrm>
            <a:off x="640080" y="4370832"/>
            <a:ext cx="7863840" cy="310896"/>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October is a part month: a 16 October launch leaves 16 days, about $5,200 of the $10,000  |  Agency fee still open</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949440" y="146304"/>
            <a:ext cx="1737360" cy="182880"/>
          </a:xfrm>
          <a:prstGeom prst="rect">
            <a:avLst/>
          </a:prstGeom>
          <a:noFill/>
          <a:ln/>
        </p:spPr>
        <p:txBody>
          <a:bodyPr wrap="square" lIns="0" tIns="0" rIns="0" bIns="0" rtlCol="0" anchor="t"/>
          <a:lstStyle/>
          <a:p>
            <a:pPr algn="r" indent="0" marL="0">
              <a:buNone/>
            </a:pPr>
            <a:r>
              <a:rPr lang="en-US" sz="800" dirty="0">
                <a:solidFill>
                  <a:srgbClr val="9AA0A8"/>
                </a:solidFill>
                <a:latin typeface="Arial" pitchFamily="34" charset="0"/>
                <a:ea typeface="Arial" pitchFamily="34" charset="-122"/>
                <a:cs typeface="Arial" pitchFamily="34" charset="-120"/>
              </a:rPr>
              <a:t>[ toggle.solutions ]</a:t>
            </a:r>
            <a:endParaRPr lang="en-US" sz="800" dirty="0"/>
          </a:p>
        </p:txBody>
      </p:sp>
      <p:sp>
        <p:nvSpPr>
          <p:cNvPr id="3" name="Text 1"/>
          <p:cNvSpPr/>
          <p:nvPr/>
        </p:nvSpPr>
        <p:spPr>
          <a:xfrm>
            <a:off x="457200" y="329184"/>
            <a:ext cx="8229600" cy="384048"/>
          </a:xfrm>
          <a:prstGeom prst="rect">
            <a:avLst/>
          </a:prstGeom>
          <a:noFill/>
          <a:ln/>
        </p:spPr>
        <p:txBody>
          <a:bodyPr wrap="square" lIns="0" tIns="0" rIns="0" bIns="0" rtlCol="0" anchor="t"/>
          <a:lstStyle/>
          <a:p>
            <a:pPr indent="0" marL="0">
              <a:buNone/>
            </a:pPr>
            <a:r>
              <a:rPr lang="en-US" sz="2150" b="1" dirty="0">
                <a:solidFill>
                  <a:srgbClr val="4A7BF7"/>
                </a:solidFill>
                <a:latin typeface="Arial" pitchFamily="34" charset="0"/>
                <a:ea typeface="Arial" pitchFamily="34" charset="-122"/>
                <a:cs typeface="Arial" pitchFamily="34" charset="-120"/>
              </a:rPr>
              <a:t>Who owns what</a:t>
            </a:r>
            <a:endParaRPr lang="en-US" sz="2150" dirty="0"/>
          </a:p>
        </p:txBody>
      </p:sp>
      <p:sp>
        <p:nvSpPr>
          <p:cNvPr id="4" name="Text 2"/>
          <p:cNvSpPr/>
          <p:nvPr/>
        </p:nvSpPr>
        <p:spPr>
          <a:xfrm>
            <a:off x="457200" y="749808"/>
            <a:ext cx="8229600" cy="274320"/>
          </a:xfrm>
          <a:prstGeom prst="rect">
            <a:avLst/>
          </a:prstGeom>
          <a:noFill/>
          <a:ln/>
        </p:spPr>
        <p:txBody>
          <a:bodyPr wrap="square" lIns="0" tIns="0" rIns="0" bIns="0" rtlCol="0" anchor="t"/>
          <a:lstStyle/>
          <a:p>
            <a:pPr indent="0" marL="0">
              <a:buNone/>
            </a:pPr>
            <a:r>
              <a:rPr lang="en-US" sz="1050" dirty="0">
                <a:solidFill>
                  <a:srgbClr val="4A4A4A"/>
                </a:solidFill>
                <a:latin typeface="Arial" pitchFamily="34" charset="0"/>
                <a:ea typeface="Arial" pitchFamily="34" charset="-122"/>
                <a:cs typeface="Arial" pitchFamily="34" charset="-120"/>
              </a:rPr>
              <a:t>Use this before you take on a task. If the work is not yours, pass it to the owner.</a:t>
            </a:r>
            <a:endParaRPr lang="en-US" sz="10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377440"/>
                <a:gridCol w="2011680"/>
                <a:gridCol w="2011680"/>
                <a:gridCol w="1828800"/>
              </a:tblGrid>
              <a:tr h="256032">
                <a:tc>
                  <a:txBody>
                    <a:bodyPr/>
                    <a:lstStyle/>
                    <a:p>
                      <a:pPr indent="0" marL="0">
                        <a:buNone/>
                      </a:pPr>
                      <a:r>
                        <a:rPr lang="en-US" sz="850" b="1" dirty="0">
                          <a:solidFill>
                            <a:srgbClr val="FFFFFF"/>
                          </a:solidFill>
                          <a:latin typeface="Arial" pitchFamily="34" charset="0"/>
                          <a:ea typeface="Arial" pitchFamily="34" charset="-122"/>
                          <a:cs typeface="Arial" pitchFamily="34" charset="-120"/>
                        </a:rPr>
                        <a:t>Work</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Toggle (you)</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Kuota</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VoiceRun</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r>
              <a:tr h="219456">
                <a:tc>
                  <a:txBody>
                    <a:bodyPr/>
                    <a:lstStyle/>
                    <a:p>
                      <a:pPr indent="0" marL="0">
                        <a:buNone/>
                      </a:pPr>
                      <a:r>
                        <a:rPr lang="en-US" sz="850" b="1" dirty="0">
                          <a:solidFill>
                            <a:srgbClr val="3056C9"/>
                          </a:solidFill>
                          <a:latin typeface="Arial" pitchFamily="34" charset="0"/>
                          <a:ea typeface="Arial" pitchFamily="34" charset="-122"/>
                          <a:cs typeface="Arial" pitchFamily="34" charset="-120"/>
                        </a:rPr>
                        <a:t>Strategy, media plan, messaging</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Review and give feedback</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Owns</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Approves</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219456">
                <a:tc>
                  <a:txBody>
                    <a:bodyPr/>
                    <a:lstStyle/>
                    <a:p>
                      <a:pPr indent="0" marL="0">
                        <a:buNone/>
                      </a:pPr>
                      <a:r>
                        <a:rPr lang="en-US" sz="850" b="1" dirty="0">
                          <a:solidFill>
                            <a:srgbClr val="3056C9"/>
                          </a:solidFill>
                          <a:latin typeface="Arial" pitchFamily="34" charset="0"/>
                          <a:ea typeface="Arial" pitchFamily="34" charset="-122"/>
                          <a:cs typeface="Arial" pitchFamily="34" charset="-120"/>
                        </a:rPr>
                        <a:t>LinkedIn creative and copy</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Uploads and runs</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Writes and designs</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Approves</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r h="219456">
                <a:tc>
                  <a:txBody>
                    <a:bodyPr/>
                    <a:lstStyle/>
                    <a:p>
                      <a:pPr indent="0" marL="0">
                        <a:buNone/>
                      </a:pPr>
                      <a:r>
                        <a:rPr lang="en-US" sz="850" b="1" dirty="0">
                          <a:solidFill>
                            <a:srgbClr val="3056C9"/>
                          </a:solidFill>
                          <a:latin typeface="Arial" pitchFamily="34" charset="0"/>
                          <a:ea typeface="Arial" pitchFamily="34" charset="-122"/>
                          <a:cs typeface="Arial" pitchFamily="34" charset="-120"/>
                        </a:rPr>
                        <a:t>Google Search ads</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Writes and runs</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Gives the brief</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n/a</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219456">
                <a:tc>
                  <a:txBody>
                    <a:bodyPr/>
                    <a:lstStyle/>
                    <a:p>
                      <a:pPr indent="0" marL="0">
                        <a:buNone/>
                      </a:pPr>
                      <a:r>
                        <a:rPr lang="en-US" sz="850" b="1" dirty="0">
                          <a:solidFill>
                            <a:srgbClr val="3056C9"/>
                          </a:solidFill>
                          <a:latin typeface="Arial" pitchFamily="34" charset="0"/>
                          <a:ea typeface="Arial" pitchFamily="34" charset="-122"/>
                          <a:cs typeface="Arial" pitchFamily="34" charset="-120"/>
                        </a:rPr>
                        <a:t>Campaign build and optimization</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Owns both channels</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Final review (Lawrence)</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Account access</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r h="219456">
                <a:tc>
                  <a:txBody>
                    <a:bodyPr/>
                    <a:lstStyle/>
                    <a:p>
                      <a:pPr indent="0" marL="0">
                        <a:buNone/>
                      </a:pPr>
                      <a:r>
                        <a:rPr lang="en-US" sz="850" b="1" dirty="0">
                          <a:solidFill>
                            <a:srgbClr val="3056C9"/>
                          </a:solidFill>
                          <a:latin typeface="Arial" pitchFamily="34" charset="0"/>
                          <a:ea typeface="Arial" pitchFamily="34" charset="-122"/>
                          <a:cs typeface="Arial" pitchFamily="34" charset="-120"/>
                        </a:rPr>
                        <a:t>Tracking in Tag Manager</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Builds it</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Listed as owner in Lawrence's plan</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Sales follow-up owner</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219456">
                <a:tc>
                  <a:txBody>
                    <a:bodyPr/>
                    <a:lstStyle/>
                    <a:p>
                      <a:pPr indent="0" marL="0">
                        <a:buNone/>
                      </a:pPr>
                      <a:r>
                        <a:rPr lang="en-US" sz="850" b="1" dirty="0">
                          <a:solidFill>
                            <a:srgbClr val="3056C9"/>
                          </a:solidFill>
                          <a:latin typeface="Arial" pitchFamily="34" charset="0"/>
                          <a:ea typeface="Arial" pitchFamily="34" charset="-122"/>
                          <a:cs typeface="Arial" pitchFamily="34" charset="-120"/>
                        </a:rPr>
                        <a:t>Landing page</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Routes traffic to it</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Copy and design</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Builds it (Nick)</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r h="219456">
                <a:tc>
                  <a:txBody>
                    <a:bodyPr/>
                    <a:lstStyle/>
                    <a:p>
                      <a:pPr indent="0" marL="0">
                        <a:buNone/>
                      </a:pPr>
                      <a:r>
                        <a:rPr lang="en-US" sz="850" b="1" dirty="0">
                          <a:solidFill>
                            <a:srgbClr val="3056C9"/>
                          </a:solidFill>
                          <a:latin typeface="Arial" pitchFamily="34" charset="0"/>
                          <a:ea typeface="Arial" pitchFamily="34" charset="-122"/>
                          <a:cs typeface="Arial" pitchFamily="34" charset="-120"/>
                        </a:rPr>
                        <a:t>Target account list</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Uploads it to LinkedIn</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Template</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Builds the list</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219456">
                <a:tc>
                  <a:txBody>
                    <a:bodyPr/>
                    <a:lstStyle/>
                    <a:p>
                      <a:pPr indent="0" marL="0">
                        <a:buNone/>
                      </a:pPr>
                      <a:r>
                        <a:rPr lang="en-US" sz="850" b="1" dirty="0">
                          <a:solidFill>
                            <a:srgbClr val="3056C9"/>
                          </a:solidFill>
                          <a:latin typeface="Arial" pitchFamily="34" charset="0"/>
                          <a:ea typeface="Arial" pitchFamily="34" charset="-122"/>
                          <a:cs typeface="Arial" pitchFamily="34" charset="-120"/>
                        </a:rPr>
                        <a:t>Outbound</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n/a</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Strategy and copy</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Setup (Doug)</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r h="219456">
                <a:tc>
                  <a:txBody>
                    <a:bodyPr/>
                    <a:lstStyle/>
                    <a:p>
                      <a:pPr indent="0" marL="0">
                        <a:buNone/>
                      </a:pPr>
                      <a:r>
                        <a:rPr lang="en-US" sz="850" b="1" dirty="0">
                          <a:solidFill>
                            <a:srgbClr val="3056C9"/>
                          </a:solidFill>
                          <a:latin typeface="Arial" pitchFamily="34" charset="0"/>
                          <a:ea typeface="Arial" pitchFamily="34" charset="-122"/>
                          <a:cs typeface="Arial" pitchFamily="34" charset="-120"/>
                        </a:rPr>
                        <a:t>Sales follow-up and CRM stages</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n/a</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n/a</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Owns</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219456">
                <a:tc>
                  <a:txBody>
                    <a:bodyPr/>
                    <a:lstStyle/>
                    <a:p>
                      <a:pPr indent="0" marL="0">
                        <a:buNone/>
                      </a:pPr>
                      <a:r>
                        <a:rPr lang="en-US" sz="850" b="1" dirty="0">
                          <a:solidFill>
                            <a:srgbClr val="3056C9"/>
                          </a:solidFill>
                          <a:latin typeface="Arial" pitchFamily="34" charset="0"/>
                          <a:ea typeface="Arial" pitchFamily="34" charset="-122"/>
                          <a:cs typeface="Arial" pitchFamily="34" charset="-120"/>
                        </a:rPr>
                        <a:t>Reporting</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Channel report and dashboard</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Monthly GTM motion report</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n/a</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bl>
          </a:graphicData>
        </a:graphic>
      </p:graphicFrame>
      <p:sp>
        <p:nvSpPr>
          <p:cNvPr id="7" name="Shape 3"/>
          <p:cNvSpPr/>
          <p:nvPr/>
        </p:nvSpPr>
        <p:spPr>
          <a:xfrm>
            <a:off x="457200" y="4370832"/>
            <a:ext cx="8229600" cy="310896"/>
          </a:xfrm>
          <a:prstGeom prst="rect">
            <a:avLst/>
          </a:prstGeom>
          <a:solidFill>
            <a:srgbClr val="3056C9"/>
          </a:solidFill>
          <a:ln/>
        </p:spPr>
      </p:sp>
      <p:sp>
        <p:nvSpPr>
          <p:cNvPr id="8" name="Text 4"/>
          <p:cNvSpPr/>
          <p:nvPr/>
        </p:nvSpPr>
        <p:spPr>
          <a:xfrm>
            <a:off x="640080" y="4370832"/>
            <a:ext cx="7863840" cy="310896"/>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Lawrence's plan lists tracking under Kuota, but you took the build on the call. Confirm the split in writing.</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949440" y="146304"/>
            <a:ext cx="1737360" cy="182880"/>
          </a:xfrm>
          <a:prstGeom prst="rect">
            <a:avLst/>
          </a:prstGeom>
          <a:noFill/>
          <a:ln/>
        </p:spPr>
        <p:txBody>
          <a:bodyPr wrap="square" lIns="0" tIns="0" rIns="0" bIns="0" rtlCol="0" anchor="t"/>
          <a:lstStyle/>
          <a:p>
            <a:pPr algn="r" indent="0" marL="0">
              <a:buNone/>
            </a:pPr>
            <a:r>
              <a:rPr lang="en-US" sz="800" dirty="0">
                <a:solidFill>
                  <a:srgbClr val="9AA0A8"/>
                </a:solidFill>
                <a:latin typeface="Arial" pitchFamily="34" charset="0"/>
                <a:ea typeface="Arial" pitchFamily="34" charset="-122"/>
                <a:cs typeface="Arial" pitchFamily="34" charset="-120"/>
              </a:rPr>
              <a:t>[ toggle.solutions ]</a:t>
            </a:r>
            <a:endParaRPr lang="en-US" sz="800" dirty="0"/>
          </a:p>
        </p:txBody>
      </p:sp>
      <p:sp>
        <p:nvSpPr>
          <p:cNvPr id="3" name="Text 1"/>
          <p:cNvSpPr/>
          <p:nvPr/>
        </p:nvSpPr>
        <p:spPr>
          <a:xfrm>
            <a:off x="457200" y="329184"/>
            <a:ext cx="8229600" cy="384048"/>
          </a:xfrm>
          <a:prstGeom prst="rect">
            <a:avLst/>
          </a:prstGeom>
          <a:noFill/>
          <a:ln/>
        </p:spPr>
        <p:txBody>
          <a:bodyPr wrap="square" lIns="0" tIns="0" rIns="0" bIns="0" rtlCol="0" anchor="t"/>
          <a:lstStyle/>
          <a:p>
            <a:pPr indent="0" marL="0">
              <a:buNone/>
            </a:pPr>
            <a:r>
              <a:rPr lang="en-US" sz="2150" b="1" dirty="0">
                <a:solidFill>
                  <a:srgbClr val="4A7BF7"/>
                </a:solidFill>
                <a:latin typeface="Arial" pitchFamily="34" charset="0"/>
                <a:ea typeface="Arial" pitchFamily="34" charset="-122"/>
                <a:cs typeface="Arial" pitchFamily="34" charset="-120"/>
              </a:rPr>
              <a:t>Tracking 1: what to track</a:t>
            </a:r>
            <a:endParaRPr lang="en-US" sz="2150" dirty="0"/>
          </a:p>
        </p:txBody>
      </p:sp>
      <p:sp>
        <p:nvSpPr>
          <p:cNvPr id="4" name="Text 2"/>
          <p:cNvSpPr/>
          <p:nvPr/>
        </p:nvSpPr>
        <p:spPr>
          <a:xfrm>
            <a:off x="457200" y="749808"/>
            <a:ext cx="8229600" cy="274320"/>
          </a:xfrm>
          <a:prstGeom prst="rect">
            <a:avLst/>
          </a:prstGeom>
          <a:noFill/>
          <a:ln/>
        </p:spPr>
        <p:txBody>
          <a:bodyPr wrap="square" lIns="0" tIns="0" rIns="0" bIns="0" rtlCol="0" anchor="t"/>
          <a:lstStyle/>
          <a:p>
            <a:pPr indent="0" marL="0">
              <a:buNone/>
            </a:pPr>
            <a:r>
              <a:rPr lang="en-US" sz="1050" dirty="0">
                <a:solidFill>
                  <a:srgbClr val="4A4A4A"/>
                </a:solidFill>
                <a:latin typeface="Arial" pitchFamily="34" charset="0"/>
                <a:ea typeface="Arial" pitchFamily="34" charset="-122"/>
                <a:cs typeface="Arial" pitchFamily="34" charset="-120"/>
              </a:rPr>
              <a:t>Build these events before launch. The evaluation request is the one that matters most.</a:t>
            </a:r>
            <a:endParaRPr lang="en-US" sz="10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554480"/>
                <a:gridCol w="2011680"/>
                <a:gridCol w="1188720"/>
                <a:gridCol w="1371600"/>
                <a:gridCol w="1005840"/>
                <a:gridCol w="1097280"/>
              </a:tblGrid>
              <a:tr h="256032">
                <a:tc>
                  <a:txBody>
                    <a:bodyPr/>
                    <a:lstStyle/>
                    <a:p>
                      <a:pPr indent="0" marL="0">
                        <a:buNone/>
                      </a:pPr>
                      <a:r>
                        <a:rPr lang="en-US" sz="900" b="1" dirty="0">
                          <a:solidFill>
                            <a:srgbClr val="FFFFFF"/>
                          </a:solidFill>
                          <a:latin typeface="Arial" pitchFamily="34" charset="0"/>
                          <a:ea typeface="Arial" pitchFamily="34" charset="-122"/>
                          <a:cs typeface="Arial" pitchFamily="34" charset="-120"/>
                        </a:rPr>
                        <a:t>Event</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When it fires</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GA4</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Google Ads</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LinkedIn</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Role</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r>
              <a:tr h="352044">
                <a:tc>
                  <a:txBody>
                    <a:bodyPr/>
                    <a:lstStyle/>
                    <a:p>
                      <a:pPr indent="0" marL="0">
                        <a:buNone/>
                      </a:pPr>
                      <a:r>
                        <a:rPr lang="en-US" sz="900" b="1" dirty="0">
                          <a:solidFill>
                            <a:srgbClr val="3056C9"/>
                          </a:solidFill>
                          <a:latin typeface="Arial" pitchFamily="34" charset="0"/>
                          <a:ea typeface="Arial" pitchFamily="34" charset="-122"/>
                          <a:cs typeface="Arial" pitchFamily="34" charset="-120"/>
                        </a:rPr>
                        <a:t>VoiceScore Evaluation Request</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A successful submit of the evaluation form</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Key event</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Primary goal for the VoiceScore campaign</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Conversion</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Primary</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352044">
                <a:tc>
                  <a:txBody>
                    <a:bodyPr/>
                    <a:lstStyle/>
                    <a:p>
                      <a:pPr indent="0" marL="0">
                        <a:buNone/>
                      </a:pPr>
                      <a:r>
                        <a:rPr lang="en-US" sz="900" b="1" dirty="0">
                          <a:solidFill>
                            <a:srgbClr val="3056C9"/>
                          </a:solidFill>
                          <a:latin typeface="Arial" pitchFamily="34" charset="0"/>
                          <a:ea typeface="Arial" pitchFamily="34" charset="-122"/>
                          <a:cs typeface="Arial" pitchFamily="34" charset="-120"/>
                        </a:rPr>
                        <a:t>Demo request</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A successful submit of the demo form</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Key event (not one today)</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Stays the account default goal</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Conversion</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Secondary</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r h="352044">
                <a:tc>
                  <a:txBody>
                    <a:bodyPr/>
                    <a:lstStyle/>
                    <a:p>
                      <a:pPr indent="0" marL="0">
                        <a:buNone/>
                      </a:pPr>
                      <a:r>
                        <a:rPr lang="en-US" sz="900" b="1" dirty="0">
                          <a:solidFill>
                            <a:srgbClr val="3056C9"/>
                          </a:solidFill>
                          <a:latin typeface="Arial" pitchFamily="34" charset="0"/>
                          <a:ea typeface="Arial" pitchFamily="34" charset="-122"/>
                          <a:cs typeface="Arial" pitchFamily="34" charset="-120"/>
                        </a:rPr>
                        <a:t>Evaluation CTA click</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A click on any "Request a Free 10-Call Evaluation" button</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Event</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n/a</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n/a</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Diagnostic</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352044">
                <a:tc>
                  <a:txBody>
                    <a:bodyPr/>
                    <a:lstStyle/>
                    <a:p>
                      <a:pPr indent="0" marL="0">
                        <a:buNone/>
                      </a:pPr>
                      <a:r>
                        <a:rPr lang="en-US" sz="900" b="1" dirty="0">
                          <a:solidFill>
                            <a:srgbClr val="3056C9"/>
                          </a:solidFill>
                          <a:latin typeface="Arial" pitchFamily="34" charset="0"/>
                          <a:ea typeface="Arial" pitchFamily="34" charset="-122"/>
                          <a:cs typeface="Arial" pitchFamily="34" charset="-120"/>
                        </a:rPr>
                        <a:t>Form start</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The first interaction with the evaluation form</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Event</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n/a</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n/a</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Diagnostic</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r h="352044">
                <a:tc>
                  <a:txBody>
                    <a:bodyPr/>
                    <a:lstStyle/>
                    <a:p>
                      <a:pPr indent="0" marL="0">
                        <a:buNone/>
                      </a:pPr>
                      <a:r>
                        <a:rPr lang="en-US" sz="900" b="1" dirty="0">
                          <a:solidFill>
                            <a:srgbClr val="3056C9"/>
                          </a:solidFill>
                          <a:latin typeface="Arial" pitchFamily="34" charset="0"/>
                          <a:ea typeface="Arial" pitchFamily="34" charset="-122"/>
                          <a:cs typeface="Arial" pitchFamily="34" charset="-120"/>
                        </a:rPr>
                        <a:t>Page visits</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VoiceScore page, evaluation page, insurance page once live</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Page view</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Remarketing audience</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Retargeting audience</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KPI and remarketing</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219456">
                <a:tc>
                  <a:txBody>
                    <a:bodyPr/>
                    <a:lstStyle/>
                    <a:p>
                      <a:pPr indent="0" marL="0">
                        <a:buNone/>
                      </a:pPr>
                      <a:r>
                        <a:rPr lang="en-US" sz="900" b="1" dirty="0">
                          <a:solidFill>
                            <a:srgbClr val="3056C9"/>
                          </a:solidFill>
                          <a:latin typeface="Arial" pitchFamily="34" charset="0"/>
                          <a:ea typeface="Arial" pitchFamily="34" charset="-122"/>
                          <a:cs typeface="Arial" pitchFamily="34" charset="-120"/>
                        </a:rPr>
                        <a:t>Meetings and pipeline</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Sales logs them in HubSpot</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n/a</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n/a</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n/a</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Sales outcome</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r h="219456">
                <a:tc>
                  <a:txBody>
                    <a:bodyPr/>
                    <a:lstStyle/>
                    <a:p>
                      <a:pPr indent="0" marL="0">
                        <a:buNone/>
                      </a:pPr>
                      <a:r>
                        <a:rPr lang="en-US" sz="900" b="1" dirty="0">
                          <a:solidFill>
                            <a:srgbClr val="3056C9"/>
                          </a:solidFill>
                          <a:latin typeface="Arial" pitchFamily="34" charset="0"/>
                          <a:ea typeface="Arial" pitchFamily="34" charset="-122"/>
                          <a:cs typeface="Arial" pitchFamily="34" charset="-120"/>
                        </a:rPr>
                        <a:t>UTMs and click IDs</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Every paid click</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Source and medium</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Auto-tagging on</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UTMs on each ad</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Attribution</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bl>
          </a:graphicData>
        </a:graphic>
      </p:graphicFrame>
      <p:sp>
        <p:nvSpPr>
          <p:cNvPr id="7" name="Shape 3"/>
          <p:cNvSpPr/>
          <p:nvPr/>
        </p:nvSpPr>
        <p:spPr>
          <a:xfrm>
            <a:off x="457200" y="4370832"/>
            <a:ext cx="8229600" cy="310896"/>
          </a:xfrm>
          <a:prstGeom prst="rect">
            <a:avLst/>
          </a:prstGeom>
          <a:solidFill>
            <a:srgbClr val="3056C9"/>
          </a:solidFill>
          <a:ln/>
        </p:spPr>
      </p:sp>
      <p:sp>
        <p:nvSpPr>
          <p:cNvPr id="8" name="Text 4"/>
          <p:cNvSpPr/>
          <p:nvPr/>
        </p:nvSpPr>
        <p:spPr>
          <a:xfrm>
            <a:off x="640080" y="4370832"/>
            <a:ext cx="7863840" cy="310896"/>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One rule: an evaluation request counts once per real submission. Prove it with a test before launch.</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949440" y="146304"/>
            <a:ext cx="1737360" cy="182880"/>
          </a:xfrm>
          <a:prstGeom prst="rect">
            <a:avLst/>
          </a:prstGeom>
          <a:noFill/>
          <a:ln/>
        </p:spPr>
        <p:txBody>
          <a:bodyPr wrap="square" lIns="0" tIns="0" rIns="0" bIns="0" rtlCol="0" anchor="t"/>
          <a:lstStyle/>
          <a:p>
            <a:pPr algn="r" indent="0" marL="0">
              <a:buNone/>
            </a:pPr>
            <a:r>
              <a:rPr lang="en-US" sz="800" dirty="0">
                <a:solidFill>
                  <a:srgbClr val="9AA0A8"/>
                </a:solidFill>
                <a:latin typeface="Arial" pitchFamily="34" charset="0"/>
                <a:ea typeface="Arial" pitchFamily="34" charset="-122"/>
                <a:cs typeface="Arial" pitchFamily="34" charset="-120"/>
              </a:rPr>
              <a:t>[ toggle.solutions ]</a:t>
            </a:r>
            <a:endParaRPr lang="en-US" sz="800" dirty="0"/>
          </a:p>
        </p:txBody>
      </p:sp>
      <p:sp>
        <p:nvSpPr>
          <p:cNvPr id="3" name="Text 1"/>
          <p:cNvSpPr/>
          <p:nvPr/>
        </p:nvSpPr>
        <p:spPr>
          <a:xfrm>
            <a:off x="457200" y="329184"/>
            <a:ext cx="8229600" cy="384048"/>
          </a:xfrm>
          <a:prstGeom prst="rect">
            <a:avLst/>
          </a:prstGeom>
          <a:noFill/>
          <a:ln/>
        </p:spPr>
        <p:txBody>
          <a:bodyPr wrap="square" lIns="0" tIns="0" rIns="0" bIns="0" rtlCol="0" anchor="t"/>
          <a:lstStyle/>
          <a:p>
            <a:pPr indent="0" marL="0">
              <a:buNone/>
            </a:pPr>
            <a:r>
              <a:rPr lang="en-US" sz="2150" b="1" dirty="0">
                <a:solidFill>
                  <a:srgbClr val="4A7BF7"/>
                </a:solidFill>
                <a:latin typeface="Arial" pitchFamily="34" charset="0"/>
                <a:ea typeface="Arial" pitchFamily="34" charset="-122"/>
                <a:cs typeface="Arial" pitchFamily="34" charset="-120"/>
              </a:rPr>
              <a:t>Tracking 2: setup checklist</a:t>
            </a:r>
            <a:endParaRPr lang="en-US" sz="2150" dirty="0"/>
          </a:p>
        </p:txBody>
      </p:sp>
      <p:sp>
        <p:nvSpPr>
          <p:cNvPr id="4" name="Text 2"/>
          <p:cNvSpPr/>
          <p:nvPr/>
        </p:nvSpPr>
        <p:spPr>
          <a:xfrm>
            <a:off x="457200" y="749808"/>
            <a:ext cx="8229600" cy="274320"/>
          </a:xfrm>
          <a:prstGeom prst="rect">
            <a:avLst/>
          </a:prstGeom>
          <a:noFill/>
          <a:ln/>
        </p:spPr>
        <p:txBody>
          <a:bodyPr wrap="square" lIns="0" tIns="0" rIns="0" bIns="0" rtlCol="0" anchor="t"/>
          <a:lstStyle/>
          <a:p>
            <a:pPr indent="0" marL="0">
              <a:buNone/>
            </a:pPr>
            <a:r>
              <a:rPr lang="en-US" sz="1050" dirty="0">
                <a:solidFill>
                  <a:srgbClr val="4A4A4A"/>
                </a:solidFill>
                <a:latin typeface="Arial" pitchFamily="34" charset="0"/>
                <a:ea typeface="Arial" pitchFamily="34" charset="-122"/>
                <a:cs typeface="Arial" pitchFamily="34" charset="-120"/>
              </a:rPr>
              <a:t>Work down this list in order. GA4 changes wait for Lawrence to give you editor access.</a:t>
            </a:r>
            <a:endParaRPr lang="en-US" sz="10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554480"/>
                <a:gridCol w="4572000"/>
                <a:gridCol w="2103120"/>
              </a:tblGrid>
              <a:tr h="256032">
                <a:tc>
                  <a:txBody>
                    <a:bodyPr/>
                    <a:lstStyle/>
                    <a:p>
                      <a:pPr indent="0" marL="0">
                        <a:buNone/>
                      </a:pPr>
                      <a:r>
                        <a:rPr lang="en-US" sz="850" b="1" dirty="0">
                          <a:solidFill>
                            <a:srgbClr val="FFFFFF"/>
                          </a:solidFill>
                          <a:latin typeface="Arial" pitchFamily="34" charset="0"/>
                          <a:ea typeface="Arial" pitchFamily="34" charset="-122"/>
                          <a:cs typeface="Arial" pitchFamily="34" charset="-120"/>
                        </a:rPr>
                        <a:t>Platform</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What to set up</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Done when</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r>
              <a:tr h="337058">
                <a:tc>
                  <a:txBody>
                    <a:bodyPr/>
                    <a:lstStyle/>
                    <a:p>
                      <a:pPr indent="0" marL="0">
                        <a:buNone/>
                      </a:pPr>
                      <a:r>
                        <a:rPr lang="en-US" sz="850" b="1" dirty="0">
                          <a:solidFill>
                            <a:srgbClr val="3056C9"/>
                          </a:solidFill>
                          <a:latin typeface="Arial" pitchFamily="34" charset="0"/>
                          <a:ea typeface="Arial" pitchFamily="34" charset="-122"/>
                          <a:cs typeface="Arial" pitchFamily="34" charset="-120"/>
                        </a:rPr>
                        <a:t>Google Tag Manager</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Build the tags, triggers and variables for the events on slide 10. Publish with a version name and a short note.</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A named version is live.</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337058">
                <a:tc>
                  <a:txBody>
                    <a:bodyPr/>
                    <a:lstStyle/>
                    <a:p>
                      <a:pPr indent="0" marL="0">
                        <a:buNone/>
                      </a:pPr>
                      <a:r>
                        <a:rPr lang="en-US" sz="850" b="1" dirty="0">
                          <a:solidFill>
                            <a:srgbClr val="3056C9"/>
                          </a:solidFill>
                          <a:latin typeface="Arial" pitchFamily="34" charset="0"/>
                          <a:ea typeface="Arial" pitchFamily="34" charset="-122"/>
                          <a:cs typeface="Arial" pitchFamily="34" charset="-120"/>
                        </a:rPr>
                        <a:t>GA4</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Mark the evaluation request and demo_request as key events. Raise data retention from 2 to 14 months. Turn on Google signals.</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Both key events show in reports.</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r h="337058">
                <a:tc>
                  <a:txBody>
                    <a:bodyPr/>
                    <a:lstStyle/>
                    <a:p>
                      <a:pPr indent="0" marL="0">
                        <a:buNone/>
                      </a:pPr>
                      <a:r>
                        <a:rPr lang="en-US" sz="850" b="1" dirty="0">
                          <a:solidFill>
                            <a:srgbClr val="3056C9"/>
                          </a:solidFill>
                          <a:latin typeface="Arial" pitchFamily="34" charset="0"/>
                          <a:ea typeface="Arial" pitchFamily="34" charset="-122"/>
                          <a:cs typeface="Arial" pitchFamily="34" charset="-120"/>
                        </a:rPr>
                        <a:t>Google Ads</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Create the VoiceScore Evaluation Request conversion and make it the VoiceScore campaign's goal. Leave demo requests as the account default. Link GA4 for audiences.</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The conversion status reads Recording.</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337058">
                <a:tc>
                  <a:txBody>
                    <a:bodyPr/>
                    <a:lstStyle/>
                    <a:p>
                      <a:pPr indent="0" marL="0">
                        <a:buNone/>
                      </a:pPr>
                      <a:r>
                        <a:rPr lang="en-US" sz="850" b="1" dirty="0">
                          <a:solidFill>
                            <a:srgbClr val="3056C9"/>
                          </a:solidFill>
                          <a:latin typeface="Arial" pitchFamily="34" charset="0"/>
                          <a:ea typeface="Arial" pitchFamily="34" charset="-122"/>
                          <a:cs typeface="Arial" pitchFamily="34" charset="-120"/>
                        </a:rPr>
                        <a:t>Enhanced Conversions</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Capture the email from the evaluation form and send it hashed with the Google Ads conversion.</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Diagnostics show matched data.</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r h="337058">
                <a:tc>
                  <a:txBody>
                    <a:bodyPr/>
                    <a:lstStyle/>
                    <a:p>
                      <a:pPr indent="0" marL="0">
                        <a:buNone/>
                      </a:pPr>
                      <a:r>
                        <a:rPr lang="en-US" sz="850" b="1" dirty="0">
                          <a:solidFill>
                            <a:srgbClr val="3056C9"/>
                          </a:solidFill>
                          <a:latin typeface="Arial" pitchFamily="34" charset="0"/>
                          <a:ea typeface="Arial" pitchFamily="34" charset="-122"/>
                          <a:cs typeface="Arial" pitchFamily="34" charset="-120"/>
                        </a:rPr>
                        <a:t>LinkedIn</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Fire the Insight Tag on every page through GTM. Create the evaluation request conversion in Campaign Manager.</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The tag and the conversion both read Active.</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337058">
                <a:tc>
                  <a:txBody>
                    <a:bodyPr/>
                    <a:lstStyle/>
                    <a:p>
                      <a:pPr indent="0" marL="0">
                        <a:buNone/>
                      </a:pPr>
                      <a:r>
                        <a:rPr lang="en-US" sz="850" b="1" dirty="0">
                          <a:solidFill>
                            <a:srgbClr val="3056C9"/>
                          </a:solidFill>
                          <a:latin typeface="Arial" pitchFamily="34" charset="0"/>
                          <a:ea typeface="Arial" pitchFamily="34" charset="-122"/>
                          <a:cs typeface="Arial" pitchFamily="34" charset="-120"/>
                        </a:rPr>
                        <a:t>HubSpot</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Check that the form writes UTM source, medium and campaign into the contact record.</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A test contact shows the right source.</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r h="337058">
                <a:tc>
                  <a:txBody>
                    <a:bodyPr/>
                    <a:lstStyle/>
                    <a:p>
                      <a:pPr indent="0" marL="0">
                        <a:buNone/>
                      </a:pPr>
                      <a:r>
                        <a:rPr lang="en-US" sz="850" b="1" dirty="0">
                          <a:solidFill>
                            <a:srgbClr val="3056C9"/>
                          </a:solidFill>
                          <a:latin typeface="Arial" pitchFamily="34" charset="0"/>
                          <a:ea typeface="Arial" pitchFamily="34" charset="-122"/>
                          <a:cs typeface="Arial" pitchFamily="34" charset="-120"/>
                        </a:rPr>
                        <a:t>Google Tag Gateway</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Send Lawrence a short note on Tag Gateway and Enhanced Conversions before his call with Google's solutions team.</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Lawrence has the note.</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bl>
          </a:graphicData>
        </a:graphic>
      </p:graphicFrame>
      <p:sp>
        <p:nvSpPr>
          <p:cNvPr id="7" name="Shape 3"/>
          <p:cNvSpPr/>
          <p:nvPr/>
        </p:nvSpPr>
        <p:spPr>
          <a:xfrm>
            <a:off x="457200" y="4370832"/>
            <a:ext cx="8229600" cy="310896"/>
          </a:xfrm>
          <a:prstGeom prst="rect">
            <a:avLst/>
          </a:prstGeom>
          <a:solidFill>
            <a:srgbClr val="3056C9"/>
          </a:solidFill>
          <a:ln/>
        </p:spPr>
      </p:sp>
      <p:sp>
        <p:nvSpPr>
          <p:cNvPr id="8" name="Text 4"/>
          <p:cNvSpPr/>
          <p:nvPr/>
        </p:nvSpPr>
        <p:spPr>
          <a:xfrm>
            <a:off x="640080" y="4370832"/>
            <a:ext cx="7863840" cy="310896"/>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Known GA4 issues: the product and the marketing site share one property  |  Belgium traffic looks internal or bot</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949440" y="146304"/>
            <a:ext cx="1737360" cy="182880"/>
          </a:xfrm>
          <a:prstGeom prst="rect">
            <a:avLst/>
          </a:prstGeom>
          <a:noFill/>
          <a:ln/>
        </p:spPr>
        <p:txBody>
          <a:bodyPr wrap="square" lIns="0" tIns="0" rIns="0" bIns="0" rtlCol="0" anchor="t"/>
          <a:lstStyle/>
          <a:p>
            <a:pPr algn="r" indent="0" marL="0">
              <a:buNone/>
            </a:pPr>
            <a:r>
              <a:rPr lang="en-US" sz="800" dirty="0">
                <a:solidFill>
                  <a:srgbClr val="9AA0A8"/>
                </a:solidFill>
                <a:latin typeface="Arial" pitchFamily="34" charset="0"/>
                <a:ea typeface="Arial" pitchFamily="34" charset="-122"/>
                <a:cs typeface="Arial" pitchFamily="34" charset="-120"/>
              </a:rPr>
              <a:t>[ toggle.solutions ]</a:t>
            </a:r>
            <a:endParaRPr lang="en-US" sz="800" dirty="0"/>
          </a:p>
        </p:txBody>
      </p:sp>
      <p:sp>
        <p:nvSpPr>
          <p:cNvPr id="3" name="Text 1"/>
          <p:cNvSpPr/>
          <p:nvPr/>
        </p:nvSpPr>
        <p:spPr>
          <a:xfrm>
            <a:off x="457200" y="329184"/>
            <a:ext cx="8229600" cy="384048"/>
          </a:xfrm>
          <a:prstGeom prst="rect">
            <a:avLst/>
          </a:prstGeom>
          <a:noFill/>
          <a:ln/>
        </p:spPr>
        <p:txBody>
          <a:bodyPr wrap="square" lIns="0" tIns="0" rIns="0" bIns="0" rtlCol="0" anchor="t"/>
          <a:lstStyle/>
          <a:p>
            <a:pPr indent="0" marL="0">
              <a:buNone/>
            </a:pPr>
            <a:r>
              <a:rPr lang="en-US" sz="2150" b="1" dirty="0">
                <a:solidFill>
                  <a:srgbClr val="4A7BF7"/>
                </a:solidFill>
                <a:latin typeface="Arial" pitchFamily="34" charset="0"/>
                <a:ea typeface="Arial" pitchFamily="34" charset="-122"/>
                <a:cs typeface="Arial" pitchFamily="34" charset="-120"/>
              </a:rPr>
              <a:t>Tracking 3: test before launch, check after</a:t>
            </a:r>
            <a:endParaRPr lang="en-US" sz="2150" dirty="0"/>
          </a:p>
        </p:txBody>
      </p:sp>
      <p:sp>
        <p:nvSpPr>
          <p:cNvPr id="4" name="Text 2"/>
          <p:cNvSpPr/>
          <p:nvPr/>
        </p:nvSpPr>
        <p:spPr>
          <a:xfrm>
            <a:off x="457200" y="749808"/>
            <a:ext cx="8229600" cy="274320"/>
          </a:xfrm>
          <a:prstGeom prst="rect">
            <a:avLst/>
          </a:prstGeom>
          <a:noFill/>
          <a:ln/>
        </p:spPr>
        <p:txBody>
          <a:bodyPr wrap="square" lIns="0" tIns="0" rIns="0" bIns="0" rtlCol="0" anchor="t"/>
          <a:lstStyle/>
          <a:p>
            <a:pPr indent="0" marL="0">
              <a:buNone/>
            </a:pPr>
            <a:r>
              <a:rPr lang="en-US" sz="1050" dirty="0">
                <a:solidFill>
                  <a:srgbClr val="4A4A4A"/>
                </a:solidFill>
                <a:latin typeface="Arial" pitchFamily="34" charset="0"/>
                <a:ea typeface="Arial" pitchFamily="34" charset="-122"/>
                <a:cs typeface="Arial" pitchFamily="34" charset="-120"/>
              </a:rPr>
              <a:t>Run every test row before you switch anything on.</a:t>
            </a:r>
            <a:endParaRPr lang="en-US" sz="10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371600"/>
                <a:gridCol w="3931920"/>
                <a:gridCol w="2926080"/>
              </a:tblGrid>
              <a:tr h="256032">
                <a:tc>
                  <a:txBody>
                    <a:bodyPr/>
                    <a:lstStyle/>
                    <a:p>
                      <a:pPr indent="0" marL="0">
                        <a:buNone/>
                      </a:pPr>
                      <a:r>
                        <a:rPr lang="en-US" sz="900" b="1" dirty="0">
                          <a:solidFill>
                            <a:srgbClr val="FFFFFF"/>
                          </a:solidFill>
                          <a:latin typeface="Arial" pitchFamily="34" charset="0"/>
                          <a:ea typeface="Arial" pitchFamily="34" charset="-122"/>
                          <a:cs typeface="Arial" pitchFamily="34" charset="-120"/>
                        </a:rPr>
                        <a:t>When</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Check</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Pass when</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r>
              <a:tr h="352044">
                <a:tc>
                  <a:txBody>
                    <a:bodyPr/>
                    <a:lstStyle/>
                    <a:p>
                      <a:pPr indent="0" marL="0">
                        <a:buNone/>
                      </a:pPr>
                      <a:r>
                        <a:rPr lang="en-US" sz="900" b="1" dirty="0">
                          <a:solidFill>
                            <a:srgbClr val="3056C9"/>
                          </a:solidFill>
                          <a:latin typeface="Arial" pitchFamily="34" charset="0"/>
                          <a:ea typeface="Arial" pitchFamily="34" charset="-122"/>
                          <a:cs typeface="Arial" pitchFamily="34" charset="-120"/>
                        </a:rPr>
                        <a:t>Before launch</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Submit a test evaluation request from a URL that carries test UTMs.</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GA4 DebugView shows one event with the right parameters.</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219456">
                <a:tc>
                  <a:txBody>
                    <a:bodyPr/>
                    <a:lstStyle/>
                    <a:p>
                      <a:pPr indent="0" marL="0">
                        <a:buNone/>
                      </a:pPr>
                      <a:r>
                        <a:rPr lang="en-US" sz="900" b="1" dirty="0">
                          <a:solidFill>
                            <a:srgbClr val="3056C9"/>
                          </a:solidFill>
                          <a:latin typeface="Arial" pitchFamily="34" charset="0"/>
                          <a:ea typeface="Arial" pitchFamily="34" charset="-122"/>
                          <a:cs typeface="Arial" pitchFamily="34" charset="-120"/>
                        </a:rPr>
                        <a:t>Before launch</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Look for the same test in Google Ads and LinkedIn.</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Both conversions appear within 24 hours.</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r h="219456">
                <a:tc>
                  <a:txBody>
                    <a:bodyPr/>
                    <a:lstStyle/>
                    <a:p>
                      <a:pPr indent="0" marL="0">
                        <a:buNone/>
                      </a:pPr>
                      <a:r>
                        <a:rPr lang="en-US" sz="900" b="1" dirty="0">
                          <a:solidFill>
                            <a:srgbClr val="3056C9"/>
                          </a:solidFill>
                          <a:latin typeface="Arial" pitchFamily="34" charset="0"/>
                          <a:ea typeface="Arial" pitchFamily="34" charset="-122"/>
                          <a:cs typeface="Arial" pitchFamily="34" charset="-120"/>
                        </a:rPr>
                        <a:t>Before launch</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Open the test contact in HubSpot.</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The contact carries the test UTMs.</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219456">
                <a:tc>
                  <a:txBody>
                    <a:bodyPr/>
                    <a:lstStyle/>
                    <a:p>
                      <a:pPr indent="0" marL="0">
                        <a:buNone/>
                      </a:pPr>
                      <a:r>
                        <a:rPr lang="en-US" sz="900" b="1" dirty="0">
                          <a:solidFill>
                            <a:srgbClr val="3056C9"/>
                          </a:solidFill>
                          <a:latin typeface="Arial" pitchFamily="34" charset="0"/>
                          <a:ea typeface="Arial" pitchFamily="34" charset="-122"/>
                          <a:cs typeface="Arial" pitchFamily="34" charset="-120"/>
                        </a:rPr>
                        <a:t>Before launch</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Refresh the thank-you page, then submit a second time.</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The event fires once per submission.</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r h="219456">
                <a:tc>
                  <a:txBody>
                    <a:bodyPr/>
                    <a:lstStyle/>
                    <a:p>
                      <a:pPr indent="0" marL="0">
                        <a:buNone/>
                      </a:pPr>
                      <a:r>
                        <a:rPr lang="en-US" sz="900" b="1" dirty="0">
                          <a:solidFill>
                            <a:srgbClr val="3056C9"/>
                          </a:solidFill>
                          <a:latin typeface="Arial" pitchFamily="34" charset="0"/>
                          <a:ea typeface="Arial" pitchFamily="34" charset="-122"/>
                          <a:cs typeface="Arial" pitchFamily="34" charset="-120"/>
                        </a:rPr>
                        <a:t>Before launch</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Click each evaluation button and start the form.</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CTA click and form start both fire.</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352044">
                <a:tc>
                  <a:txBody>
                    <a:bodyPr/>
                    <a:lstStyle/>
                    <a:p>
                      <a:pPr indent="0" marL="0">
                        <a:buNone/>
                      </a:pPr>
                      <a:r>
                        <a:rPr lang="en-US" sz="900" b="1" dirty="0">
                          <a:solidFill>
                            <a:srgbClr val="3056C9"/>
                          </a:solidFill>
                          <a:latin typeface="Arial" pitchFamily="34" charset="0"/>
                          <a:ea typeface="Arial" pitchFamily="34" charset="-122"/>
                          <a:cs typeface="Arial" pitchFamily="34" charset="-120"/>
                        </a:rPr>
                        <a:t>Daily, week 1</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Compare evaluation requests across GA4, Google Ads, LinkedIn and HubSpot.</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The counts match, or you know why they differ.</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r h="352044">
                <a:tc>
                  <a:txBody>
                    <a:bodyPr/>
                    <a:lstStyle/>
                    <a:p>
                      <a:pPr indent="0" marL="0">
                        <a:buNone/>
                      </a:pPr>
                      <a:r>
                        <a:rPr lang="en-US" sz="900" b="1" dirty="0">
                          <a:solidFill>
                            <a:srgbClr val="3056C9"/>
                          </a:solidFill>
                          <a:latin typeface="Arial" pitchFamily="34" charset="0"/>
                          <a:ea typeface="Arial" pitchFamily="34" charset="-122"/>
                          <a:cs typeface="Arial" pitchFamily="34" charset="-120"/>
                        </a:rPr>
                        <a:t>Weekly</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Check Google Ads tag diagnostics and the LinkedIn Insight Tag status.</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Both show no errors or warnings.</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352044">
                <a:tc>
                  <a:txBody>
                    <a:bodyPr/>
                    <a:lstStyle/>
                    <a:p>
                      <a:pPr indent="0" marL="0">
                        <a:buNone/>
                      </a:pPr>
                      <a:r>
                        <a:rPr lang="en-US" sz="900" b="1" dirty="0">
                          <a:solidFill>
                            <a:srgbClr val="3056C9"/>
                          </a:solidFill>
                          <a:latin typeface="Arial" pitchFamily="34" charset="0"/>
                          <a:ea typeface="Arial" pitchFamily="34" charset="-122"/>
                          <a:cs typeface="Arial" pitchFamily="34" charset="-120"/>
                        </a:rPr>
                        <a:t>Weekly</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Check the remarketing audience sizes on LinkedIn and Google.</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LinkedIn audiences pass 300 members, the minimum to serve.</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bl>
          </a:graphicData>
        </a:graphic>
      </p:graphicFrame>
      <p:sp>
        <p:nvSpPr>
          <p:cNvPr id="7" name="Shape 3"/>
          <p:cNvSpPr/>
          <p:nvPr/>
        </p:nvSpPr>
        <p:spPr>
          <a:xfrm>
            <a:off x="457200" y="4370832"/>
            <a:ext cx="8229600" cy="310896"/>
          </a:xfrm>
          <a:prstGeom prst="rect">
            <a:avLst/>
          </a:prstGeom>
          <a:solidFill>
            <a:srgbClr val="3056C9"/>
          </a:solidFill>
          <a:ln/>
        </p:spPr>
      </p:sp>
      <p:sp>
        <p:nvSpPr>
          <p:cNvPr id="8" name="Text 4"/>
          <p:cNvSpPr/>
          <p:nvPr/>
        </p:nvSpPr>
        <p:spPr>
          <a:xfrm>
            <a:off x="640080" y="4370832"/>
            <a:ext cx="7863840" cy="310896"/>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If evaluation requests stop recording, fix tracking first and change nothing else in the accounts.</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949440" y="146304"/>
            <a:ext cx="1737360" cy="182880"/>
          </a:xfrm>
          <a:prstGeom prst="rect">
            <a:avLst/>
          </a:prstGeom>
          <a:noFill/>
          <a:ln/>
        </p:spPr>
        <p:txBody>
          <a:bodyPr wrap="square" lIns="0" tIns="0" rIns="0" bIns="0" rtlCol="0" anchor="t"/>
          <a:lstStyle/>
          <a:p>
            <a:pPr algn="r" indent="0" marL="0">
              <a:buNone/>
            </a:pPr>
            <a:r>
              <a:rPr lang="en-US" sz="800" dirty="0">
                <a:solidFill>
                  <a:srgbClr val="9AA0A8"/>
                </a:solidFill>
                <a:latin typeface="Arial" pitchFamily="34" charset="0"/>
                <a:ea typeface="Arial" pitchFamily="34" charset="-122"/>
                <a:cs typeface="Arial" pitchFamily="34" charset="-120"/>
              </a:rPr>
              <a:t>[ toggle.solutions ]</a:t>
            </a:r>
            <a:endParaRPr lang="en-US" sz="800" dirty="0"/>
          </a:p>
        </p:txBody>
      </p:sp>
      <p:sp>
        <p:nvSpPr>
          <p:cNvPr id="3" name="Text 1"/>
          <p:cNvSpPr/>
          <p:nvPr/>
        </p:nvSpPr>
        <p:spPr>
          <a:xfrm>
            <a:off x="457200" y="329184"/>
            <a:ext cx="8229600" cy="384048"/>
          </a:xfrm>
          <a:prstGeom prst="rect">
            <a:avLst/>
          </a:prstGeom>
          <a:noFill/>
          <a:ln/>
        </p:spPr>
        <p:txBody>
          <a:bodyPr wrap="square" lIns="0" tIns="0" rIns="0" bIns="0" rtlCol="0" anchor="t"/>
          <a:lstStyle/>
          <a:p>
            <a:pPr indent="0" marL="0">
              <a:buNone/>
            </a:pPr>
            <a:r>
              <a:rPr lang="en-US" sz="2150" b="1" dirty="0">
                <a:solidFill>
                  <a:srgbClr val="4A7BF7"/>
                </a:solidFill>
                <a:latin typeface="Arial" pitchFamily="34" charset="0"/>
                <a:ea typeface="Arial" pitchFamily="34" charset="-122"/>
                <a:cs typeface="Arial" pitchFamily="34" charset="-120"/>
              </a:rPr>
              <a:t>Google Search 1: build and clean up</a:t>
            </a:r>
            <a:endParaRPr lang="en-US" sz="2150" dirty="0"/>
          </a:p>
        </p:txBody>
      </p:sp>
      <p:sp>
        <p:nvSpPr>
          <p:cNvPr id="4" name="Text 2"/>
          <p:cNvSpPr/>
          <p:nvPr/>
        </p:nvSpPr>
        <p:spPr>
          <a:xfrm>
            <a:off x="457200" y="749808"/>
            <a:ext cx="8229600" cy="274320"/>
          </a:xfrm>
          <a:prstGeom prst="rect">
            <a:avLst/>
          </a:prstGeom>
          <a:noFill/>
          <a:ln/>
        </p:spPr>
        <p:txBody>
          <a:bodyPr wrap="square" lIns="0" tIns="0" rIns="0" bIns="0" rtlCol="0" anchor="t"/>
          <a:lstStyle/>
          <a:p>
            <a:pPr indent="0" marL="0">
              <a:buNone/>
            </a:pPr>
            <a:r>
              <a:rPr lang="en-US" sz="1050" dirty="0">
                <a:solidFill>
                  <a:srgbClr val="4A4A4A"/>
                </a:solidFill>
                <a:latin typeface="Arial" pitchFamily="34" charset="0"/>
                <a:ea typeface="Arial" pitchFamily="34" charset="-122"/>
                <a:cs typeface="Arial" pitchFamily="34" charset="-120"/>
              </a:rPr>
              <a:t>Work inside the existing VoiceScore Search campaign. It already has click and conversion history.</a:t>
            </a:r>
            <a:endParaRPr lang="en-US" sz="10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371600"/>
                <a:gridCol w="4937760"/>
                <a:gridCol w="1920240"/>
              </a:tblGrid>
              <a:tr h="256032">
                <a:tc>
                  <a:txBody>
                    <a:bodyPr/>
                    <a:lstStyle/>
                    <a:p>
                      <a:pPr indent="0" marL="0">
                        <a:buNone/>
                      </a:pPr>
                      <a:r>
                        <a:rPr lang="en-US" sz="800" b="1" dirty="0">
                          <a:solidFill>
                            <a:srgbClr val="FFFFFF"/>
                          </a:solidFill>
                          <a:latin typeface="Arial" pitchFamily="34" charset="0"/>
                          <a:ea typeface="Arial" pitchFamily="34" charset="-122"/>
                          <a:cs typeface="Arial" pitchFamily="34" charset="-120"/>
                        </a:rPr>
                        <a:t>Area</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800" b="1" dirty="0">
                          <a:solidFill>
                            <a:srgbClr val="FFFFFF"/>
                          </a:solidFill>
                          <a:latin typeface="Arial" pitchFamily="34" charset="0"/>
                          <a:ea typeface="Arial" pitchFamily="34" charset="-122"/>
                          <a:cs typeface="Arial" pitchFamily="34" charset="-120"/>
                        </a:rPr>
                        <a:t>Action</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800" b="1" dirty="0">
                          <a:solidFill>
                            <a:srgbClr val="FFFFFF"/>
                          </a:solidFill>
                          <a:latin typeface="Arial" pitchFamily="34" charset="0"/>
                          <a:ea typeface="Arial" pitchFamily="34" charset="-122"/>
                          <a:cs typeface="Arial" pitchFamily="34" charset="-120"/>
                        </a:rPr>
                        <a:t>Done when</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r>
              <a:tr h="322072">
                <a:tc>
                  <a:txBody>
                    <a:bodyPr/>
                    <a:lstStyle/>
                    <a:p>
                      <a:pPr indent="0" marL="0">
                        <a:buNone/>
                      </a:pPr>
                      <a:r>
                        <a:rPr lang="en-US" sz="800" b="1" dirty="0">
                          <a:solidFill>
                            <a:srgbClr val="3056C9"/>
                          </a:solidFill>
                          <a:latin typeface="Arial" pitchFamily="34" charset="0"/>
                          <a:ea typeface="Arial" pitchFamily="34" charset="-122"/>
                          <a:cs typeface="Arial" pitchFamily="34" charset="-120"/>
                        </a:rPr>
                        <a:t>Access</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dirty="0">
                          <a:solidFill>
                            <a:srgbClr val="4A4A4A"/>
                          </a:solidFill>
                          <a:latin typeface="Arial" pitchFamily="34" charset="0"/>
                          <a:ea typeface="Arial" pitchFamily="34" charset="-122"/>
                          <a:cs typeface="Arial" pitchFamily="34" charset="-120"/>
                        </a:rPr>
                        <a:t>Get Lawrence to upgrade you to standard access, so you can edit the VoiceScore and Enterprise Executives campaigns.</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dirty="0">
                          <a:solidFill>
                            <a:srgbClr val="4A4A4A"/>
                          </a:solidFill>
                          <a:latin typeface="Arial" pitchFamily="34" charset="0"/>
                          <a:ea typeface="Arial" pitchFamily="34" charset="-122"/>
                          <a:cs typeface="Arial" pitchFamily="34" charset="-120"/>
                        </a:rPr>
                        <a:t>You can edit both campaigns.</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441960">
                <a:tc>
                  <a:txBody>
                    <a:bodyPr/>
                    <a:lstStyle/>
                    <a:p>
                      <a:pPr indent="0" marL="0">
                        <a:buNone/>
                      </a:pPr>
                      <a:r>
                        <a:rPr lang="en-US" sz="800" b="1" dirty="0">
                          <a:solidFill>
                            <a:srgbClr val="3056C9"/>
                          </a:solidFill>
                          <a:latin typeface="Arial" pitchFamily="34" charset="0"/>
                          <a:ea typeface="Arial" pitchFamily="34" charset="-122"/>
                          <a:cs typeface="Arial" pitchFamily="34" charset="-120"/>
                        </a:rPr>
                        <a:t>Negatives</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800" dirty="0">
                          <a:solidFill>
                            <a:srgbClr val="4A4A4A"/>
                          </a:solidFill>
                          <a:latin typeface="Arial" pitchFamily="34" charset="0"/>
                          <a:ea typeface="Arial" pitchFamily="34" charset="-122"/>
                          <a:cs typeface="Arial" pitchFamily="34" charset="-120"/>
                        </a:rPr>
                        <a:t>Move negatives into one account-level list. Add the test-automation terms that leaked into Automated Call Scoring (LambdaTest, QA Wolf, Mabl) and the noisy voice AI themes (deepfake, transcription).</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800" dirty="0">
                          <a:solidFill>
                            <a:srgbClr val="4A4A4A"/>
                          </a:solidFill>
                          <a:latin typeface="Arial" pitchFamily="34" charset="0"/>
                          <a:ea typeface="Arial" pitchFamily="34" charset="-122"/>
                          <a:cs typeface="Arial" pitchFamily="34" charset="-120"/>
                        </a:rPr>
                        <a:t>One shared list covers every campaign.</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r h="322072">
                <a:tc>
                  <a:txBody>
                    <a:bodyPr/>
                    <a:lstStyle/>
                    <a:p>
                      <a:pPr indent="0" marL="0">
                        <a:buNone/>
                      </a:pPr>
                      <a:r>
                        <a:rPr lang="en-US" sz="800" b="1" dirty="0">
                          <a:solidFill>
                            <a:srgbClr val="3056C9"/>
                          </a:solidFill>
                          <a:latin typeface="Arial" pitchFamily="34" charset="0"/>
                          <a:ea typeface="Arial" pitchFamily="34" charset="-122"/>
                          <a:cs typeface="Arial" pitchFamily="34" charset="-120"/>
                        </a:rPr>
                        <a:t>The "free" negative</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dirty="0">
                          <a:solidFill>
                            <a:srgbClr val="4A4A4A"/>
                          </a:solidFill>
                          <a:latin typeface="Arial" pitchFamily="34" charset="0"/>
                          <a:ea typeface="Arial" pitchFamily="34" charset="-122"/>
                          <a:cs typeface="Arial" pitchFamily="34" charset="-120"/>
                        </a:rPr>
                        <a:t>Review the broad negative "free". It may block searches for the Free 10-Call Evaluation.</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dirty="0">
                          <a:solidFill>
                            <a:srgbClr val="4A4A4A"/>
                          </a:solidFill>
                          <a:latin typeface="Arial" pitchFamily="34" charset="0"/>
                          <a:ea typeface="Arial" pitchFamily="34" charset="-122"/>
                          <a:cs typeface="Arial" pitchFamily="34" charset="-120"/>
                        </a:rPr>
                        <a:t>You keep or remove it and note the reason.</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322072">
                <a:tc>
                  <a:txBody>
                    <a:bodyPr/>
                    <a:lstStyle/>
                    <a:p>
                      <a:pPr indent="0" marL="0">
                        <a:buNone/>
                      </a:pPr>
                      <a:r>
                        <a:rPr lang="en-US" sz="800" b="1" dirty="0">
                          <a:solidFill>
                            <a:srgbClr val="3056C9"/>
                          </a:solidFill>
                          <a:latin typeface="Arial" pitchFamily="34" charset="0"/>
                          <a:ea typeface="Arial" pitchFamily="34" charset="-122"/>
                          <a:cs typeface="Arial" pitchFamily="34" charset="-120"/>
                        </a:rPr>
                        <a:t>Ad groups</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800" dirty="0">
                          <a:solidFill>
                            <a:srgbClr val="4A4A4A"/>
                          </a:solidFill>
                          <a:latin typeface="Arial" pitchFamily="34" charset="0"/>
                          <a:ea typeface="Arial" pitchFamily="34" charset="-122"/>
                          <a:cs typeface="Arial" pitchFamily="34" charset="-120"/>
                        </a:rPr>
                        <a:t>Focus on Call Center QA Software and Automated Call Scoring. Keep Call Monitoring paused. Add an insurance ad group if search volume supports it.</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800" dirty="0">
                          <a:solidFill>
                            <a:srgbClr val="4A4A4A"/>
                          </a:solidFill>
                          <a:latin typeface="Arial" pitchFamily="34" charset="0"/>
                          <a:ea typeface="Arial" pitchFamily="34" charset="-122"/>
                          <a:cs typeface="Arial" pitchFamily="34" charset="-120"/>
                        </a:rPr>
                        <a:t>Two ad groups run and Call Monitoring stays paused.</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r h="322072">
                <a:tc>
                  <a:txBody>
                    <a:bodyPr/>
                    <a:lstStyle/>
                    <a:p>
                      <a:pPr indent="0" marL="0">
                        <a:buNone/>
                      </a:pPr>
                      <a:r>
                        <a:rPr lang="en-US" sz="800" b="1" dirty="0">
                          <a:solidFill>
                            <a:srgbClr val="3056C9"/>
                          </a:solidFill>
                          <a:latin typeface="Arial" pitchFamily="34" charset="0"/>
                          <a:ea typeface="Arial" pitchFamily="34" charset="-122"/>
                          <a:cs typeface="Arial" pitchFamily="34" charset="-120"/>
                        </a:rPr>
                        <a:t>Keywords</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dirty="0">
                          <a:solidFill>
                            <a:srgbClr val="4A4A4A"/>
                          </a:solidFill>
                          <a:latin typeface="Arial" pitchFamily="34" charset="0"/>
                          <a:ea typeface="Arial" pitchFamily="34" charset="-122"/>
                          <a:cs typeface="Arial" pitchFamily="34" charset="-120"/>
                        </a:rPr>
                        <a:t>Start with exact and phrase match on high-intent terms. Grow the negatives from real search terms before you broaden.</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dirty="0">
                          <a:solidFill>
                            <a:srgbClr val="4A4A4A"/>
                          </a:solidFill>
                          <a:latin typeface="Arial" pitchFamily="34" charset="0"/>
                          <a:ea typeface="Arial" pitchFamily="34" charset="-122"/>
                          <a:cs typeface="Arial" pitchFamily="34" charset="-120"/>
                        </a:rPr>
                        <a:t>Each keyword has its match type.</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322072">
                <a:tc>
                  <a:txBody>
                    <a:bodyPr/>
                    <a:lstStyle/>
                    <a:p>
                      <a:pPr indent="0" marL="0">
                        <a:buNone/>
                      </a:pPr>
                      <a:r>
                        <a:rPr lang="en-US" sz="800" b="1" dirty="0">
                          <a:solidFill>
                            <a:srgbClr val="3056C9"/>
                          </a:solidFill>
                          <a:latin typeface="Arial" pitchFamily="34" charset="0"/>
                          <a:ea typeface="Arial" pitchFamily="34" charset="-122"/>
                          <a:cs typeface="Arial" pitchFamily="34" charset="-120"/>
                        </a:rPr>
                        <a:t>Ads and assets</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800" dirty="0">
                          <a:solidFill>
                            <a:srgbClr val="4A4A4A"/>
                          </a:solidFill>
                          <a:latin typeface="Arial" pitchFamily="34" charset="0"/>
                          <a:ea typeface="Arial" pitchFamily="34" charset="-122"/>
                          <a:cs typeface="Arial" pitchFamily="34" charset="-120"/>
                        </a:rPr>
                        <a:t>Rewrite the responsive search ads around trust, QA control and the evaluation. Swap "Talk to an Architect" and "See Pricing" for Evaluation, Sample Report, Product and Security.</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800" dirty="0">
                          <a:solidFill>
                            <a:srgbClr val="4A4A4A"/>
                          </a:solidFill>
                          <a:latin typeface="Arial" pitchFamily="34" charset="0"/>
                          <a:ea typeface="Arial" pitchFamily="34" charset="-122"/>
                          <a:cs typeface="Arial" pitchFamily="34" charset="-120"/>
                        </a:rPr>
                        <a:t>Lawrence approves the new ads.</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r h="322072">
                <a:tc>
                  <a:txBody>
                    <a:bodyPr/>
                    <a:lstStyle/>
                    <a:p>
                      <a:pPr indent="0" marL="0">
                        <a:buNone/>
                      </a:pPr>
                      <a:r>
                        <a:rPr lang="en-US" sz="800" b="1" dirty="0">
                          <a:solidFill>
                            <a:srgbClr val="3056C9"/>
                          </a:solidFill>
                          <a:latin typeface="Arial" pitchFamily="34" charset="0"/>
                          <a:ea typeface="Arial" pitchFamily="34" charset="-122"/>
                          <a:cs typeface="Arial" pitchFamily="34" charset="-120"/>
                        </a:rPr>
                        <a:t>Bidding and goal</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dirty="0">
                          <a:solidFill>
                            <a:srgbClr val="4A4A4A"/>
                          </a:solidFill>
                          <a:latin typeface="Arial" pitchFamily="34" charset="0"/>
                          <a:ea typeface="Arial" pitchFamily="34" charset="-122"/>
                          <a:cs typeface="Arial" pitchFamily="34" charset="-120"/>
                        </a:rPr>
                        <a:t>Keep Maximize Clicks while you validate tracking and search terms. Set the evaluation request as the campaign goal.</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dirty="0">
                          <a:solidFill>
                            <a:srgbClr val="4A4A4A"/>
                          </a:solidFill>
                          <a:latin typeface="Arial" pitchFamily="34" charset="0"/>
                          <a:ea typeface="Arial" pitchFamily="34" charset="-122"/>
                          <a:cs typeface="Arial" pitchFamily="34" charset="-120"/>
                        </a:rPr>
                        <a:t>The campaign runs Maximize Clicks with the new goal.</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322072">
                <a:tc>
                  <a:txBody>
                    <a:bodyPr/>
                    <a:lstStyle/>
                    <a:p>
                      <a:pPr indent="0" marL="0">
                        <a:buNone/>
                      </a:pPr>
                      <a:r>
                        <a:rPr lang="en-US" sz="800" b="1" dirty="0">
                          <a:solidFill>
                            <a:srgbClr val="3056C9"/>
                          </a:solidFill>
                          <a:latin typeface="Arial" pitchFamily="34" charset="0"/>
                          <a:ea typeface="Arial" pitchFamily="34" charset="-122"/>
                          <a:cs typeface="Arial" pitchFamily="34" charset="-120"/>
                        </a:rPr>
                        <a:t>URLs and UTMs</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800" dirty="0">
                          <a:solidFill>
                            <a:srgbClr val="4A4A4A"/>
                          </a:solidFill>
                          <a:latin typeface="Arial" pitchFamily="34" charset="0"/>
                          <a:ea typeface="Arial" pitchFamily="34" charset="-122"/>
                          <a:cs typeface="Arial" pitchFamily="34" charset="-120"/>
                        </a:rPr>
                        <a:t>Route each ad group by intent (see slide 7) and add the Google UTMs: google, cpc, voicescore_insurance_q4.</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800" dirty="0">
                          <a:solidFill>
                            <a:srgbClr val="4A4A4A"/>
                          </a:solidFill>
                          <a:latin typeface="Arial" pitchFamily="34" charset="0"/>
                          <a:ea typeface="Arial" pitchFamily="34" charset="-122"/>
                          <a:cs typeface="Arial" pitchFamily="34" charset="-120"/>
                        </a:rPr>
                        <a:t>Final URLs match the routing.</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bl>
          </a:graphicData>
        </a:graphic>
      </p:graphicFrame>
      <p:sp>
        <p:nvSpPr>
          <p:cNvPr id="7" name="Shape 3"/>
          <p:cNvSpPr/>
          <p:nvPr/>
        </p:nvSpPr>
        <p:spPr>
          <a:xfrm>
            <a:off x="457200" y="4370832"/>
            <a:ext cx="8229600" cy="310896"/>
          </a:xfrm>
          <a:prstGeom prst="rect">
            <a:avLst/>
          </a:prstGeom>
          <a:solidFill>
            <a:srgbClr val="3056C9"/>
          </a:solidFill>
          <a:ln/>
        </p:spPr>
      </p:sp>
      <p:sp>
        <p:nvSpPr>
          <p:cNvPr id="8" name="Text 4"/>
          <p:cNvSpPr/>
          <p:nvPr/>
        </p:nvSpPr>
        <p:spPr>
          <a:xfrm>
            <a:off x="640080" y="4370832"/>
            <a:ext cx="7863840" cy="310896"/>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Open conflict: the call leaned toward broad match and AI Max, but Octavio starts on exact and phrase. Agree the order first.</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949440" y="146304"/>
            <a:ext cx="1737360" cy="182880"/>
          </a:xfrm>
          <a:prstGeom prst="rect">
            <a:avLst/>
          </a:prstGeom>
          <a:noFill/>
          <a:ln/>
        </p:spPr>
        <p:txBody>
          <a:bodyPr wrap="square" lIns="0" tIns="0" rIns="0" bIns="0" rtlCol="0" anchor="t"/>
          <a:lstStyle/>
          <a:p>
            <a:pPr algn="r" indent="0" marL="0">
              <a:buNone/>
            </a:pPr>
            <a:r>
              <a:rPr lang="en-US" sz="800" dirty="0">
                <a:solidFill>
                  <a:srgbClr val="9AA0A8"/>
                </a:solidFill>
                <a:latin typeface="Arial" pitchFamily="34" charset="0"/>
                <a:ea typeface="Arial" pitchFamily="34" charset="-122"/>
                <a:cs typeface="Arial" pitchFamily="34" charset="-120"/>
              </a:rPr>
              <a:t>[ toggle.solutions ]</a:t>
            </a:r>
            <a:endParaRPr lang="en-US" sz="800" dirty="0"/>
          </a:p>
        </p:txBody>
      </p:sp>
      <p:sp>
        <p:nvSpPr>
          <p:cNvPr id="3" name="Text 1"/>
          <p:cNvSpPr/>
          <p:nvPr/>
        </p:nvSpPr>
        <p:spPr>
          <a:xfrm>
            <a:off x="457200" y="329184"/>
            <a:ext cx="8229600" cy="384048"/>
          </a:xfrm>
          <a:prstGeom prst="rect">
            <a:avLst/>
          </a:prstGeom>
          <a:noFill/>
          <a:ln/>
        </p:spPr>
        <p:txBody>
          <a:bodyPr wrap="square" lIns="0" tIns="0" rIns="0" bIns="0" rtlCol="0" anchor="t"/>
          <a:lstStyle/>
          <a:p>
            <a:pPr indent="0" marL="0">
              <a:buNone/>
            </a:pPr>
            <a:r>
              <a:rPr lang="en-US" sz="2150" b="1" dirty="0">
                <a:solidFill>
                  <a:srgbClr val="4A7BF7"/>
                </a:solidFill>
                <a:latin typeface="Arial" pitchFamily="34" charset="0"/>
                <a:ea typeface="Arial" pitchFamily="34" charset="-122"/>
                <a:cs typeface="Arial" pitchFamily="34" charset="-120"/>
              </a:rPr>
              <a:t>Google Search 2: what to check</a:t>
            </a:r>
            <a:endParaRPr lang="en-US" sz="2150" dirty="0"/>
          </a:p>
        </p:txBody>
      </p:sp>
      <p:sp>
        <p:nvSpPr>
          <p:cNvPr id="4" name="Text 2"/>
          <p:cNvSpPr/>
          <p:nvPr/>
        </p:nvSpPr>
        <p:spPr>
          <a:xfrm>
            <a:off x="457200" y="749808"/>
            <a:ext cx="8229600" cy="274320"/>
          </a:xfrm>
          <a:prstGeom prst="rect">
            <a:avLst/>
          </a:prstGeom>
          <a:noFill/>
          <a:ln/>
        </p:spPr>
        <p:txBody>
          <a:bodyPr wrap="square" lIns="0" tIns="0" rIns="0" bIns="0" rtlCol="0" anchor="t"/>
          <a:lstStyle/>
          <a:p>
            <a:pPr indent="0" marL="0">
              <a:buNone/>
            </a:pPr>
            <a:r>
              <a:rPr lang="en-US" sz="1050" dirty="0">
                <a:solidFill>
                  <a:srgbClr val="4A4A4A"/>
                </a:solidFill>
                <a:latin typeface="Arial" pitchFamily="34" charset="0"/>
                <a:ea typeface="Arial" pitchFamily="34" charset="-122"/>
                <a:cs typeface="Arial" pitchFamily="34" charset="-120"/>
              </a:rPr>
              <a:t>Check daily in the first week, then weekly. Write each check into the tracker.</a:t>
            </a:r>
            <a:endParaRPr lang="en-US" sz="10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280160"/>
                <a:gridCol w="3108960"/>
                <a:gridCol w="3840480"/>
              </a:tblGrid>
              <a:tr h="256032">
                <a:tc>
                  <a:txBody>
                    <a:bodyPr/>
                    <a:lstStyle/>
                    <a:p>
                      <a:pPr indent="0" marL="0">
                        <a:buNone/>
                      </a:pPr>
                      <a:r>
                        <a:rPr lang="en-US" sz="900" b="1" dirty="0">
                          <a:solidFill>
                            <a:srgbClr val="FFFFFF"/>
                          </a:solidFill>
                          <a:latin typeface="Arial" pitchFamily="34" charset="0"/>
                          <a:ea typeface="Arial" pitchFamily="34" charset="-122"/>
                          <a:cs typeface="Arial" pitchFamily="34" charset="-120"/>
                        </a:rPr>
                        <a:t>How often</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Check</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Action if it fails</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r>
              <a:tr h="219456">
                <a:tc>
                  <a:txBody>
                    <a:bodyPr/>
                    <a:lstStyle/>
                    <a:p>
                      <a:pPr indent="0" marL="0">
                        <a:buNone/>
                      </a:pPr>
                      <a:r>
                        <a:rPr lang="en-US" sz="900" b="1" dirty="0">
                          <a:solidFill>
                            <a:srgbClr val="3056C9"/>
                          </a:solidFill>
                          <a:latin typeface="Arial" pitchFamily="34" charset="0"/>
                          <a:ea typeface="Arial" pitchFamily="34" charset="-122"/>
                          <a:cs typeface="Arial" pitchFamily="34" charset="-120"/>
                        </a:rPr>
                        <a:t>Daily, week 1</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Search terms report</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Add negatives for anything outside call center QA.</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219456">
                <a:tc>
                  <a:txBody>
                    <a:bodyPr/>
                    <a:lstStyle/>
                    <a:p>
                      <a:pPr indent="0" marL="0">
                        <a:buNone/>
                      </a:pPr>
                      <a:r>
                        <a:rPr lang="en-US" sz="900" b="1" dirty="0">
                          <a:solidFill>
                            <a:srgbClr val="3056C9"/>
                          </a:solidFill>
                          <a:latin typeface="Arial" pitchFamily="34" charset="0"/>
                          <a:ea typeface="Arial" pitchFamily="34" charset="-122"/>
                          <a:cs typeface="Arial" pitchFamily="34" charset="-120"/>
                        </a:rPr>
                        <a:t>Daily, week 1</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Spend against $98.68 a day</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Adjust the budget or the max CPC limit.</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r h="219456">
                <a:tc>
                  <a:txBody>
                    <a:bodyPr/>
                    <a:lstStyle/>
                    <a:p>
                      <a:pPr indent="0" marL="0">
                        <a:buNone/>
                      </a:pPr>
                      <a:r>
                        <a:rPr lang="en-US" sz="900" b="1" dirty="0">
                          <a:solidFill>
                            <a:srgbClr val="3056C9"/>
                          </a:solidFill>
                          <a:latin typeface="Arial" pitchFamily="34" charset="0"/>
                          <a:ea typeface="Arial" pitchFamily="34" charset="-122"/>
                          <a:cs typeface="Arial" pitchFamily="34" charset="-120"/>
                        </a:rPr>
                        <a:t>Daily, week 1</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Ad and asset approval status</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Fix disapprovals the same day.</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219456">
                <a:tc>
                  <a:txBody>
                    <a:bodyPr/>
                    <a:lstStyle/>
                    <a:p>
                      <a:pPr indent="0" marL="0">
                        <a:buNone/>
                      </a:pPr>
                      <a:r>
                        <a:rPr lang="en-US" sz="900" b="1" dirty="0">
                          <a:solidFill>
                            <a:srgbClr val="3056C9"/>
                          </a:solidFill>
                          <a:latin typeface="Arial" pitchFamily="34" charset="0"/>
                          <a:ea typeface="Arial" pitchFamily="34" charset="-122"/>
                          <a:cs typeface="Arial" pitchFamily="34" charset="-120"/>
                        </a:rPr>
                        <a:t>Daily, week 1</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Evaluation requests recording</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Stop and fix tracking before you change anything else.</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r h="352044">
                <a:tc>
                  <a:txBody>
                    <a:bodyPr/>
                    <a:lstStyle/>
                    <a:p>
                      <a:pPr indent="0" marL="0">
                        <a:buNone/>
                      </a:pPr>
                      <a:r>
                        <a:rPr lang="en-US" sz="900" b="1" dirty="0">
                          <a:solidFill>
                            <a:srgbClr val="3056C9"/>
                          </a:solidFill>
                          <a:latin typeface="Arial" pitchFamily="34" charset="0"/>
                          <a:ea typeface="Arial" pitchFamily="34" charset="-122"/>
                          <a:cs typeface="Arial" pitchFamily="34" charset="-120"/>
                        </a:rPr>
                        <a:t>Weekly</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Impression share and the share lost to budget and to rank</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Tell Lawrence if budget caps the campaign.</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352044">
                <a:tc>
                  <a:txBody>
                    <a:bodyPr/>
                    <a:lstStyle/>
                    <a:p>
                      <a:pPr indent="0" marL="0">
                        <a:buNone/>
                      </a:pPr>
                      <a:r>
                        <a:rPr lang="en-US" sz="900" b="1" dirty="0">
                          <a:solidFill>
                            <a:srgbClr val="3056C9"/>
                          </a:solidFill>
                          <a:latin typeface="Arial" pitchFamily="34" charset="0"/>
                          <a:ea typeface="Arial" pitchFamily="34" charset="-122"/>
                          <a:cs typeface="Arial" pitchFamily="34" charset="-120"/>
                        </a:rPr>
                        <a:t>Weekly</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Quality Score and landing page experience</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Raise page issues with Octavio. In August, 69 of 73 scored keywords rated below average on landing page experience.</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r h="219456">
                <a:tc>
                  <a:txBody>
                    <a:bodyPr/>
                    <a:lstStyle/>
                    <a:p>
                      <a:pPr indent="0" marL="0">
                        <a:buNone/>
                      </a:pPr>
                      <a:r>
                        <a:rPr lang="en-US" sz="900" b="1" dirty="0">
                          <a:solidFill>
                            <a:srgbClr val="3056C9"/>
                          </a:solidFill>
                          <a:latin typeface="Arial" pitchFamily="34" charset="0"/>
                          <a:ea typeface="Arial" pitchFamily="34" charset="-122"/>
                          <a:cs typeface="Arial" pitchFamily="34" charset="-120"/>
                        </a:rPr>
                        <a:t>Weekly</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Headline and asset performance</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Replace the weakest after two weeks of data.</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352044">
                <a:tc>
                  <a:txBody>
                    <a:bodyPr/>
                    <a:lstStyle/>
                    <a:p>
                      <a:pPr indent="0" marL="0">
                        <a:buNone/>
                      </a:pPr>
                      <a:r>
                        <a:rPr lang="en-US" sz="900" b="1" dirty="0">
                          <a:solidFill>
                            <a:srgbClr val="3056C9"/>
                          </a:solidFill>
                          <a:latin typeface="Arial" pitchFamily="34" charset="0"/>
                          <a:ea typeface="Arial" pitchFamily="34" charset="-122"/>
                          <a:cs typeface="Arial" pitchFamily="34" charset="-120"/>
                        </a:rPr>
                        <a:t>Week 3</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Bidding strategy</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Propose conversion-based bidding once the campaign records evaluation requests every week.</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bl>
          </a:graphicData>
        </a:graphic>
      </p:graphicFrame>
      <p:sp>
        <p:nvSpPr>
          <p:cNvPr id="7" name="Shape 3"/>
          <p:cNvSpPr/>
          <p:nvPr/>
        </p:nvSpPr>
        <p:spPr>
          <a:xfrm>
            <a:off x="457200" y="4370832"/>
            <a:ext cx="8229600" cy="310896"/>
          </a:xfrm>
          <a:prstGeom prst="rect">
            <a:avLst/>
          </a:prstGeom>
          <a:solidFill>
            <a:srgbClr val="3056C9"/>
          </a:solidFill>
          <a:ln/>
        </p:spPr>
      </p:sp>
      <p:sp>
        <p:nvSpPr>
          <p:cNvPr id="8" name="Text 4"/>
          <p:cNvSpPr/>
          <p:nvPr/>
        </p:nvSpPr>
        <p:spPr>
          <a:xfrm>
            <a:off x="640080" y="4370832"/>
            <a:ext cx="7863840" cy="310896"/>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Judge the campaign on evaluation requests and meetings. Use CTR and CPC to explain them.</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949440" y="146304"/>
            <a:ext cx="1737360" cy="182880"/>
          </a:xfrm>
          <a:prstGeom prst="rect">
            <a:avLst/>
          </a:prstGeom>
          <a:noFill/>
          <a:ln/>
        </p:spPr>
        <p:txBody>
          <a:bodyPr wrap="square" lIns="0" tIns="0" rIns="0" bIns="0" rtlCol="0" anchor="t"/>
          <a:lstStyle/>
          <a:p>
            <a:pPr algn="r" indent="0" marL="0">
              <a:buNone/>
            </a:pPr>
            <a:r>
              <a:rPr lang="en-US" sz="800" dirty="0">
                <a:solidFill>
                  <a:srgbClr val="9AA0A8"/>
                </a:solidFill>
                <a:latin typeface="Arial" pitchFamily="34" charset="0"/>
                <a:ea typeface="Arial" pitchFamily="34" charset="-122"/>
                <a:cs typeface="Arial" pitchFamily="34" charset="-120"/>
              </a:rPr>
              <a:t>[ toggle.solutions ]</a:t>
            </a:r>
            <a:endParaRPr lang="en-US" sz="800" dirty="0"/>
          </a:p>
        </p:txBody>
      </p:sp>
      <p:sp>
        <p:nvSpPr>
          <p:cNvPr id="3" name="Text 1"/>
          <p:cNvSpPr/>
          <p:nvPr/>
        </p:nvSpPr>
        <p:spPr>
          <a:xfrm>
            <a:off x="457200" y="329184"/>
            <a:ext cx="8229600" cy="384048"/>
          </a:xfrm>
          <a:prstGeom prst="rect">
            <a:avLst/>
          </a:prstGeom>
          <a:noFill/>
          <a:ln/>
        </p:spPr>
        <p:txBody>
          <a:bodyPr wrap="square" lIns="0" tIns="0" rIns="0" bIns="0" rtlCol="0" anchor="t"/>
          <a:lstStyle/>
          <a:p>
            <a:pPr indent="0" marL="0">
              <a:buNone/>
            </a:pPr>
            <a:r>
              <a:rPr lang="en-US" sz="2150" b="1" dirty="0">
                <a:solidFill>
                  <a:srgbClr val="4A7BF7"/>
                </a:solidFill>
                <a:latin typeface="Arial" pitchFamily="34" charset="0"/>
                <a:ea typeface="Arial" pitchFamily="34" charset="-122"/>
                <a:cs typeface="Arial" pitchFamily="34" charset="-120"/>
              </a:rPr>
              <a:t>LinkedIn 1: build</a:t>
            </a:r>
            <a:endParaRPr lang="en-US" sz="2150" dirty="0"/>
          </a:p>
        </p:txBody>
      </p:sp>
      <p:sp>
        <p:nvSpPr>
          <p:cNvPr id="4" name="Text 2"/>
          <p:cNvSpPr/>
          <p:nvPr/>
        </p:nvSpPr>
        <p:spPr>
          <a:xfrm>
            <a:off x="457200" y="749808"/>
            <a:ext cx="8229600" cy="274320"/>
          </a:xfrm>
          <a:prstGeom prst="rect">
            <a:avLst/>
          </a:prstGeom>
          <a:noFill/>
          <a:ln/>
        </p:spPr>
        <p:txBody>
          <a:bodyPr wrap="square" lIns="0" tIns="0" rIns="0" bIns="0" rtlCol="0" anchor="t"/>
          <a:lstStyle/>
          <a:p>
            <a:pPr indent="0" marL="0">
              <a:buNone/>
            </a:pPr>
            <a:r>
              <a:rPr lang="en-US" sz="1050" dirty="0">
                <a:solidFill>
                  <a:srgbClr val="4A4A4A"/>
                </a:solidFill>
                <a:latin typeface="Arial" pitchFamily="34" charset="0"/>
                <a:ea typeface="Arial" pitchFamily="34" charset="-122"/>
                <a:cs typeface="Arial" pitchFamily="34" charset="-120"/>
              </a:rPr>
              <a:t>Run two prospecting layers from day one, and start filling the remarketing audiences at launch.</a:t>
            </a:r>
            <a:endParaRPr lang="en-US" sz="10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645920"/>
                <a:gridCol w="4663440"/>
                <a:gridCol w="1920240"/>
              </a:tblGrid>
              <a:tr h="256032">
                <a:tc>
                  <a:txBody>
                    <a:bodyPr/>
                    <a:lstStyle/>
                    <a:p>
                      <a:pPr indent="0" marL="0">
                        <a:buNone/>
                      </a:pPr>
                      <a:r>
                        <a:rPr lang="en-US" sz="800" b="1" dirty="0">
                          <a:solidFill>
                            <a:srgbClr val="FFFFFF"/>
                          </a:solidFill>
                          <a:latin typeface="Arial" pitchFamily="34" charset="0"/>
                          <a:ea typeface="Arial" pitchFamily="34" charset="-122"/>
                          <a:cs typeface="Arial" pitchFamily="34" charset="-120"/>
                        </a:rPr>
                        <a:t>Area</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800" b="1" dirty="0">
                          <a:solidFill>
                            <a:srgbClr val="FFFFFF"/>
                          </a:solidFill>
                          <a:latin typeface="Arial" pitchFamily="34" charset="0"/>
                          <a:ea typeface="Arial" pitchFamily="34" charset="-122"/>
                          <a:cs typeface="Arial" pitchFamily="34" charset="-120"/>
                        </a:rPr>
                        <a:t>Action</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800" b="1" dirty="0">
                          <a:solidFill>
                            <a:srgbClr val="FFFFFF"/>
                          </a:solidFill>
                          <a:latin typeface="Arial" pitchFamily="34" charset="0"/>
                          <a:ea typeface="Arial" pitchFamily="34" charset="-122"/>
                          <a:cs typeface="Arial" pitchFamily="34" charset="-120"/>
                        </a:rPr>
                        <a:t>Done when</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r>
              <a:tr h="322072">
                <a:tc>
                  <a:txBody>
                    <a:bodyPr/>
                    <a:lstStyle/>
                    <a:p>
                      <a:pPr indent="0" marL="0">
                        <a:buNone/>
                      </a:pPr>
                      <a:r>
                        <a:rPr lang="en-US" sz="800" b="1" dirty="0">
                          <a:solidFill>
                            <a:srgbClr val="3056C9"/>
                          </a:solidFill>
                          <a:latin typeface="Arial" pitchFamily="34" charset="0"/>
                          <a:ea typeface="Arial" pitchFamily="34" charset="-122"/>
                          <a:cs typeface="Arial" pitchFamily="34" charset="-120"/>
                        </a:rPr>
                        <a:t>Access</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dirty="0">
                          <a:solidFill>
                            <a:srgbClr val="4A4A4A"/>
                          </a:solidFill>
                          <a:latin typeface="Arial" pitchFamily="34" charset="0"/>
                          <a:ea typeface="Arial" pitchFamily="34" charset="-122"/>
                          <a:cs typeface="Arial" pitchFamily="34" charset="-120"/>
                        </a:rPr>
                        <a:t>Doug arranges your Campaign Manager access.</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dirty="0">
                          <a:solidFill>
                            <a:srgbClr val="4A4A4A"/>
                          </a:solidFill>
                          <a:latin typeface="Arial" pitchFamily="34" charset="0"/>
                          <a:ea typeface="Arial" pitchFamily="34" charset="-122"/>
                          <a:cs typeface="Arial" pitchFamily="34" charset="-120"/>
                        </a:rPr>
                        <a:t>You can create campaigns in VoiceRun's account.</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322072">
                <a:tc>
                  <a:txBody>
                    <a:bodyPr/>
                    <a:lstStyle/>
                    <a:p>
                      <a:pPr indent="0" marL="0">
                        <a:buNone/>
                      </a:pPr>
                      <a:r>
                        <a:rPr lang="en-US" sz="800" b="1" dirty="0">
                          <a:solidFill>
                            <a:srgbClr val="3056C9"/>
                          </a:solidFill>
                          <a:latin typeface="Arial" pitchFamily="34" charset="0"/>
                          <a:ea typeface="Arial" pitchFamily="34" charset="-122"/>
                          <a:cs typeface="Arial" pitchFamily="34" charset="-120"/>
                        </a:rPr>
                        <a:t>Campaign settings</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800" dirty="0">
                          <a:solidFill>
                            <a:srgbClr val="4A4A4A"/>
                          </a:solidFill>
                          <a:latin typeface="Arial" pitchFamily="34" charset="0"/>
                          <a:ea typeface="Arial" pitchFamily="34" charset="-122"/>
                          <a:cs typeface="Arial" pitchFamily="34" charset="-120"/>
                        </a:rPr>
                        <a:t>Objective: Website Conversions. Keep Lead Gen Forms off. Turn off Audience Expansion and the LinkedIn Audience Network.</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800" dirty="0">
                          <a:solidFill>
                            <a:srgbClr val="4A4A4A"/>
                          </a:solidFill>
                          <a:latin typeface="Arial" pitchFamily="34" charset="0"/>
                          <a:ea typeface="Arial" pitchFamily="34" charset="-122"/>
                          <a:cs typeface="Arial" pitchFamily="34" charset="-120"/>
                        </a:rPr>
                        <a:t>Settings match the plan.</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r h="322072">
                <a:tc>
                  <a:txBody>
                    <a:bodyPr/>
                    <a:lstStyle/>
                    <a:p>
                      <a:pPr indent="0" marL="0">
                        <a:buNone/>
                      </a:pPr>
                      <a:r>
                        <a:rPr lang="en-US" sz="800" b="1" dirty="0">
                          <a:solidFill>
                            <a:srgbClr val="3056C9"/>
                          </a:solidFill>
                          <a:latin typeface="Arial" pitchFamily="34" charset="0"/>
                          <a:ea typeface="Arial" pitchFamily="34" charset="-122"/>
                          <a:cs typeface="Arial" pitchFamily="34" charset="-120"/>
                        </a:rPr>
                        <a:t>Audience A: target accounts</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dirty="0">
                          <a:solidFill>
                            <a:srgbClr val="4A4A4A"/>
                          </a:solidFill>
                          <a:latin typeface="Arial" pitchFamily="34" charset="0"/>
                          <a:ea typeface="Arial" pitchFamily="34" charset="-122"/>
                          <a:cs typeface="Arial" pitchFamily="34" charset="-120"/>
                        </a:rPr>
                        <a:t>Upload the approved VoiceScore Insurance target account list as a company list. Use the same master list as outbound.</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dirty="0">
                          <a:solidFill>
                            <a:srgbClr val="4A4A4A"/>
                          </a:solidFill>
                          <a:latin typeface="Arial" pitchFamily="34" charset="0"/>
                          <a:ea typeface="Arial" pitchFamily="34" charset="-122"/>
                          <a:cs typeface="Arial" pitchFamily="34" charset="-120"/>
                        </a:rPr>
                        <a:t>The list matches above 300 members.</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322072">
                <a:tc>
                  <a:txBody>
                    <a:bodyPr/>
                    <a:lstStyle/>
                    <a:p>
                      <a:pPr indent="0" marL="0">
                        <a:buNone/>
                      </a:pPr>
                      <a:r>
                        <a:rPr lang="en-US" sz="800" b="1" dirty="0">
                          <a:solidFill>
                            <a:srgbClr val="3056C9"/>
                          </a:solidFill>
                          <a:latin typeface="Arial" pitchFamily="34" charset="0"/>
                          <a:ea typeface="Arial" pitchFamily="34" charset="-122"/>
                          <a:cs typeface="Arial" pitchFamily="34" charset="-120"/>
                        </a:rPr>
                        <a:t>Audience B: native</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800" dirty="0">
                          <a:solidFill>
                            <a:srgbClr val="4A4A4A"/>
                          </a:solidFill>
                          <a:latin typeface="Arial" pitchFamily="34" charset="0"/>
                          <a:ea typeface="Arial" pitchFamily="34" charset="-122"/>
                          <a:cs typeface="Arial" pitchFamily="34" charset="-120"/>
                        </a:rPr>
                        <a:t>United States. Functions: QA, contact center, customer experience, customer service, operations. Seniority Manager and above, with Director and VP as the priority.</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800" dirty="0">
                          <a:solidFill>
                            <a:srgbClr val="4A4A4A"/>
                          </a:solidFill>
                          <a:latin typeface="Arial" pitchFamily="34" charset="0"/>
                          <a:ea typeface="Arial" pitchFamily="34" charset="-122"/>
                          <a:cs typeface="Arial" pitchFamily="34" charset="-120"/>
                        </a:rPr>
                        <a:t>The audience exists and you have noted its size.</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r h="322072">
                <a:tc>
                  <a:txBody>
                    <a:bodyPr/>
                    <a:lstStyle/>
                    <a:p>
                      <a:pPr indent="0" marL="0">
                        <a:buNone/>
                      </a:pPr>
                      <a:r>
                        <a:rPr lang="en-US" sz="800" b="1" dirty="0">
                          <a:solidFill>
                            <a:srgbClr val="3056C9"/>
                          </a:solidFill>
                          <a:latin typeface="Arial" pitchFamily="34" charset="0"/>
                          <a:ea typeface="Arial" pitchFamily="34" charset="-122"/>
                          <a:cs typeface="Arial" pitchFamily="34" charset="-120"/>
                        </a:rPr>
                        <a:t>Ads</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dirty="0">
                          <a:solidFill>
                            <a:srgbClr val="4A4A4A"/>
                          </a:solidFill>
                          <a:latin typeface="Arial" pitchFamily="34" charset="0"/>
                          <a:ea typeface="Arial" pitchFamily="34" charset="-122"/>
                          <a:cs typeface="Arial" pitchFamily="34" charset="-120"/>
                        </a:rPr>
                        <a:t>Load Ad A (Trust and Inspectability), Ad B (Accountability and Control) and the video. Same format, offer and landing page. Button: Learn More.</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dirty="0">
                          <a:solidFill>
                            <a:srgbClr val="4A4A4A"/>
                          </a:solidFill>
                          <a:latin typeface="Arial" pitchFamily="34" charset="0"/>
                          <a:ea typeface="Arial" pitchFamily="34" charset="-122"/>
                          <a:cs typeface="Arial" pitchFamily="34" charset="-120"/>
                        </a:rPr>
                        <a:t>LinkedIn has approved all three ads.</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322072">
                <a:tc>
                  <a:txBody>
                    <a:bodyPr/>
                    <a:lstStyle/>
                    <a:p>
                      <a:pPr indent="0" marL="0">
                        <a:buNone/>
                      </a:pPr>
                      <a:r>
                        <a:rPr lang="en-US" sz="800" b="1" dirty="0">
                          <a:solidFill>
                            <a:srgbClr val="3056C9"/>
                          </a:solidFill>
                          <a:latin typeface="Arial" pitchFamily="34" charset="0"/>
                          <a:ea typeface="Arial" pitchFamily="34" charset="-122"/>
                          <a:cs typeface="Arial" pitchFamily="34" charset="-120"/>
                        </a:rPr>
                        <a:t>UTMs</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800" dirty="0">
                          <a:solidFill>
                            <a:srgbClr val="4A4A4A"/>
                          </a:solidFill>
                          <a:latin typeface="Arial" pitchFamily="34" charset="0"/>
                          <a:ea typeface="Arial" pitchFamily="34" charset="-122"/>
                          <a:cs typeface="Arial" pitchFamily="34" charset="-120"/>
                        </a:rPr>
                        <a:t>linkedin, paid_social, voicescore_insurance_q4. Content: trust_inspectability or accountability_control.</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800" dirty="0">
                          <a:solidFill>
                            <a:srgbClr val="4A4A4A"/>
                          </a:solidFill>
                          <a:latin typeface="Arial" pitchFamily="34" charset="0"/>
                          <a:ea typeface="Arial" pitchFamily="34" charset="-122"/>
                          <a:cs typeface="Arial" pitchFamily="34" charset="-120"/>
                        </a:rPr>
                        <a:t>Every ad carries UTMs.</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r h="322072">
                <a:tc>
                  <a:txBody>
                    <a:bodyPr/>
                    <a:lstStyle/>
                    <a:p>
                      <a:pPr indent="0" marL="0">
                        <a:buNone/>
                      </a:pPr>
                      <a:r>
                        <a:rPr lang="en-US" sz="800" b="1" dirty="0">
                          <a:solidFill>
                            <a:srgbClr val="3056C9"/>
                          </a:solidFill>
                          <a:latin typeface="Arial" pitchFamily="34" charset="0"/>
                          <a:ea typeface="Arial" pitchFamily="34" charset="-122"/>
                          <a:cs typeface="Arial" pitchFamily="34" charset="-120"/>
                        </a:rPr>
                        <a:t>Bidding</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dirty="0">
                          <a:solidFill>
                            <a:srgbClr val="4A4A4A"/>
                          </a:solidFill>
                          <a:latin typeface="Arial" pitchFamily="34" charset="0"/>
                          <a:ea typeface="Arial" pitchFamily="34" charset="-122"/>
                          <a:cs typeface="Arial" pitchFamily="34" charset="-120"/>
                        </a:rPr>
                        <a:t>Agree the bid strategy with Octavio. In August, Ops-NA paid 1.5 to 2 times LinkedIn's own CPM and CPC forecast.</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dirty="0">
                          <a:solidFill>
                            <a:srgbClr val="4A4A4A"/>
                          </a:solidFill>
                          <a:latin typeface="Arial" pitchFamily="34" charset="0"/>
                          <a:ea typeface="Arial" pitchFamily="34" charset="-122"/>
                          <a:cs typeface="Arial" pitchFamily="34" charset="-120"/>
                        </a:rPr>
                        <a:t>You and Octavio agree on a strategy.</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322072">
                <a:tc>
                  <a:txBody>
                    <a:bodyPr/>
                    <a:lstStyle/>
                    <a:p>
                      <a:pPr indent="0" marL="0">
                        <a:buNone/>
                      </a:pPr>
                      <a:r>
                        <a:rPr lang="en-US" sz="800" b="1" dirty="0">
                          <a:solidFill>
                            <a:srgbClr val="3056C9"/>
                          </a:solidFill>
                          <a:latin typeface="Arial" pitchFamily="34" charset="0"/>
                          <a:ea typeface="Arial" pitchFamily="34" charset="-122"/>
                          <a:cs typeface="Arial" pitchFamily="34" charset="-120"/>
                        </a:rPr>
                        <a:t>Remarketing audiences</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800" dirty="0">
                          <a:solidFill>
                            <a:srgbClr val="4A4A4A"/>
                          </a:solidFill>
                          <a:latin typeface="Arial" pitchFamily="34" charset="0"/>
                          <a:ea typeface="Arial" pitchFamily="34" charset="-122"/>
                          <a:cs typeface="Arial" pitchFamily="34" charset="-120"/>
                        </a:rPr>
                        <a:t>Create website visitor and video viewer audiences at launch so they grow from day one.</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800" dirty="0">
                          <a:solidFill>
                            <a:srgbClr val="4A4A4A"/>
                          </a:solidFill>
                          <a:latin typeface="Arial" pitchFamily="34" charset="0"/>
                          <a:ea typeface="Arial" pitchFamily="34" charset="-122"/>
                          <a:cs typeface="Arial" pitchFamily="34" charset="-120"/>
                        </a:rPr>
                        <a:t>Both audiences exist in Campaign Manager.</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bl>
          </a:graphicData>
        </a:graphic>
      </p:graphicFrame>
      <p:sp>
        <p:nvSpPr>
          <p:cNvPr id="7" name="Shape 3"/>
          <p:cNvSpPr/>
          <p:nvPr/>
        </p:nvSpPr>
        <p:spPr>
          <a:xfrm>
            <a:off x="457200" y="4370832"/>
            <a:ext cx="8229600" cy="310896"/>
          </a:xfrm>
          <a:prstGeom prst="rect">
            <a:avLst/>
          </a:prstGeom>
          <a:solidFill>
            <a:srgbClr val="3056C9"/>
          </a:solidFill>
          <a:ln/>
        </p:spPr>
      </p:sp>
      <p:sp>
        <p:nvSpPr>
          <p:cNvPr id="8" name="Text 4"/>
          <p:cNvSpPr/>
          <p:nvPr/>
        </p:nvSpPr>
        <p:spPr>
          <a:xfrm>
            <a:off x="640080" y="4370832"/>
            <a:ext cx="7863840" cy="310896"/>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Remarketing has $3,000 a month and no plan yet. Agree with Lawrence what runs until audiences pass 300 members.</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949440" y="146304"/>
            <a:ext cx="1737360" cy="182880"/>
          </a:xfrm>
          <a:prstGeom prst="rect">
            <a:avLst/>
          </a:prstGeom>
          <a:noFill/>
          <a:ln/>
        </p:spPr>
        <p:txBody>
          <a:bodyPr wrap="square" lIns="0" tIns="0" rIns="0" bIns="0" rtlCol="0" anchor="t"/>
          <a:lstStyle/>
          <a:p>
            <a:pPr algn="r" indent="0" marL="0">
              <a:buNone/>
            </a:pPr>
            <a:r>
              <a:rPr lang="en-US" sz="800" dirty="0">
                <a:solidFill>
                  <a:srgbClr val="9AA0A8"/>
                </a:solidFill>
                <a:latin typeface="Arial" pitchFamily="34" charset="0"/>
                <a:ea typeface="Arial" pitchFamily="34" charset="-122"/>
                <a:cs typeface="Arial" pitchFamily="34" charset="-120"/>
              </a:rPr>
              <a:t>[ toggle.solutions ]</a:t>
            </a:r>
            <a:endParaRPr lang="en-US" sz="800" dirty="0"/>
          </a:p>
        </p:txBody>
      </p:sp>
      <p:sp>
        <p:nvSpPr>
          <p:cNvPr id="3" name="Text 1"/>
          <p:cNvSpPr/>
          <p:nvPr/>
        </p:nvSpPr>
        <p:spPr>
          <a:xfrm>
            <a:off x="457200" y="329184"/>
            <a:ext cx="8229600" cy="384048"/>
          </a:xfrm>
          <a:prstGeom prst="rect">
            <a:avLst/>
          </a:prstGeom>
          <a:noFill/>
          <a:ln/>
        </p:spPr>
        <p:txBody>
          <a:bodyPr wrap="square" lIns="0" tIns="0" rIns="0" bIns="0" rtlCol="0" anchor="t"/>
          <a:lstStyle/>
          <a:p>
            <a:pPr indent="0" marL="0">
              <a:buNone/>
            </a:pPr>
            <a:r>
              <a:rPr lang="en-US" sz="2150" b="1" dirty="0">
                <a:solidFill>
                  <a:srgbClr val="4A7BF7"/>
                </a:solidFill>
                <a:latin typeface="Arial" pitchFamily="34" charset="0"/>
                <a:ea typeface="Arial" pitchFamily="34" charset="-122"/>
                <a:cs typeface="Arial" pitchFamily="34" charset="-120"/>
              </a:rPr>
              <a:t>LinkedIn 2: what to check</a:t>
            </a:r>
            <a:endParaRPr lang="en-US" sz="2150" dirty="0"/>
          </a:p>
        </p:txBody>
      </p:sp>
      <p:sp>
        <p:nvSpPr>
          <p:cNvPr id="4" name="Text 2"/>
          <p:cNvSpPr/>
          <p:nvPr/>
        </p:nvSpPr>
        <p:spPr>
          <a:xfrm>
            <a:off x="457200" y="749808"/>
            <a:ext cx="8229600" cy="274320"/>
          </a:xfrm>
          <a:prstGeom prst="rect">
            <a:avLst/>
          </a:prstGeom>
          <a:noFill/>
          <a:ln/>
        </p:spPr>
        <p:txBody>
          <a:bodyPr wrap="square" lIns="0" tIns="0" rIns="0" bIns="0" rtlCol="0" anchor="t"/>
          <a:lstStyle/>
          <a:p>
            <a:pPr indent="0" marL="0">
              <a:buNone/>
            </a:pPr>
            <a:r>
              <a:rPr lang="en-US" sz="1050" dirty="0">
                <a:solidFill>
                  <a:srgbClr val="4A4A4A"/>
                </a:solidFill>
                <a:latin typeface="Arial" pitchFamily="34" charset="0"/>
                <a:ea typeface="Arial" pitchFamily="34" charset="-122"/>
                <a:cs typeface="Arial" pitchFamily="34" charset="-120"/>
              </a:rPr>
              <a:t>Expect few conversions in the first two weeks. Read the angles on engagement first.</a:t>
            </a:r>
            <a:endParaRPr lang="en-US" sz="10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280160"/>
                <a:gridCol w="3108960"/>
                <a:gridCol w="3840480"/>
              </a:tblGrid>
              <a:tr h="256032">
                <a:tc>
                  <a:txBody>
                    <a:bodyPr/>
                    <a:lstStyle/>
                    <a:p>
                      <a:pPr indent="0" marL="0">
                        <a:buNone/>
                      </a:pPr>
                      <a:r>
                        <a:rPr lang="en-US" sz="900" b="1" dirty="0">
                          <a:solidFill>
                            <a:srgbClr val="FFFFFF"/>
                          </a:solidFill>
                          <a:latin typeface="Arial" pitchFamily="34" charset="0"/>
                          <a:ea typeface="Arial" pitchFamily="34" charset="-122"/>
                          <a:cs typeface="Arial" pitchFamily="34" charset="-120"/>
                        </a:rPr>
                        <a:t>How often</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Check</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Action if it fails</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r>
              <a:tr h="352044">
                <a:tc>
                  <a:txBody>
                    <a:bodyPr/>
                    <a:lstStyle/>
                    <a:p>
                      <a:pPr indent="0" marL="0">
                        <a:buNone/>
                      </a:pPr>
                      <a:r>
                        <a:rPr lang="en-US" sz="900" b="1" dirty="0">
                          <a:solidFill>
                            <a:srgbClr val="3056C9"/>
                          </a:solidFill>
                          <a:latin typeface="Arial" pitchFamily="34" charset="0"/>
                          <a:ea typeface="Arial" pitchFamily="34" charset="-122"/>
                          <a:cs typeface="Arial" pitchFamily="34" charset="-120"/>
                        </a:rPr>
                        <a:t>Daily, week 1</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Delivery and spend against $131.58 a day for prospecting</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Fix any campaign that is not spending.</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219456">
                <a:tc>
                  <a:txBody>
                    <a:bodyPr/>
                    <a:lstStyle/>
                    <a:p>
                      <a:pPr indent="0" marL="0">
                        <a:buNone/>
                      </a:pPr>
                      <a:r>
                        <a:rPr lang="en-US" sz="900" b="1" dirty="0">
                          <a:solidFill>
                            <a:srgbClr val="3056C9"/>
                          </a:solidFill>
                          <a:latin typeface="Arial" pitchFamily="34" charset="0"/>
                          <a:ea typeface="Arial" pitchFamily="34" charset="-122"/>
                          <a:cs typeface="Arial" pitchFamily="34" charset="-120"/>
                        </a:rPr>
                        <a:t>Daily, week 1</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Ad approval status</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Fix rejections the same day.</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r h="352044">
                <a:tc>
                  <a:txBody>
                    <a:bodyPr/>
                    <a:lstStyle/>
                    <a:p>
                      <a:pPr indent="0" marL="0">
                        <a:buNone/>
                      </a:pPr>
                      <a:r>
                        <a:rPr lang="en-US" sz="900" b="1" dirty="0">
                          <a:solidFill>
                            <a:srgbClr val="3056C9"/>
                          </a:solidFill>
                          <a:latin typeface="Arial" pitchFamily="34" charset="0"/>
                          <a:ea typeface="Arial" pitchFamily="34" charset="-122"/>
                          <a:cs typeface="Arial" pitchFamily="34" charset="-120"/>
                        </a:rPr>
                        <a:t>Weekly</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Demographics: seniority, function, location and company</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Exclude anything outside the plan. In August, Canada took 42.1% of impressions and entry level took 19.0%.</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352044">
                <a:tc>
                  <a:txBody>
                    <a:bodyPr/>
                    <a:lstStyle/>
                    <a:p>
                      <a:pPr indent="0" marL="0">
                        <a:buNone/>
                      </a:pPr>
                      <a:r>
                        <a:rPr lang="en-US" sz="900" b="1" dirty="0">
                          <a:solidFill>
                            <a:srgbClr val="3056C9"/>
                          </a:solidFill>
                          <a:latin typeface="Arial" pitchFamily="34" charset="0"/>
                          <a:ea typeface="Arial" pitchFamily="34" charset="-122"/>
                          <a:cs typeface="Arial" pitchFamily="34" charset="-120"/>
                        </a:rPr>
                        <a:t>Weekly</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CTR and CPC by ad</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Compare Ad A and Ad B after two weeks. Do not call a winner earlier.</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r h="219456">
                <a:tc>
                  <a:txBody>
                    <a:bodyPr/>
                    <a:lstStyle/>
                    <a:p>
                      <a:pPr indent="0" marL="0">
                        <a:buNone/>
                      </a:pPr>
                      <a:r>
                        <a:rPr lang="en-US" sz="900" b="1" dirty="0">
                          <a:solidFill>
                            <a:srgbClr val="3056C9"/>
                          </a:solidFill>
                          <a:latin typeface="Arial" pitchFamily="34" charset="0"/>
                          <a:ea typeface="Arial" pitchFamily="34" charset="-122"/>
                          <a:cs typeface="Arial" pitchFamily="34" charset="-120"/>
                        </a:rPr>
                        <a:t>Weekly</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Frequency on the target account campaign</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Raise it with Octavio if it climbs, since the list is small.</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352044">
                <a:tc>
                  <a:txBody>
                    <a:bodyPr/>
                    <a:lstStyle/>
                    <a:p>
                      <a:pPr indent="0" marL="0">
                        <a:buNone/>
                      </a:pPr>
                      <a:r>
                        <a:rPr lang="en-US" sz="900" b="1" dirty="0">
                          <a:solidFill>
                            <a:srgbClr val="3056C9"/>
                          </a:solidFill>
                          <a:latin typeface="Arial" pitchFamily="34" charset="0"/>
                          <a:ea typeface="Arial" pitchFamily="34" charset="-122"/>
                          <a:cs typeface="Arial" pitchFamily="34" charset="-120"/>
                        </a:rPr>
                        <a:t>Weekly</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Video view rates</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Check where viewers drop off. In August, the TechBuyer video lost 75% to 80% of viewers before 25%.</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r h="219456">
                <a:tc>
                  <a:txBody>
                    <a:bodyPr/>
                    <a:lstStyle/>
                    <a:p>
                      <a:pPr indent="0" marL="0">
                        <a:buNone/>
                      </a:pPr>
                      <a:r>
                        <a:rPr lang="en-US" sz="900" b="1" dirty="0">
                          <a:solidFill>
                            <a:srgbClr val="3056C9"/>
                          </a:solidFill>
                          <a:latin typeface="Arial" pitchFamily="34" charset="0"/>
                          <a:ea typeface="Arial" pitchFamily="34" charset="-122"/>
                          <a:cs typeface="Arial" pitchFamily="34" charset="-120"/>
                        </a:rPr>
                        <a:t>Weekly</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Remarketing audience sizes</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Launch remarketing once audiences pass 300 members.</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219456">
                <a:tc>
                  <a:txBody>
                    <a:bodyPr/>
                    <a:lstStyle/>
                    <a:p>
                      <a:pPr indent="0" marL="0">
                        <a:buNone/>
                      </a:pPr>
                      <a:r>
                        <a:rPr lang="en-US" sz="900" b="1" dirty="0">
                          <a:solidFill>
                            <a:srgbClr val="3056C9"/>
                          </a:solidFill>
                          <a:latin typeface="Arial" pitchFamily="34" charset="0"/>
                          <a:ea typeface="Arial" pitchFamily="34" charset="-122"/>
                          <a:cs typeface="Arial" pitchFamily="34" charset="-120"/>
                        </a:rPr>
                        <a:t>Weekly</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Evaluation requests and meetings from LinkedIn</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Match them against HubSpot.</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bl>
          </a:graphicData>
        </a:graphic>
      </p:graphicFrame>
      <p:sp>
        <p:nvSpPr>
          <p:cNvPr id="7" name="Shape 3"/>
          <p:cNvSpPr/>
          <p:nvPr/>
        </p:nvSpPr>
        <p:spPr>
          <a:xfrm>
            <a:off x="457200" y="4370832"/>
            <a:ext cx="8229600" cy="310896"/>
          </a:xfrm>
          <a:prstGeom prst="rect">
            <a:avLst/>
          </a:prstGeom>
          <a:solidFill>
            <a:srgbClr val="3056C9"/>
          </a:solidFill>
          <a:ln/>
        </p:spPr>
      </p:sp>
      <p:sp>
        <p:nvSpPr>
          <p:cNvPr id="8" name="Text 4"/>
          <p:cNvSpPr/>
          <p:nvPr/>
        </p:nvSpPr>
        <p:spPr>
          <a:xfrm>
            <a:off x="640080" y="4370832"/>
            <a:ext cx="7863840" cy="310896"/>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Ad A: Can Your QA Team See Why?  |  Ad B: One QA Standard for Human + AI Calls</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949440" y="146304"/>
            <a:ext cx="1737360" cy="182880"/>
          </a:xfrm>
          <a:prstGeom prst="rect">
            <a:avLst/>
          </a:prstGeom>
          <a:noFill/>
          <a:ln/>
        </p:spPr>
        <p:txBody>
          <a:bodyPr wrap="square" lIns="0" tIns="0" rIns="0" bIns="0" rtlCol="0" anchor="t"/>
          <a:lstStyle/>
          <a:p>
            <a:pPr algn="r" indent="0" marL="0">
              <a:buNone/>
            </a:pPr>
            <a:r>
              <a:rPr lang="en-US" sz="800" dirty="0">
                <a:solidFill>
                  <a:srgbClr val="9AA0A8"/>
                </a:solidFill>
                <a:latin typeface="Arial" pitchFamily="34" charset="0"/>
                <a:ea typeface="Arial" pitchFamily="34" charset="-122"/>
                <a:cs typeface="Arial" pitchFamily="34" charset="-120"/>
              </a:rPr>
              <a:t>[ toggle.solutions ]</a:t>
            </a:r>
            <a:endParaRPr lang="en-US" sz="800" dirty="0"/>
          </a:p>
        </p:txBody>
      </p:sp>
      <p:sp>
        <p:nvSpPr>
          <p:cNvPr id="3" name="Text 1"/>
          <p:cNvSpPr/>
          <p:nvPr/>
        </p:nvSpPr>
        <p:spPr>
          <a:xfrm>
            <a:off x="457200" y="329184"/>
            <a:ext cx="8229600" cy="384048"/>
          </a:xfrm>
          <a:prstGeom prst="rect">
            <a:avLst/>
          </a:prstGeom>
          <a:noFill/>
          <a:ln/>
        </p:spPr>
        <p:txBody>
          <a:bodyPr wrap="square" lIns="0" tIns="0" rIns="0" bIns="0" rtlCol="0" anchor="t"/>
          <a:lstStyle/>
          <a:p>
            <a:pPr indent="0" marL="0">
              <a:buNone/>
            </a:pPr>
            <a:r>
              <a:rPr lang="en-US" sz="2150" b="1" dirty="0">
                <a:solidFill>
                  <a:srgbClr val="4A7BF7"/>
                </a:solidFill>
                <a:latin typeface="Arial" pitchFamily="34" charset="0"/>
                <a:ea typeface="Arial" pitchFamily="34" charset="-122"/>
                <a:cs typeface="Arial" pitchFamily="34" charset="-120"/>
              </a:rPr>
              <a:t>Reporting and dashboard</a:t>
            </a:r>
            <a:endParaRPr lang="en-US" sz="2150" dirty="0"/>
          </a:p>
        </p:txBody>
      </p:sp>
      <p:sp>
        <p:nvSpPr>
          <p:cNvPr id="4" name="Text 2"/>
          <p:cNvSpPr/>
          <p:nvPr/>
        </p:nvSpPr>
        <p:spPr>
          <a:xfrm>
            <a:off x="457200" y="749808"/>
            <a:ext cx="8229600" cy="274320"/>
          </a:xfrm>
          <a:prstGeom prst="rect">
            <a:avLst/>
          </a:prstGeom>
          <a:noFill/>
          <a:ln/>
        </p:spPr>
        <p:txBody>
          <a:bodyPr wrap="square" lIns="0" tIns="0" rIns="0" bIns="0" rtlCol="0" anchor="t"/>
          <a:lstStyle/>
          <a:p>
            <a:pPr indent="0" marL="0">
              <a:buNone/>
            </a:pPr>
            <a:r>
              <a:rPr lang="en-US" sz="1050" dirty="0">
                <a:solidFill>
                  <a:srgbClr val="4A4A4A"/>
                </a:solidFill>
                <a:latin typeface="Arial" pitchFamily="34" charset="0"/>
                <a:ea typeface="Arial" pitchFamily="34" charset="-122"/>
                <a:cs typeface="Arial" pitchFamily="34" charset="-120"/>
              </a:rPr>
              <a:t>Kuota reports on the whole motion. You report on the channels and keep the dashboard.</a:t>
            </a:r>
            <a:endParaRPr lang="en-US" sz="10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011680"/>
                <a:gridCol w="4754880"/>
                <a:gridCol w="1463040"/>
              </a:tblGrid>
              <a:tr h="256032">
                <a:tc>
                  <a:txBody>
                    <a:bodyPr/>
                    <a:lstStyle/>
                    <a:p>
                      <a:pPr indent="0" marL="0">
                        <a:buNone/>
                      </a:pPr>
                      <a:r>
                        <a:rPr lang="en-US" sz="900" b="1" dirty="0">
                          <a:solidFill>
                            <a:srgbClr val="FFFFFF"/>
                          </a:solidFill>
                          <a:latin typeface="Arial" pitchFamily="34" charset="0"/>
                          <a:ea typeface="Arial" pitchFamily="34" charset="-122"/>
                          <a:cs typeface="Arial" pitchFamily="34" charset="-120"/>
                        </a:rPr>
                        <a:t>Report</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What goes in it</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Owner</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r>
              <a:tr h="352044">
                <a:tc>
                  <a:txBody>
                    <a:bodyPr/>
                    <a:lstStyle/>
                    <a:p>
                      <a:pPr indent="0" marL="0">
                        <a:buNone/>
                      </a:pPr>
                      <a:r>
                        <a:rPr lang="en-US" sz="900" b="1" dirty="0">
                          <a:solidFill>
                            <a:srgbClr val="3056C9"/>
                          </a:solidFill>
                          <a:latin typeface="Arial" pitchFamily="34" charset="0"/>
                          <a:ea typeface="Arial" pitchFamily="34" charset="-122"/>
                          <a:cs typeface="Arial" pitchFamily="34" charset="-120"/>
                        </a:rPr>
                        <a:t>Weekly pulse</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Spend and pacing, new evaluation requests, meetings, and anything broken. Bring it to the Thursday sync.</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You</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352044">
                <a:tc>
                  <a:txBody>
                    <a:bodyPr/>
                    <a:lstStyle/>
                    <a:p>
                      <a:pPr indent="0" marL="0">
                        <a:buNone/>
                      </a:pPr>
                      <a:r>
                        <a:rPr lang="en-US" sz="900" b="1" dirty="0">
                          <a:solidFill>
                            <a:srgbClr val="3056C9"/>
                          </a:solidFill>
                          <a:latin typeface="Arial" pitchFamily="34" charset="0"/>
                          <a:ea typeface="Arial" pitchFamily="34" charset="-122"/>
                          <a:cs typeface="Arial" pitchFamily="34" charset="-120"/>
                        </a:rPr>
                        <a:t>Monthly channel report</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Spend, results and changes per channel, with next steps. It feeds Kuota's monthly review.</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You</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r h="352044">
                <a:tc>
                  <a:txBody>
                    <a:bodyPr/>
                    <a:lstStyle/>
                    <a:p>
                      <a:pPr indent="0" marL="0">
                        <a:buNone/>
                      </a:pPr>
                      <a:r>
                        <a:rPr lang="en-US" sz="900" b="1" dirty="0">
                          <a:solidFill>
                            <a:srgbClr val="3056C9"/>
                          </a:solidFill>
                          <a:latin typeface="Arial" pitchFamily="34" charset="0"/>
                          <a:ea typeface="Arial" pitchFamily="34" charset="-122"/>
                          <a:cs typeface="Arial" pitchFamily="34" charset="-120"/>
                        </a:rPr>
                        <a:t>Monthly GTM motion review</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Motion status, outcomes, target account health, the account funnel, channel contribution and next actions.</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Kuota</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219456">
                <a:tc>
                  <a:txBody>
                    <a:bodyPr/>
                    <a:lstStyle/>
                    <a:p>
                      <a:pPr indent="0" marL="0">
                        <a:buNone/>
                      </a:pPr>
                      <a:r>
                        <a:rPr lang="en-US" sz="900" b="1" dirty="0">
                          <a:solidFill>
                            <a:srgbClr val="3056C9"/>
                          </a:solidFill>
                          <a:latin typeface="Arial" pitchFamily="34" charset="0"/>
                          <a:ea typeface="Arial" pitchFamily="34" charset="-122"/>
                          <a:cs typeface="Arial" pitchFamily="34" charset="-120"/>
                        </a:rPr>
                        <a:t>Looker Studio dashboard</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A live view of Google Ads, LinkedIn and GA4 results against the plan.</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You</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r h="352044">
                <a:tc>
                  <a:txBody>
                    <a:bodyPr/>
                    <a:lstStyle/>
                    <a:p>
                      <a:pPr indent="0" marL="0">
                        <a:buNone/>
                      </a:pPr>
                      <a:r>
                        <a:rPr lang="en-US" sz="900" b="1" dirty="0">
                          <a:solidFill>
                            <a:srgbClr val="3056C9"/>
                          </a:solidFill>
                          <a:latin typeface="Arial" pitchFamily="34" charset="0"/>
                          <a:ea typeface="Arial" pitchFamily="34" charset="-122"/>
                          <a:cs typeface="Arial" pitchFamily="34" charset="-120"/>
                        </a:rPr>
                        <a:t>Quarterly review</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It decides whether the insurance vertical deserves more budget.</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Kuota, with your channel input</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352044">
                <a:tc>
                  <a:txBody>
                    <a:bodyPr/>
                    <a:lstStyle/>
                    <a:p>
                      <a:pPr indent="0" marL="0">
                        <a:buNone/>
                      </a:pPr>
                      <a:r>
                        <a:rPr lang="en-US" sz="900" b="1" dirty="0">
                          <a:solidFill>
                            <a:srgbClr val="3056C9"/>
                          </a:solidFill>
                          <a:latin typeface="Arial" pitchFamily="34" charset="0"/>
                          <a:ea typeface="Arial" pitchFamily="34" charset="-122"/>
                          <a:cs typeface="Arial" pitchFamily="34" charset="-120"/>
                        </a:rPr>
                        <a:t>Measurement definitions</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Reached, Engaged and Qualified Evaluation are still provisional. You are named on what counts as Reached.</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Kuota and VoiceRun, with you</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bl>
          </a:graphicData>
        </a:graphic>
      </p:graphicFrame>
      <p:sp>
        <p:nvSpPr>
          <p:cNvPr id="7" name="Shape 3"/>
          <p:cNvSpPr/>
          <p:nvPr/>
        </p:nvSpPr>
        <p:spPr>
          <a:xfrm>
            <a:off x="457200" y="4370832"/>
            <a:ext cx="8229600" cy="310896"/>
          </a:xfrm>
          <a:prstGeom prst="rect">
            <a:avLst/>
          </a:prstGeom>
          <a:solidFill>
            <a:srgbClr val="3056C9"/>
          </a:solidFill>
          <a:ln/>
        </p:spPr>
      </p:sp>
      <p:sp>
        <p:nvSpPr>
          <p:cNvPr id="8" name="Text 4"/>
          <p:cNvSpPr/>
          <p:nvPr/>
        </p:nvSpPr>
        <p:spPr>
          <a:xfrm>
            <a:off x="640080" y="4370832"/>
            <a:ext cx="7863840" cy="310896"/>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Kuota's rule: do not claim a channel created an opportunity unless the attribution rule supports it.</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949440" y="146304"/>
            <a:ext cx="1737360" cy="182880"/>
          </a:xfrm>
          <a:prstGeom prst="rect">
            <a:avLst/>
          </a:prstGeom>
          <a:noFill/>
          <a:ln/>
        </p:spPr>
        <p:txBody>
          <a:bodyPr wrap="square" lIns="0" tIns="0" rIns="0" bIns="0" rtlCol="0" anchor="t"/>
          <a:lstStyle/>
          <a:p>
            <a:pPr algn="r" indent="0" marL="0">
              <a:buNone/>
            </a:pPr>
            <a:r>
              <a:rPr lang="en-US" sz="800" dirty="0">
                <a:solidFill>
                  <a:srgbClr val="9AA0A8"/>
                </a:solidFill>
                <a:latin typeface="Arial" pitchFamily="34" charset="0"/>
                <a:ea typeface="Arial" pitchFamily="34" charset="-122"/>
                <a:cs typeface="Arial" pitchFamily="34" charset="-120"/>
              </a:rPr>
              <a:t>[ toggle.solutions ]</a:t>
            </a:r>
            <a:endParaRPr lang="en-US" sz="800" dirty="0"/>
          </a:p>
        </p:txBody>
      </p:sp>
      <p:sp>
        <p:nvSpPr>
          <p:cNvPr id="3" name="Text 1"/>
          <p:cNvSpPr/>
          <p:nvPr/>
        </p:nvSpPr>
        <p:spPr>
          <a:xfrm>
            <a:off x="457200" y="329184"/>
            <a:ext cx="8229600" cy="384048"/>
          </a:xfrm>
          <a:prstGeom prst="rect">
            <a:avLst/>
          </a:prstGeom>
          <a:noFill/>
          <a:ln/>
        </p:spPr>
        <p:txBody>
          <a:bodyPr wrap="square" lIns="0" tIns="0" rIns="0" bIns="0" rtlCol="0" anchor="t"/>
          <a:lstStyle/>
          <a:p>
            <a:pPr indent="0" marL="0">
              <a:buNone/>
            </a:pPr>
            <a:r>
              <a:rPr lang="en-US" sz="2150" b="1" dirty="0">
                <a:solidFill>
                  <a:srgbClr val="4A7BF7"/>
                </a:solidFill>
                <a:latin typeface="Arial" pitchFamily="34" charset="0"/>
                <a:ea typeface="Arial" pitchFamily="34" charset="-122"/>
                <a:cs typeface="Arial" pitchFamily="34" charset="-120"/>
              </a:rPr>
              <a:t>Open questions</a:t>
            </a:r>
            <a:endParaRPr lang="en-US" sz="2150" dirty="0"/>
          </a:p>
        </p:txBody>
      </p:sp>
      <p:sp>
        <p:nvSpPr>
          <p:cNvPr id="4" name="Text 2"/>
          <p:cNvSpPr/>
          <p:nvPr/>
        </p:nvSpPr>
        <p:spPr>
          <a:xfrm>
            <a:off x="457200" y="749808"/>
            <a:ext cx="8229600" cy="274320"/>
          </a:xfrm>
          <a:prstGeom prst="rect">
            <a:avLst/>
          </a:prstGeom>
          <a:noFill/>
          <a:ln/>
        </p:spPr>
        <p:txBody>
          <a:bodyPr wrap="square" lIns="0" tIns="0" rIns="0" bIns="0" rtlCol="0" anchor="t"/>
          <a:lstStyle/>
          <a:p>
            <a:pPr indent="0" marL="0">
              <a:buNone/>
            </a:pPr>
            <a:r>
              <a:rPr lang="en-US" sz="1050" dirty="0">
                <a:solidFill>
                  <a:srgbClr val="4A4A4A"/>
                </a:solidFill>
                <a:latin typeface="Arial" pitchFamily="34" charset="0"/>
                <a:ea typeface="Arial" pitchFamily="34" charset="-122"/>
                <a:cs typeface="Arial" pitchFamily="34" charset="-120"/>
              </a:rPr>
              <a:t>Bring the open rows to each Thursday sync until they close.</a:t>
            </a:r>
            <a:endParaRPr lang="en-US" sz="10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365760"/>
                <a:gridCol w="4206240"/>
                <a:gridCol w="1097280"/>
                <a:gridCol w="2560320"/>
              </a:tblGrid>
              <a:tr h="256032">
                <a:tc>
                  <a:txBody>
                    <a:bodyPr/>
                    <a:lstStyle/>
                    <a:p>
                      <a:pPr indent="0" marL="0">
                        <a:buNone/>
                      </a:pPr>
                      <a:r>
                        <a:rPr lang="en-US" sz="800" b="1" dirty="0">
                          <a:solidFill>
                            <a:srgbClr val="FFFFFF"/>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800" b="1" dirty="0">
                          <a:solidFill>
                            <a:srgbClr val="FFFFFF"/>
                          </a:solidFill>
                          <a:latin typeface="Arial" pitchFamily="34" charset="0"/>
                          <a:ea typeface="Arial" pitchFamily="34" charset="-122"/>
                          <a:cs typeface="Arial" pitchFamily="34" charset="-120"/>
                        </a:rPr>
                        <a:t>Question</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800" b="1" dirty="0">
                          <a:solidFill>
                            <a:srgbClr val="FFFFFF"/>
                          </a:solidFill>
                          <a:latin typeface="Arial" pitchFamily="34" charset="0"/>
                          <a:ea typeface="Arial" pitchFamily="34" charset="-122"/>
                          <a:cs typeface="Arial" pitchFamily="34" charset="-120"/>
                        </a:rPr>
                        <a:t>Status</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800" b="1" dirty="0">
                          <a:solidFill>
                            <a:srgbClr val="FFFFFF"/>
                          </a:solidFill>
                          <a:latin typeface="Arial" pitchFamily="34" charset="0"/>
                          <a:ea typeface="Arial" pitchFamily="34" charset="-122"/>
                          <a:cs typeface="Arial" pitchFamily="34" charset="-120"/>
                        </a:rPr>
                        <a:t>Remark</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r>
              <a:tr h="219456">
                <a:tc>
                  <a:txBody>
                    <a:bodyPr/>
                    <a:lstStyle/>
                    <a:p>
                      <a:pPr indent="0" marL="0">
                        <a:buNone/>
                      </a:pPr>
                      <a:r>
                        <a:rPr lang="en-US" sz="800" dirty="0">
                          <a:solidFill>
                            <a:srgbClr val="4A4A4A"/>
                          </a:solidFill>
                          <a:latin typeface="Arial" pitchFamily="34" charset="0"/>
                          <a:ea typeface="Arial" pitchFamily="34" charset="-122"/>
                          <a:cs typeface="Arial" pitchFamily="34" charset="-120"/>
                        </a:rPr>
                        <a:t>1</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dirty="0">
                          <a:solidFill>
                            <a:srgbClr val="4A4A4A"/>
                          </a:solidFill>
                          <a:latin typeface="Arial" pitchFamily="34" charset="0"/>
                          <a:ea typeface="Arial" pitchFamily="34" charset="-122"/>
                          <a:cs typeface="Arial" pitchFamily="34" charset="-120"/>
                        </a:rPr>
                        <a:t>Are the $300 brand and $1,500 non-brand campaigns ours too?</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dirty="0">
                          <a:solidFill>
                            <a:srgbClr val="4A4A4A"/>
                          </a:solidFill>
                          <a:latin typeface="Arial" pitchFamily="34" charset="0"/>
                          <a:ea typeface="Arial" pitchFamily="34" charset="-122"/>
                          <a:cs typeface="Arial" pitchFamily="34" charset="-120"/>
                        </a:rPr>
                        <a:t>Open</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219456">
                <a:tc>
                  <a:txBody>
                    <a:bodyPr/>
                    <a:lstStyle/>
                    <a:p>
                      <a:pPr indent="0" marL="0">
                        <a:buNone/>
                      </a:pPr>
                      <a:r>
                        <a:rPr lang="en-US" sz="800" dirty="0">
                          <a:solidFill>
                            <a:srgbClr val="4A4A4A"/>
                          </a:solidFill>
                          <a:latin typeface="Arial" pitchFamily="34" charset="0"/>
                          <a:ea typeface="Arial" pitchFamily="34" charset="-122"/>
                          <a:cs typeface="Arial" pitchFamily="34" charset="-120"/>
                        </a:rPr>
                        <a:t>2</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800" dirty="0">
                          <a:solidFill>
                            <a:srgbClr val="4A4A4A"/>
                          </a:solidFill>
                          <a:latin typeface="Arial" pitchFamily="34" charset="0"/>
                          <a:ea typeface="Arial" pitchFamily="34" charset="-122"/>
                          <a:cs typeface="Arial" pitchFamily="34" charset="-120"/>
                        </a:rPr>
                        <a:t>How big is the target account list, and is it US only?</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800" dirty="0">
                          <a:solidFill>
                            <a:srgbClr val="4A4A4A"/>
                          </a:solidFill>
                          <a:latin typeface="Arial" pitchFamily="34" charset="0"/>
                          <a:ea typeface="Arial" pitchFamily="34" charset="-122"/>
                          <a:cs typeface="Arial" pitchFamily="34" charset="-120"/>
                        </a:rPr>
                        <a:t>Open</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800" dirty="0">
                          <a:solidFill>
                            <a:srgbClr val="4A4A4A"/>
                          </a:solidFill>
                          <a:latin typeface="Arial" pitchFamily="34" charset="0"/>
                          <a:ea typeface="Arial" pitchFamily="34" charset="-122"/>
                          <a:cs typeface="Arial" pitchFamily="34" charset="-120"/>
                        </a:rPr>
                        <a:t>The LinkedIn native audience is US only.</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r h="219456">
                <a:tc>
                  <a:txBody>
                    <a:bodyPr/>
                    <a:lstStyle/>
                    <a:p>
                      <a:pPr indent="0" marL="0">
                        <a:buNone/>
                      </a:pPr>
                      <a:r>
                        <a:rPr lang="en-US" sz="800" dirty="0">
                          <a:solidFill>
                            <a:srgbClr val="4A4A4A"/>
                          </a:solidFill>
                          <a:latin typeface="Arial" pitchFamily="34" charset="0"/>
                          <a:ea typeface="Arial" pitchFamily="34" charset="-122"/>
                          <a:cs typeface="Arial" pitchFamily="34" charset="-120"/>
                        </a:rPr>
                        <a:t>3</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dirty="0">
                          <a:solidFill>
                            <a:srgbClr val="4A4A4A"/>
                          </a:solidFill>
                          <a:latin typeface="Arial" pitchFamily="34" charset="0"/>
                          <a:ea typeface="Arial" pitchFamily="34" charset="-122"/>
                          <a:cs typeface="Arial" pitchFamily="34" charset="-120"/>
                        </a:rPr>
                        <a:t>What feeds remarketing in month one?</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dirty="0">
                          <a:solidFill>
                            <a:srgbClr val="4A4A4A"/>
                          </a:solidFill>
                          <a:latin typeface="Arial" pitchFamily="34" charset="0"/>
                          <a:ea typeface="Arial" pitchFamily="34" charset="-122"/>
                          <a:cs typeface="Arial" pitchFamily="34" charset="-120"/>
                        </a:rPr>
                        <a:t>Open</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dirty="0">
                          <a:solidFill>
                            <a:srgbClr val="4A4A4A"/>
                          </a:solidFill>
                          <a:latin typeface="Arial" pitchFamily="34" charset="0"/>
                          <a:ea typeface="Arial" pitchFamily="34" charset="-122"/>
                          <a:cs typeface="Arial" pitchFamily="34" charset="-120"/>
                        </a:rPr>
                        <a:t>$3,000 a month depends on it.</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219456">
                <a:tc>
                  <a:txBody>
                    <a:bodyPr/>
                    <a:lstStyle/>
                    <a:p>
                      <a:pPr indent="0" marL="0">
                        <a:buNone/>
                      </a:pPr>
                      <a:r>
                        <a:rPr lang="en-US" sz="800" dirty="0">
                          <a:solidFill>
                            <a:srgbClr val="4A4A4A"/>
                          </a:solidFill>
                          <a:latin typeface="Arial" pitchFamily="34" charset="0"/>
                          <a:ea typeface="Arial" pitchFamily="34" charset="-122"/>
                          <a:cs typeface="Arial" pitchFamily="34" charset="-120"/>
                        </a:rPr>
                        <a:t>4</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800" dirty="0">
                          <a:solidFill>
                            <a:srgbClr val="4A4A4A"/>
                          </a:solidFill>
                          <a:latin typeface="Arial" pitchFamily="34" charset="0"/>
                          <a:ea typeface="Arial" pitchFamily="34" charset="-122"/>
                          <a:cs typeface="Arial" pitchFamily="34" charset="-120"/>
                        </a:rPr>
                        <a:t>Google Ads standard access, GA4 editor, LinkedIn access.</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800" dirty="0">
                          <a:solidFill>
                            <a:srgbClr val="4A4A4A"/>
                          </a:solidFill>
                          <a:latin typeface="Arial" pitchFamily="34" charset="0"/>
                          <a:ea typeface="Arial" pitchFamily="34" charset="-122"/>
                          <a:cs typeface="Arial" pitchFamily="34" charset="-120"/>
                        </a:rPr>
                        <a:t>In progress</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800" dirty="0">
                          <a:solidFill>
                            <a:srgbClr val="4A4A4A"/>
                          </a:solidFill>
                          <a:latin typeface="Arial" pitchFamily="34" charset="0"/>
                          <a:ea typeface="Arial" pitchFamily="34" charset="-122"/>
                          <a:cs typeface="Arial" pitchFamily="34" charset="-120"/>
                        </a:rPr>
                        <a:t>GTM publish access is done.</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r h="322072">
                <a:tc>
                  <a:txBody>
                    <a:bodyPr/>
                    <a:lstStyle/>
                    <a:p>
                      <a:pPr indent="0" marL="0">
                        <a:buNone/>
                      </a:pPr>
                      <a:r>
                        <a:rPr lang="en-US" sz="800" dirty="0">
                          <a:solidFill>
                            <a:srgbClr val="4A4A4A"/>
                          </a:solidFill>
                          <a:latin typeface="Arial" pitchFamily="34" charset="0"/>
                          <a:ea typeface="Arial" pitchFamily="34" charset="-122"/>
                          <a:cs typeface="Arial" pitchFamily="34" charset="-120"/>
                        </a:rPr>
                        <a:t>5</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dirty="0">
                          <a:solidFill>
                            <a:srgbClr val="4A4A4A"/>
                          </a:solidFill>
                          <a:latin typeface="Arial" pitchFamily="34" charset="0"/>
                          <a:ea typeface="Arial" pitchFamily="34" charset="-122"/>
                          <a:cs typeface="Arial" pitchFamily="34" charset="-120"/>
                        </a:rPr>
                        <a:t>Who builds the landing page, and does paid wait for it?</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dirty="0">
                          <a:solidFill>
                            <a:srgbClr val="4A4A4A"/>
                          </a:solidFill>
                          <a:latin typeface="Arial" pitchFamily="34" charset="0"/>
                          <a:ea typeface="Arial" pitchFamily="34" charset="-122"/>
                          <a:cs typeface="Arial" pitchFamily="34" charset="-120"/>
                        </a:rPr>
                        <a:t>Answered</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dirty="0">
                          <a:solidFill>
                            <a:srgbClr val="4A4A4A"/>
                          </a:solidFill>
                          <a:latin typeface="Arial" pitchFamily="34" charset="0"/>
                          <a:ea typeface="Arial" pitchFamily="34" charset="-122"/>
                          <a:cs typeface="Arial" pitchFamily="34" charset="-120"/>
                        </a:rPr>
                        <a:t>Paid uses the existing pages. Nick gets the brief next week.</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219456">
                <a:tc>
                  <a:txBody>
                    <a:bodyPr/>
                    <a:lstStyle/>
                    <a:p>
                      <a:pPr indent="0" marL="0">
                        <a:buNone/>
                      </a:pPr>
                      <a:r>
                        <a:rPr lang="en-US" sz="800" dirty="0">
                          <a:solidFill>
                            <a:srgbClr val="4A4A4A"/>
                          </a:solidFill>
                          <a:latin typeface="Arial" pitchFamily="34" charset="0"/>
                          <a:ea typeface="Arial" pitchFamily="34" charset="-122"/>
                          <a:cs typeface="Arial" pitchFamily="34" charset="-120"/>
                        </a:rPr>
                        <a:t>6</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800" dirty="0">
                          <a:solidFill>
                            <a:srgbClr val="4A4A4A"/>
                          </a:solidFill>
                          <a:latin typeface="Arial" pitchFamily="34" charset="0"/>
                          <a:ea typeface="Arial" pitchFamily="34" charset="-122"/>
                          <a:cs typeface="Arial" pitchFamily="34" charset="-120"/>
                        </a:rPr>
                        <a:t>Is the offer a demo or a scored-calls evaluation?</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800" dirty="0">
                          <a:solidFill>
                            <a:srgbClr val="4A4A4A"/>
                          </a:solidFill>
                          <a:latin typeface="Arial" pitchFamily="34" charset="0"/>
                          <a:ea typeface="Arial" pitchFamily="34" charset="-122"/>
                          <a:cs typeface="Arial" pitchFamily="34" charset="-120"/>
                        </a:rPr>
                        <a:t>Answered</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800" dirty="0">
                          <a:solidFill>
                            <a:srgbClr val="4A4A4A"/>
                          </a:solidFill>
                          <a:latin typeface="Arial" pitchFamily="34" charset="0"/>
                          <a:ea typeface="Arial" pitchFamily="34" charset="-122"/>
                          <a:cs typeface="Arial" pitchFamily="34" charset="-120"/>
                        </a:rPr>
                        <a:t>The offer is the Free 10-Call Evaluation.</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r h="322072">
                <a:tc>
                  <a:txBody>
                    <a:bodyPr/>
                    <a:lstStyle/>
                    <a:p>
                      <a:pPr indent="0" marL="0">
                        <a:buNone/>
                      </a:pPr>
                      <a:r>
                        <a:rPr lang="en-US" sz="800" dirty="0">
                          <a:solidFill>
                            <a:srgbClr val="4A4A4A"/>
                          </a:solidFill>
                          <a:latin typeface="Arial" pitchFamily="34" charset="0"/>
                          <a:ea typeface="Arial" pitchFamily="34" charset="-122"/>
                          <a:cs typeface="Arial" pitchFamily="34" charset="-120"/>
                        </a:rPr>
                        <a:t>7</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dirty="0">
                          <a:solidFill>
                            <a:srgbClr val="4A4A4A"/>
                          </a:solidFill>
                          <a:latin typeface="Arial" pitchFamily="34" charset="0"/>
                          <a:ea typeface="Arial" pitchFamily="34" charset="-122"/>
                          <a:cs typeface="Arial" pitchFamily="34" charset="-120"/>
                        </a:rPr>
                        <a:t>Which parts of tracking does Toggle own?</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dirty="0">
                          <a:solidFill>
                            <a:srgbClr val="4A4A4A"/>
                          </a:solidFill>
                          <a:latin typeface="Arial" pitchFamily="34" charset="0"/>
                          <a:ea typeface="Arial" pitchFamily="34" charset="-122"/>
                          <a:cs typeface="Arial" pitchFamily="34" charset="-120"/>
                        </a:rPr>
                        <a:t>Partly answered</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dirty="0">
                          <a:solidFill>
                            <a:srgbClr val="4A4A4A"/>
                          </a:solidFill>
                          <a:latin typeface="Arial" pitchFamily="34" charset="0"/>
                          <a:ea typeface="Arial" pitchFamily="34" charset="-122"/>
                          <a:cs typeface="Arial" pitchFamily="34" charset="-120"/>
                        </a:rPr>
                        <a:t>You build it in GTM. Lawrence's plan still lists Kuota.</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219456">
                <a:tc>
                  <a:txBody>
                    <a:bodyPr/>
                    <a:lstStyle/>
                    <a:p>
                      <a:pPr indent="0" marL="0">
                        <a:buNone/>
                      </a:pPr>
                      <a:r>
                        <a:rPr lang="en-US" sz="800" dirty="0">
                          <a:solidFill>
                            <a:srgbClr val="4A4A4A"/>
                          </a:solidFill>
                          <a:latin typeface="Arial" pitchFamily="34" charset="0"/>
                          <a:ea typeface="Arial" pitchFamily="34" charset="-122"/>
                          <a:cs typeface="Arial" pitchFamily="34" charset="-120"/>
                        </a:rPr>
                        <a:t>8</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800" dirty="0">
                          <a:solidFill>
                            <a:srgbClr val="4A4A4A"/>
                          </a:solidFill>
                          <a:latin typeface="Arial" pitchFamily="34" charset="0"/>
                          <a:ea typeface="Arial" pitchFamily="34" charset="-122"/>
                          <a:cs typeface="Arial" pitchFamily="34" charset="-120"/>
                        </a:rPr>
                        <a:t>Can HubSpot feed the dashboard? How is credit split between outbound and ads?</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800" dirty="0">
                          <a:solidFill>
                            <a:srgbClr val="4A4A4A"/>
                          </a:solidFill>
                          <a:latin typeface="Arial" pitchFamily="34" charset="0"/>
                          <a:ea typeface="Arial" pitchFamily="34" charset="-122"/>
                          <a:cs typeface="Arial" pitchFamily="34" charset="-120"/>
                        </a:rPr>
                        <a:t>Open</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r h="219456">
                <a:tc>
                  <a:txBody>
                    <a:bodyPr/>
                    <a:lstStyle/>
                    <a:p>
                      <a:pPr indent="0" marL="0">
                        <a:buNone/>
                      </a:pPr>
                      <a:r>
                        <a:rPr lang="en-US" sz="800" dirty="0">
                          <a:solidFill>
                            <a:srgbClr val="4A4A4A"/>
                          </a:solidFill>
                          <a:latin typeface="Arial" pitchFamily="34" charset="0"/>
                          <a:ea typeface="Arial" pitchFamily="34" charset="-122"/>
                          <a:cs typeface="Arial" pitchFamily="34" charset="-120"/>
                        </a:rPr>
                        <a:t>9</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dirty="0">
                          <a:solidFill>
                            <a:srgbClr val="4A4A4A"/>
                          </a:solidFill>
                          <a:latin typeface="Arial" pitchFamily="34" charset="0"/>
                          <a:ea typeface="Arial" pitchFamily="34" charset="-122"/>
                          <a:cs typeface="Arial" pitchFamily="34" charset="-120"/>
                        </a:rPr>
                        <a:t>Broad match and AI Max, or exact and phrase first?</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dirty="0">
                          <a:solidFill>
                            <a:srgbClr val="4A4A4A"/>
                          </a:solidFill>
                          <a:latin typeface="Arial" pitchFamily="34" charset="0"/>
                          <a:ea typeface="Arial" pitchFamily="34" charset="-122"/>
                          <a:cs typeface="Arial" pitchFamily="34" charset="-120"/>
                        </a:rPr>
                        <a:t>Open</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dirty="0">
                          <a:solidFill>
                            <a:srgbClr val="4A4A4A"/>
                          </a:solidFill>
                          <a:latin typeface="Arial" pitchFamily="34" charset="0"/>
                          <a:ea typeface="Arial" pitchFamily="34" charset="-122"/>
                          <a:cs typeface="Arial" pitchFamily="34" charset="-120"/>
                        </a:rPr>
                        <a:t>The call and the media plan differ.</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219456">
                <a:tc>
                  <a:txBody>
                    <a:bodyPr/>
                    <a:lstStyle/>
                    <a:p>
                      <a:pPr indent="0" marL="0">
                        <a:buNone/>
                      </a:pPr>
                      <a:r>
                        <a:rPr lang="en-US" sz="800" dirty="0">
                          <a:solidFill>
                            <a:srgbClr val="4A4A4A"/>
                          </a:solidFill>
                          <a:latin typeface="Arial" pitchFamily="34" charset="0"/>
                          <a:ea typeface="Arial" pitchFamily="34" charset="-122"/>
                          <a:cs typeface="Arial" pitchFamily="34" charset="-120"/>
                        </a:rPr>
                        <a:t>10</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800" dirty="0">
                          <a:solidFill>
                            <a:srgbClr val="4A4A4A"/>
                          </a:solidFill>
                          <a:latin typeface="Arial" pitchFamily="34" charset="0"/>
                          <a:ea typeface="Arial" pitchFamily="34" charset="-122"/>
                          <a:cs typeface="Arial" pitchFamily="34" charset="-120"/>
                        </a:rPr>
                        <a:t>How many evaluations can VoiceRun run each week?</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800" dirty="0">
                          <a:solidFill>
                            <a:srgbClr val="4A4A4A"/>
                          </a:solidFill>
                          <a:latin typeface="Arial" pitchFamily="34" charset="0"/>
                          <a:ea typeface="Arial" pitchFamily="34" charset="-122"/>
                          <a:cs typeface="Arial" pitchFamily="34" charset="-120"/>
                        </a:rPr>
                        <a:t>Open</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800" dirty="0">
                          <a:solidFill>
                            <a:srgbClr val="4A4A4A"/>
                          </a:solidFill>
                          <a:latin typeface="Arial" pitchFamily="34" charset="0"/>
                          <a:ea typeface="Arial" pitchFamily="34" charset="-122"/>
                          <a:cs typeface="Arial" pitchFamily="34" charset="-120"/>
                        </a:rPr>
                        <a:t>Lawrence's plan marks it Decision Needed.</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r h="219456">
                <a:tc>
                  <a:txBody>
                    <a:bodyPr/>
                    <a:lstStyle/>
                    <a:p>
                      <a:pPr indent="0" marL="0">
                        <a:buNone/>
                      </a:pPr>
                      <a:r>
                        <a:rPr lang="en-US" sz="800" dirty="0">
                          <a:solidFill>
                            <a:srgbClr val="4A4A4A"/>
                          </a:solidFill>
                          <a:latin typeface="Arial" pitchFamily="34" charset="0"/>
                          <a:ea typeface="Arial" pitchFamily="34" charset="-122"/>
                          <a:cs typeface="Arial" pitchFamily="34" charset="-120"/>
                        </a:rPr>
                        <a:t>11</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dirty="0">
                          <a:solidFill>
                            <a:srgbClr val="4A4A4A"/>
                          </a:solidFill>
                          <a:latin typeface="Arial" pitchFamily="34" charset="0"/>
                          <a:ea typeface="Arial" pitchFamily="34" charset="-122"/>
                          <a:cs typeface="Arial" pitchFamily="34" charset="-120"/>
                        </a:rPr>
                        <a:t>Agency fee: USD 2,000 or USD 1,000 a month?</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dirty="0">
                          <a:solidFill>
                            <a:srgbClr val="4A4A4A"/>
                          </a:solidFill>
                          <a:latin typeface="Arial" pitchFamily="34" charset="0"/>
                          <a:ea typeface="Arial" pitchFamily="34" charset="-122"/>
                          <a:cs typeface="Arial" pitchFamily="34" charset="-120"/>
                        </a:rPr>
                        <a:t>Open</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219456">
                <a:tc>
                  <a:txBody>
                    <a:bodyPr/>
                    <a:lstStyle/>
                    <a:p>
                      <a:pPr indent="0" marL="0">
                        <a:buNone/>
                      </a:pPr>
                      <a:r>
                        <a:rPr lang="en-US" sz="800" dirty="0">
                          <a:solidFill>
                            <a:srgbClr val="4A4A4A"/>
                          </a:solidFill>
                          <a:latin typeface="Arial" pitchFamily="34" charset="0"/>
                          <a:ea typeface="Arial" pitchFamily="34" charset="-122"/>
                          <a:cs typeface="Arial" pitchFamily="34" charset="-120"/>
                        </a:rPr>
                        <a:t>12</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800" dirty="0">
                          <a:solidFill>
                            <a:srgbClr val="4A4A4A"/>
                          </a:solidFill>
                          <a:latin typeface="Arial" pitchFamily="34" charset="0"/>
                          <a:ea typeface="Arial" pitchFamily="34" charset="-122"/>
                          <a:cs typeface="Arial" pitchFamily="34" charset="-120"/>
                        </a:rPr>
                        <a:t>Link to the final creative folder.</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800" dirty="0">
                          <a:solidFill>
                            <a:srgbClr val="4A4A4A"/>
                          </a:solidFill>
                          <a:latin typeface="Arial" pitchFamily="34" charset="0"/>
                          <a:ea typeface="Arial" pitchFamily="34" charset="-122"/>
                          <a:cs typeface="Arial" pitchFamily="34" charset="-120"/>
                        </a:rPr>
                        <a:t>Open</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800" dirty="0">
                          <a:solidFill>
                            <a:srgbClr val="4A4A4A"/>
                          </a:solidFill>
                          <a:latin typeface="Arial" pitchFamily="34" charset="0"/>
                          <a:ea typeface="Arial" pitchFamily="34" charset="-122"/>
                          <a:cs typeface="Arial" pitchFamily="34" charset="-120"/>
                        </a:rPr>
                        <a:t>Ask Octavio.</a:t>
                      </a:r>
                      <a:endParaRPr lang="en-US" sz="8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bl>
          </a:graphicData>
        </a:graphic>
      </p:graphicFrame>
      <p:sp>
        <p:nvSpPr>
          <p:cNvPr id="7" name="Shape 3"/>
          <p:cNvSpPr/>
          <p:nvPr/>
        </p:nvSpPr>
        <p:spPr>
          <a:xfrm>
            <a:off x="457200" y="4370832"/>
            <a:ext cx="8229600" cy="310896"/>
          </a:xfrm>
          <a:prstGeom prst="rect">
            <a:avLst/>
          </a:prstGeom>
          <a:solidFill>
            <a:srgbClr val="3056C9"/>
          </a:solidFill>
          <a:ln/>
        </p:spPr>
      </p:sp>
      <p:sp>
        <p:nvSpPr>
          <p:cNvPr id="8" name="Text 4"/>
          <p:cNvSpPr/>
          <p:nvPr/>
        </p:nvSpPr>
        <p:spPr>
          <a:xfrm>
            <a:off x="640080" y="4370832"/>
            <a:ext cx="7863840" cy="310896"/>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Biggest risks to launch: access (4) and the remarketing plan (3)</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949440" y="146304"/>
            <a:ext cx="1737360" cy="182880"/>
          </a:xfrm>
          <a:prstGeom prst="rect">
            <a:avLst/>
          </a:prstGeom>
          <a:noFill/>
          <a:ln/>
        </p:spPr>
        <p:txBody>
          <a:bodyPr wrap="square" lIns="0" tIns="0" rIns="0" bIns="0" rtlCol="0" anchor="t"/>
          <a:lstStyle/>
          <a:p>
            <a:pPr algn="r" indent="0" marL="0">
              <a:buNone/>
            </a:pPr>
            <a:r>
              <a:rPr lang="en-US" sz="800" dirty="0">
                <a:solidFill>
                  <a:srgbClr val="9AA0A8"/>
                </a:solidFill>
                <a:latin typeface="Arial" pitchFamily="34" charset="0"/>
                <a:ea typeface="Arial" pitchFamily="34" charset="-122"/>
                <a:cs typeface="Arial" pitchFamily="34" charset="-120"/>
              </a:rPr>
              <a:t>[ toggle.solutions ]</a:t>
            </a:r>
            <a:endParaRPr lang="en-US" sz="800" dirty="0"/>
          </a:p>
        </p:txBody>
      </p:sp>
      <p:sp>
        <p:nvSpPr>
          <p:cNvPr id="3" name="Text 1"/>
          <p:cNvSpPr/>
          <p:nvPr/>
        </p:nvSpPr>
        <p:spPr>
          <a:xfrm>
            <a:off x="457200" y="329184"/>
            <a:ext cx="8229600" cy="384048"/>
          </a:xfrm>
          <a:prstGeom prst="rect">
            <a:avLst/>
          </a:prstGeom>
          <a:noFill/>
          <a:ln/>
        </p:spPr>
        <p:txBody>
          <a:bodyPr wrap="square" lIns="0" tIns="0" rIns="0" bIns="0" rtlCol="0" anchor="t"/>
          <a:lstStyle/>
          <a:p>
            <a:pPr indent="0" marL="0">
              <a:buNone/>
            </a:pPr>
            <a:r>
              <a:rPr lang="en-US" sz="2150" b="1" dirty="0">
                <a:solidFill>
                  <a:srgbClr val="4A7BF7"/>
                </a:solidFill>
                <a:latin typeface="Arial" pitchFamily="34" charset="0"/>
                <a:ea typeface="Arial" pitchFamily="34" charset="-122"/>
                <a:cs typeface="Arial" pitchFamily="34" charset="-120"/>
              </a:rPr>
              <a:t>Five weeks at a glance</a:t>
            </a:r>
            <a:endParaRPr lang="en-US" sz="2150" dirty="0"/>
          </a:p>
        </p:txBody>
      </p:sp>
      <p:sp>
        <p:nvSpPr>
          <p:cNvPr id="4" name="Text 2"/>
          <p:cNvSpPr/>
          <p:nvPr/>
        </p:nvSpPr>
        <p:spPr>
          <a:xfrm>
            <a:off x="457200" y="749808"/>
            <a:ext cx="8229600" cy="274320"/>
          </a:xfrm>
          <a:prstGeom prst="rect">
            <a:avLst/>
          </a:prstGeom>
          <a:noFill/>
          <a:ln/>
        </p:spPr>
        <p:txBody>
          <a:bodyPr wrap="square" lIns="0" tIns="0" rIns="0" bIns="0" rtlCol="0" anchor="t"/>
          <a:lstStyle/>
          <a:p>
            <a:pPr indent="0" marL="0">
              <a:buNone/>
            </a:pPr>
            <a:r>
              <a:rPr lang="en-US" sz="1050" dirty="0">
                <a:solidFill>
                  <a:srgbClr val="4A4A4A"/>
                </a:solidFill>
                <a:latin typeface="Arial" pitchFamily="34" charset="0"/>
                <a:ea typeface="Arial" pitchFamily="34" charset="-122"/>
                <a:cs typeface="Arial" pitchFamily="34" charset="-120"/>
              </a:rPr>
              <a:t>Week 1 launches. Weeks 2 and 3 settle the campaigns. Weeks 4 and 5 report and plan.</a:t>
            </a:r>
            <a:endParaRPr lang="en-US" sz="10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457200"/>
                <a:gridCol w="1371600"/>
                <a:gridCol w="3474720"/>
                <a:gridCol w="2926080"/>
              </a:tblGrid>
              <a:tr h="256032">
                <a:tc>
                  <a:txBody>
                    <a:bodyPr/>
                    <a:lstStyle/>
                    <a:p>
                      <a:pPr indent="0" marL="0">
                        <a:buNone/>
                      </a:pPr>
                      <a:r>
                        <a:rPr lang="en-US" sz="1000" b="1" dirty="0">
                          <a:solidFill>
                            <a:srgbClr val="FFFFFF"/>
                          </a:solidFill>
                          <a:latin typeface="Arial" pitchFamily="34" charset="0"/>
                          <a:ea typeface="Arial" pitchFamily="34" charset="-122"/>
                          <a:cs typeface="Arial" pitchFamily="34" charset="-120"/>
                        </a:rPr>
                        <a:t>Wk</a:t>
                      </a:r>
                      <a:endParaRPr lang="en-US" sz="10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Dates</a:t>
                      </a:r>
                      <a:endParaRPr lang="en-US" sz="10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The one job that week</a:t>
                      </a:r>
                      <a:endParaRPr lang="en-US" sz="10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Fixed date</a:t>
                      </a:r>
                      <a:endParaRPr lang="en-US" sz="10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r>
              <a:tr h="382016">
                <a:tc>
                  <a:txBody>
                    <a:bodyPr/>
                    <a:lstStyle/>
                    <a:p>
                      <a:pPr indent="0" marL="0">
                        <a:buNone/>
                      </a:pPr>
                      <a:r>
                        <a:rPr lang="en-US" sz="1000" dirty="0">
                          <a:solidFill>
                            <a:srgbClr val="4A4A4A"/>
                          </a:solidFill>
                          <a:latin typeface="Arial" pitchFamily="34" charset="0"/>
                          <a:ea typeface="Arial" pitchFamily="34" charset="-122"/>
                          <a:cs typeface="Arial" pitchFamily="34" charset="-120"/>
                        </a:rPr>
                        <a:t>1</a:t>
                      </a:r>
                      <a:endParaRPr lang="en-US" sz="10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1000" dirty="0">
                          <a:solidFill>
                            <a:srgbClr val="4A4A4A"/>
                          </a:solidFill>
                          <a:latin typeface="Arial" pitchFamily="34" charset="0"/>
                          <a:ea typeface="Arial" pitchFamily="34" charset="-122"/>
                          <a:cs typeface="Arial" pitchFamily="34" charset="-120"/>
                        </a:rPr>
                        <a:t>12 to 16 Oct</a:t>
                      </a:r>
                      <a:endParaRPr lang="en-US" sz="10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1000" dirty="0">
                          <a:solidFill>
                            <a:srgbClr val="4A4A4A"/>
                          </a:solidFill>
                          <a:latin typeface="Arial" pitchFamily="34" charset="0"/>
                          <a:ea typeface="Arial" pitchFamily="34" charset="-122"/>
                          <a:cs typeface="Arial" pitchFamily="34" charset="-120"/>
                        </a:rPr>
                        <a:t>Get access, build tracking, launch</a:t>
                      </a:r>
                      <a:endParaRPr lang="en-US" sz="10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1000" dirty="0">
                          <a:solidFill>
                            <a:srgbClr val="4A4A4A"/>
                          </a:solidFill>
                          <a:latin typeface="Arial" pitchFamily="34" charset="0"/>
                          <a:ea typeface="Arial" pitchFamily="34" charset="-122"/>
                          <a:cs typeface="Arial" pitchFamily="34" charset="-120"/>
                        </a:rPr>
                        <a:t>Sync Thu 15 Oct, 10pm MYT. Launch by Fri 16 Oct.</a:t>
                      </a:r>
                      <a:endParaRPr lang="en-US" sz="10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232156">
                <a:tc>
                  <a:txBody>
                    <a:bodyPr/>
                    <a:lstStyle/>
                    <a:p>
                      <a:pPr indent="0" marL="0">
                        <a:buNone/>
                      </a:pPr>
                      <a:r>
                        <a:rPr lang="en-US" sz="1000" dirty="0">
                          <a:solidFill>
                            <a:srgbClr val="4A4A4A"/>
                          </a:solidFill>
                          <a:latin typeface="Arial" pitchFamily="34" charset="0"/>
                          <a:ea typeface="Arial" pitchFamily="34" charset="-122"/>
                          <a:cs typeface="Arial" pitchFamily="34" charset="-120"/>
                        </a:rPr>
                        <a:t>2</a:t>
                      </a:r>
                      <a:endParaRPr lang="en-US" sz="10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1000" dirty="0">
                          <a:solidFill>
                            <a:srgbClr val="4A4A4A"/>
                          </a:solidFill>
                          <a:latin typeface="Arial" pitchFamily="34" charset="0"/>
                          <a:ea typeface="Arial" pitchFamily="34" charset="-122"/>
                          <a:cs typeface="Arial" pitchFamily="34" charset="-120"/>
                        </a:rPr>
                        <a:t>19 to 23 Oct</a:t>
                      </a:r>
                      <a:endParaRPr lang="en-US" sz="10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1000" dirty="0">
                          <a:solidFill>
                            <a:srgbClr val="4A4A4A"/>
                          </a:solidFill>
                          <a:latin typeface="Arial" pitchFamily="34" charset="0"/>
                          <a:ea typeface="Arial" pitchFamily="34" charset="-122"/>
                          <a:cs typeface="Arial" pitchFamily="34" charset="-120"/>
                        </a:rPr>
                        <a:t>Watch daily and fix what breaks</a:t>
                      </a:r>
                      <a:endParaRPr lang="en-US" sz="10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1000" dirty="0">
                          <a:solidFill>
                            <a:srgbClr val="4A4A4A"/>
                          </a:solidFill>
                          <a:latin typeface="Arial" pitchFamily="34" charset="0"/>
                          <a:ea typeface="Arial" pitchFamily="34" charset="-122"/>
                          <a:cs typeface="Arial" pitchFamily="34" charset="-120"/>
                        </a:rPr>
                        <a:t>Sync Thu 22 Oct, 10pm MYT</a:t>
                      </a:r>
                      <a:endParaRPr lang="en-US" sz="10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r h="232156">
                <a:tc>
                  <a:txBody>
                    <a:bodyPr/>
                    <a:lstStyle/>
                    <a:p>
                      <a:pPr indent="0" marL="0">
                        <a:buNone/>
                      </a:pPr>
                      <a:r>
                        <a:rPr lang="en-US" sz="1000" dirty="0">
                          <a:solidFill>
                            <a:srgbClr val="4A4A4A"/>
                          </a:solidFill>
                          <a:latin typeface="Arial" pitchFamily="34" charset="0"/>
                          <a:ea typeface="Arial" pitchFamily="34" charset="-122"/>
                          <a:cs typeface="Arial" pitchFamily="34" charset="-120"/>
                        </a:rPr>
                        <a:t>3</a:t>
                      </a:r>
                      <a:endParaRPr lang="en-US" sz="10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1000" dirty="0">
                          <a:solidFill>
                            <a:srgbClr val="4A4A4A"/>
                          </a:solidFill>
                          <a:latin typeface="Arial" pitchFamily="34" charset="0"/>
                          <a:ea typeface="Arial" pitchFamily="34" charset="-122"/>
                          <a:cs typeface="Arial" pitchFamily="34" charset="-120"/>
                        </a:rPr>
                        <a:t>26 to 30 Oct</a:t>
                      </a:r>
                      <a:endParaRPr lang="en-US" sz="10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1000" dirty="0">
                          <a:solidFill>
                            <a:srgbClr val="4A4A4A"/>
                          </a:solidFill>
                          <a:latin typeface="Arial" pitchFamily="34" charset="0"/>
                          <a:ea typeface="Arial" pitchFamily="34" charset="-122"/>
                          <a:cs typeface="Arial" pitchFamily="34" charset="-120"/>
                        </a:rPr>
                        <a:t>First optimizations and the bidding decision</a:t>
                      </a:r>
                      <a:endParaRPr lang="en-US" sz="10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1000" dirty="0">
                          <a:solidFill>
                            <a:srgbClr val="4A4A4A"/>
                          </a:solidFill>
                          <a:latin typeface="Arial" pitchFamily="34" charset="0"/>
                          <a:ea typeface="Arial" pitchFamily="34" charset="-122"/>
                          <a:cs typeface="Arial" pitchFamily="34" charset="-120"/>
                        </a:rPr>
                        <a:t>Sync Thu 29 Oct, 10pm MYT</a:t>
                      </a:r>
                      <a:endParaRPr lang="en-US" sz="10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232156">
                <a:tc>
                  <a:txBody>
                    <a:bodyPr/>
                    <a:lstStyle/>
                    <a:p>
                      <a:pPr indent="0" marL="0">
                        <a:buNone/>
                      </a:pPr>
                      <a:r>
                        <a:rPr lang="en-US" sz="1000" dirty="0">
                          <a:solidFill>
                            <a:srgbClr val="4A4A4A"/>
                          </a:solidFill>
                          <a:latin typeface="Arial" pitchFamily="34" charset="0"/>
                          <a:ea typeface="Arial" pitchFamily="34" charset="-122"/>
                          <a:cs typeface="Arial" pitchFamily="34" charset="-120"/>
                        </a:rPr>
                        <a:t>4</a:t>
                      </a:r>
                      <a:endParaRPr lang="en-US" sz="10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1000" dirty="0">
                          <a:solidFill>
                            <a:srgbClr val="4A4A4A"/>
                          </a:solidFill>
                          <a:latin typeface="Arial" pitchFamily="34" charset="0"/>
                          <a:ea typeface="Arial" pitchFamily="34" charset="-122"/>
                          <a:cs typeface="Arial" pitchFamily="34" charset="-120"/>
                        </a:rPr>
                        <a:t>2 to 6 Nov</a:t>
                      </a:r>
                      <a:endParaRPr lang="en-US" sz="10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1000" dirty="0">
                          <a:solidFill>
                            <a:srgbClr val="4A4A4A"/>
                          </a:solidFill>
                          <a:latin typeface="Arial" pitchFamily="34" charset="0"/>
                          <a:ea typeface="Arial" pitchFamily="34" charset="-122"/>
                          <a:cs typeface="Arial" pitchFamily="34" charset="-120"/>
                        </a:rPr>
                        <a:t>Close October and send the first report</a:t>
                      </a:r>
                      <a:endParaRPr lang="en-US" sz="10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1000" dirty="0">
                          <a:solidFill>
                            <a:srgbClr val="4A4A4A"/>
                          </a:solidFill>
                          <a:latin typeface="Arial" pitchFamily="34" charset="0"/>
                          <a:ea typeface="Arial" pitchFamily="34" charset="-122"/>
                          <a:cs typeface="Arial" pitchFamily="34" charset="-120"/>
                        </a:rPr>
                        <a:t>Sync Thu 5 Nov, 11pm MYT</a:t>
                      </a:r>
                      <a:endParaRPr lang="en-US" sz="10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r h="232156">
                <a:tc>
                  <a:txBody>
                    <a:bodyPr/>
                    <a:lstStyle/>
                    <a:p>
                      <a:pPr indent="0" marL="0">
                        <a:buNone/>
                      </a:pPr>
                      <a:r>
                        <a:rPr lang="en-US" sz="1000" dirty="0">
                          <a:solidFill>
                            <a:srgbClr val="4A4A4A"/>
                          </a:solidFill>
                          <a:latin typeface="Arial" pitchFamily="34" charset="0"/>
                          <a:ea typeface="Arial" pitchFamily="34" charset="-122"/>
                          <a:cs typeface="Arial" pitchFamily="34" charset="-120"/>
                        </a:rPr>
                        <a:t>5</a:t>
                      </a:r>
                      <a:endParaRPr lang="en-US" sz="10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1000" dirty="0">
                          <a:solidFill>
                            <a:srgbClr val="4A4A4A"/>
                          </a:solidFill>
                          <a:latin typeface="Arial" pitchFamily="34" charset="0"/>
                          <a:ea typeface="Arial" pitchFamily="34" charset="-122"/>
                          <a:cs typeface="Arial" pitchFamily="34" charset="-120"/>
                        </a:rPr>
                        <a:t>9 to 13 Nov</a:t>
                      </a:r>
                      <a:endParaRPr lang="en-US" sz="10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1000" dirty="0">
                          <a:solidFill>
                            <a:srgbClr val="4A4A4A"/>
                          </a:solidFill>
                          <a:latin typeface="Arial" pitchFamily="34" charset="0"/>
                          <a:ea typeface="Arial" pitchFamily="34" charset="-122"/>
                          <a:cs typeface="Arial" pitchFamily="34" charset="-120"/>
                        </a:rPr>
                        <a:t>Run the 30-day review and plan November</a:t>
                      </a:r>
                      <a:endParaRPr lang="en-US" sz="10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1000" dirty="0">
                          <a:solidFill>
                            <a:srgbClr val="4A4A4A"/>
                          </a:solidFill>
                          <a:latin typeface="Arial" pitchFamily="34" charset="0"/>
                          <a:ea typeface="Arial" pitchFamily="34" charset="-122"/>
                          <a:cs typeface="Arial" pitchFamily="34" charset="-120"/>
                        </a:rPr>
                        <a:t>Sync Thu 12 Nov, 11pm MYT</a:t>
                      </a:r>
                      <a:endParaRPr lang="en-US" sz="10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bl>
          </a:graphicData>
        </a:graphic>
      </p:graphicFrame>
      <p:sp>
        <p:nvSpPr>
          <p:cNvPr id="7" name="Shape 3"/>
          <p:cNvSpPr/>
          <p:nvPr/>
        </p:nvSpPr>
        <p:spPr>
          <a:xfrm>
            <a:off x="457200" y="4370832"/>
            <a:ext cx="8229600" cy="310896"/>
          </a:xfrm>
          <a:prstGeom prst="rect">
            <a:avLst/>
          </a:prstGeom>
          <a:solidFill>
            <a:srgbClr val="3056C9"/>
          </a:solidFill>
          <a:ln/>
        </p:spPr>
      </p:sp>
      <p:sp>
        <p:nvSpPr>
          <p:cNvPr id="8" name="Text 4"/>
          <p:cNvSpPr/>
          <p:nvPr/>
        </p:nvSpPr>
        <p:spPr>
          <a:xfrm>
            <a:off x="640080" y="4370832"/>
            <a:ext cx="7863840" cy="310896"/>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Weekly sync every Thursday at 10am ET  |  US clocks change on Sunday 1 November</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949440" y="146304"/>
            <a:ext cx="1737360" cy="182880"/>
          </a:xfrm>
          <a:prstGeom prst="rect">
            <a:avLst/>
          </a:prstGeom>
          <a:noFill/>
          <a:ln/>
        </p:spPr>
        <p:txBody>
          <a:bodyPr wrap="square" lIns="0" tIns="0" rIns="0" bIns="0" rtlCol="0" anchor="t"/>
          <a:lstStyle/>
          <a:p>
            <a:pPr algn="r" indent="0" marL="0">
              <a:buNone/>
            </a:pPr>
            <a:r>
              <a:rPr lang="en-US" sz="800" dirty="0">
                <a:solidFill>
                  <a:srgbClr val="9AA0A8"/>
                </a:solidFill>
                <a:latin typeface="Arial" pitchFamily="34" charset="0"/>
                <a:ea typeface="Arial" pitchFamily="34" charset="-122"/>
                <a:cs typeface="Arial" pitchFamily="34" charset="-120"/>
              </a:rPr>
              <a:t>[ toggle.solutions ]</a:t>
            </a:r>
            <a:endParaRPr lang="en-US" sz="800" dirty="0"/>
          </a:p>
        </p:txBody>
      </p:sp>
      <p:sp>
        <p:nvSpPr>
          <p:cNvPr id="3" name="Text 1"/>
          <p:cNvSpPr/>
          <p:nvPr/>
        </p:nvSpPr>
        <p:spPr>
          <a:xfrm>
            <a:off x="457200" y="329184"/>
            <a:ext cx="8229600" cy="384048"/>
          </a:xfrm>
          <a:prstGeom prst="rect">
            <a:avLst/>
          </a:prstGeom>
          <a:noFill/>
          <a:ln/>
        </p:spPr>
        <p:txBody>
          <a:bodyPr wrap="square" lIns="0" tIns="0" rIns="0" bIns="0" rtlCol="0" anchor="t"/>
          <a:lstStyle/>
          <a:p>
            <a:pPr indent="0" marL="0">
              <a:buNone/>
            </a:pPr>
            <a:r>
              <a:rPr lang="en-US" sz="2150" b="1" dirty="0">
                <a:solidFill>
                  <a:srgbClr val="4A7BF7"/>
                </a:solidFill>
                <a:latin typeface="Arial" pitchFamily="34" charset="0"/>
                <a:ea typeface="Arial" pitchFamily="34" charset="-122"/>
                <a:cs typeface="Arial" pitchFamily="34" charset="-120"/>
              </a:rPr>
              <a:t>Week 1  ·  12 to 16 October</a:t>
            </a:r>
            <a:endParaRPr lang="en-US" sz="2150" dirty="0"/>
          </a:p>
        </p:txBody>
      </p:sp>
      <p:sp>
        <p:nvSpPr>
          <p:cNvPr id="4" name="Text 2"/>
          <p:cNvSpPr/>
          <p:nvPr/>
        </p:nvSpPr>
        <p:spPr>
          <a:xfrm>
            <a:off x="457200" y="749808"/>
            <a:ext cx="8229600" cy="274320"/>
          </a:xfrm>
          <a:prstGeom prst="rect">
            <a:avLst/>
          </a:prstGeom>
          <a:noFill/>
          <a:ln/>
        </p:spPr>
        <p:txBody>
          <a:bodyPr wrap="square" lIns="0" tIns="0" rIns="0" bIns="0" rtlCol="0" anchor="t"/>
          <a:lstStyle/>
          <a:p>
            <a:pPr indent="0" marL="0">
              <a:buNone/>
            </a:pPr>
            <a:r>
              <a:rPr lang="en-US" sz="1050" dirty="0">
                <a:solidFill>
                  <a:srgbClr val="4A4A4A"/>
                </a:solidFill>
                <a:latin typeface="Arial" pitchFamily="34" charset="0"/>
                <a:ea typeface="Arial" pitchFamily="34" charset="-122"/>
                <a:cs typeface="Arial" pitchFamily="34" charset="-120"/>
              </a:rPr>
              <a:t>Get access, build tracking, launch</a:t>
            </a:r>
            <a:endParaRPr lang="en-US" sz="10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325880"/>
                <a:gridCol w="3429000"/>
                <a:gridCol w="1005840"/>
                <a:gridCol w="731520"/>
                <a:gridCol w="1737360"/>
              </a:tblGrid>
              <a:tr h="256032">
                <a:tc>
                  <a:txBody>
                    <a:bodyPr/>
                    <a:lstStyle/>
                    <a:p>
                      <a:pPr indent="0" marL="0">
                        <a:buNone/>
                      </a:pPr>
                      <a:r>
                        <a:rPr lang="en-US" sz="750" b="1" dirty="0">
                          <a:solidFill>
                            <a:srgbClr val="FFFFFF"/>
                          </a:solidFill>
                          <a:latin typeface="Arial" pitchFamily="34" charset="0"/>
                          <a:ea typeface="Arial" pitchFamily="34" charset="-122"/>
                          <a:cs typeface="Arial" pitchFamily="34" charset="-120"/>
                        </a:rPr>
                        <a:t>Main item</a:t>
                      </a:r>
                      <a:endParaRPr lang="en-US" sz="7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750" b="1" dirty="0">
                          <a:solidFill>
                            <a:srgbClr val="FFFFFF"/>
                          </a:solidFill>
                          <a:latin typeface="Arial" pitchFamily="34" charset="0"/>
                          <a:ea typeface="Arial" pitchFamily="34" charset="-122"/>
                          <a:cs typeface="Arial" pitchFamily="34" charset="-120"/>
                        </a:rPr>
                        <a:t>Description</a:t>
                      </a:r>
                      <a:endParaRPr lang="en-US" sz="7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750" b="1" dirty="0">
                          <a:solidFill>
                            <a:srgbClr val="FFFFFF"/>
                          </a:solidFill>
                          <a:latin typeface="Arial" pitchFamily="34" charset="0"/>
                          <a:ea typeface="Arial" pitchFamily="34" charset="-122"/>
                          <a:cs typeface="Arial" pitchFamily="34" charset="-120"/>
                        </a:rPr>
                        <a:t>Deadline</a:t>
                      </a:r>
                      <a:endParaRPr lang="en-US" sz="7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750" b="1" dirty="0">
                          <a:solidFill>
                            <a:srgbClr val="FFFFFF"/>
                          </a:solidFill>
                          <a:latin typeface="Arial" pitchFamily="34" charset="0"/>
                          <a:ea typeface="Arial" pitchFamily="34" charset="-122"/>
                          <a:cs typeface="Arial" pitchFamily="34" charset="-120"/>
                        </a:rPr>
                        <a:t>Status</a:t>
                      </a:r>
                      <a:endParaRPr lang="en-US" sz="7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750" b="1" dirty="0">
                          <a:solidFill>
                            <a:srgbClr val="FFFFFF"/>
                          </a:solidFill>
                          <a:latin typeface="Arial" pitchFamily="34" charset="0"/>
                          <a:ea typeface="Arial" pitchFamily="34" charset="-122"/>
                          <a:cs typeface="Arial" pitchFamily="34" charset="-120"/>
                        </a:rPr>
                        <a:t>Remark</a:t>
                      </a:r>
                      <a:endParaRPr lang="en-US" sz="7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r>
              <a:tr h="307086">
                <a:tc>
                  <a:txBody>
                    <a:bodyPr/>
                    <a:lstStyle/>
                    <a:p>
                      <a:pPr indent="0" marL="0">
                        <a:buNone/>
                      </a:pPr>
                      <a:r>
                        <a:rPr lang="en-US" sz="750" b="1" dirty="0">
                          <a:solidFill>
                            <a:srgbClr val="3056C9"/>
                          </a:solidFill>
                          <a:latin typeface="Arial" pitchFamily="34" charset="0"/>
                          <a:ea typeface="Arial" pitchFamily="34" charset="-122"/>
                          <a:cs typeface="Arial" pitchFamily="34" charset="-120"/>
                        </a:rPr>
                        <a:t>Access</a:t>
                      </a:r>
                      <a:endParaRPr lang="en-US" sz="7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dirty="0">
                          <a:solidFill>
                            <a:srgbClr val="4A4A4A"/>
                          </a:solidFill>
                          <a:latin typeface="Arial" pitchFamily="34" charset="0"/>
                          <a:ea typeface="Arial" pitchFamily="34" charset="-122"/>
                          <a:cs typeface="Arial" pitchFamily="34" charset="-120"/>
                        </a:rPr>
                        <a:t>Chase Google Ads standard access and GA4 editor access from Lawrence, and LinkedIn Campaign Manager access from Doug.</a:t>
                      </a:r>
                      <a:endParaRPr lang="en-US" sz="7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dirty="0">
                          <a:solidFill>
                            <a:srgbClr val="4A4A4A"/>
                          </a:solidFill>
                          <a:latin typeface="Arial" pitchFamily="34" charset="0"/>
                          <a:ea typeface="Arial" pitchFamily="34" charset="-122"/>
                          <a:cs typeface="Arial" pitchFamily="34" charset="-120"/>
                        </a:rPr>
                        <a:t>Mon 12 Oct</a:t>
                      </a:r>
                      <a:endParaRPr lang="en-US" sz="7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dirty="0">
                          <a:solidFill>
                            <a:srgbClr val="4A4A4A"/>
                          </a:solidFill>
                          <a:latin typeface="Arial" pitchFamily="34" charset="0"/>
                          <a:ea typeface="Arial" pitchFamily="34" charset="-122"/>
                          <a:cs typeface="Arial" pitchFamily="34" charset="-120"/>
                        </a:rPr>
                        <a:t>Waiting</a:t>
                      </a:r>
                      <a:endParaRPr lang="en-US" sz="7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dirty="0">
                          <a:solidFill>
                            <a:srgbClr val="4A4A4A"/>
                          </a:solidFill>
                          <a:latin typeface="Arial" pitchFamily="34" charset="0"/>
                          <a:ea typeface="Arial" pitchFamily="34" charset="-122"/>
                          <a:cs typeface="Arial" pitchFamily="34" charset="-120"/>
                        </a:rPr>
                        <a:t>GTM publish access is done.</a:t>
                      </a:r>
                      <a:endParaRPr lang="en-US" sz="7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307086">
                <a:tc>
                  <a:txBody>
                    <a:bodyPr/>
                    <a:lstStyle/>
                    <a:p>
                      <a:pPr indent="0" marL="0">
                        <a:buNone/>
                      </a:pPr>
                      <a:r>
                        <a:rPr lang="en-US" sz="750" b="1" dirty="0">
                          <a:solidFill>
                            <a:srgbClr val="3056C9"/>
                          </a:solidFill>
                          <a:latin typeface="Arial" pitchFamily="34" charset="0"/>
                          <a:ea typeface="Arial" pitchFamily="34" charset="-122"/>
                          <a:cs typeface="Arial" pitchFamily="34" charset="-120"/>
                        </a:rPr>
                        <a:t>Media plan feedback</a:t>
                      </a:r>
                      <a:endParaRPr lang="en-US" sz="7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750" dirty="0">
                          <a:solidFill>
                            <a:srgbClr val="4A4A4A"/>
                          </a:solidFill>
                          <a:latin typeface="Arial" pitchFamily="34" charset="0"/>
                          <a:ea typeface="Arial" pitchFamily="34" charset="-122"/>
                          <a:cs typeface="Arial" pitchFamily="34" charset="-120"/>
                        </a:rPr>
                        <a:t>Send Octavio your comments: match type and bidding, the remarketing plan, the "free" negative and the creative folder link.</a:t>
                      </a:r>
                      <a:endParaRPr lang="en-US" sz="7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750" dirty="0">
                          <a:solidFill>
                            <a:srgbClr val="4A4A4A"/>
                          </a:solidFill>
                          <a:latin typeface="Arial" pitchFamily="34" charset="0"/>
                          <a:ea typeface="Arial" pitchFamily="34" charset="-122"/>
                          <a:cs typeface="Arial" pitchFamily="34" charset="-120"/>
                        </a:rPr>
                        <a:t>Mon 12 Oct</a:t>
                      </a:r>
                      <a:endParaRPr lang="en-US" sz="7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750" dirty="0">
                          <a:solidFill>
                            <a:srgbClr val="4A4A4A"/>
                          </a:solidFill>
                          <a:latin typeface="Arial" pitchFamily="34" charset="0"/>
                          <a:ea typeface="Arial" pitchFamily="34" charset="-122"/>
                          <a:cs typeface="Arial" pitchFamily="34" charset="-120"/>
                        </a:rPr>
                        <a:t>To do</a:t>
                      </a:r>
                      <a:endParaRPr lang="en-US" sz="7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750" dirty="0">
                          <a:solidFill>
                            <a:srgbClr val="4A4A4A"/>
                          </a:solidFill>
                          <a:latin typeface="Arial" pitchFamily="34" charset="0"/>
                          <a:ea typeface="Arial" pitchFamily="34" charset="-122"/>
                          <a:cs typeface="Arial" pitchFamily="34" charset="-120"/>
                        </a:rPr>
                        <a:t>Send on WhatsApp.</a:t>
                      </a:r>
                      <a:endParaRPr lang="en-US" sz="7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r h="307086">
                <a:tc>
                  <a:txBody>
                    <a:bodyPr/>
                    <a:lstStyle/>
                    <a:p>
                      <a:pPr indent="0" marL="0">
                        <a:buNone/>
                      </a:pPr>
                      <a:r>
                        <a:rPr lang="en-US" sz="750" b="1" dirty="0">
                          <a:solidFill>
                            <a:srgbClr val="3056C9"/>
                          </a:solidFill>
                          <a:latin typeface="Arial" pitchFamily="34" charset="0"/>
                          <a:ea typeface="Arial" pitchFamily="34" charset="-122"/>
                          <a:cs typeface="Arial" pitchFamily="34" charset="-120"/>
                        </a:rPr>
                        <a:t>Tag Gateway note</a:t>
                      </a:r>
                      <a:endParaRPr lang="en-US" sz="7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dirty="0">
                          <a:solidFill>
                            <a:srgbClr val="4A4A4A"/>
                          </a:solidFill>
                          <a:latin typeface="Arial" pitchFamily="34" charset="0"/>
                          <a:ea typeface="Arial" pitchFamily="34" charset="-122"/>
                          <a:cs typeface="Arial" pitchFamily="34" charset="-120"/>
                        </a:rPr>
                        <a:t>Send Lawrence a short note on Google Tag Gateway and Enhanced Conversions for his Google call.</a:t>
                      </a:r>
                      <a:endParaRPr lang="en-US" sz="7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dirty="0">
                          <a:solidFill>
                            <a:srgbClr val="4A4A4A"/>
                          </a:solidFill>
                          <a:latin typeface="Arial" pitchFamily="34" charset="0"/>
                          <a:ea typeface="Arial" pitchFamily="34" charset="-122"/>
                          <a:cs typeface="Arial" pitchFamily="34" charset="-120"/>
                        </a:rPr>
                        <a:t>Mon 12 Oct</a:t>
                      </a:r>
                      <a:endParaRPr lang="en-US" sz="7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dirty="0">
                          <a:solidFill>
                            <a:srgbClr val="4A4A4A"/>
                          </a:solidFill>
                          <a:latin typeface="Arial" pitchFamily="34" charset="0"/>
                          <a:ea typeface="Arial" pitchFamily="34" charset="-122"/>
                          <a:cs typeface="Arial" pitchFamily="34" charset="-120"/>
                        </a:rPr>
                        <a:t>To do</a:t>
                      </a:r>
                      <a:endParaRPr lang="en-US" sz="7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dirty="0">
                          <a:solidFill>
                            <a:srgbClr val="4A4A4A"/>
                          </a:solidFill>
                          <a:latin typeface="Arial" pitchFamily="34" charset="0"/>
                          <a:ea typeface="Arial" pitchFamily="34" charset="-122"/>
                          <a:cs typeface="Arial" pitchFamily="34" charset="-120"/>
                        </a:rPr>
                        <a:t>His call date is unknown, so send it early.</a:t>
                      </a:r>
                      <a:endParaRPr lang="en-US" sz="7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307086">
                <a:tc>
                  <a:txBody>
                    <a:bodyPr/>
                    <a:lstStyle/>
                    <a:p>
                      <a:pPr indent="0" marL="0">
                        <a:buNone/>
                      </a:pPr>
                      <a:r>
                        <a:rPr lang="en-US" sz="750" b="1" dirty="0">
                          <a:solidFill>
                            <a:srgbClr val="3056C9"/>
                          </a:solidFill>
                          <a:latin typeface="Arial" pitchFamily="34" charset="0"/>
                          <a:ea typeface="Arial" pitchFamily="34" charset="-122"/>
                          <a:cs typeface="Arial" pitchFamily="34" charset="-120"/>
                        </a:rPr>
                        <a:t>Tracking plan</a:t>
                      </a:r>
                      <a:endParaRPr lang="en-US" sz="7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750" dirty="0">
                          <a:solidFill>
                            <a:srgbClr val="4A4A4A"/>
                          </a:solidFill>
                          <a:latin typeface="Arial" pitchFamily="34" charset="0"/>
                          <a:ea typeface="Arial" pitchFamily="34" charset="-122"/>
                          <a:cs typeface="Arial" pitchFamily="34" charset="-120"/>
                        </a:rPr>
                        <a:t>Write the tracking plan from slides 10 and 11 and share it with Lawrence and Octavio.</a:t>
                      </a:r>
                      <a:endParaRPr lang="en-US" sz="7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750" dirty="0">
                          <a:solidFill>
                            <a:srgbClr val="4A4A4A"/>
                          </a:solidFill>
                          <a:latin typeface="Arial" pitchFamily="34" charset="0"/>
                          <a:ea typeface="Arial" pitchFamily="34" charset="-122"/>
                          <a:cs typeface="Arial" pitchFamily="34" charset="-120"/>
                        </a:rPr>
                        <a:t>Tue 13 Oct</a:t>
                      </a:r>
                      <a:endParaRPr lang="en-US" sz="7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750" dirty="0">
                          <a:solidFill>
                            <a:srgbClr val="4A4A4A"/>
                          </a:solidFill>
                          <a:latin typeface="Arial" pitchFamily="34" charset="0"/>
                          <a:ea typeface="Arial" pitchFamily="34" charset="-122"/>
                          <a:cs typeface="Arial" pitchFamily="34" charset="-120"/>
                        </a:rPr>
                        <a:t>To do</a:t>
                      </a:r>
                      <a:endParaRPr lang="en-US" sz="7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endParaRPr lang="en-US" sz="7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r h="219456">
                <a:tc>
                  <a:txBody>
                    <a:bodyPr/>
                    <a:lstStyle/>
                    <a:p>
                      <a:pPr indent="0" marL="0">
                        <a:buNone/>
                      </a:pPr>
                      <a:r>
                        <a:rPr lang="en-US" sz="750" b="1" dirty="0">
                          <a:solidFill>
                            <a:srgbClr val="3056C9"/>
                          </a:solidFill>
                          <a:latin typeface="Arial" pitchFamily="34" charset="0"/>
                          <a:ea typeface="Arial" pitchFamily="34" charset="-122"/>
                          <a:cs typeface="Arial" pitchFamily="34" charset="-120"/>
                        </a:rPr>
                        <a:t>GTM and GA4 build</a:t>
                      </a:r>
                      <a:endParaRPr lang="en-US" sz="7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dirty="0">
                          <a:solidFill>
                            <a:srgbClr val="4A4A4A"/>
                          </a:solidFill>
                          <a:latin typeface="Arial" pitchFamily="34" charset="0"/>
                          <a:ea typeface="Arial" pitchFamily="34" charset="-122"/>
                          <a:cs typeface="Arial" pitchFamily="34" charset="-120"/>
                        </a:rPr>
                        <a:t>Build the tags in GTM and fix the GA4 settings.</a:t>
                      </a:r>
                      <a:endParaRPr lang="en-US" sz="7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dirty="0">
                          <a:solidFill>
                            <a:srgbClr val="4A4A4A"/>
                          </a:solidFill>
                          <a:latin typeface="Arial" pitchFamily="34" charset="0"/>
                          <a:ea typeface="Arial" pitchFamily="34" charset="-122"/>
                          <a:cs typeface="Arial" pitchFamily="34" charset="-120"/>
                        </a:rPr>
                        <a:t>Wed 14 Oct</a:t>
                      </a:r>
                      <a:endParaRPr lang="en-US" sz="7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dirty="0">
                          <a:solidFill>
                            <a:srgbClr val="4A4A4A"/>
                          </a:solidFill>
                          <a:latin typeface="Arial" pitchFamily="34" charset="0"/>
                          <a:ea typeface="Arial" pitchFamily="34" charset="-122"/>
                          <a:cs typeface="Arial" pitchFamily="34" charset="-120"/>
                        </a:rPr>
                        <a:t>To do</a:t>
                      </a:r>
                      <a:endParaRPr lang="en-US" sz="7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dirty="0">
                          <a:solidFill>
                            <a:srgbClr val="4A4A4A"/>
                          </a:solidFill>
                          <a:latin typeface="Arial" pitchFamily="34" charset="0"/>
                          <a:ea typeface="Arial" pitchFamily="34" charset="-122"/>
                          <a:cs typeface="Arial" pitchFamily="34" charset="-120"/>
                        </a:rPr>
                        <a:t>GA4 needs editor access.</a:t>
                      </a:r>
                      <a:endParaRPr lang="en-US" sz="7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307086">
                <a:tc>
                  <a:txBody>
                    <a:bodyPr/>
                    <a:lstStyle/>
                    <a:p>
                      <a:pPr indent="0" marL="0">
                        <a:buNone/>
                      </a:pPr>
                      <a:r>
                        <a:rPr lang="en-US" sz="750" b="1" dirty="0">
                          <a:solidFill>
                            <a:srgbClr val="3056C9"/>
                          </a:solidFill>
                          <a:latin typeface="Arial" pitchFamily="34" charset="0"/>
                          <a:ea typeface="Arial" pitchFamily="34" charset="-122"/>
                          <a:cs typeface="Arial" pitchFamily="34" charset="-120"/>
                        </a:rPr>
                        <a:t>Google Search build</a:t>
                      </a:r>
                      <a:endParaRPr lang="en-US" sz="7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750" dirty="0">
                          <a:solidFill>
                            <a:srgbClr val="4A4A4A"/>
                          </a:solidFill>
                          <a:latin typeface="Arial" pitchFamily="34" charset="0"/>
                          <a:ea typeface="Arial" pitchFamily="34" charset="-122"/>
                          <a:cs typeface="Arial" pitchFamily="34" charset="-120"/>
                        </a:rPr>
                        <a:t>Clean up the negatives, restructure the VoiceScore campaign, write the ads and assets, and set URLs and UTMs. Keep it paused.</a:t>
                      </a:r>
                      <a:endParaRPr lang="en-US" sz="7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750" dirty="0">
                          <a:solidFill>
                            <a:srgbClr val="4A4A4A"/>
                          </a:solidFill>
                          <a:latin typeface="Arial" pitchFamily="34" charset="0"/>
                          <a:ea typeface="Arial" pitchFamily="34" charset="-122"/>
                          <a:cs typeface="Arial" pitchFamily="34" charset="-120"/>
                        </a:rPr>
                        <a:t>Wed 14 Oct</a:t>
                      </a:r>
                      <a:endParaRPr lang="en-US" sz="7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750" dirty="0">
                          <a:solidFill>
                            <a:srgbClr val="4A4A4A"/>
                          </a:solidFill>
                          <a:latin typeface="Arial" pitchFamily="34" charset="0"/>
                          <a:ea typeface="Arial" pitchFamily="34" charset="-122"/>
                          <a:cs typeface="Arial" pitchFamily="34" charset="-120"/>
                        </a:rPr>
                        <a:t>To do</a:t>
                      </a:r>
                      <a:endParaRPr lang="en-US" sz="7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750" dirty="0">
                          <a:solidFill>
                            <a:srgbClr val="4A4A4A"/>
                          </a:solidFill>
                          <a:latin typeface="Arial" pitchFamily="34" charset="0"/>
                          <a:ea typeface="Arial" pitchFamily="34" charset="-122"/>
                          <a:cs typeface="Arial" pitchFamily="34" charset="-120"/>
                        </a:rPr>
                        <a:t>It needs standard access.</a:t>
                      </a:r>
                      <a:endParaRPr lang="en-US" sz="7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r h="307086">
                <a:tc>
                  <a:txBody>
                    <a:bodyPr/>
                    <a:lstStyle/>
                    <a:p>
                      <a:pPr indent="0" marL="0">
                        <a:buNone/>
                      </a:pPr>
                      <a:r>
                        <a:rPr lang="en-US" sz="750" b="1" dirty="0">
                          <a:solidFill>
                            <a:srgbClr val="3056C9"/>
                          </a:solidFill>
                          <a:latin typeface="Arial" pitchFamily="34" charset="0"/>
                          <a:ea typeface="Arial" pitchFamily="34" charset="-122"/>
                          <a:cs typeface="Arial" pitchFamily="34" charset="-120"/>
                        </a:rPr>
                        <a:t>LinkedIn build</a:t>
                      </a:r>
                      <a:endParaRPr lang="en-US" sz="7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dirty="0">
                          <a:solidFill>
                            <a:srgbClr val="4A4A4A"/>
                          </a:solidFill>
                          <a:latin typeface="Arial" pitchFamily="34" charset="0"/>
                          <a:ea typeface="Arial" pitchFamily="34" charset="-122"/>
                          <a:cs typeface="Arial" pitchFamily="34" charset="-120"/>
                        </a:rPr>
                        <a:t>Build both audiences and the campaigns, load the three ads and add UTMs. Keep them paused.</a:t>
                      </a:r>
                      <a:endParaRPr lang="en-US" sz="7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dirty="0">
                          <a:solidFill>
                            <a:srgbClr val="4A4A4A"/>
                          </a:solidFill>
                          <a:latin typeface="Arial" pitchFamily="34" charset="0"/>
                          <a:ea typeface="Arial" pitchFamily="34" charset="-122"/>
                          <a:cs typeface="Arial" pitchFamily="34" charset="-120"/>
                        </a:rPr>
                        <a:t>Wed 14 Oct</a:t>
                      </a:r>
                      <a:endParaRPr lang="en-US" sz="7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dirty="0">
                          <a:solidFill>
                            <a:srgbClr val="4A4A4A"/>
                          </a:solidFill>
                          <a:latin typeface="Arial" pitchFamily="34" charset="0"/>
                          <a:ea typeface="Arial" pitchFamily="34" charset="-122"/>
                          <a:cs typeface="Arial" pitchFamily="34" charset="-120"/>
                        </a:rPr>
                        <a:t>To do</a:t>
                      </a:r>
                      <a:endParaRPr lang="en-US" sz="7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dirty="0">
                          <a:solidFill>
                            <a:srgbClr val="4A4A4A"/>
                          </a:solidFill>
                          <a:latin typeface="Arial" pitchFamily="34" charset="0"/>
                          <a:ea typeface="Arial" pitchFamily="34" charset="-122"/>
                          <a:cs typeface="Arial" pitchFamily="34" charset="-120"/>
                        </a:rPr>
                        <a:t>It needs access and the target account list.</a:t>
                      </a:r>
                      <a:endParaRPr lang="en-US" sz="7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219456">
                <a:tc>
                  <a:txBody>
                    <a:bodyPr/>
                    <a:lstStyle/>
                    <a:p>
                      <a:pPr indent="0" marL="0">
                        <a:buNone/>
                      </a:pPr>
                      <a:r>
                        <a:rPr lang="en-US" sz="750" b="1" dirty="0">
                          <a:solidFill>
                            <a:srgbClr val="3056C9"/>
                          </a:solidFill>
                          <a:latin typeface="Arial" pitchFamily="34" charset="0"/>
                          <a:ea typeface="Arial" pitchFamily="34" charset="-122"/>
                          <a:cs typeface="Arial" pitchFamily="34" charset="-120"/>
                        </a:rPr>
                        <a:t>End-to-end test</a:t>
                      </a:r>
                      <a:endParaRPr lang="en-US" sz="7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750" dirty="0">
                          <a:solidFill>
                            <a:srgbClr val="4A4A4A"/>
                          </a:solidFill>
                          <a:latin typeface="Arial" pitchFamily="34" charset="0"/>
                          <a:ea typeface="Arial" pitchFamily="34" charset="-122"/>
                          <a:cs typeface="Arial" pitchFamily="34" charset="-120"/>
                        </a:rPr>
                        <a:t>Run every before-launch test on slide 12.</a:t>
                      </a:r>
                      <a:endParaRPr lang="en-US" sz="7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750" dirty="0">
                          <a:solidFill>
                            <a:srgbClr val="4A4A4A"/>
                          </a:solidFill>
                          <a:latin typeface="Arial" pitchFamily="34" charset="0"/>
                          <a:ea typeface="Arial" pitchFamily="34" charset="-122"/>
                          <a:cs typeface="Arial" pitchFamily="34" charset="-120"/>
                        </a:rPr>
                        <a:t>Thu 15 Oct</a:t>
                      </a:r>
                      <a:endParaRPr lang="en-US" sz="7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750" dirty="0">
                          <a:solidFill>
                            <a:srgbClr val="4A4A4A"/>
                          </a:solidFill>
                          <a:latin typeface="Arial" pitchFamily="34" charset="0"/>
                          <a:ea typeface="Arial" pitchFamily="34" charset="-122"/>
                          <a:cs typeface="Arial" pitchFamily="34" charset="-120"/>
                        </a:rPr>
                        <a:t>To do</a:t>
                      </a:r>
                      <a:endParaRPr lang="en-US" sz="7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endParaRPr lang="en-US" sz="7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r h="307086">
                <a:tc>
                  <a:txBody>
                    <a:bodyPr/>
                    <a:lstStyle/>
                    <a:p>
                      <a:pPr indent="0" marL="0">
                        <a:buNone/>
                      </a:pPr>
                      <a:r>
                        <a:rPr lang="en-US" sz="750" b="1" dirty="0">
                          <a:solidFill>
                            <a:srgbClr val="3056C9"/>
                          </a:solidFill>
                          <a:latin typeface="Arial" pitchFamily="34" charset="0"/>
                          <a:ea typeface="Arial" pitchFamily="34" charset="-122"/>
                          <a:cs typeface="Arial" pitchFamily="34" charset="-120"/>
                        </a:rPr>
                        <a:t>Thursday sync</a:t>
                      </a:r>
                      <a:endParaRPr lang="en-US" sz="7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dirty="0">
                          <a:solidFill>
                            <a:srgbClr val="4A4A4A"/>
                          </a:solidFill>
                          <a:latin typeface="Arial" pitchFamily="34" charset="0"/>
                          <a:ea typeface="Arial" pitchFamily="34" charset="-122"/>
                          <a:cs typeface="Arial" pitchFamily="34" charset="-120"/>
                        </a:rPr>
                        <a:t>Walk Lawrence and Octavio through both builds and the test results for final review.</a:t>
                      </a:r>
                      <a:endParaRPr lang="en-US" sz="7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dirty="0">
                          <a:solidFill>
                            <a:srgbClr val="4A4A4A"/>
                          </a:solidFill>
                          <a:latin typeface="Arial" pitchFamily="34" charset="0"/>
                          <a:ea typeface="Arial" pitchFamily="34" charset="-122"/>
                          <a:cs typeface="Arial" pitchFamily="34" charset="-120"/>
                        </a:rPr>
                        <a:t>Thu 15 Oct, 10pm MYT</a:t>
                      </a:r>
                      <a:endParaRPr lang="en-US" sz="7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dirty="0">
                          <a:solidFill>
                            <a:srgbClr val="4A4A4A"/>
                          </a:solidFill>
                          <a:latin typeface="Arial" pitchFamily="34" charset="0"/>
                          <a:ea typeface="Arial" pitchFamily="34" charset="-122"/>
                          <a:cs typeface="Arial" pitchFamily="34" charset="-120"/>
                        </a:rPr>
                        <a:t>To do</a:t>
                      </a:r>
                      <a:endParaRPr lang="en-US" sz="7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dirty="0">
                          <a:solidFill>
                            <a:srgbClr val="4A4A4A"/>
                          </a:solidFill>
                          <a:latin typeface="Arial" pitchFamily="34" charset="0"/>
                          <a:ea typeface="Arial" pitchFamily="34" charset="-122"/>
                          <a:cs typeface="Arial" pitchFamily="34" charset="-120"/>
                        </a:rPr>
                        <a:t>Octavio sends the invite.</a:t>
                      </a:r>
                      <a:endParaRPr lang="en-US" sz="7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307086">
                <a:tc>
                  <a:txBody>
                    <a:bodyPr/>
                    <a:lstStyle/>
                    <a:p>
                      <a:pPr indent="0" marL="0">
                        <a:buNone/>
                      </a:pPr>
                      <a:r>
                        <a:rPr lang="en-US" sz="750" b="1" dirty="0">
                          <a:solidFill>
                            <a:srgbClr val="3056C9"/>
                          </a:solidFill>
                          <a:latin typeface="Arial" pitchFamily="34" charset="0"/>
                          <a:ea typeface="Arial" pitchFamily="34" charset="-122"/>
                          <a:cs typeface="Arial" pitchFamily="34" charset="-120"/>
                        </a:rPr>
                        <a:t>Launch</a:t>
                      </a:r>
                      <a:endParaRPr lang="en-US" sz="7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750" dirty="0">
                          <a:solidFill>
                            <a:srgbClr val="4A4A4A"/>
                          </a:solidFill>
                          <a:latin typeface="Arial" pitchFamily="34" charset="0"/>
                          <a:ea typeface="Arial" pitchFamily="34" charset="-122"/>
                          <a:cs typeface="Arial" pitchFamily="34" charset="-120"/>
                        </a:rPr>
                        <a:t>Switch the campaigns on after Lawrence approves.</a:t>
                      </a:r>
                      <a:endParaRPr lang="en-US" sz="7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750" dirty="0">
                          <a:solidFill>
                            <a:srgbClr val="4A4A4A"/>
                          </a:solidFill>
                          <a:latin typeface="Arial" pitchFamily="34" charset="0"/>
                          <a:ea typeface="Arial" pitchFamily="34" charset="-122"/>
                          <a:cs typeface="Arial" pitchFamily="34" charset="-120"/>
                        </a:rPr>
                        <a:t>Fri 16 Oct</a:t>
                      </a:r>
                      <a:endParaRPr lang="en-US" sz="7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750" dirty="0">
                          <a:solidFill>
                            <a:srgbClr val="4A4A4A"/>
                          </a:solidFill>
                          <a:latin typeface="Arial" pitchFamily="34" charset="0"/>
                          <a:ea typeface="Arial" pitchFamily="34" charset="-122"/>
                          <a:cs typeface="Arial" pitchFamily="34" charset="-120"/>
                        </a:rPr>
                        <a:t>To do</a:t>
                      </a:r>
                      <a:endParaRPr lang="en-US" sz="7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750" dirty="0">
                          <a:solidFill>
                            <a:srgbClr val="4A4A4A"/>
                          </a:solidFill>
                          <a:latin typeface="Arial" pitchFamily="34" charset="0"/>
                          <a:ea typeface="Arial" pitchFamily="34" charset="-122"/>
                          <a:cs typeface="Arial" pitchFamily="34" charset="-120"/>
                        </a:rPr>
                        <a:t>Note the launch date for the report.</a:t>
                      </a:r>
                      <a:endParaRPr lang="en-US" sz="7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bl>
          </a:graphicData>
        </a:graphic>
      </p:graphicFrame>
      <p:sp>
        <p:nvSpPr>
          <p:cNvPr id="7" name="Shape 3"/>
          <p:cNvSpPr/>
          <p:nvPr/>
        </p:nvSpPr>
        <p:spPr>
          <a:xfrm>
            <a:off x="457200" y="4370832"/>
            <a:ext cx="8229600" cy="310896"/>
          </a:xfrm>
          <a:prstGeom prst="rect">
            <a:avLst/>
          </a:prstGeom>
          <a:solidFill>
            <a:srgbClr val="3056C9"/>
          </a:solidFill>
          <a:ln/>
        </p:spPr>
      </p:sp>
      <p:sp>
        <p:nvSpPr>
          <p:cNvPr id="8" name="Text 4"/>
          <p:cNvSpPr/>
          <p:nvPr/>
        </p:nvSpPr>
        <p:spPr>
          <a:xfrm>
            <a:off x="640080" y="4370832"/>
            <a:ext cx="7863840" cy="310896"/>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Blocker this week: account access. Chase it on Monday morning.</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949440" y="146304"/>
            <a:ext cx="1737360" cy="182880"/>
          </a:xfrm>
          <a:prstGeom prst="rect">
            <a:avLst/>
          </a:prstGeom>
          <a:noFill/>
          <a:ln/>
        </p:spPr>
        <p:txBody>
          <a:bodyPr wrap="square" lIns="0" tIns="0" rIns="0" bIns="0" rtlCol="0" anchor="t"/>
          <a:lstStyle/>
          <a:p>
            <a:pPr algn="r" indent="0" marL="0">
              <a:buNone/>
            </a:pPr>
            <a:r>
              <a:rPr lang="en-US" sz="800" dirty="0">
                <a:solidFill>
                  <a:srgbClr val="9AA0A8"/>
                </a:solidFill>
                <a:latin typeface="Arial" pitchFamily="34" charset="0"/>
                <a:ea typeface="Arial" pitchFamily="34" charset="-122"/>
                <a:cs typeface="Arial" pitchFamily="34" charset="-120"/>
              </a:rPr>
              <a:t>[ toggle.solutions ]</a:t>
            </a:r>
            <a:endParaRPr lang="en-US" sz="800" dirty="0"/>
          </a:p>
        </p:txBody>
      </p:sp>
      <p:sp>
        <p:nvSpPr>
          <p:cNvPr id="3" name="Text 1"/>
          <p:cNvSpPr/>
          <p:nvPr/>
        </p:nvSpPr>
        <p:spPr>
          <a:xfrm>
            <a:off x="457200" y="329184"/>
            <a:ext cx="8229600" cy="384048"/>
          </a:xfrm>
          <a:prstGeom prst="rect">
            <a:avLst/>
          </a:prstGeom>
          <a:noFill/>
          <a:ln/>
        </p:spPr>
        <p:txBody>
          <a:bodyPr wrap="square" lIns="0" tIns="0" rIns="0" bIns="0" rtlCol="0" anchor="t"/>
          <a:lstStyle/>
          <a:p>
            <a:pPr indent="0" marL="0">
              <a:buNone/>
            </a:pPr>
            <a:r>
              <a:rPr lang="en-US" sz="2150" b="1" dirty="0">
                <a:solidFill>
                  <a:srgbClr val="4A7BF7"/>
                </a:solidFill>
                <a:latin typeface="Arial" pitchFamily="34" charset="0"/>
                <a:ea typeface="Arial" pitchFamily="34" charset="-122"/>
                <a:cs typeface="Arial" pitchFamily="34" charset="-120"/>
              </a:rPr>
              <a:t>Week 2  ·  19 to 23 October</a:t>
            </a:r>
            <a:endParaRPr lang="en-US" sz="2150" dirty="0"/>
          </a:p>
        </p:txBody>
      </p:sp>
      <p:sp>
        <p:nvSpPr>
          <p:cNvPr id="4" name="Text 2"/>
          <p:cNvSpPr/>
          <p:nvPr/>
        </p:nvSpPr>
        <p:spPr>
          <a:xfrm>
            <a:off x="457200" y="749808"/>
            <a:ext cx="8229600" cy="274320"/>
          </a:xfrm>
          <a:prstGeom prst="rect">
            <a:avLst/>
          </a:prstGeom>
          <a:noFill/>
          <a:ln/>
        </p:spPr>
        <p:txBody>
          <a:bodyPr wrap="square" lIns="0" tIns="0" rIns="0" bIns="0" rtlCol="0" anchor="t"/>
          <a:lstStyle/>
          <a:p>
            <a:pPr indent="0" marL="0">
              <a:buNone/>
            </a:pPr>
            <a:r>
              <a:rPr lang="en-US" sz="1050" dirty="0">
                <a:solidFill>
                  <a:srgbClr val="4A4A4A"/>
                </a:solidFill>
                <a:latin typeface="Arial" pitchFamily="34" charset="0"/>
                <a:ea typeface="Arial" pitchFamily="34" charset="-122"/>
                <a:cs typeface="Arial" pitchFamily="34" charset="-120"/>
              </a:rPr>
              <a:t>Watch daily and fix what breaks</a:t>
            </a:r>
            <a:endParaRPr lang="en-US" sz="10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325880"/>
                <a:gridCol w="3429000"/>
                <a:gridCol w="1005840"/>
                <a:gridCol w="731520"/>
                <a:gridCol w="1737360"/>
              </a:tblGrid>
              <a:tr h="256032">
                <a:tc>
                  <a:txBody>
                    <a:bodyPr/>
                    <a:lstStyle/>
                    <a:p>
                      <a:pPr indent="0" marL="0">
                        <a:buNone/>
                      </a:pPr>
                      <a:r>
                        <a:rPr lang="en-US" sz="900" b="1" dirty="0">
                          <a:solidFill>
                            <a:srgbClr val="FFFFFF"/>
                          </a:solidFill>
                          <a:latin typeface="Arial" pitchFamily="34" charset="0"/>
                          <a:ea typeface="Arial" pitchFamily="34" charset="-122"/>
                          <a:cs typeface="Arial" pitchFamily="34" charset="-120"/>
                        </a:rPr>
                        <a:t>Main item</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Description</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Deadline</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Status</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Remark</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r>
              <a:tr h="352044">
                <a:tc>
                  <a:txBody>
                    <a:bodyPr/>
                    <a:lstStyle/>
                    <a:p>
                      <a:pPr indent="0" marL="0">
                        <a:buNone/>
                      </a:pPr>
                      <a:r>
                        <a:rPr lang="en-US" sz="900" b="1" dirty="0">
                          <a:solidFill>
                            <a:srgbClr val="3056C9"/>
                          </a:solidFill>
                          <a:latin typeface="Arial" pitchFamily="34" charset="0"/>
                          <a:ea typeface="Arial" pitchFamily="34" charset="-122"/>
                          <a:cs typeface="Arial" pitchFamily="34" charset="-120"/>
                        </a:rPr>
                        <a:t>Daily checks</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Check search terms, spend pacing, approvals and conversion recording on both channels.</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Daily, Mon to Fri</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To do</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Log each check in the tracker.</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219456">
                <a:tc>
                  <a:txBody>
                    <a:bodyPr/>
                    <a:lstStyle/>
                    <a:p>
                      <a:pPr indent="0" marL="0">
                        <a:buNone/>
                      </a:pPr>
                      <a:r>
                        <a:rPr lang="en-US" sz="900" b="1" dirty="0">
                          <a:solidFill>
                            <a:srgbClr val="3056C9"/>
                          </a:solidFill>
                          <a:latin typeface="Arial" pitchFamily="34" charset="0"/>
                          <a:ea typeface="Arial" pitchFamily="34" charset="-122"/>
                          <a:cs typeface="Arial" pitchFamily="34" charset="-120"/>
                        </a:rPr>
                        <a:t>Negatives</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Add negatives from the search terms report.</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Mon, Wed, Fri</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To do</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r h="352044">
                <a:tc>
                  <a:txBody>
                    <a:bodyPr/>
                    <a:lstStyle/>
                    <a:p>
                      <a:pPr indent="0" marL="0">
                        <a:buNone/>
                      </a:pPr>
                      <a:r>
                        <a:rPr lang="en-US" sz="900" b="1" dirty="0">
                          <a:solidFill>
                            <a:srgbClr val="3056C9"/>
                          </a:solidFill>
                          <a:latin typeface="Arial" pitchFamily="34" charset="0"/>
                          <a:ea typeface="Arial" pitchFamily="34" charset="-122"/>
                          <a:cs typeface="Arial" pitchFamily="34" charset="-120"/>
                        </a:rPr>
                        <a:t>Tracking reconciliation</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Compare evaluation requests across GA4, Google Ads, LinkedIn and HubSpot.</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Wed 21 Oct</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To do</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352044">
                <a:tc>
                  <a:txBody>
                    <a:bodyPr/>
                    <a:lstStyle/>
                    <a:p>
                      <a:pPr indent="0" marL="0">
                        <a:buNone/>
                      </a:pPr>
                      <a:r>
                        <a:rPr lang="en-US" sz="900" b="1" dirty="0">
                          <a:solidFill>
                            <a:srgbClr val="3056C9"/>
                          </a:solidFill>
                          <a:latin typeface="Arial" pitchFamily="34" charset="0"/>
                          <a:ea typeface="Arial" pitchFamily="34" charset="-122"/>
                          <a:cs typeface="Arial" pitchFamily="34" charset="-120"/>
                        </a:rPr>
                        <a:t>LinkedIn demographics</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Check seniority, function and location, and exclude anything outside the plan.</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Wed 21 Oct</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To do</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r h="486918">
                <a:tc>
                  <a:txBody>
                    <a:bodyPr/>
                    <a:lstStyle/>
                    <a:p>
                      <a:pPr indent="0" marL="0">
                        <a:buNone/>
                      </a:pPr>
                      <a:r>
                        <a:rPr lang="en-US" sz="900" b="1" dirty="0">
                          <a:solidFill>
                            <a:srgbClr val="3056C9"/>
                          </a:solidFill>
                          <a:latin typeface="Arial" pitchFamily="34" charset="0"/>
                          <a:ea typeface="Arial" pitchFamily="34" charset="-122"/>
                          <a:cs typeface="Arial" pitchFamily="34" charset="-120"/>
                        </a:rPr>
                        <a:t>Remarketing</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Check audience sizes. Launch LinkedIn remarketing once they pass 300 members, or follow the plan you agreed with Lawrence.</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Thu 22 Oct</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To do</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It depends on open question 3.</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352044">
                <a:tc>
                  <a:txBody>
                    <a:bodyPr/>
                    <a:lstStyle/>
                    <a:p>
                      <a:pPr indent="0" marL="0">
                        <a:buNone/>
                      </a:pPr>
                      <a:r>
                        <a:rPr lang="en-US" sz="900" b="1" dirty="0">
                          <a:solidFill>
                            <a:srgbClr val="3056C9"/>
                          </a:solidFill>
                          <a:latin typeface="Arial" pitchFamily="34" charset="0"/>
                          <a:ea typeface="Arial" pitchFamily="34" charset="-122"/>
                          <a:cs typeface="Arial" pitchFamily="34" charset="-120"/>
                        </a:rPr>
                        <a:t>Weekly pulse</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Prepare spend, pacing, evaluation requests, meetings and issues for the sync.</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Thu 22 Oct</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To do</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r h="352044">
                <a:tc>
                  <a:txBody>
                    <a:bodyPr/>
                    <a:lstStyle/>
                    <a:p>
                      <a:pPr indent="0" marL="0">
                        <a:buNone/>
                      </a:pPr>
                      <a:r>
                        <a:rPr lang="en-US" sz="900" b="1" dirty="0">
                          <a:solidFill>
                            <a:srgbClr val="3056C9"/>
                          </a:solidFill>
                          <a:latin typeface="Arial" pitchFamily="34" charset="0"/>
                          <a:ea typeface="Arial" pitchFamily="34" charset="-122"/>
                          <a:cs typeface="Arial" pitchFamily="34" charset="-120"/>
                        </a:rPr>
                        <a:t>Thursday sync</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Give the first-week read.</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Thu 22 Oct, 10pm MYT</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To do</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352044">
                <a:tc>
                  <a:txBody>
                    <a:bodyPr/>
                    <a:lstStyle/>
                    <a:p>
                      <a:pPr indent="0" marL="0">
                        <a:buNone/>
                      </a:pPr>
                      <a:r>
                        <a:rPr lang="en-US" sz="900" b="1" dirty="0">
                          <a:solidFill>
                            <a:srgbClr val="3056C9"/>
                          </a:solidFill>
                          <a:latin typeface="Arial" pitchFamily="34" charset="0"/>
                          <a:ea typeface="Arial" pitchFamily="34" charset="-122"/>
                          <a:cs typeface="Arial" pitchFamily="34" charset="-120"/>
                        </a:rPr>
                        <a:t>Looker Studio v1</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Connect Google Ads and GA4, then add LinkedIn through a connector.</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Fri 23 Oct</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To do</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Looker Studio has no native LinkedIn Ads connector.</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bl>
          </a:graphicData>
        </a:graphic>
      </p:graphicFrame>
      <p:sp>
        <p:nvSpPr>
          <p:cNvPr id="7" name="Shape 3"/>
          <p:cNvSpPr/>
          <p:nvPr/>
        </p:nvSpPr>
        <p:spPr>
          <a:xfrm>
            <a:off x="457200" y="4370832"/>
            <a:ext cx="8229600" cy="310896"/>
          </a:xfrm>
          <a:prstGeom prst="rect">
            <a:avLst/>
          </a:prstGeom>
          <a:solidFill>
            <a:srgbClr val="3056C9"/>
          </a:solidFill>
          <a:ln/>
        </p:spPr>
      </p:sp>
      <p:sp>
        <p:nvSpPr>
          <p:cNvPr id="8" name="Text 4"/>
          <p:cNvSpPr/>
          <p:nvPr/>
        </p:nvSpPr>
        <p:spPr>
          <a:xfrm>
            <a:off x="640080" y="4370832"/>
            <a:ext cx="7863840" cy="310896"/>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Leave bids and budgets alone this week unless something is broken.</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949440" y="146304"/>
            <a:ext cx="1737360" cy="182880"/>
          </a:xfrm>
          <a:prstGeom prst="rect">
            <a:avLst/>
          </a:prstGeom>
          <a:noFill/>
          <a:ln/>
        </p:spPr>
        <p:txBody>
          <a:bodyPr wrap="square" lIns="0" tIns="0" rIns="0" bIns="0" rtlCol="0" anchor="t"/>
          <a:lstStyle/>
          <a:p>
            <a:pPr algn="r" indent="0" marL="0">
              <a:buNone/>
            </a:pPr>
            <a:r>
              <a:rPr lang="en-US" sz="800" dirty="0">
                <a:solidFill>
                  <a:srgbClr val="9AA0A8"/>
                </a:solidFill>
                <a:latin typeface="Arial" pitchFamily="34" charset="0"/>
                <a:ea typeface="Arial" pitchFamily="34" charset="-122"/>
                <a:cs typeface="Arial" pitchFamily="34" charset="-120"/>
              </a:rPr>
              <a:t>[ toggle.solutions ]</a:t>
            </a:r>
            <a:endParaRPr lang="en-US" sz="800" dirty="0"/>
          </a:p>
        </p:txBody>
      </p:sp>
      <p:sp>
        <p:nvSpPr>
          <p:cNvPr id="3" name="Text 1"/>
          <p:cNvSpPr/>
          <p:nvPr/>
        </p:nvSpPr>
        <p:spPr>
          <a:xfrm>
            <a:off x="457200" y="329184"/>
            <a:ext cx="8229600" cy="384048"/>
          </a:xfrm>
          <a:prstGeom prst="rect">
            <a:avLst/>
          </a:prstGeom>
          <a:noFill/>
          <a:ln/>
        </p:spPr>
        <p:txBody>
          <a:bodyPr wrap="square" lIns="0" tIns="0" rIns="0" bIns="0" rtlCol="0" anchor="t"/>
          <a:lstStyle/>
          <a:p>
            <a:pPr indent="0" marL="0">
              <a:buNone/>
            </a:pPr>
            <a:r>
              <a:rPr lang="en-US" sz="2150" b="1" dirty="0">
                <a:solidFill>
                  <a:srgbClr val="4A7BF7"/>
                </a:solidFill>
                <a:latin typeface="Arial" pitchFamily="34" charset="0"/>
                <a:ea typeface="Arial" pitchFamily="34" charset="-122"/>
                <a:cs typeface="Arial" pitchFamily="34" charset="-120"/>
              </a:rPr>
              <a:t>Week 3  ·  26 to 30 October</a:t>
            </a:r>
            <a:endParaRPr lang="en-US" sz="2150" dirty="0"/>
          </a:p>
        </p:txBody>
      </p:sp>
      <p:sp>
        <p:nvSpPr>
          <p:cNvPr id="4" name="Text 2"/>
          <p:cNvSpPr/>
          <p:nvPr/>
        </p:nvSpPr>
        <p:spPr>
          <a:xfrm>
            <a:off x="457200" y="749808"/>
            <a:ext cx="8229600" cy="274320"/>
          </a:xfrm>
          <a:prstGeom prst="rect">
            <a:avLst/>
          </a:prstGeom>
          <a:noFill/>
          <a:ln/>
        </p:spPr>
        <p:txBody>
          <a:bodyPr wrap="square" lIns="0" tIns="0" rIns="0" bIns="0" rtlCol="0" anchor="t"/>
          <a:lstStyle/>
          <a:p>
            <a:pPr indent="0" marL="0">
              <a:buNone/>
            </a:pPr>
            <a:r>
              <a:rPr lang="en-US" sz="1050" dirty="0">
                <a:solidFill>
                  <a:srgbClr val="4A4A4A"/>
                </a:solidFill>
                <a:latin typeface="Arial" pitchFamily="34" charset="0"/>
                <a:ea typeface="Arial" pitchFamily="34" charset="-122"/>
                <a:cs typeface="Arial" pitchFamily="34" charset="-120"/>
              </a:rPr>
              <a:t>First optimizations and the bidding decision</a:t>
            </a:r>
            <a:endParaRPr lang="en-US" sz="10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325880"/>
                <a:gridCol w="3429000"/>
                <a:gridCol w="1005840"/>
                <a:gridCol w="731520"/>
                <a:gridCol w="1737360"/>
              </a:tblGrid>
              <a:tr h="256032">
                <a:tc>
                  <a:txBody>
                    <a:bodyPr/>
                    <a:lstStyle/>
                    <a:p>
                      <a:pPr indent="0" marL="0">
                        <a:buNone/>
                      </a:pPr>
                      <a:r>
                        <a:rPr lang="en-US" sz="900" b="1" dirty="0">
                          <a:solidFill>
                            <a:srgbClr val="FFFFFF"/>
                          </a:solidFill>
                          <a:latin typeface="Arial" pitchFamily="34" charset="0"/>
                          <a:ea typeface="Arial" pitchFamily="34" charset="-122"/>
                          <a:cs typeface="Arial" pitchFamily="34" charset="-120"/>
                        </a:rPr>
                        <a:t>Main item</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Description</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Deadline</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Status</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Remark</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r>
              <a:tr h="352044">
                <a:tc>
                  <a:txBody>
                    <a:bodyPr/>
                    <a:lstStyle/>
                    <a:p>
                      <a:pPr indent="0" marL="0">
                        <a:buNone/>
                      </a:pPr>
                      <a:r>
                        <a:rPr lang="en-US" sz="900" b="1" dirty="0">
                          <a:solidFill>
                            <a:srgbClr val="3056C9"/>
                          </a:solidFill>
                          <a:latin typeface="Arial" pitchFamily="34" charset="0"/>
                          <a:ea typeface="Arial" pitchFamily="34" charset="-122"/>
                          <a:cs typeface="Arial" pitchFamily="34" charset="-120"/>
                        </a:rPr>
                        <a:t>Search ads read</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Check headline and asset performance, and replace the weakest.</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Tue 27 Oct</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To do</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219456">
                <a:tc>
                  <a:txBody>
                    <a:bodyPr/>
                    <a:lstStyle/>
                    <a:p>
                      <a:pPr indent="0" marL="0">
                        <a:buNone/>
                      </a:pPr>
                      <a:r>
                        <a:rPr lang="en-US" sz="900" b="1" dirty="0">
                          <a:solidFill>
                            <a:srgbClr val="3056C9"/>
                          </a:solidFill>
                          <a:latin typeface="Arial" pitchFamily="34" charset="0"/>
                          <a:ea typeface="Arial" pitchFamily="34" charset="-122"/>
                          <a:cs typeface="Arial" pitchFamily="34" charset="-120"/>
                        </a:rPr>
                        <a:t>Insurance ad group</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Add it if search volume supports it.</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Tue 27 Oct</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To do</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r h="352044">
                <a:tc>
                  <a:txBody>
                    <a:bodyPr/>
                    <a:lstStyle/>
                    <a:p>
                      <a:pPr indent="0" marL="0">
                        <a:buNone/>
                      </a:pPr>
                      <a:r>
                        <a:rPr lang="en-US" sz="900" b="1" dirty="0">
                          <a:solidFill>
                            <a:srgbClr val="3056C9"/>
                          </a:solidFill>
                          <a:latin typeface="Arial" pitchFamily="34" charset="0"/>
                          <a:ea typeface="Arial" pitchFamily="34" charset="-122"/>
                          <a:cs typeface="Arial" pitchFamily="34" charset="-120"/>
                        </a:rPr>
                        <a:t>Match types</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Use the search terms data to decide whether to broaden match types.</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Wed 28 Oct</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To do</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See open question 9.</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352044">
                <a:tc>
                  <a:txBody>
                    <a:bodyPr/>
                    <a:lstStyle/>
                    <a:p>
                      <a:pPr indent="0" marL="0">
                        <a:buNone/>
                      </a:pPr>
                      <a:r>
                        <a:rPr lang="en-US" sz="900" b="1" dirty="0">
                          <a:solidFill>
                            <a:srgbClr val="3056C9"/>
                          </a:solidFill>
                          <a:latin typeface="Arial" pitchFamily="34" charset="0"/>
                          <a:ea typeface="Arial" pitchFamily="34" charset="-122"/>
                          <a:cs typeface="Arial" pitchFamily="34" charset="-120"/>
                        </a:rPr>
                        <a:t>LinkedIn ads read</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Compare Ad A and Ad B on CTR, CPC and evaluation requests.</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Wed 28 Oct</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To do</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You will have two weeks of data by then.</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r h="352044">
                <a:tc>
                  <a:txBody>
                    <a:bodyPr/>
                    <a:lstStyle/>
                    <a:p>
                      <a:pPr indent="0" marL="0">
                        <a:buNone/>
                      </a:pPr>
                      <a:r>
                        <a:rPr lang="en-US" sz="900" b="1" dirty="0">
                          <a:solidFill>
                            <a:srgbClr val="3056C9"/>
                          </a:solidFill>
                          <a:latin typeface="Arial" pitchFamily="34" charset="0"/>
                          <a:ea typeface="Arial" pitchFamily="34" charset="-122"/>
                          <a:cs typeface="Arial" pitchFamily="34" charset="-120"/>
                        </a:rPr>
                        <a:t>Bidding proposal</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Propose whether to stay on Maximize Clicks or move to conversion-based bidding on Google.</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Thu 29 Oct</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To do</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352044">
                <a:tc>
                  <a:txBody>
                    <a:bodyPr/>
                    <a:lstStyle/>
                    <a:p>
                      <a:pPr indent="0" marL="0">
                        <a:buNone/>
                      </a:pPr>
                      <a:r>
                        <a:rPr lang="en-US" sz="900" b="1" dirty="0">
                          <a:solidFill>
                            <a:srgbClr val="3056C9"/>
                          </a:solidFill>
                          <a:latin typeface="Arial" pitchFamily="34" charset="0"/>
                          <a:ea typeface="Arial" pitchFamily="34" charset="-122"/>
                          <a:cs typeface="Arial" pitchFamily="34" charset="-120"/>
                        </a:rPr>
                        <a:t>Landing page</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Check the insurance page status. When it goes live, update URLs on both channels and retest tracking.</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Thu 29 Oct</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To do</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Nick owns the build.</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r h="352044">
                <a:tc>
                  <a:txBody>
                    <a:bodyPr/>
                    <a:lstStyle/>
                    <a:p>
                      <a:pPr indent="0" marL="0">
                        <a:buNone/>
                      </a:pPr>
                      <a:r>
                        <a:rPr lang="en-US" sz="900" b="1" dirty="0">
                          <a:solidFill>
                            <a:srgbClr val="3056C9"/>
                          </a:solidFill>
                          <a:latin typeface="Arial" pitchFamily="34" charset="0"/>
                          <a:ea typeface="Arial" pitchFamily="34" charset="-122"/>
                          <a:cs typeface="Arial" pitchFamily="34" charset="-120"/>
                        </a:rPr>
                        <a:t>Thursday sync</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Present the bidding proposal and the first optimizations.</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Thu 29 Oct, 10pm MYT</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To do</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bl>
          </a:graphicData>
        </a:graphic>
      </p:graphicFrame>
      <p:sp>
        <p:nvSpPr>
          <p:cNvPr id="7" name="Shape 3"/>
          <p:cNvSpPr/>
          <p:nvPr/>
        </p:nvSpPr>
        <p:spPr>
          <a:xfrm>
            <a:off x="457200" y="4370832"/>
            <a:ext cx="8229600" cy="310896"/>
          </a:xfrm>
          <a:prstGeom prst="rect">
            <a:avLst/>
          </a:prstGeom>
          <a:solidFill>
            <a:srgbClr val="3056C9"/>
          </a:solidFill>
          <a:ln/>
        </p:spPr>
      </p:sp>
      <p:sp>
        <p:nvSpPr>
          <p:cNvPr id="8" name="Text 4"/>
          <p:cNvSpPr/>
          <p:nvPr/>
        </p:nvSpPr>
        <p:spPr>
          <a:xfrm>
            <a:off x="640080" y="4370832"/>
            <a:ext cx="7863840" cy="310896"/>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US clocks change on Sunday 1 November. From 5 November the sync starts at 11pm MYT.</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949440" y="146304"/>
            <a:ext cx="1737360" cy="182880"/>
          </a:xfrm>
          <a:prstGeom prst="rect">
            <a:avLst/>
          </a:prstGeom>
          <a:noFill/>
          <a:ln/>
        </p:spPr>
        <p:txBody>
          <a:bodyPr wrap="square" lIns="0" tIns="0" rIns="0" bIns="0" rtlCol="0" anchor="t"/>
          <a:lstStyle/>
          <a:p>
            <a:pPr algn="r" indent="0" marL="0">
              <a:buNone/>
            </a:pPr>
            <a:r>
              <a:rPr lang="en-US" sz="800" dirty="0">
                <a:solidFill>
                  <a:srgbClr val="9AA0A8"/>
                </a:solidFill>
                <a:latin typeface="Arial" pitchFamily="34" charset="0"/>
                <a:ea typeface="Arial" pitchFamily="34" charset="-122"/>
                <a:cs typeface="Arial" pitchFamily="34" charset="-120"/>
              </a:rPr>
              <a:t>[ toggle.solutions ]</a:t>
            </a:r>
            <a:endParaRPr lang="en-US" sz="800" dirty="0"/>
          </a:p>
        </p:txBody>
      </p:sp>
      <p:sp>
        <p:nvSpPr>
          <p:cNvPr id="3" name="Text 1"/>
          <p:cNvSpPr/>
          <p:nvPr/>
        </p:nvSpPr>
        <p:spPr>
          <a:xfrm>
            <a:off x="457200" y="329184"/>
            <a:ext cx="8229600" cy="384048"/>
          </a:xfrm>
          <a:prstGeom prst="rect">
            <a:avLst/>
          </a:prstGeom>
          <a:noFill/>
          <a:ln/>
        </p:spPr>
        <p:txBody>
          <a:bodyPr wrap="square" lIns="0" tIns="0" rIns="0" bIns="0" rtlCol="0" anchor="t"/>
          <a:lstStyle/>
          <a:p>
            <a:pPr indent="0" marL="0">
              <a:buNone/>
            </a:pPr>
            <a:r>
              <a:rPr lang="en-US" sz="2150" b="1" dirty="0">
                <a:solidFill>
                  <a:srgbClr val="4A7BF7"/>
                </a:solidFill>
                <a:latin typeface="Arial" pitchFamily="34" charset="0"/>
                <a:ea typeface="Arial" pitchFamily="34" charset="-122"/>
                <a:cs typeface="Arial" pitchFamily="34" charset="-120"/>
              </a:rPr>
              <a:t>Week 4  ·  2 to 6 November</a:t>
            </a:r>
            <a:endParaRPr lang="en-US" sz="2150" dirty="0"/>
          </a:p>
        </p:txBody>
      </p:sp>
      <p:sp>
        <p:nvSpPr>
          <p:cNvPr id="4" name="Text 2"/>
          <p:cNvSpPr/>
          <p:nvPr/>
        </p:nvSpPr>
        <p:spPr>
          <a:xfrm>
            <a:off x="457200" y="749808"/>
            <a:ext cx="8229600" cy="274320"/>
          </a:xfrm>
          <a:prstGeom prst="rect">
            <a:avLst/>
          </a:prstGeom>
          <a:noFill/>
          <a:ln/>
        </p:spPr>
        <p:txBody>
          <a:bodyPr wrap="square" lIns="0" tIns="0" rIns="0" bIns="0" rtlCol="0" anchor="t"/>
          <a:lstStyle/>
          <a:p>
            <a:pPr indent="0" marL="0">
              <a:buNone/>
            </a:pPr>
            <a:r>
              <a:rPr lang="en-US" sz="1050" dirty="0">
                <a:solidFill>
                  <a:srgbClr val="4A4A4A"/>
                </a:solidFill>
                <a:latin typeface="Arial" pitchFamily="34" charset="0"/>
                <a:ea typeface="Arial" pitchFamily="34" charset="-122"/>
                <a:cs typeface="Arial" pitchFamily="34" charset="-120"/>
              </a:rPr>
              <a:t>Close October and send the first report</a:t>
            </a:r>
            <a:endParaRPr lang="en-US" sz="10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325880"/>
                <a:gridCol w="3429000"/>
                <a:gridCol w="1005840"/>
                <a:gridCol w="731520"/>
                <a:gridCol w="1737360"/>
              </a:tblGrid>
              <a:tr h="256032">
                <a:tc>
                  <a:txBody>
                    <a:bodyPr/>
                    <a:lstStyle/>
                    <a:p>
                      <a:pPr indent="0" marL="0">
                        <a:buNone/>
                      </a:pPr>
                      <a:r>
                        <a:rPr lang="en-US" sz="900" b="1" dirty="0">
                          <a:solidFill>
                            <a:srgbClr val="FFFFFF"/>
                          </a:solidFill>
                          <a:latin typeface="Arial" pitchFamily="34" charset="0"/>
                          <a:ea typeface="Arial" pitchFamily="34" charset="-122"/>
                          <a:cs typeface="Arial" pitchFamily="34" charset="-120"/>
                        </a:rPr>
                        <a:t>Main item</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Description</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Deadline</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Status</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Remark</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r>
              <a:tr h="219456">
                <a:tc>
                  <a:txBody>
                    <a:bodyPr/>
                    <a:lstStyle/>
                    <a:p>
                      <a:pPr indent="0" marL="0">
                        <a:buNone/>
                      </a:pPr>
                      <a:r>
                        <a:rPr lang="en-US" sz="900" b="1" dirty="0">
                          <a:solidFill>
                            <a:srgbClr val="3056C9"/>
                          </a:solidFill>
                          <a:latin typeface="Arial" pitchFamily="34" charset="0"/>
                          <a:ea typeface="Arial" pitchFamily="34" charset="-122"/>
                          <a:cs typeface="Arial" pitchFamily="34" charset="-120"/>
                        </a:rPr>
                        <a:t>October exports</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Pull the October data from Google Ads, LinkedIn and GA4.</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Mon 2 Nov</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To do</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352044">
                <a:tc>
                  <a:txBody>
                    <a:bodyPr/>
                    <a:lstStyle/>
                    <a:p>
                      <a:pPr indent="0" marL="0">
                        <a:buNone/>
                      </a:pPr>
                      <a:r>
                        <a:rPr lang="en-US" sz="900" b="1" dirty="0">
                          <a:solidFill>
                            <a:srgbClr val="3056C9"/>
                          </a:solidFill>
                          <a:latin typeface="Arial" pitchFamily="34" charset="0"/>
                          <a:ea typeface="Arial" pitchFamily="34" charset="-122"/>
                          <a:cs typeface="Arial" pitchFamily="34" charset="-120"/>
                        </a:rPr>
                        <a:t>Fee and invoice</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Confirm the contract start date and the fee, then invoice October.</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Mon 2 Nov</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To do</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The fee is open: USD 2,000 or USD 1,000.</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r h="352044">
                <a:tc>
                  <a:txBody>
                    <a:bodyPr/>
                    <a:lstStyle/>
                    <a:p>
                      <a:pPr indent="0" marL="0">
                        <a:buNone/>
                      </a:pPr>
                      <a:r>
                        <a:rPr lang="en-US" sz="900" b="1" dirty="0">
                          <a:solidFill>
                            <a:srgbClr val="3056C9"/>
                          </a:solidFill>
                          <a:latin typeface="Arial" pitchFamily="34" charset="0"/>
                          <a:ea typeface="Arial" pitchFamily="34" charset="-122"/>
                          <a:cs typeface="Arial" pitchFamily="34" charset="-120"/>
                        </a:rPr>
                        <a:t>October channel report</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Write the report for the launch period: spend, results, changes and next steps per channel.</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Wed 4 Nov</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To do</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Confirm the due date with Lawrence.</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219456">
                <a:tc>
                  <a:txBody>
                    <a:bodyPr/>
                    <a:lstStyle/>
                    <a:p>
                      <a:pPr indent="0" marL="0">
                        <a:buNone/>
                      </a:pPr>
                      <a:r>
                        <a:rPr lang="en-US" sz="900" b="1" dirty="0">
                          <a:solidFill>
                            <a:srgbClr val="3056C9"/>
                          </a:solidFill>
                          <a:latin typeface="Arial" pitchFamily="34" charset="0"/>
                          <a:ea typeface="Arial" pitchFamily="34" charset="-122"/>
                          <a:cs typeface="Arial" pitchFamily="34" charset="-120"/>
                        </a:rPr>
                        <a:t>Weekly checks</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Keep the weekly checks on slides 12, 14 and 16 going.</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Weekly</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To do</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r h="352044">
                <a:tc>
                  <a:txBody>
                    <a:bodyPr/>
                    <a:lstStyle/>
                    <a:p>
                      <a:pPr indent="0" marL="0">
                        <a:buNone/>
                      </a:pPr>
                      <a:r>
                        <a:rPr lang="en-US" sz="900" b="1" dirty="0">
                          <a:solidFill>
                            <a:srgbClr val="3056C9"/>
                          </a:solidFill>
                          <a:latin typeface="Arial" pitchFamily="34" charset="0"/>
                          <a:ea typeface="Arial" pitchFamily="34" charset="-122"/>
                          <a:cs typeface="Arial" pitchFamily="34" charset="-120"/>
                        </a:rPr>
                        <a:t>Thursday sync</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Walk Lawrence and Octavio through the October report.</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Thu 5 Nov, 11pm MYT</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To do</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The time moves after the clock change.</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352044">
                <a:tc>
                  <a:txBody>
                    <a:bodyPr/>
                    <a:lstStyle/>
                    <a:p>
                      <a:pPr indent="0" marL="0">
                        <a:buNone/>
                      </a:pPr>
                      <a:r>
                        <a:rPr lang="en-US" sz="900" b="1" dirty="0">
                          <a:solidFill>
                            <a:srgbClr val="3056C9"/>
                          </a:solidFill>
                          <a:latin typeface="Arial" pitchFamily="34" charset="0"/>
                          <a:ea typeface="Arial" pitchFamily="34" charset="-122"/>
                          <a:cs typeface="Arial" pitchFamily="34" charset="-120"/>
                        </a:rPr>
                        <a:t>Dashboard v2</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Add HubSpot meetings to the dashboard if Lawrence confirms access.</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Fri 6 Nov</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To do</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See open question 8.</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bl>
          </a:graphicData>
        </a:graphic>
      </p:graphicFrame>
      <p:sp>
        <p:nvSpPr>
          <p:cNvPr id="7" name="Shape 3"/>
          <p:cNvSpPr/>
          <p:nvPr/>
        </p:nvSpPr>
        <p:spPr>
          <a:xfrm>
            <a:off x="457200" y="4370832"/>
            <a:ext cx="8229600" cy="310896"/>
          </a:xfrm>
          <a:prstGeom prst="rect">
            <a:avLst/>
          </a:prstGeom>
          <a:solidFill>
            <a:srgbClr val="3056C9"/>
          </a:solidFill>
          <a:ln/>
        </p:spPr>
      </p:sp>
      <p:sp>
        <p:nvSpPr>
          <p:cNvPr id="8" name="Text 4"/>
          <p:cNvSpPr/>
          <p:nvPr/>
        </p:nvSpPr>
        <p:spPr>
          <a:xfrm>
            <a:off x="640080" y="4370832"/>
            <a:ext cx="7863840" cy="310896"/>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October covers about 16 days of spend. Say so at the top of the report.</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949440" y="146304"/>
            <a:ext cx="1737360" cy="182880"/>
          </a:xfrm>
          <a:prstGeom prst="rect">
            <a:avLst/>
          </a:prstGeom>
          <a:noFill/>
          <a:ln/>
        </p:spPr>
        <p:txBody>
          <a:bodyPr wrap="square" lIns="0" tIns="0" rIns="0" bIns="0" rtlCol="0" anchor="t"/>
          <a:lstStyle/>
          <a:p>
            <a:pPr algn="r" indent="0" marL="0">
              <a:buNone/>
            </a:pPr>
            <a:r>
              <a:rPr lang="en-US" sz="800" dirty="0">
                <a:solidFill>
                  <a:srgbClr val="9AA0A8"/>
                </a:solidFill>
                <a:latin typeface="Arial" pitchFamily="34" charset="0"/>
                <a:ea typeface="Arial" pitchFamily="34" charset="-122"/>
                <a:cs typeface="Arial" pitchFamily="34" charset="-120"/>
              </a:rPr>
              <a:t>[ toggle.solutions ]</a:t>
            </a:r>
            <a:endParaRPr lang="en-US" sz="800" dirty="0"/>
          </a:p>
        </p:txBody>
      </p:sp>
      <p:sp>
        <p:nvSpPr>
          <p:cNvPr id="3" name="Text 1"/>
          <p:cNvSpPr/>
          <p:nvPr/>
        </p:nvSpPr>
        <p:spPr>
          <a:xfrm>
            <a:off x="457200" y="329184"/>
            <a:ext cx="8229600" cy="384048"/>
          </a:xfrm>
          <a:prstGeom prst="rect">
            <a:avLst/>
          </a:prstGeom>
          <a:noFill/>
          <a:ln/>
        </p:spPr>
        <p:txBody>
          <a:bodyPr wrap="square" lIns="0" tIns="0" rIns="0" bIns="0" rtlCol="0" anchor="t"/>
          <a:lstStyle/>
          <a:p>
            <a:pPr indent="0" marL="0">
              <a:buNone/>
            </a:pPr>
            <a:r>
              <a:rPr lang="en-US" sz="2150" b="1" dirty="0">
                <a:solidFill>
                  <a:srgbClr val="4A7BF7"/>
                </a:solidFill>
                <a:latin typeface="Arial" pitchFamily="34" charset="0"/>
                <a:ea typeface="Arial" pitchFamily="34" charset="-122"/>
                <a:cs typeface="Arial" pitchFamily="34" charset="-120"/>
              </a:rPr>
              <a:t>Week 5  ·  9 to 13 November</a:t>
            </a:r>
            <a:endParaRPr lang="en-US" sz="2150" dirty="0"/>
          </a:p>
        </p:txBody>
      </p:sp>
      <p:sp>
        <p:nvSpPr>
          <p:cNvPr id="4" name="Text 2"/>
          <p:cNvSpPr/>
          <p:nvPr/>
        </p:nvSpPr>
        <p:spPr>
          <a:xfrm>
            <a:off x="457200" y="749808"/>
            <a:ext cx="8229600" cy="274320"/>
          </a:xfrm>
          <a:prstGeom prst="rect">
            <a:avLst/>
          </a:prstGeom>
          <a:noFill/>
          <a:ln/>
        </p:spPr>
        <p:txBody>
          <a:bodyPr wrap="square" lIns="0" tIns="0" rIns="0" bIns="0" rtlCol="0" anchor="t"/>
          <a:lstStyle/>
          <a:p>
            <a:pPr indent="0" marL="0">
              <a:buNone/>
            </a:pPr>
            <a:r>
              <a:rPr lang="en-US" sz="1050" dirty="0">
                <a:solidFill>
                  <a:srgbClr val="4A4A4A"/>
                </a:solidFill>
                <a:latin typeface="Arial" pitchFamily="34" charset="0"/>
                <a:ea typeface="Arial" pitchFamily="34" charset="-122"/>
                <a:cs typeface="Arial" pitchFamily="34" charset="-120"/>
              </a:rPr>
              <a:t>Run the 30-day review and plan November</a:t>
            </a:r>
            <a:endParaRPr lang="en-US" sz="10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325880"/>
                <a:gridCol w="3429000"/>
                <a:gridCol w="1005840"/>
                <a:gridCol w="731520"/>
                <a:gridCol w="1737360"/>
              </a:tblGrid>
              <a:tr h="256032">
                <a:tc>
                  <a:txBody>
                    <a:bodyPr/>
                    <a:lstStyle/>
                    <a:p>
                      <a:pPr indent="0" marL="0">
                        <a:buNone/>
                      </a:pPr>
                      <a:r>
                        <a:rPr lang="en-US" sz="900" b="1" dirty="0">
                          <a:solidFill>
                            <a:srgbClr val="FFFFFF"/>
                          </a:solidFill>
                          <a:latin typeface="Arial" pitchFamily="34" charset="0"/>
                          <a:ea typeface="Arial" pitchFamily="34" charset="-122"/>
                          <a:cs typeface="Arial" pitchFamily="34" charset="-120"/>
                        </a:rPr>
                        <a:t>Main item</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Description</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Deadline</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Status</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Remark</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r>
              <a:tr h="352044">
                <a:tc>
                  <a:txBody>
                    <a:bodyPr/>
                    <a:lstStyle/>
                    <a:p>
                      <a:pPr indent="0" marL="0">
                        <a:buNone/>
                      </a:pPr>
                      <a:r>
                        <a:rPr lang="en-US" sz="900" b="1" dirty="0">
                          <a:solidFill>
                            <a:srgbClr val="3056C9"/>
                          </a:solidFill>
                          <a:latin typeface="Arial" pitchFamily="34" charset="0"/>
                          <a:ea typeface="Arial" pitchFamily="34" charset="-122"/>
                          <a:cs typeface="Arial" pitchFamily="34" charset="-120"/>
                        </a:rPr>
                        <a:t>30-day review</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Review evaluation requests, meetings, cost per evaluation request and channel results since launch.</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Wed 11 Nov</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To do</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352044">
                <a:tc>
                  <a:txBody>
                    <a:bodyPr/>
                    <a:lstStyle/>
                    <a:p>
                      <a:pPr indent="0" marL="0">
                        <a:buNone/>
                      </a:pPr>
                      <a:r>
                        <a:rPr lang="en-US" sz="900" b="1" dirty="0">
                          <a:solidFill>
                            <a:srgbClr val="3056C9"/>
                          </a:solidFill>
                          <a:latin typeface="Arial" pitchFamily="34" charset="0"/>
                          <a:ea typeface="Arial" pitchFamily="34" charset="-122"/>
                          <a:cs typeface="Arial" pitchFamily="34" charset="-120"/>
                        </a:rPr>
                        <a:t>Budget proposal</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Propose any shift between LinkedIn prospecting, LinkedIn remarketing and Google Search.</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Wed 11 Nov</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To do</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r h="219456">
                <a:tc>
                  <a:txBody>
                    <a:bodyPr/>
                    <a:lstStyle/>
                    <a:p>
                      <a:pPr indent="0" marL="0">
                        <a:buNone/>
                      </a:pPr>
                      <a:r>
                        <a:rPr lang="en-US" sz="900" b="1" dirty="0">
                          <a:solidFill>
                            <a:srgbClr val="3056C9"/>
                          </a:solidFill>
                          <a:latin typeface="Arial" pitchFamily="34" charset="0"/>
                          <a:ea typeface="Arial" pitchFamily="34" charset="-122"/>
                          <a:cs typeface="Arial" pitchFamily="34" charset="-120"/>
                        </a:rPr>
                        <a:t>Target</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Propose a cost per evaluation request target to Lawrence.</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Thu 12 Nov</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To do</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No target exists today.</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352044">
                <a:tc>
                  <a:txBody>
                    <a:bodyPr/>
                    <a:lstStyle/>
                    <a:p>
                      <a:pPr indent="0" marL="0">
                        <a:buNone/>
                      </a:pPr>
                      <a:r>
                        <a:rPr lang="en-US" sz="900" b="1" dirty="0">
                          <a:solidFill>
                            <a:srgbClr val="3056C9"/>
                          </a:solidFill>
                          <a:latin typeface="Arial" pitchFamily="34" charset="0"/>
                          <a:ea typeface="Arial" pitchFamily="34" charset="-122"/>
                          <a:cs typeface="Arial" pitchFamily="34" charset="-120"/>
                        </a:rPr>
                        <a:t>Webinar track</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Ask whether Lawrence is switching the webinar on. If he is, you run its LinkedIn Lead Gen ads.</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Thu 12 Nov</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To do</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Lawrence's plan has it on hold.</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r h="352044">
                <a:tc>
                  <a:txBody>
                    <a:bodyPr/>
                    <a:lstStyle/>
                    <a:p>
                      <a:pPr indent="0" marL="0">
                        <a:buNone/>
                      </a:pPr>
                      <a:r>
                        <a:rPr lang="en-US" sz="900" b="1" dirty="0">
                          <a:solidFill>
                            <a:srgbClr val="3056C9"/>
                          </a:solidFill>
                          <a:latin typeface="Arial" pitchFamily="34" charset="0"/>
                          <a:ea typeface="Arial" pitchFamily="34" charset="-122"/>
                          <a:cs typeface="Arial" pitchFamily="34" charset="-120"/>
                        </a:rPr>
                        <a:t>Phase 2 audiences</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Ask about syncing HubSpot lists to LinkedIn as matched audiences.</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Thu 12 Nov</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To do</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The 8 Oct call named this phase 2.</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352044">
                <a:tc>
                  <a:txBody>
                    <a:bodyPr/>
                    <a:lstStyle/>
                    <a:p>
                      <a:pPr indent="0" marL="0">
                        <a:buNone/>
                      </a:pPr>
                      <a:r>
                        <a:rPr lang="en-US" sz="900" b="1" dirty="0">
                          <a:solidFill>
                            <a:srgbClr val="3056C9"/>
                          </a:solidFill>
                          <a:latin typeface="Arial" pitchFamily="34" charset="0"/>
                          <a:ea typeface="Arial" pitchFamily="34" charset="-122"/>
                          <a:cs typeface="Arial" pitchFamily="34" charset="-120"/>
                        </a:rPr>
                        <a:t>Thursday sync</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Present the 30-day review and the November plan.</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Thu 12 Nov, 11pm MYT</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To do</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r h="219456">
                <a:tc>
                  <a:txBody>
                    <a:bodyPr/>
                    <a:lstStyle/>
                    <a:p>
                      <a:pPr indent="0" marL="0">
                        <a:buNone/>
                      </a:pPr>
                      <a:r>
                        <a:rPr lang="en-US" sz="900" b="1" dirty="0">
                          <a:solidFill>
                            <a:srgbClr val="3056C9"/>
                          </a:solidFill>
                          <a:latin typeface="Arial" pitchFamily="34" charset="0"/>
                          <a:ea typeface="Arial" pitchFamily="34" charset="-122"/>
                          <a:cs typeface="Arial" pitchFamily="34" charset="-120"/>
                        </a:rPr>
                        <a:t>Update this deck</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Add the next four weeks and close the finished rows.</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Fri 13 Nov</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To do</a:t>
                      </a: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endParaRPr lang="en-US" sz="90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bl>
          </a:graphicData>
        </a:graphic>
      </p:graphicFrame>
      <p:sp>
        <p:nvSpPr>
          <p:cNvPr id="7" name="Shape 3"/>
          <p:cNvSpPr/>
          <p:nvPr/>
        </p:nvSpPr>
        <p:spPr>
          <a:xfrm>
            <a:off x="457200" y="4370832"/>
            <a:ext cx="8229600" cy="310896"/>
          </a:xfrm>
          <a:prstGeom prst="rect">
            <a:avLst/>
          </a:prstGeom>
          <a:solidFill>
            <a:srgbClr val="3056C9"/>
          </a:solidFill>
          <a:ln/>
        </p:spPr>
      </p:sp>
      <p:sp>
        <p:nvSpPr>
          <p:cNvPr id="8" name="Text 4"/>
          <p:cNvSpPr/>
          <p:nvPr/>
        </p:nvSpPr>
        <p:spPr>
          <a:xfrm>
            <a:off x="640080" y="4370832"/>
            <a:ext cx="7863840" cy="310896"/>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Use the 30-day review to set the November budget split. Bring the numbers for each channel.</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949440" y="146304"/>
            <a:ext cx="1737360" cy="182880"/>
          </a:xfrm>
          <a:prstGeom prst="rect">
            <a:avLst/>
          </a:prstGeom>
          <a:noFill/>
          <a:ln/>
        </p:spPr>
        <p:txBody>
          <a:bodyPr wrap="square" lIns="0" tIns="0" rIns="0" bIns="0" rtlCol="0" anchor="t"/>
          <a:lstStyle/>
          <a:p>
            <a:pPr algn="r" indent="0" marL="0">
              <a:buNone/>
            </a:pPr>
            <a:r>
              <a:rPr lang="en-US" sz="800" dirty="0">
                <a:solidFill>
                  <a:srgbClr val="9AA0A8"/>
                </a:solidFill>
                <a:latin typeface="Arial" pitchFamily="34" charset="0"/>
                <a:ea typeface="Arial" pitchFamily="34" charset="-122"/>
                <a:cs typeface="Arial" pitchFamily="34" charset="-120"/>
              </a:rPr>
              <a:t>[ toggle.solutions ]</a:t>
            </a:r>
            <a:endParaRPr lang="en-US" sz="800" dirty="0"/>
          </a:p>
        </p:txBody>
      </p:sp>
      <p:sp>
        <p:nvSpPr>
          <p:cNvPr id="3" name="Text 1"/>
          <p:cNvSpPr/>
          <p:nvPr/>
        </p:nvSpPr>
        <p:spPr>
          <a:xfrm>
            <a:off x="457200" y="329184"/>
            <a:ext cx="8229600" cy="384048"/>
          </a:xfrm>
          <a:prstGeom prst="rect">
            <a:avLst/>
          </a:prstGeom>
          <a:noFill/>
          <a:ln/>
        </p:spPr>
        <p:txBody>
          <a:bodyPr wrap="square" lIns="0" tIns="0" rIns="0" bIns="0" rtlCol="0" anchor="t"/>
          <a:lstStyle/>
          <a:p>
            <a:pPr indent="0" marL="0">
              <a:buNone/>
            </a:pPr>
            <a:r>
              <a:rPr lang="en-US" sz="2150" b="1" dirty="0">
                <a:solidFill>
                  <a:srgbClr val="4A7BF7"/>
                </a:solidFill>
                <a:latin typeface="Arial" pitchFamily="34" charset="0"/>
                <a:ea typeface="Arial" pitchFamily="34" charset="-122"/>
                <a:cs typeface="Arial" pitchFamily="34" charset="-120"/>
              </a:rPr>
              <a:t>Internal setup: sheets and folders</a:t>
            </a:r>
            <a:endParaRPr lang="en-US" sz="2150" dirty="0"/>
          </a:p>
        </p:txBody>
      </p:sp>
      <p:sp>
        <p:nvSpPr>
          <p:cNvPr id="4" name="Text 2"/>
          <p:cNvSpPr/>
          <p:nvPr/>
        </p:nvSpPr>
        <p:spPr>
          <a:xfrm>
            <a:off x="457200" y="749808"/>
            <a:ext cx="8229600" cy="274320"/>
          </a:xfrm>
          <a:prstGeom prst="rect">
            <a:avLst/>
          </a:prstGeom>
          <a:noFill/>
          <a:ln/>
        </p:spPr>
        <p:txBody>
          <a:bodyPr wrap="square" lIns="0" tIns="0" rIns="0" bIns="0" rtlCol="0" anchor="t"/>
          <a:lstStyle/>
          <a:p>
            <a:pPr indent="0" marL="0">
              <a:buNone/>
            </a:pPr>
            <a:r>
              <a:rPr lang="en-US" sz="1050" dirty="0">
                <a:solidFill>
                  <a:srgbClr val="4A4A4A"/>
                </a:solidFill>
                <a:latin typeface="Arial" pitchFamily="34" charset="0"/>
                <a:ea typeface="Arial" pitchFamily="34" charset="-122"/>
                <a:cs typeface="Arial" pitchFamily="34" charset="-120"/>
              </a:rPr>
              <a:t>These items have no dates. Create them early, because the weekly work runs out of them.</a:t>
            </a:r>
            <a:endParaRPr lang="en-US" sz="10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194560"/>
                <a:gridCol w="4206240"/>
                <a:gridCol w="1097280"/>
                <a:gridCol w="731520"/>
              </a:tblGrid>
              <a:tr h="256032">
                <a:tc>
                  <a:txBody>
                    <a:bodyPr/>
                    <a:lstStyle/>
                    <a:p>
                      <a:pPr indent="0" marL="0">
                        <a:buNone/>
                      </a:pPr>
                      <a:r>
                        <a:rPr lang="en-US" sz="850" b="1" dirty="0">
                          <a:solidFill>
                            <a:srgbClr val="FFFFFF"/>
                          </a:solidFill>
                          <a:latin typeface="Arial" pitchFamily="34" charset="0"/>
                          <a:ea typeface="Arial" pitchFamily="34" charset="-122"/>
                          <a:cs typeface="Arial" pitchFamily="34" charset="-120"/>
                        </a:rPr>
                        <a:t>Item</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What goes in it</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Link</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Status</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r>
              <a:tr h="464439">
                <a:tc>
                  <a:txBody>
                    <a:bodyPr/>
                    <a:lstStyle/>
                    <a:p>
                      <a:pPr indent="0" marL="0">
                        <a:buNone/>
                      </a:pPr>
                      <a:r>
                        <a:rPr lang="en-US" sz="850" b="1" dirty="0">
                          <a:solidFill>
                            <a:srgbClr val="3056C9"/>
                          </a:solidFill>
                          <a:latin typeface="Arial" pitchFamily="34" charset="0"/>
                          <a:ea typeface="Arial" pitchFamily="34" charset="-122"/>
                          <a:cs typeface="Arial" pitchFamily="34" charset="-120"/>
                        </a:rPr>
                        <a:t>Budget and performance tracker, with campaign structure</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Monthly budget by channel and campaign, daily pacing, weekly results, the campaign and audience structure, naming conventions and UTMs. Log every change here with its date.</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To do</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337058">
                <a:tc>
                  <a:txBody>
                    <a:bodyPr/>
                    <a:lstStyle/>
                    <a:p>
                      <a:pPr indent="0" marL="0">
                        <a:buNone/>
                      </a:pPr>
                      <a:r>
                        <a:rPr lang="en-US" sz="850" b="1" dirty="0">
                          <a:solidFill>
                            <a:srgbClr val="3056C9"/>
                          </a:solidFill>
                          <a:latin typeface="Arial" pitchFamily="34" charset="0"/>
                          <a:ea typeface="Arial" pitchFamily="34" charset="-122"/>
                          <a:cs typeface="Arial" pitchFamily="34" charset="-120"/>
                        </a:rPr>
                        <a:t>Google Search ad copies</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Headlines and descriptions per ad group with character counts, the new assets, and approval status from Lawrence.</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To do</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r h="337058">
                <a:tc>
                  <a:txBody>
                    <a:bodyPr/>
                    <a:lstStyle/>
                    <a:p>
                      <a:pPr indent="0" marL="0">
                        <a:buNone/>
                      </a:pPr>
                      <a:r>
                        <a:rPr lang="en-US" sz="850" b="1" dirty="0">
                          <a:solidFill>
                            <a:srgbClr val="3056C9"/>
                          </a:solidFill>
                          <a:latin typeface="Arial" pitchFamily="34" charset="0"/>
                          <a:ea typeface="Arial" pitchFamily="34" charset="-122"/>
                          <a:cs typeface="Arial" pitchFamily="34" charset="-120"/>
                        </a:rPr>
                        <a:t>LinkedIn ad copies</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Ad A and Ad B intro text, headline and button, the UTM for each ad, and the creative file names.</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To do</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219456">
                <a:tc>
                  <a:txBody>
                    <a:bodyPr/>
                    <a:lstStyle/>
                    <a:p>
                      <a:pPr indent="0" marL="0">
                        <a:buNone/>
                      </a:pPr>
                      <a:r>
                        <a:rPr lang="en-US" sz="850" b="1" dirty="0">
                          <a:solidFill>
                            <a:srgbClr val="3056C9"/>
                          </a:solidFill>
                          <a:latin typeface="Arial" pitchFamily="34" charset="0"/>
                          <a:ea typeface="Arial" pitchFamily="34" charset="-122"/>
                          <a:cs typeface="Arial" pitchFamily="34" charset="-120"/>
                        </a:rPr>
                        <a:t>Digital Ads Google Drive folder</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The tracking plan, reports, data exports, meeting notes and access records.</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To do</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r h="337058">
                <a:tc>
                  <a:txBody>
                    <a:bodyPr/>
                    <a:lstStyle/>
                    <a:p>
                      <a:pPr indent="0" marL="0">
                        <a:buNone/>
                      </a:pPr>
                      <a:r>
                        <a:rPr lang="en-US" sz="850" b="1" dirty="0">
                          <a:solidFill>
                            <a:srgbClr val="3056C9"/>
                          </a:solidFill>
                          <a:latin typeface="Arial" pitchFamily="34" charset="0"/>
                          <a:ea typeface="Arial" pitchFamily="34" charset="-122"/>
                          <a:cs typeface="Arial" pitchFamily="34" charset="-120"/>
                        </a:rPr>
                        <a:t>Ads creative Google Drive folder</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Octavio's final assets: the two static ads and the video, with sizes and versions.</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To do</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337058">
                <a:tc>
                  <a:txBody>
                    <a:bodyPr/>
                    <a:lstStyle/>
                    <a:p>
                      <a:pPr indent="0" marL="0">
                        <a:buNone/>
                      </a:pPr>
                      <a:r>
                        <a:rPr lang="en-US" sz="850" b="1" dirty="0">
                          <a:solidFill>
                            <a:srgbClr val="3056C9"/>
                          </a:solidFill>
                          <a:latin typeface="Arial" pitchFamily="34" charset="0"/>
                          <a:ea typeface="Arial" pitchFamily="34" charset="-122"/>
                          <a:cs typeface="Arial" pitchFamily="34" charset="-120"/>
                        </a:rPr>
                        <a:t>Looker Studio dashboard</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Google Ads, LinkedIn and GA4 in one view: spend, evaluation requests, cost per request, and the funnel diagnostics.</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850" dirty="0">
                          <a:solidFill>
                            <a:srgbClr val="4A4A4A"/>
                          </a:solidFill>
                          <a:latin typeface="Arial" pitchFamily="34" charset="0"/>
                          <a:ea typeface="Arial" pitchFamily="34" charset="-122"/>
                          <a:cs typeface="Arial" pitchFamily="34" charset="-120"/>
                        </a:rPr>
                        <a:t>To do</a:t>
                      </a:r>
                      <a:endParaRPr lang="en-US" sz="850" dirty="0">
                        <a:latin typeface="Arial" charset="0"/>
                        <a:ea typeface="Arial" charset="0"/>
                        <a:cs typeface="Arial" charset="0"/>
                      </a:endParaRPr>
                    </a:p>
                  </a:txBody>
                  <a:tcPr marL="63500" marR="63500" marT="38100" marB="381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2F3F6"/>
                    </a:solidFill>
                  </a:tcPr>
                </a:tc>
              </a:tr>
            </a:tbl>
          </a:graphicData>
        </a:graphic>
      </p:graphicFrame>
      <p:sp>
        <p:nvSpPr>
          <p:cNvPr id="7" name="Shape 3"/>
          <p:cNvSpPr/>
          <p:nvPr/>
        </p:nvSpPr>
        <p:spPr>
          <a:xfrm>
            <a:off x="457200" y="4370832"/>
            <a:ext cx="8229600" cy="310896"/>
          </a:xfrm>
          <a:prstGeom prst="rect">
            <a:avLst/>
          </a:prstGeom>
          <a:solidFill>
            <a:srgbClr val="3056C9"/>
          </a:solidFill>
          <a:ln/>
        </p:spPr>
      </p:sp>
      <p:sp>
        <p:nvSpPr>
          <p:cNvPr id="8" name="Text 4"/>
          <p:cNvSpPr/>
          <p:nvPr/>
        </p:nvSpPr>
        <p:spPr>
          <a:xfrm>
            <a:off x="640080" y="4370832"/>
            <a:ext cx="7863840" cy="310896"/>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Keep the tracker as the single record of every change you make in either account.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VoiceRun next steps</dc:title>
  <dc:subject>PptxGenJS Presentation</dc:subject>
  <dc:creator>PptxGenJS</dc:creator>
  <cp:lastModifiedBy>PptxGenJS</cp:lastModifiedBy>
  <cp:revision>1</cp:revision>
  <dcterms:created xsi:type="dcterms:W3CDTF">2026-10-09T11:13:37Z</dcterms:created>
  <dcterms:modified xsi:type="dcterms:W3CDTF">2026-10-09T11:13:37Z</dcterms:modified>
</cp:coreProperties>
</file>