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Instrument Sans" pitchFamily="2" charset="0"/>
      <p:regular r:id="rId13"/>
      <p:bold r:id="rId14"/>
    </p:embeddedFont>
    <p:embeddedFont>
      <p:font typeface="Instrument Serif" pitchFamily="2" charset="0"/>
      <p:regular r:id="rId15"/>
      <p:italic r:id="rId16"/>
    </p:embeddedFont>
    <p:embeddedFont>
      <p:font typeface="JetBrains Mono" panose="02000009000000000000" pitchFamily="49" charset="0"/>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2619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Prepared October 2026. Media figures in this deck are ad spend only; the Toggle management fee is billed on top.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TikTok Ads API (tools/tiktok-ads/tt), advertiser 7351287858143215617, pulled 9 Oct 2026.
12 Jun to 8 Oct 2026: RM 27,919.25 spend, 934 leads, RM 29.89 per lead.
Cost per lead by month: Jun RM 14.54 (generic volume form, 303 leads), Jul RM 34.95, Aug RM 35.51, Sep RM 47.56, Oct 1 to 8 RM 27.21.
WATI line: TikTok delivered 195 (Aug) + 147 (Sep) = 342 leads. The 15 Sep WATI audit found 9 leads recorded in WATI across Aug and Sep.
Right card totals come from slide 5. CPQL = 330,000 / 1,678 = RM 196.66.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jobs, audiences and funnel splits carry over from the Full Funnel Growth Proposal (Aug 2026) and the Oct-Nov campaign plan.
RM 37.42 = TikTok Rich Content + High Intent campaigns, 30 Jun to 8 Oct: RM 23,762.26 / 635 leads.
Facts checked on ijn.edu.my on 23 Sep: Diploma in Nursing students do clinical placements at IJN and Ministry of Health hospitals; PTPTN applies to Psychology and DHLM only (IJN, 18 Aug), so copy says "selected diplomas".
No medical imaging program exists. Never write "MQA accredited" for nursing (provisional, MQA/PA).
Pharmaceutical Technology: 84 leads at RM 31.93 in Aug 2026, the cheapest asset that month.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month = the RM 20,000 split IJN approved for Oct-Nov 2026 (47 / 33 / 20).
Open day month: TikTok 14,000 (47%), Meta 11,000 (37%), Google 5,000 (17%). Google capped at 5,000 because the Sept execution plan flagged 5,000 as close to the search ceiling for these terms.
Leads = spend / cost per lead, rounded per platform. Qualified = leads x 25% (TikTok, Meta) or 35% (Google), the midpoints of the ranges in the Full Funnel Growth Proposal.
Normal: 247 + 94 + 47 = 388 leads; 62 + 24 + 16 = 102 qualified. Open day: 368 + 157 + 59 = 584 leads; 92 + 39 + 21 = 152 qualified.
TikTok RM 38 = RM 37.42 measured on the two quality forms, 30 Jun to 8 Oct. Meta RM 70 and Google RM 85 are the midpoints of the benchmark ranges already shown to IJN (RM 60 to 80, RM 80 to 90).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2026 runs under the current open day campaign (RM 20,000, approved 23 Sep). It sits outside this plan and its totals. Meta and Google Search launch and learn in October, so November 2026 is counted as a full normal month.
Open day months are an assumption: Mar, Apr, Jun, Oct, Nov 2027. Move them once IJN sends the 2027 open day calendar.
Intakes per ijn.edu.my (checked 23 Sep 2026): Nursing, Physio, Pharmacy, DMHS, Healthcare Mgmt = Jan and Jul. Cardiovascular Tech, Pharm Tech = Feb and Sep. Bachelor of Nursing Science = Mar. Psychology, HRM = Apr, Jul, Nov.
Totals: 9 normal months x RM 20,000 + 5 open day months x RM 30,000 = RM 330,000. Leads 9 x 388 + 5 x 584 = 6,412. Qualified 9 x 102 + 5 x 152 = 1,678.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rate finding from the June to July TikTok review across 40 ads (Full Funnel Growth Proposal, slide 4).
Per month, normal: 8 TikTok videos + 4 Meta Reels + 6 Meta images = 18. Open day: 12 + 6 + 10 = 28.
Meta Reels are re-edits of the TikTok footage (new hook, captions, crop), so raw filming covers the TikTok count.
Totals over 14 months: 9 x 18 + 5 x 28 = 302 pieces; videos 9 x 12 + 5 x 18 = 198; images 9 x 6 + 5 x 10 = 104.
Production is a separate charge from media and management. Quote once IJN picks an option.
Rules carried from the execution plan: no AI generated video (TikTok shadow ban risk), no salary or job guarantees, no named university comparisons, no fee or PTPTN figures without written confirmation.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"today" figures come from the WATI audit of 15 Sep 2026 (IJNUC-WATI-Audit-2026-09-15.pptx), pulled from WATI analytics for June to September.
342 = TikTok leads Aug (195) + Sep (147). 9 = leads recorded in WATI across Aug and Sep.
566 contacts sit at New Lead, none marked won. First response 11h 25m, one operator. Last audited week: 10 expired + 10 missed vs 4 solved.
Meta rejected the display name for not matching an operational website. Fix needs the registered SSM entity name, shown on the website (footer), resubmitted through Meta Business Manager. All 19 templates are approved.
Do not blast the 35,924 At Risk contacts. Reactivate in cohorts of 2,000 to 3,000, Winback first, only while the number quality rating holds at High.
Band: 1,678 qualified / 3 = 559 students; x 0.4 = 671. The 1 in 3 close rate is IJN's estimate (qualified lead to student), not yet measured.
WATI work is out of Toggle scope. The outgoing vendor does these fixes.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Cadence: alternate weeks. Week 1 online (45 min), week 3 in person at the KL campus (90 min).
Dashboard: Looker Studio, refreshed daily from TikTok, Meta and Google Ads, joined to the sales team lead sheet for qualified, attended, applied and enrolled.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students is our working assumption, not an IJN number. Replace it once IJN confirms the 2027 target.
Ask for the target by intake and by program, so budget can follow the intakes that matter most.
The fee and waiver rule stands: the Foundation tuition waiver, RM 3,000 undergraduate waiver and RM 250 per A are still unconfirmed in writing.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details match the earlier IJN decks (Viknesh). Swap in the account lead if that changes.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D"/>
        </a:solidFill>
        <a:effectLst/>
      </p:bgPr>
    </p:bg>
    <p:spTree>
      <p:nvGrpSpPr>
        <p:cNvPr id="1" name=""/>
        <p:cNvGrpSpPr/>
        <p:nvPr/>
      </p:nvGrpSpPr>
      <p:grpSpPr>
        <a:xfrm>
          <a:off x="0" y="0"/>
          <a:ext cx="0" cy="0"/>
          <a:chOff x="0" y="0"/>
          <a:chExt cx="0" cy="0"/>
        </a:xfrm>
      </p:grpSpPr>
      <p:pic>
        <p:nvPicPr>
          <p:cNvPr id="2" name="Image 0" descr="C:\Users\Jordan\AppData\Local\Temp\claude\C--Users-Jordan-Desktop-Claude-Code-toggle-brain\8f4708d6-c52d-4377-a47e-7e8279d2307d\scratchpad\ijn-deck\wave.png"/>
          <p:cNvPicPr>
            <a:picLocks noChangeAspect="1"/>
          </p:cNvPicPr>
          <p:nvPr/>
        </p:nvPicPr>
        <p:blipFill>
          <a:blip r:embed="rId3"/>
          <a:stretch>
            <a:fillRect/>
          </a:stretch>
        </p:blipFill>
        <p:spPr>
          <a:xfrm>
            <a:off x="0" y="2609956"/>
            <a:ext cx="12191695" cy="4248044"/>
          </a:xfrm>
          <a:prstGeom prst="rect">
            <a:avLst/>
          </a:prstGeom>
        </p:spPr>
      </p:pic>
      <p:pic>
        <p:nvPicPr>
          <p:cNvPr id="3" name="Image 1" descr="C:\Users\Jordan\AppData\Local\Temp\claude\C--Users-Jordan-Desktop-Claude-Code-toggle-brain\8f4708d6-c52d-4377-a47e-7e8279d2307d\scratchpad\ijn-deck\wordmark.png"/>
          <p:cNvPicPr>
            <a:picLocks noChangeAspect="1"/>
          </p:cNvPicPr>
          <p:nvPr/>
        </p:nvPicPr>
        <p:blipFill>
          <a:blip r:embed="rId4"/>
          <a:stretch>
            <a:fillRect/>
          </a:stretch>
        </p:blipFill>
        <p:spPr>
          <a:xfrm>
            <a:off x="609905" y="868680"/>
            <a:ext cx="1216152" cy="332919"/>
          </a:xfrm>
          <a:prstGeom prst="rect">
            <a:avLst/>
          </a:prstGeom>
        </p:spPr>
      </p:pic>
      <p:sp>
        <p:nvSpPr>
          <p:cNvPr id="4" name="Text 0"/>
          <p:cNvSpPr/>
          <p:nvPr/>
        </p:nvSpPr>
        <p:spPr>
          <a:xfrm>
            <a:off x="609905" y="1783080"/>
            <a:ext cx="9144000" cy="1783080"/>
          </a:xfrm>
          <a:prstGeom prst="rect">
            <a:avLst/>
          </a:prstGeom>
          <a:noFill/>
          <a:ln/>
        </p:spPr>
        <p:txBody>
          <a:bodyPr wrap="square" lIns="0" tIns="0" rIns="0" bIns="0" rtlCol="0" anchor="t"/>
          <a:lstStyle/>
          <a:p>
            <a:pPr marL="0" indent="0">
              <a:lnSpc>
                <a:spcPct val="98000"/>
              </a:lnSpc>
              <a:buNone/>
            </a:pPr>
            <a:r>
              <a:rPr lang="en-US" sz="5800" dirty="0">
                <a:solidFill>
                  <a:srgbClr val="0E1B33"/>
                </a:solidFill>
                <a:latin typeface="Instrument Serif" pitchFamily="34" charset="0"/>
                <a:ea typeface="Instrument Serif" pitchFamily="34" charset="-122"/>
                <a:cs typeface="Instrument Serif" pitchFamily="34" charset="-120"/>
              </a:rPr>
              <a:t>Growth plan for
</a:t>
            </a:r>
            <a:r>
              <a:rPr lang="en-US" sz="5800" i="1" dirty="0">
                <a:solidFill>
                  <a:srgbClr val="2A6BE0"/>
                </a:solidFill>
                <a:latin typeface="Instrument Serif" pitchFamily="34" charset="0"/>
                <a:ea typeface="Instrument Serif" pitchFamily="34" charset="-122"/>
                <a:cs typeface="Instrument Serif" pitchFamily="34" charset="-120"/>
              </a:rPr>
              <a:t>IJN University College</a:t>
            </a:r>
            <a:endParaRPr lang="en-US" sz="5800" dirty="0"/>
          </a:p>
        </p:txBody>
      </p:sp>
      <p:sp>
        <p:nvSpPr>
          <p:cNvPr id="5" name="Text 1"/>
          <p:cNvSpPr/>
          <p:nvPr/>
        </p:nvSpPr>
        <p:spPr>
          <a:xfrm>
            <a:off x="609905" y="3703320"/>
            <a:ext cx="9144000" cy="274320"/>
          </a:xfrm>
          <a:prstGeom prst="rect">
            <a:avLst/>
          </a:prstGeom>
          <a:noFill/>
          <a:ln/>
        </p:spPr>
        <p:txBody>
          <a:bodyPr wrap="square" lIns="0" tIns="0" rIns="0" bIns="0" rtlCol="0" anchor="t"/>
          <a:lstStyle/>
          <a:p>
            <a:pPr marL="0" indent="0">
              <a:lnSpc>
                <a:spcPct val="125000"/>
              </a:lnSpc>
              <a:buNone/>
            </a:pPr>
            <a:r>
              <a:rPr lang="en-US" sz="1000" kern="0" spc="40" dirty="0">
                <a:solidFill>
                  <a:srgbClr val="4A5A75"/>
                </a:solidFill>
                <a:latin typeface="JetBrains Mono" pitchFamily="34" charset="0"/>
                <a:ea typeface="JetBrains Mono" pitchFamily="34" charset="-122"/>
                <a:cs typeface="JetBrains Mono" pitchFamily="34" charset="-120"/>
              </a:rPr>
              <a:t>November 2026 to December 2027  ·  TikTok, Meta and Google Search</a:t>
            </a:r>
            <a:endParaRPr lang="en-US" sz="1000" dirty="0"/>
          </a:p>
        </p:txBody>
      </p:sp>
      <p:sp>
        <p:nvSpPr>
          <p:cNvPr id="6" name="Text 2"/>
          <p:cNvSpPr/>
          <p:nvPr/>
        </p:nvSpPr>
        <p:spPr>
          <a:xfrm>
            <a:off x="609905" y="4023360"/>
            <a:ext cx="9144000" cy="274320"/>
          </a:xfrm>
          <a:prstGeom prst="rect">
            <a:avLst/>
          </a:prstGeom>
          <a:noFill/>
          <a:ln/>
        </p:spPr>
        <p:txBody>
          <a:bodyPr wrap="square" lIns="0" tIns="0" rIns="0" bIns="0" rtlCol="0" anchor="t"/>
          <a:lstStyle/>
          <a:p>
            <a:pPr marL="0" indent="0">
              <a:lnSpc>
                <a:spcPct val="125000"/>
              </a:lnSpc>
              <a:buNone/>
            </a:pPr>
            <a:r>
              <a:rPr lang="en-US" sz="1100" dirty="0">
                <a:solidFill>
                  <a:srgbClr val="2A6BE0"/>
                </a:solidFill>
                <a:latin typeface="Instrument Sans" pitchFamily="34" charset="0"/>
                <a:ea typeface="Instrument Sans" pitchFamily="34" charset="-122"/>
                <a:cs typeface="Instrument Sans" pitchFamily="34" charset="-120"/>
              </a:rPr>
              <a:t>Campaigns start in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609905" y="548640"/>
            <a:ext cx="59436" cy="59436"/>
          </a:xfrm>
          <a:prstGeom prst="ellipse">
            <a:avLst/>
          </a:prstGeom>
          <a:solidFill>
            <a:srgbClr val="2A6BE0"/>
          </a:solidFill>
          <a:ln/>
        </p:spPr>
        <p:txBody>
          <a:bodyPr/>
          <a:lstStyle/>
          <a:p>
            <a:endParaRPr lang="en-MY"/>
          </a:p>
        </p:txBody>
      </p:sp>
      <p:sp>
        <p:nvSpPr>
          <p:cNvPr id="3" name="Text 1"/>
          <p:cNvSpPr/>
          <p:nvPr/>
        </p:nvSpPr>
        <p:spPr>
          <a:xfrm>
            <a:off x="756209" y="484632"/>
            <a:ext cx="7315200" cy="182880"/>
          </a:xfrm>
          <a:prstGeom prst="rect">
            <a:avLst/>
          </a:prstGeom>
          <a:noFill/>
          <a:ln/>
        </p:spPr>
        <p:txBody>
          <a:bodyPr wrap="square" lIns="0" tIns="0" rIns="0" bIns="0" rtlCol="0" anchor="t"/>
          <a:lstStyle/>
          <a:p>
            <a:pPr marL="0" indent="0">
              <a:lnSpc>
                <a:spcPct val="125000"/>
              </a:lnSpc>
              <a:buNone/>
            </a:pPr>
            <a:r>
              <a:rPr lang="en-US" sz="825" kern="0" spc="60" dirty="0">
                <a:solidFill>
                  <a:srgbClr val="2A6BE0"/>
                </a:solidFill>
                <a:latin typeface="JetBrains Mono" pitchFamily="34" charset="0"/>
                <a:ea typeface="JetBrains Mono" pitchFamily="34" charset="-122"/>
                <a:cs typeface="JetBrains Mono" pitchFamily="34" charset="-120"/>
              </a:rPr>
              <a:t>EXECUTIVE SUMMARY</a:t>
            </a:r>
            <a:endParaRPr lang="en-US" sz="825" dirty="0"/>
          </a:p>
        </p:txBody>
      </p:sp>
      <p:sp>
        <p:nvSpPr>
          <p:cNvPr id="4" name="Text 2"/>
          <p:cNvSpPr/>
          <p:nvPr/>
        </p:nvSpPr>
        <p:spPr>
          <a:xfrm>
            <a:off x="609905" y="713232"/>
            <a:ext cx="10971886" cy="658368"/>
          </a:xfrm>
          <a:prstGeom prst="rect">
            <a:avLst/>
          </a:prstGeom>
          <a:noFill/>
          <a:ln/>
        </p:spPr>
        <p:txBody>
          <a:bodyPr wrap="square" lIns="0" tIns="0" rIns="0" bIns="0" rtlCol="0" anchor="ctr"/>
          <a:lstStyle/>
          <a:p>
            <a:pPr marL="0" indent="0">
              <a:lnSpc>
                <a:spcPct val="100000"/>
              </a:lnSpc>
              <a:buNone/>
            </a:pPr>
            <a:r>
              <a:rPr lang="en-US" sz="3800" dirty="0">
                <a:solidFill>
                  <a:srgbClr val="0E1B33"/>
                </a:solidFill>
                <a:latin typeface="Instrument Serif" pitchFamily="34" charset="0"/>
                <a:ea typeface="Instrument Serif" pitchFamily="34" charset="-122"/>
                <a:cs typeface="Instrument Serif" pitchFamily="34" charset="-120"/>
              </a:rPr>
              <a:t>Fourteen months, </a:t>
            </a:r>
            <a:r>
              <a:rPr lang="en-US" sz="3800" i="1" dirty="0">
                <a:solidFill>
                  <a:srgbClr val="2A6BE0"/>
                </a:solidFill>
                <a:latin typeface="Instrument Serif" pitchFamily="34" charset="0"/>
                <a:ea typeface="Instrument Serif" pitchFamily="34" charset="-122"/>
                <a:cs typeface="Instrument Serif" pitchFamily="34" charset="-120"/>
              </a:rPr>
              <a:t>built around your intakes</a:t>
            </a:r>
            <a:endParaRPr lang="en-US" sz="3800" dirty="0"/>
          </a:p>
        </p:txBody>
      </p:sp>
      <p:sp>
        <p:nvSpPr>
          <p:cNvPr id="5" name="Text 3"/>
          <p:cNvSpPr/>
          <p:nvPr/>
        </p:nvSpPr>
        <p:spPr>
          <a:xfrm>
            <a:off x="609905" y="1463040"/>
            <a:ext cx="10971886" cy="566928"/>
          </a:xfrm>
          <a:prstGeom prst="rect">
            <a:avLst/>
          </a:prstGeom>
          <a:noFill/>
          <a:ln/>
        </p:spPr>
        <p:txBody>
          <a:bodyPr wrap="square" lIns="0" tIns="0" rIns="0" bIns="0" rtlCol="0" anchor="t"/>
          <a:lstStyle/>
          <a:p>
            <a:pPr marL="0" indent="0">
              <a:lnSpc>
                <a:spcPct val="140000"/>
              </a:lnSpc>
              <a:buNone/>
            </a:pPr>
            <a:r>
              <a:rPr lang="en-US" sz="1250" dirty="0">
                <a:solidFill>
                  <a:srgbClr val="4A5A75"/>
                </a:solidFill>
                <a:latin typeface="Instrument Sans" pitchFamily="34" charset="0"/>
                <a:ea typeface="Instrument Sans" pitchFamily="34" charset="-122"/>
                <a:cs typeface="Instrument Sans" pitchFamily="34" charset="-120"/>
              </a:rPr>
              <a:t>TikTok has brought 934 leads since June. Now we add Meta and Google Search, and spend more in open day months.</a:t>
            </a:r>
            <a:endParaRPr lang="en-US" sz="1250" dirty="0"/>
          </a:p>
        </p:txBody>
      </p:sp>
      <p:sp>
        <p:nvSpPr>
          <p:cNvPr id="6" name="Text 4"/>
          <p:cNvSpPr/>
          <p:nvPr/>
        </p:nvSpPr>
        <p:spPr>
          <a:xfrm>
            <a:off x="11033150" y="6455664"/>
            <a:ext cx="548640" cy="182880"/>
          </a:xfrm>
          <a:prstGeom prst="rect">
            <a:avLst/>
          </a:prstGeom>
          <a:noFill/>
          <a:ln/>
        </p:spPr>
        <p:txBody>
          <a:bodyPr wrap="square" lIns="0" tIns="0" rIns="0" bIns="0" rtlCol="0" anchor="t"/>
          <a:lstStyle/>
          <a:p>
            <a:pPr marL="0" indent="0" algn="r">
              <a:lnSpc>
                <a:spcPct val="125000"/>
              </a:lnSpc>
              <a:buNone/>
            </a:pPr>
            <a:r>
              <a:rPr lang="en-US" sz="750" dirty="0">
                <a:solidFill>
                  <a:srgbClr val="8794AC"/>
                </a:solidFill>
                <a:latin typeface="JetBrains Mono" pitchFamily="34" charset="0"/>
                <a:ea typeface="JetBrains Mono" pitchFamily="34" charset="-122"/>
                <a:cs typeface="JetBrains Mono" pitchFamily="34" charset="-120"/>
              </a:rPr>
              <a:t>02</a:t>
            </a:r>
            <a:endParaRPr lang="en-US" sz="750" dirty="0"/>
          </a:p>
        </p:txBody>
      </p:sp>
      <p:sp>
        <p:nvSpPr>
          <p:cNvPr id="8" name="Shape 5"/>
          <p:cNvSpPr/>
          <p:nvPr/>
        </p:nvSpPr>
        <p:spPr>
          <a:xfrm>
            <a:off x="609905" y="2194560"/>
            <a:ext cx="3529584" cy="4069080"/>
          </a:xfrm>
          <a:prstGeom prst="roundRect">
            <a:avLst>
              <a:gd name="adj" fmla="val 3368"/>
            </a:avLst>
          </a:prstGeom>
          <a:solidFill>
            <a:srgbClr val="FFFFFF"/>
          </a:solidFill>
          <a:ln w="9525">
            <a:solidFill>
              <a:srgbClr val="D5E2F0"/>
            </a:solidFill>
            <a:prstDash val="solid"/>
          </a:ln>
        </p:spPr>
        <p:txBody>
          <a:bodyPr/>
          <a:lstStyle/>
          <a:p>
            <a:endParaRPr lang="en-MY"/>
          </a:p>
        </p:txBody>
      </p:sp>
      <p:sp>
        <p:nvSpPr>
          <p:cNvPr id="9" name="Text 6"/>
          <p:cNvSpPr/>
          <p:nvPr/>
        </p:nvSpPr>
        <p:spPr>
          <a:xfrm>
            <a:off x="838505" y="2423160"/>
            <a:ext cx="3072384" cy="182880"/>
          </a:xfrm>
          <a:prstGeom prst="rect">
            <a:avLst/>
          </a:prstGeom>
          <a:noFill/>
          <a:ln/>
        </p:spPr>
        <p:txBody>
          <a:bodyPr wrap="square" lIns="0" tIns="0" rIns="0" bIns="0" rtlCol="0" anchor="t"/>
          <a:lstStyle/>
          <a:p>
            <a:pPr marL="0" indent="0">
              <a:lnSpc>
                <a:spcPct val="125000"/>
              </a:lnSpc>
              <a:buNone/>
            </a:pPr>
            <a:r>
              <a:rPr lang="en-US" sz="750" kern="0" spc="60" dirty="0">
                <a:solidFill>
                  <a:srgbClr val="8794AC"/>
                </a:solidFill>
                <a:latin typeface="JetBrains Mono" pitchFamily="34" charset="0"/>
                <a:ea typeface="JetBrains Mono" pitchFamily="34" charset="-122"/>
                <a:cs typeface="JetBrains Mono" pitchFamily="34" charset="-120"/>
              </a:rPr>
              <a:t>WHERE YOU ARE</a:t>
            </a:r>
            <a:endParaRPr lang="en-US" sz="750" dirty="0"/>
          </a:p>
        </p:txBody>
      </p:sp>
      <p:sp>
        <p:nvSpPr>
          <p:cNvPr id="10" name="Text 7"/>
          <p:cNvSpPr/>
          <p:nvPr/>
        </p:nvSpPr>
        <p:spPr>
          <a:xfrm>
            <a:off x="838505" y="2633472"/>
            <a:ext cx="1371600" cy="658368"/>
          </a:xfrm>
          <a:prstGeom prst="rect">
            <a:avLst/>
          </a:prstGeom>
          <a:noFill/>
          <a:ln/>
        </p:spPr>
        <p:txBody>
          <a:bodyPr wrap="square" lIns="0" tIns="0" rIns="0" bIns="0" rtlCol="0" anchor="t"/>
          <a:lstStyle/>
          <a:p>
            <a:pPr marL="0" indent="0">
              <a:lnSpc>
                <a:spcPct val="100000"/>
              </a:lnSpc>
              <a:buNone/>
            </a:pPr>
            <a:r>
              <a:rPr lang="en-US" sz="4000" dirty="0">
                <a:solidFill>
                  <a:srgbClr val="0E1B33"/>
                </a:solidFill>
                <a:latin typeface="Instrument Serif" pitchFamily="34" charset="0"/>
                <a:ea typeface="Instrument Serif" pitchFamily="34" charset="-122"/>
                <a:cs typeface="Instrument Serif" pitchFamily="34" charset="-120"/>
              </a:rPr>
              <a:t>934</a:t>
            </a:r>
            <a:endParaRPr lang="en-US" sz="4000" dirty="0"/>
          </a:p>
        </p:txBody>
      </p:sp>
      <p:sp>
        <p:nvSpPr>
          <p:cNvPr id="11" name="Text 8"/>
          <p:cNvSpPr/>
          <p:nvPr/>
        </p:nvSpPr>
        <p:spPr>
          <a:xfrm>
            <a:off x="1935785" y="2761488"/>
            <a:ext cx="1975104" cy="457200"/>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TikTok leads at RM 29.89 each, 12 June to 8 October.</a:t>
            </a:r>
            <a:endParaRPr lang="en-US" sz="1050" dirty="0"/>
          </a:p>
        </p:txBody>
      </p:sp>
      <p:sp>
        <p:nvSpPr>
          <p:cNvPr id="12" name="Text 9"/>
          <p:cNvSpPr/>
          <p:nvPr/>
        </p:nvSpPr>
        <p:spPr>
          <a:xfrm>
            <a:off x="838505" y="3456432"/>
            <a:ext cx="3072384" cy="182880"/>
          </a:xfrm>
          <a:prstGeom prst="rect">
            <a:avLst/>
          </a:prstGeom>
          <a:noFill/>
          <a:ln/>
        </p:spPr>
        <p:txBody>
          <a:bodyPr wrap="square" lIns="0" tIns="0" rIns="0" bIns="0" rtlCol="0" anchor="t"/>
          <a:lstStyle/>
          <a:p>
            <a:pPr marL="0" indent="0">
              <a:lnSpc>
                <a:spcPct val="125000"/>
              </a:lnSpc>
              <a:buNone/>
            </a:pPr>
            <a:r>
              <a:rPr lang="en-US" sz="700" kern="0" spc="60" dirty="0">
                <a:solidFill>
                  <a:srgbClr val="8794AC"/>
                </a:solidFill>
                <a:latin typeface="JetBrains Mono" pitchFamily="34" charset="0"/>
                <a:ea typeface="JetBrains Mono" pitchFamily="34" charset="-122"/>
                <a:cs typeface="JetBrains Mono" pitchFamily="34" charset="-120"/>
              </a:rPr>
              <a:t>TIKTOK COST PER LEAD BY MONTH</a:t>
            </a:r>
            <a:endParaRPr lang="en-US" sz="700" dirty="0"/>
          </a:p>
        </p:txBody>
      </p:sp>
      <p:sp>
        <p:nvSpPr>
          <p:cNvPr id="13" name="Shape 10"/>
          <p:cNvSpPr/>
          <p:nvPr/>
        </p:nvSpPr>
        <p:spPr>
          <a:xfrm>
            <a:off x="884225" y="4586246"/>
            <a:ext cx="384048" cy="305794"/>
          </a:xfrm>
          <a:prstGeom prst="rect">
            <a:avLst/>
          </a:prstGeom>
          <a:solidFill>
            <a:srgbClr val="B7C4DA"/>
          </a:solidFill>
          <a:ln/>
        </p:spPr>
        <p:txBody>
          <a:bodyPr/>
          <a:lstStyle/>
          <a:p>
            <a:endParaRPr lang="en-MY"/>
          </a:p>
        </p:txBody>
      </p:sp>
      <p:sp>
        <p:nvSpPr>
          <p:cNvPr id="14" name="Text 11"/>
          <p:cNvSpPr/>
          <p:nvPr/>
        </p:nvSpPr>
        <p:spPr>
          <a:xfrm>
            <a:off x="747065" y="4403366"/>
            <a:ext cx="658368" cy="164592"/>
          </a:xfrm>
          <a:prstGeom prst="rect">
            <a:avLst/>
          </a:prstGeom>
          <a:noFill/>
          <a:ln/>
        </p:spPr>
        <p:txBody>
          <a:bodyPr wrap="square" lIns="0" tIns="0" rIns="0" bIns="0" rtlCol="0" anchor="t"/>
          <a:lstStyle/>
          <a:p>
            <a:pPr marL="0" indent="0" algn="ctr">
              <a:lnSpc>
                <a:spcPct val="125000"/>
              </a:lnSpc>
              <a:buNone/>
            </a:pPr>
            <a:r>
              <a:rPr lang="en-US" sz="650" dirty="0">
                <a:solidFill>
                  <a:srgbClr val="0E1B33"/>
                </a:solidFill>
                <a:latin typeface="JetBrains Mono" pitchFamily="34" charset="0"/>
                <a:ea typeface="JetBrains Mono" pitchFamily="34" charset="-122"/>
                <a:cs typeface="JetBrains Mono" pitchFamily="34" charset="-120"/>
              </a:rPr>
              <a:t>RM 14.54</a:t>
            </a:r>
            <a:endParaRPr lang="en-US" sz="650" dirty="0"/>
          </a:p>
        </p:txBody>
      </p:sp>
      <p:sp>
        <p:nvSpPr>
          <p:cNvPr id="15" name="Text 12"/>
          <p:cNvSpPr/>
          <p:nvPr/>
        </p:nvSpPr>
        <p:spPr>
          <a:xfrm>
            <a:off x="792785" y="4937760"/>
            <a:ext cx="566928" cy="164592"/>
          </a:xfrm>
          <a:prstGeom prst="rect">
            <a:avLst/>
          </a:prstGeom>
          <a:noFill/>
          <a:ln/>
        </p:spPr>
        <p:txBody>
          <a:bodyPr wrap="square" lIns="0" tIns="0" rIns="0" bIns="0" rtlCol="0" anchor="t"/>
          <a:lstStyle/>
          <a:p>
            <a:pPr marL="0" indent="0" algn="ctr">
              <a:lnSpc>
                <a:spcPct val="125000"/>
              </a:lnSpc>
              <a:buNone/>
            </a:pPr>
            <a:r>
              <a:rPr lang="en-US" sz="700" dirty="0">
                <a:solidFill>
                  <a:srgbClr val="8794AC"/>
                </a:solidFill>
                <a:latin typeface="JetBrains Mono" pitchFamily="34" charset="0"/>
                <a:ea typeface="JetBrains Mono" pitchFamily="34" charset="-122"/>
                <a:cs typeface="JetBrains Mono" pitchFamily="34" charset="-120"/>
              </a:rPr>
              <a:t>Jun</a:t>
            </a:r>
            <a:endParaRPr lang="en-US" sz="700" dirty="0"/>
          </a:p>
        </p:txBody>
      </p:sp>
      <p:sp>
        <p:nvSpPr>
          <p:cNvPr id="16" name="Shape 13"/>
          <p:cNvSpPr/>
          <p:nvPr/>
        </p:nvSpPr>
        <p:spPr>
          <a:xfrm>
            <a:off x="1506017" y="4157000"/>
            <a:ext cx="384048" cy="735040"/>
          </a:xfrm>
          <a:prstGeom prst="rect">
            <a:avLst/>
          </a:prstGeom>
          <a:solidFill>
            <a:srgbClr val="2A6BE0"/>
          </a:solidFill>
          <a:ln/>
        </p:spPr>
        <p:txBody>
          <a:bodyPr/>
          <a:lstStyle/>
          <a:p>
            <a:endParaRPr lang="en-MY"/>
          </a:p>
        </p:txBody>
      </p:sp>
      <p:sp>
        <p:nvSpPr>
          <p:cNvPr id="17" name="Text 14"/>
          <p:cNvSpPr/>
          <p:nvPr/>
        </p:nvSpPr>
        <p:spPr>
          <a:xfrm>
            <a:off x="1368857" y="3974120"/>
            <a:ext cx="658368" cy="164592"/>
          </a:xfrm>
          <a:prstGeom prst="rect">
            <a:avLst/>
          </a:prstGeom>
          <a:noFill/>
          <a:ln/>
        </p:spPr>
        <p:txBody>
          <a:bodyPr wrap="square" lIns="0" tIns="0" rIns="0" bIns="0" rtlCol="0" anchor="t"/>
          <a:lstStyle/>
          <a:p>
            <a:pPr marL="0" indent="0" algn="ctr">
              <a:lnSpc>
                <a:spcPct val="125000"/>
              </a:lnSpc>
              <a:buNone/>
            </a:pPr>
            <a:r>
              <a:rPr lang="en-US" sz="650" dirty="0">
                <a:solidFill>
                  <a:srgbClr val="0E1B33"/>
                </a:solidFill>
                <a:latin typeface="JetBrains Mono" pitchFamily="34" charset="0"/>
                <a:ea typeface="JetBrains Mono" pitchFamily="34" charset="-122"/>
                <a:cs typeface="JetBrains Mono" pitchFamily="34" charset="-120"/>
              </a:rPr>
              <a:t>RM 34.95</a:t>
            </a:r>
            <a:endParaRPr lang="en-US" sz="650" dirty="0"/>
          </a:p>
        </p:txBody>
      </p:sp>
      <p:sp>
        <p:nvSpPr>
          <p:cNvPr id="18" name="Text 15"/>
          <p:cNvSpPr/>
          <p:nvPr/>
        </p:nvSpPr>
        <p:spPr>
          <a:xfrm>
            <a:off x="1414577" y="4937760"/>
            <a:ext cx="566928" cy="164592"/>
          </a:xfrm>
          <a:prstGeom prst="rect">
            <a:avLst/>
          </a:prstGeom>
          <a:noFill/>
          <a:ln/>
        </p:spPr>
        <p:txBody>
          <a:bodyPr wrap="square" lIns="0" tIns="0" rIns="0" bIns="0" rtlCol="0" anchor="t"/>
          <a:lstStyle/>
          <a:p>
            <a:pPr marL="0" indent="0" algn="ctr">
              <a:lnSpc>
                <a:spcPct val="125000"/>
              </a:lnSpc>
              <a:buNone/>
            </a:pPr>
            <a:r>
              <a:rPr lang="en-US" sz="700" dirty="0">
                <a:solidFill>
                  <a:srgbClr val="8794AC"/>
                </a:solidFill>
                <a:latin typeface="JetBrains Mono" pitchFamily="34" charset="0"/>
                <a:ea typeface="JetBrains Mono" pitchFamily="34" charset="-122"/>
                <a:cs typeface="JetBrains Mono" pitchFamily="34" charset="-120"/>
              </a:rPr>
              <a:t>Jul</a:t>
            </a:r>
            <a:endParaRPr lang="en-US" sz="700" dirty="0"/>
          </a:p>
        </p:txBody>
      </p:sp>
      <p:sp>
        <p:nvSpPr>
          <p:cNvPr id="19" name="Shape 16"/>
          <p:cNvSpPr/>
          <p:nvPr/>
        </p:nvSpPr>
        <p:spPr>
          <a:xfrm>
            <a:off x="2127809" y="4145222"/>
            <a:ext cx="384048" cy="746818"/>
          </a:xfrm>
          <a:prstGeom prst="rect">
            <a:avLst/>
          </a:prstGeom>
          <a:solidFill>
            <a:srgbClr val="2A6BE0"/>
          </a:solidFill>
          <a:ln/>
        </p:spPr>
        <p:txBody>
          <a:bodyPr/>
          <a:lstStyle/>
          <a:p>
            <a:endParaRPr lang="en-MY"/>
          </a:p>
        </p:txBody>
      </p:sp>
      <p:sp>
        <p:nvSpPr>
          <p:cNvPr id="20" name="Text 17"/>
          <p:cNvSpPr/>
          <p:nvPr/>
        </p:nvSpPr>
        <p:spPr>
          <a:xfrm>
            <a:off x="1990649" y="3962342"/>
            <a:ext cx="658368" cy="164592"/>
          </a:xfrm>
          <a:prstGeom prst="rect">
            <a:avLst/>
          </a:prstGeom>
          <a:noFill/>
          <a:ln/>
        </p:spPr>
        <p:txBody>
          <a:bodyPr wrap="square" lIns="0" tIns="0" rIns="0" bIns="0" rtlCol="0" anchor="t"/>
          <a:lstStyle/>
          <a:p>
            <a:pPr marL="0" indent="0" algn="ctr">
              <a:lnSpc>
                <a:spcPct val="125000"/>
              </a:lnSpc>
              <a:buNone/>
            </a:pPr>
            <a:r>
              <a:rPr lang="en-US" sz="650" dirty="0">
                <a:solidFill>
                  <a:srgbClr val="0E1B33"/>
                </a:solidFill>
                <a:latin typeface="JetBrains Mono" pitchFamily="34" charset="0"/>
                <a:ea typeface="JetBrains Mono" pitchFamily="34" charset="-122"/>
                <a:cs typeface="JetBrains Mono" pitchFamily="34" charset="-120"/>
              </a:rPr>
              <a:t>RM 35.51</a:t>
            </a:r>
            <a:endParaRPr lang="en-US" sz="650" dirty="0"/>
          </a:p>
        </p:txBody>
      </p:sp>
      <p:sp>
        <p:nvSpPr>
          <p:cNvPr id="21" name="Text 18"/>
          <p:cNvSpPr/>
          <p:nvPr/>
        </p:nvSpPr>
        <p:spPr>
          <a:xfrm>
            <a:off x="2036369" y="4937760"/>
            <a:ext cx="566928" cy="164592"/>
          </a:xfrm>
          <a:prstGeom prst="rect">
            <a:avLst/>
          </a:prstGeom>
          <a:noFill/>
          <a:ln/>
        </p:spPr>
        <p:txBody>
          <a:bodyPr wrap="square" lIns="0" tIns="0" rIns="0" bIns="0" rtlCol="0" anchor="t"/>
          <a:lstStyle/>
          <a:p>
            <a:pPr marL="0" indent="0" algn="ctr">
              <a:lnSpc>
                <a:spcPct val="125000"/>
              </a:lnSpc>
              <a:buNone/>
            </a:pPr>
            <a:r>
              <a:rPr lang="en-US" sz="700" dirty="0">
                <a:solidFill>
                  <a:srgbClr val="8794AC"/>
                </a:solidFill>
                <a:latin typeface="JetBrains Mono" pitchFamily="34" charset="0"/>
                <a:ea typeface="JetBrains Mono" pitchFamily="34" charset="-122"/>
                <a:cs typeface="JetBrains Mono" pitchFamily="34" charset="-120"/>
              </a:rPr>
              <a:t>Aug</a:t>
            </a:r>
            <a:endParaRPr lang="en-US" sz="700" dirty="0"/>
          </a:p>
        </p:txBody>
      </p:sp>
      <p:sp>
        <p:nvSpPr>
          <p:cNvPr id="22" name="Shape 19"/>
          <p:cNvSpPr/>
          <p:nvPr/>
        </p:nvSpPr>
        <p:spPr>
          <a:xfrm>
            <a:off x="2749601" y="3891796"/>
            <a:ext cx="384048" cy="1000244"/>
          </a:xfrm>
          <a:prstGeom prst="rect">
            <a:avLst/>
          </a:prstGeom>
          <a:solidFill>
            <a:srgbClr val="0E1B33"/>
          </a:solidFill>
          <a:ln/>
        </p:spPr>
        <p:txBody>
          <a:bodyPr/>
          <a:lstStyle/>
          <a:p>
            <a:endParaRPr lang="en-MY"/>
          </a:p>
        </p:txBody>
      </p:sp>
      <p:sp>
        <p:nvSpPr>
          <p:cNvPr id="23" name="Text 20"/>
          <p:cNvSpPr/>
          <p:nvPr/>
        </p:nvSpPr>
        <p:spPr>
          <a:xfrm>
            <a:off x="2612441" y="3708916"/>
            <a:ext cx="658368" cy="164592"/>
          </a:xfrm>
          <a:prstGeom prst="rect">
            <a:avLst/>
          </a:prstGeom>
          <a:noFill/>
          <a:ln/>
        </p:spPr>
        <p:txBody>
          <a:bodyPr wrap="square" lIns="0" tIns="0" rIns="0" bIns="0" rtlCol="0" anchor="t"/>
          <a:lstStyle/>
          <a:p>
            <a:pPr marL="0" indent="0" algn="ctr">
              <a:lnSpc>
                <a:spcPct val="125000"/>
              </a:lnSpc>
              <a:buNone/>
            </a:pPr>
            <a:r>
              <a:rPr lang="en-US" sz="650" dirty="0">
                <a:solidFill>
                  <a:srgbClr val="0E1B33"/>
                </a:solidFill>
                <a:latin typeface="JetBrains Mono" pitchFamily="34" charset="0"/>
                <a:ea typeface="JetBrains Mono" pitchFamily="34" charset="-122"/>
                <a:cs typeface="JetBrains Mono" pitchFamily="34" charset="-120"/>
              </a:rPr>
              <a:t>RM 47.56</a:t>
            </a:r>
            <a:endParaRPr lang="en-US" sz="650" dirty="0"/>
          </a:p>
        </p:txBody>
      </p:sp>
      <p:sp>
        <p:nvSpPr>
          <p:cNvPr id="24" name="Text 21"/>
          <p:cNvSpPr/>
          <p:nvPr/>
        </p:nvSpPr>
        <p:spPr>
          <a:xfrm>
            <a:off x="2658161" y="4937760"/>
            <a:ext cx="566928" cy="164592"/>
          </a:xfrm>
          <a:prstGeom prst="rect">
            <a:avLst/>
          </a:prstGeom>
          <a:noFill/>
          <a:ln/>
        </p:spPr>
        <p:txBody>
          <a:bodyPr wrap="square" lIns="0" tIns="0" rIns="0" bIns="0" rtlCol="0" anchor="t"/>
          <a:lstStyle/>
          <a:p>
            <a:pPr marL="0" indent="0" algn="ctr">
              <a:lnSpc>
                <a:spcPct val="125000"/>
              </a:lnSpc>
              <a:buNone/>
            </a:pPr>
            <a:r>
              <a:rPr lang="en-US" sz="700" dirty="0">
                <a:solidFill>
                  <a:srgbClr val="8794AC"/>
                </a:solidFill>
                <a:latin typeface="JetBrains Mono" pitchFamily="34" charset="0"/>
                <a:ea typeface="JetBrains Mono" pitchFamily="34" charset="-122"/>
                <a:cs typeface="JetBrains Mono" pitchFamily="34" charset="-120"/>
              </a:rPr>
              <a:t>Sep</a:t>
            </a:r>
            <a:endParaRPr lang="en-US" sz="700" dirty="0"/>
          </a:p>
        </p:txBody>
      </p:sp>
      <p:sp>
        <p:nvSpPr>
          <p:cNvPr id="25" name="Shape 22"/>
          <p:cNvSpPr/>
          <p:nvPr/>
        </p:nvSpPr>
        <p:spPr>
          <a:xfrm>
            <a:off x="3371393" y="4319781"/>
            <a:ext cx="384048" cy="572259"/>
          </a:xfrm>
          <a:prstGeom prst="rect">
            <a:avLst/>
          </a:prstGeom>
          <a:solidFill>
            <a:srgbClr val="2A6BE0"/>
          </a:solidFill>
          <a:ln/>
        </p:spPr>
        <p:txBody>
          <a:bodyPr/>
          <a:lstStyle/>
          <a:p>
            <a:endParaRPr lang="en-MY"/>
          </a:p>
        </p:txBody>
      </p:sp>
      <p:sp>
        <p:nvSpPr>
          <p:cNvPr id="26" name="Text 23"/>
          <p:cNvSpPr/>
          <p:nvPr/>
        </p:nvSpPr>
        <p:spPr>
          <a:xfrm>
            <a:off x="3234233" y="4136901"/>
            <a:ext cx="658368" cy="164592"/>
          </a:xfrm>
          <a:prstGeom prst="rect">
            <a:avLst/>
          </a:prstGeom>
          <a:noFill/>
          <a:ln/>
        </p:spPr>
        <p:txBody>
          <a:bodyPr wrap="square" lIns="0" tIns="0" rIns="0" bIns="0" rtlCol="0" anchor="t"/>
          <a:lstStyle/>
          <a:p>
            <a:pPr marL="0" indent="0" algn="ctr">
              <a:lnSpc>
                <a:spcPct val="125000"/>
              </a:lnSpc>
              <a:buNone/>
            </a:pPr>
            <a:r>
              <a:rPr lang="en-US" sz="650" dirty="0">
                <a:solidFill>
                  <a:srgbClr val="0E1B33"/>
                </a:solidFill>
                <a:latin typeface="JetBrains Mono" pitchFamily="34" charset="0"/>
                <a:ea typeface="JetBrains Mono" pitchFamily="34" charset="-122"/>
                <a:cs typeface="JetBrains Mono" pitchFamily="34" charset="-120"/>
              </a:rPr>
              <a:t>RM 27.21</a:t>
            </a:r>
            <a:endParaRPr lang="en-US" sz="650" dirty="0"/>
          </a:p>
        </p:txBody>
      </p:sp>
      <p:sp>
        <p:nvSpPr>
          <p:cNvPr id="27" name="Text 24"/>
          <p:cNvSpPr/>
          <p:nvPr/>
        </p:nvSpPr>
        <p:spPr>
          <a:xfrm>
            <a:off x="3279953" y="4937760"/>
            <a:ext cx="566928" cy="164592"/>
          </a:xfrm>
          <a:prstGeom prst="rect">
            <a:avLst/>
          </a:prstGeom>
          <a:noFill/>
          <a:ln/>
        </p:spPr>
        <p:txBody>
          <a:bodyPr wrap="square" lIns="0" tIns="0" rIns="0" bIns="0" rtlCol="0" anchor="t"/>
          <a:lstStyle/>
          <a:p>
            <a:pPr marL="0" indent="0" algn="ctr">
              <a:lnSpc>
                <a:spcPct val="125000"/>
              </a:lnSpc>
              <a:buNone/>
            </a:pPr>
            <a:r>
              <a:rPr lang="en-US" sz="700" dirty="0">
                <a:solidFill>
                  <a:srgbClr val="8794AC"/>
                </a:solidFill>
                <a:latin typeface="JetBrains Mono" pitchFamily="34" charset="0"/>
                <a:ea typeface="JetBrains Mono" pitchFamily="34" charset="-122"/>
                <a:cs typeface="JetBrains Mono" pitchFamily="34" charset="-120"/>
              </a:rPr>
              <a:t>Oct</a:t>
            </a:r>
            <a:endParaRPr lang="en-US" sz="700" dirty="0"/>
          </a:p>
        </p:txBody>
      </p:sp>
      <p:sp>
        <p:nvSpPr>
          <p:cNvPr id="28" name="Text 25"/>
          <p:cNvSpPr/>
          <p:nvPr/>
        </p:nvSpPr>
        <p:spPr>
          <a:xfrm>
            <a:off x="838505" y="5166360"/>
            <a:ext cx="3072384" cy="201168"/>
          </a:xfrm>
          <a:prstGeom prst="rect">
            <a:avLst/>
          </a:prstGeom>
          <a:noFill/>
          <a:ln/>
        </p:spPr>
        <p:txBody>
          <a:bodyPr wrap="square" lIns="0" tIns="0" rIns="0" bIns="0" rtlCol="0" anchor="t"/>
          <a:lstStyle/>
          <a:p>
            <a:pPr marL="0" indent="0">
              <a:lnSpc>
                <a:spcPct val="125000"/>
              </a:lnSpc>
              <a:buNone/>
            </a:pPr>
            <a:r>
              <a:rPr lang="en-US" sz="800" dirty="0">
                <a:solidFill>
                  <a:srgbClr val="8794AC"/>
                </a:solidFill>
                <a:latin typeface="Instrument Sans" pitchFamily="34" charset="0"/>
                <a:ea typeface="Instrument Sans" pitchFamily="34" charset="-122"/>
                <a:cs typeface="Instrument Sans" pitchFamily="34" charset="-120"/>
              </a:rPr>
              <a:t>June used a generic form. October covers 1 to 8 October.</a:t>
            </a:r>
            <a:endParaRPr lang="en-US" sz="800" dirty="0"/>
          </a:p>
        </p:txBody>
      </p:sp>
      <p:sp>
        <p:nvSpPr>
          <p:cNvPr id="29" name="Text 26"/>
          <p:cNvSpPr/>
          <p:nvPr/>
        </p:nvSpPr>
        <p:spPr>
          <a:xfrm>
            <a:off x="838505" y="5532120"/>
            <a:ext cx="3072384" cy="384048"/>
          </a:xfrm>
          <a:prstGeom prst="rect">
            <a:avLst/>
          </a:prstGeom>
          <a:noFill/>
          <a:ln/>
        </p:spPr>
        <p:txBody>
          <a:bodyPr wrap="square" lIns="0" tIns="0" rIns="0" bIns="0" rtlCol="0" anchor="t"/>
          <a:lstStyle/>
          <a:p>
            <a:pPr marL="0" indent="0">
              <a:lnSpc>
                <a:spcPct val="125000"/>
              </a:lnSpc>
              <a:buNone/>
            </a:pPr>
            <a:r>
              <a:rPr lang="en-US" sz="950" b="1" dirty="0">
                <a:solidFill>
                  <a:srgbClr val="A3302C"/>
                </a:solidFill>
                <a:latin typeface="Instrument Sans" pitchFamily="34" charset="0"/>
                <a:ea typeface="Instrument Sans" pitchFamily="34" charset="-122"/>
                <a:cs typeface="Instrument Sans" pitchFamily="34" charset="-120"/>
              </a:rPr>
              <a:t>TikTok sent 342 leads in August and September. WATI recorded 9.</a:t>
            </a:r>
            <a:endParaRPr lang="en-US" sz="950" dirty="0"/>
          </a:p>
        </p:txBody>
      </p:sp>
      <p:sp>
        <p:nvSpPr>
          <p:cNvPr id="30" name="Shape 27"/>
          <p:cNvSpPr/>
          <p:nvPr/>
        </p:nvSpPr>
        <p:spPr>
          <a:xfrm>
            <a:off x="4331513" y="2194560"/>
            <a:ext cx="3529584" cy="4069080"/>
          </a:xfrm>
          <a:prstGeom prst="roundRect">
            <a:avLst>
              <a:gd name="adj" fmla="val 3368"/>
            </a:avLst>
          </a:prstGeom>
          <a:solidFill>
            <a:srgbClr val="FFFFFF"/>
          </a:solidFill>
          <a:ln w="9525">
            <a:solidFill>
              <a:srgbClr val="D5E2F0"/>
            </a:solidFill>
            <a:prstDash val="solid"/>
          </a:ln>
        </p:spPr>
        <p:txBody>
          <a:bodyPr/>
          <a:lstStyle/>
          <a:p>
            <a:endParaRPr lang="en-MY"/>
          </a:p>
        </p:txBody>
      </p:sp>
      <p:sp>
        <p:nvSpPr>
          <p:cNvPr id="31" name="Text 28"/>
          <p:cNvSpPr/>
          <p:nvPr/>
        </p:nvSpPr>
        <p:spPr>
          <a:xfrm>
            <a:off x="4560113" y="2423160"/>
            <a:ext cx="3072384" cy="182880"/>
          </a:xfrm>
          <a:prstGeom prst="rect">
            <a:avLst/>
          </a:prstGeom>
          <a:noFill/>
          <a:ln/>
        </p:spPr>
        <p:txBody>
          <a:bodyPr wrap="square" lIns="0" tIns="0" rIns="0" bIns="0" rtlCol="0" anchor="t"/>
          <a:lstStyle/>
          <a:p>
            <a:pPr marL="0" indent="0">
              <a:lnSpc>
                <a:spcPct val="125000"/>
              </a:lnSpc>
              <a:buNone/>
            </a:pPr>
            <a:r>
              <a:rPr lang="en-US" sz="750" kern="0" spc="60" dirty="0">
                <a:solidFill>
                  <a:srgbClr val="8794AC"/>
                </a:solidFill>
                <a:latin typeface="JetBrains Mono" pitchFamily="34" charset="0"/>
                <a:ea typeface="JetBrains Mono" pitchFamily="34" charset="-122"/>
                <a:cs typeface="JetBrains Mono" pitchFamily="34" charset="-120"/>
              </a:rPr>
              <a:t>WHAT WE DO</a:t>
            </a:r>
            <a:endParaRPr lang="en-US" sz="750" dirty="0"/>
          </a:p>
        </p:txBody>
      </p:sp>
      <p:sp>
        <p:nvSpPr>
          <p:cNvPr id="32" name="Text 29"/>
          <p:cNvSpPr/>
          <p:nvPr/>
        </p:nvSpPr>
        <p:spPr>
          <a:xfrm>
            <a:off x="4560113" y="2697480"/>
            <a:ext cx="3072384" cy="2514600"/>
          </a:xfrm>
          <a:prstGeom prst="rect">
            <a:avLst/>
          </a:prstGeom>
          <a:noFill/>
          <a:ln/>
        </p:spPr>
        <p:txBody>
          <a:bodyPr wrap="square" lIns="0" tIns="0" rIns="0" bIns="0" rtlCol="0" anchor="t"/>
          <a:lstStyle/>
          <a:p>
            <a:pPr marL="165100" indent="-165100">
              <a:lnSpc>
                <a:spcPct val="130000"/>
              </a:lnSpc>
              <a:spcAft>
                <a:spcPts val="1200"/>
              </a:spcAft>
              <a:buClr>
                <a:srgbClr val="2A6BE0"/>
              </a:buClr>
              <a:buSzPct val="90000"/>
              <a:buChar char="▪"/>
            </a:pPr>
            <a:r>
              <a:rPr lang="en-US" sz="1150" dirty="0">
                <a:solidFill>
                  <a:srgbClr val="4A5A75"/>
                </a:solidFill>
                <a:latin typeface="Instrument Sans" pitchFamily="34" charset="0"/>
                <a:ea typeface="Instrument Sans" pitchFamily="34" charset="-122"/>
                <a:cs typeface="Instrument Sans" pitchFamily="34" charset="-120"/>
              </a:rPr>
              <a:t>We run TikTok, Meta and Google Search at RM 20,000 ad spend a month.</a:t>
            </a:r>
            <a:endParaRPr lang="en-US" sz="1150" dirty="0"/>
          </a:p>
          <a:p>
            <a:pPr marL="165100" indent="-165100">
              <a:lnSpc>
                <a:spcPct val="130000"/>
              </a:lnSpc>
              <a:spcAft>
                <a:spcPts val="1200"/>
              </a:spcAft>
              <a:buClr>
                <a:srgbClr val="2A6BE0"/>
              </a:buClr>
              <a:buSzPct val="90000"/>
              <a:buChar char="▪"/>
            </a:pPr>
            <a:r>
              <a:rPr lang="en-US" sz="1150" dirty="0">
                <a:solidFill>
                  <a:srgbClr val="4A5A75"/>
                </a:solidFill>
                <a:latin typeface="Instrument Sans" pitchFamily="34" charset="0"/>
                <a:ea typeface="Instrument Sans" pitchFamily="34" charset="-122"/>
                <a:cs typeface="Instrument Sans" pitchFamily="34" charset="-120"/>
              </a:rPr>
              <a:t>Open day months go up to RM 30,000.</a:t>
            </a:r>
            <a:endParaRPr lang="en-US" sz="1150" dirty="0"/>
          </a:p>
          <a:p>
            <a:pPr marL="165100" indent="-165100">
              <a:lnSpc>
                <a:spcPct val="130000"/>
              </a:lnSpc>
              <a:spcAft>
                <a:spcPts val="1200"/>
              </a:spcAft>
              <a:buClr>
                <a:srgbClr val="2A6BE0"/>
              </a:buClr>
              <a:buSzPct val="90000"/>
              <a:buChar char="▪"/>
            </a:pPr>
            <a:r>
              <a:rPr lang="en-US" sz="1150" dirty="0">
                <a:solidFill>
                  <a:srgbClr val="4A5A75"/>
                </a:solidFill>
                <a:latin typeface="Instrument Sans" pitchFamily="34" charset="0"/>
                <a:ea typeface="Instrument Sans" pitchFamily="34" charset="-122"/>
                <a:cs typeface="Instrument Sans" pitchFamily="34" charset="-120"/>
              </a:rPr>
              <a:t>Each month, we push the next intake that is open.</a:t>
            </a:r>
            <a:endParaRPr lang="en-US" sz="1150" dirty="0"/>
          </a:p>
          <a:p>
            <a:pPr marL="165100" indent="-165100">
              <a:lnSpc>
                <a:spcPct val="130000"/>
              </a:lnSpc>
              <a:spcAft>
                <a:spcPts val="1200"/>
              </a:spcAft>
              <a:buClr>
                <a:srgbClr val="2A6BE0"/>
              </a:buClr>
              <a:buSzPct val="90000"/>
              <a:buChar char="▪"/>
            </a:pPr>
            <a:r>
              <a:rPr lang="en-US" sz="1150" dirty="0">
                <a:solidFill>
                  <a:srgbClr val="4A5A75"/>
                </a:solidFill>
                <a:latin typeface="Instrument Sans" pitchFamily="34" charset="0"/>
                <a:ea typeface="Instrument Sans" pitchFamily="34" charset="-122"/>
                <a:cs typeface="Instrument Sans" pitchFamily="34" charset="-120"/>
              </a:rPr>
              <a:t>We meet you every two weeks and see results on a live dashboard.</a:t>
            </a:r>
            <a:endParaRPr lang="en-US" sz="1150" dirty="0"/>
          </a:p>
        </p:txBody>
      </p:sp>
      <p:sp>
        <p:nvSpPr>
          <p:cNvPr id="33" name="Shape 30"/>
          <p:cNvSpPr/>
          <p:nvPr/>
        </p:nvSpPr>
        <p:spPr>
          <a:xfrm>
            <a:off x="4560113" y="5349240"/>
            <a:ext cx="3072384" cy="804672"/>
          </a:xfrm>
          <a:prstGeom prst="roundRect">
            <a:avLst>
              <a:gd name="adj" fmla="val 9091"/>
            </a:avLst>
          </a:prstGeom>
          <a:solidFill>
            <a:srgbClr val="E3EDFC"/>
          </a:solidFill>
          <a:ln/>
        </p:spPr>
        <p:txBody>
          <a:bodyPr/>
          <a:lstStyle/>
          <a:p>
            <a:endParaRPr lang="en-MY"/>
          </a:p>
        </p:txBody>
      </p:sp>
      <p:sp>
        <p:nvSpPr>
          <p:cNvPr id="34" name="Text 31"/>
          <p:cNvSpPr/>
          <p:nvPr/>
        </p:nvSpPr>
        <p:spPr>
          <a:xfrm>
            <a:off x="4715561" y="5449824"/>
            <a:ext cx="2761488" cy="182880"/>
          </a:xfrm>
          <a:prstGeom prst="rect">
            <a:avLst/>
          </a:prstGeom>
          <a:noFill/>
          <a:ln/>
        </p:spPr>
        <p:txBody>
          <a:bodyPr wrap="square" lIns="0" tIns="0" rIns="0" bIns="0" rtlCol="0" anchor="t"/>
          <a:lstStyle/>
          <a:p>
            <a:pPr marL="0" indent="0">
              <a:lnSpc>
                <a:spcPct val="125000"/>
              </a:lnSpc>
              <a:buNone/>
            </a:pPr>
            <a:r>
              <a:rPr lang="en-US" sz="700" kern="0" spc="60" dirty="0">
                <a:solidFill>
                  <a:srgbClr val="2A6BE0"/>
                </a:solidFill>
                <a:latin typeface="JetBrains Mono" pitchFamily="34" charset="0"/>
                <a:ea typeface="JetBrains Mono" pitchFamily="34" charset="-122"/>
                <a:cs typeface="JetBrains Mono" pitchFamily="34" charset="-120"/>
              </a:rPr>
              <a:t>STARTING IN OCTOBER</a:t>
            </a:r>
            <a:endParaRPr lang="en-US" sz="700" dirty="0"/>
          </a:p>
        </p:txBody>
      </p:sp>
      <p:sp>
        <p:nvSpPr>
          <p:cNvPr id="35" name="Text 32"/>
          <p:cNvSpPr/>
          <p:nvPr/>
        </p:nvSpPr>
        <p:spPr>
          <a:xfrm>
            <a:off x="4715561" y="5650992"/>
            <a:ext cx="2761488" cy="411480"/>
          </a:xfrm>
          <a:prstGeom prst="rect">
            <a:avLst/>
          </a:prstGeom>
          <a:noFill/>
          <a:ln/>
        </p:spPr>
        <p:txBody>
          <a:bodyPr wrap="square" lIns="0" tIns="0" rIns="0" bIns="0" rtlCol="0" anchor="t"/>
          <a:lstStyle/>
          <a:p>
            <a:pPr marL="0" indent="0">
              <a:lnSpc>
                <a:spcPct val="125000"/>
              </a:lnSpc>
              <a:buNone/>
            </a:pPr>
            <a:r>
              <a:rPr lang="en-US" sz="1000" dirty="0">
                <a:solidFill>
                  <a:srgbClr val="0E1B33"/>
                </a:solidFill>
                <a:latin typeface="Instrument Sans" pitchFamily="34" charset="0"/>
                <a:ea typeface="Instrument Sans" pitchFamily="34" charset="-122"/>
                <a:cs typeface="Instrument Sans" pitchFamily="34" charset="-120"/>
              </a:rPr>
              <a:t>Meta and Google Search launch in October, so November starts at full pace.</a:t>
            </a:r>
            <a:endParaRPr lang="en-US" sz="1000" dirty="0"/>
          </a:p>
        </p:txBody>
      </p:sp>
      <p:sp>
        <p:nvSpPr>
          <p:cNvPr id="36" name="Shape 33"/>
          <p:cNvSpPr/>
          <p:nvPr/>
        </p:nvSpPr>
        <p:spPr>
          <a:xfrm>
            <a:off x="8053121" y="2194560"/>
            <a:ext cx="3529584" cy="4069080"/>
          </a:xfrm>
          <a:prstGeom prst="roundRect">
            <a:avLst>
              <a:gd name="adj" fmla="val 3368"/>
            </a:avLst>
          </a:prstGeom>
          <a:solidFill>
            <a:srgbClr val="E3EDFC"/>
          </a:solidFill>
          <a:ln/>
        </p:spPr>
        <p:txBody>
          <a:bodyPr/>
          <a:lstStyle/>
          <a:p>
            <a:endParaRPr lang="en-MY"/>
          </a:p>
        </p:txBody>
      </p:sp>
      <p:sp>
        <p:nvSpPr>
          <p:cNvPr id="37" name="Text 34"/>
          <p:cNvSpPr/>
          <p:nvPr/>
        </p:nvSpPr>
        <p:spPr>
          <a:xfrm>
            <a:off x="8281721" y="2423160"/>
            <a:ext cx="3072384" cy="182880"/>
          </a:xfrm>
          <a:prstGeom prst="rect">
            <a:avLst/>
          </a:prstGeom>
          <a:noFill/>
          <a:ln/>
        </p:spPr>
        <p:txBody>
          <a:bodyPr wrap="square" lIns="0" tIns="0" rIns="0" bIns="0" rtlCol="0" anchor="t"/>
          <a:lstStyle/>
          <a:p>
            <a:pPr marL="0" indent="0">
              <a:lnSpc>
                <a:spcPct val="125000"/>
              </a:lnSpc>
              <a:buNone/>
            </a:pPr>
            <a:r>
              <a:rPr lang="en-US" sz="750" kern="0" spc="60" dirty="0">
                <a:solidFill>
                  <a:srgbClr val="8794AC"/>
                </a:solidFill>
                <a:latin typeface="JetBrains Mono" pitchFamily="34" charset="0"/>
                <a:ea typeface="JetBrains Mono" pitchFamily="34" charset="-122"/>
                <a:cs typeface="JetBrains Mono" pitchFamily="34" charset="-120"/>
              </a:rPr>
              <a:t>WHAT YOU GET OVER 14 MONTHS</a:t>
            </a:r>
            <a:endParaRPr lang="en-US" sz="750" dirty="0"/>
          </a:p>
        </p:txBody>
      </p:sp>
      <p:sp>
        <p:nvSpPr>
          <p:cNvPr id="38" name="Text 35"/>
          <p:cNvSpPr/>
          <p:nvPr/>
        </p:nvSpPr>
        <p:spPr>
          <a:xfrm>
            <a:off x="8281721" y="2651760"/>
            <a:ext cx="3072384" cy="685800"/>
          </a:xfrm>
          <a:prstGeom prst="rect">
            <a:avLst/>
          </a:prstGeom>
          <a:noFill/>
          <a:ln/>
        </p:spPr>
        <p:txBody>
          <a:bodyPr wrap="square" lIns="0" tIns="0" rIns="0" bIns="0" rtlCol="0" anchor="t"/>
          <a:lstStyle/>
          <a:p>
            <a:pPr marL="0" indent="0">
              <a:lnSpc>
                <a:spcPct val="100000"/>
              </a:lnSpc>
              <a:buNone/>
            </a:pPr>
            <a:r>
              <a:rPr lang="en-US" sz="4600" dirty="0">
                <a:solidFill>
                  <a:srgbClr val="2A6BE0"/>
                </a:solidFill>
                <a:latin typeface="Instrument Serif" pitchFamily="34" charset="0"/>
                <a:ea typeface="Instrument Serif" pitchFamily="34" charset="-122"/>
                <a:cs typeface="Instrument Serif" pitchFamily="34" charset="-120"/>
              </a:rPr>
              <a:t>6,412</a:t>
            </a:r>
            <a:endParaRPr lang="en-US" sz="4600" dirty="0"/>
          </a:p>
        </p:txBody>
      </p:sp>
      <p:sp>
        <p:nvSpPr>
          <p:cNvPr id="39" name="Text 36"/>
          <p:cNvSpPr/>
          <p:nvPr/>
        </p:nvSpPr>
        <p:spPr>
          <a:xfrm>
            <a:off x="8281721" y="3337560"/>
            <a:ext cx="3072384" cy="228600"/>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forecast leads</a:t>
            </a:r>
            <a:endParaRPr lang="en-US" sz="1050" dirty="0"/>
          </a:p>
        </p:txBody>
      </p:sp>
      <p:sp>
        <p:nvSpPr>
          <p:cNvPr id="40" name="Text 37"/>
          <p:cNvSpPr/>
          <p:nvPr/>
        </p:nvSpPr>
        <p:spPr>
          <a:xfrm>
            <a:off x="8281721" y="3794760"/>
            <a:ext cx="3072384" cy="685800"/>
          </a:xfrm>
          <a:prstGeom prst="rect">
            <a:avLst/>
          </a:prstGeom>
          <a:noFill/>
          <a:ln/>
        </p:spPr>
        <p:txBody>
          <a:bodyPr wrap="square" lIns="0" tIns="0" rIns="0" bIns="0" rtlCol="0" anchor="t"/>
          <a:lstStyle/>
          <a:p>
            <a:pPr marL="0" indent="0">
              <a:lnSpc>
                <a:spcPct val="100000"/>
              </a:lnSpc>
              <a:buNone/>
            </a:pPr>
            <a:r>
              <a:rPr lang="en-US" sz="4600" dirty="0">
                <a:solidFill>
                  <a:srgbClr val="2A6BE0"/>
                </a:solidFill>
                <a:latin typeface="Instrument Serif" pitchFamily="34" charset="0"/>
                <a:ea typeface="Instrument Serif" pitchFamily="34" charset="-122"/>
                <a:cs typeface="Instrument Serif" pitchFamily="34" charset="-120"/>
              </a:rPr>
              <a:t>1,678</a:t>
            </a:r>
            <a:endParaRPr lang="en-US" sz="4600" dirty="0"/>
          </a:p>
        </p:txBody>
      </p:sp>
      <p:sp>
        <p:nvSpPr>
          <p:cNvPr id="41" name="Text 38"/>
          <p:cNvSpPr/>
          <p:nvPr/>
        </p:nvSpPr>
        <p:spPr>
          <a:xfrm>
            <a:off x="8281721" y="4480560"/>
            <a:ext cx="3072384" cy="228600"/>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qualified leads, about RM 197 each</a:t>
            </a:r>
            <a:endParaRPr lang="en-US" sz="1050" dirty="0"/>
          </a:p>
        </p:txBody>
      </p:sp>
      <p:sp>
        <p:nvSpPr>
          <p:cNvPr id="42" name="Shape 39"/>
          <p:cNvSpPr/>
          <p:nvPr/>
        </p:nvSpPr>
        <p:spPr>
          <a:xfrm>
            <a:off x="8281721" y="5074920"/>
            <a:ext cx="3072384" cy="9144"/>
          </a:xfrm>
          <a:prstGeom prst="rect">
            <a:avLst/>
          </a:prstGeom>
          <a:solidFill>
            <a:srgbClr val="D5E2F0"/>
          </a:solidFill>
          <a:ln/>
        </p:spPr>
        <p:txBody>
          <a:bodyPr/>
          <a:lstStyle/>
          <a:p>
            <a:endParaRPr lang="en-MY"/>
          </a:p>
        </p:txBody>
      </p:sp>
      <p:sp>
        <p:nvSpPr>
          <p:cNvPr id="43" name="Text 40"/>
          <p:cNvSpPr/>
          <p:nvPr/>
        </p:nvSpPr>
        <p:spPr>
          <a:xfrm>
            <a:off x="8281721" y="5212080"/>
            <a:ext cx="3072384" cy="731520"/>
          </a:xfrm>
          <a:prstGeom prst="rect">
            <a:avLst/>
          </a:prstGeom>
          <a:noFill/>
          <a:ln/>
        </p:spPr>
        <p:txBody>
          <a:bodyPr wrap="square" lIns="0" tIns="0" rIns="0" bIns="0" rtlCol="0" anchor="t"/>
          <a:lstStyle/>
          <a:p>
            <a:pPr marL="0" indent="0">
              <a:lnSpc>
                <a:spcPct val="125000"/>
              </a:lnSpc>
              <a:buNone/>
            </a:pPr>
            <a:r>
              <a:rPr lang="en-US" sz="950" dirty="0">
                <a:solidFill>
                  <a:srgbClr val="4A5A75"/>
                </a:solidFill>
                <a:latin typeface="Instrument Sans" pitchFamily="34" charset="0"/>
                <a:ea typeface="Instrument Sans" pitchFamily="34" charset="-122"/>
                <a:cs typeface="Instrument Sans" pitchFamily="34" charset="-120"/>
              </a:rPr>
              <a:t>RM 330,000 of media over 14 months. Our fee is separate.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609905" y="548640"/>
            <a:ext cx="59436" cy="59436"/>
          </a:xfrm>
          <a:prstGeom prst="ellipse">
            <a:avLst/>
          </a:prstGeom>
          <a:solidFill>
            <a:srgbClr val="2A6BE0"/>
          </a:solidFill>
          <a:ln/>
        </p:spPr>
        <p:txBody>
          <a:bodyPr/>
          <a:lstStyle/>
          <a:p>
            <a:endParaRPr lang="en-MY"/>
          </a:p>
        </p:txBody>
      </p:sp>
      <p:sp>
        <p:nvSpPr>
          <p:cNvPr id="3" name="Text 1"/>
          <p:cNvSpPr/>
          <p:nvPr/>
        </p:nvSpPr>
        <p:spPr>
          <a:xfrm>
            <a:off x="756209" y="484632"/>
            <a:ext cx="7315200" cy="182880"/>
          </a:xfrm>
          <a:prstGeom prst="rect">
            <a:avLst/>
          </a:prstGeom>
          <a:noFill/>
          <a:ln/>
        </p:spPr>
        <p:txBody>
          <a:bodyPr wrap="square" lIns="0" tIns="0" rIns="0" bIns="0" rtlCol="0" anchor="t"/>
          <a:lstStyle/>
          <a:p>
            <a:pPr marL="0" indent="0">
              <a:lnSpc>
                <a:spcPct val="125000"/>
              </a:lnSpc>
              <a:buNone/>
            </a:pPr>
            <a:r>
              <a:rPr lang="en-US" sz="825" kern="0" spc="60" dirty="0">
                <a:solidFill>
                  <a:srgbClr val="2A6BE0"/>
                </a:solidFill>
                <a:latin typeface="JetBrains Mono" pitchFamily="34" charset="0"/>
                <a:ea typeface="JetBrains Mono" pitchFamily="34" charset="-122"/>
                <a:cs typeface="JetBrains Mono" pitchFamily="34" charset="-120"/>
              </a:rPr>
              <a:t>THE PLAN FOR THE YEAR</a:t>
            </a:r>
            <a:endParaRPr lang="en-US" sz="825" dirty="0"/>
          </a:p>
        </p:txBody>
      </p:sp>
      <p:sp>
        <p:nvSpPr>
          <p:cNvPr id="4" name="Text 2"/>
          <p:cNvSpPr/>
          <p:nvPr/>
        </p:nvSpPr>
        <p:spPr>
          <a:xfrm>
            <a:off x="609905" y="713232"/>
            <a:ext cx="10971886" cy="658368"/>
          </a:xfrm>
          <a:prstGeom prst="rect">
            <a:avLst/>
          </a:prstGeom>
          <a:noFill/>
          <a:ln/>
        </p:spPr>
        <p:txBody>
          <a:bodyPr wrap="square" lIns="0" tIns="0" rIns="0" bIns="0" rtlCol="0" anchor="ctr"/>
          <a:lstStyle/>
          <a:p>
            <a:pPr marL="0" indent="0">
              <a:lnSpc>
                <a:spcPct val="100000"/>
              </a:lnSpc>
              <a:buNone/>
            </a:pPr>
            <a:r>
              <a:rPr lang="en-US" sz="3800" dirty="0">
                <a:solidFill>
                  <a:srgbClr val="0E1B33"/>
                </a:solidFill>
                <a:latin typeface="Instrument Serif" pitchFamily="34" charset="0"/>
                <a:ea typeface="Instrument Serif" pitchFamily="34" charset="-122"/>
                <a:cs typeface="Instrument Serif" pitchFamily="34" charset="-120"/>
              </a:rPr>
              <a:t>Three platforms, </a:t>
            </a:r>
            <a:r>
              <a:rPr lang="en-US" sz="3800" i="1" dirty="0">
                <a:solidFill>
                  <a:srgbClr val="2A6BE0"/>
                </a:solidFill>
                <a:latin typeface="Instrument Serif" pitchFamily="34" charset="0"/>
                <a:ea typeface="Instrument Serif" pitchFamily="34" charset="-122"/>
                <a:cs typeface="Instrument Serif" pitchFamily="34" charset="-120"/>
              </a:rPr>
              <a:t>three jobs</a:t>
            </a:r>
            <a:endParaRPr lang="en-US" sz="3800" dirty="0"/>
          </a:p>
        </p:txBody>
      </p:sp>
      <p:sp>
        <p:nvSpPr>
          <p:cNvPr id="5" name="Text 3"/>
          <p:cNvSpPr/>
          <p:nvPr/>
        </p:nvSpPr>
        <p:spPr>
          <a:xfrm>
            <a:off x="609905" y="1463040"/>
            <a:ext cx="10971886" cy="566928"/>
          </a:xfrm>
          <a:prstGeom prst="rect">
            <a:avLst/>
          </a:prstGeom>
          <a:noFill/>
          <a:ln/>
        </p:spPr>
        <p:txBody>
          <a:bodyPr wrap="square" lIns="0" tIns="0" rIns="0" bIns="0" rtlCol="0" anchor="t"/>
          <a:lstStyle/>
          <a:p>
            <a:pPr marL="0" indent="0">
              <a:lnSpc>
                <a:spcPct val="140000"/>
              </a:lnSpc>
              <a:buNone/>
            </a:pPr>
            <a:r>
              <a:rPr lang="en-US" sz="1250" dirty="0">
                <a:solidFill>
                  <a:srgbClr val="4A5A75"/>
                </a:solidFill>
                <a:latin typeface="Instrument Sans" pitchFamily="34" charset="0"/>
                <a:ea typeface="Instrument Sans" pitchFamily="34" charset="-122"/>
                <a:cs typeface="Instrument Sans" pitchFamily="34" charset="-120"/>
              </a:rPr>
              <a:t>Each platform has one job. We target the Klang Valley, and Google Search also covers Negeri Sembilan, Perak, Melaka and Pahang.</a:t>
            </a:r>
            <a:endParaRPr lang="en-US" sz="1250" dirty="0"/>
          </a:p>
        </p:txBody>
      </p:sp>
      <p:sp>
        <p:nvSpPr>
          <p:cNvPr id="6" name="Text 4"/>
          <p:cNvSpPr/>
          <p:nvPr/>
        </p:nvSpPr>
        <p:spPr>
          <a:xfrm>
            <a:off x="11033150" y="6455664"/>
            <a:ext cx="548640" cy="182880"/>
          </a:xfrm>
          <a:prstGeom prst="rect">
            <a:avLst/>
          </a:prstGeom>
          <a:noFill/>
          <a:ln/>
        </p:spPr>
        <p:txBody>
          <a:bodyPr wrap="square" lIns="0" tIns="0" rIns="0" bIns="0" rtlCol="0" anchor="t"/>
          <a:lstStyle/>
          <a:p>
            <a:pPr marL="0" indent="0" algn="r">
              <a:lnSpc>
                <a:spcPct val="125000"/>
              </a:lnSpc>
              <a:buNone/>
            </a:pPr>
            <a:r>
              <a:rPr lang="en-US" sz="750" dirty="0">
                <a:solidFill>
                  <a:srgbClr val="8794AC"/>
                </a:solidFill>
                <a:latin typeface="JetBrains Mono" pitchFamily="34" charset="0"/>
                <a:ea typeface="JetBrains Mono" pitchFamily="34" charset="-122"/>
                <a:cs typeface="JetBrains Mono" pitchFamily="34" charset="-120"/>
              </a:rPr>
              <a:t>03</a:t>
            </a:r>
            <a:endParaRPr lang="en-US" sz="750" dirty="0"/>
          </a:p>
        </p:txBody>
      </p:sp>
      <p:sp>
        <p:nvSpPr>
          <p:cNvPr id="8" name="Shape 5"/>
          <p:cNvSpPr/>
          <p:nvPr/>
        </p:nvSpPr>
        <p:spPr>
          <a:xfrm>
            <a:off x="609905" y="2212848"/>
            <a:ext cx="3529584" cy="2487168"/>
          </a:xfrm>
          <a:prstGeom prst="roundRect">
            <a:avLst>
              <a:gd name="adj" fmla="val 4779"/>
            </a:avLst>
          </a:prstGeom>
          <a:solidFill>
            <a:srgbClr val="FFFFFF"/>
          </a:solidFill>
          <a:ln w="9525">
            <a:solidFill>
              <a:srgbClr val="D5E2F0"/>
            </a:solidFill>
            <a:prstDash val="solid"/>
          </a:ln>
        </p:spPr>
        <p:txBody>
          <a:bodyPr/>
          <a:lstStyle/>
          <a:p>
            <a:endParaRPr lang="en-MY"/>
          </a:p>
        </p:txBody>
      </p:sp>
      <p:sp>
        <p:nvSpPr>
          <p:cNvPr id="9" name="Text 6"/>
          <p:cNvSpPr/>
          <p:nvPr/>
        </p:nvSpPr>
        <p:spPr>
          <a:xfrm>
            <a:off x="838505" y="2395728"/>
            <a:ext cx="2194560" cy="384048"/>
          </a:xfrm>
          <a:prstGeom prst="rect">
            <a:avLst/>
          </a:prstGeom>
          <a:noFill/>
          <a:ln/>
        </p:spPr>
        <p:txBody>
          <a:bodyPr wrap="square" lIns="0" tIns="0" rIns="0" bIns="0" rtlCol="0" anchor="t"/>
          <a:lstStyle/>
          <a:p>
            <a:pPr marL="0" indent="0">
              <a:lnSpc>
                <a:spcPct val="100000"/>
              </a:lnSpc>
              <a:buNone/>
            </a:pPr>
            <a:r>
              <a:rPr lang="en-US" sz="2200" dirty="0">
                <a:solidFill>
                  <a:srgbClr val="0E1B33"/>
                </a:solidFill>
                <a:latin typeface="Instrument Serif" pitchFamily="34" charset="0"/>
                <a:ea typeface="Instrument Serif" pitchFamily="34" charset="-122"/>
                <a:cs typeface="Instrument Serif" pitchFamily="34" charset="-120"/>
              </a:rPr>
              <a:t>TikTok</a:t>
            </a:r>
            <a:endParaRPr lang="en-US" sz="2200" dirty="0"/>
          </a:p>
        </p:txBody>
      </p:sp>
      <p:sp>
        <p:nvSpPr>
          <p:cNvPr id="10" name="Text 7"/>
          <p:cNvSpPr/>
          <p:nvPr/>
        </p:nvSpPr>
        <p:spPr>
          <a:xfrm>
            <a:off x="2082089" y="2487168"/>
            <a:ext cx="1828800" cy="182880"/>
          </a:xfrm>
          <a:prstGeom prst="rect">
            <a:avLst/>
          </a:prstGeom>
          <a:noFill/>
          <a:ln/>
        </p:spPr>
        <p:txBody>
          <a:bodyPr wrap="square" lIns="0" tIns="0" rIns="0" bIns="0" rtlCol="0" anchor="t"/>
          <a:lstStyle/>
          <a:p>
            <a:pPr marL="0" indent="0" algn="r">
              <a:lnSpc>
                <a:spcPct val="125000"/>
              </a:lnSpc>
              <a:buNone/>
            </a:pPr>
            <a:r>
              <a:rPr lang="en-US" sz="750" dirty="0">
                <a:solidFill>
                  <a:srgbClr val="8794AC"/>
                </a:solidFill>
                <a:latin typeface="JetBrains Mono" pitchFamily="34" charset="0"/>
                <a:ea typeface="JetBrains Mono" pitchFamily="34" charset="-122"/>
                <a:cs typeface="JetBrains Mono" pitchFamily="34" charset="-120"/>
              </a:rPr>
              <a:t>RM 9,400 to 14,000 a month</a:t>
            </a:r>
            <a:endParaRPr lang="en-US" sz="750" dirty="0"/>
          </a:p>
        </p:txBody>
      </p:sp>
      <p:sp>
        <p:nvSpPr>
          <p:cNvPr id="11" name="Text 8"/>
          <p:cNvSpPr/>
          <p:nvPr/>
        </p:nvSpPr>
        <p:spPr>
          <a:xfrm>
            <a:off x="838505" y="2779776"/>
            <a:ext cx="3072384" cy="228600"/>
          </a:xfrm>
          <a:prstGeom prst="rect">
            <a:avLst/>
          </a:prstGeom>
          <a:noFill/>
          <a:ln/>
        </p:spPr>
        <p:txBody>
          <a:bodyPr wrap="square" lIns="0" tIns="0" rIns="0" bIns="0" rtlCol="0" anchor="t"/>
          <a:lstStyle/>
          <a:p>
            <a:pPr marL="0" indent="0">
              <a:lnSpc>
                <a:spcPct val="125000"/>
              </a:lnSpc>
              <a:buNone/>
            </a:pPr>
            <a:r>
              <a:rPr lang="en-US" sz="1100" b="1" dirty="0">
                <a:solidFill>
                  <a:srgbClr val="2A6BE0"/>
                </a:solidFill>
                <a:latin typeface="Instrument Sans" pitchFamily="34" charset="0"/>
                <a:ea typeface="Instrument Sans" pitchFamily="34" charset="-122"/>
                <a:cs typeface="Instrument Sans" pitchFamily="34" charset="-120"/>
              </a:rPr>
              <a:t>Create the demand</a:t>
            </a:r>
            <a:endParaRPr lang="en-US" sz="1100" dirty="0"/>
          </a:p>
        </p:txBody>
      </p:sp>
      <p:sp>
        <p:nvSpPr>
          <p:cNvPr id="12" name="Text 9"/>
          <p:cNvSpPr/>
          <p:nvPr/>
        </p:nvSpPr>
        <p:spPr>
          <a:xfrm>
            <a:off x="838505" y="3108960"/>
            <a:ext cx="3072384" cy="182880"/>
          </a:xfrm>
          <a:prstGeom prst="rect">
            <a:avLst/>
          </a:prstGeom>
          <a:noFill/>
          <a:ln/>
        </p:spPr>
        <p:txBody>
          <a:bodyPr wrap="square" lIns="0" tIns="0" rIns="0" bIns="0" rtlCol="0" anchor="t"/>
          <a:lstStyle/>
          <a:p>
            <a:pPr marL="0" indent="0">
              <a:lnSpc>
                <a:spcPct val="125000"/>
              </a:lnSpc>
              <a:buNone/>
            </a:pPr>
            <a:r>
              <a:rPr lang="en-US" sz="675" kern="0" spc="60" dirty="0">
                <a:solidFill>
                  <a:srgbClr val="8794AC"/>
                </a:solidFill>
                <a:latin typeface="JetBrains Mono" pitchFamily="34" charset="0"/>
                <a:ea typeface="JetBrains Mono" pitchFamily="34" charset="-122"/>
                <a:cs typeface="JetBrains Mono" pitchFamily="34" charset="-120"/>
              </a:rPr>
              <a:t>WHO WE TARGET</a:t>
            </a:r>
            <a:endParaRPr lang="en-US" sz="675" dirty="0"/>
          </a:p>
        </p:txBody>
      </p:sp>
      <p:sp>
        <p:nvSpPr>
          <p:cNvPr id="13" name="Text 10"/>
          <p:cNvSpPr/>
          <p:nvPr/>
        </p:nvSpPr>
        <p:spPr>
          <a:xfrm>
            <a:off x="838505" y="3282696"/>
            <a:ext cx="3072384" cy="548640"/>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School leavers 18 to 24, parents 35 to 54, and people who watched your videos.</a:t>
            </a:r>
            <a:endParaRPr lang="en-US" sz="1050" dirty="0"/>
          </a:p>
        </p:txBody>
      </p:sp>
      <p:sp>
        <p:nvSpPr>
          <p:cNvPr id="14" name="Text 11"/>
          <p:cNvSpPr/>
          <p:nvPr/>
        </p:nvSpPr>
        <p:spPr>
          <a:xfrm>
            <a:off x="838505" y="3877056"/>
            <a:ext cx="3072384" cy="182880"/>
          </a:xfrm>
          <a:prstGeom prst="rect">
            <a:avLst/>
          </a:prstGeom>
          <a:noFill/>
          <a:ln/>
        </p:spPr>
        <p:txBody>
          <a:bodyPr wrap="square" lIns="0" tIns="0" rIns="0" bIns="0" rtlCol="0" anchor="t"/>
          <a:lstStyle/>
          <a:p>
            <a:pPr marL="0" indent="0">
              <a:lnSpc>
                <a:spcPct val="125000"/>
              </a:lnSpc>
              <a:buNone/>
            </a:pPr>
            <a:r>
              <a:rPr lang="en-US" sz="675" kern="0" spc="60" dirty="0">
                <a:solidFill>
                  <a:srgbClr val="8794AC"/>
                </a:solidFill>
                <a:latin typeface="JetBrains Mono" pitchFamily="34" charset="0"/>
                <a:ea typeface="JetBrains Mono" pitchFamily="34" charset="-122"/>
                <a:cs typeface="JetBrains Mono" pitchFamily="34" charset="-120"/>
              </a:rPr>
              <a:t>HOW THEY ENQUIRE</a:t>
            </a:r>
            <a:endParaRPr lang="en-US" sz="675" dirty="0"/>
          </a:p>
        </p:txBody>
      </p:sp>
      <p:sp>
        <p:nvSpPr>
          <p:cNvPr id="15" name="Text 12"/>
          <p:cNvSpPr/>
          <p:nvPr/>
        </p:nvSpPr>
        <p:spPr>
          <a:xfrm>
            <a:off x="838505" y="4050792"/>
            <a:ext cx="3072384" cy="548640"/>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Lead forms, at about RM 37 a lead since July.</a:t>
            </a:r>
            <a:endParaRPr lang="en-US" sz="1050" dirty="0"/>
          </a:p>
        </p:txBody>
      </p:sp>
      <p:sp>
        <p:nvSpPr>
          <p:cNvPr id="16" name="Shape 13"/>
          <p:cNvSpPr/>
          <p:nvPr/>
        </p:nvSpPr>
        <p:spPr>
          <a:xfrm>
            <a:off x="4331513" y="2212848"/>
            <a:ext cx="3529584" cy="2487168"/>
          </a:xfrm>
          <a:prstGeom prst="roundRect">
            <a:avLst>
              <a:gd name="adj" fmla="val 4779"/>
            </a:avLst>
          </a:prstGeom>
          <a:solidFill>
            <a:srgbClr val="FFFFFF"/>
          </a:solidFill>
          <a:ln w="9525">
            <a:solidFill>
              <a:srgbClr val="D5E2F0"/>
            </a:solidFill>
            <a:prstDash val="solid"/>
          </a:ln>
        </p:spPr>
        <p:txBody>
          <a:bodyPr/>
          <a:lstStyle/>
          <a:p>
            <a:endParaRPr lang="en-MY"/>
          </a:p>
        </p:txBody>
      </p:sp>
      <p:sp>
        <p:nvSpPr>
          <p:cNvPr id="17" name="Text 14"/>
          <p:cNvSpPr/>
          <p:nvPr/>
        </p:nvSpPr>
        <p:spPr>
          <a:xfrm>
            <a:off x="4560113" y="2395728"/>
            <a:ext cx="2194560" cy="384048"/>
          </a:xfrm>
          <a:prstGeom prst="rect">
            <a:avLst/>
          </a:prstGeom>
          <a:noFill/>
          <a:ln/>
        </p:spPr>
        <p:txBody>
          <a:bodyPr wrap="square" lIns="0" tIns="0" rIns="0" bIns="0" rtlCol="0" anchor="t"/>
          <a:lstStyle/>
          <a:p>
            <a:pPr marL="0" indent="0">
              <a:lnSpc>
                <a:spcPct val="100000"/>
              </a:lnSpc>
              <a:buNone/>
            </a:pPr>
            <a:r>
              <a:rPr lang="en-US" sz="2200" dirty="0">
                <a:solidFill>
                  <a:srgbClr val="0E1B33"/>
                </a:solidFill>
                <a:latin typeface="Instrument Serif" pitchFamily="34" charset="0"/>
                <a:ea typeface="Instrument Serif" pitchFamily="34" charset="-122"/>
                <a:cs typeface="Instrument Serif" pitchFamily="34" charset="-120"/>
              </a:rPr>
              <a:t>Meta</a:t>
            </a:r>
            <a:endParaRPr lang="en-US" sz="2200" dirty="0"/>
          </a:p>
        </p:txBody>
      </p:sp>
      <p:sp>
        <p:nvSpPr>
          <p:cNvPr id="18" name="Text 15"/>
          <p:cNvSpPr/>
          <p:nvPr/>
        </p:nvSpPr>
        <p:spPr>
          <a:xfrm>
            <a:off x="5803697" y="2487168"/>
            <a:ext cx="1828800" cy="182880"/>
          </a:xfrm>
          <a:prstGeom prst="rect">
            <a:avLst/>
          </a:prstGeom>
          <a:noFill/>
          <a:ln/>
        </p:spPr>
        <p:txBody>
          <a:bodyPr wrap="square" lIns="0" tIns="0" rIns="0" bIns="0" rtlCol="0" anchor="t"/>
          <a:lstStyle/>
          <a:p>
            <a:pPr marL="0" indent="0" algn="r">
              <a:lnSpc>
                <a:spcPct val="125000"/>
              </a:lnSpc>
              <a:buNone/>
            </a:pPr>
            <a:r>
              <a:rPr lang="en-US" sz="750" dirty="0">
                <a:solidFill>
                  <a:srgbClr val="8794AC"/>
                </a:solidFill>
                <a:latin typeface="JetBrains Mono" pitchFamily="34" charset="0"/>
                <a:ea typeface="JetBrains Mono" pitchFamily="34" charset="-122"/>
                <a:cs typeface="JetBrains Mono" pitchFamily="34" charset="-120"/>
              </a:rPr>
              <a:t>RM 6,600 to 11,000 a month</a:t>
            </a:r>
            <a:endParaRPr lang="en-US" sz="750" dirty="0"/>
          </a:p>
        </p:txBody>
      </p:sp>
      <p:sp>
        <p:nvSpPr>
          <p:cNvPr id="19" name="Text 16"/>
          <p:cNvSpPr/>
          <p:nvPr/>
        </p:nvSpPr>
        <p:spPr>
          <a:xfrm>
            <a:off x="4560113" y="2779776"/>
            <a:ext cx="3072384" cy="228600"/>
          </a:xfrm>
          <a:prstGeom prst="rect">
            <a:avLst/>
          </a:prstGeom>
          <a:noFill/>
          <a:ln/>
        </p:spPr>
        <p:txBody>
          <a:bodyPr wrap="square" lIns="0" tIns="0" rIns="0" bIns="0" rtlCol="0" anchor="t"/>
          <a:lstStyle/>
          <a:p>
            <a:pPr marL="0" indent="0">
              <a:lnSpc>
                <a:spcPct val="125000"/>
              </a:lnSpc>
              <a:buNone/>
            </a:pPr>
            <a:r>
              <a:rPr lang="en-US" sz="1100" b="1" dirty="0">
                <a:solidFill>
                  <a:srgbClr val="2A6BE0"/>
                </a:solidFill>
                <a:latin typeface="Instrument Sans" pitchFamily="34" charset="0"/>
                <a:ea typeface="Instrument Sans" pitchFamily="34" charset="-122"/>
                <a:cs typeface="Instrument Sans" pitchFamily="34" charset="-120"/>
              </a:rPr>
              <a:t>Reach the parents</a:t>
            </a:r>
            <a:endParaRPr lang="en-US" sz="1100" dirty="0"/>
          </a:p>
        </p:txBody>
      </p:sp>
      <p:sp>
        <p:nvSpPr>
          <p:cNvPr id="20" name="Text 17"/>
          <p:cNvSpPr/>
          <p:nvPr/>
        </p:nvSpPr>
        <p:spPr>
          <a:xfrm>
            <a:off x="4560113" y="3108960"/>
            <a:ext cx="3072384" cy="182880"/>
          </a:xfrm>
          <a:prstGeom prst="rect">
            <a:avLst/>
          </a:prstGeom>
          <a:noFill/>
          <a:ln/>
        </p:spPr>
        <p:txBody>
          <a:bodyPr wrap="square" lIns="0" tIns="0" rIns="0" bIns="0" rtlCol="0" anchor="t"/>
          <a:lstStyle/>
          <a:p>
            <a:pPr marL="0" indent="0">
              <a:lnSpc>
                <a:spcPct val="125000"/>
              </a:lnSpc>
              <a:buNone/>
            </a:pPr>
            <a:r>
              <a:rPr lang="en-US" sz="675" kern="0" spc="60" dirty="0">
                <a:solidFill>
                  <a:srgbClr val="8794AC"/>
                </a:solidFill>
                <a:latin typeface="JetBrains Mono" pitchFamily="34" charset="0"/>
                <a:ea typeface="JetBrains Mono" pitchFamily="34" charset="-122"/>
                <a:cs typeface="JetBrains Mono" pitchFamily="34" charset="-120"/>
              </a:rPr>
              <a:t>WHO WE TARGET</a:t>
            </a:r>
            <a:endParaRPr lang="en-US" sz="675" dirty="0"/>
          </a:p>
        </p:txBody>
      </p:sp>
      <p:sp>
        <p:nvSpPr>
          <p:cNvPr id="21" name="Text 18"/>
          <p:cNvSpPr/>
          <p:nvPr/>
        </p:nvSpPr>
        <p:spPr>
          <a:xfrm>
            <a:off x="4560113" y="3282696"/>
            <a:ext cx="3072384" cy="548640"/>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Parents 35 to 55, school leavers 18 to 24, and people like your TikTok leads.</a:t>
            </a:r>
            <a:endParaRPr lang="en-US" sz="1050" dirty="0"/>
          </a:p>
        </p:txBody>
      </p:sp>
      <p:sp>
        <p:nvSpPr>
          <p:cNvPr id="22" name="Text 19"/>
          <p:cNvSpPr/>
          <p:nvPr/>
        </p:nvSpPr>
        <p:spPr>
          <a:xfrm>
            <a:off x="4560113" y="3877056"/>
            <a:ext cx="3072384" cy="182880"/>
          </a:xfrm>
          <a:prstGeom prst="rect">
            <a:avLst/>
          </a:prstGeom>
          <a:noFill/>
          <a:ln/>
        </p:spPr>
        <p:txBody>
          <a:bodyPr wrap="square" lIns="0" tIns="0" rIns="0" bIns="0" rtlCol="0" anchor="t"/>
          <a:lstStyle/>
          <a:p>
            <a:pPr marL="0" indent="0">
              <a:lnSpc>
                <a:spcPct val="125000"/>
              </a:lnSpc>
              <a:buNone/>
            </a:pPr>
            <a:r>
              <a:rPr lang="en-US" sz="675" kern="0" spc="60" dirty="0">
                <a:solidFill>
                  <a:srgbClr val="8794AC"/>
                </a:solidFill>
                <a:latin typeface="JetBrains Mono" pitchFamily="34" charset="0"/>
                <a:ea typeface="JetBrains Mono" pitchFamily="34" charset="-122"/>
                <a:cs typeface="JetBrains Mono" pitchFamily="34" charset="-120"/>
              </a:rPr>
              <a:t>HOW THEY ENQUIRE</a:t>
            </a:r>
            <a:endParaRPr lang="en-US" sz="675" dirty="0"/>
          </a:p>
        </p:txBody>
      </p:sp>
      <p:sp>
        <p:nvSpPr>
          <p:cNvPr id="23" name="Text 20"/>
          <p:cNvSpPr/>
          <p:nvPr/>
        </p:nvSpPr>
        <p:spPr>
          <a:xfrm>
            <a:off x="4560113" y="4050792"/>
            <a:ext cx="3072384" cy="548640"/>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Lead forms first, then WhatsApp once Meta approves your display name.</a:t>
            </a:r>
            <a:endParaRPr lang="en-US" sz="1050" dirty="0"/>
          </a:p>
        </p:txBody>
      </p:sp>
      <p:sp>
        <p:nvSpPr>
          <p:cNvPr id="24" name="Shape 21"/>
          <p:cNvSpPr/>
          <p:nvPr/>
        </p:nvSpPr>
        <p:spPr>
          <a:xfrm>
            <a:off x="8053121" y="2212848"/>
            <a:ext cx="3529584" cy="2487168"/>
          </a:xfrm>
          <a:prstGeom prst="roundRect">
            <a:avLst>
              <a:gd name="adj" fmla="val 4779"/>
            </a:avLst>
          </a:prstGeom>
          <a:solidFill>
            <a:srgbClr val="FFFFFF"/>
          </a:solidFill>
          <a:ln w="9525">
            <a:solidFill>
              <a:srgbClr val="D5E2F0"/>
            </a:solidFill>
            <a:prstDash val="solid"/>
          </a:ln>
        </p:spPr>
        <p:txBody>
          <a:bodyPr/>
          <a:lstStyle/>
          <a:p>
            <a:endParaRPr lang="en-MY"/>
          </a:p>
        </p:txBody>
      </p:sp>
      <p:sp>
        <p:nvSpPr>
          <p:cNvPr id="25" name="Text 22"/>
          <p:cNvSpPr/>
          <p:nvPr/>
        </p:nvSpPr>
        <p:spPr>
          <a:xfrm>
            <a:off x="8281721" y="2395728"/>
            <a:ext cx="2194560" cy="384048"/>
          </a:xfrm>
          <a:prstGeom prst="rect">
            <a:avLst/>
          </a:prstGeom>
          <a:noFill/>
          <a:ln/>
        </p:spPr>
        <p:txBody>
          <a:bodyPr wrap="square" lIns="0" tIns="0" rIns="0" bIns="0" rtlCol="0" anchor="t"/>
          <a:lstStyle/>
          <a:p>
            <a:pPr marL="0" indent="0">
              <a:lnSpc>
                <a:spcPct val="100000"/>
              </a:lnSpc>
              <a:buNone/>
            </a:pPr>
            <a:r>
              <a:rPr lang="en-US" sz="2200" dirty="0">
                <a:solidFill>
                  <a:srgbClr val="0E1B33"/>
                </a:solidFill>
                <a:latin typeface="Instrument Serif" pitchFamily="34" charset="0"/>
                <a:ea typeface="Instrument Serif" pitchFamily="34" charset="-122"/>
                <a:cs typeface="Instrument Serif" pitchFamily="34" charset="-120"/>
              </a:rPr>
              <a:t>Google Search</a:t>
            </a:r>
            <a:endParaRPr lang="en-US" sz="2200" dirty="0"/>
          </a:p>
        </p:txBody>
      </p:sp>
      <p:sp>
        <p:nvSpPr>
          <p:cNvPr id="26" name="Text 23"/>
          <p:cNvSpPr/>
          <p:nvPr/>
        </p:nvSpPr>
        <p:spPr>
          <a:xfrm>
            <a:off x="9525305" y="2487168"/>
            <a:ext cx="1828800" cy="182880"/>
          </a:xfrm>
          <a:prstGeom prst="rect">
            <a:avLst/>
          </a:prstGeom>
          <a:noFill/>
          <a:ln/>
        </p:spPr>
        <p:txBody>
          <a:bodyPr wrap="square" lIns="0" tIns="0" rIns="0" bIns="0" rtlCol="0" anchor="t"/>
          <a:lstStyle/>
          <a:p>
            <a:pPr marL="0" indent="0" algn="r">
              <a:lnSpc>
                <a:spcPct val="125000"/>
              </a:lnSpc>
              <a:buNone/>
            </a:pPr>
            <a:r>
              <a:rPr lang="en-US" sz="750" dirty="0">
                <a:solidFill>
                  <a:srgbClr val="8794AC"/>
                </a:solidFill>
                <a:latin typeface="JetBrains Mono" pitchFamily="34" charset="0"/>
                <a:ea typeface="JetBrains Mono" pitchFamily="34" charset="-122"/>
                <a:cs typeface="JetBrains Mono" pitchFamily="34" charset="-120"/>
              </a:rPr>
              <a:t>RM 4,000 to 5,000 a month</a:t>
            </a:r>
            <a:endParaRPr lang="en-US" sz="750" dirty="0"/>
          </a:p>
        </p:txBody>
      </p:sp>
      <p:sp>
        <p:nvSpPr>
          <p:cNvPr id="27" name="Text 24"/>
          <p:cNvSpPr/>
          <p:nvPr/>
        </p:nvSpPr>
        <p:spPr>
          <a:xfrm>
            <a:off x="8281721" y="2779776"/>
            <a:ext cx="3072384" cy="228600"/>
          </a:xfrm>
          <a:prstGeom prst="rect">
            <a:avLst/>
          </a:prstGeom>
          <a:noFill/>
          <a:ln/>
        </p:spPr>
        <p:txBody>
          <a:bodyPr wrap="square" lIns="0" tIns="0" rIns="0" bIns="0" rtlCol="0" anchor="t"/>
          <a:lstStyle/>
          <a:p>
            <a:pPr marL="0" indent="0">
              <a:lnSpc>
                <a:spcPct val="125000"/>
              </a:lnSpc>
              <a:buNone/>
            </a:pPr>
            <a:r>
              <a:rPr lang="en-US" sz="1100" b="1" dirty="0">
                <a:solidFill>
                  <a:srgbClr val="2A6BE0"/>
                </a:solidFill>
                <a:latin typeface="Instrument Sans" pitchFamily="34" charset="0"/>
                <a:ea typeface="Instrument Sans" pitchFamily="34" charset="-122"/>
                <a:cs typeface="Instrument Sans" pitchFamily="34" charset="-120"/>
              </a:rPr>
              <a:t>Catch the ready</a:t>
            </a:r>
            <a:endParaRPr lang="en-US" sz="1100" dirty="0"/>
          </a:p>
        </p:txBody>
      </p:sp>
      <p:sp>
        <p:nvSpPr>
          <p:cNvPr id="28" name="Text 25"/>
          <p:cNvSpPr/>
          <p:nvPr/>
        </p:nvSpPr>
        <p:spPr>
          <a:xfrm>
            <a:off x="8281721" y="3108960"/>
            <a:ext cx="3072384" cy="182880"/>
          </a:xfrm>
          <a:prstGeom prst="rect">
            <a:avLst/>
          </a:prstGeom>
          <a:noFill/>
          <a:ln/>
        </p:spPr>
        <p:txBody>
          <a:bodyPr wrap="square" lIns="0" tIns="0" rIns="0" bIns="0" rtlCol="0" anchor="t"/>
          <a:lstStyle/>
          <a:p>
            <a:pPr marL="0" indent="0">
              <a:lnSpc>
                <a:spcPct val="125000"/>
              </a:lnSpc>
              <a:buNone/>
            </a:pPr>
            <a:r>
              <a:rPr lang="en-US" sz="675" kern="0" spc="60" dirty="0">
                <a:solidFill>
                  <a:srgbClr val="8794AC"/>
                </a:solidFill>
                <a:latin typeface="JetBrains Mono" pitchFamily="34" charset="0"/>
                <a:ea typeface="JetBrains Mono" pitchFamily="34" charset="-122"/>
                <a:cs typeface="JetBrains Mono" pitchFamily="34" charset="-120"/>
              </a:rPr>
              <a:t>WHO WE TARGET</a:t>
            </a:r>
            <a:endParaRPr lang="en-US" sz="675" dirty="0"/>
          </a:p>
        </p:txBody>
      </p:sp>
      <p:sp>
        <p:nvSpPr>
          <p:cNvPr id="29" name="Text 26"/>
          <p:cNvSpPr/>
          <p:nvPr/>
        </p:nvSpPr>
        <p:spPr>
          <a:xfrm>
            <a:off x="8281721" y="3282696"/>
            <a:ext cx="3072384" cy="548640"/>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People searching for your name, a program or PTPTN, in English and Malay.</a:t>
            </a:r>
            <a:endParaRPr lang="en-US" sz="1050" dirty="0"/>
          </a:p>
        </p:txBody>
      </p:sp>
      <p:sp>
        <p:nvSpPr>
          <p:cNvPr id="30" name="Text 27"/>
          <p:cNvSpPr/>
          <p:nvPr/>
        </p:nvSpPr>
        <p:spPr>
          <a:xfrm>
            <a:off x="8281721" y="3877056"/>
            <a:ext cx="3072384" cy="182880"/>
          </a:xfrm>
          <a:prstGeom prst="rect">
            <a:avLst/>
          </a:prstGeom>
          <a:noFill/>
          <a:ln/>
        </p:spPr>
        <p:txBody>
          <a:bodyPr wrap="square" lIns="0" tIns="0" rIns="0" bIns="0" rtlCol="0" anchor="t"/>
          <a:lstStyle/>
          <a:p>
            <a:pPr marL="0" indent="0">
              <a:lnSpc>
                <a:spcPct val="125000"/>
              </a:lnSpc>
              <a:buNone/>
            </a:pPr>
            <a:r>
              <a:rPr lang="en-US" sz="675" kern="0" spc="60" dirty="0">
                <a:solidFill>
                  <a:srgbClr val="8794AC"/>
                </a:solidFill>
                <a:latin typeface="JetBrains Mono" pitchFamily="34" charset="0"/>
                <a:ea typeface="JetBrains Mono" pitchFamily="34" charset="-122"/>
                <a:cs typeface="JetBrains Mono" pitchFamily="34" charset="-120"/>
              </a:rPr>
              <a:t>HOW THEY ENQUIRE</a:t>
            </a:r>
            <a:endParaRPr lang="en-US" sz="675" dirty="0"/>
          </a:p>
        </p:txBody>
      </p:sp>
      <p:sp>
        <p:nvSpPr>
          <p:cNvPr id="31" name="Text 28"/>
          <p:cNvSpPr/>
          <p:nvPr/>
        </p:nvSpPr>
        <p:spPr>
          <a:xfrm>
            <a:off x="8281721" y="4050792"/>
            <a:ext cx="3072384" cy="548640"/>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A form on a landing page, so we can count every enquiry.</a:t>
            </a:r>
            <a:endParaRPr lang="en-US" sz="1050" dirty="0"/>
          </a:p>
        </p:txBody>
      </p:sp>
      <p:sp>
        <p:nvSpPr>
          <p:cNvPr id="32" name="Text 29"/>
          <p:cNvSpPr/>
          <p:nvPr/>
        </p:nvSpPr>
        <p:spPr>
          <a:xfrm>
            <a:off x="609905" y="4864608"/>
            <a:ext cx="4572000" cy="182880"/>
          </a:xfrm>
          <a:prstGeom prst="rect">
            <a:avLst/>
          </a:prstGeom>
          <a:noFill/>
          <a:ln/>
        </p:spPr>
        <p:txBody>
          <a:bodyPr wrap="square" lIns="0" tIns="0" rIns="0" bIns="0" rtlCol="0" anchor="t"/>
          <a:lstStyle/>
          <a:p>
            <a:pPr marL="0" indent="0">
              <a:lnSpc>
                <a:spcPct val="125000"/>
              </a:lnSpc>
              <a:buNone/>
            </a:pPr>
            <a:r>
              <a:rPr lang="en-US" sz="750" kern="0" spc="60" dirty="0">
                <a:solidFill>
                  <a:srgbClr val="2A6BE0"/>
                </a:solidFill>
                <a:latin typeface="JetBrains Mono" pitchFamily="34" charset="0"/>
                <a:ea typeface="JetBrains Mono" pitchFamily="34" charset="-122"/>
                <a:cs typeface="JetBrains Mono" pitchFamily="34" charset="-120"/>
              </a:rPr>
              <a:t>CREATIVE ANGLES WE ROTATE</a:t>
            </a:r>
            <a:endParaRPr lang="en-US" sz="750" dirty="0"/>
          </a:p>
        </p:txBody>
      </p:sp>
      <p:sp>
        <p:nvSpPr>
          <p:cNvPr id="33" name="Shape 30"/>
          <p:cNvSpPr/>
          <p:nvPr/>
        </p:nvSpPr>
        <p:spPr>
          <a:xfrm>
            <a:off x="609905" y="5120640"/>
            <a:ext cx="2084649" cy="1143000"/>
          </a:xfrm>
          <a:prstGeom prst="roundRect">
            <a:avLst>
              <a:gd name="adj" fmla="val 10400"/>
            </a:avLst>
          </a:prstGeom>
          <a:solidFill>
            <a:srgbClr val="FFFFFF"/>
          </a:solidFill>
          <a:ln w="9525">
            <a:solidFill>
              <a:srgbClr val="D5E2F0"/>
            </a:solidFill>
            <a:prstDash val="solid"/>
          </a:ln>
        </p:spPr>
        <p:txBody>
          <a:bodyPr/>
          <a:lstStyle/>
          <a:p>
            <a:endParaRPr lang="en-MY"/>
          </a:p>
        </p:txBody>
      </p:sp>
      <p:sp>
        <p:nvSpPr>
          <p:cNvPr id="34" name="Text 31"/>
          <p:cNvSpPr/>
          <p:nvPr/>
        </p:nvSpPr>
        <p:spPr>
          <a:xfrm>
            <a:off x="774497" y="5248656"/>
            <a:ext cx="1755465" cy="228600"/>
          </a:xfrm>
          <a:prstGeom prst="rect">
            <a:avLst/>
          </a:prstGeom>
          <a:noFill/>
          <a:ln/>
        </p:spPr>
        <p:txBody>
          <a:bodyPr wrap="square" lIns="0" tIns="0" rIns="0" bIns="0" rtlCol="0" anchor="t"/>
          <a:lstStyle/>
          <a:p>
            <a:pPr marL="0" indent="0">
              <a:lnSpc>
                <a:spcPct val="125000"/>
              </a:lnSpc>
              <a:buNone/>
            </a:pPr>
            <a:r>
              <a:rPr lang="en-US" sz="1000" b="1" dirty="0">
                <a:solidFill>
                  <a:srgbClr val="0E1B33"/>
                </a:solidFill>
                <a:latin typeface="Instrument Sans" pitchFamily="34" charset="0"/>
                <a:ea typeface="Instrument Sans" pitchFamily="34" charset="-122"/>
                <a:cs typeface="Instrument Sans" pitchFamily="34" charset="-120"/>
              </a:rPr>
              <a:t>Straight from SPM</a:t>
            </a:r>
            <a:endParaRPr lang="en-US" sz="1000" dirty="0"/>
          </a:p>
        </p:txBody>
      </p:sp>
      <p:sp>
        <p:nvSpPr>
          <p:cNvPr id="35" name="Text 32"/>
          <p:cNvSpPr/>
          <p:nvPr/>
        </p:nvSpPr>
        <p:spPr>
          <a:xfrm>
            <a:off x="774497" y="5522976"/>
            <a:ext cx="1755465" cy="640080"/>
          </a:xfrm>
          <a:prstGeom prst="rect">
            <a:avLst/>
          </a:prstGeom>
          <a:noFill/>
          <a:ln/>
        </p:spPr>
        <p:txBody>
          <a:bodyPr wrap="square" lIns="0" tIns="0" rIns="0" bIns="0" rtlCol="0" anchor="t"/>
          <a:lstStyle/>
          <a:p>
            <a:pPr marL="0" indent="0">
              <a:lnSpc>
                <a:spcPct val="125000"/>
              </a:lnSpc>
              <a:buNone/>
            </a:pPr>
            <a:r>
              <a:rPr lang="en-US" sz="1000" dirty="0">
                <a:solidFill>
                  <a:srgbClr val="4A5A75"/>
                </a:solidFill>
                <a:latin typeface="Instrument Sans" pitchFamily="34" charset="0"/>
                <a:ea typeface="Instrument Sans" pitchFamily="34" charset="-122"/>
                <a:cs typeface="Instrument Sans" pitchFamily="34" charset="-120"/>
              </a:rPr>
              <a:t>Start a diploma after SPM, without matriculation.</a:t>
            </a:r>
            <a:endParaRPr lang="en-US" sz="1000" dirty="0"/>
          </a:p>
        </p:txBody>
      </p:sp>
      <p:sp>
        <p:nvSpPr>
          <p:cNvPr id="36" name="Shape 33"/>
          <p:cNvSpPr/>
          <p:nvPr/>
        </p:nvSpPr>
        <p:spPr>
          <a:xfrm>
            <a:off x="2831714" y="5120640"/>
            <a:ext cx="2084649" cy="1143000"/>
          </a:xfrm>
          <a:prstGeom prst="roundRect">
            <a:avLst>
              <a:gd name="adj" fmla="val 10400"/>
            </a:avLst>
          </a:prstGeom>
          <a:solidFill>
            <a:srgbClr val="FFFFFF"/>
          </a:solidFill>
          <a:ln w="9525">
            <a:solidFill>
              <a:srgbClr val="D5E2F0"/>
            </a:solidFill>
            <a:prstDash val="solid"/>
          </a:ln>
        </p:spPr>
        <p:txBody>
          <a:bodyPr/>
          <a:lstStyle/>
          <a:p>
            <a:endParaRPr lang="en-MY"/>
          </a:p>
        </p:txBody>
      </p:sp>
      <p:sp>
        <p:nvSpPr>
          <p:cNvPr id="37" name="Text 34"/>
          <p:cNvSpPr/>
          <p:nvPr/>
        </p:nvSpPr>
        <p:spPr>
          <a:xfrm>
            <a:off x="2996306" y="5248656"/>
            <a:ext cx="1755465" cy="228600"/>
          </a:xfrm>
          <a:prstGeom prst="rect">
            <a:avLst/>
          </a:prstGeom>
          <a:noFill/>
          <a:ln/>
        </p:spPr>
        <p:txBody>
          <a:bodyPr wrap="square" lIns="0" tIns="0" rIns="0" bIns="0" rtlCol="0" anchor="t"/>
          <a:lstStyle/>
          <a:p>
            <a:pPr marL="0" indent="0">
              <a:lnSpc>
                <a:spcPct val="125000"/>
              </a:lnSpc>
              <a:buNone/>
            </a:pPr>
            <a:r>
              <a:rPr lang="en-US" sz="1000" b="1" dirty="0">
                <a:solidFill>
                  <a:srgbClr val="0E1B33"/>
                </a:solidFill>
                <a:latin typeface="Instrument Sans" pitchFamily="34" charset="0"/>
                <a:ea typeface="Instrument Sans" pitchFamily="34" charset="-122"/>
                <a:cs typeface="Instrument Sans" pitchFamily="34" charset="-120"/>
              </a:rPr>
              <a:t>Train at IJN</a:t>
            </a:r>
            <a:endParaRPr lang="en-US" sz="1000" dirty="0"/>
          </a:p>
        </p:txBody>
      </p:sp>
      <p:sp>
        <p:nvSpPr>
          <p:cNvPr id="38" name="Text 35"/>
          <p:cNvSpPr/>
          <p:nvPr/>
        </p:nvSpPr>
        <p:spPr>
          <a:xfrm>
            <a:off x="2996306" y="5522976"/>
            <a:ext cx="1755465" cy="640080"/>
          </a:xfrm>
          <a:prstGeom prst="rect">
            <a:avLst/>
          </a:prstGeom>
          <a:noFill/>
          <a:ln/>
        </p:spPr>
        <p:txBody>
          <a:bodyPr wrap="square" lIns="0" tIns="0" rIns="0" bIns="0" rtlCol="0" anchor="t"/>
          <a:lstStyle/>
          <a:p>
            <a:pPr marL="0" indent="0">
              <a:lnSpc>
                <a:spcPct val="125000"/>
              </a:lnSpc>
              <a:buNone/>
            </a:pPr>
            <a:r>
              <a:rPr lang="en-US" sz="1000" dirty="0">
                <a:solidFill>
                  <a:srgbClr val="4A5A75"/>
                </a:solidFill>
                <a:latin typeface="Instrument Sans" pitchFamily="34" charset="0"/>
                <a:ea typeface="Instrument Sans" pitchFamily="34" charset="-122"/>
                <a:cs typeface="Instrument Sans" pitchFamily="34" charset="-120"/>
              </a:rPr>
              <a:t>Nursing students train at IJN and MOH hospitals.</a:t>
            </a:r>
            <a:endParaRPr lang="en-US" sz="1000" dirty="0"/>
          </a:p>
        </p:txBody>
      </p:sp>
      <p:sp>
        <p:nvSpPr>
          <p:cNvPr id="39" name="Shape 36"/>
          <p:cNvSpPr/>
          <p:nvPr/>
        </p:nvSpPr>
        <p:spPr>
          <a:xfrm>
            <a:off x="5053523" y="5120640"/>
            <a:ext cx="2084649" cy="1143000"/>
          </a:xfrm>
          <a:prstGeom prst="roundRect">
            <a:avLst>
              <a:gd name="adj" fmla="val 10400"/>
            </a:avLst>
          </a:prstGeom>
          <a:solidFill>
            <a:srgbClr val="FFFFFF"/>
          </a:solidFill>
          <a:ln w="9525">
            <a:solidFill>
              <a:srgbClr val="D5E2F0"/>
            </a:solidFill>
            <a:prstDash val="solid"/>
          </a:ln>
        </p:spPr>
        <p:txBody>
          <a:bodyPr/>
          <a:lstStyle/>
          <a:p>
            <a:endParaRPr lang="en-MY"/>
          </a:p>
        </p:txBody>
      </p:sp>
      <p:sp>
        <p:nvSpPr>
          <p:cNvPr id="40" name="Text 37"/>
          <p:cNvSpPr/>
          <p:nvPr/>
        </p:nvSpPr>
        <p:spPr>
          <a:xfrm>
            <a:off x="5218115" y="5248656"/>
            <a:ext cx="1755465" cy="228600"/>
          </a:xfrm>
          <a:prstGeom prst="rect">
            <a:avLst/>
          </a:prstGeom>
          <a:noFill/>
          <a:ln/>
        </p:spPr>
        <p:txBody>
          <a:bodyPr wrap="square" lIns="0" tIns="0" rIns="0" bIns="0" rtlCol="0" anchor="t"/>
          <a:lstStyle/>
          <a:p>
            <a:pPr marL="0" indent="0">
              <a:lnSpc>
                <a:spcPct val="125000"/>
              </a:lnSpc>
              <a:buNone/>
            </a:pPr>
            <a:r>
              <a:rPr lang="en-US" sz="1000" b="1" dirty="0">
                <a:solidFill>
                  <a:srgbClr val="0E1B33"/>
                </a:solidFill>
                <a:latin typeface="Instrument Sans" pitchFamily="34" charset="0"/>
                <a:ea typeface="Instrument Sans" pitchFamily="34" charset="-122"/>
                <a:cs typeface="Instrument Sans" pitchFamily="34" charset="-120"/>
              </a:rPr>
              <a:t>One program per video</a:t>
            </a:r>
            <a:endParaRPr lang="en-US" sz="1000" dirty="0"/>
          </a:p>
        </p:txBody>
      </p:sp>
      <p:sp>
        <p:nvSpPr>
          <p:cNvPr id="41" name="Text 38"/>
          <p:cNvSpPr/>
          <p:nvPr/>
        </p:nvSpPr>
        <p:spPr>
          <a:xfrm>
            <a:off x="5218115" y="5522976"/>
            <a:ext cx="1755465" cy="640080"/>
          </a:xfrm>
          <a:prstGeom prst="rect">
            <a:avLst/>
          </a:prstGeom>
          <a:noFill/>
          <a:ln/>
        </p:spPr>
        <p:txBody>
          <a:bodyPr wrap="square" lIns="0" tIns="0" rIns="0" bIns="0" rtlCol="0" anchor="t"/>
          <a:lstStyle/>
          <a:p>
            <a:pPr marL="0" indent="0">
              <a:lnSpc>
                <a:spcPct val="125000"/>
              </a:lnSpc>
              <a:buNone/>
            </a:pPr>
            <a:r>
              <a:rPr lang="en-US" sz="1000" dirty="0">
                <a:solidFill>
                  <a:srgbClr val="4A5A75"/>
                </a:solidFill>
                <a:latin typeface="Instrument Sans" pitchFamily="34" charset="0"/>
                <a:ea typeface="Instrument Sans" pitchFamily="34" charset="-122"/>
                <a:cs typeface="Instrument Sans" pitchFamily="34" charset="-120"/>
              </a:rPr>
              <a:t>Pharmaceutical Technology was your cheapest lead in August.</a:t>
            </a:r>
            <a:endParaRPr lang="en-US" sz="1000" dirty="0"/>
          </a:p>
        </p:txBody>
      </p:sp>
      <p:sp>
        <p:nvSpPr>
          <p:cNvPr id="42" name="Shape 39"/>
          <p:cNvSpPr/>
          <p:nvPr/>
        </p:nvSpPr>
        <p:spPr>
          <a:xfrm>
            <a:off x="7275332" y="5120640"/>
            <a:ext cx="2084649" cy="1143000"/>
          </a:xfrm>
          <a:prstGeom prst="roundRect">
            <a:avLst>
              <a:gd name="adj" fmla="val 10400"/>
            </a:avLst>
          </a:prstGeom>
          <a:solidFill>
            <a:srgbClr val="FFFFFF"/>
          </a:solidFill>
          <a:ln w="9525">
            <a:solidFill>
              <a:srgbClr val="D5E2F0"/>
            </a:solidFill>
            <a:prstDash val="solid"/>
          </a:ln>
        </p:spPr>
        <p:txBody>
          <a:bodyPr/>
          <a:lstStyle/>
          <a:p>
            <a:endParaRPr lang="en-MY"/>
          </a:p>
        </p:txBody>
      </p:sp>
      <p:sp>
        <p:nvSpPr>
          <p:cNvPr id="43" name="Text 40"/>
          <p:cNvSpPr/>
          <p:nvPr/>
        </p:nvSpPr>
        <p:spPr>
          <a:xfrm>
            <a:off x="7439924" y="5248656"/>
            <a:ext cx="1755465" cy="228600"/>
          </a:xfrm>
          <a:prstGeom prst="rect">
            <a:avLst/>
          </a:prstGeom>
          <a:noFill/>
          <a:ln/>
        </p:spPr>
        <p:txBody>
          <a:bodyPr wrap="square" lIns="0" tIns="0" rIns="0" bIns="0" rtlCol="0" anchor="t"/>
          <a:lstStyle/>
          <a:p>
            <a:pPr marL="0" indent="0">
              <a:lnSpc>
                <a:spcPct val="125000"/>
              </a:lnSpc>
              <a:buNone/>
            </a:pPr>
            <a:r>
              <a:rPr lang="en-US" sz="1000" b="1" dirty="0">
                <a:solidFill>
                  <a:srgbClr val="0E1B33"/>
                </a:solidFill>
                <a:latin typeface="Instrument Sans" pitchFamily="34" charset="0"/>
                <a:ea typeface="Instrument Sans" pitchFamily="34" charset="-122"/>
                <a:cs typeface="Instrument Sans" pitchFamily="34" charset="-120"/>
              </a:rPr>
              <a:t>Fees, answered</a:t>
            </a:r>
            <a:endParaRPr lang="en-US" sz="1000" dirty="0"/>
          </a:p>
        </p:txBody>
      </p:sp>
      <p:sp>
        <p:nvSpPr>
          <p:cNvPr id="44" name="Text 41"/>
          <p:cNvSpPr/>
          <p:nvPr/>
        </p:nvSpPr>
        <p:spPr>
          <a:xfrm>
            <a:off x="7439924" y="5522976"/>
            <a:ext cx="1755465" cy="640080"/>
          </a:xfrm>
          <a:prstGeom prst="rect">
            <a:avLst/>
          </a:prstGeom>
          <a:noFill/>
          <a:ln/>
        </p:spPr>
        <p:txBody>
          <a:bodyPr wrap="square" lIns="0" tIns="0" rIns="0" bIns="0" rtlCol="0" anchor="t"/>
          <a:lstStyle/>
          <a:p>
            <a:pPr marL="0" indent="0">
              <a:lnSpc>
                <a:spcPct val="125000"/>
              </a:lnSpc>
              <a:buNone/>
            </a:pPr>
            <a:r>
              <a:rPr lang="en-US" sz="1000" dirty="0">
                <a:solidFill>
                  <a:srgbClr val="4A5A75"/>
                </a:solidFill>
                <a:latin typeface="Instrument Sans" pitchFamily="34" charset="0"/>
                <a:ea typeface="Instrument Sans" pitchFamily="34" charset="-122"/>
                <a:cs typeface="Instrument Sans" pitchFamily="34" charset="-120"/>
              </a:rPr>
              <a:t>We explain PTPTN, EPF and scholarships.</a:t>
            </a:r>
            <a:endParaRPr lang="en-US" sz="1000" dirty="0"/>
          </a:p>
        </p:txBody>
      </p:sp>
      <p:sp>
        <p:nvSpPr>
          <p:cNvPr id="45" name="Shape 42"/>
          <p:cNvSpPr/>
          <p:nvPr/>
        </p:nvSpPr>
        <p:spPr>
          <a:xfrm>
            <a:off x="9497141" y="5120640"/>
            <a:ext cx="2084649" cy="1143000"/>
          </a:xfrm>
          <a:prstGeom prst="roundRect">
            <a:avLst>
              <a:gd name="adj" fmla="val 10400"/>
            </a:avLst>
          </a:prstGeom>
          <a:solidFill>
            <a:srgbClr val="E3EDFC"/>
          </a:solidFill>
          <a:ln/>
        </p:spPr>
        <p:txBody>
          <a:bodyPr/>
          <a:lstStyle/>
          <a:p>
            <a:endParaRPr lang="en-MY"/>
          </a:p>
        </p:txBody>
      </p:sp>
      <p:sp>
        <p:nvSpPr>
          <p:cNvPr id="46" name="Text 43"/>
          <p:cNvSpPr/>
          <p:nvPr/>
        </p:nvSpPr>
        <p:spPr>
          <a:xfrm>
            <a:off x="9661733" y="5248656"/>
            <a:ext cx="1755465" cy="228600"/>
          </a:xfrm>
          <a:prstGeom prst="rect">
            <a:avLst/>
          </a:prstGeom>
          <a:noFill/>
          <a:ln/>
        </p:spPr>
        <p:txBody>
          <a:bodyPr wrap="square" lIns="0" tIns="0" rIns="0" bIns="0" rtlCol="0" anchor="t"/>
          <a:lstStyle/>
          <a:p>
            <a:pPr marL="0" indent="0">
              <a:lnSpc>
                <a:spcPct val="125000"/>
              </a:lnSpc>
              <a:buNone/>
            </a:pPr>
            <a:r>
              <a:rPr lang="en-US" sz="1000" b="1" dirty="0">
                <a:solidFill>
                  <a:srgbClr val="0E1B33"/>
                </a:solidFill>
                <a:latin typeface="Instrument Sans" pitchFamily="34" charset="0"/>
                <a:ea typeface="Instrument Sans" pitchFamily="34" charset="-122"/>
                <a:cs typeface="Instrument Sans" pitchFamily="34" charset="-120"/>
              </a:rPr>
              <a:t>Come to the open day</a:t>
            </a:r>
            <a:endParaRPr lang="en-US" sz="1000" dirty="0"/>
          </a:p>
        </p:txBody>
      </p:sp>
      <p:sp>
        <p:nvSpPr>
          <p:cNvPr id="47" name="Text 44"/>
          <p:cNvSpPr/>
          <p:nvPr/>
        </p:nvSpPr>
        <p:spPr>
          <a:xfrm>
            <a:off x="9661733" y="5522976"/>
            <a:ext cx="1755465" cy="640080"/>
          </a:xfrm>
          <a:prstGeom prst="rect">
            <a:avLst/>
          </a:prstGeom>
          <a:noFill/>
          <a:ln/>
        </p:spPr>
        <p:txBody>
          <a:bodyPr wrap="square" lIns="0" tIns="0" rIns="0" bIns="0" rtlCol="0" anchor="t"/>
          <a:lstStyle/>
          <a:p>
            <a:pPr marL="0" indent="0">
              <a:lnSpc>
                <a:spcPct val="125000"/>
              </a:lnSpc>
              <a:buNone/>
            </a:pPr>
            <a:r>
              <a:rPr lang="en-US" sz="1000" dirty="0">
                <a:solidFill>
                  <a:srgbClr val="4A5A75"/>
                </a:solidFill>
                <a:latin typeface="Instrument Sans" pitchFamily="34" charset="0"/>
                <a:ea typeface="Instrument Sans" pitchFamily="34" charset="-122"/>
                <a:cs typeface="Instrument Sans" pitchFamily="34" charset="-120"/>
              </a:rPr>
              <a:t>We show the date, the place and what happens.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609905" y="548640"/>
            <a:ext cx="59436" cy="59436"/>
          </a:xfrm>
          <a:prstGeom prst="ellipse">
            <a:avLst/>
          </a:prstGeom>
          <a:solidFill>
            <a:srgbClr val="2A6BE0"/>
          </a:solidFill>
          <a:ln/>
        </p:spPr>
        <p:txBody>
          <a:bodyPr/>
          <a:lstStyle/>
          <a:p>
            <a:endParaRPr lang="en-MY"/>
          </a:p>
        </p:txBody>
      </p:sp>
      <p:sp>
        <p:nvSpPr>
          <p:cNvPr id="3" name="Text 1"/>
          <p:cNvSpPr/>
          <p:nvPr/>
        </p:nvSpPr>
        <p:spPr>
          <a:xfrm>
            <a:off x="756209" y="484632"/>
            <a:ext cx="7315200" cy="182880"/>
          </a:xfrm>
          <a:prstGeom prst="rect">
            <a:avLst/>
          </a:prstGeom>
          <a:noFill/>
          <a:ln/>
        </p:spPr>
        <p:txBody>
          <a:bodyPr wrap="square" lIns="0" tIns="0" rIns="0" bIns="0" rtlCol="0" anchor="t"/>
          <a:lstStyle/>
          <a:p>
            <a:pPr marL="0" indent="0">
              <a:lnSpc>
                <a:spcPct val="125000"/>
              </a:lnSpc>
              <a:buNone/>
            </a:pPr>
            <a:r>
              <a:rPr lang="en-US" sz="825" kern="0" spc="60" dirty="0">
                <a:solidFill>
                  <a:srgbClr val="2A6BE0"/>
                </a:solidFill>
                <a:latin typeface="JetBrains Mono" pitchFamily="34" charset="0"/>
                <a:ea typeface="JetBrains Mono" pitchFamily="34" charset="-122"/>
                <a:cs typeface="JetBrains Mono" pitchFamily="34" charset="-120"/>
              </a:rPr>
              <a:t>MEDIA PLAN</a:t>
            </a:r>
            <a:endParaRPr lang="en-US" sz="825" dirty="0"/>
          </a:p>
        </p:txBody>
      </p:sp>
      <p:sp>
        <p:nvSpPr>
          <p:cNvPr id="4" name="Text 2"/>
          <p:cNvSpPr/>
          <p:nvPr/>
        </p:nvSpPr>
        <p:spPr>
          <a:xfrm>
            <a:off x="609905" y="713232"/>
            <a:ext cx="10971886" cy="658368"/>
          </a:xfrm>
          <a:prstGeom prst="rect">
            <a:avLst/>
          </a:prstGeom>
          <a:noFill/>
          <a:ln/>
        </p:spPr>
        <p:txBody>
          <a:bodyPr wrap="square" lIns="0" tIns="0" rIns="0" bIns="0" rtlCol="0" anchor="ctr"/>
          <a:lstStyle/>
          <a:p>
            <a:pPr marL="0" indent="0">
              <a:lnSpc>
                <a:spcPct val="100000"/>
              </a:lnSpc>
              <a:buNone/>
            </a:pPr>
            <a:r>
              <a:rPr lang="en-US" sz="3800" dirty="0">
                <a:solidFill>
                  <a:srgbClr val="0E1B33"/>
                </a:solidFill>
                <a:latin typeface="Instrument Serif" pitchFamily="34" charset="0"/>
                <a:ea typeface="Instrument Serif" pitchFamily="34" charset="-122"/>
                <a:cs typeface="Instrument Serif" pitchFamily="34" charset="-120"/>
              </a:rPr>
              <a:t>RM 20,000 a month, </a:t>
            </a:r>
            <a:r>
              <a:rPr lang="en-US" sz="3800" i="1" dirty="0">
                <a:solidFill>
                  <a:srgbClr val="2A6BE0"/>
                </a:solidFill>
                <a:latin typeface="Instrument Serif" pitchFamily="34" charset="0"/>
                <a:ea typeface="Instrument Serif" pitchFamily="34" charset="-122"/>
                <a:cs typeface="Instrument Serif" pitchFamily="34" charset="-120"/>
              </a:rPr>
              <a:t>RM 30,000 in open day months</a:t>
            </a:r>
            <a:endParaRPr lang="en-US" sz="3800" dirty="0"/>
          </a:p>
        </p:txBody>
      </p:sp>
      <p:sp>
        <p:nvSpPr>
          <p:cNvPr id="5" name="Text 3"/>
          <p:cNvSpPr/>
          <p:nvPr/>
        </p:nvSpPr>
        <p:spPr>
          <a:xfrm>
            <a:off x="609905" y="1463040"/>
            <a:ext cx="10971886" cy="566928"/>
          </a:xfrm>
          <a:prstGeom prst="rect">
            <a:avLst/>
          </a:prstGeom>
          <a:noFill/>
          <a:ln/>
        </p:spPr>
        <p:txBody>
          <a:bodyPr wrap="square" lIns="0" tIns="0" rIns="0" bIns="0" rtlCol="0" anchor="t"/>
          <a:lstStyle/>
          <a:p>
            <a:pPr marL="0" indent="0">
              <a:lnSpc>
                <a:spcPct val="140000"/>
              </a:lnSpc>
              <a:buNone/>
            </a:pPr>
            <a:r>
              <a:rPr lang="en-US" sz="1250" dirty="0">
                <a:solidFill>
                  <a:srgbClr val="4A5A75"/>
                </a:solidFill>
                <a:latin typeface="Instrument Sans" pitchFamily="34" charset="0"/>
                <a:ea typeface="Instrument Sans" pitchFamily="34" charset="-122"/>
                <a:cs typeface="Instrument Sans" pitchFamily="34" charset="-120"/>
              </a:rPr>
              <a:t>TikTok gets the biggest share because it is proven. Google Search stays at RM 5,000 because search volume is limited.</a:t>
            </a:r>
            <a:endParaRPr lang="en-US" sz="1250" dirty="0"/>
          </a:p>
        </p:txBody>
      </p:sp>
      <p:sp>
        <p:nvSpPr>
          <p:cNvPr id="6" name="Text 4"/>
          <p:cNvSpPr/>
          <p:nvPr/>
        </p:nvSpPr>
        <p:spPr>
          <a:xfrm>
            <a:off x="11033150" y="6455664"/>
            <a:ext cx="548640" cy="182880"/>
          </a:xfrm>
          <a:prstGeom prst="rect">
            <a:avLst/>
          </a:prstGeom>
          <a:noFill/>
          <a:ln/>
        </p:spPr>
        <p:txBody>
          <a:bodyPr wrap="square" lIns="0" tIns="0" rIns="0" bIns="0" rtlCol="0" anchor="t"/>
          <a:lstStyle/>
          <a:p>
            <a:pPr marL="0" indent="0" algn="r">
              <a:lnSpc>
                <a:spcPct val="125000"/>
              </a:lnSpc>
              <a:buNone/>
            </a:pPr>
            <a:r>
              <a:rPr lang="en-US" sz="750" dirty="0">
                <a:solidFill>
                  <a:srgbClr val="8794AC"/>
                </a:solidFill>
                <a:latin typeface="JetBrains Mono" pitchFamily="34" charset="0"/>
                <a:ea typeface="JetBrains Mono" pitchFamily="34" charset="-122"/>
                <a:cs typeface="JetBrains Mono" pitchFamily="34" charset="-120"/>
              </a:rPr>
              <a:t>04</a:t>
            </a:r>
            <a:endParaRPr lang="en-US" sz="750" dirty="0"/>
          </a:p>
        </p:txBody>
      </p:sp>
      <p:sp>
        <p:nvSpPr>
          <p:cNvPr id="8" name="Shape 5"/>
          <p:cNvSpPr/>
          <p:nvPr/>
        </p:nvSpPr>
        <p:spPr>
          <a:xfrm>
            <a:off x="609905" y="2212848"/>
            <a:ext cx="4069080" cy="4069080"/>
          </a:xfrm>
          <a:prstGeom prst="roundRect">
            <a:avLst>
              <a:gd name="adj" fmla="val 2921"/>
            </a:avLst>
          </a:prstGeom>
          <a:solidFill>
            <a:srgbClr val="FFFFFF"/>
          </a:solidFill>
          <a:ln w="9525">
            <a:solidFill>
              <a:srgbClr val="D5E2F0"/>
            </a:solidFill>
            <a:prstDash val="solid"/>
          </a:ln>
        </p:spPr>
        <p:txBody>
          <a:bodyPr/>
          <a:lstStyle/>
          <a:p>
            <a:endParaRPr lang="en-MY"/>
          </a:p>
        </p:txBody>
      </p:sp>
      <p:sp>
        <p:nvSpPr>
          <p:cNvPr id="9" name="Text 6"/>
          <p:cNvSpPr/>
          <p:nvPr/>
        </p:nvSpPr>
        <p:spPr>
          <a:xfrm>
            <a:off x="865937" y="2441448"/>
            <a:ext cx="2286000" cy="182880"/>
          </a:xfrm>
          <a:prstGeom prst="rect">
            <a:avLst/>
          </a:prstGeom>
          <a:noFill/>
          <a:ln/>
        </p:spPr>
        <p:txBody>
          <a:bodyPr wrap="square" lIns="0" tIns="0" rIns="0" bIns="0" rtlCol="0" anchor="t"/>
          <a:lstStyle/>
          <a:p>
            <a:pPr marL="0" indent="0">
              <a:lnSpc>
                <a:spcPct val="125000"/>
              </a:lnSpc>
              <a:buNone/>
            </a:pPr>
            <a:r>
              <a:rPr lang="en-US" sz="750" kern="0" spc="60" dirty="0">
                <a:solidFill>
                  <a:srgbClr val="8794AC"/>
                </a:solidFill>
                <a:latin typeface="JetBrains Mono" pitchFamily="34" charset="0"/>
                <a:ea typeface="JetBrains Mono" pitchFamily="34" charset="-122"/>
                <a:cs typeface="JetBrains Mono" pitchFamily="34" charset="-120"/>
              </a:rPr>
              <a:t>NORMAL MONTH</a:t>
            </a:r>
            <a:endParaRPr lang="en-US" sz="750" dirty="0"/>
          </a:p>
        </p:txBody>
      </p:sp>
      <p:sp>
        <p:nvSpPr>
          <p:cNvPr id="10" name="Text 7"/>
          <p:cNvSpPr/>
          <p:nvPr/>
        </p:nvSpPr>
        <p:spPr>
          <a:xfrm>
            <a:off x="865937" y="2651760"/>
            <a:ext cx="3557016" cy="640080"/>
          </a:xfrm>
          <a:prstGeom prst="rect">
            <a:avLst/>
          </a:prstGeom>
          <a:noFill/>
          <a:ln/>
        </p:spPr>
        <p:txBody>
          <a:bodyPr wrap="square" lIns="0" tIns="0" rIns="0" bIns="0" rtlCol="0" anchor="t"/>
          <a:lstStyle/>
          <a:p>
            <a:pPr marL="0" indent="0">
              <a:lnSpc>
                <a:spcPct val="100000"/>
              </a:lnSpc>
              <a:buNone/>
            </a:pPr>
            <a:r>
              <a:rPr lang="en-US" sz="4000" dirty="0">
                <a:solidFill>
                  <a:srgbClr val="0E1B33"/>
                </a:solidFill>
                <a:latin typeface="Instrument Serif" pitchFamily="34" charset="0"/>
                <a:ea typeface="Instrument Serif" pitchFamily="34" charset="-122"/>
                <a:cs typeface="Instrument Serif" pitchFamily="34" charset="-120"/>
              </a:rPr>
              <a:t>RM 20,000</a:t>
            </a:r>
            <a:endParaRPr lang="en-US" sz="4000" dirty="0"/>
          </a:p>
        </p:txBody>
      </p:sp>
      <p:sp>
        <p:nvSpPr>
          <p:cNvPr id="11" name="Shape 8"/>
          <p:cNvSpPr/>
          <p:nvPr/>
        </p:nvSpPr>
        <p:spPr>
          <a:xfrm>
            <a:off x="865937" y="3474720"/>
            <a:ext cx="1671798" cy="118872"/>
          </a:xfrm>
          <a:prstGeom prst="rect">
            <a:avLst/>
          </a:prstGeom>
          <a:solidFill>
            <a:srgbClr val="0E1B33"/>
          </a:solidFill>
          <a:ln/>
        </p:spPr>
        <p:txBody>
          <a:bodyPr/>
          <a:lstStyle/>
          <a:p>
            <a:endParaRPr lang="en-MY"/>
          </a:p>
        </p:txBody>
      </p:sp>
      <p:sp>
        <p:nvSpPr>
          <p:cNvPr id="12" name="Shape 9"/>
          <p:cNvSpPr/>
          <p:nvPr/>
        </p:nvSpPr>
        <p:spPr>
          <a:xfrm>
            <a:off x="2537734" y="3474720"/>
            <a:ext cx="1173815" cy="118872"/>
          </a:xfrm>
          <a:prstGeom prst="rect">
            <a:avLst/>
          </a:prstGeom>
          <a:solidFill>
            <a:srgbClr val="2A6BE0"/>
          </a:solidFill>
          <a:ln/>
        </p:spPr>
        <p:txBody>
          <a:bodyPr/>
          <a:lstStyle/>
          <a:p>
            <a:endParaRPr lang="en-MY"/>
          </a:p>
        </p:txBody>
      </p:sp>
      <p:sp>
        <p:nvSpPr>
          <p:cNvPr id="13" name="Shape 10"/>
          <p:cNvSpPr/>
          <p:nvPr/>
        </p:nvSpPr>
        <p:spPr>
          <a:xfrm>
            <a:off x="3711550" y="3474720"/>
            <a:ext cx="711403" cy="118872"/>
          </a:xfrm>
          <a:prstGeom prst="rect">
            <a:avLst/>
          </a:prstGeom>
          <a:solidFill>
            <a:srgbClr val="8CE0EC"/>
          </a:solidFill>
          <a:ln/>
        </p:spPr>
        <p:txBody>
          <a:bodyPr/>
          <a:lstStyle/>
          <a:p>
            <a:endParaRPr lang="en-MY"/>
          </a:p>
        </p:txBody>
      </p:sp>
      <p:sp>
        <p:nvSpPr>
          <p:cNvPr id="14" name="Text 11"/>
          <p:cNvSpPr/>
          <p:nvPr/>
        </p:nvSpPr>
        <p:spPr>
          <a:xfrm>
            <a:off x="865937" y="3675888"/>
            <a:ext cx="3557016" cy="182880"/>
          </a:xfrm>
          <a:prstGeom prst="rect">
            <a:avLst/>
          </a:prstGeom>
          <a:noFill/>
          <a:ln/>
        </p:spPr>
        <p:txBody>
          <a:bodyPr wrap="square" lIns="0" tIns="0" rIns="0" bIns="0" rtlCol="0" anchor="t"/>
          <a:lstStyle/>
          <a:p>
            <a:pPr marL="0" indent="0">
              <a:lnSpc>
                <a:spcPct val="125000"/>
              </a:lnSpc>
              <a:buNone/>
            </a:pPr>
            <a:r>
              <a:rPr lang="en-US" sz="750" dirty="0">
                <a:solidFill>
                  <a:srgbClr val="0E1B33"/>
                </a:solidFill>
                <a:latin typeface="JetBrains Mono" pitchFamily="34" charset="0"/>
                <a:ea typeface="JetBrains Mono" pitchFamily="34" charset="-122"/>
                <a:cs typeface="JetBrains Mono" pitchFamily="34" charset="-120"/>
              </a:rPr>
              <a:t>■ </a:t>
            </a:r>
            <a:r>
              <a:rPr lang="en-US" sz="750" dirty="0">
                <a:solidFill>
                  <a:srgbClr val="4A5A75"/>
                </a:solidFill>
                <a:latin typeface="JetBrains Mono" pitchFamily="34" charset="0"/>
                <a:ea typeface="JetBrains Mono" pitchFamily="34" charset="-122"/>
                <a:cs typeface="JetBrains Mono" pitchFamily="34" charset="-120"/>
              </a:rPr>
              <a:t>TikTok 47%    </a:t>
            </a:r>
            <a:r>
              <a:rPr lang="en-US" sz="750" dirty="0">
                <a:solidFill>
                  <a:srgbClr val="2A6BE0"/>
                </a:solidFill>
                <a:latin typeface="JetBrains Mono" pitchFamily="34" charset="0"/>
                <a:ea typeface="JetBrains Mono" pitchFamily="34" charset="-122"/>
                <a:cs typeface="JetBrains Mono" pitchFamily="34" charset="-120"/>
              </a:rPr>
              <a:t>■ </a:t>
            </a:r>
            <a:r>
              <a:rPr lang="en-US" sz="750" dirty="0">
                <a:solidFill>
                  <a:srgbClr val="4A5A75"/>
                </a:solidFill>
                <a:latin typeface="JetBrains Mono" pitchFamily="34" charset="0"/>
                <a:ea typeface="JetBrains Mono" pitchFamily="34" charset="-122"/>
                <a:cs typeface="JetBrains Mono" pitchFamily="34" charset="-120"/>
              </a:rPr>
              <a:t>Meta 33%    </a:t>
            </a:r>
            <a:r>
              <a:rPr lang="en-US" sz="750" dirty="0">
                <a:solidFill>
                  <a:srgbClr val="8CE0EC"/>
                </a:solidFill>
                <a:latin typeface="JetBrains Mono" pitchFamily="34" charset="0"/>
                <a:ea typeface="JetBrains Mono" pitchFamily="34" charset="-122"/>
                <a:cs typeface="JetBrains Mono" pitchFamily="34" charset="-120"/>
              </a:rPr>
              <a:t>■ </a:t>
            </a:r>
            <a:r>
              <a:rPr lang="en-US" sz="750" dirty="0">
                <a:solidFill>
                  <a:srgbClr val="4A5A75"/>
                </a:solidFill>
                <a:latin typeface="JetBrains Mono" pitchFamily="34" charset="0"/>
                <a:ea typeface="JetBrains Mono" pitchFamily="34" charset="-122"/>
                <a:cs typeface="JetBrains Mono" pitchFamily="34" charset="-120"/>
              </a:rPr>
              <a:t>Google 20%</a:t>
            </a:r>
            <a:endParaRPr lang="en-US" sz="7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65937" y="4041648"/>
          <a:ext cx="3557016" cy="1627632"/>
        </p:xfrm>
        <a:graphic>
          <a:graphicData uri="http://schemas.openxmlformats.org/drawingml/2006/table">
            <a:tbl>
              <a:tblPr/>
              <a:tblGrid>
                <a:gridCol w="1325880">
                  <a:extLst>
                    <a:ext uri="{9D8B030D-6E8A-4147-A177-3AD203B41FA5}">
                      <a16:colId xmlns:a16="http://schemas.microsoft.com/office/drawing/2014/main" val="20000"/>
                    </a:ext>
                  </a:extLst>
                </a:gridCol>
                <a:gridCol w="896112">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94944">
                  <a:extLst>
                    <a:ext uri="{9D8B030D-6E8A-4147-A177-3AD203B41FA5}">
                      <a16:colId xmlns:a16="http://schemas.microsoft.com/office/drawing/2014/main" val="20003"/>
                    </a:ext>
                  </a:extLst>
                </a:gridCol>
              </a:tblGrid>
              <a:tr h="274320">
                <a:tc>
                  <a:txBody>
                    <a:bodyPr/>
                    <a:lstStyle/>
                    <a:p>
                      <a:pPr marL="0" indent="0" algn="l">
                        <a:buNone/>
                      </a:pPr>
                      <a:r>
                        <a:rPr lang="en-US" sz="750" dirty="0">
                          <a:solidFill>
                            <a:srgbClr val="8794AC"/>
                          </a:solidFill>
                          <a:latin typeface="JetBrains Mono" pitchFamily="34" charset="0"/>
                          <a:ea typeface="JetBrains Mono" pitchFamily="34" charset="-122"/>
                          <a:cs typeface="JetBrains Mono" pitchFamily="34" charset="-120"/>
                        </a:rPr>
                        <a:t>Platform</a:t>
                      </a:r>
                      <a:endParaRPr lang="en-US" sz="750" dirty="0">
                        <a:latin typeface="JetBrains Mono" charset="0"/>
                        <a:ea typeface="JetBrains Mono" charset="0"/>
                        <a:cs typeface="JetBrains Mono" charset="0"/>
                      </a:endParaRPr>
                    </a:p>
                  </a:txBody>
                  <a:tcPr marL="54864" marR="54864" marT="0" marB="0" anchor="ctr">
                    <a:lnL w="0" cap="flat" cmpd="sng" algn="ctr">
                      <a:noFill/>
                    </a:lnL>
                    <a:lnR w="0" cap="flat" cmpd="sng" algn="ctr">
                      <a:noFill/>
                    </a:lnR>
                    <a:lnT w="0" cap="flat" cmpd="sng" algn="ctr">
                      <a:noFill/>
                    </a:lnT>
                    <a:lnB w="9525" cap="flat" cmpd="sng" algn="ctr">
                      <a:solidFill>
                        <a:srgbClr val="D5E2F0"/>
                      </a:solidFill>
                      <a:prstDash val="solid"/>
                      <a:round/>
                      <a:headEnd type="none" w="med" len="med"/>
                      <a:tailEnd type="none" w="med" len="med"/>
                    </a:lnB>
                  </a:tcPr>
                </a:tc>
                <a:tc>
                  <a:txBody>
                    <a:bodyPr/>
                    <a:lstStyle/>
                    <a:p>
                      <a:pPr marL="0" indent="0" algn="r">
                        <a:buNone/>
                      </a:pPr>
                      <a:r>
                        <a:rPr lang="en-US" sz="750" dirty="0">
                          <a:solidFill>
                            <a:srgbClr val="8794AC"/>
                          </a:solidFill>
                          <a:latin typeface="JetBrains Mono" pitchFamily="34" charset="0"/>
                          <a:ea typeface="JetBrains Mono" pitchFamily="34" charset="-122"/>
                          <a:cs typeface="JetBrains Mono" pitchFamily="34" charset="-120"/>
                        </a:rPr>
                        <a:t>Spend</a:t>
                      </a:r>
                      <a:endParaRPr lang="en-US" sz="750" dirty="0">
                        <a:latin typeface="JetBrains Mono" charset="0"/>
                        <a:ea typeface="JetBrains Mono" charset="0"/>
                        <a:cs typeface="JetBrains Mono" charset="0"/>
                      </a:endParaRPr>
                    </a:p>
                  </a:txBody>
                  <a:tcPr marL="54864" marR="54864" marT="0" marB="0" anchor="ctr">
                    <a:lnL w="0" cap="flat" cmpd="sng" algn="ctr">
                      <a:noFill/>
                    </a:lnL>
                    <a:lnR w="0" cap="flat" cmpd="sng" algn="ctr">
                      <a:noFill/>
                    </a:lnR>
                    <a:lnT w="0" cap="flat" cmpd="sng" algn="ctr">
                      <a:noFill/>
                    </a:lnT>
                    <a:lnB w="9525" cap="flat" cmpd="sng" algn="ctr">
                      <a:solidFill>
                        <a:srgbClr val="D5E2F0"/>
                      </a:solidFill>
                      <a:prstDash val="solid"/>
                      <a:round/>
                      <a:headEnd type="none" w="med" len="med"/>
                      <a:tailEnd type="none" w="med" len="med"/>
                    </a:lnB>
                  </a:tcPr>
                </a:tc>
                <a:tc>
                  <a:txBody>
                    <a:bodyPr/>
                    <a:lstStyle/>
                    <a:p>
                      <a:pPr marL="0" indent="0" algn="r">
                        <a:buNone/>
                      </a:pPr>
                      <a:r>
                        <a:rPr lang="en-US" sz="750" dirty="0">
                          <a:solidFill>
                            <a:srgbClr val="8794AC"/>
                          </a:solidFill>
                          <a:latin typeface="JetBrains Mono" pitchFamily="34" charset="0"/>
                          <a:ea typeface="JetBrains Mono" pitchFamily="34" charset="-122"/>
                          <a:cs typeface="JetBrains Mono" pitchFamily="34" charset="-120"/>
                        </a:rPr>
                        <a:t>Leads</a:t>
                      </a:r>
                      <a:endParaRPr lang="en-US" sz="750" dirty="0">
                        <a:latin typeface="JetBrains Mono" charset="0"/>
                        <a:ea typeface="JetBrains Mono" charset="0"/>
                        <a:cs typeface="JetBrains Mono" charset="0"/>
                      </a:endParaRPr>
                    </a:p>
                  </a:txBody>
                  <a:tcPr marL="54864" marR="54864" marT="0" marB="0" anchor="ctr">
                    <a:lnL w="0" cap="flat" cmpd="sng" algn="ctr">
                      <a:noFill/>
                    </a:lnL>
                    <a:lnR w="0" cap="flat" cmpd="sng" algn="ctr">
                      <a:noFill/>
                    </a:lnR>
                    <a:lnT w="0" cap="flat" cmpd="sng" algn="ctr">
                      <a:noFill/>
                    </a:lnT>
                    <a:lnB w="9525" cap="flat" cmpd="sng" algn="ctr">
                      <a:solidFill>
                        <a:srgbClr val="D5E2F0"/>
                      </a:solidFill>
                      <a:prstDash val="solid"/>
                      <a:round/>
                      <a:headEnd type="none" w="med" len="med"/>
                      <a:tailEnd type="none" w="med" len="med"/>
                    </a:lnB>
                  </a:tcPr>
                </a:tc>
                <a:tc>
                  <a:txBody>
                    <a:bodyPr/>
                    <a:lstStyle/>
                    <a:p>
                      <a:pPr marL="0" indent="0" algn="r">
                        <a:buNone/>
                      </a:pPr>
                      <a:r>
                        <a:rPr lang="en-US" sz="750" dirty="0">
                          <a:solidFill>
                            <a:srgbClr val="8794AC"/>
                          </a:solidFill>
                          <a:latin typeface="JetBrains Mono" pitchFamily="34" charset="0"/>
                          <a:ea typeface="JetBrains Mono" pitchFamily="34" charset="-122"/>
                          <a:cs typeface="JetBrains Mono" pitchFamily="34" charset="-120"/>
                        </a:rPr>
                        <a:t>Qualified</a:t>
                      </a:r>
                      <a:endParaRPr lang="en-US" sz="750" dirty="0">
                        <a:latin typeface="JetBrains Mono" charset="0"/>
                        <a:ea typeface="JetBrains Mono" charset="0"/>
                        <a:cs typeface="JetBrains Mono" charset="0"/>
                      </a:endParaRPr>
                    </a:p>
                  </a:txBody>
                  <a:tcPr marL="54864" marR="54864" marT="0" marB="0" anchor="ctr">
                    <a:lnL w="0" cap="flat" cmpd="sng" algn="ctr">
                      <a:noFill/>
                    </a:lnL>
                    <a:lnR w="0" cap="flat" cmpd="sng" algn="ctr">
                      <a:noFill/>
                    </a:lnR>
                    <a:lnT w="0" cap="flat" cmpd="sng" algn="ctr">
                      <a:noFill/>
                    </a:lnT>
                    <a:lnB w="9525" cap="flat" cmpd="sng" algn="ctr">
                      <a:solidFill>
                        <a:srgbClr val="D5E2F0"/>
                      </a:solidFill>
                      <a:prstDash val="solid"/>
                      <a:round/>
                      <a:headEnd type="none" w="med" len="med"/>
                      <a:tailEnd type="none" w="med" len="med"/>
                    </a:lnB>
                  </a:tcPr>
                </a:tc>
                <a:extLst>
                  <a:ext uri="{0D108BD9-81ED-4DB2-BD59-A6C34878D82A}">
                    <a16:rowId xmlns:a16="http://schemas.microsoft.com/office/drawing/2014/main" val="10000"/>
                  </a:ext>
                </a:extLst>
              </a:tr>
              <a:tr h="329184">
                <a:tc>
                  <a:txBody>
                    <a:bodyPr/>
                    <a:lstStyle/>
                    <a:p>
                      <a:pPr marL="0" indent="0" algn="l">
                        <a:buNone/>
                      </a:pPr>
                      <a:r>
                        <a:rPr lang="en-US" sz="1000" b="1" dirty="0">
                          <a:solidFill>
                            <a:srgbClr val="0E1B33"/>
                          </a:solidFill>
                          <a:latin typeface="Instrument Sans" pitchFamily="34" charset="0"/>
                          <a:ea typeface="Instrument Sans" pitchFamily="34" charset="-122"/>
                          <a:cs typeface="Instrument Sans" pitchFamily="34" charset="-120"/>
                        </a:rPr>
                        <a:t>TikTok</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9525"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RM 9,400</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9525"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247</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9525"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62</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9525"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000" b="1" dirty="0">
                          <a:solidFill>
                            <a:srgbClr val="0E1B33"/>
                          </a:solidFill>
                          <a:latin typeface="Instrument Sans" pitchFamily="34" charset="0"/>
                          <a:ea typeface="Instrument Sans" pitchFamily="34" charset="-122"/>
                          <a:cs typeface="Instrument Sans" pitchFamily="34" charset="-120"/>
                        </a:rPr>
                        <a:t>Meta</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RM 6,600</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94</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24</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000" b="1" dirty="0">
                          <a:solidFill>
                            <a:srgbClr val="0E1B33"/>
                          </a:solidFill>
                          <a:latin typeface="Instrument Sans" pitchFamily="34" charset="0"/>
                          <a:ea typeface="Instrument Sans" pitchFamily="34" charset="-122"/>
                          <a:cs typeface="Instrument Sans" pitchFamily="34" charset="-120"/>
                        </a:rPr>
                        <a:t>Google Search</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15875" cap="flat" cmpd="sng" algn="ctr">
                      <a:solidFill>
                        <a:srgbClr val="0E1B33"/>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RM 4,000</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15875" cap="flat" cmpd="sng" algn="ctr">
                      <a:solidFill>
                        <a:srgbClr val="0E1B33"/>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47</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15875" cap="flat" cmpd="sng" algn="ctr">
                      <a:solidFill>
                        <a:srgbClr val="0E1B33"/>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16</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15875" cap="flat" cmpd="sng" algn="ctr">
                      <a:solidFill>
                        <a:srgbClr val="0E1B33"/>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l">
                        <a:buNone/>
                      </a:pPr>
                      <a:r>
                        <a:rPr lang="en-US" sz="1000" b="1" dirty="0">
                          <a:solidFill>
                            <a:srgbClr val="0E1B33"/>
                          </a:solidFill>
                          <a:latin typeface="Instrument Sans" pitchFamily="34" charset="0"/>
                          <a:ea typeface="Instrument Sans" pitchFamily="34" charset="-122"/>
                          <a:cs typeface="Instrument Sans" pitchFamily="34" charset="-120"/>
                        </a:rPr>
                        <a:t>Total a month</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15875" cap="flat" cmpd="sng" algn="ctr">
                      <a:solidFill>
                        <a:srgbClr val="0E1B33"/>
                      </a:solidFill>
                      <a:prstDash val="solid"/>
                      <a:round/>
                      <a:headEnd type="none" w="med" len="med"/>
                      <a:tailEnd type="none" w="med" len="med"/>
                    </a:lnT>
                    <a:lnB w="0" cap="flat" cmpd="sng" algn="ctr">
                      <a:noFill/>
                    </a:lnB>
                  </a:tcPr>
                </a:tc>
                <a:tc>
                  <a:txBody>
                    <a:bodyPr/>
                    <a:lstStyle/>
                    <a:p>
                      <a:pPr marL="0" indent="0" algn="r">
                        <a:buNone/>
                      </a:pPr>
                      <a:r>
                        <a:rPr lang="en-US" sz="1000" b="1" dirty="0">
                          <a:solidFill>
                            <a:srgbClr val="0E1B33"/>
                          </a:solidFill>
                          <a:latin typeface="Instrument Sans" pitchFamily="34" charset="0"/>
                          <a:ea typeface="Instrument Sans" pitchFamily="34" charset="-122"/>
                          <a:cs typeface="Instrument Sans" pitchFamily="34" charset="-120"/>
                        </a:rPr>
                        <a:t>RM 20,000</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15875" cap="flat" cmpd="sng" algn="ctr">
                      <a:solidFill>
                        <a:srgbClr val="0E1B33"/>
                      </a:solidFill>
                      <a:prstDash val="solid"/>
                      <a:round/>
                      <a:headEnd type="none" w="med" len="med"/>
                      <a:tailEnd type="none" w="med" len="med"/>
                    </a:lnT>
                    <a:lnB w="0" cap="flat" cmpd="sng" algn="ctr">
                      <a:noFill/>
                    </a:lnB>
                  </a:tcPr>
                </a:tc>
                <a:tc>
                  <a:txBody>
                    <a:bodyPr/>
                    <a:lstStyle/>
                    <a:p>
                      <a:pPr marL="0" indent="0" algn="r">
                        <a:buNone/>
                      </a:pPr>
                      <a:r>
                        <a:rPr lang="en-US" sz="1000" b="1" dirty="0">
                          <a:solidFill>
                            <a:srgbClr val="0E1B33"/>
                          </a:solidFill>
                          <a:latin typeface="Instrument Sans" pitchFamily="34" charset="0"/>
                          <a:ea typeface="Instrument Sans" pitchFamily="34" charset="-122"/>
                          <a:cs typeface="Instrument Sans" pitchFamily="34" charset="-120"/>
                        </a:rPr>
                        <a:t>388</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15875" cap="flat" cmpd="sng" algn="ctr">
                      <a:solidFill>
                        <a:srgbClr val="0E1B33"/>
                      </a:solidFill>
                      <a:prstDash val="solid"/>
                      <a:round/>
                      <a:headEnd type="none" w="med" len="med"/>
                      <a:tailEnd type="none" w="med" len="med"/>
                    </a:lnT>
                    <a:lnB w="0" cap="flat" cmpd="sng" algn="ctr">
                      <a:noFill/>
                    </a:lnB>
                  </a:tcPr>
                </a:tc>
                <a:tc>
                  <a:txBody>
                    <a:bodyPr/>
                    <a:lstStyle/>
                    <a:p>
                      <a:pPr marL="0" indent="0" algn="r">
                        <a:buNone/>
                      </a:pPr>
                      <a:r>
                        <a:rPr lang="en-US" sz="1000" b="1" dirty="0">
                          <a:solidFill>
                            <a:srgbClr val="0E1B33"/>
                          </a:solidFill>
                          <a:latin typeface="Instrument Sans" pitchFamily="34" charset="0"/>
                          <a:ea typeface="Instrument Sans" pitchFamily="34" charset="-122"/>
                          <a:cs typeface="Instrument Sans" pitchFamily="34" charset="-120"/>
                        </a:rPr>
                        <a:t>102</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15875" cap="flat" cmpd="sng" algn="ctr">
                      <a:solidFill>
                        <a:srgbClr val="0E1B33"/>
                      </a:solid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16" name="Text 12"/>
          <p:cNvSpPr/>
          <p:nvPr/>
        </p:nvSpPr>
        <p:spPr>
          <a:xfrm>
            <a:off x="865937" y="5824728"/>
            <a:ext cx="3557016" cy="274320"/>
          </a:xfrm>
          <a:prstGeom prst="rect">
            <a:avLst/>
          </a:prstGeom>
          <a:noFill/>
          <a:ln/>
        </p:spPr>
        <p:txBody>
          <a:bodyPr wrap="square" lIns="0" tIns="0" rIns="0" bIns="0" rtlCol="0" anchor="t"/>
          <a:lstStyle/>
          <a:p>
            <a:pPr marL="0" indent="0">
              <a:lnSpc>
                <a:spcPct val="125000"/>
              </a:lnSpc>
              <a:buNone/>
            </a:pPr>
            <a:r>
              <a:rPr lang="en-US" sz="850" dirty="0">
                <a:solidFill>
                  <a:srgbClr val="8794AC"/>
                </a:solidFill>
                <a:latin typeface="Instrument Sans" pitchFamily="34" charset="0"/>
                <a:ea typeface="Instrument Sans" pitchFamily="34" charset="-122"/>
                <a:cs typeface="Instrument Sans" pitchFamily="34" charset="-120"/>
              </a:rPr>
              <a:t>Runs 9 of the 14 months.</a:t>
            </a:r>
            <a:endParaRPr lang="en-US" sz="850" dirty="0"/>
          </a:p>
        </p:txBody>
      </p:sp>
      <p:sp>
        <p:nvSpPr>
          <p:cNvPr id="17" name="Shape 13"/>
          <p:cNvSpPr/>
          <p:nvPr/>
        </p:nvSpPr>
        <p:spPr>
          <a:xfrm>
            <a:off x="4861865" y="2212848"/>
            <a:ext cx="4069080" cy="4069080"/>
          </a:xfrm>
          <a:prstGeom prst="roundRect">
            <a:avLst>
              <a:gd name="adj" fmla="val 2921"/>
            </a:avLst>
          </a:prstGeom>
          <a:solidFill>
            <a:srgbClr val="FFFFFF"/>
          </a:solidFill>
          <a:ln w="9525">
            <a:solidFill>
              <a:srgbClr val="D5E2F0"/>
            </a:solidFill>
            <a:prstDash val="solid"/>
          </a:ln>
        </p:spPr>
        <p:txBody>
          <a:bodyPr/>
          <a:lstStyle/>
          <a:p>
            <a:endParaRPr lang="en-MY"/>
          </a:p>
        </p:txBody>
      </p:sp>
      <p:sp>
        <p:nvSpPr>
          <p:cNvPr id="18" name="Text 14"/>
          <p:cNvSpPr/>
          <p:nvPr/>
        </p:nvSpPr>
        <p:spPr>
          <a:xfrm>
            <a:off x="5117897" y="2441448"/>
            <a:ext cx="2286000" cy="182880"/>
          </a:xfrm>
          <a:prstGeom prst="rect">
            <a:avLst/>
          </a:prstGeom>
          <a:noFill/>
          <a:ln/>
        </p:spPr>
        <p:txBody>
          <a:bodyPr wrap="square" lIns="0" tIns="0" rIns="0" bIns="0" rtlCol="0" anchor="t"/>
          <a:lstStyle/>
          <a:p>
            <a:pPr marL="0" indent="0">
              <a:lnSpc>
                <a:spcPct val="125000"/>
              </a:lnSpc>
              <a:buNone/>
            </a:pPr>
            <a:r>
              <a:rPr lang="en-US" sz="750" kern="0" spc="60" dirty="0">
                <a:solidFill>
                  <a:srgbClr val="2A6BE0"/>
                </a:solidFill>
                <a:latin typeface="JetBrains Mono" pitchFamily="34" charset="0"/>
                <a:ea typeface="JetBrains Mono" pitchFamily="34" charset="-122"/>
                <a:cs typeface="JetBrains Mono" pitchFamily="34" charset="-120"/>
              </a:rPr>
              <a:t>OPEN DAY MONTH</a:t>
            </a:r>
            <a:endParaRPr lang="en-US" sz="750" dirty="0"/>
          </a:p>
        </p:txBody>
      </p:sp>
      <p:sp>
        <p:nvSpPr>
          <p:cNvPr id="19" name="Text 15"/>
          <p:cNvSpPr/>
          <p:nvPr/>
        </p:nvSpPr>
        <p:spPr>
          <a:xfrm>
            <a:off x="5117897" y="2651760"/>
            <a:ext cx="3557016" cy="640080"/>
          </a:xfrm>
          <a:prstGeom prst="rect">
            <a:avLst/>
          </a:prstGeom>
          <a:noFill/>
          <a:ln/>
        </p:spPr>
        <p:txBody>
          <a:bodyPr wrap="square" lIns="0" tIns="0" rIns="0" bIns="0" rtlCol="0" anchor="t"/>
          <a:lstStyle/>
          <a:p>
            <a:pPr marL="0" indent="0">
              <a:lnSpc>
                <a:spcPct val="100000"/>
              </a:lnSpc>
              <a:buNone/>
            </a:pPr>
            <a:r>
              <a:rPr lang="en-US" sz="4000" dirty="0">
                <a:solidFill>
                  <a:srgbClr val="2A6BE0"/>
                </a:solidFill>
                <a:latin typeface="Instrument Serif" pitchFamily="34" charset="0"/>
                <a:ea typeface="Instrument Serif" pitchFamily="34" charset="-122"/>
                <a:cs typeface="Instrument Serif" pitchFamily="34" charset="-120"/>
              </a:rPr>
              <a:t>RM 30,000</a:t>
            </a:r>
            <a:endParaRPr lang="en-US" sz="4000" dirty="0"/>
          </a:p>
        </p:txBody>
      </p:sp>
      <p:sp>
        <p:nvSpPr>
          <p:cNvPr id="20" name="Shape 16"/>
          <p:cNvSpPr/>
          <p:nvPr/>
        </p:nvSpPr>
        <p:spPr>
          <a:xfrm>
            <a:off x="5117897" y="3474720"/>
            <a:ext cx="1659941" cy="118872"/>
          </a:xfrm>
          <a:prstGeom prst="rect">
            <a:avLst/>
          </a:prstGeom>
          <a:solidFill>
            <a:srgbClr val="0E1B33"/>
          </a:solidFill>
          <a:ln/>
        </p:spPr>
        <p:txBody>
          <a:bodyPr/>
          <a:lstStyle/>
          <a:p>
            <a:endParaRPr lang="en-MY"/>
          </a:p>
        </p:txBody>
      </p:sp>
      <p:sp>
        <p:nvSpPr>
          <p:cNvPr id="21" name="Shape 17"/>
          <p:cNvSpPr/>
          <p:nvPr/>
        </p:nvSpPr>
        <p:spPr>
          <a:xfrm>
            <a:off x="6777838" y="3474720"/>
            <a:ext cx="1304239" cy="118872"/>
          </a:xfrm>
          <a:prstGeom prst="rect">
            <a:avLst/>
          </a:prstGeom>
          <a:solidFill>
            <a:srgbClr val="2A6BE0"/>
          </a:solidFill>
          <a:ln/>
        </p:spPr>
        <p:txBody>
          <a:bodyPr/>
          <a:lstStyle/>
          <a:p>
            <a:endParaRPr lang="en-MY"/>
          </a:p>
        </p:txBody>
      </p:sp>
      <p:sp>
        <p:nvSpPr>
          <p:cNvPr id="22" name="Shape 18"/>
          <p:cNvSpPr/>
          <p:nvPr/>
        </p:nvSpPr>
        <p:spPr>
          <a:xfrm>
            <a:off x="8082077" y="3474720"/>
            <a:ext cx="592836" cy="118872"/>
          </a:xfrm>
          <a:prstGeom prst="rect">
            <a:avLst/>
          </a:prstGeom>
          <a:solidFill>
            <a:srgbClr val="8CE0EC"/>
          </a:solidFill>
          <a:ln/>
        </p:spPr>
        <p:txBody>
          <a:bodyPr/>
          <a:lstStyle/>
          <a:p>
            <a:endParaRPr lang="en-MY"/>
          </a:p>
        </p:txBody>
      </p:sp>
      <p:sp>
        <p:nvSpPr>
          <p:cNvPr id="23" name="Text 19"/>
          <p:cNvSpPr/>
          <p:nvPr/>
        </p:nvSpPr>
        <p:spPr>
          <a:xfrm>
            <a:off x="5117897" y="3675888"/>
            <a:ext cx="3557016" cy="182880"/>
          </a:xfrm>
          <a:prstGeom prst="rect">
            <a:avLst/>
          </a:prstGeom>
          <a:noFill/>
          <a:ln/>
        </p:spPr>
        <p:txBody>
          <a:bodyPr wrap="square" lIns="0" tIns="0" rIns="0" bIns="0" rtlCol="0" anchor="t"/>
          <a:lstStyle/>
          <a:p>
            <a:pPr marL="0" indent="0">
              <a:lnSpc>
                <a:spcPct val="125000"/>
              </a:lnSpc>
              <a:buNone/>
            </a:pPr>
            <a:r>
              <a:rPr lang="en-US" sz="750" dirty="0">
                <a:solidFill>
                  <a:srgbClr val="0E1B33"/>
                </a:solidFill>
                <a:latin typeface="JetBrains Mono" pitchFamily="34" charset="0"/>
                <a:ea typeface="JetBrains Mono" pitchFamily="34" charset="-122"/>
                <a:cs typeface="JetBrains Mono" pitchFamily="34" charset="-120"/>
              </a:rPr>
              <a:t>■ </a:t>
            </a:r>
            <a:r>
              <a:rPr lang="en-US" sz="750" dirty="0">
                <a:solidFill>
                  <a:srgbClr val="4A5A75"/>
                </a:solidFill>
                <a:latin typeface="JetBrains Mono" pitchFamily="34" charset="0"/>
                <a:ea typeface="JetBrains Mono" pitchFamily="34" charset="-122"/>
                <a:cs typeface="JetBrains Mono" pitchFamily="34" charset="-120"/>
              </a:rPr>
              <a:t>TikTok 47%    </a:t>
            </a:r>
            <a:r>
              <a:rPr lang="en-US" sz="750" dirty="0">
                <a:solidFill>
                  <a:srgbClr val="2A6BE0"/>
                </a:solidFill>
                <a:latin typeface="JetBrains Mono" pitchFamily="34" charset="0"/>
                <a:ea typeface="JetBrains Mono" pitchFamily="34" charset="-122"/>
                <a:cs typeface="JetBrains Mono" pitchFamily="34" charset="-120"/>
              </a:rPr>
              <a:t>■ </a:t>
            </a:r>
            <a:r>
              <a:rPr lang="en-US" sz="750" dirty="0">
                <a:solidFill>
                  <a:srgbClr val="4A5A75"/>
                </a:solidFill>
                <a:latin typeface="JetBrains Mono" pitchFamily="34" charset="0"/>
                <a:ea typeface="JetBrains Mono" pitchFamily="34" charset="-122"/>
                <a:cs typeface="JetBrains Mono" pitchFamily="34" charset="-120"/>
              </a:rPr>
              <a:t>Meta 37%    </a:t>
            </a:r>
            <a:r>
              <a:rPr lang="en-US" sz="750" dirty="0">
                <a:solidFill>
                  <a:srgbClr val="8CE0EC"/>
                </a:solidFill>
                <a:latin typeface="JetBrains Mono" pitchFamily="34" charset="0"/>
                <a:ea typeface="JetBrains Mono" pitchFamily="34" charset="-122"/>
                <a:cs typeface="JetBrains Mono" pitchFamily="34" charset="-120"/>
              </a:rPr>
              <a:t>■ </a:t>
            </a:r>
            <a:r>
              <a:rPr lang="en-US" sz="750" dirty="0">
                <a:solidFill>
                  <a:srgbClr val="4A5A75"/>
                </a:solidFill>
                <a:latin typeface="JetBrains Mono" pitchFamily="34" charset="0"/>
                <a:ea typeface="JetBrains Mono" pitchFamily="34" charset="-122"/>
                <a:cs typeface="JetBrains Mono" pitchFamily="34" charset="-120"/>
              </a:rPr>
              <a:t>Google 17%</a:t>
            </a:r>
            <a:endParaRPr lang="en-US" sz="7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117897" y="4041648"/>
          <a:ext cx="3557016" cy="1627632"/>
        </p:xfrm>
        <a:graphic>
          <a:graphicData uri="http://schemas.openxmlformats.org/drawingml/2006/table">
            <a:tbl>
              <a:tblPr/>
              <a:tblGrid>
                <a:gridCol w="1325880">
                  <a:extLst>
                    <a:ext uri="{9D8B030D-6E8A-4147-A177-3AD203B41FA5}">
                      <a16:colId xmlns:a16="http://schemas.microsoft.com/office/drawing/2014/main" val="20000"/>
                    </a:ext>
                  </a:extLst>
                </a:gridCol>
                <a:gridCol w="896112">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94944">
                  <a:extLst>
                    <a:ext uri="{9D8B030D-6E8A-4147-A177-3AD203B41FA5}">
                      <a16:colId xmlns:a16="http://schemas.microsoft.com/office/drawing/2014/main" val="20003"/>
                    </a:ext>
                  </a:extLst>
                </a:gridCol>
              </a:tblGrid>
              <a:tr h="274320">
                <a:tc>
                  <a:txBody>
                    <a:bodyPr/>
                    <a:lstStyle/>
                    <a:p>
                      <a:pPr marL="0" indent="0" algn="l">
                        <a:buNone/>
                      </a:pPr>
                      <a:r>
                        <a:rPr lang="en-US" sz="750" dirty="0">
                          <a:solidFill>
                            <a:srgbClr val="8794AC"/>
                          </a:solidFill>
                          <a:latin typeface="JetBrains Mono" pitchFamily="34" charset="0"/>
                          <a:ea typeface="JetBrains Mono" pitchFamily="34" charset="-122"/>
                          <a:cs typeface="JetBrains Mono" pitchFamily="34" charset="-120"/>
                        </a:rPr>
                        <a:t>Platform</a:t>
                      </a:r>
                      <a:endParaRPr lang="en-US" sz="750" dirty="0">
                        <a:latin typeface="JetBrains Mono" charset="0"/>
                        <a:ea typeface="JetBrains Mono" charset="0"/>
                        <a:cs typeface="JetBrains Mono" charset="0"/>
                      </a:endParaRPr>
                    </a:p>
                  </a:txBody>
                  <a:tcPr marL="54864" marR="54864" marT="0" marB="0" anchor="ctr">
                    <a:lnL w="0" cap="flat" cmpd="sng" algn="ctr">
                      <a:noFill/>
                    </a:lnL>
                    <a:lnR w="0" cap="flat" cmpd="sng" algn="ctr">
                      <a:noFill/>
                    </a:lnR>
                    <a:lnT w="0" cap="flat" cmpd="sng" algn="ctr">
                      <a:noFill/>
                    </a:lnT>
                    <a:lnB w="9525" cap="flat" cmpd="sng" algn="ctr">
                      <a:solidFill>
                        <a:srgbClr val="D5E2F0"/>
                      </a:solidFill>
                      <a:prstDash val="solid"/>
                      <a:round/>
                      <a:headEnd type="none" w="med" len="med"/>
                      <a:tailEnd type="none" w="med" len="med"/>
                    </a:lnB>
                  </a:tcPr>
                </a:tc>
                <a:tc>
                  <a:txBody>
                    <a:bodyPr/>
                    <a:lstStyle/>
                    <a:p>
                      <a:pPr marL="0" indent="0" algn="r">
                        <a:buNone/>
                      </a:pPr>
                      <a:r>
                        <a:rPr lang="en-US" sz="750" dirty="0">
                          <a:solidFill>
                            <a:srgbClr val="8794AC"/>
                          </a:solidFill>
                          <a:latin typeface="JetBrains Mono" pitchFamily="34" charset="0"/>
                          <a:ea typeface="JetBrains Mono" pitchFamily="34" charset="-122"/>
                          <a:cs typeface="JetBrains Mono" pitchFamily="34" charset="-120"/>
                        </a:rPr>
                        <a:t>Spend</a:t>
                      </a:r>
                      <a:endParaRPr lang="en-US" sz="750" dirty="0">
                        <a:latin typeface="JetBrains Mono" charset="0"/>
                        <a:ea typeface="JetBrains Mono" charset="0"/>
                        <a:cs typeface="JetBrains Mono" charset="0"/>
                      </a:endParaRPr>
                    </a:p>
                  </a:txBody>
                  <a:tcPr marL="54864" marR="54864" marT="0" marB="0" anchor="ctr">
                    <a:lnL w="0" cap="flat" cmpd="sng" algn="ctr">
                      <a:noFill/>
                    </a:lnL>
                    <a:lnR w="0" cap="flat" cmpd="sng" algn="ctr">
                      <a:noFill/>
                    </a:lnR>
                    <a:lnT w="0" cap="flat" cmpd="sng" algn="ctr">
                      <a:noFill/>
                    </a:lnT>
                    <a:lnB w="9525" cap="flat" cmpd="sng" algn="ctr">
                      <a:solidFill>
                        <a:srgbClr val="D5E2F0"/>
                      </a:solidFill>
                      <a:prstDash val="solid"/>
                      <a:round/>
                      <a:headEnd type="none" w="med" len="med"/>
                      <a:tailEnd type="none" w="med" len="med"/>
                    </a:lnB>
                  </a:tcPr>
                </a:tc>
                <a:tc>
                  <a:txBody>
                    <a:bodyPr/>
                    <a:lstStyle/>
                    <a:p>
                      <a:pPr marL="0" indent="0" algn="r">
                        <a:buNone/>
                      </a:pPr>
                      <a:r>
                        <a:rPr lang="en-US" sz="750" dirty="0">
                          <a:solidFill>
                            <a:srgbClr val="8794AC"/>
                          </a:solidFill>
                          <a:latin typeface="JetBrains Mono" pitchFamily="34" charset="0"/>
                          <a:ea typeface="JetBrains Mono" pitchFamily="34" charset="-122"/>
                          <a:cs typeface="JetBrains Mono" pitchFamily="34" charset="-120"/>
                        </a:rPr>
                        <a:t>Leads</a:t>
                      </a:r>
                      <a:endParaRPr lang="en-US" sz="750" dirty="0">
                        <a:latin typeface="JetBrains Mono" charset="0"/>
                        <a:ea typeface="JetBrains Mono" charset="0"/>
                        <a:cs typeface="JetBrains Mono" charset="0"/>
                      </a:endParaRPr>
                    </a:p>
                  </a:txBody>
                  <a:tcPr marL="54864" marR="54864" marT="0" marB="0" anchor="ctr">
                    <a:lnL w="0" cap="flat" cmpd="sng" algn="ctr">
                      <a:noFill/>
                    </a:lnL>
                    <a:lnR w="0" cap="flat" cmpd="sng" algn="ctr">
                      <a:noFill/>
                    </a:lnR>
                    <a:lnT w="0" cap="flat" cmpd="sng" algn="ctr">
                      <a:noFill/>
                    </a:lnT>
                    <a:lnB w="9525" cap="flat" cmpd="sng" algn="ctr">
                      <a:solidFill>
                        <a:srgbClr val="D5E2F0"/>
                      </a:solidFill>
                      <a:prstDash val="solid"/>
                      <a:round/>
                      <a:headEnd type="none" w="med" len="med"/>
                      <a:tailEnd type="none" w="med" len="med"/>
                    </a:lnB>
                  </a:tcPr>
                </a:tc>
                <a:tc>
                  <a:txBody>
                    <a:bodyPr/>
                    <a:lstStyle/>
                    <a:p>
                      <a:pPr marL="0" indent="0" algn="r">
                        <a:buNone/>
                      </a:pPr>
                      <a:r>
                        <a:rPr lang="en-US" sz="750" dirty="0">
                          <a:solidFill>
                            <a:srgbClr val="8794AC"/>
                          </a:solidFill>
                          <a:latin typeface="JetBrains Mono" pitchFamily="34" charset="0"/>
                          <a:ea typeface="JetBrains Mono" pitchFamily="34" charset="-122"/>
                          <a:cs typeface="JetBrains Mono" pitchFamily="34" charset="-120"/>
                        </a:rPr>
                        <a:t>Qualified</a:t>
                      </a:r>
                      <a:endParaRPr lang="en-US" sz="750" dirty="0">
                        <a:latin typeface="JetBrains Mono" charset="0"/>
                        <a:ea typeface="JetBrains Mono" charset="0"/>
                        <a:cs typeface="JetBrains Mono" charset="0"/>
                      </a:endParaRPr>
                    </a:p>
                  </a:txBody>
                  <a:tcPr marL="54864" marR="54864" marT="0" marB="0" anchor="ctr">
                    <a:lnL w="0" cap="flat" cmpd="sng" algn="ctr">
                      <a:noFill/>
                    </a:lnL>
                    <a:lnR w="0" cap="flat" cmpd="sng" algn="ctr">
                      <a:noFill/>
                    </a:lnR>
                    <a:lnT w="0" cap="flat" cmpd="sng" algn="ctr">
                      <a:noFill/>
                    </a:lnT>
                    <a:lnB w="9525" cap="flat" cmpd="sng" algn="ctr">
                      <a:solidFill>
                        <a:srgbClr val="D5E2F0"/>
                      </a:solidFill>
                      <a:prstDash val="solid"/>
                      <a:round/>
                      <a:headEnd type="none" w="med" len="med"/>
                      <a:tailEnd type="none" w="med" len="med"/>
                    </a:lnB>
                  </a:tcPr>
                </a:tc>
                <a:extLst>
                  <a:ext uri="{0D108BD9-81ED-4DB2-BD59-A6C34878D82A}">
                    <a16:rowId xmlns:a16="http://schemas.microsoft.com/office/drawing/2014/main" val="10000"/>
                  </a:ext>
                </a:extLst>
              </a:tr>
              <a:tr h="329184">
                <a:tc>
                  <a:txBody>
                    <a:bodyPr/>
                    <a:lstStyle/>
                    <a:p>
                      <a:pPr marL="0" indent="0" algn="l">
                        <a:buNone/>
                      </a:pPr>
                      <a:r>
                        <a:rPr lang="en-US" sz="1000" b="1" dirty="0">
                          <a:solidFill>
                            <a:srgbClr val="0E1B33"/>
                          </a:solidFill>
                          <a:latin typeface="Instrument Sans" pitchFamily="34" charset="0"/>
                          <a:ea typeface="Instrument Sans" pitchFamily="34" charset="-122"/>
                          <a:cs typeface="Instrument Sans" pitchFamily="34" charset="-120"/>
                        </a:rPr>
                        <a:t>TikTok</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9525"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RM 14,000</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9525"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368</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9525"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92</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9525"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000" b="1" dirty="0">
                          <a:solidFill>
                            <a:srgbClr val="0E1B33"/>
                          </a:solidFill>
                          <a:latin typeface="Instrument Sans" pitchFamily="34" charset="0"/>
                          <a:ea typeface="Instrument Sans" pitchFamily="34" charset="-122"/>
                          <a:cs typeface="Instrument Sans" pitchFamily="34" charset="-120"/>
                        </a:rPr>
                        <a:t>Meta</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RM 11,000</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157</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39</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000" b="1" dirty="0">
                          <a:solidFill>
                            <a:srgbClr val="0E1B33"/>
                          </a:solidFill>
                          <a:latin typeface="Instrument Sans" pitchFamily="34" charset="0"/>
                          <a:ea typeface="Instrument Sans" pitchFamily="34" charset="-122"/>
                          <a:cs typeface="Instrument Sans" pitchFamily="34" charset="-120"/>
                        </a:rPr>
                        <a:t>Google Search</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15875" cap="flat" cmpd="sng" algn="ctr">
                      <a:solidFill>
                        <a:srgbClr val="0E1B33"/>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RM 5,000</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15875" cap="flat" cmpd="sng" algn="ctr">
                      <a:solidFill>
                        <a:srgbClr val="0E1B33"/>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59</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15875" cap="flat" cmpd="sng" algn="ctr">
                      <a:solidFill>
                        <a:srgbClr val="0E1B33"/>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21</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15875" cap="flat" cmpd="sng" algn="ctr">
                      <a:solidFill>
                        <a:srgbClr val="0E1B33"/>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l">
                        <a:buNone/>
                      </a:pPr>
                      <a:r>
                        <a:rPr lang="en-US" sz="1000" b="1" dirty="0">
                          <a:solidFill>
                            <a:srgbClr val="0E1B33"/>
                          </a:solidFill>
                          <a:latin typeface="Instrument Sans" pitchFamily="34" charset="0"/>
                          <a:ea typeface="Instrument Sans" pitchFamily="34" charset="-122"/>
                          <a:cs typeface="Instrument Sans" pitchFamily="34" charset="-120"/>
                        </a:rPr>
                        <a:t>Total a month</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15875" cap="flat" cmpd="sng" algn="ctr">
                      <a:solidFill>
                        <a:srgbClr val="0E1B33"/>
                      </a:solidFill>
                      <a:prstDash val="solid"/>
                      <a:round/>
                      <a:headEnd type="none" w="med" len="med"/>
                      <a:tailEnd type="none" w="med" len="med"/>
                    </a:lnT>
                    <a:lnB w="0" cap="flat" cmpd="sng" algn="ctr">
                      <a:noFill/>
                    </a:lnB>
                  </a:tcPr>
                </a:tc>
                <a:tc>
                  <a:txBody>
                    <a:bodyPr/>
                    <a:lstStyle/>
                    <a:p>
                      <a:pPr marL="0" indent="0" algn="r">
                        <a:buNone/>
                      </a:pPr>
                      <a:r>
                        <a:rPr lang="en-US" sz="1000" b="1" dirty="0">
                          <a:solidFill>
                            <a:srgbClr val="0E1B33"/>
                          </a:solidFill>
                          <a:latin typeface="Instrument Sans" pitchFamily="34" charset="0"/>
                          <a:ea typeface="Instrument Sans" pitchFamily="34" charset="-122"/>
                          <a:cs typeface="Instrument Sans" pitchFamily="34" charset="-120"/>
                        </a:rPr>
                        <a:t>RM 30,000</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15875" cap="flat" cmpd="sng" algn="ctr">
                      <a:solidFill>
                        <a:srgbClr val="0E1B33"/>
                      </a:solidFill>
                      <a:prstDash val="solid"/>
                      <a:round/>
                      <a:headEnd type="none" w="med" len="med"/>
                      <a:tailEnd type="none" w="med" len="med"/>
                    </a:lnT>
                    <a:lnB w="0" cap="flat" cmpd="sng" algn="ctr">
                      <a:noFill/>
                    </a:lnB>
                  </a:tcPr>
                </a:tc>
                <a:tc>
                  <a:txBody>
                    <a:bodyPr/>
                    <a:lstStyle/>
                    <a:p>
                      <a:pPr marL="0" indent="0" algn="r">
                        <a:buNone/>
                      </a:pPr>
                      <a:r>
                        <a:rPr lang="en-US" sz="1000" b="1" dirty="0">
                          <a:solidFill>
                            <a:srgbClr val="0E1B33"/>
                          </a:solidFill>
                          <a:latin typeface="Instrument Sans" pitchFamily="34" charset="0"/>
                          <a:ea typeface="Instrument Sans" pitchFamily="34" charset="-122"/>
                          <a:cs typeface="Instrument Sans" pitchFamily="34" charset="-120"/>
                        </a:rPr>
                        <a:t>584</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15875" cap="flat" cmpd="sng" algn="ctr">
                      <a:solidFill>
                        <a:srgbClr val="0E1B33"/>
                      </a:solidFill>
                      <a:prstDash val="solid"/>
                      <a:round/>
                      <a:headEnd type="none" w="med" len="med"/>
                      <a:tailEnd type="none" w="med" len="med"/>
                    </a:lnT>
                    <a:lnB w="0" cap="flat" cmpd="sng" algn="ctr">
                      <a:noFill/>
                    </a:lnB>
                  </a:tcPr>
                </a:tc>
                <a:tc>
                  <a:txBody>
                    <a:bodyPr/>
                    <a:lstStyle/>
                    <a:p>
                      <a:pPr marL="0" indent="0" algn="r">
                        <a:buNone/>
                      </a:pPr>
                      <a:r>
                        <a:rPr lang="en-US" sz="1000" b="1" dirty="0">
                          <a:solidFill>
                            <a:srgbClr val="0E1B33"/>
                          </a:solidFill>
                          <a:latin typeface="Instrument Sans" pitchFamily="34" charset="0"/>
                          <a:ea typeface="Instrument Sans" pitchFamily="34" charset="-122"/>
                          <a:cs typeface="Instrument Sans" pitchFamily="34" charset="-120"/>
                        </a:rPr>
                        <a:t>152</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15875" cap="flat" cmpd="sng" algn="ctr">
                      <a:solidFill>
                        <a:srgbClr val="0E1B33"/>
                      </a:solid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25" name="Text 20"/>
          <p:cNvSpPr/>
          <p:nvPr/>
        </p:nvSpPr>
        <p:spPr>
          <a:xfrm>
            <a:off x="5117897" y="5824728"/>
            <a:ext cx="3557016" cy="274320"/>
          </a:xfrm>
          <a:prstGeom prst="rect">
            <a:avLst/>
          </a:prstGeom>
          <a:noFill/>
          <a:ln/>
        </p:spPr>
        <p:txBody>
          <a:bodyPr wrap="square" lIns="0" tIns="0" rIns="0" bIns="0" rtlCol="0" anchor="t"/>
          <a:lstStyle/>
          <a:p>
            <a:pPr marL="0" indent="0">
              <a:lnSpc>
                <a:spcPct val="125000"/>
              </a:lnSpc>
              <a:buNone/>
            </a:pPr>
            <a:r>
              <a:rPr lang="en-US" sz="850" dirty="0">
                <a:solidFill>
                  <a:srgbClr val="8794AC"/>
                </a:solidFill>
                <a:latin typeface="Instrument Sans" pitchFamily="34" charset="0"/>
                <a:ea typeface="Instrument Sans" pitchFamily="34" charset="-122"/>
                <a:cs typeface="Instrument Sans" pitchFamily="34" charset="-120"/>
              </a:rPr>
              <a:t>Runs 5 months. Dates to confirm.</a:t>
            </a:r>
            <a:endParaRPr lang="en-US" sz="850" dirty="0"/>
          </a:p>
        </p:txBody>
      </p:sp>
      <p:sp>
        <p:nvSpPr>
          <p:cNvPr id="26" name="Shape 21"/>
          <p:cNvSpPr/>
          <p:nvPr/>
        </p:nvSpPr>
        <p:spPr>
          <a:xfrm>
            <a:off x="9113825" y="2212848"/>
            <a:ext cx="2467966" cy="4069080"/>
          </a:xfrm>
          <a:prstGeom prst="roundRect">
            <a:avLst>
              <a:gd name="adj" fmla="val 4817"/>
            </a:avLst>
          </a:prstGeom>
          <a:solidFill>
            <a:srgbClr val="E3EDFC"/>
          </a:solidFill>
          <a:ln/>
        </p:spPr>
        <p:txBody>
          <a:bodyPr/>
          <a:lstStyle/>
          <a:p>
            <a:endParaRPr lang="en-MY"/>
          </a:p>
        </p:txBody>
      </p:sp>
      <p:sp>
        <p:nvSpPr>
          <p:cNvPr id="27" name="Text 22"/>
          <p:cNvSpPr/>
          <p:nvPr/>
        </p:nvSpPr>
        <p:spPr>
          <a:xfrm>
            <a:off x="9342425" y="2441448"/>
            <a:ext cx="2010766" cy="182880"/>
          </a:xfrm>
          <a:prstGeom prst="rect">
            <a:avLst/>
          </a:prstGeom>
          <a:noFill/>
          <a:ln/>
        </p:spPr>
        <p:txBody>
          <a:bodyPr wrap="square" lIns="0" tIns="0" rIns="0" bIns="0" rtlCol="0" anchor="t"/>
          <a:lstStyle/>
          <a:p>
            <a:pPr marL="0" indent="0">
              <a:lnSpc>
                <a:spcPct val="125000"/>
              </a:lnSpc>
              <a:buNone/>
            </a:pPr>
            <a:r>
              <a:rPr lang="en-US" sz="750" kern="0" spc="60" dirty="0">
                <a:solidFill>
                  <a:srgbClr val="8794AC"/>
                </a:solidFill>
                <a:latin typeface="JetBrains Mono" pitchFamily="34" charset="0"/>
                <a:ea typeface="JetBrains Mono" pitchFamily="34" charset="-122"/>
                <a:cs typeface="JetBrains Mono" pitchFamily="34" charset="-120"/>
              </a:rPr>
              <a:t>HOW WE FORECAST</a:t>
            </a:r>
            <a:endParaRPr lang="en-US" sz="750" dirty="0"/>
          </a:p>
        </p:txBody>
      </p:sp>
      <p:sp>
        <p:nvSpPr>
          <p:cNvPr id="28" name="Text 23"/>
          <p:cNvSpPr/>
          <p:nvPr/>
        </p:nvSpPr>
        <p:spPr>
          <a:xfrm>
            <a:off x="9342425" y="2715768"/>
            <a:ext cx="2010766" cy="3383280"/>
          </a:xfrm>
          <a:prstGeom prst="rect">
            <a:avLst/>
          </a:prstGeom>
          <a:noFill/>
          <a:ln/>
        </p:spPr>
        <p:txBody>
          <a:bodyPr wrap="square" lIns="0" tIns="0" rIns="0" bIns="0" rtlCol="0" anchor="t"/>
          <a:lstStyle/>
          <a:p>
            <a:pPr marL="165100" indent="-165100">
              <a:lnSpc>
                <a:spcPct val="130000"/>
              </a:lnSpc>
              <a:spcAft>
                <a:spcPts val="1200"/>
              </a:spcAft>
              <a:buClr>
                <a:srgbClr val="2A6BE0"/>
              </a:buClr>
              <a:buSzPct val="90000"/>
              <a:buChar char="▪"/>
            </a:pPr>
            <a:r>
              <a:rPr lang="en-US" sz="1050" dirty="0">
                <a:solidFill>
                  <a:srgbClr val="4A5A75"/>
                </a:solidFill>
                <a:latin typeface="Instrument Sans" pitchFamily="34" charset="0"/>
                <a:ea typeface="Instrument Sans" pitchFamily="34" charset="-122"/>
                <a:cs typeface="Instrument Sans" pitchFamily="34" charset="-120"/>
              </a:rPr>
              <a:t>TikTok costs RM 38 a lead, your average since July.</a:t>
            </a:r>
            <a:endParaRPr lang="en-US" sz="1050" dirty="0"/>
          </a:p>
          <a:p>
            <a:pPr marL="165100" indent="-165100">
              <a:lnSpc>
                <a:spcPct val="130000"/>
              </a:lnSpc>
              <a:spcAft>
                <a:spcPts val="1200"/>
              </a:spcAft>
              <a:buClr>
                <a:srgbClr val="2A6BE0"/>
              </a:buClr>
              <a:buSzPct val="90000"/>
              <a:buChar char="▪"/>
            </a:pPr>
            <a:r>
              <a:rPr lang="en-US" sz="1050" dirty="0">
                <a:solidFill>
                  <a:srgbClr val="4A5A75"/>
                </a:solidFill>
                <a:latin typeface="Instrument Sans" pitchFamily="34" charset="0"/>
                <a:ea typeface="Instrument Sans" pitchFamily="34" charset="-122"/>
                <a:cs typeface="Instrument Sans" pitchFamily="34" charset="-120"/>
              </a:rPr>
              <a:t>Meta costs RM 70 and Google RM 85 a lead, from our benchmarks.</a:t>
            </a:r>
            <a:endParaRPr lang="en-US" sz="1050" dirty="0"/>
          </a:p>
          <a:p>
            <a:pPr marL="165100" indent="-165100">
              <a:lnSpc>
                <a:spcPct val="130000"/>
              </a:lnSpc>
              <a:spcAft>
                <a:spcPts val="1200"/>
              </a:spcAft>
              <a:buClr>
                <a:srgbClr val="2A6BE0"/>
              </a:buClr>
              <a:buSzPct val="90000"/>
              <a:buChar char="▪"/>
            </a:pPr>
            <a:r>
              <a:rPr lang="en-US" sz="1050" dirty="0">
                <a:solidFill>
                  <a:srgbClr val="4A5A75"/>
                </a:solidFill>
                <a:latin typeface="Instrument Sans" pitchFamily="34" charset="0"/>
                <a:ea typeface="Instrument Sans" pitchFamily="34" charset="-122"/>
                <a:cs typeface="Instrument Sans" pitchFamily="34" charset="-120"/>
              </a:rPr>
              <a:t>25% of TikTok and Meta leads qualify, and 35% of Google leads.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609905" y="548640"/>
            <a:ext cx="59436" cy="59436"/>
          </a:xfrm>
          <a:prstGeom prst="ellipse">
            <a:avLst/>
          </a:prstGeom>
          <a:solidFill>
            <a:srgbClr val="2A6BE0"/>
          </a:solidFill>
          <a:ln/>
        </p:spPr>
        <p:txBody>
          <a:bodyPr/>
          <a:lstStyle/>
          <a:p>
            <a:endParaRPr lang="en-MY"/>
          </a:p>
        </p:txBody>
      </p:sp>
      <p:sp>
        <p:nvSpPr>
          <p:cNvPr id="3" name="Text 1"/>
          <p:cNvSpPr/>
          <p:nvPr/>
        </p:nvSpPr>
        <p:spPr>
          <a:xfrm>
            <a:off x="756209" y="484632"/>
            <a:ext cx="7315200" cy="182880"/>
          </a:xfrm>
          <a:prstGeom prst="rect">
            <a:avLst/>
          </a:prstGeom>
          <a:noFill/>
          <a:ln/>
        </p:spPr>
        <p:txBody>
          <a:bodyPr wrap="square" lIns="0" tIns="0" rIns="0" bIns="0" rtlCol="0" anchor="t"/>
          <a:lstStyle/>
          <a:p>
            <a:pPr marL="0" indent="0">
              <a:lnSpc>
                <a:spcPct val="125000"/>
              </a:lnSpc>
              <a:buNone/>
            </a:pPr>
            <a:r>
              <a:rPr lang="en-US" sz="825" kern="0" spc="60" dirty="0">
                <a:solidFill>
                  <a:srgbClr val="2A6BE0"/>
                </a:solidFill>
                <a:latin typeface="JetBrains Mono" pitchFamily="34" charset="0"/>
                <a:ea typeface="JetBrains Mono" pitchFamily="34" charset="-122"/>
                <a:cs typeface="JetBrains Mono" pitchFamily="34" charset="-120"/>
              </a:rPr>
              <a:t>TIMELINE</a:t>
            </a:r>
            <a:endParaRPr lang="en-US" sz="825" dirty="0"/>
          </a:p>
        </p:txBody>
      </p:sp>
      <p:sp>
        <p:nvSpPr>
          <p:cNvPr id="4" name="Text 2"/>
          <p:cNvSpPr/>
          <p:nvPr/>
        </p:nvSpPr>
        <p:spPr>
          <a:xfrm>
            <a:off x="609905" y="713232"/>
            <a:ext cx="10971886" cy="658368"/>
          </a:xfrm>
          <a:prstGeom prst="rect">
            <a:avLst/>
          </a:prstGeom>
          <a:noFill/>
          <a:ln/>
        </p:spPr>
        <p:txBody>
          <a:bodyPr wrap="square" lIns="0" tIns="0" rIns="0" bIns="0" rtlCol="0" anchor="ctr"/>
          <a:lstStyle/>
          <a:p>
            <a:pPr marL="0" indent="0">
              <a:lnSpc>
                <a:spcPct val="100000"/>
              </a:lnSpc>
              <a:buNone/>
            </a:pPr>
            <a:r>
              <a:rPr lang="en-US" sz="3800" dirty="0">
                <a:solidFill>
                  <a:srgbClr val="0E1B33"/>
                </a:solidFill>
                <a:latin typeface="Instrument Serif" pitchFamily="34" charset="0"/>
                <a:ea typeface="Instrument Serif" pitchFamily="34" charset="-122"/>
                <a:cs typeface="Instrument Serif" pitchFamily="34" charset="-120"/>
              </a:rPr>
              <a:t>Month by month, </a:t>
            </a:r>
            <a:r>
              <a:rPr lang="en-US" sz="3800" i="1" dirty="0">
                <a:solidFill>
                  <a:srgbClr val="2A6BE0"/>
                </a:solidFill>
                <a:latin typeface="Instrument Serif" pitchFamily="34" charset="0"/>
                <a:ea typeface="Instrument Serif" pitchFamily="34" charset="-122"/>
                <a:cs typeface="Instrument Serif" pitchFamily="34" charset="-120"/>
              </a:rPr>
              <a:t>November 2026 to December 2027</a:t>
            </a:r>
            <a:endParaRPr lang="en-US" sz="3800" dirty="0"/>
          </a:p>
        </p:txBody>
      </p:sp>
      <p:sp>
        <p:nvSpPr>
          <p:cNvPr id="5" name="Text 3"/>
          <p:cNvSpPr/>
          <p:nvPr/>
        </p:nvSpPr>
        <p:spPr>
          <a:xfrm>
            <a:off x="609905" y="1463040"/>
            <a:ext cx="10971886" cy="566928"/>
          </a:xfrm>
          <a:prstGeom prst="rect">
            <a:avLst/>
          </a:prstGeom>
          <a:noFill/>
          <a:ln/>
        </p:spPr>
        <p:txBody>
          <a:bodyPr wrap="square" lIns="0" tIns="0" rIns="0" bIns="0" rtlCol="0" anchor="t"/>
          <a:lstStyle/>
          <a:p>
            <a:pPr marL="0" indent="0">
              <a:lnSpc>
                <a:spcPct val="140000"/>
              </a:lnSpc>
              <a:buNone/>
            </a:pPr>
            <a:r>
              <a:rPr lang="en-US" sz="1250" dirty="0">
                <a:solidFill>
                  <a:srgbClr val="4A5A75"/>
                </a:solidFill>
                <a:latin typeface="Instrument Sans" pitchFamily="34" charset="0"/>
                <a:ea typeface="Instrument Sans" pitchFamily="34" charset="-122"/>
                <a:cs typeface="Instrument Sans" pitchFamily="34" charset="-120"/>
              </a:rPr>
              <a:t>Open day months are in blue. Send us your real dates and we move them. Each month, we push the next intake that is open.</a:t>
            </a:r>
            <a:endParaRPr lang="en-US" sz="1250" dirty="0"/>
          </a:p>
        </p:txBody>
      </p:sp>
      <p:sp>
        <p:nvSpPr>
          <p:cNvPr id="6" name="Text 4"/>
          <p:cNvSpPr/>
          <p:nvPr/>
        </p:nvSpPr>
        <p:spPr>
          <a:xfrm>
            <a:off x="11033150" y="6455664"/>
            <a:ext cx="548640" cy="182880"/>
          </a:xfrm>
          <a:prstGeom prst="rect">
            <a:avLst/>
          </a:prstGeom>
          <a:noFill/>
          <a:ln/>
        </p:spPr>
        <p:txBody>
          <a:bodyPr wrap="square" lIns="0" tIns="0" rIns="0" bIns="0" rtlCol="0" anchor="t"/>
          <a:lstStyle/>
          <a:p>
            <a:pPr marL="0" indent="0" algn="r">
              <a:lnSpc>
                <a:spcPct val="125000"/>
              </a:lnSpc>
              <a:buNone/>
            </a:pPr>
            <a:r>
              <a:rPr lang="en-US" sz="750" dirty="0">
                <a:solidFill>
                  <a:srgbClr val="8794AC"/>
                </a:solidFill>
                <a:latin typeface="JetBrains Mono" pitchFamily="34" charset="0"/>
                <a:ea typeface="JetBrains Mono" pitchFamily="34" charset="-122"/>
                <a:cs typeface="JetBrains Mono" pitchFamily="34" charset="-120"/>
              </a:rPr>
              <a:t>05</a:t>
            </a:r>
            <a:endParaRPr lang="en-US" sz="750" dirty="0"/>
          </a:p>
        </p:txBody>
      </p:sp>
      <p:sp>
        <p:nvSpPr>
          <p:cNvPr id="8" name="Text 5"/>
          <p:cNvSpPr/>
          <p:nvPr/>
        </p:nvSpPr>
        <p:spPr>
          <a:xfrm>
            <a:off x="609905" y="2176272"/>
            <a:ext cx="4572000" cy="182880"/>
          </a:xfrm>
          <a:prstGeom prst="rect">
            <a:avLst/>
          </a:prstGeom>
          <a:noFill/>
          <a:ln/>
        </p:spPr>
        <p:txBody>
          <a:bodyPr wrap="square" lIns="0" tIns="0" rIns="0" bIns="0" rtlCol="0" anchor="t"/>
          <a:lstStyle/>
          <a:p>
            <a:pPr marL="0" indent="0">
              <a:lnSpc>
                <a:spcPct val="125000"/>
              </a:lnSpc>
              <a:buNone/>
            </a:pPr>
            <a:r>
              <a:rPr lang="en-US" sz="750" dirty="0">
                <a:solidFill>
                  <a:srgbClr val="2A6BE0"/>
                </a:solidFill>
                <a:latin typeface="JetBrains Mono" pitchFamily="34" charset="0"/>
                <a:ea typeface="JetBrains Mono" pitchFamily="34" charset="-122"/>
                <a:cs typeface="JetBrains Mono" pitchFamily="34" charset="-120"/>
              </a:rPr>
              <a:t>□ </a:t>
            </a:r>
            <a:r>
              <a:rPr lang="en-US" sz="750" dirty="0">
                <a:solidFill>
                  <a:srgbClr val="4A5A75"/>
                </a:solidFill>
                <a:latin typeface="JetBrains Mono" pitchFamily="34" charset="0"/>
                <a:ea typeface="JetBrains Mono" pitchFamily="34" charset="-122"/>
                <a:cs typeface="JetBrains Mono" pitchFamily="34" charset="-120"/>
              </a:rPr>
              <a:t>Current campaign    </a:t>
            </a:r>
            <a:r>
              <a:rPr lang="en-US" sz="750" dirty="0">
                <a:solidFill>
                  <a:srgbClr val="B7C4DA"/>
                </a:solidFill>
                <a:latin typeface="JetBrains Mono" pitchFamily="34" charset="0"/>
                <a:ea typeface="JetBrains Mono" pitchFamily="34" charset="-122"/>
                <a:cs typeface="JetBrains Mono" pitchFamily="34" charset="-120"/>
              </a:rPr>
              <a:t>■ </a:t>
            </a:r>
            <a:r>
              <a:rPr lang="en-US" sz="750" dirty="0">
                <a:solidFill>
                  <a:srgbClr val="4A5A75"/>
                </a:solidFill>
                <a:latin typeface="JetBrains Mono" pitchFamily="34" charset="0"/>
                <a:ea typeface="JetBrains Mono" pitchFamily="34" charset="-122"/>
                <a:cs typeface="JetBrains Mono" pitchFamily="34" charset="-120"/>
              </a:rPr>
              <a:t>Normal month    </a:t>
            </a:r>
            <a:r>
              <a:rPr lang="en-US" sz="750" dirty="0">
                <a:solidFill>
                  <a:srgbClr val="2A6BE0"/>
                </a:solidFill>
                <a:latin typeface="JetBrains Mono" pitchFamily="34" charset="0"/>
                <a:ea typeface="JetBrains Mono" pitchFamily="34" charset="-122"/>
                <a:cs typeface="JetBrains Mono" pitchFamily="34" charset="-120"/>
              </a:rPr>
              <a:t>■ </a:t>
            </a:r>
            <a:r>
              <a:rPr lang="en-US" sz="750" dirty="0">
                <a:solidFill>
                  <a:srgbClr val="4A5A75"/>
                </a:solidFill>
                <a:latin typeface="JetBrains Mono" pitchFamily="34" charset="0"/>
                <a:ea typeface="JetBrains Mono" pitchFamily="34" charset="-122"/>
                <a:cs typeface="JetBrains Mono" pitchFamily="34" charset="-120"/>
              </a:rPr>
              <a:t>Open day month</a:t>
            </a:r>
            <a:endParaRPr lang="en-US" sz="750" dirty="0"/>
          </a:p>
        </p:txBody>
      </p:sp>
      <p:sp>
        <p:nvSpPr>
          <p:cNvPr id="9" name="Text 6"/>
          <p:cNvSpPr/>
          <p:nvPr/>
        </p:nvSpPr>
        <p:spPr>
          <a:xfrm>
            <a:off x="609905" y="3538728"/>
            <a:ext cx="832104" cy="182880"/>
          </a:xfrm>
          <a:prstGeom prst="rect">
            <a:avLst/>
          </a:prstGeom>
          <a:noFill/>
          <a:ln/>
        </p:spPr>
        <p:txBody>
          <a:bodyPr wrap="square" lIns="0" tIns="0" rIns="0" bIns="0" rtlCol="0" anchor="t"/>
          <a:lstStyle/>
          <a:p>
            <a:pPr marL="0" indent="0">
              <a:lnSpc>
                <a:spcPct val="125000"/>
              </a:lnSpc>
              <a:buNone/>
            </a:pPr>
            <a:r>
              <a:rPr lang="en-US" sz="675" kern="0" spc="60" dirty="0">
                <a:solidFill>
                  <a:srgbClr val="8794AC"/>
                </a:solidFill>
                <a:latin typeface="JetBrains Mono" pitchFamily="34" charset="0"/>
                <a:ea typeface="JetBrains Mono" pitchFamily="34" charset="-122"/>
                <a:cs typeface="JetBrains Mono" pitchFamily="34" charset="-120"/>
              </a:rPr>
              <a:t>MEDIA SPEND</a:t>
            </a:r>
            <a:endParaRPr lang="en-US" sz="675" dirty="0"/>
          </a:p>
        </p:txBody>
      </p:sp>
      <p:sp>
        <p:nvSpPr>
          <p:cNvPr id="10" name="Shape 7"/>
          <p:cNvSpPr/>
          <p:nvPr/>
        </p:nvSpPr>
        <p:spPr>
          <a:xfrm>
            <a:off x="1615587" y="2822448"/>
            <a:ext cx="417221" cy="944880"/>
          </a:xfrm>
          <a:prstGeom prst="rect">
            <a:avLst/>
          </a:prstGeom>
          <a:solidFill>
            <a:srgbClr val="FFFFFF"/>
          </a:solidFill>
          <a:ln w="12700">
            <a:solidFill>
              <a:srgbClr val="2A6BE0"/>
            </a:solidFill>
            <a:prstDash val="dash"/>
          </a:ln>
        </p:spPr>
        <p:txBody>
          <a:bodyPr/>
          <a:lstStyle/>
          <a:p>
            <a:endParaRPr lang="en-MY"/>
          </a:p>
        </p:txBody>
      </p:sp>
      <p:sp>
        <p:nvSpPr>
          <p:cNvPr id="11" name="Text 8"/>
          <p:cNvSpPr/>
          <p:nvPr/>
        </p:nvSpPr>
        <p:spPr>
          <a:xfrm>
            <a:off x="1487729" y="2621280"/>
            <a:ext cx="672937" cy="164592"/>
          </a:xfrm>
          <a:prstGeom prst="rect">
            <a:avLst/>
          </a:prstGeom>
          <a:noFill/>
          <a:ln/>
        </p:spPr>
        <p:txBody>
          <a:bodyPr wrap="square" lIns="0" tIns="0" rIns="0" bIns="0" rtlCol="0" anchor="t"/>
          <a:lstStyle/>
          <a:p>
            <a:pPr marL="0" indent="0" algn="ctr">
              <a:lnSpc>
                <a:spcPct val="125000"/>
              </a:lnSpc>
              <a:buNone/>
            </a:pPr>
            <a:r>
              <a:rPr lang="en-US" sz="700" dirty="0">
                <a:solidFill>
                  <a:srgbClr val="8794AC"/>
                </a:solidFill>
                <a:latin typeface="JetBrains Mono" pitchFamily="34" charset="0"/>
                <a:ea typeface="JetBrains Mono" pitchFamily="34" charset="-122"/>
                <a:cs typeface="JetBrains Mono" pitchFamily="34" charset="-120"/>
              </a:rPr>
              <a:t>RM 20K</a:t>
            </a:r>
            <a:endParaRPr lang="en-US" sz="700" dirty="0"/>
          </a:p>
        </p:txBody>
      </p:sp>
      <p:sp>
        <p:nvSpPr>
          <p:cNvPr id="12" name="Shape 9"/>
          <p:cNvSpPr/>
          <p:nvPr/>
        </p:nvSpPr>
        <p:spPr>
          <a:xfrm>
            <a:off x="2288524" y="2822448"/>
            <a:ext cx="417221" cy="944880"/>
          </a:xfrm>
          <a:prstGeom prst="rect">
            <a:avLst/>
          </a:prstGeom>
          <a:solidFill>
            <a:srgbClr val="B7C4DA"/>
          </a:solidFill>
          <a:ln/>
        </p:spPr>
        <p:txBody>
          <a:bodyPr/>
          <a:lstStyle/>
          <a:p>
            <a:endParaRPr lang="en-MY"/>
          </a:p>
        </p:txBody>
      </p:sp>
      <p:sp>
        <p:nvSpPr>
          <p:cNvPr id="13" name="Text 10"/>
          <p:cNvSpPr/>
          <p:nvPr/>
        </p:nvSpPr>
        <p:spPr>
          <a:xfrm>
            <a:off x="2160666" y="2621280"/>
            <a:ext cx="672937" cy="164592"/>
          </a:xfrm>
          <a:prstGeom prst="rect">
            <a:avLst/>
          </a:prstGeom>
          <a:noFill/>
          <a:ln/>
        </p:spPr>
        <p:txBody>
          <a:bodyPr wrap="square" lIns="0" tIns="0" rIns="0" bIns="0" rtlCol="0" anchor="t"/>
          <a:lstStyle/>
          <a:p>
            <a:pPr marL="0" indent="0" algn="ctr">
              <a:lnSpc>
                <a:spcPct val="125000"/>
              </a:lnSpc>
              <a:buNone/>
            </a:pPr>
            <a:r>
              <a:rPr lang="en-US" sz="700" dirty="0">
                <a:solidFill>
                  <a:srgbClr val="0E1B33"/>
                </a:solidFill>
                <a:latin typeface="JetBrains Mono" pitchFamily="34" charset="0"/>
                <a:ea typeface="JetBrains Mono" pitchFamily="34" charset="-122"/>
                <a:cs typeface="JetBrains Mono" pitchFamily="34" charset="-120"/>
              </a:rPr>
              <a:t>RM 20K</a:t>
            </a:r>
            <a:endParaRPr lang="en-US" sz="700" dirty="0"/>
          </a:p>
        </p:txBody>
      </p:sp>
      <p:sp>
        <p:nvSpPr>
          <p:cNvPr id="14" name="Shape 11"/>
          <p:cNvSpPr/>
          <p:nvPr/>
        </p:nvSpPr>
        <p:spPr>
          <a:xfrm>
            <a:off x="2961462" y="2822448"/>
            <a:ext cx="417221" cy="944880"/>
          </a:xfrm>
          <a:prstGeom prst="rect">
            <a:avLst/>
          </a:prstGeom>
          <a:solidFill>
            <a:srgbClr val="B7C4DA"/>
          </a:solidFill>
          <a:ln/>
        </p:spPr>
        <p:txBody>
          <a:bodyPr/>
          <a:lstStyle/>
          <a:p>
            <a:endParaRPr lang="en-MY"/>
          </a:p>
        </p:txBody>
      </p:sp>
      <p:sp>
        <p:nvSpPr>
          <p:cNvPr id="15" name="Text 12"/>
          <p:cNvSpPr/>
          <p:nvPr/>
        </p:nvSpPr>
        <p:spPr>
          <a:xfrm>
            <a:off x="2833604" y="2621280"/>
            <a:ext cx="672937" cy="164592"/>
          </a:xfrm>
          <a:prstGeom prst="rect">
            <a:avLst/>
          </a:prstGeom>
          <a:noFill/>
          <a:ln/>
        </p:spPr>
        <p:txBody>
          <a:bodyPr wrap="square" lIns="0" tIns="0" rIns="0" bIns="0" rtlCol="0" anchor="t"/>
          <a:lstStyle/>
          <a:p>
            <a:pPr marL="0" indent="0" algn="ctr">
              <a:lnSpc>
                <a:spcPct val="125000"/>
              </a:lnSpc>
              <a:buNone/>
            </a:pPr>
            <a:r>
              <a:rPr lang="en-US" sz="700" dirty="0">
                <a:solidFill>
                  <a:srgbClr val="0E1B33"/>
                </a:solidFill>
                <a:latin typeface="JetBrains Mono" pitchFamily="34" charset="0"/>
                <a:ea typeface="JetBrains Mono" pitchFamily="34" charset="-122"/>
                <a:cs typeface="JetBrains Mono" pitchFamily="34" charset="-120"/>
              </a:rPr>
              <a:t>RM 20K</a:t>
            </a:r>
            <a:endParaRPr lang="en-US" sz="700" dirty="0"/>
          </a:p>
        </p:txBody>
      </p:sp>
      <p:sp>
        <p:nvSpPr>
          <p:cNvPr id="16" name="Shape 13"/>
          <p:cNvSpPr/>
          <p:nvPr/>
        </p:nvSpPr>
        <p:spPr>
          <a:xfrm>
            <a:off x="3634399" y="2822448"/>
            <a:ext cx="417221" cy="944880"/>
          </a:xfrm>
          <a:prstGeom prst="rect">
            <a:avLst/>
          </a:prstGeom>
          <a:solidFill>
            <a:srgbClr val="B7C4DA"/>
          </a:solidFill>
          <a:ln/>
        </p:spPr>
        <p:txBody>
          <a:bodyPr/>
          <a:lstStyle/>
          <a:p>
            <a:endParaRPr lang="en-MY"/>
          </a:p>
        </p:txBody>
      </p:sp>
      <p:sp>
        <p:nvSpPr>
          <p:cNvPr id="17" name="Text 14"/>
          <p:cNvSpPr/>
          <p:nvPr/>
        </p:nvSpPr>
        <p:spPr>
          <a:xfrm>
            <a:off x="3506541" y="2621280"/>
            <a:ext cx="672937" cy="164592"/>
          </a:xfrm>
          <a:prstGeom prst="rect">
            <a:avLst/>
          </a:prstGeom>
          <a:noFill/>
          <a:ln/>
        </p:spPr>
        <p:txBody>
          <a:bodyPr wrap="square" lIns="0" tIns="0" rIns="0" bIns="0" rtlCol="0" anchor="t"/>
          <a:lstStyle/>
          <a:p>
            <a:pPr marL="0" indent="0" algn="ctr">
              <a:lnSpc>
                <a:spcPct val="125000"/>
              </a:lnSpc>
              <a:buNone/>
            </a:pPr>
            <a:r>
              <a:rPr lang="en-US" sz="700" dirty="0">
                <a:solidFill>
                  <a:srgbClr val="0E1B33"/>
                </a:solidFill>
                <a:latin typeface="JetBrains Mono" pitchFamily="34" charset="0"/>
                <a:ea typeface="JetBrains Mono" pitchFamily="34" charset="-122"/>
                <a:cs typeface="JetBrains Mono" pitchFamily="34" charset="-120"/>
              </a:rPr>
              <a:t>RM 20K</a:t>
            </a:r>
            <a:endParaRPr lang="en-US" sz="700" dirty="0"/>
          </a:p>
        </p:txBody>
      </p:sp>
      <p:sp>
        <p:nvSpPr>
          <p:cNvPr id="18" name="Shape 15"/>
          <p:cNvSpPr/>
          <p:nvPr/>
        </p:nvSpPr>
        <p:spPr>
          <a:xfrm>
            <a:off x="4307337" y="2822448"/>
            <a:ext cx="417221" cy="944880"/>
          </a:xfrm>
          <a:prstGeom prst="rect">
            <a:avLst/>
          </a:prstGeom>
          <a:solidFill>
            <a:srgbClr val="B7C4DA"/>
          </a:solidFill>
          <a:ln/>
        </p:spPr>
        <p:txBody>
          <a:bodyPr/>
          <a:lstStyle/>
          <a:p>
            <a:endParaRPr lang="en-MY"/>
          </a:p>
        </p:txBody>
      </p:sp>
      <p:sp>
        <p:nvSpPr>
          <p:cNvPr id="19" name="Text 16"/>
          <p:cNvSpPr/>
          <p:nvPr/>
        </p:nvSpPr>
        <p:spPr>
          <a:xfrm>
            <a:off x="4179479" y="2621280"/>
            <a:ext cx="672937" cy="164592"/>
          </a:xfrm>
          <a:prstGeom prst="rect">
            <a:avLst/>
          </a:prstGeom>
          <a:noFill/>
          <a:ln/>
        </p:spPr>
        <p:txBody>
          <a:bodyPr wrap="square" lIns="0" tIns="0" rIns="0" bIns="0" rtlCol="0" anchor="t"/>
          <a:lstStyle/>
          <a:p>
            <a:pPr marL="0" indent="0" algn="ctr">
              <a:lnSpc>
                <a:spcPct val="125000"/>
              </a:lnSpc>
              <a:buNone/>
            </a:pPr>
            <a:r>
              <a:rPr lang="en-US" sz="700" dirty="0">
                <a:solidFill>
                  <a:srgbClr val="0E1B33"/>
                </a:solidFill>
                <a:latin typeface="JetBrains Mono" pitchFamily="34" charset="0"/>
                <a:ea typeface="JetBrains Mono" pitchFamily="34" charset="-122"/>
                <a:cs typeface="JetBrains Mono" pitchFamily="34" charset="-120"/>
              </a:rPr>
              <a:t>RM 20K</a:t>
            </a:r>
            <a:endParaRPr lang="en-US" sz="700" dirty="0"/>
          </a:p>
        </p:txBody>
      </p:sp>
      <p:sp>
        <p:nvSpPr>
          <p:cNvPr id="20" name="Shape 17"/>
          <p:cNvSpPr/>
          <p:nvPr/>
        </p:nvSpPr>
        <p:spPr>
          <a:xfrm>
            <a:off x="4980274" y="2350008"/>
            <a:ext cx="417221" cy="1417320"/>
          </a:xfrm>
          <a:prstGeom prst="rect">
            <a:avLst/>
          </a:prstGeom>
          <a:solidFill>
            <a:srgbClr val="2A6BE0"/>
          </a:solidFill>
          <a:ln/>
        </p:spPr>
        <p:txBody>
          <a:bodyPr/>
          <a:lstStyle/>
          <a:p>
            <a:endParaRPr lang="en-MY"/>
          </a:p>
        </p:txBody>
      </p:sp>
      <p:sp>
        <p:nvSpPr>
          <p:cNvPr id="21" name="Text 18"/>
          <p:cNvSpPr/>
          <p:nvPr/>
        </p:nvSpPr>
        <p:spPr>
          <a:xfrm>
            <a:off x="4852416" y="2148840"/>
            <a:ext cx="672937" cy="164592"/>
          </a:xfrm>
          <a:prstGeom prst="rect">
            <a:avLst/>
          </a:prstGeom>
          <a:noFill/>
          <a:ln/>
        </p:spPr>
        <p:txBody>
          <a:bodyPr wrap="square" lIns="0" tIns="0" rIns="0" bIns="0" rtlCol="0" anchor="t"/>
          <a:lstStyle/>
          <a:p>
            <a:pPr marL="0" indent="0" algn="ctr">
              <a:lnSpc>
                <a:spcPct val="125000"/>
              </a:lnSpc>
              <a:buNone/>
            </a:pPr>
            <a:r>
              <a:rPr lang="en-US" sz="700" b="1" dirty="0">
                <a:solidFill>
                  <a:srgbClr val="2A6BE0"/>
                </a:solidFill>
                <a:latin typeface="JetBrains Mono" pitchFamily="34" charset="0"/>
                <a:ea typeface="JetBrains Mono" pitchFamily="34" charset="-122"/>
                <a:cs typeface="JetBrains Mono" pitchFamily="34" charset="-120"/>
              </a:rPr>
              <a:t>RM 30K</a:t>
            </a:r>
            <a:endParaRPr lang="en-US" sz="700" dirty="0"/>
          </a:p>
        </p:txBody>
      </p:sp>
      <p:sp>
        <p:nvSpPr>
          <p:cNvPr id="22" name="Shape 19"/>
          <p:cNvSpPr/>
          <p:nvPr/>
        </p:nvSpPr>
        <p:spPr>
          <a:xfrm>
            <a:off x="5653212" y="2350008"/>
            <a:ext cx="417221" cy="1417320"/>
          </a:xfrm>
          <a:prstGeom prst="rect">
            <a:avLst/>
          </a:prstGeom>
          <a:solidFill>
            <a:srgbClr val="2A6BE0"/>
          </a:solidFill>
          <a:ln/>
        </p:spPr>
        <p:txBody>
          <a:bodyPr/>
          <a:lstStyle/>
          <a:p>
            <a:endParaRPr lang="en-MY"/>
          </a:p>
        </p:txBody>
      </p:sp>
      <p:sp>
        <p:nvSpPr>
          <p:cNvPr id="23" name="Text 20"/>
          <p:cNvSpPr/>
          <p:nvPr/>
        </p:nvSpPr>
        <p:spPr>
          <a:xfrm>
            <a:off x="5525353" y="2148840"/>
            <a:ext cx="672937" cy="164592"/>
          </a:xfrm>
          <a:prstGeom prst="rect">
            <a:avLst/>
          </a:prstGeom>
          <a:noFill/>
          <a:ln/>
        </p:spPr>
        <p:txBody>
          <a:bodyPr wrap="square" lIns="0" tIns="0" rIns="0" bIns="0" rtlCol="0" anchor="t"/>
          <a:lstStyle/>
          <a:p>
            <a:pPr marL="0" indent="0" algn="ctr">
              <a:lnSpc>
                <a:spcPct val="125000"/>
              </a:lnSpc>
              <a:buNone/>
            </a:pPr>
            <a:r>
              <a:rPr lang="en-US" sz="700" b="1" dirty="0">
                <a:solidFill>
                  <a:srgbClr val="2A6BE0"/>
                </a:solidFill>
                <a:latin typeface="JetBrains Mono" pitchFamily="34" charset="0"/>
                <a:ea typeface="JetBrains Mono" pitchFamily="34" charset="-122"/>
                <a:cs typeface="JetBrains Mono" pitchFamily="34" charset="-120"/>
              </a:rPr>
              <a:t>RM 30K</a:t>
            </a:r>
            <a:endParaRPr lang="en-US" sz="700" dirty="0"/>
          </a:p>
        </p:txBody>
      </p:sp>
      <p:sp>
        <p:nvSpPr>
          <p:cNvPr id="24" name="Shape 21"/>
          <p:cNvSpPr/>
          <p:nvPr/>
        </p:nvSpPr>
        <p:spPr>
          <a:xfrm>
            <a:off x="6326149" y="2822448"/>
            <a:ext cx="417221" cy="944880"/>
          </a:xfrm>
          <a:prstGeom prst="rect">
            <a:avLst/>
          </a:prstGeom>
          <a:solidFill>
            <a:srgbClr val="B7C4DA"/>
          </a:solidFill>
          <a:ln/>
        </p:spPr>
        <p:txBody>
          <a:bodyPr/>
          <a:lstStyle/>
          <a:p>
            <a:endParaRPr lang="en-MY"/>
          </a:p>
        </p:txBody>
      </p:sp>
      <p:sp>
        <p:nvSpPr>
          <p:cNvPr id="25" name="Text 22"/>
          <p:cNvSpPr/>
          <p:nvPr/>
        </p:nvSpPr>
        <p:spPr>
          <a:xfrm>
            <a:off x="6198291" y="2621280"/>
            <a:ext cx="672937" cy="164592"/>
          </a:xfrm>
          <a:prstGeom prst="rect">
            <a:avLst/>
          </a:prstGeom>
          <a:noFill/>
          <a:ln/>
        </p:spPr>
        <p:txBody>
          <a:bodyPr wrap="square" lIns="0" tIns="0" rIns="0" bIns="0" rtlCol="0" anchor="t"/>
          <a:lstStyle/>
          <a:p>
            <a:pPr marL="0" indent="0" algn="ctr">
              <a:lnSpc>
                <a:spcPct val="125000"/>
              </a:lnSpc>
              <a:buNone/>
            </a:pPr>
            <a:r>
              <a:rPr lang="en-US" sz="700" dirty="0">
                <a:solidFill>
                  <a:srgbClr val="0E1B33"/>
                </a:solidFill>
                <a:latin typeface="JetBrains Mono" pitchFamily="34" charset="0"/>
                <a:ea typeface="JetBrains Mono" pitchFamily="34" charset="-122"/>
                <a:cs typeface="JetBrains Mono" pitchFamily="34" charset="-120"/>
              </a:rPr>
              <a:t>RM 20K</a:t>
            </a:r>
            <a:endParaRPr lang="en-US" sz="700" dirty="0"/>
          </a:p>
        </p:txBody>
      </p:sp>
      <p:sp>
        <p:nvSpPr>
          <p:cNvPr id="26" name="Shape 23"/>
          <p:cNvSpPr/>
          <p:nvPr/>
        </p:nvSpPr>
        <p:spPr>
          <a:xfrm>
            <a:off x="6999086" y="2350008"/>
            <a:ext cx="417221" cy="1417320"/>
          </a:xfrm>
          <a:prstGeom prst="rect">
            <a:avLst/>
          </a:prstGeom>
          <a:solidFill>
            <a:srgbClr val="2A6BE0"/>
          </a:solidFill>
          <a:ln/>
        </p:spPr>
        <p:txBody>
          <a:bodyPr/>
          <a:lstStyle/>
          <a:p>
            <a:endParaRPr lang="en-MY"/>
          </a:p>
        </p:txBody>
      </p:sp>
      <p:sp>
        <p:nvSpPr>
          <p:cNvPr id="27" name="Text 24"/>
          <p:cNvSpPr/>
          <p:nvPr/>
        </p:nvSpPr>
        <p:spPr>
          <a:xfrm>
            <a:off x="6871228" y="2148840"/>
            <a:ext cx="672937" cy="164592"/>
          </a:xfrm>
          <a:prstGeom prst="rect">
            <a:avLst/>
          </a:prstGeom>
          <a:noFill/>
          <a:ln/>
        </p:spPr>
        <p:txBody>
          <a:bodyPr wrap="square" lIns="0" tIns="0" rIns="0" bIns="0" rtlCol="0" anchor="t"/>
          <a:lstStyle/>
          <a:p>
            <a:pPr marL="0" indent="0" algn="ctr">
              <a:lnSpc>
                <a:spcPct val="125000"/>
              </a:lnSpc>
              <a:buNone/>
            </a:pPr>
            <a:r>
              <a:rPr lang="en-US" sz="700" b="1" dirty="0">
                <a:solidFill>
                  <a:srgbClr val="2A6BE0"/>
                </a:solidFill>
                <a:latin typeface="JetBrains Mono" pitchFamily="34" charset="0"/>
                <a:ea typeface="JetBrains Mono" pitchFamily="34" charset="-122"/>
                <a:cs typeface="JetBrains Mono" pitchFamily="34" charset="-120"/>
              </a:rPr>
              <a:t>RM 30K</a:t>
            </a:r>
            <a:endParaRPr lang="en-US" sz="700" dirty="0"/>
          </a:p>
        </p:txBody>
      </p:sp>
      <p:sp>
        <p:nvSpPr>
          <p:cNvPr id="28" name="Shape 25"/>
          <p:cNvSpPr/>
          <p:nvPr/>
        </p:nvSpPr>
        <p:spPr>
          <a:xfrm>
            <a:off x="7672024" y="2822448"/>
            <a:ext cx="417221" cy="944880"/>
          </a:xfrm>
          <a:prstGeom prst="rect">
            <a:avLst/>
          </a:prstGeom>
          <a:solidFill>
            <a:srgbClr val="B7C4DA"/>
          </a:solidFill>
          <a:ln/>
        </p:spPr>
        <p:txBody>
          <a:bodyPr/>
          <a:lstStyle/>
          <a:p>
            <a:endParaRPr lang="en-MY"/>
          </a:p>
        </p:txBody>
      </p:sp>
      <p:sp>
        <p:nvSpPr>
          <p:cNvPr id="29" name="Text 26"/>
          <p:cNvSpPr/>
          <p:nvPr/>
        </p:nvSpPr>
        <p:spPr>
          <a:xfrm>
            <a:off x="7544166" y="2621280"/>
            <a:ext cx="672937" cy="164592"/>
          </a:xfrm>
          <a:prstGeom prst="rect">
            <a:avLst/>
          </a:prstGeom>
          <a:noFill/>
          <a:ln/>
        </p:spPr>
        <p:txBody>
          <a:bodyPr wrap="square" lIns="0" tIns="0" rIns="0" bIns="0" rtlCol="0" anchor="t"/>
          <a:lstStyle/>
          <a:p>
            <a:pPr marL="0" indent="0" algn="ctr">
              <a:lnSpc>
                <a:spcPct val="125000"/>
              </a:lnSpc>
              <a:buNone/>
            </a:pPr>
            <a:r>
              <a:rPr lang="en-US" sz="700" dirty="0">
                <a:solidFill>
                  <a:srgbClr val="0E1B33"/>
                </a:solidFill>
                <a:latin typeface="JetBrains Mono" pitchFamily="34" charset="0"/>
                <a:ea typeface="JetBrains Mono" pitchFamily="34" charset="-122"/>
                <a:cs typeface="JetBrains Mono" pitchFamily="34" charset="-120"/>
              </a:rPr>
              <a:t>RM 20K</a:t>
            </a:r>
            <a:endParaRPr lang="en-US" sz="700" dirty="0"/>
          </a:p>
        </p:txBody>
      </p:sp>
      <p:sp>
        <p:nvSpPr>
          <p:cNvPr id="30" name="Shape 27"/>
          <p:cNvSpPr/>
          <p:nvPr/>
        </p:nvSpPr>
        <p:spPr>
          <a:xfrm>
            <a:off x="8344961" y="2822448"/>
            <a:ext cx="417221" cy="944880"/>
          </a:xfrm>
          <a:prstGeom prst="rect">
            <a:avLst/>
          </a:prstGeom>
          <a:solidFill>
            <a:srgbClr val="B7C4DA"/>
          </a:solidFill>
          <a:ln/>
        </p:spPr>
        <p:txBody>
          <a:bodyPr/>
          <a:lstStyle/>
          <a:p>
            <a:endParaRPr lang="en-MY"/>
          </a:p>
        </p:txBody>
      </p:sp>
      <p:sp>
        <p:nvSpPr>
          <p:cNvPr id="31" name="Text 28"/>
          <p:cNvSpPr/>
          <p:nvPr/>
        </p:nvSpPr>
        <p:spPr>
          <a:xfrm>
            <a:off x="8217103" y="2621280"/>
            <a:ext cx="672937" cy="164592"/>
          </a:xfrm>
          <a:prstGeom prst="rect">
            <a:avLst/>
          </a:prstGeom>
          <a:noFill/>
          <a:ln/>
        </p:spPr>
        <p:txBody>
          <a:bodyPr wrap="square" lIns="0" tIns="0" rIns="0" bIns="0" rtlCol="0" anchor="t"/>
          <a:lstStyle/>
          <a:p>
            <a:pPr marL="0" indent="0" algn="ctr">
              <a:lnSpc>
                <a:spcPct val="125000"/>
              </a:lnSpc>
              <a:buNone/>
            </a:pPr>
            <a:r>
              <a:rPr lang="en-US" sz="700" dirty="0">
                <a:solidFill>
                  <a:srgbClr val="0E1B33"/>
                </a:solidFill>
                <a:latin typeface="JetBrains Mono" pitchFamily="34" charset="0"/>
                <a:ea typeface="JetBrains Mono" pitchFamily="34" charset="-122"/>
                <a:cs typeface="JetBrains Mono" pitchFamily="34" charset="-120"/>
              </a:rPr>
              <a:t>RM 20K</a:t>
            </a:r>
            <a:endParaRPr lang="en-US" sz="700" dirty="0"/>
          </a:p>
        </p:txBody>
      </p:sp>
      <p:sp>
        <p:nvSpPr>
          <p:cNvPr id="32" name="Shape 29"/>
          <p:cNvSpPr/>
          <p:nvPr/>
        </p:nvSpPr>
        <p:spPr>
          <a:xfrm>
            <a:off x="9017899" y="2822448"/>
            <a:ext cx="417221" cy="944880"/>
          </a:xfrm>
          <a:prstGeom prst="rect">
            <a:avLst/>
          </a:prstGeom>
          <a:solidFill>
            <a:srgbClr val="B7C4DA"/>
          </a:solidFill>
          <a:ln/>
        </p:spPr>
        <p:txBody>
          <a:bodyPr/>
          <a:lstStyle/>
          <a:p>
            <a:endParaRPr lang="en-MY"/>
          </a:p>
        </p:txBody>
      </p:sp>
      <p:sp>
        <p:nvSpPr>
          <p:cNvPr id="33" name="Text 30"/>
          <p:cNvSpPr/>
          <p:nvPr/>
        </p:nvSpPr>
        <p:spPr>
          <a:xfrm>
            <a:off x="8890041" y="2621280"/>
            <a:ext cx="672937" cy="164592"/>
          </a:xfrm>
          <a:prstGeom prst="rect">
            <a:avLst/>
          </a:prstGeom>
          <a:noFill/>
          <a:ln/>
        </p:spPr>
        <p:txBody>
          <a:bodyPr wrap="square" lIns="0" tIns="0" rIns="0" bIns="0" rtlCol="0" anchor="t"/>
          <a:lstStyle/>
          <a:p>
            <a:pPr marL="0" indent="0" algn="ctr">
              <a:lnSpc>
                <a:spcPct val="125000"/>
              </a:lnSpc>
              <a:buNone/>
            </a:pPr>
            <a:r>
              <a:rPr lang="en-US" sz="700" dirty="0">
                <a:solidFill>
                  <a:srgbClr val="0E1B33"/>
                </a:solidFill>
                <a:latin typeface="JetBrains Mono" pitchFamily="34" charset="0"/>
                <a:ea typeface="JetBrains Mono" pitchFamily="34" charset="-122"/>
                <a:cs typeface="JetBrains Mono" pitchFamily="34" charset="-120"/>
              </a:rPr>
              <a:t>RM 20K</a:t>
            </a:r>
            <a:endParaRPr lang="en-US" sz="700" dirty="0"/>
          </a:p>
        </p:txBody>
      </p:sp>
      <p:sp>
        <p:nvSpPr>
          <p:cNvPr id="34" name="Shape 31"/>
          <p:cNvSpPr/>
          <p:nvPr/>
        </p:nvSpPr>
        <p:spPr>
          <a:xfrm>
            <a:off x="9690836" y="2350008"/>
            <a:ext cx="417221" cy="1417320"/>
          </a:xfrm>
          <a:prstGeom prst="rect">
            <a:avLst/>
          </a:prstGeom>
          <a:solidFill>
            <a:srgbClr val="2A6BE0"/>
          </a:solidFill>
          <a:ln/>
        </p:spPr>
        <p:txBody>
          <a:bodyPr/>
          <a:lstStyle/>
          <a:p>
            <a:endParaRPr lang="en-MY"/>
          </a:p>
        </p:txBody>
      </p:sp>
      <p:sp>
        <p:nvSpPr>
          <p:cNvPr id="35" name="Text 32"/>
          <p:cNvSpPr/>
          <p:nvPr/>
        </p:nvSpPr>
        <p:spPr>
          <a:xfrm>
            <a:off x="9562978" y="2148840"/>
            <a:ext cx="672937" cy="164592"/>
          </a:xfrm>
          <a:prstGeom prst="rect">
            <a:avLst/>
          </a:prstGeom>
          <a:noFill/>
          <a:ln/>
        </p:spPr>
        <p:txBody>
          <a:bodyPr wrap="square" lIns="0" tIns="0" rIns="0" bIns="0" rtlCol="0" anchor="t"/>
          <a:lstStyle/>
          <a:p>
            <a:pPr marL="0" indent="0" algn="ctr">
              <a:lnSpc>
                <a:spcPct val="125000"/>
              </a:lnSpc>
              <a:buNone/>
            </a:pPr>
            <a:r>
              <a:rPr lang="en-US" sz="700" b="1" dirty="0">
                <a:solidFill>
                  <a:srgbClr val="2A6BE0"/>
                </a:solidFill>
                <a:latin typeface="JetBrains Mono" pitchFamily="34" charset="0"/>
                <a:ea typeface="JetBrains Mono" pitchFamily="34" charset="-122"/>
                <a:cs typeface="JetBrains Mono" pitchFamily="34" charset="-120"/>
              </a:rPr>
              <a:t>RM 30K</a:t>
            </a:r>
            <a:endParaRPr lang="en-US" sz="700" dirty="0"/>
          </a:p>
        </p:txBody>
      </p:sp>
      <p:sp>
        <p:nvSpPr>
          <p:cNvPr id="36" name="Shape 33"/>
          <p:cNvSpPr/>
          <p:nvPr/>
        </p:nvSpPr>
        <p:spPr>
          <a:xfrm>
            <a:off x="10363774" y="2350008"/>
            <a:ext cx="417221" cy="1417320"/>
          </a:xfrm>
          <a:prstGeom prst="rect">
            <a:avLst/>
          </a:prstGeom>
          <a:solidFill>
            <a:srgbClr val="2A6BE0"/>
          </a:solidFill>
          <a:ln/>
        </p:spPr>
        <p:txBody>
          <a:bodyPr/>
          <a:lstStyle/>
          <a:p>
            <a:endParaRPr lang="en-MY"/>
          </a:p>
        </p:txBody>
      </p:sp>
      <p:sp>
        <p:nvSpPr>
          <p:cNvPr id="37" name="Text 34"/>
          <p:cNvSpPr/>
          <p:nvPr/>
        </p:nvSpPr>
        <p:spPr>
          <a:xfrm>
            <a:off x="10235916" y="2148840"/>
            <a:ext cx="672937" cy="164592"/>
          </a:xfrm>
          <a:prstGeom prst="rect">
            <a:avLst/>
          </a:prstGeom>
          <a:noFill/>
          <a:ln/>
        </p:spPr>
        <p:txBody>
          <a:bodyPr wrap="square" lIns="0" tIns="0" rIns="0" bIns="0" rtlCol="0" anchor="t"/>
          <a:lstStyle/>
          <a:p>
            <a:pPr marL="0" indent="0" algn="ctr">
              <a:lnSpc>
                <a:spcPct val="125000"/>
              </a:lnSpc>
              <a:buNone/>
            </a:pPr>
            <a:r>
              <a:rPr lang="en-US" sz="700" b="1" dirty="0">
                <a:solidFill>
                  <a:srgbClr val="2A6BE0"/>
                </a:solidFill>
                <a:latin typeface="JetBrains Mono" pitchFamily="34" charset="0"/>
                <a:ea typeface="JetBrains Mono" pitchFamily="34" charset="-122"/>
                <a:cs typeface="JetBrains Mono" pitchFamily="34" charset="-120"/>
              </a:rPr>
              <a:t>RM 30K</a:t>
            </a:r>
            <a:endParaRPr lang="en-US" sz="700" dirty="0"/>
          </a:p>
        </p:txBody>
      </p:sp>
      <p:sp>
        <p:nvSpPr>
          <p:cNvPr id="38" name="Shape 35"/>
          <p:cNvSpPr/>
          <p:nvPr/>
        </p:nvSpPr>
        <p:spPr>
          <a:xfrm>
            <a:off x="11036711" y="2822448"/>
            <a:ext cx="417221" cy="944880"/>
          </a:xfrm>
          <a:prstGeom prst="rect">
            <a:avLst/>
          </a:prstGeom>
          <a:solidFill>
            <a:srgbClr val="B7C4DA"/>
          </a:solidFill>
          <a:ln/>
        </p:spPr>
        <p:txBody>
          <a:bodyPr/>
          <a:lstStyle/>
          <a:p>
            <a:endParaRPr lang="en-MY"/>
          </a:p>
        </p:txBody>
      </p:sp>
      <p:sp>
        <p:nvSpPr>
          <p:cNvPr id="39" name="Text 36"/>
          <p:cNvSpPr/>
          <p:nvPr/>
        </p:nvSpPr>
        <p:spPr>
          <a:xfrm>
            <a:off x="10908853" y="2621280"/>
            <a:ext cx="672937" cy="164592"/>
          </a:xfrm>
          <a:prstGeom prst="rect">
            <a:avLst/>
          </a:prstGeom>
          <a:noFill/>
          <a:ln/>
        </p:spPr>
        <p:txBody>
          <a:bodyPr wrap="square" lIns="0" tIns="0" rIns="0" bIns="0" rtlCol="0" anchor="t"/>
          <a:lstStyle/>
          <a:p>
            <a:pPr marL="0" indent="0" algn="ctr">
              <a:lnSpc>
                <a:spcPct val="125000"/>
              </a:lnSpc>
              <a:buNone/>
            </a:pPr>
            <a:r>
              <a:rPr lang="en-US" sz="700" dirty="0">
                <a:solidFill>
                  <a:srgbClr val="0E1B33"/>
                </a:solidFill>
                <a:latin typeface="JetBrains Mono" pitchFamily="34" charset="0"/>
                <a:ea typeface="JetBrains Mono" pitchFamily="34" charset="-122"/>
                <a:cs typeface="JetBrains Mono" pitchFamily="34" charset="-120"/>
              </a:rPr>
              <a:t>RM 20K</a:t>
            </a:r>
            <a:endParaRPr lang="en-US" sz="700" dirty="0"/>
          </a:p>
        </p:txBody>
      </p:sp>
      <p:sp>
        <p:nvSpPr>
          <p:cNvPr id="40" name="Shape 37"/>
          <p:cNvSpPr/>
          <p:nvPr/>
        </p:nvSpPr>
        <p:spPr>
          <a:xfrm>
            <a:off x="2160666" y="2395728"/>
            <a:ext cx="0" cy="2852928"/>
          </a:xfrm>
          <a:prstGeom prst="line">
            <a:avLst/>
          </a:prstGeom>
          <a:noFill/>
          <a:ln w="12700">
            <a:solidFill>
              <a:srgbClr val="0E1B33"/>
            </a:solidFill>
            <a:prstDash val="dash"/>
          </a:ln>
        </p:spPr>
        <p:txBody>
          <a:bodyPr/>
          <a:lstStyle/>
          <a:p>
            <a:endParaRPr lang="en-MY"/>
          </a:p>
        </p:txBody>
      </p:sp>
      <p:sp>
        <p:nvSpPr>
          <p:cNvPr id="41" name="Text 38"/>
          <p:cNvSpPr/>
          <p:nvPr/>
        </p:nvSpPr>
        <p:spPr>
          <a:xfrm>
            <a:off x="2233818" y="2395728"/>
            <a:ext cx="1463040" cy="164592"/>
          </a:xfrm>
          <a:prstGeom prst="rect">
            <a:avLst/>
          </a:prstGeom>
          <a:noFill/>
          <a:ln/>
        </p:spPr>
        <p:txBody>
          <a:bodyPr wrap="square" lIns="0" tIns="0" rIns="0" bIns="0" rtlCol="0" anchor="t"/>
          <a:lstStyle/>
          <a:p>
            <a:pPr marL="0" indent="0">
              <a:lnSpc>
                <a:spcPct val="125000"/>
              </a:lnSpc>
              <a:buNone/>
            </a:pPr>
            <a:r>
              <a:rPr lang="en-US" sz="700" b="1" kern="0" spc="40" dirty="0">
                <a:solidFill>
                  <a:srgbClr val="0E1B33"/>
                </a:solidFill>
                <a:latin typeface="JetBrains Mono" pitchFamily="34" charset="0"/>
                <a:ea typeface="JetBrains Mono" pitchFamily="34" charset="-122"/>
                <a:cs typeface="JetBrains Mono" pitchFamily="34" charset="-120"/>
              </a:rPr>
              <a:t>THIS PLAN STARTS</a:t>
            </a:r>
            <a:endParaRPr lang="en-US" sz="700" dirty="0"/>
          </a:p>
        </p:txBody>
      </p:sp>
      <p:sp>
        <p:nvSpPr>
          <p:cNvPr id="42" name="Shape 39"/>
          <p:cNvSpPr/>
          <p:nvPr/>
        </p:nvSpPr>
        <p:spPr>
          <a:xfrm>
            <a:off x="609905" y="3767328"/>
            <a:ext cx="10971886" cy="10973"/>
          </a:xfrm>
          <a:prstGeom prst="rect">
            <a:avLst/>
          </a:prstGeom>
          <a:solidFill>
            <a:srgbClr val="0E1B33"/>
          </a:solidFill>
          <a:ln/>
        </p:spPr>
        <p:txBody>
          <a:bodyPr/>
          <a:lstStyle/>
          <a:p>
            <a:endParaRPr lang="en-MY"/>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09905" y="3803904"/>
          <a:ext cx="10971879" cy="1444752"/>
        </p:xfrm>
        <a:graphic>
          <a:graphicData uri="http://schemas.openxmlformats.org/drawingml/2006/table">
            <a:tbl>
              <a:tblPr/>
              <a:tblGrid>
                <a:gridCol w="877824">
                  <a:extLst>
                    <a:ext uri="{9D8B030D-6E8A-4147-A177-3AD203B41FA5}">
                      <a16:colId xmlns:a16="http://schemas.microsoft.com/office/drawing/2014/main" val="20000"/>
                    </a:ext>
                  </a:extLst>
                </a:gridCol>
                <a:gridCol w="672937">
                  <a:extLst>
                    <a:ext uri="{9D8B030D-6E8A-4147-A177-3AD203B41FA5}">
                      <a16:colId xmlns:a16="http://schemas.microsoft.com/office/drawing/2014/main" val="20001"/>
                    </a:ext>
                  </a:extLst>
                </a:gridCol>
                <a:gridCol w="672937">
                  <a:extLst>
                    <a:ext uri="{9D8B030D-6E8A-4147-A177-3AD203B41FA5}">
                      <a16:colId xmlns:a16="http://schemas.microsoft.com/office/drawing/2014/main" val="20002"/>
                    </a:ext>
                  </a:extLst>
                </a:gridCol>
                <a:gridCol w="672937">
                  <a:extLst>
                    <a:ext uri="{9D8B030D-6E8A-4147-A177-3AD203B41FA5}">
                      <a16:colId xmlns:a16="http://schemas.microsoft.com/office/drawing/2014/main" val="20003"/>
                    </a:ext>
                  </a:extLst>
                </a:gridCol>
                <a:gridCol w="672937">
                  <a:extLst>
                    <a:ext uri="{9D8B030D-6E8A-4147-A177-3AD203B41FA5}">
                      <a16:colId xmlns:a16="http://schemas.microsoft.com/office/drawing/2014/main" val="20004"/>
                    </a:ext>
                  </a:extLst>
                </a:gridCol>
                <a:gridCol w="672937">
                  <a:extLst>
                    <a:ext uri="{9D8B030D-6E8A-4147-A177-3AD203B41FA5}">
                      <a16:colId xmlns:a16="http://schemas.microsoft.com/office/drawing/2014/main" val="20005"/>
                    </a:ext>
                  </a:extLst>
                </a:gridCol>
                <a:gridCol w="672937">
                  <a:extLst>
                    <a:ext uri="{9D8B030D-6E8A-4147-A177-3AD203B41FA5}">
                      <a16:colId xmlns:a16="http://schemas.microsoft.com/office/drawing/2014/main" val="20006"/>
                    </a:ext>
                  </a:extLst>
                </a:gridCol>
                <a:gridCol w="672937">
                  <a:extLst>
                    <a:ext uri="{9D8B030D-6E8A-4147-A177-3AD203B41FA5}">
                      <a16:colId xmlns:a16="http://schemas.microsoft.com/office/drawing/2014/main" val="20007"/>
                    </a:ext>
                  </a:extLst>
                </a:gridCol>
                <a:gridCol w="672937">
                  <a:extLst>
                    <a:ext uri="{9D8B030D-6E8A-4147-A177-3AD203B41FA5}">
                      <a16:colId xmlns:a16="http://schemas.microsoft.com/office/drawing/2014/main" val="20008"/>
                    </a:ext>
                  </a:extLst>
                </a:gridCol>
                <a:gridCol w="672937">
                  <a:extLst>
                    <a:ext uri="{9D8B030D-6E8A-4147-A177-3AD203B41FA5}">
                      <a16:colId xmlns:a16="http://schemas.microsoft.com/office/drawing/2014/main" val="20009"/>
                    </a:ext>
                  </a:extLst>
                </a:gridCol>
                <a:gridCol w="672937">
                  <a:extLst>
                    <a:ext uri="{9D8B030D-6E8A-4147-A177-3AD203B41FA5}">
                      <a16:colId xmlns:a16="http://schemas.microsoft.com/office/drawing/2014/main" val="20010"/>
                    </a:ext>
                  </a:extLst>
                </a:gridCol>
                <a:gridCol w="672937">
                  <a:extLst>
                    <a:ext uri="{9D8B030D-6E8A-4147-A177-3AD203B41FA5}">
                      <a16:colId xmlns:a16="http://schemas.microsoft.com/office/drawing/2014/main" val="20011"/>
                    </a:ext>
                  </a:extLst>
                </a:gridCol>
                <a:gridCol w="672937">
                  <a:extLst>
                    <a:ext uri="{9D8B030D-6E8A-4147-A177-3AD203B41FA5}">
                      <a16:colId xmlns:a16="http://schemas.microsoft.com/office/drawing/2014/main" val="20012"/>
                    </a:ext>
                  </a:extLst>
                </a:gridCol>
                <a:gridCol w="672937">
                  <a:extLst>
                    <a:ext uri="{9D8B030D-6E8A-4147-A177-3AD203B41FA5}">
                      <a16:colId xmlns:a16="http://schemas.microsoft.com/office/drawing/2014/main" val="20013"/>
                    </a:ext>
                  </a:extLst>
                </a:gridCol>
                <a:gridCol w="672937">
                  <a:extLst>
                    <a:ext uri="{9D8B030D-6E8A-4147-A177-3AD203B41FA5}">
                      <a16:colId xmlns:a16="http://schemas.microsoft.com/office/drawing/2014/main" val="20014"/>
                    </a:ext>
                  </a:extLst>
                </a:gridCol>
                <a:gridCol w="672937">
                  <a:extLst>
                    <a:ext uri="{9D8B030D-6E8A-4147-A177-3AD203B41FA5}">
                      <a16:colId xmlns:a16="http://schemas.microsoft.com/office/drawing/2014/main" val="20015"/>
                    </a:ext>
                  </a:extLst>
                </a:gridCol>
              </a:tblGrid>
              <a:tr h="384048">
                <a:tc>
                  <a:txBody>
                    <a:bodyPr/>
                    <a:lstStyle/>
                    <a:p>
                      <a:pPr marL="0" indent="0" algn="l">
                        <a:buNone/>
                      </a:pP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Oct</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2026</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Nov</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2026</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Dec</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2026</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Jan</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2027</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Feb</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2027</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Mar</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2027</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Apr</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2027</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May</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2027</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Jun</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2027</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Jul</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2027</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Aug</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2027</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Sep</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2027</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Oct</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2027</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Nov</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2027</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750" dirty="0">
                          <a:solidFill>
                            <a:srgbClr val="0E1B33"/>
                          </a:solidFill>
                          <a:latin typeface="JetBrains Mono" pitchFamily="34" charset="0"/>
                          <a:ea typeface="JetBrains Mono" pitchFamily="34" charset="-122"/>
                          <a:cs typeface="JetBrains Mono" pitchFamily="34" charset="-120"/>
                        </a:rPr>
                        <a:t>Dec</a:t>
                      </a:r>
                      <a:endParaRPr lang="en-US" sz="750" dirty="0">
                        <a:latin typeface="JetBrains Mono" charset="0"/>
                        <a:ea typeface="JetBrains Mono" charset="0"/>
                        <a:cs typeface="JetBrains Mono" charset="0"/>
                      </a:endParaRPr>
                    </a:p>
                    <a:p>
                      <a:pPr marL="0" indent="0" algn="ctr">
                        <a:buNone/>
                      </a:pPr>
                      <a:r>
                        <a:rPr lang="en-US" sz="750" dirty="0">
                          <a:solidFill>
                            <a:srgbClr val="0E1B33"/>
                          </a:solidFill>
                          <a:latin typeface="JetBrains Mono" pitchFamily="34" charset="0"/>
                          <a:ea typeface="JetBrains Mono" pitchFamily="34" charset="-122"/>
                          <a:cs typeface="JetBrains Mono" pitchFamily="34" charset="-120"/>
                        </a:rPr>
                        <a:t>2027</a:t>
                      </a:r>
                      <a:endParaRPr lang="en-US" sz="75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0" cap="flat" cmpd="sng" algn="ctr">
                      <a:noFill/>
                    </a:lnT>
                    <a:lnB w="6350" cap="flat" cmpd="sng" algn="ctr">
                      <a:solidFill>
                        <a:srgbClr val="D5E2F0"/>
                      </a:solidFill>
                      <a:prstDash val="solid"/>
                      <a:round/>
                      <a:headEnd type="none" w="med" len="med"/>
                      <a:tailEnd type="none" w="med" len="med"/>
                    </a:lnB>
                    <a:solidFill>
                      <a:srgbClr val="F4F8FD"/>
                    </a:solidFill>
                  </a:tcPr>
                </a:tc>
                <a:extLst>
                  <a:ext uri="{0D108BD9-81ED-4DB2-BD59-A6C34878D82A}">
                    <a16:rowId xmlns:a16="http://schemas.microsoft.com/office/drawing/2014/main" val="10000"/>
                  </a:ext>
                </a:extLst>
              </a:tr>
              <a:tr h="329184">
                <a:tc>
                  <a:txBody>
                    <a:bodyPr/>
                    <a:lstStyle/>
                    <a:p>
                      <a:pPr marL="0" indent="0" algn="l">
                        <a:buNone/>
                      </a:pPr>
                      <a:r>
                        <a:rPr lang="en-US" sz="700" dirty="0">
                          <a:solidFill>
                            <a:srgbClr val="8794AC"/>
                          </a:solidFill>
                          <a:latin typeface="JetBrains Mono" pitchFamily="34" charset="0"/>
                          <a:ea typeface="JetBrains Mono" pitchFamily="34" charset="-122"/>
                          <a:cs typeface="JetBrains Mono" pitchFamily="34" charset="-120"/>
                        </a:rPr>
                        <a:t>Leads</a:t>
                      </a:r>
                      <a:endParaRPr lang="en-US" sz="70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800" i="1" dirty="0">
                          <a:solidFill>
                            <a:srgbClr val="8794AC"/>
                          </a:solidFill>
                          <a:latin typeface="Instrument Sans" pitchFamily="34" charset="0"/>
                          <a:ea typeface="Instrument Sans" pitchFamily="34" charset="-122"/>
                          <a:cs typeface="Instrument Sans" pitchFamily="34" charset="-120"/>
                        </a:rPr>
                        <a:t>Learn</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388</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388</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388</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388</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b="1" dirty="0">
                          <a:solidFill>
                            <a:srgbClr val="2A6BE0"/>
                          </a:solidFill>
                          <a:latin typeface="Instrument Sans" pitchFamily="34" charset="0"/>
                          <a:ea typeface="Instrument Sans" pitchFamily="34" charset="-122"/>
                          <a:cs typeface="Instrument Sans" pitchFamily="34" charset="-120"/>
                        </a:rPr>
                        <a:t>584</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1050" b="1" dirty="0">
                          <a:solidFill>
                            <a:srgbClr val="2A6BE0"/>
                          </a:solidFill>
                          <a:latin typeface="Instrument Sans" pitchFamily="34" charset="0"/>
                          <a:ea typeface="Instrument Sans" pitchFamily="34" charset="-122"/>
                          <a:cs typeface="Instrument Sans" pitchFamily="34" charset="-120"/>
                        </a:rPr>
                        <a:t>584</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388</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b="1" dirty="0">
                          <a:solidFill>
                            <a:srgbClr val="2A6BE0"/>
                          </a:solidFill>
                          <a:latin typeface="Instrument Sans" pitchFamily="34" charset="0"/>
                          <a:ea typeface="Instrument Sans" pitchFamily="34" charset="-122"/>
                          <a:cs typeface="Instrument Sans" pitchFamily="34" charset="-120"/>
                        </a:rPr>
                        <a:t>584</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388</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388</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388</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b="1" dirty="0">
                          <a:solidFill>
                            <a:srgbClr val="2A6BE0"/>
                          </a:solidFill>
                          <a:latin typeface="Instrument Sans" pitchFamily="34" charset="0"/>
                          <a:ea typeface="Instrument Sans" pitchFamily="34" charset="-122"/>
                          <a:cs typeface="Instrument Sans" pitchFamily="34" charset="-120"/>
                        </a:rPr>
                        <a:t>584</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1050" b="1" dirty="0">
                          <a:solidFill>
                            <a:srgbClr val="2A6BE0"/>
                          </a:solidFill>
                          <a:latin typeface="Instrument Sans" pitchFamily="34" charset="0"/>
                          <a:ea typeface="Instrument Sans" pitchFamily="34" charset="-122"/>
                          <a:cs typeface="Instrument Sans" pitchFamily="34" charset="-120"/>
                        </a:rPr>
                        <a:t>584</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388</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extLst>
                  <a:ext uri="{0D108BD9-81ED-4DB2-BD59-A6C34878D82A}">
                    <a16:rowId xmlns:a16="http://schemas.microsoft.com/office/drawing/2014/main" val="10001"/>
                  </a:ext>
                </a:extLst>
              </a:tr>
              <a:tr h="329184">
                <a:tc>
                  <a:txBody>
                    <a:bodyPr/>
                    <a:lstStyle/>
                    <a:p>
                      <a:pPr marL="0" indent="0" algn="l">
                        <a:buNone/>
                      </a:pPr>
                      <a:r>
                        <a:rPr lang="en-US" sz="700" dirty="0">
                          <a:solidFill>
                            <a:srgbClr val="8794AC"/>
                          </a:solidFill>
                          <a:latin typeface="JetBrains Mono" pitchFamily="34" charset="0"/>
                          <a:ea typeface="JetBrains Mono" pitchFamily="34" charset="-122"/>
                          <a:cs typeface="JetBrains Mono" pitchFamily="34" charset="-120"/>
                        </a:rPr>
                        <a:t>Qualified</a:t>
                      </a:r>
                      <a:endParaRPr lang="en-US" sz="70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800" i="1" dirty="0">
                          <a:solidFill>
                            <a:srgbClr val="8794AC"/>
                          </a:solidFill>
                          <a:latin typeface="Instrument Sans" pitchFamily="34" charset="0"/>
                          <a:ea typeface="Instrument Sans" pitchFamily="34" charset="-122"/>
                          <a:cs typeface="Instrument Sans" pitchFamily="34" charset="-120"/>
                        </a:rPr>
                        <a:t>Learn</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102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102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102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102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b="1" dirty="0">
                          <a:solidFill>
                            <a:srgbClr val="2A6BE0"/>
                          </a:solidFill>
                          <a:latin typeface="Instrument Sans" pitchFamily="34" charset="0"/>
                          <a:ea typeface="Instrument Sans" pitchFamily="34" charset="-122"/>
                          <a:cs typeface="Instrument Sans" pitchFamily="34" charset="-120"/>
                        </a:rPr>
                        <a:t>152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1050" b="1" dirty="0">
                          <a:solidFill>
                            <a:srgbClr val="2A6BE0"/>
                          </a:solidFill>
                          <a:latin typeface="Instrument Sans" pitchFamily="34" charset="0"/>
                          <a:ea typeface="Instrument Sans" pitchFamily="34" charset="-122"/>
                          <a:cs typeface="Instrument Sans" pitchFamily="34" charset="-120"/>
                        </a:rPr>
                        <a:t>152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102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b="1" dirty="0">
                          <a:solidFill>
                            <a:srgbClr val="2A6BE0"/>
                          </a:solidFill>
                          <a:latin typeface="Instrument Sans" pitchFamily="34" charset="0"/>
                          <a:ea typeface="Instrument Sans" pitchFamily="34" charset="-122"/>
                          <a:cs typeface="Instrument Sans" pitchFamily="34" charset="-120"/>
                        </a:rPr>
                        <a:t>152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102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102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102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1050" b="1" dirty="0">
                          <a:solidFill>
                            <a:srgbClr val="2A6BE0"/>
                          </a:solidFill>
                          <a:latin typeface="Instrument Sans" pitchFamily="34" charset="0"/>
                          <a:ea typeface="Instrument Sans" pitchFamily="34" charset="-122"/>
                          <a:cs typeface="Instrument Sans" pitchFamily="34" charset="-120"/>
                        </a:rPr>
                        <a:t>152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1050" b="1" dirty="0">
                          <a:solidFill>
                            <a:srgbClr val="2A6BE0"/>
                          </a:solidFill>
                          <a:latin typeface="Instrument Sans" pitchFamily="34" charset="0"/>
                          <a:ea typeface="Instrument Sans" pitchFamily="34" charset="-122"/>
                          <a:cs typeface="Instrument Sans" pitchFamily="34" charset="-120"/>
                        </a:rPr>
                        <a:t>152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1050" dirty="0">
                          <a:solidFill>
                            <a:srgbClr val="0E1B33"/>
                          </a:solidFill>
                          <a:latin typeface="Instrument Sans" pitchFamily="34" charset="0"/>
                          <a:ea typeface="Instrument Sans" pitchFamily="34" charset="-122"/>
                          <a:cs typeface="Instrument Sans" pitchFamily="34" charset="-120"/>
                        </a:rPr>
                        <a:t>102</a:t>
                      </a:r>
                      <a:endParaRPr lang="en-US" sz="105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extLst>
                  <a:ext uri="{0D108BD9-81ED-4DB2-BD59-A6C34878D82A}">
                    <a16:rowId xmlns:a16="http://schemas.microsoft.com/office/drawing/2014/main" val="10002"/>
                  </a:ext>
                </a:extLst>
              </a:tr>
              <a:tr h="402336">
                <a:tc>
                  <a:txBody>
                    <a:bodyPr/>
                    <a:lstStyle/>
                    <a:p>
                      <a:pPr marL="0" indent="0" algn="l">
                        <a:buNone/>
                      </a:pPr>
                      <a:r>
                        <a:rPr lang="en-US" sz="700" dirty="0">
                          <a:solidFill>
                            <a:srgbClr val="8794AC"/>
                          </a:solidFill>
                          <a:latin typeface="JetBrains Mono" pitchFamily="34" charset="0"/>
                          <a:ea typeface="JetBrains Mono" pitchFamily="34" charset="-122"/>
                          <a:cs typeface="JetBrains Mono" pitchFamily="34" charset="-120"/>
                        </a:rPr>
                        <a:t>Intake we push</a:t>
                      </a:r>
                      <a:endParaRPr lang="en-US" sz="700" dirty="0">
                        <a:latin typeface="JetBrains Mono" charset="0"/>
                        <a:ea typeface="JetBrains Mono" charset="0"/>
                        <a:cs typeface="JetBrains Mono"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800" dirty="0">
                          <a:solidFill>
                            <a:srgbClr val="8794AC"/>
                          </a:solidFill>
                          <a:latin typeface="Instrument Sans" pitchFamily="34" charset="0"/>
                          <a:ea typeface="Instrument Sans" pitchFamily="34" charset="-122"/>
                          <a:cs typeface="Instrument Sans" pitchFamily="34" charset="-120"/>
                        </a:rPr>
                        <a:t>Nov and Jan</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Nov and Jan</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Jan</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Feb and Mar</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Mar and Apr</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Apr and Jul</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Jul</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Jul</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Jul</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Sep</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Sep</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Nov</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Nov and Jan</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Jan 2028</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3EDFC"/>
                    </a:solidFill>
                  </a:tcPr>
                </a:tc>
                <a:tc>
                  <a:txBody>
                    <a:bodyPr/>
                    <a:lstStyle/>
                    <a:p>
                      <a:pPr marL="0" indent="0" algn="ctr">
                        <a:buNone/>
                      </a:pPr>
                      <a:r>
                        <a:rPr lang="en-US" sz="800" dirty="0">
                          <a:solidFill>
                            <a:srgbClr val="4A5A75"/>
                          </a:solidFill>
                          <a:latin typeface="Instrument Sans" pitchFamily="34" charset="0"/>
                          <a:ea typeface="Instrument Sans" pitchFamily="34" charset="-122"/>
                          <a:cs typeface="Instrument Sans" pitchFamily="34" charset="-120"/>
                        </a:rPr>
                        <a:t>Jan 2028</a:t>
                      </a:r>
                      <a:endParaRPr lang="en-US" sz="800" dirty="0">
                        <a:latin typeface="Instrument Sans" charset="0"/>
                        <a:ea typeface="Instrument Sans" charset="0"/>
                        <a:cs typeface="Instrument Sans" charset="0"/>
                      </a:endParaRPr>
                    </a:p>
                  </a:txBody>
                  <a:tcPr marL="27432" marR="27432"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4F8FD"/>
                    </a:solidFill>
                  </a:tcPr>
                </a:tc>
                <a:extLst>
                  <a:ext uri="{0D108BD9-81ED-4DB2-BD59-A6C34878D82A}">
                    <a16:rowId xmlns:a16="http://schemas.microsoft.com/office/drawing/2014/main" val="10003"/>
                  </a:ext>
                </a:extLst>
              </a:tr>
            </a:tbl>
          </a:graphicData>
        </a:graphic>
      </p:graphicFrame>
      <p:sp>
        <p:nvSpPr>
          <p:cNvPr id="44" name="Shape 40"/>
          <p:cNvSpPr/>
          <p:nvPr/>
        </p:nvSpPr>
        <p:spPr>
          <a:xfrm>
            <a:off x="609905" y="5669280"/>
            <a:ext cx="10971886" cy="603504"/>
          </a:xfrm>
          <a:prstGeom prst="roundRect">
            <a:avLst>
              <a:gd name="adj" fmla="val 19697"/>
            </a:avLst>
          </a:prstGeom>
          <a:solidFill>
            <a:srgbClr val="0E1B33"/>
          </a:solidFill>
          <a:ln/>
        </p:spPr>
        <p:txBody>
          <a:bodyPr/>
          <a:lstStyle/>
          <a:p>
            <a:endParaRPr lang="en-MY"/>
          </a:p>
        </p:txBody>
      </p:sp>
      <p:sp>
        <p:nvSpPr>
          <p:cNvPr id="45" name="Text 41"/>
          <p:cNvSpPr/>
          <p:nvPr/>
        </p:nvSpPr>
        <p:spPr>
          <a:xfrm>
            <a:off x="884225" y="5669280"/>
            <a:ext cx="10423246" cy="603504"/>
          </a:xfrm>
          <a:prstGeom prst="rect">
            <a:avLst/>
          </a:prstGeom>
          <a:noFill/>
          <a:ln/>
        </p:spPr>
        <p:txBody>
          <a:bodyPr wrap="square" lIns="0" tIns="0" rIns="0" bIns="0" rtlCol="0" anchor="ctr"/>
          <a:lstStyle/>
          <a:p>
            <a:pPr marL="0" indent="0">
              <a:lnSpc>
                <a:spcPct val="100000"/>
              </a:lnSpc>
              <a:buNone/>
            </a:pPr>
            <a:r>
              <a:rPr lang="en-US" sz="1800" dirty="0">
                <a:solidFill>
                  <a:srgbClr val="FFFFFF"/>
                </a:solidFill>
                <a:latin typeface="Instrument Serif" pitchFamily="34" charset="0"/>
                <a:ea typeface="Instrument Serif" pitchFamily="34" charset="-122"/>
                <a:cs typeface="Instrument Serif" pitchFamily="34" charset="-120"/>
              </a:rPr>
              <a:t>From RM 330,000 of media over 14 months, we forecast </a:t>
            </a:r>
            <a:r>
              <a:rPr lang="en-US" sz="1800" i="1" dirty="0">
                <a:solidFill>
                  <a:srgbClr val="8CE0EC"/>
                </a:solidFill>
                <a:latin typeface="Instrument Serif" pitchFamily="34" charset="0"/>
                <a:ea typeface="Instrument Serif" pitchFamily="34" charset="-122"/>
                <a:cs typeface="Instrument Serif" pitchFamily="34" charset="-120"/>
              </a:rPr>
              <a:t>6,412 leads and 1,678 qualified leads.</a:t>
            </a:r>
            <a:endParaRPr lang="en-US" sz="1800" dirty="0"/>
          </a:p>
        </p:txBody>
      </p:sp>
      <p:sp>
        <p:nvSpPr>
          <p:cNvPr id="46" name="Text 42"/>
          <p:cNvSpPr/>
          <p:nvPr/>
        </p:nvSpPr>
        <p:spPr>
          <a:xfrm>
            <a:off x="609905" y="5285232"/>
            <a:ext cx="10971886" cy="201168"/>
          </a:xfrm>
          <a:prstGeom prst="rect">
            <a:avLst/>
          </a:prstGeom>
          <a:noFill/>
          <a:ln/>
        </p:spPr>
        <p:txBody>
          <a:bodyPr wrap="square" lIns="0" tIns="0" rIns="0" bIns="0" rtlCol="0" anchor="t"/>
          <a:lstStyle/>
          <a:p>
            <a:pPr marL="0" indent="0">
              <a:lnSpc>
                <a:spcPct val="125000"/>
              </a:lnSpc>
              <a:buNone/>
            </a:pPr>
            <a:r>
              <a:rPr lang="en-US" sz="850" dirty="0">
                <a:solidFill>
                  <a:srgbClr val="8794AC"/>
                </a:solidFill>
                <a:latin typeface="Instrument Sans" pitchFamily="34" charset="0"/>
                <a:ea typeface="Instrument Sans" pitchFamily="34" charset="-122"/>
                <a:cs typeface="Instrument Sans" pitchFamily="34" charset="-120"/>
              </a:rPr>
              <a:t>October runs under your current campaign while Meta and Google learn. It is not in the totals.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609905" y="548640"/>
            <a:ext cx="59436" cy="59436"/>
          </a:xfrm>
          <a:prstGeom prst="ellipse">
            <a:avLst/>
          </a:prstGeom>
          <a:solidFill>
            <a:srgbClr val="2A6BE0"/>
          </a:solidFill>
          <a:ln/>
        </p:spPr>
        <p:txBody>
          <a:bodyPr/>
          <a:lstStyle/>
          <a:p>
            <a:endParaRPr lang="en-MY"/>
          </a:p>
        </p:txBody>
      </p:sp>
      <p:sp>
        <p:nvSpPr>
          <p:cNvPr id="3" name="Text 1"/>
          <p:cNvSpPr/>
          <p:nvPr/>
        </p:nvSpPr>
        <p:spPr>
          <a:xfrm>
            <a:off x="756209" y="484632"/>
            <a:ext cx="7315200" cy="182880"/>
          </a:xfrm>
          <a:prstGeom prst="rect">
            <a:avLst/>
          </a:prstGeom>
          <a:noFill/>
          <a:ln/>
        </p:spPr>
        <p:txBody>
          <a:bodyPr wrap="square" lIns="0" tIns="0" rIns="0" bIns="0" rtlCol="0" anchor="t"/>
          <a:lstStyle/>
          <a:p>
            <a:pPr marL="0" indent="0">
              <a:lnSpc>
                <a:spcPct val="125000"/>
              </a:lnSpc>
              <a:buNone/>
            </a:pPr>
            <a:r>
              <a:rPr lang="en-US" sz="825" kern="0" spc="60" dirty="0">
                <a:solidFill>
                  <a:srgbClr val="2A6BE0"/>
                </a:solidFill>
                <a:latin typeface="JetBrains Mono" pitchFamily="34" charset="0"/>
                <a:ea typeface="JetBrains Mono" pitchFamily="34" charset="-122"/>
                <a:cs typeface="JetBrains Mono" pitchFamily="34" charset="-120"/>
              </a:rPr>
              <a:t>CREATIVE SUPPORT</a:t>
            </a:r>
            <a:endParaRPr lang="en-US" sz="825" dirty="0"/>
          </a:p>
        </p:txBody>
      </p:sp>
      <p:sp>
        <p:nvSpPr>
          <p:cNvPr id="4" name="Text 2"/>
          <p:cNvSpPr/>
          <p:nvPr/>
        </p:nvSpPr>
        <p:spPr>
          <a:xfrm>
            <a:off x="609905" y="713232"/>
            <a:ext cx="10971886" cy="658368"/>
          </a:xfrm>
          <a:prstGeom prst="rect">
            <a:avLst/>
          </a:prstGeom>
          <a:noFill/>
          <a:ln/>
        </p:spPr>
        <p:txBody>
          <a:bodyPr wrap="square" lIns="0" tIns="0" rIns="0" bIns="0" rtlCol="0" anchor="ctr"/>
          <a:lstStyle/>
          <a:p>
            <a:pPr marL="0" indent="0">
              <a:lnSpc>
                <a:spcPct val="100000"/>
              </a:lnSpc>
              <a:buNone/>
            </a:pPr>
            <a:r>
              <a:rPr lang="en-US" sz="3800" dirty="0">
                <a:solidFill>
                  <a:srgbClr val="0E1B33"/>
                </a:solidFill>
                <a:latin typeface="Instrument Serif" pitchFamily="34" charset="0"/>
                <a:ea typeface="Instrument Serif" pitchFamily="34" charset="-122"/>
                <a:cs typeface="Instrument Serif" pitchFamily="34" charset="-120"/>
              </a:rPr>
              <a:t>The creative </a:t>
            </a:r>
            <a:r>
              <a:rPr lang="en-US" sz="3800" i="1" dirty="0">
                <a:solidFill>
                  <a:srgbClr val="2A6BE0"/>
                </a:solidFill>
                <a:latin typeface="Instrument Serif" pitchFamily="34" charset="0"/>
                <a:ea typeface="Instrument Serif" pitchFamily="34" charset="-122"/>
                <a:cs typeface="Instrument Serif" pitchFamily="34" charset="-120"/>
              </a:rPr>
              <a:t>we need each month</a:t>
            </a:r>
            <a:endParaRPr lang="en-US" sz="3800" dirty="0"/>
          </a:p>
        </p:txBody>
      </p:sp>
      <p:sp>
        <p:nvSpPr>
          <p:cNvPr id="5" name="Text 3"/>
          <p:cNvSpPr/>
          <p:nvPr/>
        </p:nvSpPr>
        <p:spPr>
          <a:xfrm>
            <a:off x="609905" y="1463040"/>
            <a:ext cx="10971886" cy="566928"/>
          </a:xfrm>
          <a:prstGeom prst="rect">
            <a:avLst/>
          </a:prstGeom>
          <a:noFill/>
          <a:ln/>
        </p:spPr>
        <p:txBody>
          <a:bodyPr wrap="square" lIns="0" tIns="0" rIns="0" bIns="0" rtlCol="0" anchor="t"/>
          <a:lstStyle/>
          <a:p>
            <a:pPr marL="0" indent="0">
              <a:lnSpc>
                <a:spcPct val="140000"/>
              </a:lnSpc>
              <a:buNone/>
            </a:pPr>
            <a:r>
              <a:rPr lang="en-US" sz="1250" dirty="0">
                <a:solidFill>
                  <a:srgbClr val="4A5A75"/>
                </a:solidFill>
                <a:latin typeface="Instrument Sans" pitchFamily="34" charset="0"/>
                <a:ea typeface="Instrument Sans" pitchFamily="34" charset="-122"/>
                <a:cs typeface="Instrument Sans" pitchFamily="34" charset="-120"/>
              </a:rPr>
              <a:t>New videos keep the cost per lead down. Your weakest TikTok hooks cost 59% more per lead than your strongest.</a:t>
            </a:r>
            <a:endParaRPr lang="en-US" sz="1250" dirty="0"/>
          </a:p>
        </p:txBody>
      </p:sp>
      <p:sp>
        <p:nvSpPr>
          <p:cNvPr id="6" name="Text 4"/>
          <p:cNvSpPr/>
          <p:nvPr/>
        </p:nvSpPr>
        <p:spPr>
          <a:xfrm>
            <a:off x="11033150" y="6455664"/>
            <a:ext cx="548640" cy="182880"/>
          </a:xfrm>
          <a:prstGeom prst="rect">
            <a:avLst/>
          </a:prstGeom>
          <a:noFill/>
          <a:ln/>
        </p:spPr>
        <p:txBody>
          <a:bodyPr wrap="square" lIns="0" tIns="0" rIns="0" bIns="0" rtlCol="0" anchor="t"/>
          <a:lstStyle/>
          <a:p>
            <a:pPr marL="0" indent="0" algn="r">
              <a:lnSpc>
                <a:spcPct val="125000"/>
              </a:lnSpc>
              <a:buNone/>
            </a:pPr>
            <a:r>
              <a:rPr lang="en-US" sz="750" dirty="0">
                <a:solidFill>
                  <a:srgbClr val="8794AC"/>
                </a:solidFill>
                <a:latin typeface="JetBrains Mono" pitchFamily="34" charset="0"/>
                <a:ea typeface="JetBrains Mono" pitchFamily="34" charset="-122"/>
                <a:cs typeface="JetBrains Mono" pitchFamily="34" charset="-120"/>
              </a:rPr>
              <a:t>06</a:t>
            </a:r>
            <a:endParaRPr lang="en-US" sz="750" dirty="0"/>
          </a:p>
        </p:txBody>
      </p:sp>
      <p:sp>
        <p:nvSpPr>
          <p:cNvPr id="8" name="Shape 5"/>
          <p:cNvSpPr/>
          <p:nvPr/>
        </p:nvSpPr>
        <p:spPr>
          <a:xfrm>
            <a:off x="609905" y="2212848"/>
            <a:ext cx="4572000" cy="2194560"/>
          </a:xfrm>
          <a:prstGeom prst="roundRect">
            <a:avLst>
              <a:gd name="adj" fmla="val 5417"/>
            </a:avLst>
          </a:prstGeom>
          <a:solidFill>
            <a:srgbClr val="FFFFFF"/>
          </a:solidFill>
          <a:ln w="9525">
            <a:solidFill>
              <a:srgbClr val="D5E2F0"/>
            </a:solidFill>
            <a:prstDash val="solid"/>
          </a:ln>
        </p:spPr>
        <p:txBody>
          <a:bodyPr/>
          <a:lstStyle/>
          <a:p>
            <a:endParaRPr lang="en-MY"/>
          </a:p>
        </p:txBody>
      </p:sp>
      <p:sp>
        <p:nvSpPr>
          <p:cNvPr id="9" name="Text 6"/>
          <p:cNvSpPr/>
          <p:nvPr/>
        </p:nvSpPr>
        <p:spPr>
          <a:xfrm>
            <a:off x="838505" y="2414016"/>
            <a:ext cx="4114800" cy="182880"/>
          </a:xfrm>
          <a:prstGeom prst="rect">
            <a:avLst/>
          </a:prstGeom>
          <a:noFill/>
          <a:ln/>
        </p:spPr>
        <p:txBody>
          <a:bodyPr wrap="square" lIns="0" tIns="0" rIns="0" bIns="0" rtlCol="0" anchor="t"/>
          <a:lstStyle/>
          <a:p>
            <a:pPr marL="0" indent="0">
              <a:lnSpc>
                <a:spcPct val="125000"/>
              </a:lnSpc>
              <a:buNone/>
            </a:pPr>
            <a:r>
              <a:rPr lang="en-US" sz="750" kern="0" spc="60" dirty="0">
                <a:solidFill>
                  <a:srgbClr val="8794AC"/>
                </a:solidFill>
                <a:latin typeface="JetBrains Mono" pitchFamily="34" charset="0"/>
                <a:ea typeface="JetBrains Mono" pitchFamily="34" charset="-122"/>
                <a:cs typeface="JetBrains Mono" pitchFamily="34" charset="-120"/>
              </a:rPr>
              <a:t>WHAT WE NEED PER MONTH</a:t>
            </a:r>
            <a:endParaRPr lang="en-US" sz="7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38505" y="2670048"/>
          <a:ext cx="4114800" cy="1591056"/>
        </p:xfrm>
        <a:graphic>
          <a:graphicData uri="http://schemas.openxmlformats.org/drawingml/2006/table">
            <a:tbl>
              <a:tblPr/>
              <a:tblGrid>
                <a:gridCol w="265176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tblGrid>
              <a:tr h="256032">
                <a:tc>
                  <a:txBody>
                    <a:bodyPr/>
                    <a:lstStyle/>
                    <a:p>
                      <a:pPr marL="0" indent="0" algn="l">
                        <a:buNone/>
                      </a:pPr>
                      <a:r>
                        <a:rPr lang="en-US" sz="750" dirty="0">
                          <a:solidFill>
                            <a:srgbClr val="8794AC"/>
                          </a:solidFill>
                          <a:latin typeface="JetBrains Mono" pitchFamily="34" charset="0"/>
                          <a:ea typeface="JetBrains Mono" pitchFamily="34" charset="-122"/>
                          <a:cs typeface="JetBrains Mono" pitchFamily="34" charset="-120"/>
                        </a:rPr>
                        <a:t>Creative</a:t>
                      </a:r>
                      <a:endParaRPr lang="en-US" sz="750" dirty="0">
                        <a:latin typeface="JetBrains Mono" charset="0"/>
                        <a:ea typeface="JetBrains Mono" charset="0"/>
                        <a:cs typeface="JetBrains Mono" charset="0"/>
                      </a:endParaRPr>
                    </a:p>
                  </a:txBody>
                  <a:tcPr marL="54864" marR="54864" marT="0" marB="0" anchor="ctr">
                    <a:lnL w="0" cap="flat" cmpd="sng" algn="ctr">
                      <a:noFill/>
                    </a:lnL>
                    <a:lnR w="0" cap="flat" cmpd="sng" algn="ctr">
                      <a:noFill/>
                    </a:lnR>
                    <a:lnT w="0" cap="flat" cmpd="sng" algn="ctr">
                      <a:noFill/>
                    </a:lnT>
                    <a:lnB w="9525" cap="flat" cmpd="sng" algn="ctr">
                      <a:solidFill>
                        <a:srgbClr val="D5E2F0"/>
                      </a:solidFill>
                      <a:prstDash val="solid"/>
                      <a:round/>
                      <a:headEnd type="none" w="med" len="med"/>
                      <a:tailEnd type="none" w="med" len="med"/>
                    </a:lnB>
                  </a:tcPr>
                </a:tc>
                <a:tc>
                  <a:txBody>
                    <a:bodyPr/>
                    <a:lstStyle/>
                    <a:p>
                      <a:pPr marL="0" indent="0" algn="r">
                        <a:buNone/>
                      </a:pPr>
                      <a:r>
                        <a:rPr lang="en-US" sz="750" dirty="0">
                          <a:solidFill>
                            <a:srgbClr val="8794AC"/>
                          </a:solidFill>
                          <a:latin typeface="JetBrains Mono" pitchFamily="34" charset="0"/>
                          <a:ea typeface="JetBrains Mono" pitchFamily="34" charset="-122"/>
                          <a:cs typeface="JetBrains Mono" pitchFamily="34" charset="-120"/>
                        </a:rPr>
                        <a:t>Normal</a:t>
                      </a:r>
                      <a:endParaRPr lang="en-US" sz="750" dirty="0">
                        <a:latin typeface="JetBrains Mono" charset="0"/>
                        <a:ea typeface="JetBrains Mono" charset="0"/>
                        <a:cs typeface="JetBrains Mono" charset="0"/>
                      </a:endParaRPr>
                    </a:p>
                  </a:txBody>
                  <a:tcPr marL="54864" marR="54864" marT="0" marB="0" anchor="ctr">
                    <a:lnL w="0" cap="flat" cmpd="sng" algn="ctr">
                      <a:noFill/>
                    </a:lnL>
                    <a:lnR w="0" cap="flat" cmpd="sng" algn="ctr">
                      <a:noFill/>
                    </a:lnR>
                    <a:lnT w="0" cap="flat" cmpd="sng" algn="ctr">
                      <a:noFill/>
                    </a:lnT>
                    <a:lnB w="9525" cap="flat" cmpd="sng" algn="ctr">
                      <a:solidFill>
                        <a:srgbClr val="D5E2F0"/>
                      </a:solidFill>
                      <a:prstDash val="solid"/>
                      <a:round/>
                      <a:headEnd type="none" w="med" len="med"/>
                      <a:tailEnd type="none" w="med" len="med"/>
                    </a:lnB>
                  </a:tcPr>
                </a:tc>
                <a:tc>
                  <a:txBody>
                    <a:bodyPr/>
                    <a:lstStyle/>
                    <a:p>
                      <a:pPr marL="0" indent="0" algn="r">
                        <a:buNone/>
                      </a:pPr>
                      <a:r>
                        <a:rPr lang="en-US" sz="750" dirty="0">
                          <a:solidFill>
                            <a:srgbClr val="8794AC"/>
                          </a:solidFill>
                          <a:latin typeface="JetBrains Mono" pitchFamily="34" charset="0"/>
                          <a:ea typeface="JetBrains Mono" pitchFamily="34" charset="-122"/>
                          <a:cs typeface="JetBrains Mono" pitchFamily="34" charset="-120"/>
                        </a:rPr>
                        <a:t>Open day</a:t>
                      </a:r>
                      <a:endParaRPr lang="en-US" sz="750" dirty="0">
                        <a:latin typeface="JetBrains Mono" charset="0"/>
                        <a:ea typeface="JetBrains Mono" charset="0"/>
                        <a:cs typeface="JetBrains Mono" charset="0"/>
                      </a:endParaRPr>
                    </a:p>
                  </a:txBody>
                  <a:tcPr marL="54864" marR="54864" marT="0" marB="0" anchor="ctr">
                    <a:lnL w="0" cap="flat" cmpd="sng" algn="ctr">
                      <a:noFill/>
                    </a:lnL>
                    <a:lnR w="0" cap="flat" cmpd="sng" algn="ctr">
                      <a:noFill/>
                    </a:lnR>
                    <a:lnT w="0" cap="flat" cmpd="sng" algn="ctr">
                      <a:noFill/>
                    </a:lnT>
                    <a:lnB w="9525" cap="flat" cmpd="sng" algn="ctr">
                      <a:solidFill>
                        <a:srgbClr val="D5E2F0"/>
                      </a:solidFill>
                      <a:prstDash val="solid"/>
                      <a:round/>
                      <a:headEnd type="none" w="med" len="med"/>
                      <a:tailEnd type="none" w="med" len="med"/>
                    </a:lnB>
                  </a:tcPr>
                </a:tc>
                <a:extLst>
                  <a:ext uri="{0D108BD9-81ED-4DB2-BD59-A6C34878D82A}">
                    <a16:rowId xmlns:a16="http://schemas.microsoft.com/office/drawing/2014/main" val="10000"/>
                  </a:ext>
                </a:extLst>
              </a:tr>
              <a:tr h="329184">
                <a:tc>
                  <a:txBody>
                    <a:bodyPr/>
                    <a:lstStyle/>
                    <a:p>
                      <a:pPr marL="0" indent="0" algn="l">
                        <a:buNone/>
                      </a:pPr>
                      <a:r>
                        <a:rPr lang="en-US" sz="1000" b="1" dirty="0">
                          <a:solidFill>
                            <a:srgbClr val="0E1B33"/>
                          </a:solidFill>
                          <a:latin typeface="Instrument Sans" pitchFamily="34" charset="0"/>
                          <a:ea typeface="Instrument Sans" pitchFamily="34" charset="-122"/>
                          <a:cs typeface="Instrument Sans" pitchFamily="34" charset="-120"/>
                        </a:rPr>
                        <a:t>TikTok videos</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9525"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8</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9525"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12</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9525"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000" b="1" dirty="0">
                          <a:solidFill>
                            <a:srgbClr val="0E1B33"/>
                          </a:solidFill>
                          <a:latin typeface="Instrument Sans" pitchFamily="34" charset="0"/>
                          <a:ea typeface="Instrument Sans" pitchFamily="34" charset="-122"/>
                          <a:cs typeface="Instrument Sans" pitchFamily="34" charset="-120"/>
                        </a:rPr>
                        <a:t>Meta Reels (cut from TikTok videos)</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4</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6</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000" b="1" dirty="0">
                          <a:solidFill>
                            <a:srgbClr val="0E1B33"/>
                          </a:solidFill>
                          <a:latin typeface="Instrument Sans" pitchFamily="34" charset="0"/>
                          <a:ea typeface="Instrument Sans" pitchFamily="34" charset="-122"/>
                          <a:cs typeface="Instrument Sans" pitchFamily="34" charset="-120"/>
                        </a:rPr>
                        <a:t>Meta images</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15875" cap="flat" cmpd="sng" algn="ctr">
                      <a:solidFill>
                        <a:srgbClr val="0E1B33"/>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6</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15875" cap="flat" cmpd="sng" algn="ctr">
                      <a:solidFill>
                        <a:srgbClr val="0E1B33"/>
                      </a:solidFill>
                      <a:prstDash val="solid"/>
                      <a:round/>
                      <a:headEnd type="none" w="med" len="med"/>
                      <a:tailEnd type="none" w="med" len="med"/>
                    </a:lnB>
                  </a:tcPr>
                </a:tc>
                <a:tc>
                  <a:txBody>
                    <a:bodyPr/>
                    <a:lstStyle/>
                    <a:p>
                      <a:pPr marL="0" indent="0" algn="r">
                        <a:buNone/>
                      </a:pPr>
                      <a:r>
                        <a:rPr lang="en-US" sz="1000" dirty="0">
                          <a:solidFill>
                            <a:srgbClr val="0E1B33"/>
                          </a:solidFill>
                          <a:latin typeface="Instrument Sans" pitchFamily="34" charset="0"/>
                          <a:ea typeface="Instrument Sans" pitchFamily="34" charset="-122"/>
                          <a:cs typeface="Instrument Sans" pitchFamily="34" charset="-120"/>
                        </a:rPr>
                        <a:t>10</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6350" cap="flat" cmpd="sng" algn="ctr">
                      <a:solidFill>
                        <a:srgbClr val="D5E2F0"/>
                      </a:solidFill>
                      <a:prstDash val="solid"/>
                      <a:round/>
                      <a:headEnd type="none" w="med" len="med"/>
                      <a:tailEnd type="none" w="med" len="med"/>
                    </a:lnT>
                    <a:lnB w="15875" cap="flat" cmpd="sng" algn="ctr">
                      <a:solidFill>
                        <a:srgbClr val="0E1B33"/>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l">
                        <a:buNone/>
                      </a:pPr>
                      <a:r>
                        <a:rPr lang="en-US" sz="1000" b="1" dirty="0">
                          <a:solidFill>
                            <a:srgbClr val="0E1B33"/>
                          </a:solidFill>
                          <a:latin typeface="Instrument Sans" pitchFamily="34" charset="0"/>
                          <a:ea typeface="Instrument Sans" pitchFamily="34" charset="-122"/>
                          <a:cs typeface="Instrument Sans" pitchFamily="34" charset="-120"/>
                        </a:rPr>
                        <a:t>Total a month</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15875" cap="flat" cmpd="sng" algn="ctr">
                      <a:solidFill>
                        <a:srgbClr val="0E1B33"/>
                      </a:solidFill>
                      <a:prstDash val="solid"/>
                      <a:round/>
                      <a:headEnd type="none" w="med" len="med"/>
                      <a:tailEnd type="none" w="med" len="med"/>
                    </a:lnT>
                    <a:lnB w="0" cap="flat" cmpd="sng" algn="ctr">
                      <a:noFill/>
                    </a:lnB>
                  </a:tcPr>
                </a:tc>
                <a:tc>
                  <a:txBody>
                    <a:bodyPr/>
                    <a:lstStyle/>
                    <a:p>
                      <a:pPr marL="0" indent="0" algn="r">
                        <a:buNone/>
                      </a:pPr>
                      <a:r>
                        <a:rPr lang="en-US" sz="1000" b="1" dirty="0">
                          <a:solidFill>
                            <a:srgbClr val="0E1B33"/>
                          </a:solidFill>
                          <a:latin typeface="Instrument Sans" pitchFamily="34" charset="0"/>
                          <a:ea typeface="Instrument Sans" pitchFamily="34" charset="-122"/>
                          <a:cs typeface="Instrument Sans" pitchFamily="34" charset="-120"/>
                        </a:rPr>
                        <a:t>18</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15875" cap="flat" cmpd="sng" algn="ctr">
                      <a:solidFill>
                        <a:srgbClr val="0E1B33"/>
                      </a:solidFill>
                      <a:prstDash val="solid"/>
                      <a:round/>
                      <a:headEnd type="none" w="med" len="med"/>
                      <a:tailEnd type="none" w="med" len="med"/>
                    </a:lnT>
                    <a:lnB w="0" cap="flat" cmpd="sng" algn="ctr">
                      <a:noFill/>
                    </a:lnB>
                  </a:tcPr>
                </a:tc>
                <a:tc>
                  <a:txBody>
                    <a:bodyPr/>
                    <a:lstStyle/>
                    <a:p>
                      <a:pPr marL="0" indent="0" algn="r">
                        <a:buNone/>
                      </a:pPr>
                      <a:r>
                        <a:rPr lang="en-US" sz="1000" b="1" dirty="0">
                          <a:solidFill>
                            <a:srgbClr val="0E1B33"/>
                          </a:solidFill>
                          <a:latin typeface="Instrument Sans" pitchFamily="34" charset="0"/>
                          <a:ea typeface="Instrument Sans" pitchFamily="34" charset="-122"/>
                          <a:cs typeface="Instrument Sans" pitchFamily="34" charset="-120"/>
                        </a:rPr>
                        <a:t>28</a:t>
                      </a:r>
                      <a:endParaRPr lang="en-US" sz="1000" dirty="0">
                        <a:latin typeface="Instrument Sans" charset="0"/>
                        <a:ea typeface="Instrument Sans" charset="0"/>
                        <a:cs typeface="Instrument Sans" charset="0"/>
                      </a:endParaRPr>
                    </a:p>
                  </a:txBody>
                  <a:tcPr marL="54864" marR="54864" marT="0" marB="0" anchor="ctr">
                    <a:lnL w="0" cap="flat" cmpd="sng" algn="ctr">
                      <a:noFill/>
                    </a:lnL>
                    <a:lnR w="0" cap="flat" cmpd="sng" algn="ctr">
                      <a:noFill/>
                    </a:lnR>
                    <a:lnT w="15875" cap="flat" cmpd="sng" algn="ctr">
                      <a:solidFill>
                        <a:srgbClr val="0E1B33"/>
                      </a:solid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11" name="Shape 7"/>
          <p:cNvSpPr/>
          <p:nvPr/>
        </p:nvSpPr>
        <p:spPr>
          <a:xfrm>
            <a:off x="5364785" y="2212848"/>
            <a:ext cx="6217006" cy="2194560"/>
          </a:xfrm>
          <a:prstGeom prst="roundRect">
            <a:avLst>
              <a:gd name="adj" fmla="val 5417"/>
            </a:avLst>
          </a:prstGeom>
          <a:solidFill>
            <a:srgbClr val="FFFFFF"/>
          </a:solidFill>
          <a:ln w="9525">
            <a:solidFill>
              <a:srgbClr val="D5E2F0"/>
            </a:solidFill>
            <a:prstDash val="solid"/>
          </a:ln>
        </p:spPr>
        <p:txBody>
          <a:bodyPr/>
          <a:lstStyle/>
          <a:p>
            <a:endParaRPr lang="en-MY"/>
          </a:p>
        </p:txBody>
      </p:sp>
      <p:sp>
        <p:nvSpPr>
          <p:cNvPr id="12" name="Text 8"/>
          <p:cNvSpPr/>
          <p:nvPr/>
        </p:nvSpPr>
        <p:spPr>
          <a:xfrm>
            <a:off x="5593385" y="2414016"/>
            <a:ext cx="2743200" cy="182880"/>
          </a:xfrm>
          <a:prstGeom prst="rect">
            <a:avLst/>
          </a:prstGeom>
          <a:noFill/>
          <a:ln/>
        </p:spPr>
        <p:txBody>
          <a:bodyPr wrap="square" lIns="0" tIns="0" rIns="0" bIns="0" rtlCol="0" anchor="t"/>
          <a:lstStyle/>
          <a:p>
            <a:pPr marL="0" indent="0">
              <a:lnSpc>
                <a:spcPct val="125000"/>
              </a:lnSpc>
              <a:buNone/>
            </a:pPr>
            <a:r>
              <a:rPr lang="en-US" sz="750" kern="0" spc="60" dirty="0">
                <a:solidFill>
                  <a:srgbClr val="8794AC"/>
                </a:solidFill>
                <a:latin typeface="JetBrains Mono" pitchFamily="34" charset="0"/>
                <a:ea typeface="JetBrains Mono" pitchFamily="34" charset="-122"/>
                <a:cs typeface="JetBrains Mono" pitchFamily="34" charset="-120"/>
              </a:rPr>
              <a:t>CREATIVE PER MONTH</a:t>
            </a:r>
            <a:endParaRPr lang="en-US" sz="750" dirty="0"/>
          </a:p>
        </p:txBody>
      </p:sp>
      <p:sp>
        <p:nvSpPr>
          <p:cNvPr id="13" name="Text 9"/>
          <p:cNvSpPr/>
          <p:nvPr/>
        </p:nvSpPr>
        <p:spPr>
          <a:xfrm>
            <a:off x="9707270" y="2414016"/>
            <a:ext cx="1645920" cy="182880"/>
          </a:xfrm>
          <a:prstGeom prst="rect">
            <a:avLst/>
          </a:prstGeom>
          <a:noFill/>
          <a:ln/>
        </p:spPr>
        <p:txBody>
          <a:bodyPr wrap="square" lIns="0" tIns="0" rIns="0" bIns="0" rtlCol="0" anchor="t"/>
          <a:lstStyle/>
          <a:p>
            <a:pPr marL="0" indent="0" algn="r">
              <a:lnSpc>
                <a:spcPct val="125000"/>
              </a:lnSpc>
              <a:buNone/>
            </a:pPr>
            <a:r>
              <a:rPr lang="en-US" sz="750" dirty="0">
                <a:solidFill>
                  <a:srgbClr val="2A6BE0"/>
                </a:solidFill>
                <a:latin typeface="JetBrains Mono" pitchFamily="34" charset="0"/>
                <a:ea typeface="JetBrains Mono" pitchFamily="34" charset="-122"/>
                <a:cs typeface="JetBrains Mono" pitchFamily="34" charset="-120"/>
              </a:rPr>
              <a:t>■ </a:t>
            </a:r>
            <a:r>
              <a:rPr lang="en-US" sz="750" dirty="0">
                <a:solidFill>
                  <a:srgbClr val="4A5A75"/>
                </a:solidFill>
                <a:latin typeface="JetBrains Mono" pitchFamily="34" charset="0"/>
                <a:ea typeface="JetBrains Mono" pitchFamily="34" charset="-122"/>
                <a:cs typeface="JetBrains Mono" pitchFamily="34" charset="-120"/>
              </a:rPr>
              <a:t>Videos   </a:t>
            </a:r>
            <a:r>
              <a:rPr lang="en-US" sz="750" dirty="0">
                <a:solidFill>
                  <a:srgbClr val="8CE0EC"/>
                </a:solidFill>
                <a:latin typeface="JetBrains Mono" pitchFamily="34" charset="0"/>
                <a:ea typeface="JetBrains Mono" pitchFamily="34" charset="-122"/>
                <a:cs typeface="JetBrains Mono" pitchFamily="34" charset="-120"/>
              </a:rPr>
              <a:t>■ </a:t>
            </a:r>
            <a:r>
              <a:rPr lang="en-US" sz="750" dirty="0">
                <a:solidFill>
                  <a:srgbClr val="4A5A75"/>
                </a:solidFill>
                <a:latin typeface="JetBrains Mono" pitchFamily="34" charset="0"/>
                <a:ea typeface="JetBrains Mono" pitchFamily="34" charset="-122"/>
                <a:cs typeface="JetBrains Mono" pitchFamily="34" charset="-120"/>
              </a:rPr>
              <a:t>Images</a:t>
            </a:r>
            <a:endParaRPr lang="en-US" sz="750" dirty="0"/>
          </a:p>
        </p:txBody>
      </p:sp>
      <p:sp>
        <p:nvSpPr>
          <p:cNvPr id="14" name="Shape 10"/>
          <p:cNvSpPr/>
          <p:nvPr/>
        </p:nvSpPr>
        <p:spPr>
          <a:xfrm>
            <a:off x="5675668" y="3545259"/>
            <a:ext cx="246849" cy="450669"/>
          </a:xfrm>
          <a:prstGeom prst="rect">
            <a:avLst/>
          </a:prstGeom>
          <a:solidFill>
            <a:srgbClr val="2A6BE0"/>
          </a:solidFill>
          <a:ln/>
        </p:spPr>
        <p:txBody>
          <a:bodyPr/>
          <a:lstStyle/>
          <a:p>
            <a:endParaRPr lang="en-MY"/>
          </a:p>
        </p:txBody>
      </p:sp>
      <p:sp>
        <p:nvSpPr>
          <p:cNvPr id="15" name="Shape 11"/>
          <p:cNvSpPr/>
          <p:nvPr/>
        </p:nvSpPr>
        <p:spPr>
          <a:xfrm>
            <a:off x="5675668" y="3319925"/>
            <a:ext cx="246849" cy="225334"/>
          </a:xfrm>
          <a:prstGeom prst="rect">
            <a:avLst/>
          </a:prstGeom>
          <a:solidFill>
            <a:srgbClr val="8CE0EC"/>
          </a:solidFill>
          <a:ln/>
        </p:spPr>
        <p:txBody>
          <a:bodyPr/>
          <a:lstStyle/>
          <a:p>
            <a:endParaRPr lang="en-MY"/>
          </a:p>
        </p:txBody>
      </p:sp>
      <p:sp>
        <p:nvSpPr>
          <p:cNvPr id="16" name="Text 12"/>
          <p:cNvSpPr/>
          <p:nvPr/>
        </p:nvSpPr>
        <p:spPr>
          <a:xfrm>
            <a:off x="5593385" y="3137045"/>
            <a:ext cx="411415" cy="164592"/>
          </a:xfrm>
          <a:prstGeom prst="rect">
            <a:avLst/>
          </a:prstGeom>
          <a:noFill/>
          <a:ln/>
        </p:spPr>
        <p:txBody>
          <a:bodyPr wrap="square" lIns="0" tIns="0" rIns="0" bIns="0" rtlCol="0" anchor="t"/>
          <a:lstStyle/>
          <a:p>
            <a:pPr marL="0" indent="0" algn="ctr">
              <a:lnSpc>
                <a:spcPct val="125000"/>
              </a:lnSpc>
              <a:buNone/>
            </a:pPr>
            <a:r>
              <a:rPr lang="en-US" sz="750" dirty="0">
                <a:solidFill>
                  <a:srgbClr val="0E1B33"/>
                </a:solidFill>
                <a:latin typeface="JetBrains Mono" pitchFamily="34" charset="0"/>
                <a:ea typeface="JetBrains Mono" pitchFamily="34" charset="-122"/>
                <a:cs typeface="JetBrains Mono" pitchFamily="34" charset="-120"/>
              </a:rPr>
              <a:t>18</a:t>
            </a:r>
            <a:endParaRPr lang="en-US" sz="750" dirty="0"/>
          </a:p>
        </p:txBody>
      </p:sp>
      <p:sp>
        <p:nvSpPr>
          <p:cNvPr id="17" name="Text 13"/>
          <p:cNvSpPr/>
          <p:nvPr/>
        </p:nvSpPr>
        <p:spPr>
          <a:xfrm>
            <a:off x="5593385"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8794AC"/>
                </a:solidFill>
                <a:latin typeface="JetBrains Mono" pitchFamily="34" charset="0"/>
                <a:ea typeface="JetBrains Mono" pitchFamily="34" charset="-122"/>
                <a:cs typeface="JetBrains Mono" pitchFamily="34" charset="-120"/>
              </a:rPr>
              <a:t>Nov</a:t>
            </a:r>
            <a:endParaRPr lang="en-US" sz="650" dirty="0"/>
          </a:p>
        </p:txBody>
      </p:sp>
      <p:sp>
        <p:nvSpPr>
          <p:cNvPr id="18" name="Shape 14"/>
          <p:cNvSpPr/>
          <p:nvPr/>
        </p:nvSpPr>
        <p:spPr>
          <a:xfrm>
            <a:off x="6087082" y="3545259"/>
            <a:ext cx="246849" cy="450669"/>
          </a:xfrm>
          <a:prstGeom prst="rect">
            <a:avLst/>
          </a:prstGeom>
          <a:solidFill>
            <a:srgbClr val="2A6BE0"/>
          </a:solidFill>
          <a:ln/>
        </p:spPr>
        <p:txBody>
          <a:bodyPr/>
          <a:lstStyle/>
          <a:p>
            <a:endParaRPr lang="en-MY"/>
          </a:p>
        </p:txBody>
      </p:sp>
      <p:sp>
        <p:nvSpPr>
          <p:cNvPr id="19" name="Shape 15"/>
          <p:cNvSpPr/>
          <p:nvPr/>
        </p:nvSpPr>
        <p:spPr>
          <a:xfrm>
            <a:off x="6087082" y="3319925"/>
            <a:ext cx="246849" cy="225334"/>
          </a:xfrm>
          <a:prstGeom prst="rect">
            <a:avLst/>
          </a:prstGeom>
          <a:solidFill>
            <a:srgbClr val="8CE0EC"/>
          </a:solidFill>
          <a:ln/>
        </p:spPr>
        <p:txBody>
          <a:bodyPr/>
          <a:lstStyle/>
          <a:p>
            <a:endParaRPr lang="en-MY"/>
          </a:p>
        </p:txBody>
      </p:sp>
      <p:sp>
        <p:nvSpPr>
          <p:cNvPr id="20" name="Text 16"/>
          <p:cNvSpPr/>
          <p:nvPr/>
        </p:nvSpPr>
        <p:spPr>
          <a:xfrm>
            <a:off x="6004799" y="3137045"/>
            <a:ext cx="411415" cy="164592"/>
          </a:xfrm>
          <a:prstGeom prst="rect">
            <a:avLst/>
          </a:prstGeom>
          <a:noFill/>
          <a:ln/>
        </p:spPr>
        <p:txBody>
          <a:bodyPr wrap="square" lIns="0" tIns="0" rIns="0" bIns="0" rtlCol="0" anchor="t"/>
          <a:lstStyle/>
          <a:p>
            <a:pPr marL="0" indent="0" algn="ctr">
              <a:lnSpc>
                <a:spcPct val="125000"/>
              </a:lnSpc>
              <a:buNone/>
            </a:pPr>
            <a:r>
              <a:rPr lang="en-US" sz="750" dirty="0">
                <a:solidFill>
                  <a:srgbClr val="0E1B33"/>
                </a:solidFill>
                <a:latin typeface="JetBrains Mono" pitchFamily="34" charset="0"/>
                <a:ea typeface="JetBrains Mono" pitchFamily="34" charset="-122"/>
                <a:cs typeface="JetBrains Mono" pitchFamily="34" charset="-120"/>
              </a:rPr>
              <a:t>18</a:t>
            </a:r>
            <a:endParaRPr lang="en-US" sz="750" dirty="0"/>
          </a:p>
        </p:txBody>
      </p:sp>
      <p:sp>
        <p:nvSpPr>
          <p:cNvPr id="21" name="Text 17"/>
          <p:cNvSpPr/>
          <p:nvPr/>
        </p:nvSpPr>
        <p:spPr>
          <a:xfrm>
            <a:off x="6004799"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8794AC"/>
                </a:solidFill>
                <a:latin typeface="JetBrains Mono" pitchFamily="34" charset="0"/>
                <a:ea typeface="JetBrains Mono" pitchFamily="34" charset="-122"/>
                <a:cs typeface="JetBrains Mono" pitchFamily="34" charset="-120"/>
              </a:rPr>
              <a:t>Dec</a:t>
            </a:r>
            <a:endParaRPr lang="en-US" sz="650" dirty="0"/>
          </a:p>
        </p:txBody>
      </p:sp>
      <p:sp>
        <p:nvSpPr>
          <p:cNvPr id="22" name="Shape 18"/>
          <p:cNvSpPr/>
          <p:nvPr/>
        </p:nvSpPr>
        <p:spPr>
          <a:xfrm>
            <a:off x="6498497" y="3545259"/>
            <a:ext cx="246849" cy="450669"/>
          </a:xfrm>
          <a:prstGeom prst="rect">
            <a:avLst/>
          </a:prstGeom>
          <a:solidFill>
            <a:srgbClr val="2A6BE0"/>
          </a:solidFill>
          <a:ln/>
        </p:spPr>
        <p:txBody>
          <a:bodyPr/>
          <a:lstStyle/>
          <a:p>
            <a:endParaRPr lang="en-MY"/>
          </a:p>
        </p:txBody>
      </p:sp>
      <p:sp>
        <p:nvSpPr>
          <p:cNvPr id="23" name="Shape 19"/>
          <p:cNvSpPr/>
          <p:nvPr/>
        </p:nvSpPr>
        <p:spPr>
          <a:xfrm>
            <a:off x="6498497" y="3319925"/>
            <a:ext cx="246849" cy="225334"/>
          </a:xfrm>
          <a:prstGeom prst="rect">
            <a:avLst/>
          </a:prstGeom>
          <a:solidFill>
            <a:srgbClr val="8CE0EC"/>
          </a:solidFill>
          <a:ln/>
        </p:spPr>
        <p:txBody>
          <a:bodyPr/>
          <a:lstStyle/>
          <a:p>
            <a:endParaRPr lang="en-MY"/>
          </a:p>
        </p:txBody>
      </p:sp>
      <p:sp>
        <p:nvSpPr>
          <p:cNvPr id="24" name="Text 20"/>
          <p:cNvSpPr/>
          <p:nvPr/>
        </p:nvSpPr>
        <p:spPr>
          <a:xfrm>
            <a:off x="6416214" y="3137045"/>
            <a:ext cx="411415" cy="164592"/>
          </a:xfrm>
          <a:prstGeom prst="rect">
            <a:avLst/>
          </a:prstGeom>
          <a:noFill/>
          <a:ln/>
        </p:spPr>
        <p:txBody>
          <a:bodyPr wrap="square" lIns="0" tIns="0" rIns="0" bIns="0" rtlCol="0" anchor="t"/>
          <a:lstStyle/>
          <a:p>
            <a:pPr marL="0" indent="0" algn="ctr">
              <a:lnSpc>
                <a:spcPct val="125000"/>
              </a:lnSpc>
              <a:buNone/>
            </a:pPr>
            <a:r>
              <a:rPr lang="en-US" sz="750" dirty="0">
                <a:solidFill>
                  <a:srgbClr val="0E1B33"/>
                </a:solidFill>
                <a:latin typeface="JetBrains Mono" pitchFamily="34" charset="0"/>
                <a:ea typeface="JetBrains Mono" pitchFamily="34" charset="-122"/>
                <a:cs typeface="JetBrains Mono" pitchFamily="34" charset="-120"/>
              </a:rPr>
              <a:t>18</a:t>
            </a:r>
            <a:endParaRPr lang="en-US" sz="750" dirty="0"/>
          </a:p>
        </p:txBody>
      </p:sp>
      <p:sp>
        <p:nvSpPr>
          <p:cNvPr id="25" name="Text 21"/>
          <p:cNvSpPr/>
          <p:nvPr/>
        </p:nvSpPr>
        <p:spPr>
          <a:xfrm>
            <a:off x="6416214"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8794AC"/>
                </a:solidFill>
                <a:latin typeface="JetBrains Mono" pitchFamily="34" charset="0"/>
                <a:ea typeface="JetBrains Mono" pitchFamily="34" charset="-122"/>
                <a:cs typeface="JetBrains Mono" pitchFamily="34" charset="-120"/>
              </a:rPr>
              <a:t>Jan</a:t>
            </a:r>
            <a:endParaRPr lang="en-US" sz="650" dirty="0"/>
          </a:p>
        </p:txBody>
      </p:sp>
      <p:sp>
        <p:nvSpPr>
          <p:cNvPr id="26" name="Shape 22"/>
          <p:cNvSpPr/>
          <p:nvPr/>
        </p:nvSpPr>
        <p:spPr>
          <a:xfrm>
            <a:off x="6909912" y="3545259"/>
            <a:ext cx="246849" cy="450669"/>
          </a:xfrm>
          <a:prstGeom prst="rect">
            <a:avLst/>
          </a:prstGeom>
          <a:solidFill>
            <a:srgbClr val="2A6BE0"/>
          </a:solidFill>
          <a:ln/>
        </p:spPr>
        <p:txBody>
          <a:bodyPr/>
          <a:lstStyle/>
          <a:p>
            <a:endParaRPr lang="en-MY"/>
          </a:p>
        </p:txBody>
      </p:sp>
      <p:sp>
        <p:nvSpPr>
          <p:cNvPr id="27" name="Shape 23"/>
          <p:cNvSpPr/>
          <p:nvPr/>
        </p:nvSpPr>
        <p:spPr>
          <a:xfrm>
            <a:off x="6909912" y="3319925"/>
            <a:ext cx="246849" cy="225334"/>
          </a:xfrm>
          <a:prstGeom prst="rect">
            <a:avLst/>
          </a:prstGeom>
          <a:solidFill>
            <a:srgbClr val="8CE0EC"/>
          </a:solidFill>
          <a:ln/>
        </p:spPr>
        <p:txBody>
          <a:bodyPr/>
          <a:lstStyle/>
          <a:p>
            <a:endParaRPr lang="en-MY"/>
          </a:p>
        </p:txBody>
      </p:sp>
      <p:sp>
        <p:nvSpPr>
          <p:cNvPr id="28" name="Text 24"/>
          <p:cNvSpPr/>
          <p:nvPr/>
        </p:nvSpPr>
        <p:spPr>
          <a:xfrm>
            <a:off x="6827629" y="3137045"/>
            <a:ext cx="411415" cy="164592"/>
          </a:xfrm>
          <a:prstGeom prst="rect">
            <a:avLst/>
          </a:prstGeom>
          <a:noFill/>
          <a:ln/>
        </p:spPr>
        <p:txBody>
          <a:bodyPr wrap="square" lIns="0" tIns="0" rIns="0" bIns="0" rtlCol="0" anchor="t"/>
          <a:lstStyle/>
          <a:p>
            <a:pPr marL="0" indent="0" algn="ctr">
              <a:lnSpc>
                <a:spcPct val="125000"/>
              </a:lnSpc>
              <a:buNone/>
            </a:pPr>
            <a:r>
              <a:rPr lang="en-US" sz="750" dirty="0">
                <a:solidFill>
                  <a:srgbClr val="0E1B33"/>
                </a:solidFill>
                <a:latin typeface="JetBrains Mono" pitchFamily="34" charset="0"/>
                <a:ea typeface="JetBrains Mono" pitchFamily="34" charset="-122"/>
                <a:cs typeface="JetBrains Mono" pitchFamily="34" charset="-120"/>
              </a:rPr>
              <a:t>18</a:t>
            </a:r>
            <a:endParaRPr lang="en-US" sz="750" dirty="0"/>
          </a:p>
        </p:txBody>
      </p:sp>
      <p:sp>
        <p:nvSpPr>
          <p:cNvPr id="29" name="Text 25"/>
          <p:cNvSpPr/>
          <p:nvPr/>
        </p:nvSpPr>
        <p:spPr>
          <a:xfrm>
            <a:off x="6827629"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8794AC"/>
                </a:solidFill>
                <a:latin typeface="JetBrains Mono" pitchFamily="34" charset="0"/>
                <a:ea typeface="JetBrains Mono" pitchFamily="34" charset="-122"/>
                <a:cs typeface="JetBrains Mono" pitchFamily="34" charset="-120"/>
              </a:rPr>
              <a:t>Feb</a:t>
            </a:r>
            <a:endParaRPr lang="en-US" sz="650" dirty="0"/>
          </a:p>
        </p:txBody>
      </p:sp>
      <p:sp>
        <p:nvSpPr>
          <p:cNvPr id="30" name="Shape 26"/>
          <p:cNvSpPr/>
          <p:nvPr/>
        </p:nvSpPr>
        <p:spPr>
          <a:xfrm>
            <a:off x="7321326" y="3319925"/>
            <a:ext cx="246849" cy="676003"/>
          </a:xfrm>
          <a:prstGeom prst="rect">
            <a:avLst/>
          </a:prstGeom>
          <a:solidFill>
            <a:srgbClr val="2A6BE0"/>
          </a:solidFill>
          <a:ln/>
        </p:spPr>
        <p:txBody>
          <a:bodyPr/>
          <a:lstStyle/>
          <a:p>
            <a:endParaRPr lang="en-MY"/>
          </a:p>
        </p:txBody>
      </p:sp>
      <p:sp>
        <p:nvSpPr>
          <p:cNvPr id="31" name="Shape 27"/>
          <p:cNvSpPr/>
          <p:nvPr/>
        </p:nvSpPr>
        <p:spPr>
          <a:xfrm>
            <a:off x="7321326" y="2944368"/>
            <a:ext cx="246849" cy="375557"/>
          </a:xfrm>
          <a:prstGeom prst="rect">
            <a:avLst/>
          </a:prstGeom>
          <a:solidFill>
            <a:srgbClr val="8CE0EC"/>
          </a:solidFill>
          <a:ln/>
        </p:spPr>
        <p:txBody>
          <a:bodyPr/>
          <a:lstStyle/>
          <a:p>
            <a:endParaRPr lang="en-MY"/>
          </a:p>
        </p:txBody>
      </p:sp>
      <p:sp>
        <p:nvSpPr>
          <p:cNvPr id="32" name="Text 28"/>
          <p:cNvSpPr/>
          <p:nvPr/>
        </p:nvSpPr>
        <p:spPr>
          <a:xfrm>
            <a:off x="7239044" y="2761488"/>
            <a:ext cx="411415" cy="164592"/>
          </a:xfrm>
          <a:prstGeom prst="rect">
            <a:avLst/>
          </a:prstGeom>
          <a:noFill/>
          <a:ln/>
        </p:spPr>
        <p:txBody>
          <a:bodyPr wrap="square" lIns="0" tIns="0" rIns="0" bIns="0" rtlCol="0" anchor="t"/>
          <a:lstStyle/>
          <a:p>
            <a:pPr marL="0" indent="0" algn="ctr">
              <a:lnSpc>
                <a:spcPct val="125000"/>
              </a:lnSpc>
              <a:buNone/>
            </a:pPr>
            <a:r>
              <a:rPr lang="en-US" sz="750" b="1" dirty="0">
                <a:solidFill>
                  <a:srgbClr val="2A6BE0"/>
                </a:solidFill>
                <a:latin typeface="JetBrains Mono" pitchFamily="34" charset="0"/>
                <a:ea typeface="JetBrains Mono" pitchFamily="34" charset="-122"/>
                <a:cs typeface="JetBrains Mono" pitchFamily="34" charset="-120"/>
              </a:rPr>
              <a:t>28</a:t>
            </a:r>
            <a:endParaRPr lang="en-US" sz="750" dirty="0"/>
          </a:p>
        </p:txBody>
      </p:sp>
      <p:sp>
        <p:nvSpPr>
          <p:cNvPr id="33" name="Text 29"/>
          <p:cNvSpPr/>
          <p:nvPr/>
        </p:nvSpPr>
        <p:spPr>
          <a:xfrm>
            <a:off x="7239044"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2A6BE0"/>
                </a:solidFill>
                <a:latin typeface="JetBrains Mono" pitchFamily="34" charset="0"/>
                <a:ea typeface="JetBrains Mono" pitchFamily="34" charset="-122"/>
                <a:cs typeface="JetBrains Mono" pitchFamily="34" charset="-120"/>
              </a:rPr>
              <a:t>Mar</a:t>
            </a:r>
            <a:endParaRPr lang="en-US" sz="650" dirty="0"/>
          </a:p>
        </p:txBody>
      </p:sp>
      <p:sp>
        <p:nvSpPr>
          <p:cNvPr id="34" name="Shape 30"/>
          <p:cNvSpPr/>
          <p:nvPr/>
        </p:nvSpPr>
        <p:spPr>
          <a:xfrm>
            <a:off x="7732741" y="3319925"/>
            <a:ext cx="246849" cy="676003"/>
          </a:xfrm>
          <a:prstGeom prst="rect">
            <a:avLst/>
          </a:prstGeom>
          <a:solidFill>
            <a:srgbClr val="2A6BE0"/>
          </a:solidFill>
          <a:ln/>
        </p:spPr>
        <p:txBody>
          <a:bodyPr/>
          <a:lstStyle/>
          <a:p>
            <a:endParaRPr lang="en-MY"/>
          </a:p>
        </p:txBody>
      </p:sp>
      <p:sp>
        <p:nvSpPr>
          <p:cNvPr id="35" name="Shape 31"/>
          <p:cNvSpPr/>
          <p:nvPr/>
        </p:nvSpPr>
        <p:spPr>
          <a:xfrm>
            <a:off x="7732741" y="2944368"/>
            <a:ext cx="246849" cy="375557"/>
          </a:xfrm>
          <a:prstGeom prst="rect">
            <a:avLst/>
          </a:prstGeom>
          <a:solidFill>
            <a:srgbClr val="8CE0EC"/>
          </a:solidFill>
          <a:ln/>
        </p:spPr>
        <p:txBody>
          <a:bodyPr/>
          <a:lstStyle/>
          <a:p>
            <a:endParaRPr lang="en-MY"/>
          </a:p>
        </p:txBody>
      </p:sp>
      <p:sp>
        <p:nvSpPr>
          <p:cNvPr id="36" name="Text 32"/>
          <p:cNvSpPr/>
          <p:nvPr/>
        </p:nvSpPr>
        <p:spPr>
          <a:xfrm>
            <a:off x="7650458" y="2761488"/>
            <a:ext cx="411415" cy="164592"/>
          </a:xfrm>
          <a:prstGeom prst="rect">
            <a:avLst/>
          </a:prstGeom>
          <a:noFill/>
          <a:ln/>
        </p:spPr>
        <p:txBody>
          <a:bodyPr wrap="square" lIns="0" tIns="0" rIns="0" bIns="0" rtlCol="0" anchor="t"/>
          <a:lstStyle/>
          <a:p>
            <a:pPr marL="0" indent="0" algn="ctr">
              <a:lnSpc>
                <a:spcPct val="125000"/>
              </a:lnSpc>
              <a:buNone/>
            </a:pPr>
            <a:r>
              <a:rPr lang="en-US" sz="750" b="1" dirty="0">
                <a:solidFill>
                  <a:srgbClr val="2A6BE0"/>
                </a:solidFill>
                <a:latin typeface="JetBrains Mono" pitchFamily="34" charset="0"/>
                <a:ea typeface="JetBrains Mono" pitchFamily="34" charset="-122"/>
                <a:cs typeface="JetBrains Mono" pitchFamily="34" charset="-120"/>
              </a:rPr>
              <a:t>28</a:t>
            </a:r>
            <a:endParaRPr lang="en-US" sz="750" dirty="0"/>
          </a:p>
        </p:txBody>
      </p:sp>
      <p:sp>
        <p:nvSpPr>
          <p:cNvPr id="37" name="Text 33"/>
          <p:cNvSpPr/>
          <p:nvPr/>
        </p:nvSpPr>
        <p:spPr>
          <a:xfrm>
            <a:off x="7650458"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2A6BE0"/>
                </a:solidFill>
                <a:latin typeface="JetBrains Mono" pitchFamily="34" charset="0"/>
                <a:ea typeface="JetBrains Mono" pitchFamily="34" charset="-122"/>
                <a:cs typeface="JetBrains Mono" pitchFamily="34" charset="-120"/>
              </a:rPr>
              <a:t>Apr</a:t>
            </a:r>
            <a:endParaRPr lang="en-US" sz="650" dirty="0"/>
          </a:p>
        </p:txBody>
      </p:sp>
      <p:sp>
        <p:nvSpPr>
          <p:cNvPr id="38" name="Shape 34"/>
          <p:cNvSpPr/>
          <p:nvPr/>
        </p:nvSpPr>
        <p:spPr>
          <a:xfrm>
            <a:off x="8144156" y="3545259"/>
            <a:ext cx="246849" cy="450669"/>
          </a:xfrm>
          <a:prstGeom prst="rect">
            <a:avLst/>
          </a:prstGeom>
          <a:solidFill>
            <a:srgbClr val="2A6BE0"/>
          </a:solidFill>
          <a:ln/>
        </p:spPr>
        <p:txBody>
          <a:bodyPr/>
          <a:lstStyle/>
          <a:p>
            <a:endParaRPr lang="en-MY"/>
          </a:p>
        </p:txBody>
      </p:sp>
      <p:sp>
        <p:nvSpPr>
          <p:cNvPr id="39" name="Shape 35"/>
          <p:cNvSpPr/>
          <p:nvPr/>
        </p:nvSpPr>
        <p:spPr>
          <a:xfrm>
            <a:off x="8144156" y="3319925"/>
            <a:ext cx="246849" cy="225334"/>
          </a:xfrm>
          <a:prstGeom prst="rect">
            <a:avLst/>
          </a:prstGeom>
          <a:solidFill>
            <a:srgbClr val="8CE0EC"/>
          </a:solidFill>
          <a:ln/>
        </p:spPr>
        <p:txBody>
          <a:bodyPr/>
          <a:lstStyle/>
          <a:p>
            <a:endParaRPr lang="en-MY"/>
          </a:p>
        </p:txBody>
      </p:sp>
      <p:sp>
        <p:nvSpPr>
          <p:cNvPr id="40" name="Text 36"/>
          <p:cNvSpPr/>
          <p:nvPr/>
        </p:nvSpPr>
        <p:spPr>
          <a:xfrm>
            <a:off x="8061873" y="3137045"/>
            <a:ext cx="411415" cy="164592"/>
          </a:xfrm>
          <a:prstGeom prst="rect">
            <a:avLst/>
          </a:prstGeom>
          <a:noFill/>
          <a:ln/>
        </p:spPr>
        <p:txBody>
          <a:bodyPr wrap="square" lIns="0" tIns="0" rIns="0" bIns="0" rtlCol="0" anchor="t"/>
          <a:lstStyle/>
          <a:p>
            <a:pPr marL="0" indent="0" algn="ctr">
              <a:lnSpc>
                <a:spcPct val="125000"/>
              </a:lnSpc>
              <a:buNone/>
            </a:pPr>
            <a:r>
              <a:rPr lang="en-US" sz="750" dirty="0">
                <a:solidFill>
                  <a:srgbClr val="0E1B33"/>
                </a:solidFill>
                <a:latin typeface="JetBrains Mono" pitchFamily="34" charset="0"/>
                <a:ea typeface="JetBrains Mono" pitchFamily="34" charset="-122"/>
                <a:cs typeface="JetBrains Mono" pitchFamily="34" charset="-120"/>
              </a:rPr>
              <a:t>18</a:t>
            </a:r>
            <a:endParaRPr lang="en-US" sz="750" dirty="0"/>
          </a:p>
        </p:txBody>
      </p:sp>
      <p:sp>
        <p:nvSpPr>
          <p:cNvPr id="41" name="Text 37"/>
          <p:cNvSpPr/>
          <p:nvPr/>
        </p:nvSpPr>
        <p:spPr>
          <a:xfrm>
            <a:off x="8061873"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8794AC"/>
                </a:solidFill>
                <a:latin typeface="JetBrains Mono" pitchFamily="34" charset="0"/>
                <a:ea typeface="JetBrains Mono" pitchFamily="34" charset="-122"/>
                <a:cs typeface="JetBrains Mono" pitchFamily="34" charset="-120"/>
              </a:rPr>
              <a:t>May</a:t>
            </a:r>
            <a:endParaRPr lang="en-US" sz="650" dirty="0"/>
          </a:p>
        </p:txBody>
      </p:sp>
      <p:sp>
        <p:nvSpPr>
          <p:cNvPr id="42" name="Shape 38"/>
          <p:cNvSpPr/>
          <p:nvPr/>
        </p:nvSpPr>
        <p:spPr>
          <a:xfrm>
            <a:off x="8555571" y="3319925"/>
            <a:ext cx="246849" cy="676003"/>
          </a:xfrm>
          <a:prstGeom prst="rect">
            <a:avLst/>
          </a:prstGeom>
          <a:solidFill>
            <a:srgbClr val="2A6BE0"/>
          </a:solidFill>
          <a:ln/>
        </p:spPr>
        <p:txBody>
          <a:bodyPr/>
          <a:lstStyle/>
          <a:p>
            <a:endParaRPr lang="en-MY"/>
          </a:p>
        </p:txBody>
      </p:sp>
      <p:sp>
        <p:nvSpPr>
          <p:cNvPr id="43" name="Shape 39"/>
          <p:cNvSpPr/>
          <p:nvPr/>
        </p:nvSpPr>
        <p:spPr>
          <a:xfrm>
            <a:off x="8555571" y="2944368"/>
            <a:ext cx="246849" cy="375557"/>
          </a:xfrm>
          <a:prstGeom prst="rect">
            <a:avLst/>
          </a:prstGeom>
          <a:solidFill>
            <a:srgbClr val="8CE0EC"/>
          </a:solidFill>
          <a:ln/>
        </p:spPr>
        <p:txBody>
          <a:bodyPr/>
          <a:lstStyle/>
          <a:p>
            <a:endParaRPr lang="en-MY"/>
          </a:p>
        </p:txBody>
      </p:sp>
      <p:sp>
        <p:nvSpPr>
          <p:cNvPr id="44" name="Text 40"/>
          <p:cNvSpPr/>
          <p:nvPr/>
        </p:nvSpPr>
        <p:spPr>
          <a:xfrm>
            <a:off x="8473288" y="2761488"/>
            <a:ext cx="411415" cy="164592"/>
          </a:xfrm>
          <a:prstGeom prst="rect">
            <a:avLst/>
          </a:prstGeom>
          <a:noFill/>
          <a:ln/>
        </p:spPr>
        <p:txBody>
          <a:bodyPr wrap="square" lIns="0" tIns="0" rIns="0" bIns="0" rtlCol="0" anchor="t"/>
          <a:lstStyle/>
          <a:p>
            <a:pPr marL="0" indent="0" algn="ctr">
              <a:lnSpc>
                <a:spcPct val="125000"/>
              </a:lnSpc>
              <a:buNone/>
            </a:pPr>
            <a:r>
              <a:rPr lang="en-US" sz="750" b="1" dirty="0">
                <a:solidFill>
                  <a:srgbClr val="2A6BE0"/>
                </a:solidFill>
                <a:latin typeface="JetBrains Mono" pitchFamily="34" charset="0"/>
                <a:ea typeface="JetBrains Mono" pitchFamily="34" charset="-122"/>
                <a:cs typeface="JetBrains Mono" pitchFamily="34" charset="-120"/>
              </a:rPr>
              <a:t>28</a:t>
            </a:r>
            <a:endParaRPr lang="en-US" sz="750" dirty="0"/>
          </a:p>
        </p:txBody>
      </p:sp>
      <p:sp>
        <p:nvSpPr>
          <p:cNvPr id="45" name="Text 41"/>
          <p:cNvSpPr/>
          <p:nvPr/>
        </p:nvSpPr>
        <p:spPr>
          <a:xfrm>
            <a:off x="8473288"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2A6BE0"/>
                </a:solidFill>
                <a:latin typeface="JetBrains Mono" pitchFamily="34" charset="0"/>
                <a:ea typeface="JetBrains Mono" pitchFamily="34" charset="-122"/>
                <a:cs typeface="JetBrains Mono" pitchFamily="34" charset="-120"/>
              </a:rPr>
              <a:t>Jun</a:t>
            </a:r>
            <a:endParaRPr lang="en-US" sz="650" dirty="0"/>
          </a:p>
        </p:txBody>
      </p:sp>
      <p:sp>
        <p:nvSpPr>
          <p:cNvPr id="46" name="Shape 42"/>
          <p:cNvSpPr/>
          <p:nvPr/>
        </p:nvSpPr>
        <p:spPr>
          <a:xfrm>
            <a:off x="8966985" y="3545259"/>
            <a:ext cx="246849" cy="450669"/>
          </a:xfrm>
          <a:prstGeom prst="rect">
            <a:avLst/>
          </a:prstGeom>
          <a:solidFill>
            <a:srgbClr val="2A6BE0"/>
          </a:solidFill>
          <a:ln/>
        </p:spPr>
        <p:txBody>
          <a:bodyPr/>
          <a:lstStyle/>
          <a:p>
            <a:endParaRPr lang="en-MY"/>
          </a:p>
        </p:txBody>
      </p:sp>
      <p:sp>
        <p:nvSpPr>
          <p:cNvPr id="47" name="Shape 43"/>
          <p:cNvSpPr/>
          <p:nvPr/>
        </p:nvSpPr>
        <p:spPr>
          <a:xfrm>
            <a:off x="8966985" y="3319925"/>
            <a:ext cx="246849" cy="225334"/>
          </a:xfrm>
          <a:prstGeom prst="rect">
            <a:avLst/>
          </a:prstGeom>
          <a:solidFill>
            <a:srgbClr val="8CE0EC"/>
          </a:solidFill>
          <a:ln/>
        </p:spPr>
        <p:txBody>
          <a:bodyPr/>
          <a:lstStyle/>
          <a:p>
            <a:endParaRPr lang="en-MY"/>
          </a:p>
        </p:txBody>
      </p:sp>
      <p:sp>
        <p:nvSpPr>
          <p:cNvPr id="48" name="Text 44"/>
          <p:cNvSpPr/>
          <p:nvPr/>
        </p:nvSpPr>
        <p:spPr>
          <a:xfrm>
            <a:off x="8884702" y="3137045"/>
            <a:ext cx="411415" cy="164592"/>
          </a:xfrm>
          <a:prstGeom prst="rect">
            <a:avLst/>
          </a:prstGeom>
          <a:noFill/>
          <a:ln/>
        </p:spPr>
        <p:txBody>
          <a:bodyPr wrap="square" lIns="0" tIns="0" rIns="0" bIns="0" rtlCol="0" anchor="t"/>
          <a:lstStyle/>
          <a:p>
            <a:pPr marL="0" indent="0" algn="ctr">
              <a:lnSpc>
                <a:spcPct val="125000"/>
              </a:lnSpc>
              <a:buNone/>
            </a:pPr>
            <a:r>
              <a:rPr lang="en-US" sz="750" dirty="0">
                <a:solidFill>
                  <a:srgbClr val="0E1B33"/>
                </a:solidFill>
                <a:latin typeface="JetBrains Mono" pitchFamily="34" charset="0"/>
                <a:ea typeface="JetBrains Mono" pitchFamily="34" charset="-122"/>
                <a:cs typeface="JetBrains Mono" pitchFamily="34" charset="-120"/>
              </a:rPr>
              <a:t>18</a:t>
            </a:r>
            <a:endParaRPr lang="en-US" sz="750" dirty="0"/>
          </a:p>
        </p:txBody>
      </p:sp>
      <p:sp>
        <p:nvSpPr>
          <p:cNvPr id="49" name="Text 45"/>
          <p:cNvSpPr/>
          <p:nvPr/>
        </p:nvSpPr>
        <p:spPr>
          <a:xfrm>
            <a:off x="8884702"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8794AC"/>
                </a:solidFill>
                <a:latin typeface="JetBrains Mono" pitchFamily="34" charset="0"/>
                <a:ea typeface="JetBrains Mono" pitchFamily="34" charset="-122"/>
                <a:cs typeface="JetBrains Mono" pitchFamily="34" charset="-120"/>
              </a:rPr>
              <a:t>Jul</a:t>
            </a:r>
            <a:endParaRPr lang="en-US" sz="650" dirty="0"/>
          </a:p>
        </p:txBody>
      </p:sp>
      <p:sp>
        <p:nvSpPr>
          <p:cNvPr id="50" name="Shape 46"/>
          <p:cNvSpPr/>
          <p:nvPr/>
        </p:nvSpPr>
        <p:spPr>
          <a:xfrm>
            <a:off x="9378400" y="3545259"/>
            <a:ext cx="246849" cy="450669"/>
          </a:xfrm>
          <a:prstGeom prst="rect">
            <a:avLst/>
          </a:prstGeom>
          <a:solidFill>
            <a:srgbClr val="2A6BE0"/>
          </a:solidFill>
          <a:ln/>
        </p:spPr>
        <p:txBody>
          <a:bodyPr/>
          <a:lstStyle/>
          <a:p>
            <a:endParaRPr lang="en-MY"/>
          </a:p>
        </p:txBody>
      </p:sp>
      <p:sp>
        <p:nvSpPr>
          <p:cNvPr id="51" name="Shape 47"/>
          <p:cNvSpPr/>
          <p:nvPr/>
        </p:nvSpPr>
        <p:spPr>
          <a:xfrm>
            <a:off x="9378400" y="3319925"/>
            <a:ext cx="246849" cy="225334"/>
          </a:xfrm>
          <a:prstGeom prst="rect">
            <a:avLst/>
          </a:prstGeom>
          <a:solidFill>
            <a:srgbClr val="8CE0EC"/>
          </a:solidFill>
          <a:ln/>
        </p:spPr>
        <p:txBody>
          <a:bodyPr/>
          <a:lstStyle/>
          <a:p>
            <a:endParaRPr lang="en-MY"/>
          </a:p>
        </p:txBody>
      </p:sp>
      <p:sp>
        <p:nvSpPr>
          <p:cNvPr id="52" name="Text 48"/>
          <p:cNvSpPr/>
          <p:nvPr/>
        </p:nvSpPr>
        <p:spPr>
          <a:xfrm>
            <a:off x="9296117" y="3137045"/>
            <a:ext cx="411415" cy="164592"/>
          </a:xfrm>
          <a:prstGeom prst="rect">
            <a:avLst/>
          </a:prstGeom>
          <a:noFill/>
          <a:ln/>
        </p:spPr>
        <p:txBody>
          <a:bodyPr wrap="square" lIns="0" tIns="0" rIns="0" bIns="0" rtlCol="0" anchor="t"/>
          <a:lstStyle/>
          <a:p>
            <a:pPr marL="0" indent="0" algn="ctr">
              <a:lnSpc>
                <a:spcPct val="125000"/>
              </a:lnSpc>
              <a:buNone/>
            </a:pPr>
            <a:r>
              <a:rPr lang="en-US" sz="750" dirty="0">
                <a:solidFill>
                  <a:srgbClr val="0E1B33"/>
                </a:solidFill>
                <a:latin typeface="JetBrains Mono" pitchFamily="34" charset="0"/>
                <a:ea typeface="JetBrains Mono" pitchFamily="34" charset="-122"/>
                <a:cs typeface="JetBrains Mono" pitchFamily="34" charset="-120"/>
              </a:rPr>
              <a:t>18</a:t>
            </a:r>
            <a:endParaRPr lang="en-US" sz="750" dirty="0"/>
          </a:p>
        </p:txBody>
      </p:sp>
      <p:sp>
        <p:nvSpPr>
          <p:cNvPr id="53" name="Text 49"/>
          <p:cNvSpPr/>
          <p:nvPr/>
        </p:nvSpPr>
        <p:spPr>
          <a:xfrm>
            <a:off x="9296117"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8794AC"/>
                </a:solidFill>
                <a:latin typeface="JetBrains Mono" pitchFamily="34" charset="0"/>
                <a:ea typeface="JetBrains Mono" pitchFamily="34" charset="-122"/>
                <a:cs typeface="JetBrains Mono" pitchFamily="34" charset="-120"/>
              </a:rPr>
              <a:t>Aug</a:t>
            </a:r>
            <a:endParaRPr lang="en-US" sz="650" dirty="0"/>
          </a:p>
        </p:txBody>
      </p:sp>
      <p:sp>
        <p:nvSpPr>
          <p:cNvPr id="54" name="Shape 50"/>
          <p:cNvSpPr/>
          <p:nvPr/>
        </p:nvSpPr>
        <p:spPr>
          <a:xfrm>
            <a:off x="9789815" y="3545259"/>
            <a:ext cx="246849" cy="450669"/>
          </a:xfrm>
          <a:prstGeom prst="rect">
            <a:avLst/>
          </a:prstGeom>
          <a:solidFill>
            <a:srgbClr val="2A6BE0"/>
          </a:solidFill>
          <a:ln/>
        </p:spPr>
        <p:txBody>
          <a:bodyPr/>
          <a:lstStyle/>
          <a:p>
            <a:endParaRPr lang="en-MY"/>
          </a:p>
        </p:txBody>
      </p:sp>
      <p:sp>
        <p:nvSpPr>
          <p:cNvPr id="55" name="Shape 51"/>
          <p:cNvSpPr/>
          <p:nvPr/>
        </p:nvSpPr>
        <p:spPr>
          <a:xfrm>
            <a:off x="9789815" y="3319925"/>
            <a:ext cx="246849" cy="225334"/>
          </a:xfrm>
          <a:prstGeom prst="rect">
            <a:avLst/>
          </a:prstGeom>
          <a:solidFill>
            <a:srgbClr val="8CE0EC"/>
          </a:solidFill>
          <a:ln/>
        </p:spPr>
        <p:txBody>
          <a:bodyPr/>
          <a:lstStyle/>
          <a:p>
            <a:endParaRPr lang="en-MY"/>
          </a:p>
        </p:txBody>
      </p:sp>
      <p:sp>
        <p:nvSpPr>
          <p:cNvPr id="56" name="Text 52"/>
          <p:cNvSpPr/>
          <p:nvPr/>
        </p:nvSpPr>
        <p:spPr>
          <a:xfrm>
            <a:off x="9707532" y="3137045"/>
            <a:ext cx="411415" cy="164592"/>
          </a:xfrm>
          <a:prstGeom prst="rect">
            <a:avLst/>
          </a:prstGeom>
          <a:noFill/>
          <a:ln/>
        </p:spPr>
        <p:txBody>
          <a:bodyPr wrap="square" lIns="0" tIns="0" rIns="0" bIns="0" rtlCol="0" anchor="t"/>
          <a:lstStyle/>
          <a:p>
            <a:pPr marL="0" indent="0" algn="ctr">
              <a:lnSpc>
                <a:spcPct val="125000"/>
              </a:lnSpc>
              <a:buNone/>
            </a:pPr>
            <a:r>
              <a:rPr lang="en-US" sz="750" dirty="0">
                <a:solidFill>
                  <a:srgbClr val="0E1B33"/>
                </a:solidFill>
                <a:latin typeface="JetBrains Mono" pitchFamily="34" charset="0"/>
                <a:ea typeface="JetBrains Mono" pitchFamily="34" charset="-122"/>
                <a:cs typeface="JetBrains Mono" pitchFamily="34" charset="-120"/>
              </a:rPr>
              <a:t>18</a:t>
            </a:r>
            <a:endParaRPr lang="en-US" sz="750" dirty="0"/>
          </a:p>
        </p:txBody>
      </p:sp>
      <p:sp>
        <p:nvSpPr>
          <p:cNvPr id="57" name="Text 53"/>
          <p:cNvSpPr/>
          <p:nvPr/>
        </p:nvSpPr>
        <p:spPr>
          <a:xfrm>
            <a:off x="9707532"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8794AC"/>
                </a:solidFill>
                <a:latin typeface="JetBrains Mono" pitchFamily="34" charset="0"/>
                <a:ea typeface="JetBrains Mono" pitchFamily="34" charset="-122"/>
                <a:cs typeface="JetBrains Mono" pitchFamily="34" charset="-120"/>
              </a:rPr>
              <a:t>Sep</a:t>
            </a:r>
            <a:endParaRPr lang="en-US" sz="650" dirty="0"/>
          </a:p>
        </p:txBody>
      </p:sp>
      <p:sp>
        <p:nvSpPr>
          <p:cNvPr id="58" name="Shape 54"/>
          <p:cNvSpPr/>
          <p:nvPr/>
        </p:nvSpPr>
        <p:spPr>
          <a:xfrm>
            <a:off x="10201229" y="3319925"/>
            <a:ext cx="246849" cy="676003"/>
          </a:xfrm>
          <a:prstGeom prst="rect">
            <a:avLst/>
          </a:prstGeom>
          <a:solidFill>
            <a:srgbClr val="2A6BE0"/>
          </a:solidFill>
          <a:ln/>
        </p:spPr>
        <p:txBody>
          <a:bodyPr/>
          <a:lstStyle/>
          <a:p>
            <a:endParaRPr lang="en-MY"/>
          </a:p>
        </p:txBody>
      </p:sp>
      <p:sp>
        <p:nvSpPr>
          <p:cNvPr id="59" name="Shape 55"/>
          <p:cNvSpPr/>
          <p:nvPr/>
        </p:nvSpPr>
        <p:spPr>
          <a:xfrm>
            <a:off x="10201229" y="2944368"/>
            <a:ext cx="246849" cy="375557"/>
          </a:xfrm>
          <a:prstGeom prst="rect">
            <a:avLst/>
          </a:prstGeom>
          <a:solidFill>
            <a:srgbClr val="8CE0EC"/>
          </a:solidFill>
          <a:ln/>
        </p:spPr>
        <p:txBody>
          <a:bodyPr/>
          <a:lstStyle/>
          <a:p>
            <a:endParaRPr lang="en-MY"/>
          </a:p>
        </p:txBody>
      </p:sp>
      <p:sp>
        <p:nvSpPr>
          <p:cNvPr id="60" name="Text 56"/>
          <p:cNvSpPr/>
          <p:nvPr/>
        </p:nvSpPr>
        <p:spPr>
          <a:xfrm>
            <a:off x="10118946" y="2761488"/>
            <a:ext cx="411415" cy="164592"/>
          </a:xfrm>
          <a:prstGeom prst="rect">
            <a:avLst/>
          </a:prstGeom>
          <a:noFill/>
          <a:ln/>
        </p:spPr>
        <p:txBody>
          <a:bodyPr wrap="square" lIns="0" tIns="0" rIns="0" bIns="0" rtlCol="0" anchor="t"/>
          <a:lstStyle/>
          <a:p>
            <a:pPr marL="0" indent="0" algn="ctr">
              <a:lnSpc>
                <a:spcPct val="125000"/>
              </a:lnSpc>
              <a:buNone/>
            </a:pPr>
            <a:r>
              <a:rPr lang="en-US" sz="750" b="1" dirty="0">
                <a:solidFill>
                  <a:srgbClr val="2A6BE0"/>
                </a:solidFill>
                <a:latin typeface="JetBrains Mono" pitchFamily="34" charset="0"/>
                <a:ea typeface="JetBrains Mono" pitchFamily="34" charset="-122"/>
                <a:cs typeface="JetBrains Mono" pitchFamily="34" charset="-120"/>
              </a:rPr>
              <a:t>28</a:t>
            </a:r>
            <a:endParaRPr lang="en-US" sz="750" dirty="0"/>
          </a:p>
        </p:txBody>
      </p:sp>
      <p:sp>
        <p:nvSpPr>
          <p:cNvPr id="61" name="Text 57"/>
          <p:cNvSpPr/>
          <p:nvPr/>
        </p:nvSpPr>
        <p:spPr>
          <a:xfrm>
            <a:off x="10118946"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2A6BE0"/>
                </a:solidFill>
                <a:latin typeface="JetBrains Mono" pitchFamily="34" charset="0"/>
                <a:ea typeface="JetBrains Mono" pitchFamily="34" charset="-122"/>
                <a:cs typeface="JetBrains Mono" pitchFamily="34" charset="-120"/>
              </a:rPr>
              <a:t>Oct</a:t>
            </a:r>
            <a:endParaRPr lang="en-US" sz="650" dirty="0"/>
          </a:p>
        </p:txBody>
      </p:sp>
      <p:sp>
        <p:nvSpPr>
          <p:cNvPr id="62" name="Shape 58"/>
          <p:cNvSpPr/>
          <p:nvPr/>
        </p:nvSpPr>
        <p:spPr>
          <a:xfrm>
            <a:off x="10612644" y="3319925"/>
            <a:ext cx="246849" cy="676003"/>
          </a:xfrm>
          <a:prstGeom prst="rect">
            <a:avLst/>
          </a:prstGeom>
          <a:solidFill>
            <a:srgbClr val="2A6BE0"/>
          </a:solidFill>
          <a:ln/>
        </p:spPr>
        <p:txBody>
          <a:bodyPr/>
          <a:lstStyle/>
          <a:p>
            <a:endParaRPr lang="en-MY"/>
          </a:p>
        </p:txBody>
      </p:sp>
      <p:sp>
        <p:nvSpPr>
          <p:cNvPr id="63" name="Shape 59"/>
          <p:cNvSpPr/>
          <p:nvPr/>
        </p:nvSpPr>
        <p:spPr>
          <a:xfrm>
            <a:off x="10612644" y="2944368"/>
            <a:ext cx="246849" cy="375557"/>
          </a:xfrm>
          <a:prstGeom prst="rect">
            <a:avLst/>
          </a:prstGeom>
          <a:solidFill>
            <a:srgbClr val="8CE0EC"/>
          </a:solidFill>
          <a:ln/>
        </p:spPr>
        <p:txBody>
          <a:bodyPr/>
          <a:lstStyle/>
          <a:p>
            <a:endParaRPr lang="en-MY"/>
          </a:p>
        </p:txBody>
      </p:sp>
      <p:sp>
        <p:nvSpPr>
          <p:cNvPr id="64" name="Text 60"/>
          <p:cNvSpPr/>
          <p:nvPr/>
        </p:nvSpPr>
        <p:spPr>
          <a:xfrm>
            <a:off x="10530361" y="2761488"/>
            <a:ext cx="411415" cy="164592"/>
          </a:xfrm>
          <a:prstGeom prst="rect">
            <a:avLst/>
          </a:prstGeom>
          <a:noFill/>
          <a:ln/>
        </p:spPr>
        <p:txBody>
          <a:bodyPr wrap="square" lIns="0" tIns="0" rIns="0" bIns="0" rtlCol="0" anchor="t"/>
          <a:lstStyle/>
          <a:p>
            <a:pPr marL="0" indent="0" algn="ctr">
              <a:lnSpc>
                <a:spcPct val="125000"/>
              </a:lnSpc>
              <a:buNone/>
            </a:pPr>
            <a:r>
              <a:rPr lang="en-US" sz="750" b="1" dirty="0">
                <a:solidFill>
                  <a:srgbClr val="2A6BE0"/>
                </a:solidFill>
                <a:latin typeface="JetBrains Mono" pitchFamily="34" charset="0"/>
                <a:ea typeface="JetBrains Mono" pitchFamily="34" charset="-122"/>
                <a:cs typeface="JetBrains Mono" pitchFamily="34" charset="-120"/>
              </a:rPr>
              <a:t>28</a:t>
            </a:r>
            <a:endParaRPr lang="en-US" sz="750" dirty="0"/>
          </a:p>
        </p:txBody>
      </p:sp>
      <p:sp>
        <p:nvSpPr>
          <p:cNvPr id="65" name="Text 61"/>
          <p:cNvSpPr/>
          <p:nvPr/>
        </p:nvSpPr>
        <p:spPr>
          <a:xfrm>
            <a:off x="10530361"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2A6BE0"/>
                </a:solidFill>
                <a:latin typeface="JetBrains Mono" pitchFamily="34" charset="0"/>
                <a:ea typeface="JetBrains Mono" pitchFamily="34" charset="-122"/>
                <a:cs typeface="JetBrains Mono" pitchFamily="34" charset="-120"/>
              </a:rPr>
              <a:t>Nov</a:t>
            </a:r>
            <a:endParaRPr lang="en-US" sz="650" dirty="0"/>
          </a:p>
        </p:txBody>
      </p:sp>
      <p:sp>
        <p:nvSpPr>
          <p:cNvPr id="66" name="Shape 62"/>
          <p:cNvSpPr/>
          <p:nvPr/>
        </p:nvSpPr>
        <p:spPr>
          <a:xfrm>
            <a:off x="11024059" y="3545259"/>
            <a:ext cx="246849" cy="450669"/>
          </a:xfrm>
          <a:prstGeom prst="rect">
            <a:avLst/>
          </a:prstGeom>
          <a:solidFill>
            <a:srgbClr val="2A6BE0"/>
          </a:solidFill>
          <a:ln/>
        </p:spPr>
        <p:txBody>
          <a:bodyPr/>
          <a:lstStyle/>
          <a:p>
            <a:endParaRPr lang="en-MY"/>
          </a:p>
        </p:txBody>
      </p:sp>
      <p:sp>
        <p:nvSpPr>
          <p:cNvPr id="67" name="Shape 63"/>
          <p:cNvSpPr/>
          <p:nvPr/>
        </p:nvSpPr>
        <p:spPr>
          <a:xfrm>
            <a:off x="11024059" y="3319925"/>
            <a:ext cx="246849" cy="225334"/>
          </a:xfrm>
          <a:prstGeom prst="rect">
            <a:avLst/>
          </a:prstGeom>
          <a:solidFill>
            <a:srgbClr val="8CE0EC"/>
          </a:solidFill>
          <a:ln/>
        </p:spPr>
        <p:txBody>
          <a:bodyPr/>
          <a:lstStyle/>
          <a:p>
            <a:endParaRPr lang="en-MY"/>
          </a:p>
        </p:txBody>
      </p:sp>
      <p:sp>
        <p:nvSpPr>
          <p:cNvPr id="68" name="Text 64"/>
          <p:cNvSpPr/>
          <p:nvPr/>
        </p:nvSpPr>
        <p:spPr>
          <a:xfrm>
            <a:off x="10941776" y="3137045"/>
            <a:ext cx="411415" cy="164592"/>
          </a:xfrm>
          <a:prstGeom prst="rect">
            <a:avLst/>
          </a:prstGeom>
          <a:noFill/>
          <a:ln/>
        </p:spPr>
        <p:txBody>
          <a:bodyPr wrap="square" lIns="0" tIns="0" rIns="0" bIns="0" rtlCol="0" anchor="t"/>
          <a:lstStyle/>
          <a:p>
            <a:pPr marL="0" indent="0" algn="ctr">
              <a:lnSpc>
                <a:spcPct val="125000"/>
              </a:lnSpc>
              <a:buNone/>
            </a:pPr>
            <a:r>
              <a:rPr lang="en-US" sz="750" dirty="0">
                <a:solidFill>
                  <a:srgbClr val="0E1B33"/>
                </a:solidFill>
                <a:latin typeface="JetBrains Mono" pitchFamily="34" charset="0"/>
                <a:ea typeface="JetBrains Mono" pitchFamily="34" charset="-122"/>
                <a:cs typeface="JetBrains Mono" pitchFamily="34" charset="-120"/>
              </a:rPr>
              <a:t>18</a:t>
            </a:r>
            <a:endParaRPr lang="en-US" sz="750" dirty="0"/>
          </a:p>
        </p:txBody>
      </p:sp>
      <p:sp>
        <p:nvSpPr>
          <p:cNvPr id="69" name="Text 65"/>
          <p:cNvSpPr/>
          <p:nvPr/>
        </p:nvSpPr>
        <p:spPr>
          <a:xfrm>
            <a:off x="10941776" y="4041648"/>
            <a:ext cx="411415" cy="146304"/>
          </a:xfrm>
          <a:prstGeom prst="rect">
            <a:avLst/>
          </a:prstGeom>
          <a:noFill/>
          <a:ln/>
        </p:spPr>
        <p:txBody>
          <a:bodyPr wrap="square" lIns="0" tIns="0" rIns="0" bIns="0" rtlCol="0" anchor="t"/>
          <a:lstStyle/>
          <a:p>
            <a:pPr marL="0" indent="0" algn="ctr">
              <a:lnSpc>
                <a:spcPct val="125000"/>
              </a:lnSpc>
              <a:buNone/>
            </a:pPr>
            <a:r>
              <a:rPr lang="en-US" sz="650" dirty="0">
                <a:solidFill>
                  <a:srgbClr val="8794AC"/>
                </a:solidFill>
                <a:latin typeface="JetBrains Mono" pitchFamily="34" charset="0"/>
                <a:ea typeface="JetBrains Mono" pitchFamily="34" charset="-122"/>
                <a:cs typeface="JetBrains Mono" pitchFamily="34" charset="-120"/>
              </a:rPr>
              <a:t>Dec</a:t>
            </a:r>
            <a:endParaRPr lang="en-US" sz="650" dirty="0"/>
          </a:p>
        </p:txBody>
      </p:sp>
      <p:sp>
        <p:nvSpPr>
          <p:cNvPr id="70" name="Shape 66"/>
          <p:cNvSpPr/>
          <p:nvPr/>
        </p:nvSpPr>
        <p:spPr>
          <a:xfrm>
            <a:off x="5593385" y="3995928"/>
            <a:ext cx="5759806" cy="9144"/>
          </a:xfrm>
          <a:prstGeom prst="rect">
            <a:avLst/>
          </a:prstGeom>
          <a:solidFill>
            <a:srgbClr val="0E1B33"/>
          </a:solidFill>
          <a:ln/>
        </p:spPr>
        <p:txBody>
          <a:bodyPr/>
          <a:lstStyle/>
          <a:p>
            <a:endParaRPr lang="en-MY"/>
          </a:p>
        </p:txBody>
      </p:sp>
      <p:sp>
        <p:nvSpPr>
          <p:cNvPr id="71" name="Text 67"/>
          <p:cNvSpPr/>
          <p:nvPr/>
        </p:nvSpPr>
        <p:spPr>
          <a:xfrm>
            <a:off x="5593385" y="4224528"/>
            <a:ext cx="5759806" cy="182880"/>
          </a:xfrm>
          <a:prstGeom prst="rect">
            <a:avLst/>
          </a:prstGeom>
          <a:noFill/>
          <a:ln/>
        </p:spPr>
        <p:txBody>
          <a:bodyPr wrap="square" lIns="0" tIns="0" rIns="0" bIns="0" rtlCol="0" anchor="t"/>
          <a:lstStyle/>
          <a:p>
            <a:pPr marL="0" indent="0">
              <a:lnSpc>
                <a:spcPct val="125000"/>
              </a:lnSpc>
              <a:buNone/>
            </a:pPr>
            <a:r>
              <a:rPr lang="en-US" sz="850" dirty="0">
                <a:solidFill>
                  <a:srgbClr val="8794AC"/>
                </a:solidFill>
                <a:latin typeface="Instrument Sans" pitchFamily="34" charset="0"/>
                <a:ea typeface="Instrument Sans" pitchFamily="34" charset="-122"/>
                <a:cs typeface="Instrument Sans" pitchFamily="34" charset="-120"/>
              </a:rPr>
              <a:t>302 pieces over 14 months.</a:t>
            </a:r>
            <a:endParaRPr lang="en-US" sz="850" dirty="0"/>
          </a:p>
        </p:txBody>
      </p:sp>
      <p:sp>
        <p:nvSpPr>
          <p:cNvPr id="72" name="Shape 68"/>
          <p:cNvSpPr/>
          <p:nvPr/>
        </p:nvSpPr>
        <p:spPr>
          <a:xfrm>
            <a:off x="609905" y="4590288"/>
            <a:ext cx="3529584" cy="1691640"/>
          </a:xfrm>
          <a:prstGeom prst="roundRect">
            <a:avLst>
              <a:gd name="adj" fmla="val 7027"/>
            </a:avLst>
          </a:prstGeom>
          <a:solidFill>
            <a:srgbClr val="FFFFFF"/>
          </a:solidFill>
          <a:ln w="9525">
            <a:solidFill>
              <a:srgbClr val="D5E2F0"/>
            </a:solidFill>
            <a:prstDash val="solid"/>
          </a:ln>
        </p:spPr>
        <p:txBody>
          <a:bodyPr/>
          <a:lstStyle/>
          <a:p>
            <a:endParaRPr lang="en-MY"/>
          </a:p>
        </p:txBody>
      </p:sp>
      <p:sp>
        <p:nvSpPr>
          <p:cNvPr id="73" name="Text 69"/>
          <p:cNvSpPr/>
          <p:nvPr/>
        </p:nvSpPr>
        <p:spPr>
          <a:xfrm>
            <a:off x="838505" y="4773168"/>
            <a:ext cx="1828800" cy="182880"/>
          </a:xfrm>
          <a:prstGeom prst="rect">
            <a:avLst/>
          </a:prstGeom>
          <a:noFill/>
          <a:ln/>
        </p:spPr>
        <p:txBody>
          <a:bodyPr wrap="square" lIns="0" tIns="0" rIns="0" bIns="0" rtlCol="0" anchor="t"/>
          <a:lstStyle/>
          <a:p>
            <a:pPr marL="0" indent="0">
              <a:lnSpc>
                <a:spcPct val="125000"/>
              </a:lnSpc>
              <a:buNone/>
            </a:pPr>
            <a:r>
              <a:rPr lang="en-US" sz="700" kern="0" spc="60" dirty="0">
                <a:solidFill>
                  <a:srgbClr val="8794AC"/>
                </a:solidFill>
                <a:latin typeface="JetBrains Mono" pitchFamily="34" charset="0"/>
                <a:ea typeface="JetBrains Mono" pitchFamily="34" charset="-122"/>
                <a:cs typeface="JetBrains Mono" pitchFamily="34" charset="-120"/>
              </a:rPr>
              <a:t>OPTION 1</a:t>
            </a:r>
            <a:endParaRPr lang="en-US" sz="700" dirty="0"/>
          </a:p>
        </p:txBody>
      </p:sp>
      <p:sp>
        <p:nvSpPr>
          <p:cNvPr id="74" name="Text 70"/>
          <p:cNvSpPr/>
          <p:nvPr/>
        </p:nvSpPr>
        <p:spPr>
          <a:xfrm>
            <a:off x="838505" y="4974336"/>
            <a:ext cx="3072384" cy="274320"/>
          </a:xfrm>
          <a:prstGeom prst="rect">
            <a:avLst/>
          </a:prstGeom>
          <a:noFill/>
          <a:ln/>
        </p:spPr>
        <p:txBody>
          <a:bodyPr wrap="square" lIns="0" tIns="0" rIns="0" bIns="0" rtlCol="0" anchor="t"/>
          <a:lstStyle/>
          <a:p>
            <a:pPr marL="0" indent="0">
              <a:lnSpc>
                <a:spcPct val="100000"/>
              </a:lnSpc>
              <a:buNone/>
            </a:pPr>
            <a:r>
              <a:rPr lang="en-US" sz="1900" dirty="0">
                <a:solidFill>
                  <a:srgbClr val="0E1B33"/>
                </a:solidFill>
                <a:latin typeface="Instrument Serif" pitchFamily="34" charset="0"/>
                <a:ea typeface="Instrument Serif" pitchFamily="34" charset="-122"/>
                <a:cs typeface="Instrument Serif" pitchFamily="34" charset="-120"/>
              </a:rPr>
              <a:t>You film, we edit</a:t>
            </a:r>
            <a:endParaRPr lang="en-US" sz="1900" dirty="0"/>
          </a:p>
        </p:txBody>
      </p:sp>
      <p:sp>
        <p:nvSpPr>
          <p:cNvPr id="75" name="Text 71"/>
          <p:cNvSpPr/>
          <p:nvPr/>
        </p:nvSpPr>
        <p:spPr>
          <a:xfrm>
            <a:off x="838505" y="5340096"/>
            <a:ext cx="3072384" cy="566928"/>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IJN films and Toggle write the scripts, edit the videos and design the images.</a:t>
            </a:r>
            <a:endParaRPr lang="en-US" sz="1050" dirty="0"/>
          </a:p>
        </p:txBody>
      </p:sp>
      <p:sp>
        <p:nvSpPr>
          <p:cNvPr id="76" name="Text 72"/>
          <p:cNvSpPr/>
          <p:nvPr/>
        </p:nvSpPr>
        <p:spPr>
          <a:xfrm>
            <a:off x="838505" y="5961888"/>
            <a:ext cx="3072384" cy="201168"/>
          </a:xfrm>
          <a:prstGeom prst="rect">
            <a:avLst/>
          </a:prstGeom>
          <a:noFill/>
          <a:ln/>
        </p:spPr>
        <p:txBody>
          <a:bodyPr wrap="square" lIns="0" tIns="0" rIns="0" bIns="0" rtlCol="0" anchor="t"/>
          <a:lstStyle/>
          <a:p>
            <a:pPr marL="0" indent="0">
              <a:lnSpc>
                <a:spcPct val="125000"/>
              </a:lnSpc>
              <a:buNone/>
            </a:pPr>
            <a:r>
              <a:rPr lang="en-US" sz="950" b="1" dirty="0">
                <a:solidFill>
                  <a:srgbClr val="2A6BE0"/>
                </a:solidFill>
                <a:latin typeface="Instrument Sans" pitchFamily="34" charset="0"/>
                <a:ea typeface="Instrument Sans" pitchFamily="34" charset="-122"/>
                <a:cs typeface="Instrument Sans" pitchFamily="34" charset="-120"/>
              </a:rPr>
              <a:t>Best if your team can film every week.</a:t>
            </a:r>
            <a:endParaRPr lang="en-US" sz="950" dirty="0"/>
          </a:p>
        </p:txBody>
      </p:sp>
      <p:sp>
        <p:nvSpPr>
          <p:cNvPr id="77" name="Shape 73"/>
          <p:cNvSpPr/>
          <p:nvPr/>
        </p:nvSpPr>
        <p:spPr>
          <a:xfrm>
            <a:off x="4331513" y="4590288"/>
            <a:ext cx="3529584" cy="1691640"/>
          </a:xfrm>
          <a:prstGeom prst="roundRect">
            <a:avLst>
              <a:gd name="adj" fmla="val 7027"/>
            </a:avLst>
          </a:prstGeom>
          <a:solidFill>
            <a:srgbClr val="FFFFFF"/>
          </a:solidFill>
          <a:ln w="9525">
            <a:solidFill>
              <a:srgbClr val="D5E2F0"/>
            </a:solidFill>
            <a:prstDash val="solid"/>
          </a:ln>
        </p:spPr>
        <p:txBody>
          <a:bodyPr/>
          <a:lstStyle/>
          <a:p>
            <a:endParaRPr lang="en-MY"/>
          </a:p>
        </p:txBody>
      </p:sp>
      <p:sp>
        <p:nvSpPr>
          <p:cNvPr id="78" name="Text 74"/>
          <p:cNvSpPr/>
          <p:nvPr/>
        </p:nvSpPr>
        <p:spPr>
          <a:xfrm>
            <a:off x="4560113" y="4773168"/>
            <a:ext cx="1828800" cy="182880"/>
          </a:xfrm>
          <a:prstGeom prst="rect">
            <a:avLst/>
          </a:prstGeom>
          <a:noFill/>
          <a:ln/>
        </p:spPr>
        <p:txBody>
          <a:bodyPr wrap="square" lIns="0" tIns="0" rIns="0" bIns="0" rtlCol="0" anchor="t"/>
          <a:lstStyle/>
          <a:p>
            <a:pPr marL="0" indent="0">
              <a:lnSpc>
                <a:spcPct val="125000"/>
              </a:lnSpc>
              <a:buNone/>
            </a:pPr>
            <a:r>
              <a:rPr lang="en-US" sz="700" kern="0" spc="60" dirty="0">
                <a:solidFill>
                  <a:srgbClr val="8794AC"/>
                </a:solidFill>
                <a:latin typeface="JetBrains Mono" pitchFamily="34" charset="0"/>
                <a:ea typeface="JetBrains Mono" pitchFamily="34" charset="-122"/>
                <a:cs typeface="JetBrains Mono" pitchFamily="34" charset="-120"/>
              </a:rPr>
              <a:t>OPTION 2</a:t>
            </a:r>
            <a:endParaRPr lang="en-US" sz="700" dirty="0"/>
          </a:p>
        </p:txBody>
      </p:sp>
      <p:sp>
        <p:nvSpPr>
          <p:cNvPr id="79" name="Text 75"/>
          <p:cNvSpPr/>
          <p:nvPr/>
        </p:nvSpPr>
        <p:spPr>
          <a:xfrm>
            <a:off x="4560113" y="4974336"/>
            <a:ext cx="3072384" cy="274320"/>
          </a:xfrm>
          <a:prstGeom prst="rect">
            <a:avLst/>
          </a:prstGeom>
          <a:noFill/>
          <a:ln/>
        </p:spPr>
        <p:txBody>
          <a:bodyPr wrap="square" lIns="0" tIns="0" rIns="0" bIns="0" rtlCol="0" anchor="t"/>
          <a:lstStyle/>
          <a:p>
            <a:pPr marL="0" indent="0">
              <a:lnSpc>
                <a:spcPct val="100000"/>
              </a:lnSpc>
              <a:buNone/>
            </a:pPr>
            <a:r>
              <a:rPr lang="en-US" sz="1900" dirty="0">
                <a:solidFill>
                  <a:srgbClr val="0E1B33"/>
                </a:solidFill>
                <a:latin typeface="Instrument Serif" pitchFamily="34" charset="0"/>
                <a:ea typeface="Instrument Serif" pitchFamily="34" charset="-122"/>
                <a:cs typeface="Instrument Serif" pitchFamily="34" charset="-120"/>
              </a:rPr>
              <a:t>We do it all</a:t>
            </a:r>
            <a:endParaRPr lang="en-US" sz="1900" dirty="0"/>
          </a:p>
        </p:txBody>
      </p:sp>
      <p:sp>
        <p:nvSpPr>
          <p:cNvPr id="80" name="Text 76"/>
          <p:cNvSpPr/>
          <p:nvPr/>
        </p:nvSpPr>
        <p:spPr>
          <a:xfrm>
            <a:off x="4560113" y="5340096"/>
            <a:ext cx="3072384" cy="566928"/>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We run a monthly shoot day on campus, edit the videos and design the images.</a:t>
            </a:r>
            <a:endParaRPr lang="en-US" sz="1050" dirty="0"/>
          </a:p>
        </p:txBody>
      </p:sp>
      <p:sp>
        <p:nvSpPr>
          <p:cNvPr id="81" name="Text 77"/>
          <p:cNvSpPr/>
          <p:nvPr/>
        </p:nvSpPr>
        <p:spPr>
          <a:xfrm>
            <a:off x="4560113" y="5961888"/>
            <a:ext cx="3072384" cy="201168"/>
          </a:xfrm>
          <a:prstGeom prst="rect">
            <a:avLst/>
          </a:prstGeom>
          <a:noFill/>
          <a:ln/>
        </p:spPr>
        <p:txBody>
          <a:bodyPr wrap="square" lIns="0" tIns="0" rIns="0" bIns="0" rtlCol="0" anchor="t"/>
          <a:lstStyle/>
          <a:p>
            <a:pPr marL="0" indent="0">
              <a:lnSpc>
                <a:spcPct val="125000"/>
              </a:lnSpc>
              <a:buNone/>
            </a:pPr>
            <a:r>
              <a:rPr lang="en-US" sz="950" b="1" dirty="0">
                <a:solidFill>
                  <a:srgbClr val="2A6BE0"/>
                </a:solidFill>
                <a:latin typeface="Instrument Sans" pitchFamily="34" charset="0"/>
                <a:ea typeface="Instrument Sans" pitchFamily="34" charset="-122"/>
                <a:cs typeface="Instrument Sans" pitchFamily="34" charset="-120"/>
              </a:rPr>
              <a:t>Best if your team has no time to film.</a:t>
            </a:r>
            <a:endParaRPr lang="en-US" sz="950" dirty="0"/>
          </a:p>
        </p:txBody>
      </p:sp>
      <p:sp>
        <p:nvSpPr>
          <p:cNvPr id="82" name="Shape 78"/>
          <p:cNvSpPr/>
          <p:nvPr/>
        </p:nvSpPr>
        <p:spPr>
          <a:xfrm>
            <a:off x="8053121" y="4590288"/>
            <a:ext cx="3529584" cy="1691640"/>
          </a:xfrm>
          <a:prstGeom prst="roundRect">
            <a:avLst>
              <a:gd name="adj" fmla="val 7027"/>
            </a:avLst>
          </a:prstGeom>
          <a:solidFill>
            <a:srgbClr val="E3EDFC"/>
          </a:solidFill>
          <a:ln/>
        </p:spPr>
        <p:txBody>
          <a:bodyPr/>
          <a:lstStyle/>
          <a:p>
            <a:endParaRPr lang="en-MY"/>
          </a:p>
        </p:txBody>
      </p:sp>
      <p:sp>
        <p:nvSpPr>
          <p:cNvPr id="83" name="Text 79"/>
          <p:cNvSpPr/>
          <p:nvPr/>
        </p:nvSpPr>
        <p:spPr>
          <a:xfrm>
            <a:off x="8281721" y="4773168"/>
            <a:ext cx="2743200" cy="182880"/>
          </a:xfrm>
          <a:prstGeom prst="rect">
            <a:avLst/>
          </a:prstGeom>
          <a:noFill/>
          <a:ln/>
        </p:spPr>
        <p:txBody>
          <a:bodyPr wrap="square" lIns="0" tIns="0" rIns="0" bIns="0" rtlCol="0" anchor="t"/>
          <a:lstStyle/>
          <a:p>
            <a:pPr marL="0" indent="0">
              <a:lnSpc>
                <a:spcPct val="125000"/>
              </a:lnSpc>
              <a:buNone/>
            </a:pPr>
            <a:r>
              <a:rPr lang="en-US" sz="700" kern="0" spc="60" dirty="0">
                <a:solidFill>
                  <a:srgbClr val="2A6BE0"/>
                </a:solidFill>
                <a:latin typeface="JetBrains Mono" pitchFamily="34" charset="0"/>
                <a:ea typeface="JetBrains Mono" pitchFamily="34" charset="-122"/>
                <a:cs typeface="JetBrains Mono" pitchFamily="34" charset="-120"/>
              </a:rPr>
              <a:t>A SEPARATE CHARGE</a:t>
            </a:r>
            <a:endParaRPr lang="en-US" sz="700" dirty="0"/>
          </a:p>
        </p:txBody>
      </p:sp>
      <p:sp>
        <p:nvSpPr>
          <p:cNvPr id="84" name="Text 80"/>
          <p:cNvSpPr/>
          <p:nvPr/>
        </p:nvSpPr>
        <p:spPr>
          <a:xfrm>
            <a:off x="8281721" y="5029200"/>
            <a:ext cx="3072384" cy="1143000"/>
          </a:xfrm>
          <a:prstGeom prst="rect">
            <a:avLst/>
          </a:prstGeom>
          <a:noFill/>
          <a:ln/>
        </p:spPr>
        <p:txBody>
          <a:bodyPr wrap="square" lIns="0" tIns="0" rIns="0" bIns="0" rtlCol="0" anchor="t"/>
          <a:lstStyle/>
          <a:p>
            <a:pPr marL="0" indent="0">
              <a:lnSpc>
                <a:spcPct val="125000"/>
              </a:lnSpc>
              <a:buNone/>
            </a:pPr>
            <a:r>
              <a:rPr lang="en-US" sz="1200" dirty="0">
                <a:solidFill>
                  <a:srgbClr val="0E1B33"/>
                </a:solidFill>
                <a:latin typeface="Instrument Sans" pitchFamily="34" charset="0"/>
                <a:ea typeface="Instrument Sans" pitchFamily="34" charset="-122"/>
                <a:cs typeface="Instrument Sans" pitchFamily="34" charset="-120"/>
              </a:rPr>
              <a:t>Creative production is charged separately. We quote once you pick an option.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609905" y="548640"/>
            <a:ext cx="59436" cy="59436"/>
          </a:xfrm>
          <a:prstGeom prst="ellipse">
            <a:avLst/>
          </a:prstGeom>
          <a:solidFill>
            <a:srgbClr val="2A6BE0"/>
          </a:solidFill>
          <a:ln/>
        </p:spPr>
        <p:txBody>
          <a:bodyPr/>
          <a:lstStyle/>
          <a:p>
            <a:endParaRPr lang="en-MY"/>
          </a:p>
        </p:txBody>
      </p:sp>
      <p:sp>
        <p:nvSpPr>
          <p:cNvPr id="3" name="Text 1"/>
          <p:cNvSpPr/>
          <p:nvPr/>
        </p:nvSpPr>
        <p:spPr>
          <a:xfrm>
            <a:off x="756209" y="484632"/>
            <a:ext cx="7315200" cy="182880"/>
          </a:xfrm>
          <a:prstGeom prst="rect">
            <a:avLst/>
          </a:prstGeom>
          <a:noFill/>
          <a:ln/>
        </p:spPr>
        <p:txBody>
          <a:bodyPr wrap="square" lIns="0" tIns="0" rIns="0" bIns="0" rtlCol="0" anchor="t"/>
          <a:lstStyle/>
          <a:p>
            <a:pPr marL="0" indent="0">
              <a:lnSpc>
                <a:spcPct val="125000"/>
              </a:lnSpc>
              <a:buNone/>
            </a:pPr>
            <a:r>
              <a:rPr lang="en-US" sz="825" kern="0" spc="60" dirty="0">
                <a:solidFill>
                  <a:srgbClr val="2A6BE0"/>
                </a:solidFill>
                <a:latin typeface="JetBrains Mono" pitchFamily="34" charset="0"/>
                <a:ea typeface="JetBrains Mono" pitchFamily="34" charset="-122"/>
                <a:cs typeface="JetBrains Mono" pitchFamily="34" charset="-120"/>
              </a:rPr>
              <a:t>WATI HANDOVER</a:t>
            </a:r>
            <a:endParaRPr lang="en-US" sz="825" dirty="0"/>
          </a:p>
        </p:txBody>
      </p:sp>
      <p:sp>
        <p:nvSpPr>
          <p:cNvPr id="4" name="Text 2"/>
          <p:cNvSpPr/>
          <p:nvPr/>
        </p:nvSpPr>
        <p:spPr>
          <a:xfrm>
            <a:off x="609905" y="713232"/>
            <a:ext cx="10971886" cy="658368"/>
          </a:xfrm>
          <a:prstGeom prst="rect">
            <a:avLst/>
          </a:prstGeom>
          <a:noFill/>
          <a:ln/>
        </p:spPr>
        <p:txBody>
          <a:bodyPr wrap="square" lIns="0" tIns="0" rIns="0" bIns="0" rtlCol="0" anchor="ctr"/>
          <a:lstStyle/>
          <a:p>
            <a:pPr marL="0" indent="0">
              <a:lnSpc>
                <a:spcPct val="100000"/>
              </a:lnSpc>
              <a:buNone/>
            </a:pPr>
            <a:r>
              <a:rPr lang="en-US" sz="3800" dirty="0">
                <a:solidFill>
                  <a:srgbClr val="0E1B33"/>
                </a:solidFill>
                <a:latin typeface="Instrument Serif" pitchFamily="34" charset="0"/>
                <a:ea typeface="Instrument Serif" pitchFamily="34" charset="-122"/>
                <a:cs typeface="Instrument Serif" pitchFamily="34" charset="-120"/>
              </a:rPr>
              <a:t>What your WATI vendor </a:t>
            </a:r>
            <a:r>
              <a:rPr lang="en-US" sz="3800" i="1" dirty="0">
                <a:solidFill>
                  <a:srgbClr val="2A6BE0"/>
                </a:solidFill>
                <a:latin typeface="Instrument Serif" pitchFamily="34" charset="0"/>
                <a:ea typeface="Instrument Serif" pitchFamily="34" charset="-122"/>
                <a:cs typeface="Instrument Serif" pitchFamily="34" charset="-120"/>
              </a:rPr>
              <a:t>needs to fix</a:t>
            </a:r>
            <a:endParaRPr lang="en-US" sz="3800" dirty="0"/>
          </a:p>
        </p:txBody>
      </p:sp>
      <p:sp>
        <p:nvSpPr>
          <p:cNvPr id="5" name="Text 3"/>
          <p:cNvSpPr/>
          <p:nvPr/>
        </p:nvSpPr>
        <p:spPr>
          <a:xfrm>
            <a:off x="609905" y="1463040"/>
            <a:ext cx="10971886" cy="566928"/>
          </a:xfrm>
          <a:prstGeom prst="rect">
            <a:avLst/>
          </a:prstGeom>
          <a:noFill/>
          <a:ln/>
        </p:spPr>
        <p:txBody>
          <a:bodyPr wrap="square" lIns="0" tIns="0" rIns="0" bIns="0" rtlCol="0" anchor="t"/>
          <a:lstStyle/>
          <a:p>
            <a:pPr marL="0" indent="0">
              <a:lnSpc>
                <a:spcPct val="140000"/>
              </a:lnSpc>
              <a:buNone/>
            </a:pPr>
            <a:r>
              <a:rPr lang="en-US" sz="1250" dirty="0">
                <a:solidFill>
                  <a:srgbClr val="4A5A75"/>
                </a:solidFill>
                <a:latin typeface="Instrument Sans" pitchFamily="34" charset="0"/>
                <a:ea typeface="Instrument Sans" pitchFamily="34" charset="-122"/>
                <a:cs typeface="Instrument Sans" pitchFamily="34" charset="-120"/>
              </a:rPr>
              <a:t>TikTok sent 342 leads in August and September. WATI recorded 9. Your WATI vendor needs to fix six things.</a:t>
            </a:r>
            <a:endParaRPr lang="en-US" sz="1250" dirty="0"/>
          </a:p>
        </p:txBody>
      </p:sp>
      <p:sp>
        <p:nvSpPr>
          <p:cNvPr id="6" name="Text 4"/>
          <p:cNvSpPr/>
          <p:nvPr/>
        </p:nvSpPr>
        <p:spPr>
          <a:xfrm>
            <a:off x="11033150" y="6455664"/>
            <a:ext cx="548640" cy="182880"/>
          </a:xfrm>
          <a:prstGeom prst="rect">
            <a:avLst/>
          </a:prstGeom>
          <a:noFill/>
          <a:ln/>
        </p:spPr>
        <p:txBody>
          <a:bodyPr wrap="square" lIns="0" tIns="0" rIns="0" bIns="0" rtlCol="0" anchor="t"/>
          <a:lstStyle/>
          <a:p>
            <a:pPr marL="0" indent="0" algn="r">
              <a:lnSpc>
                <a:spcPct val="125000"/>
              </a:lnSpc>
              <a:buNone/>
            </a:pPr>
            <a:r>
              <a:rPr lang="en-US" sz="750" dirty="0">
                <a:solidFill>
                  <a:srgbClr val="8794AC"/>
                </a:solidFill>
                <a:latin typeface="JetBrains Mono" pitchFamily="34" charset="0"/>
                <a:ea typeface="JetBrains Mono" pitchFamily="34" charset="-122"/>
                <a:cs typeface="JetBrains Mono" pitchFamily="34" charset="-120"/>
              </a:rPr>
              <a:t>07</a:t>
            </a:r>
            <a:endParaRPr lang="en-US" sz="750" dirty="0"/>
          </a:p>
        </p:txBody>
      </p:sp>
      <p:sp>
        <p:nvSpPr>
          <p:cNvPr id="8" name="Shape 5"/>
          <p:cNvSpPr/>
          <p:nvPr/>
        </p:nvSpPr>
        <p:spPr>
          <a:xfrm>
            <a:off x="609905" y="2240280"/>
            <a:ext cx="1572768" cy="640080"/>
          </a:xfrm>
          <a:prstGeom prst="roundRect">
            <a:avLst>
              <a:gd name="adj" fmla="val 11429"/>
            </a:avLst>
          </a:prstGeom>
          <a:solidFill>
            <a:srgbClr val="FFFFFF"/>
          </a:solidFill>
          <a:ln w="9525">
            <a:solidFill>
              <a:srgbClr val="2A6BE0"/>
            </a:solidFill>
            <a:prstDash val="solid"/>
          </a:ln>
        </p:spPr>
        <p:txBody>
          <a:bodyPr/>
          <a:lstStyle/>
          <a:p>
            <a:endParaRPr lang="en-MY"/>
          </a:p>
        </p:txBody>
      </p:sp>
      <p:sp>
        <p:nvSpPr>
          <p:cNvPr id="9" name="Text 6"/>
          <p:cNvSpPr/>
          <p:nvPr/>
        </p:nvSpPr>
        <p:spPr>
          <a:xfrm>
            <a:off x="683057" y="2331720"/>
            <a:ext cx="1426464" cy="219456"/>
          </a:xfrm>
          <a:prstGeom prst="rect">
            <a:avLst/>
          </a:prstGeom>
          <a:noFill/>
          <a:ln/>
        </p:spPr>
        <p:txBody>
          <a:bodyPr wrap="square" lIns="0" tIns="0" rIns="0" bIns="0" rtlCol="0" anchor="t"/>
          <a:lstStyle/>
          <a:p>
            <a:pPr marL="0" indent="0" algn="ctr">
              <a:lnSpc>
                <a:spcPct val="125000"/>
              </a:lnSpc>
              <a:buNone/>
            </a:pPr>
            <a:r>
              <a:rPr lang="en-US" sz="1000" b="1" dirty="0">
                <a:solidFill>
                  <a:srgbClr val="0E1B33"/>
                </a:solidFill>
                <a:latin typeface="Instrument Sans" pitchFamily="34" charset="0"/>
                <a:ea typeface="Instrument Sans" pitchFamily="34" charset="-122"/>
                <a:cs typeface="Instrument Sans" pitchFamily="34" charset="-120"/>
              </a:rPr>
              <a:t>Lead form</a:t>
            </a:r>
            <a:endParaRPr lang="en-US" sz="1000" dirty="0"/>
          </a:p>
        </p:txBody>
      </p:sp>
      <p:sp>
        <p:nvSpPr>
          <p:cNvPr id="10" name="Text 7"/>
          <p:cNvSpPr/>
          <p:nvPr/>
        </p:nvSpPr>
        <p:spPr>
          <a:xfrm>
            <a:off x="683057" y="2587752"/>
            <a:ext cx="1426464" cy="182880"/>
          </a:xfrm>
          <a:prstGeom prst="rect">
            <a:avLst/>
          </a:prstGeom>
          <a:noFill/>
          <a:ln/>
        </p:spPr>
        <p:txBody>
          <a:bodyPr wrap="square" lIns="0" tIns="0" rIns="0" bIns="0" rtlCol="0" anchor="t"/>
          <a:lstStyle/>
          <a:p>
            <a:pPr marL="0" indent="0" algn="ctr">
              <a:lnSpc>
                <a:spcPct val="125000"/>
              </a:lnSpc>
              <a:buNone/>
            </a:pPr>
            <a:r>
              <a:rPr lang="en-US" sz="700" dirty="0">
                <a:solidFill>
                  <a:srgbClr val="8794AC"/>
                </a:solidFill>
                <a:latin typeface="JetBrains Mono" pitchFamily="34" charset="0"/>
                <a:ea typeface="JetBrains Mono" pitchFamily="34" charset="-122"/>
                <a:cs typeface="JetBrains Mono" pitchFamily="34" charset="-120"/>
              </a:rPr>
              <a:t>TikTok, Meta, Google</a:t>
            </a:r>
            <a:endParaRPr lang="en-US" sz="700" dirty="0"/>
          </a:p>
        </p:txBody>
      </p:sp>
      <p:sp>
        <p:nvSpPr>
          <p:cNvPr id="11" name="Shape 8"/>
          <p:cNvSpPr/>
          <p:nvPr/>
        </p:nvSpPr>
        <p:spPr>
          <a:xfrm>
            <a:off x="2237537" y="2487168"/>
            <a:ext cx="197328" cy="146304"/>
          </a:xfrm>
          <a:prstGeom prst="rightArrow">
            <a:avLst/>
          </a:prstGeom>
          <a:solidFill>
            <a:srgbClr val="B7C4DA"/>
          </a:solidFill>
          <a:ln/>
        </p:spPr>
        <p:txBody>
          <a:bodyPr/>
          <a:lstStyle/>
          <a:p>
            <a:endParaRPr lang="en-MY"/>
          </a:p>
        </p:txBody>
      </p:sp>
      <p:sp>
        <p:nvSpPr>
          <p:cNvPr id="12" name="Shape 9"/>
          <p:cNvSpPr/>
          <p:nvPr/>
        </p:nvSpPr>
        <p:spPr>
          <a:xfrm>
            <a:off x="2489728" y="2240280"/>
            <a:ext cx="1572768" cy="640080"/>
          </a:xfrm>
          <a:prstGeom prst="roundRect">
            <a:avLst>
              <a:gd name="adj" fmla="val 11429"/>
            </a:avLst>
          </a:prstGeom>
          <a:solidFill>
            <a:srgbClr val="FDECEB"/>
          </a:solidFill>
          <a:ln/>
        </p:spPr>
        <p:txBody>
          <a:bodyPr/>
          <a:lstStyle/>
          <a:p>
            <a:endParaRPr lang="en-MY"/>
          </a:p>
        </p:txBody>
      </p:sp>
      <p:sp>
        <p:nvSpPr>
          <p:cNvPr id="13" name="Text 10"/>
          <p:cNvSpPr/>
          <p:nvPr/>
        </p:nvSpPr>
        <p:spPr>
          <a:xfrm>
            <a:off x="2562880" y="2331720"/>
            <a:ext cx="1426464" cy="219456"/>
          </a:xfrm>
          <a:prstGeom prst="rect">
            <a:avLst/>
          </a:prstGeom>
          <a:noFill/>
          <a:ln/>
        </p:spPr>
        <p:txBody>
          <a:bodyPr wrap="square" lIns="0" tIns="0" rIns="0" bIns="0" rtlCol="0" anchor="t"/>
          <a:lstStyle/>
          <a:p>
            <a:pPr marL="0" indent="0" algn="ctr">
              <a:lnSpc>
                <a:spcPct val="125000"/>
              </a:lnSpc>
              <a:buNone/>
            </a:pPr>
            <a:r>
              <a:rPr lang="en-US" sz="1000" b="1" dirty="0">
                <a:solidFill>
                  <a:srgbClr val="0E1B33"/>
                </a:solidFill>
                <a:latin typeface="Instrument Sans" pitchFamily="34" charset="0"/>
                <a:ea typeface="Instrument Sans" pitchFamily="34" charset="-122"/>
                <a:cs typeface="Instrument Sans" pitchFamily="34" charset="-120"/>
              </a:rPr>
              <a:t>WATI inbox</a:t>
            </a:r>
            <a:endParaRPr lang="en-US" sz="1000" dirty="0"/>
          </a:p>
        </p:txBody>
      </p:sp>
      <p:sp>
        <p:nvSpPr>
          <p:cNvPr id="14" name="Text 11"/>
          <p:cNvSpPr/>
          <p:nvPr/>
        </p:nvSpPr>
        <p:spPr>
          <a:xfrm>
            <a:off x="2562880" y="2587752"/>
            <a:ext cx="1426464" cy="182880"/>
          </a:xfrm>
          <a:prstGeom prst="rect">
            <a:avLst/>
          </a:prstGeom>
          <a:noFill/>
          <a:ln/>
        </p:spPr>
        <p:txBody>
          <a:bodyPr wrap="square" lIns="0" tIns="0" rIns="0" bIns="0" rtlCol="0" anchor="t"/>
          <a:lstStyle/>
          <a:p>
            <a:pPr marL="0" indent="0" algn="ctr">
              <a:lnSpc>
                <a:spcPct val="125000"/>
              </a:lnSpc>
              <a:buNone/>
            </a:pPr>
            <a:r>
              <a:rPr lang="en-US" sz="700" dirty="0">
                <a:solidFill>
                  <a:srgbClr val="A3302C"/>
                </a:solidFill>
                <a:latin typeface="JetBrains Mono" pitchFamily="34" charset="0"/>
                <a:ea typeface="JetBrains Mono" pitchFamily="34" charset="-122"/>
                <a:cs typeface="JetBrains Mono" pitchFamily="34" charset="-120"/>
              </a:rPr>
              <a:t>Today: 9 recorded</a:t>
            </a:r>
            <a:endParaRPr lang="en-US" sz="700" dirty="0"/>
          </a:p>
        </p:txBody>
      </p:sp>
      <p:sp>
        <p:nvSpPr>
          <p:cNvPr id="15" name="Shape 12"/>
          <p:cNvSpPr/>
          <p:nvPr/>
        </p:nvSpPr>
        <p:spPr>
          <a:xfrm>
            <a:off x="4117360" y="2487168"/>
            <a:ext cx="197328" cy="146304"/>
          </a:xfrm>
          <a:prstGeom prst="rightArrow">
            <a:avLst/>
          </a:prstGeom>
          <a:solidFill>
            <a:srgbClr val="B7C4DA"/>
          </a:solidFill>
          <a:ln/>
        </p:spPr>
        <p:txBody>
          <a:bodyPr/>
          <a:lstStyle/>
          <a:p>
            <a:endParaRPr lang="en-MY"/>
          </a:p>
        </p:txBody>
      </p:sp>
      <p:sp>
        <p:nvSpPr>
          <p:cNvPr id="16" name="Shape 13"/>
          <p:cNvSpPr/>
          <p:nvPr/>
        </p:nvSpPr>
        <p:spPr>
          <a:xfrm>
            <a:off x="4369552" y="2240280"/>
            <a:ext cx="1572768" cy="640080"/>
          </a:xfrm>
          <a:prstGeom prst="roundRect">
            <a:avLst>
              <a:gd name="adj" fmla="val 11429"/>
            </a:avLst>
          </a:prstGeom>
          <a:solidFill>
            <a:srgbClr val="FDECEB"/>
          </a:solidFill>
          <a:ln/>
        </p:spPr>
        <p:txBody>
          <a:bodyPr/>
          <a:lstStyle/>
          <a:p>
            <a:endParaRPr lang="en-MY"/>
          </a:p>
        </p:txBody>
      </p:sp>
      <p:sp>
        <p:nvSpPr>
          <p:cNvPr id="17" name="Text 14"/>
          <p:cNvSpPr/>
          <p:nvPr/>
        </p:nvSpPr>
        <p:spPr>
          <a:xfrm>
            <a:off x="4442704" y="2331720"/>
            <a:ext cx="1426464" cy="219456"/>
          </a:xfrm>
          <a:prstGeom prst="rect">
            <a:avLst/>
          </a:prstGeom>
          <a:noFill/>
          <a:ln/>
        </p:spPr>
        <p:txBody>
          <a:bodyPr wrap="square" lIns="0" tIns="0" rIns="0" bIns="0" rtlCol="0" anchor="t"/>
          <a:lstStyle/>
          <a:p>
            <a:pPr marL="0" indent="0" algn="ctr">
              <a:lnSpc>
                <a:spcPct val="125000"/>
              </a:lnSpc>
              <a:buNone/>
            </a:pPr>
            <a:r>
              <a:rPr lang="en-US" sz="1000" b="1" dirty="0">
                <a:solidFill>
                  <a:srgbClr val="0E1B33"/>
                </a:solidFill>
                <a:latin typeface="Instrument Sans" pitchFamily="34" charset="0"/>
                <a:ea typeface="Instrument Sans" pitchFamily="34" charset="-122"/>
                <a:cs typeface="Instrument Sans" pitchFamily="34" charset="-120"/>
              </a:rPr>
              <a:t>First reply</a:t>
            </a:r>
            <a:endParaRPr lang="en-US" sz="1000" dirty="0"/>
          </a:p>
        </p:txBody>
      </p:sp>
      <p:sp>
        <p:nvSpPr>
          <p:cNvPr id="18" name="Text 15"/>
          <p:cNvSpPr/>
          <p:nvPr/>
        </p:nvSpPr>
        <p:spPr>
          <a:xfrm>
            <a:off x="4442704" y="2587752"/>
            <a:ext cx="1426464" cy="182880"/>
          </a:xfrm>
          <a:prstGeom prst="rect">
            <a:avLst/>
          </a:prstGeom>
          <a:noFill/>
          <a:ln/>
        </p:spPr>
        <p:txBody>
          <a:bodyPr wrap="square" lIns="0" tIns="0" rIns="0" bIns="0" rtlCol="0" anchor="t"/>
          <a:lstStyle/>
          <a:p>
            <a:pPr marL="0" indent="0" algn="ctr">
              <a:lnSpc>
                <a:spcPct val="125000"/>
              </a:lnSpc>
              <a:buNone/>
            </a:pPr>
            <a:r>
              <a:rPr lang="en-US" sz="700" dirty="0">
                <a:solidFill>
                  <a:srgbClr val="A3302C"/>
                </a:solidFill>
                <a:latin typeface="JetBrains Mono" pitchFamily="34" charset="0"/>
                <a:ea typeface="JetBrains Mono" pitchFamily="34" charset="-122"/>
                <a:cs typeface="JetBrains Mono" pitchFamily="34" charset="-120"/>
              </a:rPr>
              <a:t>Today: 11h 25m</a:t>
            </a:r>
            <a:endParaRPr lang="en-US" sz="700" dirty="0"/>
          </a:p>
        </p:txBody>
      </p:sp>
      <p:sp>
        <p:nvSpPr>
          <p:cNvPr id="19" name="Shape 16"/>
          <p:cNvSpPr/>
          <p:nvPr/>
        </p:nvSpPr>
        <p:spPr>
          <a:xfrm>
            <a:off x="5997184" y="2487168"/>
            <a:ext cx="197328" cy="146304"/>
          </a:xfrm>
          <a:prstGeom prst="rightArrow">
            <a:avLst/>
          </a:prstGeom>
          <a:solidFill>
            <a:srgbClr val="B7C4DA"/>
          </a:solidFill>
          <a:ln/>
        </p:spPr>
        <p:txBody>
          <a:bodyPr/>
          <a:lstStyle/>
          <a:p>
            <a:endParaRPr lang="en-MY"/>
          </a:p>
        </p:txBody>
      </p:sp>
      <p:sp>
        <p:nvSpPr>
          <p:cNvPr id="20" name="Shape 17"/>
          <p:cNvSpPr/>
          <p:nvPr/>
        </p:nvSpPr>
        <p:spPr>
          <a:xfrm>
            <a:off x="6249375" y="2240280"/>
            <a:ext cx="1572768" cy="640080"/>
          </a:xfrm>
          <a:prstGeom prst="roundRect">
            <a:avLst>
              <a:gd name="adj" fmla="val 11429"/>
            </a:avLst>
          </a:prstGeom>
          <a:solidFill>
            <a:srgbClr val="FDECEB"/>
          </a:solidFill>
          <a:ln/>
        </p:spPr>
        <p:txBody>
          <a:bodyPr/>
          <a:lstStyle/>
          <a:p>
            <a:endParaRPr lang="en-MY"/>
          </a:p>
        </p:txBody>
      </p:sp>
      <p:sp>
        <p:nvSpPr>
          <p:cNvPr id="21" name="Text 18"/>
          <p:cNvSpPr/>
          <p:nvPr/>
        </p:nvSpPr>
        <p:spPr>
          <a:xfrm>
            <a:off x="6322527" y="2331720"/>
            <a:ext cx="1426464" cy="219456"/>
          </a:xfrm>
          <a:prstGeom prst="rect">
            <a:avLst/>
          </a:prstGeom>
          <a:noFill/>
          <a:ln/>
        </p:spPr>
        <p:txBody>
          <a:bodyPr wrap="square" lIns="0" tIns="0" rIns="0" bIns="0" rtlCol="0" anchor="t"/>
          <a:lstStyle/>
          <a:p>
            <a:pPr marL="0" indent="0" algn="ctr">
              <a:lnSpc>
                <a:spcPct val="125000"/>
              </a:lnSpc>
              <a:buNone/>
            </a:pPr>
            <a:r>
              <a:rPr lang="en-US" sz="1000" b="1" dirty="0">
                <a:solidFill>
                  <a:srgbClr val="0E1B33"/>
                </a:solidFill>
                <a:latin typeface="Instrument Sans" pitchFamily="34" charset="0"/>
                <a:ea typeface="Instrument Sans" pitchFamily="34" charset="-122"/>
                <a:cs typeface="Instrument Sans" pitchFamily="34" charset="-120"/>
              </a:rPr>
              <a:t>Qualified label</a:t>
            </a:r>
            <a:endParaRPr lang="en-US" sz="1000" dirty="0"/>
          </a:p>
        </p:txBody>
      </p:sp>
      <p:sp>
        <p:nvSpPr>
          <p:cNvPr id="22" name="Text 19"/>
          <p:cNvSpPr/>
          <p:nvPr/>
        </p:nvSpPr>
        <p:spPr>
          <a:xfrm>
            <a:off x="6322527" y="2587752"/>
            <a:ext cx="1426464" cy="182880"/>
          </a:xfrm>
          <a:prstGeom prst="rect">
            <a:avLst/>
          </a:prstGeom>
          <a:noFill/>
          <a:ln/>
        </p:spPr>
        <p:txBody>
          <a:bodyPr wrap="square" lIns="0" tIns="0" rIns="0" bIns="0" rtlCol="0" anchor="t"/>
          <a:lstStyle/>
          <a:p>
            <a:pPr marL="0" indent="0" algn="ctr">
              <a:lnSpc>
                <a:spcPct val="125000"/>
              </a:lnSpc>
              <a:buNone/>
            </a:pPr>
            <a:r>
              <a:rPr lang="en-US" sz="700" dirty="0">
                <a:solidFill>
                  <a:srgbClr val="A3302C"/>
                </a:solidFill>
                <a:latin typeface="JetBrains Mono" pitchFamily="34" charset="0"/>
                <a:ea typeface="JetBrains Mono" pitchFamily="34" charset="-122"/>
                <a:cs typeface="JetBrains Mono" pitchFamily="34" charset="-120"/>
              </a:rPr>
              <a:t>Today: none</a:t>
            </a:r>
            <a:endParaRPr lang="en-US" sz="700" dirty="0"/>
          </a:p>
        </p:txBody>
      </p:sp>
      <p:sp>
        <p:nvSpPr>
          <p:cNvPr id="23" name="Shape 20"/>
          <p:cNvSpPr/>
          <p:nvPr/>
        </p:nvSpPr>
        <p:spPr>
          <a:xfrm>
            <a:off x="7877007" y="2487168"/>
            <a:ext cx="197328" cy="146304"/>
          </a:xfrm>
          <a:prstGeom prst="rightArrow">
            <a:avLst/>
          </a:prstGeom>
          <a:solidFill>
            <a:srgbClr val="B7C4DA"/>
          </a:solidFill>
          <a:ln/>
        </p:spPr>
        <p:txBody>
          <a:bodyPr/>
          <a:lstStyle/>
          <a:p>
            <a:endParaRPr lang="en-MY"/>
          </a:p>
        </p:txBody>
      </p:sp>
      <p:sp>
        <p:nvSpPr>
          <p:cNvPr id="24" name="Shape 21"/>
          <p:cNvSpPr/>
          <p:nvPr/>
        </p:nvSpPr>
        <p:spPr>
          <a:xfrm>
            <a:off x="8129199" y="2240280"/>
            <a:ext cx="1572768" cy="640080"/>
          </a:xfrm>
          <a:prstGeom prst="roundRect">
            <a:avLst>
              <a:gd name="adj" fmla="val 11429"/>
            </a:avLst>
          </a:prstGeom>
          <a:solidFill>
            <a:srgbClr val="FDECEB"/>
          </a:solidFill>
          <a:ln/>
        </p:spPr>
        <p:txBody>
          <a:bodyPr/>
          <a:lstStyle/>
          <a:p>
            <a:endParaRPr lang="en-MY"/>
          </a:p>
        </p:txBody>
      </p:sp>
      <p:sp>
        <p:nvSpPr>
          <p:cNvPr id="25" name="Text 22"/>
          <p:cNvSpPr/>
          <p:nvPr/>
        </p:nvSpPr>
        <p:spPr>
          <a:xfrm>
            <a:off x="8202351" y="2331720"/>
            <a:ext cx="1426464" cy="219456"/>
          </a:xfrm>
          <a:prstGeom prst="rect">
            <a:avLst/>
          </a:prstGeom>
          <a:noFill/>
          <a:ln/>
        </p:spPr>
        <p:txBody>
          <a:bodyPr wrap="square" lIns="0" tIns="0" rIns="0" bIns="0" rtlCol="0" anchor="t"/>
          <a:lstStyle/>
          <a:p>
            <a:pPr marL="0" indent="0" algn="ctr">
              <a:lnSpc>
                <a:spcPct val="125000"/>
              </a:lnSpc>
              <a:buNone/>
            </a:pPr>
            <a:r>
              <a:rPr lang="en-US" sz="1000" b="1" dirty="0">
                <a:solidFill>
                  <a:srgbClr val="0E1B33"/>
                </a:solidFill>
                <a:latin typeface="Instrument Sans" pitchFamily="34" charset="0"/>
                <a:ea typeface="Instrument Sans" pitchFamily="34" charset="-122"/>
                <a:cs typeface="Instrument Sans" pitchFamily="34" charset="-120"/>
              </a:rPr>
              <a:t>Counselor</a:t>
            </a:r>
            <a:endParaRPr lang="en-US" sz="1000" dirty="0"/>
          </a:p>
        </p:txBody>
      </p:sp>
      <p:sp>
        <p:nvSpPr>
          <p:cNvPr id="26" name="Text 23"/>
          <p:cNvSpPr/>
          <p:nvPr/>
        </p:nvSpPr>
        <p:spPr>
          <a:xfrm>
            <a:off x="8202351" y="2587752"/>
            <a:ext cx="1426464" cy="182880"/>
          </a:xfrm>
          <a:prstGeom prst="rect">
            <a:avLst/>
          </a:prstGeom>
          <a:noFill/>
          <a:ln/>
        </p:spPr>
        <p:txBody>
          <a:bodyPr wrap="square" lIns="0" tIns="0" rIns="0" bIns="0" rtlCol="0" anchor="t"/>
          <a:lstStyle/>
          <a:p>
            <a:pPr marL="0" indent="0" algn="ctr">
              <a:lnSpc>
                <a:spcPct val="125000"/>
              </a:lnSpc>
              <a:buNone/>
            </a:pPr>
            <a:r>
              <a:rPr lang="en-US" sz="700" dirty="0">
                <a:solidFill>
                  <a:srgbClr val="A3302C"/>
                </a:solidFill>
                <a:latin typeface="JetBrains Mono" pitchFamily="34" charset="0"/>
                <a:ea typeface="JetBrains Mono" pitchFamily="34" charset="-122"/>
                <a:cs typeface="JetBrains Mono" pitchFamily="34" charset="-120"/>
              </a:rPr>
              <a:t>Today: one operator</a:t>
            </a:r>
            <a:endParaRPr lang="en-US" sz="700" dirty="0"/>
          </a:p>
        </p:txBody>
      </p:sp>
      <p:sp>
        <p:nvSpPr>
          <p:cNvPr id="27" name="Shape 24"/>
          <p:cNvSpPr/>
          <p:nvPr/>
        </p:nvSpPr>
        <p:spPr>
          <a:xfrm>
            <a:off x="9756831" y="2487168"/>
            <a:ext cx="197328" cy="146304"/>
          </a:xfrm>
          <a:prstGeom prst="rightArrow">
            <a:avLst/>
          </a:prstGeom>
          <a:solidFill>
            <a:srgbClr val="B7C4DA"/>
          </a:solidFill>
          <a:ln/>
        </p:spPr>
        <p:txBody>
          <a:bodyPr/>
          <a:lstStyle/>
          <a:p>
            <a:endParaRPr lang="en-MY"/>
          </a:p>
        </p:txBody>
      </p:sp>
      <p:sp>
        <p:nvSpPr>
          <p:cNvPr id="28" name="Shape 25"/>
          <p:cNvSpPr/>
          <p:nvPr/>
        </p:nvSpPr>
        <p:spPr>
          <a:xfrm>
            <a:off x="10009022" y="2240280"/>
            <a:ext cx="1572768" cy="640080"/>
          </a:xfrm>
          <a:prstGeom prst="roundRect">
            <a:avLst>
              <a:gd name="adj" fmla="val 11429"/>
            </a:avLst>
          </a:prstGeom>
          <a:solidFill>
            <a:srgbClr val="FDECEB"/>
          </a:solidFill>
          <a:ln/>
        </p:spPr>
        <p:txBody>
          <a:bodyPr/>
          <a:lstStyle/>
          <a:p>
            <a:endParaRPr lang="en-MY"/>
          </a:p>
        </p:txBody>
      </p:sp>
      <p:sp>
        <p:nvSpPr>
          <p:cNvPr id="29" name="Text 26"/>
          <p:cNvSpPr/>
          <p:nvPr/>
        </p:nvSpPr>
        <p:spPr>
          <a:xfrm>
            <a:off x="10082174" y="2331720"/>
            <a:ext cx="1426464" cy="219456"/>
          </a:xfrm>
          <a:prstGeom prst="rect">
            <a:avLst/>
          </a:prstGeom>
          <a:noFill/>
          <a:ln/>
        </p:spPr>
        <p:txBody>
          <a:bodyPr wrap="square" lIns="0" tIns="0" rIns="0" bIns="0" rtlCol="0" anchor="t"/>
          <a:lstStyle/>
          <a:p>
            <a:pPr marL="0" indent="0" algn="ctr">
              <a:lnSpc>
                <a:spcPct val="125000"/>
              </a:lnSpc>
              <a:buNone/>
            </a:pPr>
            <a:r>
              <a:rPr lang="en-US" sz="1000" b="1" dirty="0">
                <a:solidFill>
                  <a:srgbClr val="0E1B33"/>
                </a:solidFill>
                <a:latin typeface="Instrument Sans" pitchFamily="34" charset="0"/>
                <a:ea typeface="Instrument Sans" pitchFamily="34" charset="-122"/>
                <a:cs typeface="Instrument Sans" pitchFamily="34" charset="-120"/>
              </a:rPr>
              <a:t>Outcome logged</a:t>
            </a:r>
            <a:endParaRPr lang="en-US" sz="1000" dirty="0"/>
          </a:p>
        </p:txBody>
      </p:sp>
      <p:sp>
        <p:nvSpPr>
          <p:cNvPr id="30" name="Text 27"/>
          <p:cNvSpPr/>
          <p:nvPr/>
        </p:nvSpPr>
        <p:spPr>
          <a:xfrm>
            <a:off x="10082174" y="2587752"/>
            <a:ext cx="1426464" cy="182880"/>
          </a:xfrm>
          <a:prstGeom prst="rect">
            <a:avLst/>
          </a:prstGeom>
          <a:noFill/>
          <a:ln/>
        </p:spPr>
        <p:txBody>
          <a:bodyPr wrap="square" lIns="0" tIns="0" rIns="0" bIns="0" rtlCol="0" anchor="t"/>
          <a:lstStyle/>
          <a:p>
            <a:pPr marL="0" indent="0" algn="ctr">
              <a:lnSpc>
                <a:spcPct val="125000"/>
              </a:lnSpc>
              <a:buNone/>
            </a:pPr>
            <a:r>
              <a:rPr lang="en-US" sz="700" dirty="0">
                <a:solidFill>
                  <a:srgbClr val="A3302C"/>
                </a:solidFill>
                <a:latin typeface="JetBrains Mono" pitchFamily="34" charset="0"/>
                <a:ea typeface="JetBrains Mono" pitchFamily="34" charset="-122"/>
                <a:cs typeface="JetBrains Mono" pitchFamily="34" charset="-120"/>
              </a:rPr>
              <a:t>Today: 0 of 566</a:t>
            </a:r>
            <a:endParaRPr lang="en-US" sz="700" dirty="0"/>
          </a:p>
        </p:txBody>
      </p:sp>
      <p:sp>
        <p:nvSpPr>
          <p:cNvPr id="31" name="Shape 28"/>
          <p:cNvSpPr/>
          <p:nvPr/>
        </p:nvSpPr>
        <p:spPr>
          <a:xfrm>
            <a:off x="609905" y="3063240"/>
            <a:ext cx="3529279" cy="1115568"/>
          </a:xfrm>
          <a:prstGeom prst="roundRect">
            <a:avLst>
              <a:gd name="adj" fmla="val 10656"/>
            </a:avLst>
          </a:prstGeom>
          <a:solidFill>
            <a:srgbClr val="FFFFFF"/>
          </a:solidFill>
          <a:ln w="9525">
            <a:solidFill>
              <a:srgbClr val="D5E2F0"/>
            </a:solidFill>
            <a:prstDash val="solid"/>
          </a:ln>
        </p:spPr>
        <p:txBody>
          <a:bodyPr/>
          <a:lstStyle/>
          <a:p>
            <a:endParaRPr lang="en-MY"/>
          </a:p>
        </p:txBody>
      </p:sp>
      <p:sp>
        <p:nvSpPr>
          <p:cNvPr id="32" name="Text 29"/>
          <p:cNvSpPr/>
          <p:nvPr/>
        </p:nvSpPr>
        <p:spPr>
          <a:xfrm>
            <a:off x="811073" y="3218688"/>
            <a:ext cx="320040" cy="201168"/>
          </a:xfrm>
          <a:prstGeom prst="rect">
            <a:avLst/>
          </a:prstGeom>
          <a:noFill/>
          <a:ln/>
        </p:spPr>
        <p:txBody>
          <a:bodyPr wrap="square" lIns="0" tIns="0" rIns="0" bIns="0" rtlCol="0" anchor="t"/>
          <a:lstStyle/>
          <a:p>
            <a:pPr marL="0" indent="0">
              <a:lnSpc>
                <a:spcPct val="125000"/>
              </a:lnSpc>
              <a:buNone/>
            </a:pPr>
            <a:r>
              <a:rPr lang="en-US" sz="900" b="1" dirty="0">
                <a:solidFill>
                  <a:srgbClr val="2A6BE0"/>
                </a:solidFill>
                <a:latin typeface="JetBrains Mono" pitchFamily="34" charset="0"/>
                <a:ea typeface="JetBrains Mono" pitchFamily="34" charset="-122"/>
                <a:cs typeface="JetBrains Mono" pitchFamily="34" charset="-120"/>
              </a:rPr>
              <a:t>01</a:t>
            </a:r>
            <a:endParaRPr lang="en-US" sz="900" dirty="0"/>
          </a:p>
        </p:txBody>
      </p:sp>
      <p:sp>
        <p:nvSpPr>
          <p:cNvPr id="33" name="Text 30"/>
          <p:cNvSpPr/>
          <p:nvPr/>
        </p:nvSpPr>
        <p:spPr>
          <a:xfrm>
            <a:off x="1158545" y="3200400"/>
            <a:ext cx="2797759" cy="228600"/>
          </a:xfrm>
          <a:prstGeom prst="rect">
            <a:avLst/>
          </a:prstGeom>
          <a:noFill/>
          <a:ln/>
        </p:spPr>
        <p:txBody>
          <a:bodyPr wrap="square" lIns="0" tIns="0" rIns="0" bIns="0" rtlCol="0" anchor="t"/>
          <a:lstStyle/>
          <a:p>
            <a:pPr marL="0" indent="0">
              <a:lnSpc>
                <a:spcPct val="125000"/>
              </a:lnSpc>
              <a:buNone/>
            </a:pPr>
            <a:r>
              <a:rPr lang="en-US" sz="1050" b="1" dirty="0">
                <a:solidFill>
                  <a:srgbClr val="0E1B33"/>
                </a:solidFill>
                <a:latin typeface="Instrument Sans" pitchFamily="34" charset="0"/>
                <a:ea typeface="Instrument Sans" pitchFamily="34" charset="-122"/>
                <a:cs typeface="Instrument Sans" pitchFamily="34" charset="-120"/>
              </a:rPr>
              <a:t>Connect every lead source</a:t>
            </a:r>
            <a:endParaRPr lang="en-US" sz="1050" dirty="0"/>
          </a:p>
        </p:txBody>
      </p:sp>
      <p:sp>
        <p:nvSpPr>
          <p:cNvPr id="34" name="Text 31"/>
          <p:cNvSpPr/>
          <p:nvPr/>
        </p:nvSpPr>
        <p:spPr>
          <a:xfrm>
            <a:off x="1158545" y="3474720"/>
            <a:ext cx="2797759" cy="612648"/>
          </a:xfrm>
          <a:prstGeom prst="rect">
            <a:avLst/>
          </a:prstGeom>
          <a:noFill/>
          <a:ln/>
        </p:spPr>
        <p:txBody>
          <a:bodyPr wrap="square" lIns="0" tIns="0" rIns="0" bIns="0" rtlCol="0" anchor="t"/>
          <a:lstStyle/>
          <a:p>
            <a:pPr marL="0" indent="0">
              <a:lnSpc>
                <a:spcPct val="125000"/>
              </a:lnSpc>
              <a:buNone/>
            </a:pPr>
            <a:r>
              <a:rPr lang="en-US" sz="1000" dirty="0">
                <a:solidFill>
                  <a:srgbClr val="4A5A75"/>
                </a:solidFill>
                <a:latin typeface="Instrument Sans" pitchFamily="34" charset="0"/>
                <a:ea typeface="Instrument Sans" pitchFamily="34" charset="-122"/>
                <a:cs typeface="Instrument Sans" pitchFamily="34" charset="-120"/>
              </a:rPr>
              <a:t>Send all TikTok, Meta, Google and website chat leads into WATI.</a:t>
            </a:r>
            <a:endParaRPr lang="en-US" sz="1000" dirty="0"/>
          </a:p>
        </p:txBody>
      </p:sp>
      <p:sp>
        <p:nvSpPr>
          <p:cNvPr id="35" name="Shape 32"/>
          <p:cNvSpPr/>
          <p:nvPr/>
        </p:nvSpPr>
        <p:spPr>
          <a:xfrm>
            <a:off x="4331208" y="3063240"/>
            <a:ext cx="3529279" cy="1115568"/>
          </a:xfrm>
          <a:prstGeom prst="roundRect">
            <a:avLst>
              <a:gd name="adj" fmla="val 10656"/>
            </a:avLst>
          </a:prstGeom>
          <a:solidFill>
            <a:srgbClr val="FFFFFF"/>
          </a:solidFill>
          <a:ln w="9525">
            <a:solidFill>
              <a:srgbClr val="D5E2F0"/>
            </a:solidFill>
            <a:prstDash val="solid"/>
          </a:ln>
        </p:spPr>
        <p:txBody>
          <a:bodyPr/>
          <a:lstStyle/>
          <a:p>
            <a:endParaRPr lang="en-MY"/>
          </a:p>
        </p:txBody>
      </p:sp>
      <p:sp>
        <p:nvSpPr>
          <p:cNvPr id="36" name="Text 33"/>
          <p:cNvSpPr/>
          <p:nvPr/>
        </p:nvSpPr>
        <p:spPr>
          <a:xfrm>
            <a:off x="4532376" y="3218688"/>
            <a:ext cx="320040" cy="201168"/>
          </a:xfrm>
          <a:prstGeom prst="rect">
            <a:avLst/>
          </a:prstGeom>
          <a:noFill/>
          <a:ln/>
        </p:spPr>
        <p:txBody>
          <a:bodyPr wrap="square" lIns="0" tIns="0" rIns="0" bIns="0" rtlCol="0" anchor="t"/>
          <a:lstStyle/>
          <a:p>
            <a:pPr marL="0" indent="0">
              <a:lnSpc>
                <a:spcPct val="125000"/>
              </a:lnSpc>
              <a:buNone/>
            </a:pPr>
            <a:r>
              <a:rPr lang="en-US" sz="900" b="1" dirty="0">
                <a:solidFill>
                  <a:srgbClr val="2A6BE0"/>
                </a:solidFill>
                <a:latin typeface="JetBrains Mono" pitchFamily="34" charset="0"/>
                <a:ea typeface="JetBrains Mono" pitchFamily="34" charset="-122"/>
                <a:cs typeface="JetBrains Mono" pitchFamily="34" charset="-120"/>
              </a:rPr>
              <a:t>02</a:t>
            </a:r>
            <a:endParaRPr lang="en-US" sz="900" dirty="0"/>
          </a:p>
        </p:txBody>
      </p:sp>
      <p:sp>
        <p:nvSpPr>
          <p:cNvPr id="37" name="Text 34"/>
          <p:cNvSpPr/>
          <p:nvPr/>
        </p:nvSpPr>
        <p:spPr>
          <a:xfrm>
            <a:off x="4879848" y="3200400"/>
            <a:ext cx="2797759" cy="228600"/>
          </a:xfrm>
          <a:prstGeom prst="rect">
            <a:avLst/>
          </a:prstGeom>
          <a:noFill/>
          <a:ln/>
        </p:spPr>
        <p:txBody>
          <a:bodyPr wrap="square" lIns="0" tIns="0" rIns="0" bIns="0" rtlCol="0" anchor="t"/>
          <a:lstStyle/>
          <a:p>
            <a:pPr marL="0" indent="0">
              <a:lnSpc>
                <a:spcPct val="125000"/>
              </a:lnSpc>
              <a:buNone/>
            </a:pPr>
            <a:r>
              <a:rPr lang="en-US" sz="1050" b="1" dirty="0">
                <a:solidFill>
                  <a:srgbClr val="0E1B33"/>
                </a:solidFill>
                <a:latin typeface="Instrument Sans" pitchFamily="34" charset="0"/>
                <a:ea typeface="Instrument Sans" pitchFamily="34" charset="-122"/>
                <a:cs typeface="Instrument Sans" pitchFamily="34" charset="-120"/>
              </a:rPr>
              <a:t>Fix the display name</a:t>
            </a:r>
            <a:endParaRPr lang="en-US" sz="1050" dirty="0"/>
          </a:p>
        </p:txBody>
      </p:sp>
      <p:sp>
        <p:nvSpPr>
          <p:cNvPr id="38" name="Text 35"/>
          <p:cNvSpPr/>
          <p:nvPr/>
        </p:nvSpPr>
        <p:spPr>
          <a:xfrm>
            <a:off x="4879848" y="3474720"/>
            <a:ext cx="2797759" cy="612648"/>
          </a:xfrm>
          <a:prstGeom prst="rect">
            <a:avLst/>
          </a:prstGeom>
          <a:noFill/>
          <a:ln/>
        </p:spPr>
        <p:txBody>
          <a:bodyPr wrap="square" lIns="0" tIns="0" rIns="0" bIns="0" rtlCol="0" anchor="t"/>
          <a:lstStyle/>
          <a:p>
            <a:pPr marL="0" indent="0">
              <a:lnSpc>
                <a:spcPct val="125000"/>
              </a:lnSpc>
              <a:buNone/>
            </a:pPr>
            <a:r>
              <a:rPr lang="en-US" sz="1000" dirty="0">
                <a:solidFill>
                  <a:srgbClr val="4A5A75"/>
                </a:solidFill>
                <a:latin typeface="Instrument Sans" pitchFamily="34" charset="0"/>
                <a:ea typeface="Instrument Sans" pitchFamily="34" charset="-122"/>
                <a:cs typeface="Instrument Sans" pitchFamily="34" charset="-120"/>
              </a:rPr>
              <a:t>Resubmit it in Meta Business Manager with your SSM name, and show that name on your website.</a:t>
            </a:r>
            <a:endParaRPr lang="en-US" sz="1000" dirty="0"/>
          </a:p>
        </p:txBody>
      </p:sp>
      <p:sp>
        <p:nvSpPr>
          <p:cNvPr id="39" name="Shape 36"/>
          <p:cNvSpPr/>
          <p:nvPr/>
        </p:nvSpPr>
        <p:spPr>
          <a:xfrm>
            <a:off x="8052511" y="3063240"/>
            <a:ext cx="3529279" cy="1115568"/>
          </a:xfrm>
          <a:prstGeom prst="roundRect">
            <a:avLst>
              <a:gd name="adj" fmla="val 10656"/>
            </a:avLst>
          </a:prstGeom>
          <a:solidFill>
            <a:srgbClr val="FFFFFF"/>
          </a:solidFill>
          <a:ln w="9525">
            <a:solidFill>
              <a:srgbClr val="D5E2F0"/>
            </a:solidFill>
            <a:prstDash val="solid"/>
          </a:ln>
        </p:spPr>
        <p:txBody>
          <a:bodyPr/>
          <a:lstStyle/>
          <a:p>
            <a:endParaRPr lang="en-MY"/>
          </a:p>
        </p:txBody>
      </p:sp>
      <p:sp>
        <p:nvSpPr>
          <p:cNvPr id="40" name="Text 37"/>
          <p:cNvSpPr/>
          <p:nvPr/>
        </p:nvSpPr>
        <p:spPr>
          <a:xfrm>
            <a:off x="8253679" y="3218688"/>
            <a:ext cx="320040" cy="201168"/>
          </a:xfrm>
          <a:prstGeom prst="rect">
            <a:avLst/>
          </a:prstGeom>
          <a:noFill/>
          <a:ln/>
        </p:spPr>
        <p:txBody>
          <a:bodyPr wrap="square" lIns="0" tIns="0" rIns="0" bIns="0" rtlCol="0" anchor="t"/>
          <a:lstStyle/>
          <a:p>
            <a:pPr marL="0" indent="0">
              <a:lnSpc>
                <a:spcPct val="125000"/>
              </a:lnSpc>
              <a:buNone/>
            </a:pPr>
            <a:r>
              <a:rPr lang="en-US" sz="900" b="1" dirty="0">
                <a:solidFill>
                  <a:srgbClr val="2A6BE0"/>
                </a:solidFill>
                <a:latin typeface="JetBrains Mono" pitchFamily="34" charset="0"/>
                <a:ea typeface="JetBrains Mono" pitchFamily="34" charset="-122"/>
                <a:cs typeface="JetBrains Mono" pitchFamily="34" charset="-120"/>
              </a:rPr>
              <a:t>03</a:t>
            </a:r>
            <a:endParaRPr lang="en-US" sz="900" dirty="0"/>
          </a:p>
        </p:txBody>
      </p:sp>
      <p:sp>
        <p:nvSpPr>
          <p:cNvPr id="41" name="Text 38"/>
          <p:cNvSpPr/>
          <p:nvPr/>
        </p:nvSpPr>
        <p:spPr>
          <a:xfrm>
            <a:off x="8601151" y="3200400"/>
            <a:ext cx="2797759" cy="228600"/>
          </a:xfrm>
          <a:prstGeom prst="rect">
            <a:avLst/>
          </a:prstGeom>
          <a:noFill/>
          <a:ln/>
        </p:spPr>
        <p:txBody>
          <a:bodyPr wrap="square" lIns="0" tIns="0" rIns="0" bIns="0" rtlCol="0" anchor="t"/>
          <a:lstStyle/>
          <a:p>
            <a:pPr marL="0" indent="0">
              <a:lnSpc>
                <a:spcPct val="125000"/>
              </a:lnSpc>
              <a:buNone/>
            </a:pPr>
            <a:r>
              <a:rPr lang="en-US" sz="1050" b="1" dirty="0">
                <a:solidFill>
                  <a:srgbClr val="0E1B33"/>
                </a:solidFill>
                <a:latin typeface="Instrument Sans" pitchFamily="34" charset="0"/>
                <a:ea typeface="Instrument Sans" pitchFamily="34" charset="-122"/>
                <a:cs typeface="Instrument Sans" pitchFamily="34" charset="-120"/>
              </a:rPr>
              <a:t>Reply in 5 minutes</a:t>
            </a:r>
            <a:endParaRPr lang="en-US" sz="1050" dirty="0"/>
          </a:p>
        </p:txBody>
      </p:sp>
      <p:sp>
        <p:nvSpPr>
          <p:cNvPr id="42" name="Text 39"/>
          <p:cNvSpPr/>
          <p:nvPr/>
        </p:nvSpPr>
        <p:spPr>
          <a:xfrm>
            <a:off x="8601151" y="3474720"/>
            <a:ext cx="2797759" cy="612648"/>
          </a:xfrm>
          <a:prstGeom prst="rect">
            <a:avLst/>
          </a:prstGeom>
          <a:noFill/>
          <a:ln/>
        </p:spPr>
        <p:txBody>
          <a:bodyPr wrap="square" lIns="0" tIns="0" rIns="0" bIns="0" rtlCol="0" anchor="t"/>
          <a:lstStyle/>
          <a:p>
            <a:pPr marL="0" indent="0">
              <a:lnSpc>
                <a:spcPct val="125000"/>
              </a:lnSpc>
              <a:buNone/>
            </a:pPr>
            <a:r>
              <a:rPr lang="en-US" sz="1000" dirty="0">
                <a:solidFill>
                  <a:srgbClr val="4A5A75"/>
                </a:solidFill>
                <a:latin typeface="Instrument Sans" pitchFamily="34" charset="0"/>
                <a:ea typeface="Instrument Sans" pitchFamily="34" charset="-122"/>
                <a:cs typeface="Instrument Sans" pitchFamily="34" charset="-120"/>
              </a:rPr>
              <a:t>Turn on the Welcome Message and Out of Office replies. Both are set up but switched off.</a:t>
            </a:r>
            <a:endParaRPr lang="en-US" sz="1000" dirty="0"/>
          </a:p>
        </p:txBody>
      </p:sp>
      <p:sp>
        <p:nvSpPr>
          <p:cNvPr id="43" name="Shape 40"/>
          <p:cNvSpPr/>
          <p:nvPr/>
        </p:nvSpPr>
        <p:spPr>
          <a:xfrm>
            <a:off x="609905" y="4315968"/>
            <a:ext cx="3529279" cy="1115568"/>
          </a:xfrm>
          <a:prstGeom prst="roundRect">
            <a:avLst>
              <a:gd name="adj" fmla="val 10656"/>
            </a:avLst>
          </a:prstGeom>
          <a:solidFill>
            <a:srgbClr val="FFFFFF"/>
          </a:solidFill>
          <a:ln w="9525">
            <a:solidFill>
              <a:srgbClr val="D5E2F0"/>
            </a:solidFill>
            <a:prstDash val="solid"/>
          </a:ln>
        </p:spPr>
        <p:txBody>
          <a:bodyPr/>
          <a:lstStyle/>
          <a:p>
            <a:endParaRPr lang="en-MY"/>
          </a:p>
        </p:txBody>
      </p:sp>
      <p:sp>
        <p:nvSpPr>
          <p:cNvPr id="44" name="Text 41"/>
          <p:cNvSpPr/>
          <p:nvPr/>
        </p:nvSpPr>
        <p:spPr>
          <a:xfrm>
            <a:off x="811073" y="4471416"/>
            <a:ext cx="320040" cy="201168"/>
          </a:xfrm>
          <a:prstGeom prst="rect">
            <a:avLst/>
          </a:prstGeom>
          <a:noFill/>
          <a:ln/>
        </p:spPr>
        <p:txBody>
          <a:bodyPr wrap="square" lIns="0" tIns="0" rIns="0" bIns="0" rtlCol="0" anchor="t"/>
          <a:lstStyle/>
          <a:p>
            <a:pPr marL="0" indent="0">
              <a:lnSpc>
                <a:spcPct val="125000"/>
              </a:lnSpc>
              <a:buNone/>
            </a:pPr>
            <a:r>
              <a:rPr lang="en-US" sz="900" b="1" dirty="0">
                <a:solidFill>
                  <a:srgbClr val="2A6BE0"/>
                </a:solidFill>
                <a:latin typeface="JetBrains Mono" pitchFamily="34" charset="0"/>
                <a:ea typeface="JetBrains Mono" pitchFamily="34" charset="-122"/>
                <a:cs typeface="JetBrains Mono" pitchFamily="34" charset="-120"/>
              </a:rPr>
              <a:t>04</a:t>
            </a:r>
            <a:endParaRPr lang="en-US" sz="900" dirty="0"/>
          </a:p>
        </p:txBody>
      </p:sp>
      <p:sp>
        <p:nvSpPr>
          <p:cNvPr id="45" name="Text 42"/>
          <p:cNvSpPr/>
          <p:nvPr/>
        </p:nvSpPr>
        <p:spPr>
          <a:xfrm>
            <a:off x="1158545" y="4453128"/>
            <a:ext cx="2797759" cy="228600"/>
          </a:xfrm>
          <a:prstGeom prst="rect">
            <a:avLst/>
          </a:prstGeom>
          <a:noFill/>
          <a:ln/>
        </p:spPr>
        <p:txBody>
          <a:bodyPr wrap="square" lIns="0" tIns="0" rIns="0" bIns="0" rtlCol="0" anchor="t"/>
          <a:lstStyle/>
          <a:p>
            <a:pPr marL="0" indent="0">
              <a:lnSpc>
                <a:spcPct val="125000"/>
              </a:lnSpc>
              <a:buNone/>
            </a:pPr>
            <a:r>
              <a:rPr lang="en-US" sz="1050" b="1" dirty="0">
                <a:solidFill>
                  <a:srgbClr val="0E1B33"/>
                </a:solidFill>
                <a:latin typeface="Instrument Sans" pitchFamily="34" charset="0"/>
                <a:ea typeface="Instrument Sans" pitchFamily="34" charset="-122"/>
                <a:cs typeface="Instrument Sans" pitchFamily="34" charset="-120"/>
              </a:rPr>
              <a:t>Ask and label</a:t>
            </a:r>
            <a:endParaRPr lang="en-US" sz="1050" dirty="0"/>
          </a:p>
        </p:txBody>
      </p:sp>
      <p:sp>
        <p:nvSpPr>
          <p:cNvPr id="46" name="Text 43"/>
          <p:cNvSpPr/>
          <p:nvPr/>
        </p:nvSpPr>
        <p:spPr>
          <a:xfrm>
            <a:off x="1158545" y="4727448"/>
            <a:ext cx="2797759" cy="612648"/>
          </a:xfrm>
          <a:prstGeom prst="rect">
            <a:avLst/>
          </a:prstGeom>
          <a:noFill/>
          <a:ln/>
        </p:spPr>
        <p:txBody>
          <a:bodyPr wrap="square" lIns="0" tIns="0" rIns="0" bIns="0" rtlCol="0" anchor="t"/>
          <a:lstStyle/>
          <a:p>
            <a:pPr marL="0" indent="0">
              <a:lnSpc>
                <a:spcPct val="125000"/>
              </a:lnSpc>
              <a:buNone/>
            </a:pPr>
            <a:r>
              <a:rPr lang="en-US" sz="1000" dirty="0">
                <a:solidFill>
                  <a:srgbClr val="4A5A75"/>
                </a:solidFill>
                <a:latin typeface="Instrument Sans" pitchFamily="34" charset="0"/>
                <a:ea typeface="Instrument Sans" pitchFamily="34" charset="-122"/>
                <a:cs typeface="Instrument Sans" pitchFamily="34" charset="-120"/>
              </a:rPr>
              <a:t>Ask about program, results, intake, funding and location. Mark each lead qualified or not.</a:t>
            </a:r>
            <a:endParaRPr lang="en-US" sz="1000" dirty="0"/>
          </a:p>
        </p:txBody>
      </p:sp>
      <p:sp>
        <p:nvSpPr>
          <p:cNvPr id="47" name="Shape 44"/>
          <p:cNvSpPr/>
          <p:nvPr/>
        </p:nvSpPr>
        <p:spPr>
          <a:xfrm>
            <a:off x="4331208" y="4315968"/>
            <a:ext cx="3529279" cy="1115568"/>
          </a:xfrm>
          <a:prstGeom prst="roundRect">
            <a:avLst>
              <a:gd name="adj" fmla="val 10656"/>
            </a:avLst>
          </a:prstGeom>
          <a:solidFill>
            <a:srgbClr val="FFFFFF"/>
          </a:solidFill>
          <a:ln w="9525">
            <a:solidFill>
              <a:srgbClr val="D5E2F0"/>
            </a:solidFill>
            <a:prstDash val="solid"/>
          </a:ln>
        </p:spPr>
        <p:txBody>
          <a:bodyPr/>
          <a:lstStyle/>
          <a:p>
            <a:endParaRPr lang="en-MY"/>
          </a:p>
        </p:txBody>
      </p:sp>
      <p:sp>
        <p:nvSpPr>
          <p:cNvPr id="48" name="Text 45"/>
          <p:cNvSpPr/>
          <p:nvPr/>
        </p:nvSpPr>
        <p:spPr>
          <a:xfrm>
            <a:off x="4532376" y="4471416"/>
            <a:ext cx="320040" cy="201168"/>
          </a:xfrm>
          <a:prstGeom prst="rect">
            <a:avLst/>
          </a:prstGeom>
          <a:noFill/>
          <a:ln/>
        </p:spPr>
        <p:txBody>
          <a:bodyPr wrap="square" lIns="0" tIns="0" rIns="0" bIns="0" rtlCol="0" anchor="t"/>
          <a:lstStyle/>
          <a:p>
            <a:pPr marL="0" indent="0">
              <a:lnSpc>
                <a:spcPct val="125000"/>
              </a:lnSpc>
              <a:buNone/>
            </a:pPr>
            <a:r>
              <a:rPr lang="en-US" sz="900" b="1" dirty="0">
                <a:solidFill>
                  <a:srgbClr val="2A6BE0"/>
                </a:solidFill>
                <a:latin typeface="JetBrains Mono" pitchFamily="34" charset="0"/>
                <a:ea typeface="JetBrains Mono" pitchFamily="34" charset="-122"/>
                <a:cs typeface="JetBrains Mono" pitchFamily="34" charset="-120"/>
              </a:rPr>
              <a:t>05</a:t>
            </a:r>
            <a:endParaRPr lang="en-US" sz="900" dirty="0"/>
          </a:p>
        </p:txBody>
      </p:sp>
      <p:sp>
        <p:nvSpPr>
          <p:cNvPr id="49" name="Text 46"/>
          <p:cNvSpPr/>
          <p:nvPr/>
        </p:nvSpPr>
        <p:spPr>
          <a:xfrm>
            <a:off x="4879848" y="4453128"/>
            <a:ext cx="2797759" cy="228600"/>
          </a:xfrm>
          <a:prstGeom prst="rect">
            <a:avLst/>
          </a:prstGeom>
          <a:noFill/>
          <a:ln/>
        </p:spPr>
        <p:txBody>
          <a:bodyPr wrap="square" lIns="0" tIns="0" rIns="0" bIns="0" rtlCol="0" anchor="t"/>
          <a:lstStyle/>
          <a:p>
            <a:pPr marL="0" indent="0">
              <a:lnSpc>
                <a:spcPct val="125000"/>
              </a:lnSpc>
              <a:buNone/>
            </a:pPr>
            <a:r>
              <a:rPr lang="en-US" sz="1050" b="1" dirty="0">
                <a:solidFill>
                  <a:srgbClr val="0E1B33"/>
                </a:solidFill>
                <a:latin typeface="Instrument Sans" pitchFamily="34" charset="0"/>
                <a:ea typeface="Instrument Sans" pitchFamily="34" charset="-122"/>
                <a:cs typeface="Instrument Sans" pitchFamily="34" charset="-120"/>
              </a:rPr>
              <a:t>Record the outcome</a:t>
            </a:r>
            <a:endParaRPr lang="en-US" sz="1050" dirty="0"/>
          </a:p>
        </p:txBody>
      </p:sp>
      <p:sp>
        <p:nvSpPr>
          <p:cNvPr id="50" name="Text 47"/>
          <p:cNvSpPr/>
          <p:nvPr/>
        </p:nvSpPr>
        <p:spPr>
          <a:xfrm>
            <a:off x="4879848" y="4727448"/>
            <a:ext cx="2797759" cy="612648"/>
          </a:xfrm>
          <a:prstGeom prst="rect">
            <a:avLst/>
          </a:prstGeom>
          <a:noFill/>
          <a:ln/>
        </p:spPr>
        <p:txBody>
          <a:bodyPr wrap="square" lIns="0" tIns="0" rIns="0" bIns="0" rtlCol="0" anchor="t"/>
          <a:lstStyle/>
          <a:p>
            <a:pPr marL="0" indent="0">
              <a:lnSpc>
                <a:spcPct val="125000"/>
              </a:lnSpc>
              <a:buNone/>
            </a:pPr>
            <a:r>
              <a:rPr lang="en-US" sz="1000" dirty="0">
                <a:solidFill>
                  <a:srgbClr val="4A5A75"/>
                </a:solidFill>
                <a:latin typeface="Instrument Sans" pitchFamily="34" charset="0"/>
                <a:ea typeface="Instrument Sans" pitchFamily="34" charset="-122"/>
                <a:cs typeface="Instrument Sans" pitchFamily="34" charset="-120"/>
              </a:rPr>
              <a:t>Track each lead to booked, attended, applied and enrolled.</a:t>
            </a:r>
            <a:endParaRPr lang="en-US" sz="1000" dirty="0"/>
          </a:p>
        </p:txBody>
      </p:sp>
      <p:sp>
        <p:nvSpPr>
          <p:cNvPr id="51" name="Shape 48"/>
          <p:cNvSpPr/>
          <p:nvPr/>
        </p:nvSpPr>
        <p:spPr>
          <a:xfrm>
            <a:off x="8052511" y="4315968"/>
            <a:ext cx="3529279" cy="1115568"/>
          </a:xfrm>
          <a:prstGeom prst="roundRect">
            <a:avLst>
              <a:gd name="adj" fmla="val 10656"/>
            </a:avLst>
          </a:prstGeom>
          <a:solidFill>
            <a:srgbClr val="FFFFFF"/>
          </a:solidFill>
          <a:ln w="9525">
            <a:solidFill>
              <a:srgbClr val="D5E2F0"/>
            </a:solidFill>
            <a:prstDash val="solid"/>
          </a:ln>
        </p:spPr>
        <p:txBody>
          <a:bodyPr/>
          <a:lstStyle/>
          <a:p>
            <a:endParaRPr lang="en-MY"/>
          </a:p>
        </p:txBody>
      </p:sp>
      <p:sp>
        <p:nvSpPr>
          <p:cNvPr id="52" name="Text 49"/>
          <p:cNvSpPr/>
          <p:nvPr/>
        </p:nvSpPr>
        <p:spPr>
          <a:xfrm>
            <a:off x="8253679" y="4471416"/>
            <a:ext cx="320040" cy="201168"/>
          </a:xfrm>
          <a:prstGeom prst="rect">
            <a:avLst/>
          </a:prstGeom>
          <a:noFill/>
          <a:ln/>
        </p:spPr>
        <p:txBody>
          <a:bodyPr wrap="square" lIns="0" tIns="0" rIns="0" bIns="0" rtlCol="0" anchor="t"/>
          <a:lstStyle/>
          <a:p>
            <a:pPr marL="0" indent="0">
              <a:lnSpc>
                <a:spcPct val="125000"/>
              </a:lnSpc>
              <a:buNone/>
            </a:pPr>
            <a:r>
              <a:rPr lang="en-US" sz="900" b="1" dirty="0">
                <a:solidFill>
                  <a:srgbClr val="2A6BE0"/>
                </a:solidFill>
                <a:latin typeface="JetBrains Mono" pitchFamily="34" charset="0"/>
                <a:ea typeface="JetBrains Mono" pitchFamily="34" charset="-122"/>
                <a:cs typeface="JetBrains Mono" pitchFamily="34" charset="-120"/>
              </a:rPr>
              <a:t>06</a:t>
            </a:r>
            <a:endParaRPr lang="en-US" sz="900" dirty="0"/>
          </a:p>
        </p:txBody>
      </p:sp>
      <p:sp>
        <p:nvSpPr>
          <p:cNvPr id="53" name="Text 50"/>
          <p:cNvSpPr/>
          <p:nvPr/>
        </p:nvSpPr>
        <p:spPr>
          <a:xfrm>
            <a:off x="8601151" y="4453128"/>
            <a:ext cx="2797759" cy="228600"/>
          </a:xfrm>
          <a:prstGeom prst="rect">
            <a:avLst/>
          </a:prstGeom>
          <a:noFill/>
          <a:ln/>
        </p:spPr>
        <p:txBody>
          <a:bodyPr wrap="square" lIns="0" tIns="0" rIns="0" bIns="0" rtlCol="0" anchor="t"/>
          <a:lstStyle/>
          <a:p>
            <a:pPr marL="0" indent="0">
              <a:lnSpc>
                <a:spcPct val="125000"/>
              </a:lnSpc>
              <a:buNone/>
            </a:pPr>
            <a:r>
              <a:rPr lang="en-US" sz="1050" b="1" dirty="0">
                <a:solidFill>
                  <a:srgbClr val="0E1B33"/>
                </a:solidFill>
                <a:latin typeface="Instrument Sans" pitchFamily="34" charset="0"/>
                <a:ea typeface="Instrument Sans" pitchFamily="34" charset="-122"/>
                <a:cs typeface="Instrument Sans" pitchFamily="34" charset="-120"/>
              </a:rPr>
              <a:t>Cover evenings and weekends</a:t>
            </a:r>
            <a:endParaRPr lang="en-US" sz="1050" dirty="0"/>
          </a:p>
        </p:txBody>
      </p:sp>
      <p:sp>
        <p:nvSpPr>
          <p:cNvPr id="54" name="Text 51"/>
          <p:cNvSpPr/>
          <p:nvPr/>
        </p:nvSpPr>
        <p:spPr>
          <a:xfrm>
            <a:off x="8601151" y="4727448"/>
            <a:ext cx="2797759" cy="612648"/>
          </a:xfrm>
          <a:prstGeom prst="rect">
            <a:avLst/>
          </a:prstGeom>
          <a:noFill/>
          <a:ln/>
        </p:spPr>
        <p:txBody>
          <a:bodyPr wrap="square" lIns="0" tIns="0" rIns="0" bIns="0" rtlCol="0" anchor="t"/>
          <a:lstStyle/>
          <a:p>
            <a:pPr marL="0" indent="0">
              <a:lnSpc>
                <a:spcPct val="125000"/>
              </a:lnSpc>
              <a:buNone/>
            </a:pPr>
            <a:r>
              <a:rPr lang="en-US" sz="1000" dirty="0">
                <a:solidFill>
                  <a:srgbClr val="4A5A75"/>
                </a:solidFill>
                <a:latin typeface="Instrument Sans" pitchFamily="34" charset="0"/>
                <a:ea typeface="Instrument Sans" pitchFamily="34" charset="-122"/>
                <a:cs typeface="Instrument Sans" pitchFamily="34" charset="-120"/>
              </a:rPr>
              <a:t>Add two more people on replies, and send open day reminders.</a:t>
            </a:r>
            <a:endParaRPr lang="en-US" sz="1000" dirty="0"/>
          </a:p>
        </p:txBody>
      </p:sp>
      <p:sp>
        <p:nvSpPr>
          <p:cNvPr id="55" name="Shape 52"/>
          <p:cNvSpPr/>
          <p:nvPr/>
        </p:nvSpPr>
        <p:spPr>
          <a:xfrm>
            <a:off x="609905" y="5669280"/>
            <a:ext cx="10971886" cy="603504"/>
          </a:xfrm>
          <a:prstGeom prst="roundRect">
            <a:avLst>
              <a:gd name="adj" fmla="val 19697"/>
            </a:avLst>
          </a:prstGeom>
          <a:solidFill>
            <a:srgbClr val="0E1B33"/>
          </a:solidFill>
          <a:ln/>
        </p:spPr>
        <p:txBody>
          <a:bodyPr/>
          <a:lstStyle/>
          <a:p>
            <a:endParaRPr lang="en-MY"/>
          </a:p>
        </p:txBody>
      </p:sp>
      <p:sp>
        <p:nvSpPr>
          <p:cNvPr id="56" name="Text 53"/>
          <p:cNvSpPr/>
          <p:nvPr/>
        </p:nvSpPr>
        <p:spPr>
          <a:xfrm>
            <a:off x="884225" y="5669280"/>
            <a:ext cx="10423246" cy="603504"/>
          </a:xfrm>
          <a:prstGeom prst="rect">
            <a:avLst/>
          </a:prstGeom>
          <a:noFill/>
          <a:ln/>
        </p:spPr>
        <p:txBody>
          <a:bodyPr wrap="square" lIns="0" tIns="0" rIns="0" bIns="0" rtlCol="0" anchor="ctr"/>
          <a:lstStyle/>
          <a:p>
            <a:pPr marL="0" indent="0">
              <a:lnSpc>
                <a:spcPct val="100000"/>
              </a:lnSpc>
              <a:buNone/>
            </a:pPr>
            <a:r>
              <a:rPr lang="en-US" sz="1800" dirty="0">
                <a:solidFill>
                  <a:srgbClr val="FFFFFF"/>
                </a:solidFill>
                <a:latin typeface="Instrument Serif" pitchFamily="34" charset="0"/>
                <a:ea typeface="Instrument Serif" pitchFamily="34" charset="-122"/>
                <a:cs typeface="Instrument Serif" pitchFamily="34" charset="-120"/>
              </a:rPr>
              <a:t>At your 1 in 3 close rate, 1,678 qualified leads make 559 students. </a:t>
            </a:r>
            <a:r>
              <a:rPr lang="en-US" sz="1800" i="1" dirty="0">
                <a:solidFill>
                  <a:srgbClr val="8CE0EC"/>
                </a:solidFill>
                <a:latin typeface="Instrument Serif" pitchFamily="34" charset="0"/>
                <a:ea typeface="Instrument Serif" pitchFamily="34" charset="-122"/>
                <a:cs typeface="Instrument Serif" pitchFamily="34" charset="-120"/>
              </a:rPr>
              <a:t>Reach 2 in 5 and you get 671.</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609905" y="548640"/>
            <a:ext cx="59436" cy="59436"/>
          </a:xfrm>
          <a:prstGeom prst="ellipse">
            <a:avLst/>
          </a:prstGeom>
          <a:solidFill>
            <a:srgbClr val="2A6BE0"/>
          </a:solidFill>
          <a:ln/>
        </p:spPr>
        <p:txBody>
          <a:bodyPr/>
          <a:lstStyle/>
          <a:p>
            <a:endParaRPr lang="en-MY"/>
          </a:p>
        </p:txBody>
      </p:sp>
      <p:sp>
        <p:nvSpPr>
          <p:cNvPr id="3" name="Text 1"/>
          <p:cNvSpPr/>
          <p:nvPr/>
        </p:nvSpPr>
        <p:spPr>
          <a:xfrm>
            <a:off x="756209" y="484632"/>
            <a:ext cx="7315200" cy="182880"/>
          </a:xfrm>
          <a:prstGeom prst="rect">
            <a:avLst/>
          </a:prstGeom>
          <a:noFill/>
          <a:ln/>
        </p:spPr>
        <p:txBody>
          <a:bodyPr wrap="square" lIns="0" tIns="0" rIns="0" bIns="0" rtlCol="0" anchor="t"/>
          <a:lstStyle/>
          <a:p>
            <a:pPr marL="0" indent="0">
              <a:lnSpc>
                <a:spcPct val="125000"/>
              </a:lnSpc>
              <a:buNone/>
            </a:pPr>
            <a:r>
              <a:rPr lang="en-US" sz="825" kern="0" spc="60" dirty="0">
                <a:solidFill>
                  <a:srgbClr val="2A6BE0"/>
                </a:solidFill>
                <a:latin typeface="JetBrains Mono" pitchFamily="34" charset="0"/>
                <a:ea typeface="JetBrains Mono" pitchFamily="34" charset="-122"/>
                <a:cs typeface="JetBrains Mono" pitchFamily="34" charset="-120"/>
              </a:rPr>
              <a:t>WORKING TOGETHER</a:t>
            </a:r>
            <a:endParaRPr lang="en-US" sz="825" dirty="0"/>
          </a:p>
        </p:txBody>
      </p:sp>
      <p:sp>
        <p:nvSpPr>
          <p:cNvPr id="4" name="Text 2"/>
          <p:cNvSpPr/>
          <p:nvPr/>
        </p:nvSpPr>
        <p:spPr>
          <a:xfrm>
            <a:off x="609905" y="713232"/>
            <a:ext cx="10971886" cy="658368"/>
          </a:xfrm>
          <a:prstGeom prst="rect">
            <a:avLst/>
          </a:prstGeom>
          <a:noFill/>
          <a:ln/>
        </p:spPr>
        <p:txBody>
          <a:bodyPr wrap="square" lIns="0" tIns="0" rIns="0" bIns="0" rtlCol="0" anchor="ctr"/>
          <a:lstStyle/>
          <a:p>
            <a:pPr marL="0" indent="0">
              <a:lnSpc>
                <a:spcPct val="100000"/>
              </a:lnSpc>
              <a:buNone/>
            </a:pPr>
            <a:r>
              <a:rPr lang="en-US" sz="3800" dirty="0">
                <a:solidFill>
                  <a:srgbClr val="0E1B33"/>
                </a:solidFill>
                <a:latin typeface="Instrument Serif" pitchFamily="34" charset="0"/>
                <a:ea typeface="Instrument Serif" pitchFamily="34" charset="-122"/>
                <a:cs typeface="Instrument Serif" pitchFamily="34" charset="-120"/>
              </a:rPr>
              <a:t>We meet you </a:t>
            </a:r>
            <a:r>
              <a:rPr lang="en-US" sz="3800" i="1" dirty="0">
                <a:solidFill>
                  <a:srgbClr val="2A6BE0"/>
                </a:solidFill>
                <a:latin typeface="Instrument Serif" pitchFamily="34" charset="0"/>
                <a:ea typeface="Instrument Serif" pitchFamily="34" charset="-122"/>
                <a:cs typeface="Instrument Serif" pitchFamily="34" charset="-120"/>
              </a:rPr>
              <a:t>every two weeks</a:t>
            </a:r>
            <a:endParaRPr lang="en-US" sz="3800" dirty="0"/>
          </a:p>
        </p:txBody>
      </p:sp>
      <p:sp>
        <p:nvSpPr>
          <p:cNvPr id="5" name="Text 3"/>
          <p:cNvSpPr/>
          <p:nvPr/>
        </p:nvSpPr>
        <p:spPr>
          <a:xfrm>
            <a:off x="609905" y="1463040"/>
            <a:ext cx="10971886" cy="566928"/>
          </a:xfrm>
          <a:prstGeom prst="rect">
            <a:avLst/>
          </a:prstGeom>
          <a:noFill/>
          <a:ln/>
        </p:spPr>
        <p:txBody>
          <a:bodyPr wrap="square" lIns="0" tIns="0" rIns="0" bIns="0" rtlCol="0" anchor="t"/>
          <a:lstStyle/>
          <a:p>
            <a:pPr marL="0" indent="0">
              <a:lnSpc>
                <a:spcPct val="140000"/>
              </a:lnSpc>
              <a:buNone/>
            </a:pPr>
            <a:r>
              <a:rPr lang="en-US" sz="1250" dirty="0">
                <a:solidFill>
                  <a:srgbClr val="4A5A75"/>
                </a:solidFill>
                <a:latin typeface="Instrument Sans" pitchFamily="34" charset="0"/>
                <a:ea typeface="Instrument Sans" pitchFamily="34" charset="-122"/>
                <a:cs typeface="Instrument Sans" pitchFamily="34" charset="-120"/>
              </a:rPr>
              <a:t>One online meeting and one campus meeting each month, plus a live dashboard.</a:t>
            </a:r>
            <a:endParaRPr lang="en-US" sz="1250" dirty="0"/>
          </a:p>
        </p:txBody>
      </p:sp>
      <p:sp>
        <p:nvSpPr>
          <p:cNvPr id="6" name="Text 4"/>
          <p:cNvSpPr/>
          <p:nvPr/>
        </p:nvSpPr>
        <p:spPr>
          <a:xfrm>
            <a:off x="11033150" y="6455664"/>
            <a:ext cx="548640" cy="182880"/>
          </a:xfrm>
          <a:prstGeom prst="rect">
            <a:avLst/>
          </a:prstGeom>
          <a:noFill/>
          <a:ln/>
        </p:spPr>
        <p:txBody>
          <a:bodyPr wrap="square" lIns="0" tIns="0" rIns="0" bIns="0" rtlCol="0" anchor="t"/>
          <a:lstStyle/>
          <a:p>
            <a:pPr marL="0" indent="0" algn="r">
              <a:lnSpc>
                <a:spcPct val="125000"/>
              </a:lnSpc>
              <a:buNone/>
            </a:pPr>
            <a:r>
              <a:rPr lang="en-US" sz="750" dirty="0">
                <a:solidFill>
                  <a:srgbClr val="8794AC"/>
                </a:solidFill>
                <a:latin typeface="JetBrains Mono" pitchFamily="34" charset="0"/>
                <a:ea typeface="JetBrains Mono" pitchFamily="34" charset="-122"/>
                <a:cs typeface="JetBrains Mono" pitchFamily="34" charset="-120"/>
              </a:rPr>
              <a:t>08</a:t>
            </a:r>
            <a:endParaRPr lang="en-US" sz="750" dirty="0"/>
          </a:p>
        </p:txBody>
      </p:sp>
      <p:sp>
        <p:nvSpPr>
          <p:cNvPr id="8" name="Shape 5"/>
          <p:cNvSpPr/>
          <p:nvPr/>
        </p:nvSpPr>
        <p:spPr>
          <a:xfrm>
            <a:off x="838505" y="2340864"/>
            <a:ext cx="10743286" cy="22860"/>
          </a:xfrm>
          <a:prstGeom prst="rect">
            <a:avLst/>
          </a:prstGeom>
          <a:solidFill>
            <a:srgbClr val="2A6BE0"/>
          </a:solidFill>
          <a:ln/>
        </p:spPr>
        <p:txBody>
          <a:bodyPr/>
          <a:lstStyle/>
          <a:p>
            <a:endParaRPr lang="en-MY"/>
          </a:p>
        </p:txBody>
      </p:sp>
      <p:sp>
        <p:nvSpPr>
          <p:cNvPr id="9" name="Shape 6"/>
          <p:cNvSpPr/>
          <p:nvPr/>
        </p:nvSpPr>
        <p:spPr>
          <a:xfrm>
            <a:off x="811073" y="2249424"/>
            <a:ext cx="201168" cy="201168"/>
          </a:xfrm>
          <a:prstGeom prst="ellipse">
            <a:avLst/>
          </a:prstGeom>
          <a:solidFill>
            <a:srgbClr val="F4F8FD"/>
          </a:solidFill>
          <a:ln w="25400">
            <a:solidFill>
              <a:srgbClr val="2A6BE0"/>
            </a:solidFill>
            <a:prstDash val="solid"/>
          </a:ln>
        </p:spPr>
        <p:txBody>
          <a:bodyPr/>
          <a:lstStyle/>
          <a:p>
            <a:endParaRPr lang="en-MY"/>
          </a:p>
        </p:txBody>
      </p:sp>
      <p:sp>
        <p:nvSpPr>
          <p:cNvPr id="10" name="Shape 7"/>
          <p:cNvSpPr/>
          <p:nvPr/>
        </p:nvSpPr>
        <p:spPr>
          <a:xfrm>
            <a:off x="609905" y="2560320"/>
            <a:ext cx="2598953" cy="2441448"/>
          </a:xfrm>
          <a:prstGeom prst="roundRect">
            <a:avLst>
              <a:gd name="adj" fmla="val 4869"/>
            </a:avLst>
          </a:prstGeom>
          <a:solidFill>
            <a:srgbClr val="FFFFFF"/>
          </a:solidFill>
          <a:ln w="9525">
            <a:solidFill>
              <a:srgbClr val="D5E2F0"/>
            </a:solidFill>
            <a:prstDash val="solid"/>
          </a:ln>
        </p:spPr>
        <p:txBody>
          <a:bodyPr/>
          <a:lstStyle/>
          <a:p>
            <a:endParaRPr lang="en-MY"/>
          </a:p>
        </p:txBody>
      </p:sp>
      <p:sp>
        <p:nvSpPr>
          <p:cNvPr id="11" name="Text 8"/>
          <p:cNvSpPr/>
          <p:nvPr/>
        </p:nvSpPr>
        <p:spPr>
          <a:xfrm>
            <a:off x="811073" y="2743200"/>
            <a:ext cx="2196617" cy="384048"/>
          </a:xfrm>
          <a:prstGeom prst="rect">
            <a:avLst/>
          </a:prstGeom>
          <a:noFill/>
          <a:ln/>
        </p:spPr>
        <p:txBody>
          <a:bodyPr wrap="square" lIns="0" tIns="0" rIns="0" bIns="0" rtlCol="0" anchor="t"/>
          <a:lstStyle/>
          <a:p>
            <a:pPr marL="0" indent="0">
              <a:lnSpc>
                <a:spcPct val="100000"/>
              </a:lnSpc>
              <a:buNone/>
            </a:pPr>
            <a:r>
              <a:rPr lang="en-US" sz="2200" dirty="0">
                <a:solidFill>
                  <a:srgbClr val="0E1B33"/>
                </a:solidFill>
                <a:latin typeface="Instrument Serif" pitchFamily="34" charset="0"/>
                <a:ea typeface="Instrument Serif" pitchFamily="34" charset="-122"/>
                <a:cs typeface="Instrument Serif" pitchFamily="34" charset="-120"/>
              </a:rPr>
              <a:t>Online</a:t>
            </a:r>
            <a:endParaRPr lang="en-US" sz="2200" dirty="0"/>
          </a:p>
        </p:txBody>
      </p:sp>
      <p:sp>
        <p:nvSpPr>
          <p:cNvPr id="12" name="Text 9"/>
          <p:cNvSpPr/>
          <p:nvPr/>
        </p:nvSpPr>
        <p:spPr>
          <a:xfrm>
            <a:off x="811073" y="3145536"/>
            <a:ext cx="2196617" cy="228600"/>
          </a:xfrm>
          <a:prstGeom prst="rect">
            <a:avLst/>
          </a:prstGeom>
          <a:noFill/>
          <a:ln/>
        </p:spPr>
        <p:txBody>
          <a:bodyPr wrap="square" lIns="0" tIns="0" rIns="0" bIns="0" rtlCol="0" anchor="t"/>
          <a:lstStyle/>
          <a:p>
            <a:pPr marL="0" indent="0">
              <a:lnSpc>
                <a:spcPct val="125000"/>
              </a:lnSpc>
              <a:buNone/>
            </a:pPr>
            <a:r>
              <a:rPr lang="en-US" sz="1050" b="1" dirty="0">
                <a:solidFill>
                  <a:srgbClr val="2A6BE0"/>
                </a:solidFill>
                <a:latin typeface="Instrument Sans" pitchFamily="34" charset="0"/>
                <a:ea typeface="Instrument Sans" pitchFamily="34" charset="-122"/>
                <a:cs typeface="Instrument Sans" pitchFamily="34" charset="-120"/>
              </a:rPr>
              <a:t>Review and adjust</a:t>
            </a:r>
            <a:endParaRPr lang="en-US" sz="1050" dirty="0"/>
          </a:p>
        </p:txBody>
      </p:sp>
      <p:sp>
        <p:nvSpPr>
          <p:cNvPr id="13" name="Shape 10"/>
          <p:cNvSpPr/>
          <p:nvPr/>
        </p:nvSpPr>
        <p:spPr>
          <a:xfrm>
            <a:off x="811073" y="3474720"/>
            <a:ext cx="1600200" cy="256032"/>
          </a:xfrm>
          <a:prstGeom prst="roundRect">
            <a:avLst>
              <a:gd name="adj" fmla="val 21429"/>
            </a:avLst>
          </a:prstGeom>
          <a:solidFill>
            <a:srgbClr val="E7EFF9"/>
          </a:solidFill>
          <a:ln w="9525">
            <a:solidFill>
              <a:srgbClr val="D5E2F0"/>
            </a:solidFill>
            <a:prstDash val="solid"/>
          </a:ln>
        </p:spPr>
        <p:txBody>
          <a:bodyPr/>
          <a:lstStyle/>
          <a:p>
            <a:endParaRPr lang="en-MY"/>
          </a:p>
        </p:txBody>
      </p:sp>
      <p:sp>
        <p:nvSpPr>
          <p:cNvPr id="14" name="Text 11"/>
          <p:cNvSpPr/>
          <p:nvPr/>
        </p:nvSpPr>
        <p:spPr>
          <a:xfrm>
            <a:off x="811073" y="3474720"/>
            <a:ext cx="1600200" cy="256032"/>
          </a:xfrm>
          <a:prstGeom prst="rect">
            <a:avLst/>
          </a:prstGeom>
          <a:noFill/>
          <a:ln/>
        </p:spPr>
        <p:txBody>
          <a:bodyPr wrap="square" lIns="0" tIns="0" rIns="0" bIns="0" rtlCol="0" anchor="ctr"/>
          <a:lstStyle/>
          <a:p>
            <a:pPr marL="0" indent="0" algn="ctr">
              <a:lnSpc>
                <a:spcPct val="125000"/>
              </a:lnSpc>
              <a:buNone/>
            </a:pPr>
            <a:r>
              <a:rPr lang="en-US" sz="800" kern="0" spc="40" dirty="0">
                <a:solidFill>
                  <a:srgbClr val="0E1B33"/>
                </a:solidFill>
                <a:latin typeface="JetBrains Mono" pitchFamily="34" charset="0"/>
                <a:ea typeface="JetBrains Mono" pitchFamily="34" charset="-122"/>
                <a:cs typeface="JetBrains Mono" pitchFamily="34" charset="-120"/>
              </a:rPr>
              <a:t>WEEK 1   45 MIN</a:t>
            </a:r>
            <a:endParaRPr lang="en-US" sz="800" dirty="0"/>
          </a:p>
        </p:txBody>
      </p:sp>
      <p:sp>
        <p:nvSpPr>
          <p:cNvPr id="15" name="Text 12"/>
          <p:cNvSpPr/>
          <p:nvPr/>
        </p:nvSpPr>
        <p:spPr>
          <a:xfrm>
            <a:off x="811073" y="3931920"/>
            <a:ext cx="2196617" cy="1188720"/>
          </a:xfrm>
          <a:prstGeom prst="rect">
            <a:avLst/>
          </a:prstGeom>
          <a:noFill/>
          <a:ln/>
        </p:spPr>
        <p:txBody>
          <a:bodyPr wrap="square" lIns="0" tIns="0" rIns="0" bIns="0" rtlCol="0" anchor="t"/>
          <a:lstStyle/>
          <a:p>
            <a:pPr marL="0" indent="0">
              <a:lnSpc>
                <a:spcPct val="135000"/>
              </a:lnSpc>
              <a:buNone/>
            </a:pPr>
            <a:r>
              <a:rPr lang="en-US" sz="1050" dirty="0">
                <a:solidFill>
                  <a:srgbClr val="4A5A75"/>
                </a:solidFill>
                <a:latin typeface="Instrument Sans" pitchFamily="34" charset="0"/>
                <a:ea typeface="Instrument Sans" pitchFamily="34" charset="-122"/>
                <a:cs typeface="Instrument Sans" pitchFamily="34" charset="-120"/>
              </a:rPr>
              <a:t>We go through the last two weeks and agree what to change. Your sales team tells us which leads were good.</a:t>
            </a:r>
            <a:endParaRPr lang="en-US" sz="1050" dirty="0"/>
          </a:p>
        </p:txBody>
      </p:sp>
      <p:sp>
        <p:nvSpPr>
          <p:cNvPr id="16" name="Shape 13"/>
          <p:cNvSpPr/>
          <p:nvPr/>
        </p:nvSpPr>
        <p:spPr>
          <a:xfrm>
            <a:off x="3602050" y="2249424"/>
            <a:ext cx="201168" cy="201168"/>
          </a:xfrm>
          <a:prstGeom prst="ellipse">
            <a:avLst/>
          </a:prstGeom>
          <a:solidFill>
            <a:srgbClr val="F4F8FD"/>
          </a:solidFill>
          <a:ln w="25400">
            <a:solidFill>
              <a:srgbClr val="2A6BE0"/>
            </a:solidFill>
            <a:prstDash val="solid"/>
          </a:ln>
        </p:spPr>
        <p:txBody>
          <a:bodyPr/>
          <a:lstStyle/>
          <a:p>
            <a:endParaRPr lang="en-MY"/>
          </a:p>
        </p:txBody>
      </p:sp>
      <p:sp>
        <p:nvSpPr>
          <p:cNvPr id="17" name="Shape 14"/>
          <p:cNvSpPr/>
          <p:nvPr/>
        </p:nvSpPr>
        <p:spPr>
          <a:xfrm>
            <a:off x="3400882" y="2560320"/>
            <a:ext cx="2598953" cy="2441448"/>
          </a:xfrm>
          <a:prstGeom prst="roundRect">
            <a:avLst>
              <a:gd name="adj" fmla="val 4869"/>
            </a:avLst>
          </a:prstGeom>
          <a:solidFill>
            <a:srgbClr val="FFFFFF"/>
          </a:solidFill>
          <a:ln w="9525">
            <a:solidFill>
              <a:srgbClr val="D5E2F0"/>
            </a:solidFill>
            <a:prstDash val="solid"/>
          </a:ln>
        </p:spPr>
        <p:txBody>
          <a:bodyPr/>
          <a:lstStyle/>
          <a:p>
            <a:endParaRPr lang="en-MY"/>
          </a:p>
        </p:txBody>
      </p:sp>
      <p:sp>
        <p:nvSpPr>
          <p:cNvPr id="18" name="Text 15"/>
          <p:cNvSpPr/>
          <p:nvPr/>
        </p:nvSpPr>
        <p:spPr>
          <a:xfrm>
            <a:off x="3602050" y="2743200"/>
            <a:ext cx="2196617" cy="384048"/>
          </a:xfrm>
          <a:prstGeom prst="rect">
            <a:avLst/>
          </a:prstGeom>
          <a:noFill/>
          <a:ln/>
        </p:spPr>
        <p:txBody>
          <a:bodyPr wrap="square" lIns="0" tIns="0" rIns="0" bIns="0" rtlCol="0" anchor="t"/>
          <a:lstStyle/>
          <a:p>
            <a:pPr marL="0" indent="0">
              <a:lnSpc>
                <a:spcPct val="100000"/>
              </a:lnSpc>
              <a:buNone/>
            </a:pPr>
            <a:r>
              <a:rPr lang="en-US" sz="2200" dirty="0">
                <a:solidFill>
                  <a:srgbClr val="0E1B33"/>
                </a:solidFill>
                <a:latin typeface="Instrument Serif" pitchFamily="34" charset="0"/>
                <a:ea typeface="Instrument Serif" pitchFamily="34" charset="-122"/>
                <a:cs typeface="Instrument Serif" pitchFamily="34" charset="-120"/>
              </a:rPr>
              <a:t>At your campus</a:t>
            </a:r>
            <a:endParaRPr lang="en-US" sz="2200" dirty="0"/>
          </a:p>
        </p:txBody>
      </p:sp>
      <p:sp>
        <p:nvSpPr>
          <p:cNvPr id="19" name="Text 16"/>
          <p:cNvSpPr/>
          <p:nvPr/>
        </p:nvSpPr>
        <p:spPr>
          <a:xfrm>
            <a:off x="3602050" y="3145536"/>
            <a:ext cx="2196617" cy="228600"/>
          </a:xfrm>
          <a:prstGeom prst="rect">
            <a:avLst/>
          </a:prstGeom>
          <a:noFill/>
          <a:ln/>
        </p:spPr>
        <p:txBody>
          <a:bodyPr wrap="square" lIns="0" tIns="0" rIns="0" bIns="0" rtlCol="0" anchor="t"/>
          <a:lstStyle/>
          <a:p>
            <a:pPr marL="0" indent="0">
              <a:lnSpc>
                <a:spcPct val="125000"/>
              </a:lnSpc>
              <a:buNone/>
            </a:pPr>
            <a:r>
              <a:rPr lang="en-US" sz="1050" b="1" dirty="0">
                <a:solidFill>
                  <a:srgbClr val="2A6BE0"/>
                </a:solidFill>
                <a:latin typeface="Instrument Sans" pitchFamily="34" charset="0"/>
                <a:ea typeface="Instrument Sans" pitchFamily="34" charset="-122"/>
                <a:cs typeface="Instrument Sans" pitchFamily="34" charset="-120"/>
              </a:rPr>
              <a:t>Plan the next push</a:t>
            </a:r>
            <a:endParaRPr lang="en-US" sz="1050" dirty="0"/>
          </a:p>
        </p:txBody>
      </p:sp>
      <p:sp>
        <p:nvSpPr>
          <p:cNvPr id="20" name="Shape 17"/>
          <p:cNvSpPr/>
          <p:nvPr/>
        </p:nvSpPr>
        <p:spPr>
          <a:xfrm>
            <a:off x="3602050" y="3474720"/>
            <a:ext cx="1600200" cy="256032"/>
          </a:xfrm>
          <a:prstGeom prst="roundRect">
            <a:avLst>
              <a:gd name="adj" fmla="val 21429"/>
            </a:avLst>
          </a:prstGeom>
          <a:solidFill>
            <a:srgbClr val="E7EFF9"/>
          </a:solidFill>
          <a:ln w="9525">
            <a:solidFill>
              <a:srgbClr val="D5E2F0"/>
            </a:solidFill>
            <a:prstDash val="solid"/>
          </a:ln>
        </p:spPr>
        <p:txBody>
          <a:bodyPr/>
          <a:lstStyle/>
          <a:p>
            <a:endParaRPr lang="en-MY"/>
          </a:p>
        </p:txBody>
      </p:sp>
      <p:sp>
        <p:nvSpPr>
          <p:cNvPr id="21" name="Text 18"/>
          <p:cNvSpPr/>
          <p:nvPr/>
        </p:nvSpPr>
        <p:spPr>
          <a:xfrm>
            <a:off x="3602050" y="3474720"/>
            <a:ext cx="1600200" cy="256032"/>
          </a:xfrm>
          <a:prstGeom prst="rect">
            <a:avLst/>
          </a:prstGeom>
          <a:noFill/>
          <a:ln/>
        </p:spPr>
        <p:txBody>
          <a:bodyPr wrap="square" lIns="0" tIns="0" rIns="0" bIns="0" rtlCol="0" anchor="ctr"/>
          <a:lstStyle/>
          <a:p>
            <a:pPr marL="0" indent="0" algn="ctr">
              <a:lnSpc>
                <a:spcPct val="125000"/>
              </a:lnSpc>
              <a:buNone/>
            </a:pPr>
            <a:r>
              <a:rPr lang="en-US" sz="800" kern="0" spc="40" dirty="0">
                <a:solidFill>
                  <a:srgbClr val="0E1B33"/>
                </a:solidFill>
                <a:latin typeface="JetBrains Mono" pitchFamily="34" charset="0"/>
                <a:ea typeface="JetBrains Mono" pitchFamily="34" charset="-122"/>
                <a:cs typeface="JetBrains Mono" pitchFamily="34" charset="-120"/>
              </a:rPr>
              <a:t>WEEK 3   90 MIN</a:t>
            </a:r>
            <a:endParaRPr lang="en-US" sz="800" dirty="0"/>
          </a:p>
        </p:txBody>
      </p:sp>
      <p:sp>
        <p:nvSpPr>
          <p:cNvPr id="22" name="Text 19"/>
          <p:cNvSpPr/>
          <p:nvPr/>
        </p:nvSpPr>
        <p:spPr>
          <a:xfrm>
            <a:off x="3602050" y="3931920"/>
            <a:ext cx="2196617" cy="1188720"/>
          </a:xfrm>
          <a:prstGeom prst="rect">
            <a:avLst/>
          </a:prstGeom>
          <a:noFill/>
          <a:ln/>
        </p:spPr>
        <p:txBody>
          <a:bodyPr wrap="square" lIns="0" tIns="0" rIns="0" bIns="0" rtlCol="0" anchor="t"/>
          <a:lstStyle/>
          <a:p>
            <a:pPr marL="0" indent="0">
              <a:lnSpc>
                <a:spcPct val="135000"/>
              </a:lnSpc>
              <a:buNone/>
            </a:pPr>
            <a:r>
              <a:rPr lang="en-US" sz="1050" dirty="0">
                <a:solidFill>
                  <a:srgbClr val="4A5A75"/>
                </a:solidFill>
                <a:latin typeface="Instrument Sans" pitchFamily="34" charset="0"/>
                <a:ea typeface="Instrument Sans" pitchFamily="34" charset="-122"/>
                <a:cs typeface="Instrument Sans" pitchFamily="34" charset="-120"/>
              </a:rPr>
              <a:t>With your admissions team, we plan the next open day, the courses to push and new creative.</a:t>
            </a:r>
            <a:endParaRPr lang="en-US" sz="1050" dirty="0"/>
          </a:p>
        </p:txBody>
      </p:sp>
      <p:sp>
        <p:nvSpPr>
          <p:cNvPr id="23" name="Shape 20"/>
          <p:cNvSpPr/>
          <p:nvPr/>
        </p:nvSpPr>
        <p:spPr>
          <a:xfrm>
            <a:off x="6393028" y="2249424"/>
            <a:ext cx="201168" cy="201168"/>
          </a:xfrm>
          <a:prstGeom prst="ellipse">
            <a:avLst/>
          </a:prstGeom>
          <a:solidFill>
            <a:srgbClr val="F4F8FD"/>
          </a:solidFill>
          <a:ln w="25400">
            <a:solidFill>
              <a:srgbClr val="2A6BE0"/>
            </a:solidFill>
            <a:prstDash val="solid"/>
          </a:ln>
        </p:spPr>
        <p:txBody>
          <a:bodyPr/>
          <a:lstStyle/>
          <a:p>
            <a:endParaRPr lang="en-MY"/>
          </a:p>
        </p:txBody>
      </p:sp>
      <p:sp>
        <p:nvSpPr>
          <p:cNvPr id="24" name="Shape 21"/>
          <p:cNvSpPr/>
          <p:nvPr/>
        </p:nvSpPr>
        <p:spPr>
          <a:xfrm>
            <a:off x="6191860" y="2560320"/>
            <a:ext cx="2598953" cy="2441448"/>
          </a:xfrm>
          <a:prstGeom prst="roundRect">
            <a:avLst>
              <a:gd name="adj" fmla="val 4869"/>
            </a:avLst>
          </a:prstGeom>
          <a:solidFill>
            <a:srgbClr val="E3EDFC"/>
          </a:solidFill>
          <a:ln/>
        </p:spPr>
        <p:txBody>
          <a:bodyPr/>
          <a:lstStyle/>
          <a:p>
            <a:endParaRPr lang="en-MY"/>
          </a:p>
        </p:txBody>
      </p:sp>
      <p:sp>
        <p:nvSpPr>
          <p:cNvPr id="25" name="Text 22"/>
          <p:cNvSpPr/>
          <p:nvPr/>
        </p:nvSpPr>
        <p:spPr>
          <a:xfrm>
            <a:off x="6393028" y="2743200"/>
            <a:ext cx="2196617" cy="384048"/>
          </a:xfrm>
          <a:prstGeom prst="rect">
            <a:avLst/>
          </a:prstGeom>
          <a:noFill/>
          <a:ln/>
        </p:spPr>
        <p:txBody>
          <a:bodyPr wrap="square" lIns="0" tIns="0" rIns="0" bIns="0" rtlCol="0" anchor="t"/>
          <a:lstStyle/>
          <a:p>
            <a:pPr marL="0" indent="0">
              <a:lnSpc>
                <a:spcPct val="100000"/>
              </a:lnSpc>
              <a:buNone/>
            </a:pPr>
            <a:r>
              <a:rPr lang="en-US" sz="2200" dirty="0">
                <a:solidFill>
                  <a:srgbClr val="0E1B33"/>
                </a:solidFill>
                <a:latin typeface="Instrument Serif" pitchFamily="34" charset="0"/>
                <a:ea typeface="Instrument Serif" pitchFamily="34" charset="-122"/>
                <a:cs typeface="Instrument Serif" pitchFamily="34" charset="-120"/>
              </a:rPr>
              <a:t>Live dashboard</a:t>
            </a:r>
            <a:endParaRPr lang="en-US" sz="2200" dirty="0"/>
          </a:p>
        </p:txBody>
      </p:sp>
      <p:sp>
        <p:nvSpPr>
          <p:cNvPr id="26" name="Text 23"/>
          <p:cNvSpPr/>
          <p:nvPr/>
        </p:nvSpPr>
        <p:spPr>
          <a:xfrm>
            <a:off x="6393028" y="3145536"/>
            <a:ext cx="2196617" cy="228600"/>
          </a:xfrm>
          <a:prstGeom prst="rect">
            <a:avLst/>
          </a:prstGeom>
          <a:noFill/>
          <a:ln/>
        </p:spPr>
        <p:txBody>
          <a:bodyPr wrap="square" lIns="0" tIns="0" rIns="0" bIns="0" rtlCol="0" anchor="t"/>
          <a:lstStyle/>
          <a:p>
            <a:pPr marL="0" indent="0">
              <a:lnSpc>
                <a:spcPct val="125000"/>
              </a:lnSpc>
              <a:buNone/>
            </a:pPr>
            <a:r>
              <a:rPr lang="en-US" sz="1050" b="1" dirty="0">
                <a:solidFill>
                  <a:srgbClr val="2A6BE0"/>
                </a:solidFill>
                <a:latin typeface="Instrument Sans" pitchFamily="34" charset="0"/>
                <a:ea typeface="Instrument Sans" pitchFamily="34" charset="-122"/>
                <a:cs typeface="Instrument Sans" pitchFamily="34" charset="-120"/>
              </a:rPr>
              <a:t>Open it any day</a:t>
            </a:r>
            <a:endParaRPr lang="en-US" sz="1050" dirty="0"/>
          </a:p>
        </p:txBody>
      </p:sp>
      <p:sp>
        <p:nvSpPr>
          <p:cNvPr id="27" name="Shape 24"/>
          <p:cNvSpPr/>
          <p:nvPr/>
        </p:nvSpPr>
        <p:spPr>
          <a:xfrm>
            <a:off x="6393028" y="3474720"/>
            <a:ext cx="1600200" cy="256032"/>
          </a:xfrm>
          <a:prstGeom prst="roundRect">
            <a:avLst>
              <a:gd name="adj" fmla="val 21429"/>
            </a:avLst>
          </a:prstGeom>
          <a:solidFill>
            <a:srgbClr val="E7EFF9"/>
          </a:solidFill>
          <a:ln w="9525">
            <a:solidFill>
              <a:srgbClr val="D5E2F0"/>
            </a:solidFill>
            <a:prstDash val="solid"/>
          </a:ln>
        </p:spPr>
        <p:txBody>
          <a:bodyPr/>
          <a:lstStyle/>
          <a:p>
            <a:endParaRPr lang="en-MY"/>
          </a:p>
        </p:txBody>
      </p:sp>
      <p:sp>
        <p:nvSpPr>
          <p:cNvPr id="28" name="Text 25"/>
          <p:cNvSpPr/>
          <p:nvPr/>
        </p:nvSpPr>
        <p:spPr>
          <a:xfrm>
            <a:off x="6393028" y="3474720"/>
            <a:ext cx="1600200" cy="256032"/>
          </a:xfrm>
          <a:prstGeom prst="rect">
            <a:avLst/>
          </a:prstGeom>
          <a:noFill/>
          <a:ln/>
        </p:spPr>
        <p:txBody>
          <a:bodyPr wrap="square" lIns="0" tIns="0" rIns="0" bIns="0" rtlCol="0" anchor="ctr"/>
          <a:lstStyle/>
          <a:p>
            <a:pPr marL="0" indent="0" algn="ctr">
              <a:lnSpc>
                <a:spcPct val="125000"/>
              </a:lnSpc>
              <a:buNone/>
            </a:pPr>
            <a:r>
              <a:rPr lang="en-US" sz="800" kern="0" spc="40" dirty="0">
                <a:solidFill>
                  <a:srgbClr val="0E1B33"/>
                </a:solidFill>
                <a:latin typeface="JetBrains Mono" pitchFamily="34" charset="0"/>
                <a:ea typeface="JetBrains Mono" pitchFamily="34" charset="-122"/>
                <a:cs typeface="JetBrains Mono" pitchFamily="34" charset="-120"/>
              </a:rPr>
              <a:t>UPDATED DAILY</a:t>
            </a:r>
            <a:endParaRPr lang="en-US" sz="800" dirty="0"/>
          </a:p>
        </p:txBody>
      </p:sp>
      <p:sp>
        <p:nvSpPr>
          <p:cNvPr id="29" name="Text 26"/>
          <p:cNvSpPr/>
          <p:nvPr/>
        </p:nvSpPr>
        <p:spPr>
          <a:xfrm>
            <a:off x="6393028" y="3931920"/>
            <a:ext cx="2196617" cy="1188720"/>
          </a:xfrm>
          <a:prstGeom prst="rect">
            <a:avLst/>
          </a:prstGeom>
          <a:noFill/>
          <a:ln/>
        </p:spPr>
        <p:txBody>
          <a:bodyPr wrap="square" lIns="0" tIns="0" rIns="0" bIns="0" rtlCol="0" anchor="t"/>
          <a:lstStyle/>
          <a:p>
            <a:pPr marL="0" indent="0">
              <a:lnSpc>
                <a:spcPct val="135000"/>
              </a:lnSpc>
              <a:buNone/>
            </a:pPr>
            <a:r>
              <a:rPr lang="en-US" sz="1050" dirty="0">
                <a:solidFill>
                  <a:srgbClr val="4A5A75"/>
                </a:solidFill>
                <a:latin typeface="Instrument Sans" pitchFamily="34" charset="0"/>
                <a:ea typeface="Instrument Sans" pitchFamily="34" charset="-122"/>
                <a:cs typeface="Instrument Sans" pitchFamily="34" charset="-120"/>
              </a:rPr>
              <a:t>You see spend, leads and cost per lead by platform and program, plus the outcomes your sales team logs.</a:t>
            </a:r>
            <a:endParaRPr lang="en-US" sz="1050" dirty="0"/>
          </a:p>
        </p:txBody>
      </p:sp>
      <p:sp>
        <p:nvSpPr>
          <p:cNvPr id="30" name="Shape 27"/>
          <p:cNvSpPr/>
          <p:nvPr/>
        </p:nvSpPr>
        <p:spPr>
          <a:xfrm>
            <a:off x="9184005" y="2249424"/>
            <a:ext cx="201168" cy="201168"/>
          </a:xfrm>
          <a:prstGeom prst="ellipse">
            <a:avLst/>
          </a:prstGeom>
          <a:solidFill>
            <a:srgbClr val="2A6BE0"/>
          </a:solidFill>
          <a:ln/>
        </p:spPr>
        <p:txBody>
          <a:bodyPr/>
          <a:lstStyle/>
          <a:p>
            <a:endParaRPr lang="en-MY"/>
          </a:p>
        </p:txBody>
      </p:sp>
      <p:sp>
        <p:nvSpPr>
          <p:cNvPr id="31" name="Shape 28"/>
          <p:cNvSpPr/>
          <p:nvPr/>
        </p:nvSpPr>
        <p:spPr>
          <a:xfrm>
            <a:off x="8982837" y="2560320"/>
            <a:ext cx="2598953" cy="2441448"/>
          </a:xfrm>
          <a:prstGeom prst="roundRect">
            <a:avLst>
              <a:gd name="adj" fmla="val 4869"/>
            </a:avLst>
          </a:prstGeom>
          <a:solidFill>
            <a:srgbClr val="0E1B33"/>
          </a:solidFill>
          <a:ln/>
        </p:spPr>
        <p:txBody>
          <a:bodyPr/>
          <a:lstStyle/>
          <a:p>
            <a:endParaRPr lang="en-MY"/>
          </a:p>
        </p:txBody>
      </p:sp>
      <p:sp>
        <p:nvSpPr>
          <p:cNvPr id="32" name="Text 29"/>
          <p:cNvSpPr/>
          <p:nvPr/>
        </p:nvSpPr>
        <p:spPr>
          <a:xfrm>
            <a:off x="9184005" y="2743200"/>
            <a:ext cx="2196617" cy="384048"/>
          </a:xfrm>
          <a:prstGeom prst="rect">
            <a:avLst/>
          </a:prstGeom>
          <a:noFill/>
          <a:ln/>
        </p:spPr>
        <p:txBody>
          <a:bodyPr wrap="square" lIns="0" tIns="0" rIns="0" bIns="0" rtlCol="0" anchor="t"/>
          <a:lstStyle/>
          <a:p>
            <a:pPr marL="0" indent="0">
              <a:lnSpc>
                <a:spcPct val="100000"/>
              </a:lnSpc>
              <a:buNone/>
            </a:pPr>
            <a:r>
              <a:rPr lang="en-US" sz="2200" dirty="0">
                <a:solidFill>
                  <a:srgbClr val="FFFFFF"/>
                </a:solidFill>
                <a:latin typeface="Instrument Serif" pitchFamily="34" charset="0"/>
                <a:ea typeface="Instrument Serif" pitchFamily="34" charset="-122"/>
                <a:cs typeface="Instrument Serif" pitchFamily="34" charset="-120"/>
              </a:rPr>
              <a:t>What you get</a:t>
            </a:r>
            <a:endParaRPr lang="en-US" sz="2200" dirty="0"/>
          </a:p>
        </p:txBody>
      </p:sp>
      <p:sp>
        <p:nvSpPr>
          <p:cNvPr id="33" name="Text 30"/>
          <p:cNvSpPr/>
          <p:nvPr/>
        </p:nvSpPr>
        <p:spPr>
          <a:xfrm>
            <a:off x="9184005" y="3145536"/>
            <a:ext cx="2196617" cy="228600"/>
          </a:xfrm>
          <a:prstGeom prst="rect">
            <a:avLst/>
          </a:prstGeom>
          <a:noFill/>
          <a:ln/>
        </p:spPr>
        <p:txBody>
          <a:bodyPr wrap="square" lIns="0" tIns="0" rIns="0" bIns="0" rtlCol="0" anchor="t"/>
          <a:lstStyle/>
          <a:p>
            <a:pPr marL="0" indent="0">
              <a:lnSpc>
                <a:spcPct val="125000"/>
              </a:lnSpc>
              <a:buNone/>
            </a:pPr>
            <a:r>
              <a:rPr lang="en-US" sz="1050" b="1" dirty="0">
                <a:solidFill>
                  <a:srgbClr val="8CE0EC"/>
                </a:solidFill>
                <a:latin typeface="Instrument Sans" pitchFamily="34" charset="0"/>
                <a:ea typeface="Instrument Sans" pitchFamily="34" charset="-122"/>
                <a:cs typeface="Instrument Sans" pitchFamily="34" charset="-120"/>
              </a:rPr>
              <a:t>Your growth partner</a:t>
            </a:r>
            <a:endParaRPr lang="en-US" sz="1050" dirty="0"/>
          </a:p>
        </p:txBody>
      </p:sp>
      <p:sp>
        <p:nvSpPr>
          <p:cNvPr id="34" name="Text 31"/>
          <p:cNvSpPr/>
          <p:nvPr/>
        </p:nvSpPr>
        <p:spPr>
          <a:xfrm>
            <a:off x="9184005" y="3511296"/>
            <a:ext cx="2196617" cy="1188720"/>
          </a:xfrm>
          <a:prstGeom prst="rect">
            <a:avLst/>
          </a:prstGeom>
          <a:noFill/>
          <a:ln/>
        </p:spPr>
        <p:txBody>
          <a:bodyPr wrap="square" lIns="0" tIns="0" rIns="0" bIns="0" rtlCol="0" anchor="t"/>
          <a:lstStyle/>
          <a:p>
            <a:pPr marL="0" indent="0">
              <a:lnSpc>
                <a:spcPct val="135000"/>
              </a:lnSpc>
              <a:buNone/>
            </a:pPr>
            <a:r>
              <a:rPr lang="en-US" sz="1300" dirty="0">
                <a:solidFill>
                  <a:srgbClr val="FFFFFF"/>
                </a:solidFill>
                <a:latin typeface="Instrument Sans" pitchFamily="34" charset="0"/>
                <a:ea typeface="Instrument Sans" pitchFamily="34" charset="-122"/>
                <a:cs typeface="Instrument Sans" pitchFamily="34" charset="-120"/>
              </a:rPr>
              <a:t>You know what we spent, what it brought and what we do next.</a:t>
            </a:r>
            <a:endParaRPr lang="en-US" sz="1300" dirty="0"/>
          </a:p>
        </p:txBody>
      </p:sp>
      <p:sp>
        <p:nvSpPr>
          <p:cNvPr id="35" name="Shape 32"/>
          <p:cNvSpPr/>
          <p:nvPr/>
        </p:nvSpPr>
        <p:spPr>
          <a:xfrm>
            <a:off x="609905" y="5303520"/>
            <a:ext cx="10971886" cy="603504"/>
          </a:xfrm>
          <a:prstGeom prst="roundRect">
            <a:avLst>
              <a:gd name="adj" fmla="val 19697"/>
            </a:avLst>
          </a:prstGeom>
          <a:solidFill>
            <a:srgbClr val="0E1B33"/>
          </a:solidFill>
          <a:ln/>
        </p:spPr>
        <p:txBody>
          <a:bodyPr/>
          <a:lstStyle/>
          <a:p>
            <a:endParaRPr lang="en-MY"/>
          </a:p>
        </p:txBody>
      </p:sp>
      <p:sp>
        <p:nvSpPr>
          <p:cNvPr id="36" name="Text 33"/>
          <p:cNvSpPr/>
          <p:nvPr/>
        </p:nvSpPr>
        <p:spPr>
          <a:xfrm>
            <a:off x="884225" y="5303520"/>
            <a:ext cx="10423246" cy="603504"/>
          </a:xfrm>
          <a:prstGeom prst="rect">
            <a:avLst/>
          </a:prstGeom>
          <a:noFill/>
          <a:ln/>
        </p:spPr>
        <p:txBody>
          <a:bodyPr wrap="square" lIns="0" tIns="0" rIns="0" bIns="0" rtlCol="0" anchor="ctr"/>
          <a:lstStyle/>
          <a:p>
            <a:pPr marL="0" indent="0">
              <a:lnSpc>
                <a:spcPct val="100000"/>
              </a:lnSpc>
              <a:buNone/>
            </a:pPr>
            <a:r>
              <a:rPr lang="en-US" sz="1800" dirty="0">
                <a:solidFill>
                  <a:srgbClr val="FFFFFF"/>
                </a:solidFill>
                <a:latin typeface="Instrument Serif" pitchFamily="34" charset="0"/>
                <a:ea typeface="Instrument Serif" pitchFamily="34" charset="-122"/>
                <a:cs typeface="Instrument Serif" pitchFamily="34" charset="-120"/>
              </a:rPr>
              <a:t>Between meetings, </a:t>
            </a:r>
            <a:r>
              <a:rPr lang="en-US" sz="1800" i="1" dirty="0">
                <a:solidFill>
                  <a:srgbClr val="8CE0EC"/>
                </a:solidFill>
                <a:latin typeface="Instrument Serif" pitchFamily="34" charset="0"/>
                <a:ea typeface="Instrument Serif" pitchFamily="34" charset="-122"/>
                <a:cs typeface="Instrument Serif" pitchFamily="34" charset="-120"/>
              </a:rPr>
              <a:t>you can reach us in our group chat.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609905" y="548640"/>
            <a:ext cx="59436" cy="59436"/>
          </a:xfrm>
          <a:prstGeom prst="ellipse">
            <a:avLst/>
          </a:prstGeom>
          <a:solidFill>
            <a:srgbClr val="2A6BE0"/>
          </a:solidFill>
          <a:ln/>
        </p:spPr>
        <p:txBody>
          <a:bodyPr/>
          <a:lstStyle/>
          <a:p>
            <a:endParaRPr lang="en-MY"/>
          </a:p>
        </p:txBody>
      </p:sp>
      <p:sp>
        <p:nvSpPr>
          <p:cNvPr id="3" name="Text 1"/>
          <p:cNvSpPr/>
          <p:nvPr/>
        </p:nvSpPr>
        <p:spPr>
          <a:xfrm>
            <a:off x="756209" y="484632"/>
            <a:ext cx="7315200" cy="182880"/>
          </a:xfrm>
          <a:prstGeom prst="rect">
            <a:avLst/>
          </a:prstGeom>
          <a:noFill/>
          <a:ln/>
        </p:spPr>
        <p:txBody>
          <a:bodyPr wrap="square" lIns="0" tIns="0" rIns="0" bIns="0" rtlCol="0" anchor="t"/>
          <a:lstStyle/>
          <a:p>
            <a:pPr marL="0" indent="0">
              <a:lnSpc>
                <a:spcPct val="125000"/>
              </a:lnSpc>
              <a:buNone/>
            </a:pPr>
            <a:r>
              <a:rPr lang="en-US" sz="825" kern="0" spc="60" dirty="0">
                <a:solidFill>
                  <a:srgbClr val="2A6BE0"/>
                </a:solidFill>
                <a:latin typeface="JetBrains Mono" pitchFamily="34" charset="0"/>
                <a:ea typeface="JetBrains Mono" pitchFamily="34" charset="-122"/>
                <a:cs typeface="JetBrains Mono" pitchFamily="34" charset="-120"/>
              </a:rPr>
              <a:t>WHAT WE NEED FROM YOU</a:t>
            </a:r>
            <a:endParaRPr lang="en-US" sz="825" dirty="0"/>
          </a:p>
        </p:txBody>
      </p:sp>
      <p:sp>
        <p:nvSpPr>
          <p:cNvPr id="4" name="Text 2"/>
          <p:cNvSpPr/>
          <p:nvPr/>
        </p:nvSpPr>
        <p:spPr>
          <a:xfrm>
            <a:off x="609905" y="713232"/>
            <a:ext cx="10971886" cy="658368"/>
          </a:xfrm>
          <a:prstGeom prst="rect">
            <a:avLst/>
          </a:prstGeom>
          <a:noFill/>
          <a:ln/>
        </p:spPr>
        <p:txBody>
          <a:bodyPr wrap="square" lIns="0" tIns="0" rIns="0" bIns="0" rtlCol="0" anchor="ctr"/>
          <a:lstStyle/>
          <a:p>
            <a:pPr marL="0" indent="0">
              <a:lnSpc>
                <a:spcPct val="100000"/>
              </a:lnSpc>
              <a:buNone/>
            </a:pPr>
            <a:r>
              <a:rPr lang="en-US" sz="3800" dirty="0">
                <a:solidFill>
                  <a:srgbClr val="0E1B33"/>
                </a:solidFill>
                <a:latin typeface="Instrument Serif" pitchFamily="34" charset="0"/>
                <a:ea typeface="Instrument Serif" pitchFamily="34" charset="-122"/>
                <a:cs typeface="Instrument Serif" pitchFamily="34" charset="-120"/>
              </a:rPr>
              <a:t>Five things </a:t>
            </a:r>
            <a:r>
              <a:rPr lang="en-US" sz="3800" i="1" dirty="0">
                <a:solidFill>
                  <a:srgbClr val="2A6BE0"/>
                </a:solidFill>
                <a:latin typeface="Instrument Serif" pitchFamily="34" charset="0"/>
                <a:ea typeface="Instrument Serif" pitchFamily="34" charset="-122"/>
                <a:cs typeface="Instrument Serif" pitchFamily="34" charset="-120"/>
              </a:rPr>
              <a:t>this plan depends on</a:t>
            </a:r>
            <a:endParaRPr lang="en-US" sz="3800" dirty="0"/>
          </a:p>
        </p:txBody>
      </p:sp>
      <p:sp>
        <p:nvSpPr>
          <p:cNvPr id="5" name="Text 3"/>
          <p:cNvSpPr/>
          <p:nvPr/>
        </p:nvSpPr>
        <p:spPr>
          <a:xfrm>
            <a:off x="609905" y="1463040"/>
            <a:ext cx="10971886" cy="566928"/>
          </a:xfrm>
          <a:prstGeom prst="rect">
            <a:avLst/>
          </a:prstGeom>
          <a:noFill/>
          <a:ln/>
        </p:spPr>
        <p:txBody>
          <a:bodyPr wrap="square" lIns="0" tIns="0" rIns="0" bIns="0" rtlCol="0" anchor="t"/>
          <a:lstStyle/>
          <a:p>
            <a:pPr marL="0" indent="0">
              <a:lnSpc>
                <a:spcPct val="140000"/>
              </a:lnSpc>
              <a:buNone/>
            </a:pPr>
            <a:r>
              <a:rPr lang="en-US" sz="1250" dirty="0">
                <a:solidFill>
                  <a:srgbClr val="4A5A75"/>
                </a:solidFill>
                <a:latin typeface="Instrument Sans" pitchFamily="34" charset="0"/>
                <a:ea typeface="Instrument Sans" pitchFamily="34" charset="-122"/>
                <a:cs typeface="Instrument Sans" pitchFamily="34" charset="-120"/>
              </a:rPr>
              <a:t>Four come from your team. One comes from your WATI vendor.</a:t>
            </a:r>
            <a:endParaRPr lang="en-US" sz="1250" dirty="0"/>
          </a:p>
        </p:txBody>
      </p:sp>
      <p:sp>
        <p:nvSpPr>
          <p:cNvPr id="6" name="Text 4"/>
          <p:cNvSpPr/>
          <p:nvPr/>
        </p:nvSpPr>
        <p:spPr>
          <a:xfrm>
            <a:off x="11033150" y="6455664"/>
            <a:ext cx="548640" cy="182880"/>
          </a:xfrm>
          <a:prstGeom prst="rect">
            <a:avLst/>
          </a:prstGeom>
          <a:noFill/>
          <a:ln/>
        </p:spPr>
        <p:txBody>
          <a:bodyPr wrap="square" lIns="0" tIns="0" rIns="0" bIns="0" rtlCol="0" anchor="t"/>
          <a:lstStyle/>
          <a:p>
            <a:pPr marL="0" indent="0" algn="r">
              <a:lnSpc>
                <a:spcPct val="125000"/>
              </a:lnSpc>
              <a:buNone/>
            </a:pPr>
            <a:r>
              <a:rPr lang="en-US" sz="750" dirty="0">
                <a:solidFill>
                  <a:srgbClr val="8794AC"/>
                </a:solidFill>
                <a:latin typeface="JetBrains Mono" pitchFamily="34" charset="0"/>
                <a:ea typeface="JetBrains Mono" pitchFamily="34" charset="-122"/>
                <a:cs typeface="JetBrains Mono" pitchFamily="34" charset="-120"/>
              </a:rPr>
              <a:t>09</a:t>
            </a:r>
            <a:endParaRPr lang="en-US" sz="750" dirty="0"/>
          </a:p>
        </p:txBody>
      </p:sp>
      <p:sp>
        <p:nvSpPr>
          <p:cNvPr id="8" name="Shape 5"/>
          <p:cNvSpPr/>
          <p:nvPr/>
        </p:nvSpPr>
        <p:spPr>
          <a:xfrm>
            <a:off x="609905" y="2212848"/>
            <a:ext cx="7223760" cy="4069080"/>
          </a:xfrm>
          <a:prstGeom prst="roundRect">
            <a:avLst>
              <a:gd name="adj" fmla="val 2921"/>
            </a:avLst>
          </a:prstGeom>
          <a:solidFill>
            <a:srgbClr val="FFFFFF"/>
          </a:solidFill>
          <a:ln w="9525">
            <a:solidFill>
              <a:srgbClr val="D5E2F0"/>
            </a:solidFill>
            <a:prstDash val="solid"/>
          </a:ln>
        </p:spPr>
        <p:txBody>
          <a:bodyPr/>
          <a:lstStyle/>
          <a:p>
            <a:endParaRPr lang="en-MY"/>
          </a:p>
        </p:txBody>
      </p:sp>
      <p:sp>
        <p:nvSpPr>
          <p:cNvPr id="9" name="Text 6"/>
          <p:cNvSpPr/>
          <p:nvPr/>
        </p:nvSpPr>
        <p:spPr>
          <a:xfrm>
            <a:off x="838505" y="2532888"/>
            <a:ext cx="457200" cy="365760"/>
          </a:xfrm>
          <a:prstGeom prst="rect">
            <a:avLst/>
          </a:prstGeom>
          <a:noFill/>
          <a:ln/>
        </p:spPr>
        <p:txBody>
          <a:bodyPr wrap="square" lIns="0" tIns="0" rIns="0" bIns="0" rtlCol="0" anchor="t"/>
          <a:lstStyle/>
          <a:p>
            <a:pPr marL="0" indent="0">
              <a:lnSpc>
                <a:spcPct val="100000"/>
              </a:lnSpc>
              <a:buNone/>
            </a:pPr>
            <a:r>
              <a:rPr lang="en-US" sz="2400" dirty="0">
                <a:solidFill>
                  <a:srgbClr val="2A6BE0"/>
                </a:solidFill>
                <a:latin typeface="Instrument Serif" pitchFamily="34" charset="0"/>
                <a:ea typeface="Instrument Serif" pitchFamily="34" charset="-122"/>
                <a:cs typeface="Instrument Serif" pitchFamily="34" charset="-120"/>
              </a:rPr>
              <a:t>01</a:t>
            </a:r>
            <a:endParaRPr lang="en-US" sz="2400" dirty="0"/>
          </a:p>
        </p:txBody>
      </p:sp>
      <p:sp>
        <p:nvSpPr>
          <p:cNvPr id="10" name="Text 7"/>
          <p:cNvSpPr/>
          <p:nvPr/>
        </p:nvSpPr>
        <p:spPr>
          <a:xfrm>
            <a:off x="1387145" y="2496312"/>
            <a:ext cx="6217920" cy="228600"/>
          </a:xfrm>
          <a:prstGeom prst="rect">
            <a:avLst/>
          </a:prstGeom>
          <a:noFill/>
          <a:ln/>
        </p:spPr>
        <p:txBody>
          <a:bodyPr wrap="square" lIns="0" tIns="0" rIns="0" bIns="0" rtlCol="0" anchor="t"/>
          <a:lstStyle/>
          <a:p>
            <a:pPr marL="0" indent="0">
              <a:lnSpc>
                <a:spcPct val="125000"/>
              </a:lnSpc>
              <a:buNone/>
            </a:pPr>
            <a:r>
              <a:rPr lang="en-US" sz="1050" b="1" dirty="0">
                <a:solidFill>
                  <a:srgbClr val="0E1B33"/>
                </a:solidFill>
                <a:latin typeface="Instrument Sans" pitchFamily="34" charset="0"/>
                <a:ea typeface="Instrument Sans" pitchFamily="34" charset="-122"/>
                <a:cs typeface="Instrument Sans" pitchFamily="34" charset="-120"/>
              </a:rPr>
              <a:t>Your 2027 target</a:t>
            </a:r>
            <a:endParaRPr lang="en-US" sz="1050" dirty="0"/>
          </a:p>
        </p:txBody>
      </p:sp>
      <p:sp>
        <p:nvSpPr>
          <p:cNvPr id="11" name="Text 8"/>
          <p:cNvSpPr/>
          <p:nvPr/>
        </p:nvSpPr>
        <p:spPr>
          <a:xfrm>
            <a:off x="1387145" y="2734056"/>
            <a:ext cx="6217920" cy="329184"/>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We planned for about 600 students. Send your number by intake.</a:t>
            </a:r>
            <a:endParaRPr lang="en-US" sz="1050" dirty="0"/>
          </a:p>
        </p:txBody>
      </p:sp>
      <p:sp>
        <p:nvSpPr>
          <p:cNvPr id="12" name="Shape 9"/>
          <p:cNvSpPr/>
          <p:nvPr/>
        </p:nvSpPr>
        <p:spPr>
          <a:xfrm>
            <a:off x="838505" y="3108960"/>
            <a:ext cx="6766560" cy="7315"/>
          </a:xfrm>
          <a:prstGeom prst="rect">
            <a:avLst/>
          </a:prstGeom>
          <a:solidFill>
            <a:srgbClr val="D5E2F0"/>
          </a:solidFill>
          <a:ln/>
        </p:spPr>
        <p:txBody>
          <a:bodyPr/>
          <a:lstStyle/>
          <a:p>
            <a:endParaRPr lang="en-MY"/>
          </a:p>
        </p:txBody>
      </p:sp>
      <p:sp>
        <p:nvSpPr>
          <p:cNvPr id="13" name="Text 10"/>
          <p:cNvSpPr/>
          <p:nvPr/>
        </p:nvSpPr>
        <p:spPr>
          <a:xfrm>
            <a:off x="838505" y="3291840"/>
            <a:ext cx="457200" cy="365760"/>
          </a:xfrm>
          <a:prstGeom prst="rect">
            <a:avLst/>
          </a:prstGeom>
          <a:noFill/>
          <a:ln/>
        </p:spPr>
        <p:txBody>
          <a:bodyPr wrap="square" lIns="0" tIns="0" rIns="0" bIns="0" rtlCol="0" anchor="t"/>
          <a:lstStyle/>
          <a:p>
            <a:pPr marL="0" indent="0">
              <a:lnSpc>
                <a:spcPct val="100000"/>
              </a:lnSpc>
              <a:buNone/>
            </a:pPr>
            <a:r>
              <a:rPr lang="en-US" sz="2400" dirty="0">
                <a:solidFill>
                  <a:srgbClr val="2A6BE0"/>
                </a:solidFill>
                <a:latin typeface="Instrument Serif" pitchFamily="34" charset="0"/>
                <a:ea typeface="Instrument Serif" pitchFamily="34" charset="-122"/>
                <a:cs typeface="Instrument Serif" pitchFamily="34" charset="-120"/>
              </a:rPr>
              <a:t>02</a:t>
            </a:r>
            <a:endParaRPr lang="en-US" sz="2400" dirty="0"/>
          </a:p>
        </p:txBody>
      </p:sp>
      <p:sp>
        <p:nvSpPr>
          <p:cNvPr id="14" name="Text 11"/>
          <p:cNvSpPr/>
          <p:nvPr/>
        </p:nvSpPr>
        <p:spPr>
          <a:xfrm>
            <a:off x="1387145" y="3255264"/>
            <a:ext cx="6217920" cy="228600"/>
          </a:xfrm>
          <a:prstGeom prst="rect">
            <a:avLst/>
          </a:prstGeom>
          <a:noFill/>
          <a:ln/>
        </p:spPr>
        <p:txBody>
          <a:bodyPr wrap="square" lIns="0" tIns="0" rIns="0" bIns="0" rtlCol="0" anchor="t"/>
          <a:lstStyle/>
          <a:p>
            <a:pPr marL="0" indent="0">
              <a:lnSpc>
                <a:spcPct val="125000"/>
              </a:lnSpc>
              <a:buNone/>
            </a:pPr>
            <a:r>
              <a:rPr lang="en-US" sz="1050" b="1" dirty="0">
                <a:solidFill>
                  <a:srgbClr val="0E1B33"/>
                </a:solidFill>
                <a:latin typeface="Instrument Sans" pitchFamily="34" charset="0"/>
                <a:ea typeface="Instrument Sans" pitchFamily="34" charset="-122"/>
                <a:cs typeface="Instrument Sans" pitchFamily="34" charset="-120"/>
              </a:rPr>
              <a:t>Your open day dates</a:t>
            </a:r>
            <a:endParaRPr lang="en-US" sz="1050" dirty="0"/>
          </a:p>
        </p:txBody>
      </p:sp>
      <p:sp>
        <p:nvSpPr>
          <p:cNvPr id="15" name="Text 12"/>
          <p:cNvSpPr/>
          <p:nvPr/>
        </p:nvSpPr>
        <p:spPr>
          <a:xfrm>
            <a:off x="1387145" y="3493008"/>
            <a:ext cx="6217920" cy="329184"/>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We assumed March, April, June, October and November 2027.</a:t>
            </a:r>
            <a:endParaRPr lang="en-US" sz="1050" dirty="0"/>
          </a:p>
        </p:txBody>
      </p:sp>
      <p:sp>
        <p:nvSpPr>
          <p:cNvPr id="16" name="Shape 13"/>
          <p:cNvSpPr/>
          <p:nvPr/>
        </p:nvSpPr>
        <p:spPr>
          <a:xfrm>
            <a:off x="838505" y="3867912"/>
            <a:ext cx="6766560" cy="7315"/>
          </a:xfrm>
          <a:prstGeom prst="rect">
            <a:avLst/>
          </a:prstGeom>
          <a:solidFill>
            <a:srgbClr val="D5E2F0"/>
          </a:solidFill>
          <a:ln/>
        </p:spPr>
        <p:txBody>
          <a:bodyPr/>
          <a:lstStyle/>
          <a:p>
            <a:endParaRPr lang="en-MY"/>
          </a:p>
        </p:txBody>
      </p:sp>
      <p:sp>
        <p:nvSpPr>
          <p:cNvPr id="17" name="Text 14"/>
          <p:cNvSpPr/>
          <p:nvPr/>
        </p:nvSpPr>
        <p:spPr>
          <a:xfrm>
            <a:off x="838505" y="4050792"/>
            <a:ext cx="457200" cy="365760"/>
          </a:xfrm>
          <a:prstGeom prst="rect">
            <a:avLst/>
          </a:prstGeom>
          <a:noFill/>
          <a:ln/>
        </p:spPr>
        <p:txBody>
          <a:bodyPr wrap="square" lIns="0" tIns="0" rIns="0" bIns="0" rtlCol="0" anchor="t"/>
          <a:lstStyle/>
          <a:p>
            <a:pPr marL="0" indent="0">
              <a:lnSpc>
                <a:spcPct val="100000"/>
              </a:lnSpc>
              <a:buNone/>
            </a:pPr>
            <a:r>
              <a:rPr lang="en-US" sz="2400" dirty="0">
                <a:solidFill>
                  <a:srgbClr val="2A6BE0"/>
                </a:solidFill>
                <a:latin typeface="Instrument Serif" pitchFamily="34" charset="0"/>
                <a:ea typeface="Instrument Serif" pitchFamily="34" charset="-122"/>
                <a:cs typeface="Instrument Serif" pitchFamily="34" charset="-120"/>
              </a:rPr>
              <a:t>03</a:t>
            </a:r>
            <a:endParaRPr lang="en-US" sz="2400" dirty="0"/>
          </a:p>
        </p:txBody>
      </p:sp>
      <p:sp>
        <p:nvSpPr>
          <p:cNvPr id="18" name="Text 15"/>
          <p:cNvSpPr/>
          <p:nvPr/>
        </p:nvSpPr>
        <p:spPr>
          <a:xfrm>
            <a:off x="1387145" y="4014216"/>
            <a:ext cx="6217920" cy="228600"/>
          </a:xfrm>
          <a:prstGeom prst="rect">
            <a:avLst/>
          </a:prstGeom>
          <a:noFill/>
          <a:ln/>
        </p:spPr>
        <p:txBody>
          <a:bodyPr wrap="square" lIns="0" tIns="0" rIns="0" bIns="0" rtlCol="0" anchor="t"/>
          <a:lstStyle/>
          <a:p>
            <a:pPr marL="0" indent="0">
              <a:lnSpc>
                <a:spcPct val="125000"/>
              </a:lnSpc>
              <a:buNone/>
            </a:pPr>
            <a:r>
              <a:rPr lang="en-US" sz="1050" b="1" dirty="0">
                <a:solidFill>
                  <a:srgbClr val="0E1B33"/>
                </a:solidFill>
                <a:latin typeface="Instrument Sans" pitchFamily="34" charset="0"/>
                <a:ea typeface="Instrument Sans" pitchFamily="34" charset="-122"/>
                <a:cs typeface="Instrument Sans" pitchFamily="34" charset="-120"/>
              </a:rPr>
              <a:t>The courses to push</a:t>
            </a:r>
            <a:endParaRPr lang="en-US" sz="1050" dirty="0"/>
          </a:p>
        </p:txBody>
      </p:sp>
      <p:sp>
        <p:nvSpPr>
          <p:cNvPr id="19" name="Text 16"/>
          <p:cNvSpPr/>
          <p:nvPr/>
        </p:nvSpPr>
        <p:spPr>
          <a:xfrm>
            <a:off x="1387145" y="4251960"/>
            <a:ext cx="6217920" cy="329184"/>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Tell us which programs to lead with, plus their fees and MQA codes.</a:t>
            </a:r>
            <a:endParaRPr lang="en-US" sz="1050" dirty="0"/>
          </a:p>
        </p:txBody>
      </p:sp>
      <p:sp>
        <p:nvSpPr>
          <p:cNvPr id="20" name="Shape 17"/>
          <p:cNvSpPr/>
          <p:nvPr/>
        </p:nvSpPr>
        <p:spPr>
          <a:xfrm>
            <a:off x="838505" y="4626864"/>
            <a:ext cx="6766560" cy="7315"/>
          </a:xfrm>
          <a:prstGeom prst="rect">
            <a:avLst/>
          </a:prstGeom>
          <a:solidFill>
            <a:srgbClr val="D5E2F0"/>
          </a:solidFill>
          <a:ln/>
        </p:spPr>
        <p:txBody>
          <a:bodyPr/>
          <a:lstStyle/>
          <a:p>
            <a:endParaRPr lang="en-MY"/>
          </a:p>
        </p:txBody>
      </p:sp>
      <p:sp>
        <p:nvSpPr>
          <p:cNvPr id="21" name="Text 18"/>
          <p:cNvSpPr/>
          <p:nvPr/>
        </p:nvSpPr>
        <p:spPr>
          <a:xfrm>
            <a:off x="838505" y="4809744"/>
            <a:ext cx="457200" cy="365760"/>
          </a:xfrm>
          <a:prstGeom prst="rect">
            <a:avLst/>
          </a:prstGeom>
          <a:noFill/>
          <a:ln/>
        </p:spPr>
        <p:txBody>
          <a:bodyPr wrap="square" lIns="0" tIns="0" rIns="0" bIns="0" rtlCol="0" anchor="t"/>
          <a:lstStyle/>
          <a:p>
            <a:pPr marL="0" indent="0">
              <a:lnSpc>
                <a:spcPct val="100000"/>
              </a:lnSpc>
              <a:buNone/>
            </a:pPr>
            <a:r>
              <a:rPr lang="en-US" sz="2400" dirty="0">
                <a:solidFill>
                  <a:srgbClr val="2A6BE0"/>
                </a:solidFill>
                <a:latin typeface="Instrument Serif" pitchFamily="34" charset="0"/>
                <a:ea typeface="Instrument Serif" pitchFamily="34" charset="-122"/>
                <a:cs typeface="Instrument Serif" pitchFamily="34" charset="-120"/>
              </a:rPr>
              <a:t>04</a:t>
            </a:r>
            <a:endParaRPr lang="en-US" sz="2400" dirty="0"/>
          </a:p>
        </p:txBody>
      </p:sp>
      <p:sp>
        <p:nvSpPr>
          <p:cNvPr id="22" name="Text 19"/>
          <p:cNvSpPr/>
          <p:nvPr/>
        </p:nvSpPr>
        <p:spPr>
          <a:xfrm>
            <a:off x="1387145" y="4773168"/>
            <a:ext cx="6217920" cy="228600"/>
          </a:xfrm>
          <a:prstGeom prst="rect">
            <a:avLst/>
          </a:prstGeom>
          <a:noFill/>
          <a:ln/>
        </p:spPr>
        <p:txBody>
          <a:bodyPr wrap="square" lIns="0" tIns="0" rIns="0" bIns="0" rtlCol="0" anchor="t"/>
          <a:lstStyle/>
          <a:p>
            <a:pPr marL="0" indent="0">
              <a:lnSpc>
                <a:spcPct val="125000"/>
              </a:lnSpc>
              <a:buNone/>
            </a:pPr>
            <a:r>
              <a:rPr lang="en-US" sz="1050" b="1" dirty="0">
                <a:solidFill>
                  <a:srgbClr val="0E1B33"/>
                </a:solidFill>
                <a:latin typeface="Instrument Sans" pitchFamily="34" charset="0"/>
                <a:ea typeface="Instrument Sans" pitchFamily="34" charset="-122"/>
                <a:cs typeface="Instrument Sans" pitchFamily="34" charset="-120"/>
              </a:rPr>
              <a:t>Weekly lead updates</a:t>
            </a:r>
            <a:endParaRPr lang="en-US" sz="1050" dirty="0"/>
          </a:p>
        </p:txBody>
      </p:sp>
      <p:sp>
        <p:nvSpPr>
          <p:cNvPr id="23" name="Text 20"/>
          <p:cNvSpPr/>
          <p:nvPr/>
        </p:nvSpPr>
        <p:spPr>
          <a:xfrm>
            <a:off x="1387145" y="5010912"/>
            <a:ext cx="6217920" cy="329184"/>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Your sales team marks each lead every week, so we see which ads bring students.</a:t>
            </a:r>
            <a:endParaRPr lang="en-US" sz="1050" dirty="0"/>
          </a:p>
        </p:txBody>
      </p:sp>
      <p:sp>
        <p:nvSpPr>
          <p:cNvPr id="24" name="Shape 21"/>
          <p:cNvSpPr/>
          <p:nvPr/>
        </p:nvSpPr>
        <p:spPr>
          <a:xfrm>
            <a:off x="838505" y="5385816"/>
            <a:ext cx="6766560" cy="7315"/>
          </a:xfrm>
          <a:prstGeom prst="rect">
            <a:avLst/>
          </a:prstGeom>
          <a:solidFill>
            <a:srgbClr val="D5E2F0"/>
          </a:solidFill>
          <a:ln/>
        </p:spPr>
        <p:txBody>
          <a:bodyPr/>
          <a:lstStyle/>
          <a:p>
            <a:endParaRPr lang="en-MY"/>
          </a:p>
        </p:txBody>
      </p:sp>
      <p:sp>
        <p:nvSpPr>
          <p:cNvPr id="25" name="Text 22"/>
          <p:cNvSpPr/>
          <p:nvPr/>
        </p:nvSpPr>
        <p:spPr>
          <a:xfrm>
            <a:off x="838505" y="5568696"/>
            <a:ext cx="457200" cy="365760"/>
          </a:xfrm>
          <a:prstGeom prst="rect">
            <a:avLst/>
          </a:prstGeom>
          <a:noFill/>
          <a:ln/>
        </p:spPr>
        <p:txBody>
          <a:bodyPr wrap="square" lIns="0" tIns="0" rIns="0" bIns="0" rtlCol="0" anchor="t"/>
          <a:lstStyle/>
          <a:p>
            <a:pPr marL="0" indent="0">
              <a:lnSpc>
                <a:spcPct val="100000"/>
              </a:lnSpc>
              <a:buNone/>
            </a:pPr>
            <a:r>
              <a:rPr lang="en-US" sz="2400" dirty="0">
                <a:solidFill>
                  <a:srgbClr val="2A6BE0"/>
                </a:solidFill>
                <a:latin typeface="Instrument Serif" pitchFamily="34" charset="0"/>
                <a:ea typeface="Instrument Serif" pitchFamily="34" charset="-122"/>
                <a:cs typeface="Instrument Serif" pitchFamily="34" charset="-120"/>
              </a:rPr>
              <a:t>05</a:t>
            </a:r>
            <a:endParaRPr lang="en-US" sz="2400" dirty="0"/>
          </a:p>
        </p:txBody>
      </p:sp>
      <p:sp>
        <p:nvSpPr>
          <p:cNvPr id="26" name="Text 23"/>
          <p:cNvSpPr/>
          <p:nvPr/>
        </p:nvSpPr>
        <p:spPr>
          <a:xfrm>
            <a:off x="1387145" y="5532120"/>
            <a:ext cx="6217920" cy="228600"/>
          </a:xfrm>
          <a:prstGeom prst="rect">
            <a:avLst/>
          </a:prstGeom>
          <a:noFill/>
          <a:ln/>
        </p:spPr>
        <p:txBody>
          <a:bodyPr wrap="square" lIns="0" tIns="0" rIns="0" bIns="0" rtlCol="0" anchor="t"/>
          <a:lstStyle/>
          <a:p>
            <a:pPr marL="0" indent="0">
              <a:lnSpc>
                <a:spcPct val="125000"/>
              </a:lnSpc>
              <a:buNone/>
            </a:pPr>
            <a:r>
              <a:rPr lang="en-US" sz="1050" b="1" dirty="0">
                <a:solidFill>
                  <a:srgbClr val="0E1B33"/>
                </a:solidFill>
                <a:latin typeface="Instrument Sans" pitchFamily="34" charset="0"/>
                <a:ea typeface="Instrument Sans" pitchFamily="34" charset="-122"/>
                <a:cs typeface="Instrument Sans" pitchFamily="34" charset="-120"/>
              </a:rPr>
              <a:t>WATI fixed</a:t>
            </a:r>
            <a:endParaRPr lang="en-US" sz="1050" dirty="0"/>
          </a:p>
        </p:txBody>
      </p:sp>
      <p:sp>
        <p:nvSpPr>
          <p:cNvPr id="27" name="Text 24"/>
          <p:cNvSpPr/>
          <p:nvPr/>
        </p:nvSpPr>
        <p:spPr>
          <a:xfrm>
            <a:off x="1387145" y="5769864"/>
            <a:ext cx="6217920" cy="329184"/>
          </a:xfrm>
          <a:prstGeom prst="rect">
            <a:avLst/>
          </a:prstGeom>
          <a:noFill/>
          <a:ln/>
        </p:spPr>
        <p:txBody>
          <a:bodyPr wrap="square" lIns="0" tIns="0" rIns="0" bIns="0" rtlCol="0" anchor="t"/>
          <a:lstStyle/>
          <a:p>
            <a:pPr marL="0" indent="0">
              <a:lnSpc>
                <a:spcPct val="125000"/>
              </a:lnSpc>
              <a:buNone/>
            </a:pPr>
            <a:r>
              <a:rPr lang="en-US" sz="1050" dirty="0">
                <a:solidFill>
                  <a:srgbClr val="4A5A75"/>
                </a:solidFill>
                <a:latin typeface="Instrument Sans" pitchFamily="34" charset="0"/>
                <a:ea typeface="Instrument Sans" pitchFamily="34" charset="-122"/>
                <a:cs typeface="Instrument Sans" pitchFamily="34" charset="-120"/>
              </a:rPr>
              <a:t>Your vendor finishes the six fixes in October.</a:t>
            </a:r>
            <a:endParaRPr lang="en-US" sz="1050" dirty="0"/>
          </a:p>
        </p:txBody>
      </p:sp>
      <p:sp>
        <p:nvSpPr>
          <p:cNvPr id="28" name="Shape 25"/>
          <p:cNvSpPr/>
          <p:nvPr/>
        </p:nvSpPr>
        <p:spPr>
          <a:xfrm>
            <a:off x="8016545" y="2212848"/>
            <a:ext cx="3565246" cy="4069080"/>
          </a:xfrm>
          <a:prstGeom prst="roundRect">
            <a:avLst>
              <a:gd name="adj" fmla="val 3334"/>
            </a:avLst>
          </a:prstGeom>
          <a:solidFill>
            <a:srgbClr val="E3EDFC"/>
          </a:solidFill>
          <a:ln/>
        </p:spPr>
        <p:txBody>
          <a:bodyPr/>
          <a:lstStyle/>
          <a:p>
            <a:endParaRPr lang="en-MY"/>
          </a:p>
        </p:txBody>
      </p:sp>
      <p:sp>
        <p:nvSpPr>
          <p:cNvPr id="29" name="Text 26"/>
          <p:cNvSpPr/>
          <p:nvPr/>
        </p:nvSpPr>
        <p:spPr>
          <a:xfrm>
            <a:off x="8245145" y="2441448"/>
            <a:ext cx="3108046" cy="182880"/>
          </a:xfrm>
          <a:prstGeom prst="rect">
            <a:avLst/>
          </a:prstGeom>
          <a:noFill/>
          <a:ln/>
        </p:spPr>
        <p:txBody>
          <a:bodyPr wrap="square" lIns="0" tIns="0" rIns="0" bIns="0" rtlCol="0" anchor="t"/>
          <a:lstStyle/>
          <a:p>
            <a:pPr marL="0" indent="0">
              <a:lnSpc>
                <a:spcPct val="125000"/>
              </a:lnSpc>
              <a:buNone/>
            </a:pPr>
            <a:r>
              <a:rPr lang="en-US" sz="750" kern="0" spc="60" dirty="0">
                <a:solidFill>
                  <a:srgbClr val="8794AC"/>
                </a:solidFill>
                <a:latin typeface="JetBrains Mono" pitchFamily="34" charset="0"/>
                <a:ea typeface="JetBrains Mono" pitchFamily="34" charset="-122"/>
                <a:cs typeface="JetBrains Mono" pitchFamily="34" charset="-120"/>
              </a:rPr>
              <a:t>WORTH KNOWING</a:t>
            </a:r>
            <a:endParaRPr lang="en-US" sz="750" dirty="0"/>
          </a:p>
        </p:txBody>
      </p:sp>
      <p:sp>
        <p:nvSpPr>
          <p:cNvPr id="30" name="Text 27"/>
          <p:cNvSpPr/>
          <p:nvPr/>
        </p:nvSpPr>
        <p:spPr>
          <a:xfrm>
            <a:off x="8245145" y="2761488"/>
            <a:ext cx="3108046" cy="3291840"/>
          </a:xfrm>
          <a:prstGeom prst="rect">
            <a:avLst/>
          </a:prstGeom>
          <a:noFill/>
          <a:ln/>
        </p:spPr>
        <p:txBody>
          <a:bodyPr wrap="square" lIns="0" tIns="0" rIns="0" bIns="0" rtlCol="0" anchor="t"/>
          <a:lstStyle/>
          <a:p>
            <a:pPr marL="165100" indent="-165100">
              <a:lnSpc>
                <a:spcPct val="130000"/>
              </a:lnSpc>
              <a:spcAft>
                <a:spcPts val="2200"/>
              </a:spcAft>
              <a:buClr>
                <a:srgbClr val="2A6BE0"/>
              </a:buClr>
              <a:buSzPct val="90000"/>
              <a:buChar char="▪"/>
            </a:pPr>
            <a:r>
              <a:rPr lang="en-US" sz="1250" dirty="0">
                <a:solidFill>
                  <a:srgbClr val="4A5A75"/>
                </a:solidFill>
                <a:latin typeface="Instrument Sans" pitchFamily="34" charset="0"/>
                <a:ea typeface="Instrument Sans" pitchFamily="34" charset="-122"/>
                <a:cs typeface="Instrument Sans" pitchFamily="34" charset="-120"/>
              </a:rPr>
              <a:t>Meta and Google learn in October. We read their first full results in November.</a:t>
            </a:r>
            <a:endParaRPr lang="en-US" sz="1250" dirty="0"/>
          </a:p>
          <a:p>
            <a:pPr marL="165100" indent="-165100">
              <a:lnSpc>
                <a:spcPct val="130000"/>
              </a:lnSpc>
              <a:spcAft>
                <a:spcPts val="2200"/>
              </a:spcAft>
              <a:buClr>
                <a:srgbClr val="2A6BE0"/>
              </a:buClr>
              <a:buSzPct val="90000"/>
              <a:buChar char="▪"/>
            </a:pPr>
            <a:r>
              <a:rPr lang="en-US" sz="1250" dirty="0">
                <a:solidFill>
                  <a:srgbClr val="4A5A75"/>
                </a:solidFill>
                <a:latin typeface="Instrument Sans" pitchFamily="34" charset="0"/>
                <a:ea typeface="Instrument Sans" pitchFamily="34" charset="-122"/>
                <a:cs typeface="Instrument Sans" pitchFamily="34" charset="-120"/>
              </a:rPr>
              <a:t>We update the forecast after that first full month.</a:t>
            </a:r>
            <a:endParaRPr lang="en-US" sz="1250" dirty="0"/>
          </a:p>
          <a:p>
            <a:pPr marL="165100" indent="-165100">
              <a:lnSpc>
                <a:spcPct val="130000"/>
              </a:lnSpc>
              <a:spcAft>
                <a:spcPts val="2200"/>
              </a:spcAft>
              <a:buClr>
                <a:srgbClr val="2A6BE0"/>
              </a:buClr>
              <a:buSzPct val="90000"/>
              <a:buChar char="▪"/>
            </a:pPr>
            <a:r>
              <a:rPr lang="en-US" sz="1250" dirty="0">
                <a:solidFill>
                  <a:srgbClr val="4A5A75"/>
                </a:solidFill>
                <a:latin typeface="Instrument Sans" pitchFamily="34" charset="0"/>
                <a:ea typeface="Instrument Sans" pitchFamily="34" charset="-122"/>
                <a:cs typeface="Instrument Sans" pitchFamily="34" charset="-120"/>
              </a:rPr>
              <a:t>Fee, waiver and PTPTN claims need your written approval.</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D"/>
        </a:solidFill>
        <a:effectLst/>
      </p:bgPr>
    </p:bg>
    <p:spTree>
      <p:nvGrpSpPr>
        <p:cNvPr id="1" name=""/>
        <p:cNvGrpSpPr/>
        <p:nvPr/>
      </p:nvGrpSpPr>
      <p:grpSpPr>
        <a:xfrm>
          <a:off x="0" y="0"/>
          <a:ext cx="0" cy="0"/>
          <a:chOff x="0" y="0"/>
          <a:chExt cx="0" cy="0"/>
        </a:xfrm>
      </p:grpSpPr>
      <p:sp>
        <p:nvSpPr>
          <p:cNvPr id="2" name="Shape 0"/>
          <p:cNvSpPr/>
          <p:nvPr/>
        </p:nvSpPr>
        <p:spPr>
          <a:xfrm>
            <a:off x="609905" y="548640"/>
            <a:ext cx="59436" cy="59436"/>
          </a:xfrm>
          <a:prstGeom prst="ellipse">
            <a:avLst/>
          </a:prstGeom>
          <a:solidFill>
            <a:srgbClr val="2A6BE0"/>
          </a:solidFill>
          <a:ln/>
        </p:spPr>
        <p:txBody>
          <a:bodyPr/>
          <a:lstStyle/>
          <a:p>
            <a:endParaRPr lang="en-MY"/>
          </a:p>
        </p:txBody>
      </p:sp>
      <p:sp>
        <p:nvSpPr>
          <p:cNvPr id="3" name="Text 1"/>
          <p:cNvSpPr/>
          <p:nvPr/>
        </p:nvSpPr>
        <p:spPr>
          <a:xfrm>
            <a:off x="756209" y="484632"/>
            <a:ext cx="7315200" cy="182880"/>
          </a:xfrm>
          <a:prstGeom prst="rect">
            <a:avLst/>
          </a:prstGeom>
          <a:noFill/>
          <a:ln/>
        </p:spPr>
        <p:txBody>
          <a:bodyPr wrap="square" lIns="0" tIns="0" rIns="0" bIns="0" rtlCol="0" anchor="t"/>
          <a:lstStyle/>
          <a:p>
            <a:pPr marL="0" indent="0">
              <a:lnSpc>
                <a:spcPct val="125000"/>
              </a:lnSpc>
              <a:buNone/>
            </a:pPr>
            <a:r>
              <a:rPr lang="en-US" sz="825" kern="0" spc="60" dirty="0">
                <a:solidFill>
                  <a:srgbClr val="2A6BE0"/>
                </a:solidFill>
                <a:latin typeface="JetBrains Mono" pitchFamily="34" charset="0"/>
                <a:ea typeface="JetBrains Mono" pitchFamily="34" charset="-122"/>
                <a:cs typeface="JetBrains Mono" pitchFamily="34" charset="-120"/>
              </a:rPr>
              <a:t>NEXT STEPS</a:t>
            </a:r>
            <a:endParaRPr lang="en-US" sz="825" dirty="0"/>
          </a:p>
        </p:txBody>
      </p:sp>
      <p:sp>
        <p:nvSpPr>
          <p:cNvPr id="4" name="Text 2"/>
          <p:cNvSpPr/>
          <p:nvPr/>
        </p:nvSpPr>
        <p:spPr>
          <a:xfrm>
            <a:off x="609905" y="713232"/>
            <a:ext cx="10971886" cy="658368"/>
          </a:xfrm>
          <a:prstGeom prst="rect">
            <a:avLst/>
          </a:prstGeom>
          <a:noFill/>
          <a:ln/>
        </p:spPr>
        <p:txBody>
          <a:bodyPr wrap="square" lIns="0" tIns="0" rIns="0" bIns="0" rtlCol="0" anchor="ctr"/>
          <a:lstStyle/>
          <a:p>
            <a:pPr marL="0" indent="0">
              <a:lnSpc>
                <a:spcPct val="100000"/>
              </a:lnSpc>
              <a:buNone/>
            </a:pPr>
            <a:r>
              <a:rPr lang="en-US" sz="3800" dirty="0">
                <a:solidFill>
                  <a:srgbClr val="0E1B33"/>
                </a:solidFill>
                <a:latin typeface="Instrument Serif" pitchFamily="34" charset="0"/>
                <a:ea typeface="Instrument Serif" pitchFamily="34" charset="-122"/>
                <a:cs typeface="Instrument Serif" pitchFamily="34" charset="-120"/>
              </a:rPr>
              <a:t>We start in </a:t>
            </a:r>
            <a:r>
              <a:rPr lang="en-US" sz="3800" i="1" dirty="0">
                <a:solidFill>
                  <a:srgbClr val="2A6BE0"/>
                </a:solidFill>
                <a:latin typeface="Instrument Serif" pitchFamily="34" charset="0"/>
                <a:ea typeface="Instrument Serif" pitchFamily="34" charset="-122"/>
                <a:cs typeface="Instrument Serif" pitchFamily="34" charset="-120"/>
              </a:rPr>
              <a:t>October</a:t>
            </a:r>
            <a:endParaRPr lang="en-US" sz="3800" dirty="0"/>
          </a:p>
        </p:txBody>
      </p:sp>
      <p:sp>
        <p:nvSpPr>
          <p:cNvPr id="5" name="Text 3"/>
          <p:cNvSpPr/>
          <p:nvPr/>
        </p:nvSpPr>
        <p:spPr>
          <a:xfrm>
            <a:off x="609905" y="1463040"/>
            <a:ext cx="10971886" cy="566928"/>
          </a:xfrm>
          <a:prstGeom prst="rect">
            <a:avLst/>
          </a:prstGeom>
          <a:noFill/>
          <a:ln/>
        </p:spPr>
        <p:txBody>
          <a:bodyPr wrap="square" lIns="0" tIns="0" rIns="0" bIns="0" rtlCol="0" anchor="t"/>
          <a:lstStyle/>
          <a:p>
            <a:pPr marL="0" indent="0">
              <a:lnSpc>
                <a:spcPct val="140000"/>
              </a:lnSpc>
              <a:buNone/>
            </a:pPr>
            <a:r>
              <a:rPr lang="en-US" sz="1250" dirty="0">
                <a:solidFill>
                  <a:srgbClr val="4A5A75"/>
                </a:solidFill>
                <a:latin typeface="Instrument Sans" pitchFamily="34" charset="0"/>
                <a:ea typeface="Instrument Sans" pitchFamily="34" charset="-122"/>
                <a:cs typeface="Instrument Sans" pitchFamily="34" charset="-120"/>
              </a:rPr>
              <a:t>Meta and Google Search launch this month. Approve this plan in October and we carry on into November.</a:t>
            </a:r>
            <a:endParaRPr lang="en-US" sz="1250" dirty="0"/>
          </a:p>
        </p:txBody>
      </p:sp>
      <p:sp>
        <p:nvSpPr>
          <p:cNvPr id="6" name="Text 4"/>
          <p:cNvSpPr/>
          <p:nvPr/>
        </p:nvSpPr>
        <p:spPr>
          <a:xfrm>
            <a:off x="11033150" y="6455664"/>
            <a:ext cx="548640" cy="182880"/>
          </a:xfrm>
          <a:prstGeom prst="rect">
            <a:avLst/>
          </a:prstGeom>
          <a:noFill/>
          <a:ln/>
        </p:spPr>
        <p:txBody>
          <a:bodyPr wrap="square" lIns="0" tIns="0" rIns="0" bIns="0" rtlCol="0" anchor="t"/>
          <a:lstStyle/>
          <a:p>
            <a:pPr marL="0" indent="0" algn="r">
              <a:lnSpc>
                <a:spcPct val="125000"/>
              </a:lnSpc>
              <a:buNone/>
            </a:pPr>
            <a:r>
              <a:rPr lang="en-US" sz="750" dirty="0">
                <a:solidFill>
                  <a:srgbClr val="8794AC"/>
                </a:solidFill>
                <a:latin typeface="JetBrains Mono" pitchFamily="34" charset="0"/>
                <a:ea typeface="JetBrains Mono" pitchFamily="34" charset="-122"/>
                <a:cs typeface="JetBrains Mono" pitchFamily="34" charset="-120"/>
              </a:rPr>
              <a:t>10</a:t>
            </a:r>
            <a:endParaRPr lang="en-US" sz="750" dirty="0"/>
          </a:p>
        </p:txBody>
      </p:sp>
      <p:pic>
        <p:nvPicPr>
          <p:cNvPr id="8" name="Image 0" descr="C:\Users\Jordan\AppData\Local\Temp\claude\C--Users-Jordan-Desktop-Claude-Code-toggle-brain\8f4708d6-c52d-4377-a47e-7e8279d2307d\scratchpad\ijn-deck\wave.png"/>
          <p:cNvPicPr>
            <a:picLocks noChangeAspect="1"/>
          </p:cNvPicPr>
          <p:nvPr/>
        </p:nvPicPr>
        <p:blipFill>
          <a:blip r:embed="rId3"/>
          <a:stretch>
            <a:fillRect/>
          </a:stretch>
        </p:blipFill>
        <p:spPr>
          <a:xfrm>
            <a:off x="0" y="4046263"/>
            <a:ext cx="12191695" cy="4248044"/>
          </a:xfrm>
          <a:prstGeom prst="rect">
            <a:avLst/>
          </a:prstGeom>
        </p:spPr>
      </p:pic>
      <p:sp>
        <p:nvSpPr>
          <p:cNvPr id="9" name="Shape 5"/>
          <p:cNvSpPr/>
          <p:nvPr/>
        </p:nvSpPr>
        <p:spPr>
          <a:xfrm>
            <a:off x="609905" y="2212848"/>
            <a:ext cx="3529584" cy="2606040"/>
          </a:xfrm>
          <a:prstGeom prst="roundRect">
            <a:avLst>
              <a:gd name="adj" fmla="val 4561"/>
            </a:avLst>
          </a:prstGeom>
          <a:solidFill>
            <a:srgbClr val="FFFFFF"/>
          </a:solidFill>
          <a:ln w="9525">
            <a:solidFill>
              <a:srgbClr val="D5E2F0"/>
            </a:solidFill>
            <a:prstDash val="solid"/>
          </a:ln>
        </p:spPr>
        <p:txBody>
          <a:bodyPr/>
          <a:lstStyle/>
          <a:p>
            <a:endParaRPr lang="en-MY"/>
          </a:p>
        </p:txBody>
      </p:sp>
      <p:sp>
        <p:nvSpPr>
          <p:cNvPr id="10" name="Text 6"/>
          <p:cNvSpPr/>
          <p:nvPr/>
        </p:nvSpPr>
        <p:spPr>
          <a:xfrm>
            <a:off x="838505" y="2414016"/>
            <a:ext cx="3072384" cy="384048"/>
          </a:xfrm>
          <a:prstGeom prst="rect">
            <a:avLst/>
          </a:prstGeom>
          <a:noFill/>
          <a:ln/>
        </p:spPr>
        <p:txBody>
          <a:bodyPr wrap="square" lIns="0" tIns="0" rIns="0" bIns="0" rtlCol="0" anchor="t"/>
          <a:lstStyle/>
          <a:p>
            <a:pPr marL="0" indent="0">
              <a:lnSpc>
                <a:spcPct val="100000"/>
              </a:lnSpc>
              <a:buNone/>
            </a:pPr>
            <a:r>
              <a:rPr lang="en-US" sz="2200" dirty="0">
                <a:solidFill>
                  <a:srgbClr val="0E1B33"/>
                </a:solidFill>
                <a:latin typeface="Instrument Serif" pitchFamily="34" charset="0"/>
                <a:ea typeface="Instrument Serif" pitchFamily="34" charset="-122"/>
                <a:cs typeface="Instrument Serif" pitchFamily="34" charset="-120"/>
              </a:rPr>
              <a:t>IJN University College</a:t>
            </a:r>
            <a:endParaRPr lang="en-US" sz="2200" dirty="0"/>
          </a:p>
        </p:txBody>
      </p:sp>
      <p:sp>
        <p:nvSpPr>
          <p:cNvPr id="11" name="Text 7"/>
          <p:cNvSpPr/>
          <p:nvPr/>
        </p:nvSpPr>
        <p:spPr>
          <a:xfrm>
            <a:off x="838505" y="2962656"/>
            <a:ext cx="3072384" cy="2377440"/>
          </a:xfrm>
          <a:prstGeom prst="rect">
            <a:avLst/>
          </a:prstGeom>
          <a:noFill/>
          <a:ln/>
        </p:spPr>
        <p:txBody>
          <a:bodyPr wrap="square" lIns="0" tIns="0" rIns="0" bIns="0" rtlCol="0" anchor="t"/>
          <a:lstStyle/>
          <a:p>
            <a:pPr marL="165100" indent="-165100">
              <a:lnSpc>
                <a:spcPct val="130000"/>
              </a:lnSpc>
              <a:spcAft>
                <a:spcPts val="1200"/>
              </a:spcAft>
              <a:buClr>
                <a:srgbClr val="2A6BE0"/>
              </a:buClr>
              <a:buSzPct val="90000"/>
              <a:buChar char="▪"/>
            </a:pPr>
            <a:r>
              <a:rPr lang="en-US" sz="1150" dirty="0">
                <a:solidFill>
                  <a:srgbClr val="4A5A75"/>
                </a:solidFill>
                <a:latin typeface="Instrument Sans" pitchFamily="34" charset="0"/>
                <a:ea typeface="Instrument Sans" pitchFamily="34" charset="-122"/>
                <a:cs typeface="Instrument Sans" pitchFamily="34" charset="-120"/>
              </a:rPr>
              <a:t>Approve the plan and budgets by the end of October.</a:t>
            </a:r>
            <a:endParaRPr lang="en-US" sz="1150" dirty="0"/>
          </a:p>
          <a:p>
            <a:pPr marL="165100" indent="-165100">
              <a:lnSpc>
                <a:spcPct val="130000"/>
              </a:lnSpc>
              <a:spcAft>
                <a:spcPts val="1200"/>
              </a:spcAft>
              <a:buClr>
                <a:srgbClr val="2A6BE0"/>
              </a:buClr>
              <a:buSzPct val="90000"/>
              <a:buChar char="▪"/>
            </a:pPr>
            <a:r>
              <a:rPr lang="en-US" sz="1150" dirty="0">
                <a:solidFill>
                  <a:srgbClr val="4A5A75"/>
                </a:solidFill>
                <a:latin typeface="Instrument Sans" pitchFamily="34" charset="0"/>
                <a:ea typeface="Instrument Sans" pitchFamily="34" charset="-122"/>
                <a:cs typeface="Instrument Sans" pitchFamily="34" charset="-120"/>
              </a:rPr>
              <a:t>Send your targets, open day dates and course focus.</a:t>
            </a:r>
            <a:endParaRPr lang="en-US" sz="1150" dirty="0"/>
          </a:p>
          <a:p>
            <a:pPr marL="165100" indent="-165100">
              <a:lnSpc>
                <a:spcPct val="130000"/>
              </a:lnSpc>
              <a:spcAft>
                <a:spcPts val="1200"/>
              </a:spcAft>
              <a:buClr>
                <a:srgbClr val="2A6BE0"/>
              </a:buClr>
              <a:buSzPct val="90000"/>
              <a:buChar char="▪"/>
            </a:pPr>
            <a:r>
              <a:rPr lang="en-US" sz="1150" dirty="0">
                <a:solidFill>
                  <a:srgbClr val="4A5A75"/>
                </a:solidFill>
                <a:latin typeface="Instrument Sans" pitchFamily="34" charset="0"/>
                <a:ea typeface="Instrument Sans" pitchFamily="34" charset="-122"/>
                <a:cs typeface="Instrument Sans" pitchFamily="34" charset="-120"/>
              </a:rPr>
              <a:t>Brief your WATI vendor on the six fixes.</a:t>
            </a:r>
            <a:endParaRPr lang="en-US" sz="1150" dirty="0"/>
          </a:p>
        </p:txBody>
      </p:sp>
      <p:sp>
        <p:nvSpPr>
          <p:cNvPr id="12" name="Shape 8"/>
          <p:cNvSpPr/>
          <p:nvPr/>
        </p:nvSpPr>
        <p:spPr>
          <a:xfrm>
            <a:off x="4331513" y="2212848"/>
            <a:ext cx="3529584" cy="2606040"/>
          </a:xfrm>
          <a:prstGeom prst="roundRect">
            <a:avLst>
              <a:gd name="adj" fmla="val 4561"/>
            </a:avLst>
          </a:prstGeom>
          <a:solidFill>
            <a:srgbClr val="FFFFFF"/>
          </a:solidFill>
          <a:ln w="9525">
            <a:solidFill>
              <a:srgbClr val="D5E2F0"/>
            </a:solidFill>
            <a:prstDash val="solid"/>
          </a:ln>
        </p:spPr>
        <p:txBody>
          <a:bodyPr/>
          <a:lstStyle/>
          <a:p>
            <a:endParaRPr lang="en-MY"/>
          </a:p>
        </p:txBody>
      </p:sp>
      <p:sp>
        <p:nvSpPr>
          <p:cNvPr id="13" name="Text 9"/>
          <p:cNvSpPr/>
          <p:nvPr/>
        </p:nvSpPr>
        <p:spPr>
          <a:xfrm>
            <a:off x="4560113" y="2414016"/>
            <a:ext cx="3072384" cy="384048"/>
          </a:xfrm>
          <a:prstGeom prst="rect">
            <a:avLst/>
          </a:prstGeom>
          <a:noFill/>
          <a:ln/>
        </p:spPr>
        <p:txBody>
          <a:bodyPr wrap="square" lIns="0" tIns="0" rIns="0" bIns="0" rtlCol="0" anchor="t"/>
          <a:lstStyle/>
          <a:p>
            <a:pPr marL="0" indent="0">
              <a:lnSpc>
                <a:spcPct val="100000"/>
              </a:lnSpc>
              <a:buNone/>
            </a:pPr>
            <a:r>
              <a:rPr lang="en-US" sz="2200" dirty="0">
                <a:solidFill>
                  <a:srgbClr val="0E1B33"/>
                </a:solidFill>
                <a:latin typeface="Instrument Serif" pitchFamily="34" charset="0"/>
                <a:ea typeface="Instrument Serif" pitchFamily="34" charset="-122"/>
                <a:cs typeface="Instrument Serif" pitchFamily="34" charset="-120"/>
              </a:rPr>
              <a:t>Toggle</a:t>
            </a:r>
            <a:endParaRPr lang="en-US" sz="2200" dirty="0"/>
          </a:p>
        </p:txBody>
      </p:sp>
      <p:sp>
        <p:nvSpPr>
          <p:cNvPr id="14" name="Text 10"/>
          <p:cNvSpPr/>
          <p:nvPr/>
        </p:nvSpPr>
        <p:spPr>
          <a:xfrm>
            <a:off x="4560113" y="2962656"/>
            <a:ext cx="3072384" cy="2377440"/>
          </a:xfrm>
          <a:prstGeom prst="rect">
            <a:avLst/>
          </a:prstGeom>
          <a:noFill/>
          <a:ln/>
        </p:spPr>
        <p:txBody>
          <a:bodyPr wrap="square" lIns="0" tIns="0" rIns="0" bIns="0" rtlCol="0" anchor="t"/>
          <a:lstStyle/>
          <a:p>
            <a:pPr marL="165100" indent="-165100">
              <a:lnSpc>
                <a:spcPct val="130000"/>
              </a:lnSpc>
              <a:spcAft>
                <a:spcPts val="1200"/>
              </a:spcAft>
              <a:buClr>
                <a:srgbClr val="2A6BE0"/>
              </a:buClr>
              <a:buSzPct val="90000"/>
              <a:buChar char="▪"/>
            </a:pPr>
            <a:r>
              <a:rPr lang="en-US" sz="1150" dirty="0">
                <a:solidFill>
                  <a:srgbClr val="4A5A75"/>
                </a:solidFill>
                <a:latin typeface="Instrument Sans" pitchFamily="34" charset="0"/>
                <a:ea typeface="Instrument Sans" pitchFamily="34" charset="-122"/>
                <a:cs typeface="Instrument Sans" pitchFamily="34" charset="-120"/>
              </a:rPr>
              <a:t>Launch Meta and Google Search in October.</a:t>
            </a:r>
            <a:endParaRPr lang="en-US" sz="1150" dirty="0"/>
          </a:p>
          <a:p>
            <a:pPr marL="165100" indent="-165100">
              <a:lnSpc>
                <a:spcPct val="130000"/>
              </a:lnSpc>
              <a:spcAft>
                <a:spcPts val="1200"/>
              </a:spcAft>
              <a:buClr>
                <a:srgbClr val="2A6BE0"/>
              </a:buClr>
              <a:buSzPct val="90000"/>
              <a:buChar char="▪"/>
            </a:pPr>
            <a:r>
              <a:rPr lang="en-US" sz="1150" dirty="0">
                <a:solidFill>
                  <a:srgbClr val="4A5A75"/>
                </a:solidFill>
                <a:latin typeface="Instrument Sans" pitchFamily="34" charset="0"/>
                <a:ea typeface="Instrument Sans" pitchFamily="34" charset="-122"/>
                <a:cs typeface="Instrument Sans" pitchFamily="34" charset="-120"/>
              </a:rPr>
              <a:t>Set up your dashboard and lead sheet.</a:t>
            </a:r>
            <a:endParaRPr lang="en-US" sz="1150" dirty="0"/>
          </a:p>
          <a:p>
            <a:pPr marL="165100" indent="-165100">
              <a:lnSpc>
                <a:spcPct val="130000"/>
              </a:lnSpc>
              <a:spcAft>
                <a:spcPts val="1200"/>
              </a:spcAft>
              <a:buClr>
                <a:srgbClr val="2A6BE0"/>
              </a:buClr>
              <a:buSzPct val="90000"/>
              <a:buChar char="▪"/>
            </a:pPr>
            <a:r>
              <a:rPr lang="en-US" sz="1150" dirty="0">
                <a:solidFill>
                  <a:srgbClr val="4A5A75"/>
                </a:solidFill>
                <a:latin typeface="Instrument Sans" pitchFamily="34" charset="0"/>
                <a:ea typeface="Instrument Sans" pitchFamily="34" charset="-122"/>
                <a:cs typeface="Instrument Sans" pitchFamily="34" charset="-120"/>
              </a:rPr>
              <a:t>Meet you two weeks after launch.</a:t>
            </a:r>
            <a:endParaRPr lang="en-US" sz="1150" dirty="0"/>
          </a:p>
        </p:txBody>
      </p:sp>
      <p:sp>
        <p:nvSpPr>
          <p:cNvPr id="15" name="Shape 11"/>
          <p:cNvSpPr/>
          <p:nvPr/>
        </p:nvSpPr>
        <p:spPr>
          <a:xfrm>
            <a:off x="8053121" y="2212848"/>
            <a:ext cx="3529584" cy="2606040"/>
          </a:xfrm>
          <a:prstGeom prst="roundRect">
            <a:avLst>
              <a:gd name="adj" fmla="val 4561"/>
            </a:avLst>
          </a:prstGeom>
          <a:solidFill>
            <a:srgbClr val="0E1B33"/>
          </a:solidFill>
          <a:ln/>
        </p:spPr>
        <p:txBody>
          <a:bodyPr/>
          <a:lstStyle/>
          <a:p>
            <a:endParaRPr lang="en-MY"/>
          </a:p>
        </p:txBody>
      </p:sp>
      <p:sp>
        <p:nvSpPr>
          <p:cNvPr id="16" name="Text 12"/>
          <p:cNvSpPr/>
          <p:nvPr/>
        </p:nvSpPr>
        <p:spPr>
          <a:xfrm>
            <a:off x="8281721" y="2414016"/>
            <a:ext cx="3072384" cy="384048"/>
          </a:xfrm>
          <a:prstGeom prst="rect">
            <a:avLst/>
          </a:prstGeom>
          <a:noFill/>
          <a:ln/>
        </p:spPr>
        <p:txBody>
          <a:bodyPr wrap="square" lIns="0" tIns="0" rIns="0" bIns="0" rtlCol="0" anchor="t"/>
          <a:lstStyle/>
          <a:p>
            <a:pPr marL="0" indent="0">
              <a:lnSpc>
                <a:spcPct val="100000"/>
              </a:lnSpc>
              <a:buNone/>
            </a:pPr>
            <a:r>
              <a:rPr lang="en-US" sz="2200" dirty="0">
                <a:solidFill>
                  <a:srgbClr val="FFFFFF"/>
                </a:solidFill>
                <a:latin typeface="Instrument Serif" pitchFamily="34" charset="0"/>
                <a:ea typeface="Instrument Serif" pitchFamily="34" charset="-122"/>
                <a:cs typeface="Instrument Serif" pitchFamily="34" charset="-120"/>
              </a:rPr>
              <a:t>Talk to us</a:t>
            </a:r>
            <a:endParaRPr lang="en-US" sz="2200" dirty="0"/>
          </a:p>
        </p:txBody>
      </p:sp>
      <p:sp>
        <p:nvSpPr>
          <p:cNvPr id="17" name="Text 13"/>
          <p:cNvSpPr/>
          <p:nvPr/>
        </p:nvSpPr>
        <p:spPr>
          <a:xfrm>
            <a:off x="8281721" y="2990088"/>
            <a:ext cx="3072384" cy="274320"/>
          </a:xfrm>
          <a:prstGeom prst="rect">
            <a:avLst/>
          </a:prstGeom>
          <a:noFill/>
          <a:ln/>
        </p:spPr>
        <p:txBody>
          <a:bodyPr wrap="square" lIns="0" tIns="0" rIns="0" bIns="0" rtlCol="0" anchor="t"/>
          <a:lstStyle/>
          <a:p>
            <a:pPr marL="0" indent="0">
              <a:lnSpc>
                <a:spcPct val="125000"/>
              </a:lnSpc>
              <a:buNone/>
            </a:pPr>
            <a:r>
              <a:rPr lang="en-US" sz="1300" b="1" dirty="0">
                <a:solidFill>
                  <a:srgbClr val="FFFFFF"/>
                </a:solidFill>
                <a:latin typeface="Instrument Sans" pitchFamily="34" charset="0"/>
                <a:ea typeface="Instrument Sans" pitchFamily="34" charset="-122"/>
                <a:cs typeface="Instrument Sans" pitchFamily="34" charset="-120"/>
              </a:rPr>
              <a:t>Viknesh</a:t>
            </a:r>
            <a:endParaRPr lang="en-US" sz="1300" dirty="0"/>
          </a:p>
        </p:txBody>
      </p:sp>
      <p:sp>
        <p:nvSpPr>
          <p:cNvPr id="18" name="Text 14"/>
          <p:cNvSpPr/>
          <p:nvPr/>
        </p:nvSpPr>
        <p:spPr>
          <a:xfrm>
            <a:off x="8281721" y="3264408"/>
            <a:ext cx="3072384" cy="228600"/>
          </a:xfrm>
          <a:prstGeom prst="rect">
            <a:avLst/>
          </a:prstGeom>
          <a:noFill/>
          <a:ln/>
        </p:spPr>
        <p:txBody>
          <a:bodyPr wrap="square" lIns="0" tIns="0" rIns="0" bIns="0" rtlCol="0" anchor="t"/>
          <a:lstStyle/>
          <a:p>
            <a:pPr marL="0" indent="0">
              <a:lnSpc>
                <a:spcPct val="125000"/>
              </a:lnSpc>
              <a:buNone/>
            </a:pPr>
            <a:r>
              <a:rPr lang="en-US" sz="1000" dirty="0">
                <a:solidFill>
                  <a:srgbClr val="8CE0EC"/>
                </a:solidFill>
                <a:latin typeface="Instrument Sans" pitchFamily="34" charset="0"/>
                <a:ea typeface="Instrument Sans" pitchFamily="34" charset="-122"/>
                <a:cs typeface="Instrument Sans" pitchFamily="34" charset="-120"/>
              </a:rPr>
              <a:t>Sales and Partnership Director</a:t>
            </a:r>
            <a:endParaRPr lang="en-US" sz="1000" dirty="0"/>
          </a:p>
        </p:txBody>
      </p:sp>
      <p:sp>
        <p:nvSpPr>
          <p:cNvPr id="19" name="Text 15"/>
          <p:cNvSpPr/>
          <p:nvPr/>
        </p:nvSpPr>
        <p:spPr>
          <a:xfrm>
            <a:off x="8281721" y="3675888"/>
            <a:ext cx="3072384" cy="822960"/>
          </a:xfrm>
          <a:prstGeom prst="rect">
            <a:avLst/>
          </a:prstGeom>
          <a:noFill/>
          <a:ln/>
        </p:spPr>
        <p:txBody>
          <a:bodyPr wrap="square" lIns="0" tIns="0" rIns="0" bIns="0" rtlCol="0" anchor="t"/>
          <a:lstStyle/>
          <a:p>
            <a:pPr marL="0" indent="0">
              <a:lnSpc>
                <a:spcPct val="150000"/>
              </a:lnSpc>
              <a:buNone/>
            </a:pPr>
            <a:r>
              <a:rPr lang="en-US" sz="950" dirty="0">
                <a:solidFill>
                  <a:srgbClr val="FFFFFF"/>
                </a:solidFill>
                <a:latin typeface="JetBrains Mono" pitchFamily="34" charset="0"/>
                <a:ea typeface="JetBrains Mono" pitchFamily="34" charset="-122"/>
                <a:cs typeface="JetBrains Mono" pitchFamily="34" charset="-120"/>
              </a:rPr>
              <a:t>(+60) 125 688 681</a:t>
            </a:r>
            <a:endParaRPr lang="en-US" sz="950" dirty="0"/>
          </a:p>
          <a:p>
            <a:pPr marL="0" indent="0">
              <a:lnSpc>
                <a:spcPct val="150000"/>
              </a:lnSpc>
              <a:buNone/>
            </a:pPr>
            <a:r>
              <a:rPr lang="en-US" sz="950" dirty="0" err="1">
                <a:solidFill>
                  <a:srgbClr val="FFFFFF"/>
                </a:solidFill>
                <a:latin typeface="JetBrains Mono" pitchFamily="34" charset="0"/>
                <a:ea typeface="JetBrains Mono" pitchFamily="34" charset="-122"/>
                <a:cs typeface="JetBrains Mono" pitchFamily="34" charset="-120"/>
              </a:rPr>
              <a:t>viknesh@toggle.solutions</a:t>
            </a:r>
            <a:endParaRPr lang="en-US" sz="950" dirty="0"/>
          </a:p>
          <a:p>
            <a:pPr marL="0" indent="0">
              <a:lnSpc>
                <a:spcPct val="150000"/>
              </a:lnSpc>
              <a:buNone/>
            </a:pPr>
            <a:r>
              <a:rPr lang="en-US" sz="950" dirty="0">
                <a:solidFill>
                  <a:srgbClr val="FFFFFF"/>
                </a:solidFill>
                <a:latin typeface="JetBrains Mono" pitchFamily="34" charset="0"/>
                <a:ea typeface="JetBrains Mono" pitchFamily="34" charset="-122"/>
                <a:cs typeface="JetBrains Mono" pitchFamily="34" charset="-120"/>
              </a:rPr>
              <a:t>toggle.solutions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2879</Words>
  <Application>Microsoft Office PowerPoint</Application>
  <PresentationFormat>Widescreen</PresentationFormat>
  <Paragraphs>407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Instrument Serif</vt:lpstr>
      <vt:lpstr>Arial</vt:lpstr>
      <vt:lpstr>JetBrains Mono</vt:lpstr>
      <vt:lpstr>Instrument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Toggle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IJN University College, growth plan Nov 2026 to Dec 2027</dc:title>
  <dc:subject>PptxGenJS Presentation</dc:subject>
  <dc:creator>PptxGenJS</dc:creator>
  <cp:lastModifiedBy>HA112391@365mmt.com</cp:lastModifiedBy>
  <cp:revision>3</cp:revision>
  <dcterms:created xsi:type="dcterms:W3CDTF">2026-10-09T03:35:50Z</dcterms:created>
  <dcterms:modified xsi:type="dcterms:W3CDTF">2026-10-09T03:41:21Z</dcterms:modified>
</cp:coreProperties>
</file>