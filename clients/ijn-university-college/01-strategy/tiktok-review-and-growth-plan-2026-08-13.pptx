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5143500" cy="9144000"/>
  <p:embeddedFontLst>
    <p:embeddedFont>
      <p:font typeface="Inter Tight"/>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ij7Qu+7+GS6A61itoKadGPbgU0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89EFAE-9271-447B-A4AB-8F31947992DB}">
  <a:tblStyle styleId="{DA89EFAE-9271-447B-A4AB-8F31947992D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InterTight-bold.fntdata"/><Relationship Id="rId27" Type="http://schemas.openxmlformats.org/officeDocument/2006/relationships/font" Target="fonts/InterTigh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Tight-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InterTigh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f61e30a597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g3f61e30a597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g3f61e30a597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v-ttam.tiktok.com/s/ZS4kxaTRw/" TargetMode="External"/><Relationship Id="rId4" Type="http://schemas.openxmlformats.org/officeDocument/2006/relationships/hyperlink" Target="https://v-ttam.tiktok.com/s/ZS4kxUpFo/" TargetMode="External"/><Relationship Id="rId5" Type="http://schemas.openxmlformats.org/officeDocument/2006/relationships/hyperlink" Target="https://v-ttam.tiktok.com/s/ZS4kxwUrS/" TargetMode="External"/><Relationship Id="rId6" Type="http://schemas.openxmlformats.org/officeDocument/2006/relationships/hyperlink" Target="https://v-ttam.tiktok.com/s/ZS4kQUae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v-ttam.tiktok.com/s/ZSCsxL9Jk/" TargetMode="External"/><Relationship Id="rId4" Type="http://schemas.openxmlformats.org/officeDocument/2006/relationships/hyperlink" Target="https://v-ttam.tiktok.com/s/ZS4kQrw3e/" TargetMode="External"/><Relationship Id="rId9" Type="http://schemas.openxmlformats.org/officeDocument/2006/relationships/hyperlink" Target="https://v-ttam.tiktok.com/s/ZS4kQDrKT/" TargetMode="External"/><Relationship Id="rId5" Type="http://schemas.openxmlformats.org/officeDocument/2006/relationships/hyperlink" Target="https://v-ttam.tiktok.com/s/ZS4kQrw3e/" TargetMode="External"/><Relationship Id="rId6" Type="http://schemas.openxmlformats.org/officeDocument/2006/relationships/hyperlink" Target="https://v-ttam.tiktok.com/s/ZSCsxL9Jk/" TargetMode="External"/><Relationship Id="rId7" Type="http://schemas.openxmlformats.org/officeDocument/2006/relationships/hyperlink" Target="https://v-ttam.tiktok.com/s/ZS4kQrw3e/" TargetMode="External"/><Relationship Id="rId8" Type="http://schemas.openxmlformats.org/officeDocument/2006/relationships/hyperlink" Target="https://v-ttam.tiktok.com/s/ZS4kQrw3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pic>
        <p:nvPicPr>
          <p:cNvPr descr="c:\Users\Jordan\Desktop\Claude Code\toggle-brain\assets\logos\toggle-wordmark-black.png" id="16" name="Google Shape;16;p1"/>
          <p:cNvPicPr preferRelativeResize="0"/>
          <p:nvPr/>
        </p:nvPicPr>
        <p:blipFill rotWithShape="1">
          <a:blip r:embed="rId3">
            <a:alphaModFix/>
          </a:blip>
          <a:srcRect b="0" l="0" r="0" t="0"/>
          <a:stretch/>
        </p:blipFill>
        <p:spPr>
          <a:xfrm>
            <a:off x="457200" y="384048"/>
            <a:ext cx="801929" cy="219456"/>
          </a:xfrm>
          <a:prstGeom prst="rect">
            <a:avLst/>
          </a:prstGeom>
          <a:noFill/>
          <a:ln>
            <a:noFill/>
          </a:ln>
        </p:spPr>
      </p:pic>
      <p:sp>
        <p:nvSpPr>
          <p:cNvPr id="17" name="Google Shape;17;p1"/>
          <p:cNvSpPr/>
          <p:nvPr/>
        </p:nvSpPr>
        <p:spPr>
          <a:xfrm>
            <a:off x="457200" y="1783080"/>
            <a:ext cx="4892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7BF7"/>
              </a:buClr>
              <a:buSzPts val="3600"/>
              <a:buFont typeface="Inter Tight"/>
              <a:buNone/>
            </a:pPr>
            <a:r>
              <a:rPr b="1" i="0" lang="en-US" sz="3600" u="none" cap="none" strike="noStrike">
                <a:solidFill>
                  <a:srgbClr val="4A7BF7"/>
                </a:solidFill>
                <a:latin typeface="Inter Tight"/>
                <a:ea typeface="Inter Tight"/>
                <a:cs typeface="Inter Tight"/>
                <a:sym typeface="Inter Tight"/>
              </a:rPr>
              <a:t>IJN University College</a:t>
            </a:r>
            <a:endParaRPr b="0" i="0" sz="3600" u="none" cap="none" strike="noStrike">
              <a:solidFill>
                <a:schemeClr val="dk1"/>
              </a:solidFill>
              <a:latin typeface="Calibri"/>
              <a:ea typeface="Calibri"/>
              <a:cs typeface="Calibri"/>
              <a:sym typeface="Calibri"/>
            </a:endParaRPr>
          </a:p>
        </p:txBody>
      </p:sp>
      <p:sp>
        <p:nvSpPr>
          <p:cNvPr id="18" name="Google Shape;18;p1"/>
          <p:cNvSpPr/>
          <p:nvPr/>
        </p:nvSpPr>
        <p:spPr>
          <a:xfrm>
            <a:off x="457200" y="2304288"/>
            <a:ext cx="4892040"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0F0F0F"/>
              </a:buClr>
              <a:buSzPts val="3050"/>
              <a:buFont typeface="Inter Tight"/>
              <a:buNone/>
            </a:pPr>
            <a:r>
              <a:rPr b="1" i="0" lang="en-US" sz="3050" u="none" cap="none" strike="noStrike">
                <a:solidFill>
                  <a:srgbClr val="0F0F0F"/>
                </a:solidFill>
                <a:latin typeface="Inter Tight"/>
                <a:ea typeface="Inter Tight"/>
                <a:cs typeface="Inter Tight"/>
                <a:sym typeface="Inter Tight"/>
              </a:rPr>
              <a:t>TikTok Performance Review and Growth Plan</a:t>
            </a:r>
            <a:endParaRPr b="0" i="0" sz="3050" u="none" cap="none" strike="noStrike">
              <a:solidFill>
                <a:schemeClr val="dk1"/>
              </a:solidFill>
              <a:latin typeface="Calibri"/>
              <a:ea typeface="Calibri"/>
              <a:cs typeface="Calibri"/>
              <a:sym typeface="Calibri"/>
            </a:endParaRPr>
          </a:p>
        </p:txBody>
      </p:sp>
      <p:sp>
        <p:nvSpPr>
          <p:cNvPr id="19" name="Google Shape;19;p1"/>
          <p:cNvSpPr/>
          <p:nvPr/>
        </p:nvSpPr>
        <p:spPr>
          <a:xfrm>
            <a:off x="457200" y="3310128"/>
            <a:ext cx="48920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4A4A"/>
              </a:buClr>
              <a:buSzPts val="850"/>
              <a:buFont typeface="Inter Tight"/>
              <a:buNone/>
            </a:pPr>
            <a:r>
              <a:rPr b="0" i="0" lang="en-US" sz="850" u="none" cap="none" strike="noStrike">
                <a:solidFill>
                  <a:srgbClr val="4A4A4A"/>
                </a:solidFill>
                <a:latin typeface="Inter Tight"/>
                <a:ea typeface="Inter Tight"/>
                <a:cs typeface="Inter Tight"/>
                <a:sym typeface="Inter Tight"/>
              </a:rPr>
              <a:t>Performance data covers 12 June to 31 July 2026</a:t>
            </a:r>
            <a:r>
              <a:rPr lang="en-US" sz="850">
                <a:solidFill>
                  <a:srgbClr val="4A4A4A"/>
                </a:solidFill>
                <a:latin typeface="Inter Tight"/>
                <a:ea typeface="Inter Tight"/>
                <a:cs typeface="Inter Tight"/>
                <a:sym typeface="Inter Tight"/>
              </a:rPr>
              <a:t>.</a:t>
            </a:r>
            <a:endParaRPr b="0" i="0" sz="850" u="none" cap="none" strike="noStrike">
              <a:solidFill>
                <a:schemeClr val="dk1"/>
              </a:solidFill>
              <a:latin typeface="Calibri"/>
              <a:ea typeface="Calibri"/>
              <a:cs typeface="Calibri"/>
              <a:sym typeface="Calibri"/>
            </a:endParaRPr>
          </a:p>
        </p:txBody>
      </p:sp>
      <p:pic>
        <p:nvPicPr>
          <p:cNvPr descr="c:\Users\Jordan\Desktop\Claude Code\toggle-brain\assets\illustrations\step-form.png" id="20" name="Google Shape;20;p1"/>
          <p:cNvPicPr preferRelativeResize="0"/>
          <p:nvPr/>
        </p:nvPicPr>
        <p:blipFill rotWithShape="1">
          <a:blip r:embed="rId4">
            <a:alphaModFix/>
          </a:blip>
          <a:srcRect b="0" l="0" r="0" t="0"/>
          <a:stretch/>
        </p:blipFill>
        <p:spPr>
          <a:xfrm>
            <a:off x="5532120" y="1417320"/>
            <a:ext cx="2926080" cy="2265883"/>
          </a:xfrm>
          <a:prstGeom prst="rect">
            <a:avLst/>
          </a:prstGeom>
          <a:noFill/>
          <a:ln>
            <a:noFill/>
          </a:ln>
        </p:spPr>
      </p:pic>
      <p:sp>
        <p:nvSpPr>
          <p:cNvPr id="21" name="Google Shape;21;p1"/>
          <p:cNvSpPr/>
          <p:nvPr/>
        </p:nvSpPr>
        <p:spPr>
          <a:xfrm>
            <a:off x="457200" y="4443984"/>
            <a:ext cx="36576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7BF7"/>
              </a:buClr>
              <a:buSzPts val="950"/>
              <a:buFont typeface="Inter Tight"/>
              <a:buNone/>
            </a:pPr>
            <a:r>
              <a:rPr b="1" i="0" lang="en-US" sz="950" u="none" cap="none" strike="noStrike">
                <a:solidFill>
                  <a:srgbClr val="4A7BF7"/>
                </a:solidFill>
                <a:latin typeface="Inter Tight"/>
                <a:ea typeface="Inter Tight"/>
                <a:cs typeface="Inter Tight"/>
                <a:sym typeface="Inter Tight"/>
              </a:rPr>
              <a:t>[ Your Digital Growth Partner ]</a:t>
            </a:r>
            <a:endParaRPr b="0" i="0" sz="950" u="none" cap="none" strike="noStrike">
              <a:solidFill>
                <a:schemeClr val="dk1"/>
              </a:solidFill>
              <a:latin typeface="Calibri"/>
              <a:ea typeface="Calibri"/>
              <a:cs typeface="Calibri"/>
              <a:sym typeface="Calibri"/>
            </a:endParaRPr>
          </a:p>
        </p:txBody>
      </p:sp>
      <p:sp>
        <p:nvSpPr>
          <p:cNvPr id="22" name="Google Shape;22;p1"/>
          <p:cNvSpPr/>
          <p:nvPr/>
        </p:nvSpPr>
        <p:spPr>
          <a:xfrm>
            <a:off x="5029200" y="4443984"/>
            <a:ext cx="3657600" cy="21945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4A7BF7"/>
              </a:buClr>
              <a:buSzPts val="950"/>
              <a:buFont typeface="Inter Tight"/>
              <a:buNone/>
            </a:pPr>
            <a:r>
              <a:rPr b="1" i="0" lang="en-US" sz="950" u="none" cap="none" strike="noStrike">
                <a:solidFill>
                  <a:srgbClr val="4A7BF7"/>
                </a:solidFill>
                <a:latin typeface="Inter Tight"/>
                <a:ea typeface="Inter Tight"/>
                <a:cs typeface="Inter Tight"/>
                <a:sym typeface="Inter Tight"/>
              </a:rPr>
              <a:t>[ toggle.solutions ]</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 name="Shape 27"/>
        <p:cNvGrpSpPr/>
        <p:nvPr/>
      </p:nvGrpSpPr>
      <p:grpSpPr>
        <a:xfrm>
          <a:off x="0" y="0"/>
          <a:ext cx="0" cy="0"/>
          <a:chOff x="0" y="0"/>
          <a:chExt cx="0" cy="0"/>
        </a:xfrm>
      </p:grpSpPr>
      <p:sp>
        <p:nvSpPr>
          <p:cNvPr id="28" name="Google Shape;28;p2"/>
          <p:cNvSpPr/>
          <p:nvPr/>
        </p:nvSpPr>
        <p:spPr>
          <a:xfrm>
            <a:off x="5394960" y="219456"/>
            <a:ext cx="329184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29" name="Google Shape;29;p2"/>
          <p:cNvSpPr/>
          <p:nvPr/>
        </p:nvSpPr>
        <p:spPr>
          <a:xfrm>
            <a:off x="457200" y="420624"/>
            <a:ext cx="8229600" cy="3474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What we will cover</a:t>
            </a:r>
            <a:endParaRPr b="0" i="0" sz="2150" u="none" cap="none" strike="noStrike">
              <a:solidFill>
                <a:schemeClr val="dk1"/>
              </a:solidFill>
              <a:latin typeface="Calibri"/>
              <a:ea typeface="Calibri"/>
              <a:cs typeface="Calibri"/>
              <a:sym typeface="Calibri"/>
            </a:endParaRPr>
          </a:p>
        </p:txBody>
      </p:sp>
      <p:sp>
        <p:nvSpPr>
          <p:cNvPr id="30" name="Google Shape;30;p2"/>
          <p:cNvSpPr/>
          <p:nvPr/>
        </p:nvSpPr>
        <p:spPr>
          <a:xfrm>
            <a:off x="457200" y="804672"/>
            <a:ext cx="8229600" cy="38404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50"/>
              <a:buFont typeface="Inter Tight"/>
              <a:buNone/>
            </a:pPr>
            <a:r>
              <a:rPr b="0" i="0" lang="en-US" sz="850" u="none" cap="none" strike="noStrike">
                <a:solidFill>
                  <a:srgbClr val="4A4A4A"/>
                </a:solidFill>
                <a:latin typeface="Inter Tight"/>
                <a:ea typeface="Inter Tight"/>
                <a:cs typeface="Inter Tight"/>
                <a:sym typeface="Inter Tight"/>
              </a:rPr>
              <a:t>The first four sections cover TikTok as it stands today. The last two cover what we recommend adding.</a:t>
            </a:r>
            <a:endParaRPr b="0" i="0" sz="850" u="none" cap="none" strike="noStrike">
              <a:solidFill>
                <a:schemeClr val="dk1"/>
              </a:solidFill>
              <a:latin typeface="Calibri"/>
              <a:ea typeface="Calibri"/>
              <a:cs typeface="Calibri"/>
              <a:sym typeface="Calibri"/>
            </a:endParaRPr>
          </a:p>
        </p:txBody>
      </p:sp>
      <p:sp>
        <p:nvSpPr>
          <p:cNvPr id="31" name="Google Shape;31;p2"/>
          <p:cNvSpPr/>
          <p:nvPr/>
        </p:nvSpPr>
        <p:spPr>
          <a:xfrm>
            <a:off x="457200" y="1261872"/>
            <a:ext cx="237744" cy="237744"/>
          </a:xfrm>
          <a:prstGeom prst="ellipse">
            <a:avLst/>
          </a:prstGeom>
          <a:solidFill>
            <a:srgbClr val="3056C9"/>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Inter Tight"/>
              <a:buNone/>
            </a:pPr>
            <a:r>
              <a:rPr b="1" i="0" lang="en-US" sz="750" u="none" cap="none" strike="noStrike">
                <a:solidFill>
                  <a:srgbClr val="FFFFFF"/>
                </a:solidFill>
                <a:latin typeface="Inter Tight"/>
                <a:ea typeface="Inter Tight"/>
                <a:cs typeface="Inter Tight"/>
                <a:sym typeface="Inter Tight"/>
              </a:rPr>
              <a:t>1</a:t>
            </a:r>
            <a:endParaRPr b="0" i="0" sz="750" u="none" cap="none" strike="noStrike">
              <a:solidFill>
                <a:schemeClr val="dk1"/>
              </a:solidFill>
              <a:latin typeface="Calibri"/>
              <a:ea typeface="Calibri"/>
              <a:cs typeface="Calibri"/>
              <a:sym typeface="Calibri"/>
            </a:endParaRPr>
          </a:p>
        </p:txBody>
      </p:sp>
      <p:sp>
        <p:nvSpPr>
          <p:cNvPr id="32" name="Google Shape;32;p2"/>
          <p:cNvSpPr/>
          <p:nvPr/>
        </p:nvSpPr>
        <p:spPr>
          <a:xfrm>
            <a:off x="822960" y="1243584"/>
            <a:ext cx="7863840" cy="20116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950"/>
              <a:buFont typeface="Inter Tight"/>
              <a:buNone/>
            </a:pPr>
            <a:r>
              <a:rPr b="1" i="0" lang="en-US" sz="950" u="none" cap="none" strike="noStrike">
                <a:solidFill>
                  <a:srgbClr val="0F0F0F"/>
                </a:solidFill>
                <a:latin typeface="Inter Tight"/>
                <a:ea typeface="Inter Tight"/>
                <a:cs typeface="Inter Tight"/>
                <a:sym typeface="Inter Tight"/>
              </a:rPr>
              <a:t>Where TikTok stands</a:t>
            </a:r>
            <a:endParaRPr b="0" i="0" sz="950" u="none" cap="none" strike="noStrike">
              <a:solidFill>
                <a:schemeClr val="dk1"/>
              </a:solidFill>
              <a:latin typeface="Calibri"/>
              <a:ea typeface="Calibri"/>
              <a:cs typeface="Calibri"/>
              <a:sym typeface="Calibri"/>
            </a:endParaRPr>
          </a:p>
        </p:txBody>
      </p:sp>
      <p:sp>
        <p:nvSpPr>
          <p:cNvPr id="33" name="Google Shape;33;p2"/>
          <p:cNvSpPr/>
          <p:nvPr/>
        </p:nvSpPr>
        <p:spPr>
          <a:xfrm>
            <a:off x="822960" y="1444752"/>
            <a:ext cx="7863840" cy="384048"/>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Spend, leads, cost per lead, and the audiences carrying the result.</a:t>
            </a:r>
            <a:endParaRPr b="0" i="0" sz="750" u="none" cap="none" strike="noStrike">
              <a:solidFill>
                <a:schemeClr val="dk1"/>
              </a:solidFill>
              <a:latin typeface="Calibri"/>
              <a:ea typeface="Calibri"/>
              <a:cs typeface="Calibri"/>
              <a:sym typeface="Calibri"/>
            </a:endParaRPr>
          </a:p>
        </p:txBody>
      </p:sp>
      <p:sp>
        <p:nvSpPr>
          <p:cNvPr id="34" name="Google Shape;34;p2"/>
          <p:cNvSpPr/>
          <p:nvPr/>
        </p:nvSpPr>
        <p:spPr>
          <a:xfrm>
            <a:off x="457200" y="1819656"/>
            <a:ext cx="237744" cy="237744"/>
          </a:xfrm>
          <a:prstGeom prst="ellipse">
            <a:avLst/>
          </a:prstGeom>
          <a:solidFill>
            <a:srgbClr val="3056C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750"/>
              <a:buFont typeface="Inter Tight"/>
              <a:buNone/>
            </a:pPr>
            <a:r>
              <a:rPr b="1" lang="en-US" sz="750">
                <a:solidFill>
                  <a:srgbClr val="FFFFFF"/>
                </a:solidFill>
                <a:latin typeface="Inter Tight"/>
                <a:ea typeface="Inter Tight"/>
                <a:cs typeface="Inter Tight"/>
                <a:sym typeface="Inter Tight"/>
              </a:rPr>
              <a:t>2</a:t>
            </a:r>
            <a:endParaRPr b="0" i="0" sz="750" u="none" cap="none" strike="noStrike">
              <a:solidFill>
                <a:schemeClr val="dk1"/>
              </a:solidFill>
              <a:latin typeface="Calibri"/>
              <a:ea typeface="Calibri"/>
              <a:cs typeface="Calibri"/>
              <a:sym typeface="Calibri"/>
            </a:endParaRPr>
          </a:p>
        </p:txBody>
      </p:sp>
      <p:sp>
        <p:nvSpPr>
          <p:cNvPr id="35" name="Google Shape;35;p2"/>
          <p:cNvSpPr/>
          <p:nvPr/>
        </p:nvSpPr>
        <p:spPr>
          <a:xfrm>
            <a:off x="822960" y="1801368"/>
            <a:ext cx="7863840" cy="20116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950"/>
              <a:buFont typeface="Inter Tight"/>
              <a:buNone/>
            </a:pPr>
            <a:r>
              <a:rPr b="1" i="0" lang="en-US" sz="950" u="none" cap="none" strike="noStrike">
                <a:solidFill>
                  <a:srgbClr val="0F0F0F"/>
                </a:solidFill>
                <a:latin typeface="Inter Tight"/>
                <a:ea typeface="Inter Tight"/>
                <a:cs typeface="Inter Tight"/>
                <a:sym typeface="Inter Tight"/>
              </a:rPr>
              <a:t>What the creative data says</a:t>
            </a:r>
            <a:endParaRPr b="0" i="0" sz="950" u="none" cap="none" strike="noStrike">
              <a:solidFill>
                <a:schemeClr val="dk1"/>
              </a:solidFill>
              <a:latin typeface="Calibri"/>
              <a:ea typeface="Calibri"/>
              <a:cs typeface="Calibri"/>
              <a:sym typeface="Calibri"/>
            </a:endParaRPr>
          </a:p>
        </p:txBody>
      </p:sp>
      <p:sp>
        <p:nvSpPr>
          <p:cNvPr id="36" name="Google Shape;36;p2"/>
          <p:cNvSpPr/>
          <p:nvPr/>
        </p:nvSpPr>
        <p:spPr>
          <a:xfrm>
            <a:off x="822960" y="2002536"/>
            <a:ext cx="7863840" cy="384048"/>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Forty ads, three concepts, and the one metric that predicts cost.</a:t>
            </a:r>
            <a:endParaRPr b="0" i="0" sz="750" u="none" cap="none" strike="noStrike">
              <a:solidFill>
                <a:schemeClr val="dk1"/>
              </a:solidFill>
              <a:latin typeface="Calibri"/>
              <a:ea typeface="Calibri"/>
              <a:cs typeface="Calibri"/>
              <a:sym typeface="Calibri"/>
            </a:endParaRPr>
          </a:p>
        </p:txBody>
      </p:sp>
      <p:sp>
        <p:nvSpPr>
          <p:cNvPr id="37" name="Google Shape;37;p2"/>
          <p:cNvSpPr/>
          <p:nvPr/>
        </p:nvSpPr>
        <p:spPr>
          <a:xfrm>
            <a:off x="457200" y="2377440"/>
            <a:ext cx="237744" cy="237744"/>
          </a:xfrm>
          <a:prstGeom prst="ellipse">
            <a:avLst/>
          </a:prstGeom>
          <a:solidFill>
            <a:srgbClr val="3056C9"/>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Inter Tight"/>
              <a:buNone/>
            </a:pPr>
            <a:r>
              <a:rPr b="1" lang="en-US" sz="750">
                <a:solidFill>
                  <a:srgbClr val="FFFFFF"/>
                </a:solidFill>
                <a:latin typeface="Inter Tight"/>
                <a:ea typeface="Inter Tight"/>
                <a:cs typeface="Inter Tight"/>
                <a:sym typeface="Inter Tight"/>
              </a:rPr>
              <a:t>3</a:t>
            </a:r>
            <a:endParaRPr b="0" i="0" sz="750" u="none" cap="none" strike="noStrike">
              <a:solidFill>
                <a:schemeClr val="dk1"/>
              </a:solidFill>
              <a:latin typeface="Calibri"/>
              <a:ea typeface="Calibri"/>
              <a:cs typeface="Calibri"/>
              <a:sym typeface="Calibri"/>
            </a:endParaRPr>
          </a:p>
        </p:txBody>
      </p:sp>
      <p:sp>
        <p:nvSpPr>
          <p:cNvPr id="38" name="Google Shape;38;p2"/>
          <p:cNvSpPr/>
          <p:nvPr/>
        </p:nvSpPr>
        <p:spPr>
          <a:xfrm>
            <a:off x="822960" y="2359152"/>
            <a:ext cx="7863840" cy="20116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950"/>
              <a:buFont typeface="Inter Tight"/>
              <a:buNone/>
            </a:pPr>
            <a:r>
              <a:rPr b="1" i="0" lang="en-US" sz="950" u="none" cap="none" strike="noStrike">
                <a:solidFill>
                  <a:srgbClr val="0F0F0F"/>
                </a:solidFill>
                <a:latin typeface="Inter Tight"/>
                <a:ea typeface="Inter Tight"/>
                <a:cs typeface="Inter Tight"/>
                <a:sym typeface="Inter Tight"/>
              </a:rPr>
              <a:t>What is working and what is not</a:t>
            </a:r>
            <a:endParaRPr b="0" i="0" sz="950" u="none" cap="none" strike="noStrike">
              <a:solidFill>
                <a:schemeClr val="dk1"/>
              </a:solidFill>
              <a:latin typeface="Calibri"/>
              <a:ea typeface="Calibri"/>
              <a:cs typeface="Calibri"/>
              <a:sym typeface="Calibri"/>
            </a:endParaRPr>
          </a:p>
        </p:txBody>
      </p:sp>
      <p:sp>
        <p:nvSpPr>
          <p:cNvPr id="39" name="Google Shape;39;p2"/>
          <p:cNvSpPr/>
          <p:nvPr/>
        </p:nvSpPr>
        <p:spPr>
          <a:xfrm>
            <a:off x="822960" y="2560320"/>
            <a:ext cx="7863840" cy="384048"/>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The honest read, including the one thing we cannot measure yet.</a:t>
            </a:r>
            <a:endParaRPr b="0" i="0" sz="750" u="none" cap="none" strike="noStrike">
              <a:solidFill>
                <a:schemeClr val="dk1"/>
              </a:solidFill>
              <a:latin typeface="Calibri"/>
              <a:ea typeface="Calibri"/>
              <a:cs typeface="Calibri"/>
              <a:sym typeface="Calibri"/>
            </a:endParaRPr>
          </a:p>
        </p:txBody>
      </p:sp>
      <p:sp>
        <p:nvSpPr>
          <p:cNvPr id="40" name="Google Shape;40;p2"/>
          <p:cNvSpPr/>
          <p:nvPr/>
        </p:nvSpPr>
        <p:spPr>
          <a:xfrm>
            <a:off x="457200" y="2935224"/>
            <a:ext cx="237744" cy="237744"/>
          </a:xfrm>
          <a:prstGeom prst="ellipse">
            <a:avLst/>
          </a:prstGeom>
          <a:solidFill>
            <a:srgbClr val="3056C9"/>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Inter Tight"/>
              <a:buNone/>
            </a:pPr>
            <a:r>
              <a:rPr b="1" i="0" lang="en-US" sz="750" u="none" cap="none" strike="noStrike">
                <a:solidFill>
                  <a:srgbClr val="FFFFFF"/>
                </a:solidFill>
                <a:latin typeface="Inter Tight"/>
                <a:ea typeface="Inter Tight"/>
                <a:cs typeface="Inter Tight"/>
                <a:sym typeface="Inter Tight"/>
              </a:rPr>
              <a:t>4</a:t>
            </a:r>
            <a:endParaRPr b="0" i="0" sz="750" u="none" cap="none" strike="noStrike">
              <a:solidFill>
                <a:schemeClr val="dk1"/>
              </a:solidFill>
              <a:latin typeface="Calibri"/>
              <a:ea typeface="Calibri"/>
              <a:cs typeface="Calibri"/>
              <a:sym typeface="Calibri"/>
            </a:endParaRPr>
          </a:p>
        </p:txBody>
      </p:sp>
      <p:sp>
        <p:nvSpPr>
          <p:cNvPr id="41" name="Google Shape;41;p2"/>
          <p:cNvSpPr/>
          <p:nvPr/>
        </p:nvSpPr>
        <p:spPr>
          <a:xfrm>
            <a:off x="822960" y="2916936"/>
            <a:ext cx="7863840" cy="20116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950"/>
              <a:buFont typeface="Inter Tight"/>
              <a:buNone/>
            </a:pPr>
            <a:r>
              <a:rPr b="1" i="0" lang="en-US" sz="950" u="none" cap="none" strike="noStrike">
                <a:solidFill>
                  <a:srgbClr val="0F0F0F"/>
                </a:solidFill>
                <a:latin typeface="Inter Tight"/>
                <a:ea typeface="Inter Tight"/>
                <a:cs typeface="Inter Tight"/>
                <a:sym typeface="Inter Tight"/>
              </a:rPr>
              <a:t>How we scale TikTok</a:t>
            </a:r>
            <a:endParaRPr b="0" i="0" sz="950" u="none" cap="none" strike="noStrike">
              <a:solidFill>
                <a:schemeClr val="dk1"/>
              </a:solidFill>
              <a:latin typeface="Calibri"/>
              <a:ea typeface="Calibri"/>
              <a:cs typeface="Calibri"/>
              <a:sym typeface="Calibri"/>
            </a:endParaRPr>
          </a:p>
        </p:txBody>
      </p:sp>
      <p:sp>
        <p:nvSpPr>
          <p:cNvPr id="42" name="Google Shape;42;p2"/>
          <p:cNvSpPr/>
          <p:nvPr/>
        </p:nvSpPr>
        <p:spPr>
          <a:xfrm>
            <a:off x="822960" y="3118104"/>
            <a:ext cx="7863840" cy="384048"/>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Creative supply, spark ads, and the changes we make inside the account.</a:t>
            </a:r>
            <a:endParaRPr b="0" i="0" sz="750" u="none" cap="none" strike="noStrike">
              <a:solidFill>
                <a:schemeClr val="dk1"/>
              </a:solidFill>
              <a:latin typeface="Calibri"/>
              <a:ea typeface="Calibri"/>
              <a:cs typeface="Calibri"/>
              <a:sym typeface="Calibri"/>
            </a:endParaRPr>
          </a:p>
        </p:txBody>
      </p:sp>
      <p:sp>
        <p:nvSpPr>
          <p:cNvPr id="43" name="Google Shape;43;p2"/>
          <p:cNvSpPr/>
          <p:nvPr/>
        </p:nvSpPr>
        <p:spPr>
          <a:xfrm>
            <a:off x="457200" y="3493008"/>
            <a:ext cx="237744" cy="237744"/>
          </a:xfrm>
          <a:prstGeom prst="ellipse">
            <a:avLst/>
          </a:prstGeom>
          <a:solidFill>
            <a:srgbClr val="3056C9"/>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Inter Tight"/>
              <a:buNone/>
            </a:pPr>
            <a:r>
              <a:rPr b="1" i="0" lang="en-US" sz="750" u="none" cap="none" strike="noStrike">
                <a:solidFill>
                  <a:srgbClr val="FFFFFF"/>
                </a:solidFill>
                <a:latin typeface="Inter Tight"/>
                <a:ea typeface="Inter Tight"/>
                <a:cs typeface="Inter Tight"/>
                <a:sym typeface="Inter Tight"/>
              </a:rPr>
              <a:t>5</a:t>
            </a:r>
            <a:endParaRPr b="0" i="0" sz="750" u="none" cap="none" strike="noStrike">
              <a:solidFill>
                <a:schemeClr val="dk1"/>
              </a:solidFill>
              <a:latin typeface="Calibri"/>
              <a:ea typeface="Calibri"/>
              <a:cs typeface="Calibri"/>
              <a:sym typeface="Calibri"/>
            </a:endParaRPr>
          </a:p>
        </p:txBody>
      </p:sp>
      <p:sp>
        <p:nvSpPr>
          <p:cNvPr id="44" name="Google Shape;44;p2"/>
          <p:cNvSpPr/>
          <p:nvPr/>
        </p:nvSpPr>
        <p:spPr>
          <a:xfrm>
            <a:off x="822960" y="3474720"/>
            <a:ext cx="7863840" cy="20116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950"/>
              <a:buFont typeface="Inter Tight"/>
              <a:buNone/>
            </a:pPr>
            <a:r>
              <a:rPr b="1" i="0" lang="en-US" sz="950" u="none" cap="none" strike="noStrike">
                <a:solidFill>
                  <a:srgbClr val="0F0F0F"/>
                </a:solidFill>
                <a:latin typeface="Inter Tight"/>
                <a:ea typeface="Inter Tight"/>
                <a:cs typeface="Inter Tight"/>
                <a:sym typeface="Inter Tight"/>
              </a:rPr>
              <a:t>Adding Google Search and Meta</a:t>
            </a:r>
            <a:endParaRPr b="0" i="0" sz="950" u="none" cap="none" strike="noStrike">
              <a:solidFill>
                <a:schemeClr val="dk1"/>
              </a:solidFill>
              <a:latin typeface="Calibri"/>
              <a:ea typeface="Calibri"/>
              <a:cs typeface="Calibri"/>
              <a:sym typeface="Calibri"/>
            </a:endParaRPr>
          </a:p>
        </p:txBody>
      </p:sp>
      <p:sp>
        <p:nvSpPr>
          <p:cNvPr id="45" name="Google Shape;45;p2"/>
          <p:cNvSpPr/>
          <p:nvPr/>
        </p:nvSpPr>
        <p:spPr>
          <a:xfrm>
            <a:off x="822960" y="3675888"/>
            <a:ext cx="7863840" cy="384048"/>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Where the demand you are not capturing sits, and how we would go after it.</a:t>
            </a:r>
            <a:endParaRPr b="0" i="0" sz="750" u="none" cap="none" strike="noStrike">
              <a:solidFill>
                <a:schemeClr val="dk1"/>
              </a:solidFill>
              <a:latin typeface="Calibri"/>
              <a:ea typeface="Calibri"/>
              <a:cs typeface="Calibri"/>
              <a:sym typeface="Calibri"/>
            </a:endParaRPr>
          </a:p>
        </p:txBody>
      </p:sp>
      <p:sp>
        <p:nvSpPr>
          <p:cNvPr id="46" name="Google Shape;46;p2"/>
          <p:cNvSpPr/>
          <p:nvPr/>
        </p:nvSpPr>
        <p:spPr>
          <a:xfrm>
            <a:off x="457200" y="4050792"/>
            <a:ext cx="237744" cy="237744"/>
          </a:xfrm>
          <a:prstGeom prst="ellipse">
            <a:avLst/>
          </a:prstGeom>
          <a:solidFill>
            <a:srgbClr val="3056C9"/>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Inter Tight"/>
              <a:buNone/>
            </a:pPr>
            <a:r>
              <a:rPr b="1" i="0" lang="en-US" sz="750" u="none" cap="none" strike="noStrike">
                <a:solidFill>
                  <a:srgbClr val="FFFFFF"/>
                </a:solidFill>
                <a:latin typeface="Inter Tight"/>
                <a:ea typeface="Inter Tight"/>
                <a:cs typeface="Inter Tight"/>
                <a:sym typeface="Inter Tight"/>
              </a:rPr>
              <a:t>6</a:t>
            </a:r>
            <a:endParaRPr b="0" i="0" sz="750" u="none" cap="none" strike="noStrike">
              <a:solidFill>
                <a:schemeClr val="dk1"/>
              </a:solidFill>
              <a:latin typeface="Calibri"/>
              <a:ea typeface="Calibri"/>
              <a:cs typeface="Calibri"/>
              <a:sym typeface="Calibri"/>
            </a:endParaRPr>
          </a:p>
        </p:txBody>
      </p:sp>
      <p:sp>
        <p:nvSpPr>
          <p:cNvPr id="47" name="Google Shape;47;p2"/>
          <p:cNvSpPr/>
          <p:nvPr/>
        </p:nvSpPr>
        <p:spPr>
          <a:xfrm>
            <a:off x="822960" y="4032504"/>
            <a:ext cx="7863840" cy="20116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950"/>
              <a:buFont typeface="Inter Tight"/>
              <a:buNone/>
            </a:pPr>
            <a:r>
              <a:rPr b="1" i="0" lang="en-US" sz="950" u="none" cap="none" strike="noStrike">
                <a:solidFill>
                  <a:srgbClr val="0F0F0F"/>
                </a:solidFill>
                <a:latin typeface="Inter Tight"/>
                <a:ea typeface="Inter Tight"/>
                <a:cs typeface="Inter Tight"/>
                <a:sym typeface="Inter Tight"/>
              </a:rPr>
              <a:t>Website and operations</a:t>
            </a:r>
            <a:endParaRPr b="0" i="0" sz="950" u="none" cap="none" strike="noStrike">
              <a:solidFill>
                <a:schemeClr val="dk1"/>
              </a:solidFill>
              <a:latin typeface="Calibri"/>
              <a:ea typeface="Calibri"/>
              <a:cs typeface="Calibri"/>
              <a:sym typeface="Calibri"/>
            </a:endParaRPr>
          </a:p>
        </p:txBody>
      </p:sp>
      <p:sp>
        <p:nvSpPr>
          <p:cNvPr id="48" name="Google Shape;48;p2"/>
          <p:cNvSpPr/>
          <p:nvPr/>
        </p:nvSpPr>
        <p:spPr>
          <a:xfrm>
            <a:off x="822960" y="4233672"/>
            <a:ext cx="7863840" cy="384048"/>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The work underneath that decides whether any of the media pays back.</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3"/>
          <p:cNvSpPr/>
          <p:nvPr/>
        </p:nvSpPr>
        <p:spPr>
          <a:xfrm>
            <a:off x="5394960" y="219456"/>
            <a:ext cx="329184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55" name="Google Shape;55;p3"/>
          <p:cNvSpPr/>
          <p:nvPr/>
        </p:nvSpPr>
        <p:spPr>
          <a:xfrm>
            <a:off x="457200" y="420624"/>
            <a:ext cx="8229600" cy="3474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TikTok is producing leads at a third of the previous campaign cost</a:t>
            </a:r>
            <a:endParaRPr b="0" i="0" sz="2150" u="none" cap="none" strike="noStrike">
              <a:solidFill>
                <a:schemeClr val="dk1"/>
              </a:solidFill>
              <a:latin typeface="Calibri"/>
              <a:ea typeface="Calibri"/>
              <a:cs typeface="Calibri"/>
              <a:sym typeface="Calibri"/>
            </a:endParaRPr>
          </a:p>
        </p:txBody>
      </p:sp>
      <p:sp>
        <p:nvSpPr>
          <p:cNvPr id="56" name="Google Shape;56;p3"/>
          <p:cNvSpPr/>
          <p:nvPr/>
        </p:nvSpPr>
        <p:spPr>
          <a:xfrm>
            <a:off x="457200" y="1149285"/>
            <a:ext cx="8229600" cy="384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50"/>
              <a:buFont typeface="Inter Tight"/>
              <a:buNone/>
            </a:pPr>
            <a:r>
              <a:rPr b="0" i="0" lang="en-US" sz="850" u="none" cap="none" strike="noStrike">
                <a:solidFill>
                  <a:srgbClr val="4A4A4A"/>
                </a:solidFill>
                <a:latin typeface="Inter Tight"/>
                <a:ea typeface="Inter Tight"/>
                <a:cs typeface="Inter Tight"/>
                <a:sym typeface="Inter Tight"/>
              </a:rPr>
              <a:t>Two full months of delivery, 12 June to 31 July 2026, across 3 campaigns, 11 ad groups, and 40 ads.</a:t>
            </a:r>
            <a:endParaRPr b="0" i="0" sz="850" u="none" cap="none" strike="noStrike">
              <a:solidFill>
                <a:schemeClr val="dk1"/>
              </a:solidFill>
              <a:latin typeface="Calibri"/>
              <a:ea typeface="Calibri"/>
              <a:cs typeface="Calibri"/>
              <a:sym typeface="Calibri"/>
            </a:endParaRPr>
          </a:p>
        </p:txBody>
      </p:sp>
      <p:sp>
        <p:nvSpPr>
          <p:cNvPr id="57" name="Google Shape;57;p3"/>
          <p:cNvSpPr/>
          <p:nvPr/>
        </p:nvSpPr>
        <p:spPr>
          <a:xfrm>
            <a:off x="457200" y="1658485"/>
            <a:ext cx="1934100" cy="1298400"/>
          </a:xfrm>
          <a:prstGeom prst="roundRect">
            <a:avLst>
              <a:gd fmla="val 4662"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457200" y="1658485"/>
            <a:ext cx="1934100" cy="50400"/>
          </a:xfrm>
          <a:prstGeom prst="rect">
            <a:avLst/>
          </a:prstGeom>
          <a:solidFill>
            <a:srgbClr val="4A7BF7"/>
          </a:solidFill>
          <a:ln cap="flat" cmpd="sng" w="12700">
            <a:solidFill>
              <a:srgbClr val="4A7B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585225" y="1813925"/>
            <a:ext cx="1756500" cy="4023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2500"/>
              <a:buFont typeface="Inter Tight"/>
              <a:buNone/>
            </a:pPr>
            <a:r>
              <a:rPr b="1" i="0" lang="en-US" sz="2500" u="none" cap="none" strike="noStrike">
                <a:solidFill>
                  <a:srgbClr val="0F0F0F"/>
                </a:solidFill>
                <a:latin typeface="Inter Tight"/>
                <a:ea typeface="Inter Tight"/>
                <a:cs typeface="Inter Tight"/>
                <a:sym typeface="Inter Tight"/>
              </a:rPr>
              <a:t>RM </a:t>
            </a:r>
            <a:r>
              <a:rPr b="1" lang="en-US" sz="2500">
                <a:solidFill>
                  <a:srgbClr val="0F0F0F"/>
                </a:solidFill>
                <a:latin typeface="Inter Tight"/>
                <a:ea typeface="Inter Tight"/>
                <a:cs typeface="Inter Tight"/>
                <a:sym typeface="Inter Tight"/>
              </a:rPr>
              <a:t>1</a:t>
            </a:r>
            <a:r>
              <a:rPr b="1" i="0" lang="en-US" sz="2500" u="none" cap="none" strike="noStrike">
                <a:solidFill>
                  <a:srgbClr val="0F0F0F"/>
                </a:solidFill>
                <a:latin typeface="Inter Tight"/>
                <a:ea typeface="Inter Tight"/>
                <a:cs typeface="Inter Tight"/>
                <a:sym typeface="Inter Tight"/>
              </a:rPr>
              <a:t>2,235</a:t>
            </a:r>
            <a:endParaRPr b="0" i="0" sz="2500" u="none" cap="none" strike="noStrike">
              <a:solidFill>
                <a:schemeClr val="dk1"/>
              </a:solidFill>
              <a:latin typeface="Calibri"/>
              <a:ea typeface="Calibri"/>
              <a:cs typeface="Calibri"/>
              <a:sym typeface="Calibri"/>
            </a:endParaRPr>
          </a:p>
        </p:txBody>
      </p:sp>
      <p:sp>
        <p:nvSpPr>
          <p:cNvPr id="60" name="Google Shape;60;p3"/>
          <p:cNvSpPr/>
          <p:nvPr/>
        </p:nvSpPr>
        <p:spPr>
          <a:xfrm>
            <a:off x="585216" y="2261989"/>
            <a:ext cx="1677900" cy="1830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800"/>
              <a:buFont typeface="Inter Tight"/>
              <a:buNone/>
            </a:pPr>
            <a:r>
              <a:rPr b="1" i="0" lang="en-US" sz="800" u="none" cap="none" strike="noStrike">
                <a:solidFill>
                  <a:srgbClr val="0F0F0F"/>
                </a:solidFill>
                <a:latin typeface="Inter Tight"/>
                <a:ea typeface="Inter Tight"/>
                <a:cs typeface="Inter Tight"/>
                <a:sym typeface="Inter Tight"/>
              </a:rPr>
              <a:t>Total ad spend</a:t>
            </a:r>
            <a:endParaRPr b="0" i="0" sz="800" u="none" cap="none" strike="noStrike">
              <a:solidFill>
                <a:schemeClr val="dk1"/>
              </a:solidFill>
              <a:latin typeface="Calibri"/>
              <a:ea typeface="Calibri"/>
              <a:cs typeface="Calibri"/>
              <a:sym typeface="Calibri"/>
            </a:endParaRPr>
          </a:p>
        </p:txBody>
      </p:sp>
      <p:sp>
        <p:nvSpPr>
          <p:cNvPr id="61" name="Google Shape;61;p3"/>
          <p:cNvSpPr/>
          <p:nvPr/>
        </p:nvSpPr>
        <p:spPr>
          <a:xfrm>
            <a:off x="585216" y="2454013"/>
            <a:ext cx="1677900" cy="4299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12 June to 31 July 2026</a:t>
            </a:r>
            <a:endParaRPr b="0" i="0" sz="750" u="none" cap="none" strike="noStrike">
              <a:solidFill>
                <a:schemeClr val="dk1"/>
              </a:solidFill>
              <a:latin typeface="Calibri"/>
              <a:ea typeface="Calibri"/>
              <a:cs typeface="Calibri"/>
              <a:sym typeface="Calibri"/>
            </a:endParaRPr>
          </a:p>
        </p:txBody>
      </p:sp>
      <p:sp>
        <p:nvSpPr>
          <p:cNvPr id="62" name="Google Shape;62;p3"/>
          <p:cNvSpPr/>
          <p:nvPr/>
        </p:nvSpPr>
        <p:spPr>
          <a:xfrm>
            <a:off x="2523744" y="1658485"/>
            <a:ext cx="1934100" cy="1298400"/>
          </a:xfrm>
          <a:prstGeom prst="roundRect">
            <a:avLst>
              <a:gd fmla="val 4662"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2523744" y="1658485"/>
            <a:ext cx="1934100" cy="50400"/>
          </a:xfrm>
          <a:prstGeom prst="rect">
            <a:avLst/>
          </a:prstGeom>
          <a:solidFill>
            <a:srgbClr val="2ECC9B"/>
          </a:solidFill>
          <a:ln cap="flat" cmpd="sng" w="12700">
            <a:solidFill>
              <a:srgbClr val="2ECC9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2651760" y="1813933"/>
            <a:ext cx="1677900" cy="4023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2500"/>
              <a:buFont typeface="Inter Tight"/>
              <a:buNone/>
            </a:pPr>
            <a:r>
              <a:rPr b="1" i="0" lang="en-US" sz="2500" u="none" cap="none" strike="noStrike">
                <a:solidFill>
                  <a:srgbClr val="0F0F0F"/>
                </a:solidFill>
                <a:latin typeface="Inter Tight"/>
                <a:ea typeface="Inter Tight"/>
                <a:cs typeface="Inter Tight"/>
                <a:sym typeface="Inter Tight"/>
              </a:rPr>
              <a:t>527</a:t>
            </a:r>
            <a:endParaRPr b="0" i="0" sz="2500" u="none" cap="none" strike="noStrike">
              <a:solidFill>
                <a:schemeClr val="dk1"/>
              </a:solidFill>
              <a:latin typeface="Calibri"/>
              <a:ea typeface="Calibri"/>
              <a:cs typeface="Calibri"/>
              <a:sym typeface="Calibri"/>
            </a:endParaRPr>
          </a:p>
        </p:txBody>
      </p:sp>
      <p:sp>
        <p:nvSpPr>
          <p:cNvPr id="65" name="Google Shape;65;p3"/>
          <p:cNvSpPr/>
          <p:nvPr/>
        </p:nvSpPr>
        <p:spPr>
          <a:xfrm>
            <a:off x="2651760" y="2261989"/>
            <a:ext cx="1677900" cy="1830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800"/>
              <a:buFont typeface="Inter Tight"/>
              <a:buNone/>
            </a:pPr>
            <a:r>
              <a:rPr b="1" i="0" lang="en-US" sz="800" u="none" cap="none" strike="noStrike">
                <a:solidFill>
                  <a:srgbClr val="0F0F0F"/>
                </a:solidFill>
                <a:latin typeface="Inter Tight"/>
                <a:ea typeface="Inter Tight"/>
                <a:cs typeface="Inter Tight"/>
                <a:sym typeface="Inter Tight"/>
              </a:rPr>
              <a:t>Leads delivered</a:t>
            </a:r>
            <a:endParaRPr b="0" i="0" sz="800" u="none" cap="none" strike="noStrike">
              <a:solidFill>
                <a:schemeClr val="dk1"/>
              </a:solidFill>
              <a:latin typeface="Calibri"/>
              <a:ea typeface="Calibri"/>
              <a:cs typeface="Calibri"/>
              <a:sym typeface="Calibri"/>
            </a:endParaRPr>
          </a:p>
        </p:txBody>
      </p:sp>
      <p:sp>
        <p:nvSpPr>
          <p:cNvPr id="66" name="Google Shape;66;p3"/>
          <p:cNvSpPr/>
          <p:nvPr/>
        </p:nvSpPr>
        <p:spPr>
          <a:xfrm>
            <a:off x="2651760" y="2454013"/>
            <a:ext cx="1677900" cy="4299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TikTok instant form submissions</a:t>
            </a:r>
            <a:endParaRPr b="0" i="0" sz="750" u="none" cap="none" strike="noStrike">
              <a:solidFill>
                <a:schemeClr val="dk1"/>
              </a:solidFill>
              <a:latin typeface="Calibri"/>
              <a:ea typeface="Calibri"/>
              <a:cs typeface="Calibri"/>
              <a:sym typeface="Calibri"/>
            </a:endParaRPr>
          </a:p>
        </p:txBody>
      </p:sp>
      <p:sp>
        <p:nvSpPr>
          <p:cNvPr id="67" name="Google Shape;67;p3"/>
          <p:cNvSpPr/>
          <p:nvPr/>
        </p:nvSpPr>
        <p:spPr>
          <a:xfrm>
            <a:off x="4590288" y="1658485"/>
            <a:ext cx="1934100" cy="1298400"/>
          </a:xfrm>
          <a:prstGeom prst="roundRect">
            <a:avLst>
              <a:gd fmla="val 4662"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4590288" y="1658485"/>
            <a:ext cx="1934100" cy="50400"/>
          </a:xfrm>
          <a:prstGeom prst="rect">
            <a:avLst/>
          </a:prstGeom>
          <a:solidFill>
            <a:srgbClr val="4A7BF7"/>
          </a:solidFill>
          <a:ln cap="flat" cmpd="sng" w="12700">
            <a:solidFill>
              <a:srgbClr val="4A7B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4718304" y="1813933"/>
            <a:ext cx="1677900" cy="4023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4A7BF7"/>
              </a:buClr>
              <a:buSzPts val="2500"/>
              <a:buFont typeface="Inter Tight"/>
              <a:buNone/>
            </a:pPr>
            <a:r>
              <a:rPr b="1" i="0" lang="en-US" sz="2500" u="none" cap="none" strike="noStrike">
                <a:solidFill>
                  <a:srgbClr val="4A7BF7"/>
                </a:solidFill>
                <a:latin typeface="Inter Tight"/>
                <a:ea typeface="Inter Tight"/>
                <a:cs typeface="Inter Tight"/>
                <a:sym typeface="Inter Tight"/>
              </a:rPr>
              <a:t>RM 23.22</a:t>
            </a:r>
            <a:endParaRPr b="0" i="0" sz="2500" u="none" cap="none" strike="noStrike">
              <a:solidFill>
                <a:schemeClr val="dk1"/>
              </a:solidFill>
              <a:latin typeface="Calibri"/>
              <a:ea typeface="Calibri"/>
              <a:cs typeface="Calibri"/>
              <a:sym typeface="Calibri"/>
            </a:endParaRPr>
          </a:p>
        </p:txBody>
      </p:sp>
      <p:sp>
        <p:nvSpPr>
          <p:cNvPr id="70" name="Google Shape;70;p3"/>
          <p:cNvSpPr/>
          <p:nvPr/>
        </p:nvSpPr>
        <p:spPr>
          <a:xfrm>
            <a:off x="4718304" y="2261989"/>
            <a:ext cx="1677900" cy="1830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800"/>
              <a:buFont typeface="Inter Tight"/>
              <a:buNone/>
            </a:pPr>
            <a:r>
              <a:rPr b="1" i="0" lang="en-US" sz="800" u="none" cap="none" strike="noStrike">
                <a:solidFill>
                  <a:srgbClr val="0F0F0F"/>
                </a:solidFill>
                <a:latin typeface="Inter Tight"/>
                <a:ea typeface="Inter Tight"/>
                <a:cs typeface="Inter Tight"/>
                <a:sym typeface="Inter Tight"/>
              </a:rPr>
              <a:t>Cost per lead</a:t>
            </a:r>
            <a:endParaRPr b="0" i="0" sz="800" u="none" cap="none" strike="noStrike">
              <a:solidFill>
                <a:schemeClr val="dk1"/>
              </a:solidFill>
              <a:latin typeface="Calibri"/>
              <a:ea typeface="Calibri"/>
              <a:cs typeface="Calibri"/>
              <a:sym typeface="Calibri"/>
            </a:endParaRPr>
          </a:p>
        </p:txBody>
      </p:sp>
      <p:sp>
        <p:nvSpPr>
          <p:cNvPr id="71" name="Google Shape;71;p3"/>
          <p:cNvSpPr/>
          <p:nvPr/>
        </p:nvSpPr>
        <p:spPr>
          <a:xfrm>
            <a:off x="4718304" y="2454013"/>
            <a:ext cx="1677900" cy="4299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Blended across both months</a:t>
            </a:r>
            <a:endParaRPr b="0" i="0" sz="750" u="none" cap="none" strike="noStrike">
              <a:solidFill>
                <a:schemeClr val="dk1"/>
              </a:solidFill>
              <a:latin typeface="Calibri"/>
              <a:ea typeface="Calibri"/>
              <a:cs typeface="Calibri"/>
              <a:sym typeface="Calibri"/>
            </a:endParaRPr>
          </a:p>
        </p:txBody>
      </p:sp>
      <p:sp>
        <p:nvSpPr>
          <p:cNvPr id="72" name="Google Shape;72;p3"/>
          <p:cNvSpPr/>
          <p:nvPr/>
        </p:nvSpPr>
        <p:spPr>
          <a:xfrm>
            <a:off x="6656832" y="1658485"/>
            <a:ext cx="1934100" cy="1298400"/>
          </a:xfrm>
          <a:prstGeom prst="roundRect">
            <a:avLst>
              <a:gd fmla="val 4662"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6656832" y="1658485"/>
            <a:ext cx="1934100" cy="50400"/>
          </a:xfrm>
          <a:prstGeom prst="rect">
            <a:avLst/>
          </a:prstGeom>
          <a:solidFill>
            <a:srgbClr val="8E6BE6"/>
          </a:solidFill>
          <a:ln cap="flat" cmpd="sng" w="12700">
            <a:solidFill>
              <a:srgbClr val="8E6B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6784848" y="1813933"/>
            <a:ext cx="1677900" cy="4023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2500"/>
              <a:buFont typeface="Inter Tight"/>
              <a:buNone/>
            </a:pPr>
            <a:r>
              <a:rPr b="1" i="0" lang="en-US" sz="2500" u="none" cap="none" strike="noStrike">
                <a:solidFill>
                  <a:srgbClr val="0F0F0F"/>
                </a:solidFill>
                <a:latin typeface="Inter Tight"/>
                <a:ea typeface="Inter Tight"/>
                <a:cs typeface="Inter Tight"/>
                <a:sym typeface="Inter Tight"/>
              </a:rPr>
              <a:t>1.7M</a:t>
            </a:r>
            <a:endParaRPr b="0" i="0" sz="2500" u="none" cap="none" strike="noStrike">
              <a:solidFill>
                <a:schemeClr val="dk1"/>
              </a:solidFill>
              <a:latin typeface="Calibri"/>
              <a:ea typeface="Calibri"/>
              <a:cs typeface="Calibri"/>
              <a:sym typeface="Calibri"/>
            </a:endParaRPr>
          </a:p>
        </p:txBody>
      </p:sp>
      <p:sp>
        <p:nvSpPr>
          <p:cNvPr id="75" name="Google Shape;75;p3"/>
          <p:cNvSpPr/>
          <p:nvPr/>
        </p:nvSpPr>
        <p:spPr>
          <a:xfrm>
            <a:off x="6784848" y="2261989"/>
            <a:ext cx="1677900" cy="1830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800"/>
              <a:buFont typeface="Inter Tight"/>
              <a:buNone/>
            </a:pPr>
            <a:r>
              <a:rPr b="1" i="0" lang="en-US" sz="800" u="none" cap="none" strike="noStrike">
                <a:solidFill>
                  <a:srgbClr val="0F0F0F"/>
                </a:solidFill>
                <a:latin typeface="Inter Tight"/>
                <a:ea typeface="Inter Tight"/>
                <a:cs typeface="Inter Tight"/>
                <a:sym typeface="Inter Tight"/>
              </a:rPr>
              <a:t>Impressions</a:t>
            </a:r>
            <a:endParaRPr b="0" i="0" sz="800" u="none" cap="none" strike="noStrike">
              <a:solidFill>
                <a:schemeClr val="dk1"/>
              </a:solidFill>
              <a:latin typeface="Calibri"/>
              <a:ea typeface="Calibri"/>
              <a:cs typeface="Calibri"/>
              <a:sym typeface="Calibri"/>
            </a:endParaRPr>
          </a:p>
        </p:txBody>
      </p:sp>
      <p:sp>
        <p:nvSpPr>
          <p:cNvPr id="76" name="Google Shape;76;p3"/>
          <p:cNvSpPr/>
          <p:nvPr/>
        </p:nvSpPr>
        <p:spPr>
          <a:xfrm>
            <a:off x="6784848" y="2454013"/>
            <a:ext cx="1677900" cy="4299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572.2K reached, 14,146 clicks</a:t>
            </a:r>
            <a:endParaRPr b="0" i="0" sz="750" u="none" cap="none" strike="noStrike">
              <a:solidFill>
                <a:schemeClr val="dk1"/>
              </a:solidFill>
              <a:latin typeface="Calibri"/>
              <a:ea typeface="Calibri"/>
              <a:cs typeface="Calibri"/>
              <a:sym typeface="Calibri"/>
            </a:endParaRPr>
          </a:p>
        </p:txBody>
      </p:sp>
      <p:sp>
        <p:nvSpPr>
          <p:cNvPr id="77" name="Google Shape;77;p3"/>
          <p:cNvSpPr/>
          <p:nvPr/>
        </p:nvSpPr>
        <p:spPr>
          <a:xfrm>
            <a:off x="457200" y="3139813"/>
            <a:ext cx="8229600" cy="786300"/>
          </a:xfrm>
          <a:prstGeom prst="roundRect">
            <a:avLst>
              <a:gd fmla="val 12710"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621792" y="3258685"/>
            <a:ext cx="79005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056C9"/>
              </a:buClr>
              <a:buSzPts val="900"/>
              <a:buFont typeface="Inter Tight"/>
              <a:buNone/>
            </a:pPr>
            <a:r>
              <a:rPr b="1" i="0" lang="en-US" sz="900" u="none" cap="none" strike="noStrike">
                <a:solidFill>
                  <a:srgbClr val="3056C9"/>
                </a:solidFill>
                <a:latin typeface="Inter Tight"/>
                <a:ea typeface="Inter Tight"/>
                <a:cs typeface="Inter Tight"/>
                <a:sym typeface="Inter Tight"/>
              </a:rPr>
              <a:t>Against the benchmark we set out to beat</a:t>
            </a:r>
            <a:endParaRPr b="0" i="0" sz="900" u="none" cap="none" strike="noStrike">
              <a:solidFill>
                <a:schemeClr val="dk1"/>
              </a:solidFill>
              <a:latin typeface="Calibri"/>
              <a:ea typeface="Calibri"/>
              <a:cs typeface="Calibri"/>
              <a:sym typeface="Calibri"/>
            </a:endParaRPr>
          </a:p>
        </p:txBody>
      </p:sp>
      <p:sp>
        <p:nvSpPr>
          <p:cNvPr id="79" name="Google Shape;79;p3"/>
          <p:cNvSpPr/>
          <p:nvPr/>
        </p:nvSpPr>
        <p:spPr>
          <a:xfrm>
            <a:off x="621792" y="3496429"/>
            <a:ext cx="7900500" cy="338400"/>
          </a:xfrm>
          <a:prstGeom prst="rect">
            <a:avLst/>
          </a:prstGeom>
          <a:noFill/>
          <a:ln>
            <a:noFill/>
          </a:ln>
        </p:spPr>
        <p:txBody>
          <a:bodyPr anchorCtr="0" anchor="t" bIns="45700" lIns="91425" spcFirstLastPara="1" rIns="91425" wrap="square" tIns="45700">
            <a:normAutofit/>
          </a:bodyPr>
          <a:lstStyle/>
          <a:p>
            <a:pPr indent="0" lvl="0" marL="0" marR="0" rtl="0" algn="l">
              <a:lnSpc>
                <a:spcPct val="114000"/>
              </a:lnSpc>
              <a:spcBef>
                <a:spcPts val="0"/>
              </a:spcBef>
              <a:spcAft>
                <a:spcPts val="0"/>
              </a:spcAft>
              <a:buClr>
                <a:srgbClr val="0F0F0F"/>
              </a:buClr>
              <a:buSzPts val="800"/>
              <a:buFont typeface="Inter Tight"/>
              <a:buNone/>
            </a:pPr>
            <a:r>
              <a:rPr b="0" i="0" lang="en-US" sz="800" u="none" cap="none" strike="noStrike">
                <a:solidFill>
                  <a:srgbClr val="0F0F0F"/>
                </a:solidFill>
                <a:latin typeface="Inter Tight"/>
                <a:ea typeface="Inter Tight"/>
                <a:cs typeface="Inter Tight"/>
                <a:sym typeface="Inter Tight"/>
              </a:rPr>
              <a:t>The previous campaign produced 205 RSVPs on roughly RM 13,000 of spend, which works out to about RM 63 a lead. </a:t>
            </a:r>
            <a:r>
              <a:rPr lang="en-US" sz="800">
                <a:solidFill>
                  <a:srgbClr val="0F0F0F"/>
                </a:solidFill>
                <a:latin typeface="Inter Tight"/>
                <a:ea typeface="Inter Tight"/>
                <a:cs typeface="Inter Tight"/>
                <a:sym typeface="Inter Tight"/>
              </a:rPr>
              <a:t>We</a:t>
            </a:r>
            <a:r>
              <a:rPr b="0" i="0" lang="en-US" sz="800" u="none" cap="none" strike="noStrike">
                <a:solidFill>
                  <a:srgbClr val="0F0F0F"/>
                </a:solidFill>
                <a:latin typeface="Inter Tight"/>
                <a:ea typeface="Inter Tight"/>
                <a:cs typeface="Inter Tight"/>
                <a:sym typeface="Inter Tight"/>
              </a:rPr>
              <a:t> targeted a cost per lead under RM 50. Both months clear that target comfortably.</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4"/>
          <p:cNvSpPr/>
          <p:nvPr/>
        </p:nvSpPr>
        <p:spPr>
          <a:xfrm>
            <a:off x="5394960" y="219456"/>
            <a:ext cx="329184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86" name="Google Shape;86;p4"/>
          <p:cNvSpPr/>
          <p:nvPr/>
        </p:nvSpPr>
        <p:spPr>
          <a:xfrm>
            <a:off x="457200" y="420624"/>
            <a:ext cx="8229600" cy="3474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From June to July, cost per lead more than doubled</a:t>
            </a:r>
            <a:endParaRPr b="0" i="0" sz="2150" u="none" cap="none" strike="noStrike">
              <a:solidFill>
                <a:schemeClr val="dk1"/>
              </a:solidFill>
              <a:latin typeface="Calibri"/>
              <a:ea typeface="Calibri"/>
              <a:cs typeface="Calibri"/>
              <a:sym typeface="Calibri"/>
            </a:endParaRPr>
          </a:p>
        </p:txBody>
      </p:sp>
      <p:sp>
        <p:nvSpPr>
          <p:cNvPr id="87" name="Google Shape;87;p4"/>
          <p:cNvSpPr/>
          <p:nvPr/>
        </p:nvSpPr>
        <p:spPr>
          <a:xfrm>
            <a:off x="457200" y="804672"/>
            <a:ext cx="8229600" cy="38404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50"/>
              <a:buFont typeface="Inter Tight"/>
              <a:buNone/>
            </a:pPr>
            <a:r>
              <a:rPr b="0" i="0" lang="en-US" sz="850" u="none" cap="none" strike="noStrike">
                <a:solidFill>
                  <a:srgbClr val="4A4A4A"/>
                </a:solidFill>
                <a:latin typeface="Inter Tight"/>
                <a:ea typeface="Inter Tight"/>
                <a:cs typeface="Inter Tight"/>
                <a:sym typeface="Inter Tight"/>
              </a:rPr>
              <a:t>Two variables moved together at the end of June. The lead form template changed and the creative mix changed with it.</a:t>
            </a:r>
            <a:endParaRPr b="0" i="0" sz="850" u="none" cap="none" strike="noStrike">
              <a:solidFill>
                <a:schemeClr val="dk1"/>
              </a:solidFill>
              <a:latin typeface="Calibri"/>
              <a:ea typeface="Calibri"/>
              <a:cs typeface="Calibri"/>
              <a:sym typeface="Calibri"/>
            </a:endParaRPr>
          </a:p>
        </p:txBody>
      </p:sp>
      <p:graphicFrame>
        <p:nvGraphicFramePr>
          <p:cNvPr id="88" name="Google Shape;88;p4"/>
          <p:cNvGraphicFramePr/>
          <p:nvPr/>
        </p:nvGraphicFramePr>
        <p:xfrm>
          <a:off x="457200" y="1280160"/>
          <a:ext cx="3000000" cy="3000000"/>
        </p:xfrm>
        <a:graphic>
          <a:graphicData uri="http://schemas.openxmlformats.org/drawingml/2006/table">
            <a:tbl>
              <a:tblPr>
                <a:noFill/>
                <a:tableStyleId>{DA89EFAE-9271-447B-A4AB-8F31947992DB}</a:tableStyleId>
              </a:tblPr>
              <a:tblGrid>
                <a:gridCol w="2560325"/>
                <a:gridCol w="1554475"/>
                <a:gridCol w="914400"/>
                <a:gridCol w="1645925"/>
                <a:gridCol w="1554475"/>
              </a:tblGrid>
              <a:tr h="274325">
                <a:tc>
                  <a:txBody>
                    <a:bodyPr/>
                    <a:lstStyle/>
                    <a:p>
                      <a:pPr indent="0" lvl="0" marL="0" marR="0" rtl="0" algn="l">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Period</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r">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Ad spend</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r">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Leads</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r">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Cost per lead</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r">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CTR</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r>
              <a:tr h="27432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June</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4,407.06</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303</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3056C9"/>
                        </a:buClr>
                        <a:buSzPts val="750"/>
                        <a:buFont typeface="Inter Tight"/>
                        <a:buNone/>
                      </a:pPr>
                      <a:r>
                        <a:rPr b="1" lang="en-US" sz="750" u="none" cap="none" strike="noStrike">
                          <a:solidFill>
                            <a:srgbClr val="3056C9"/>
                          </a:solidFill>
                          <a:latin typeface="Inter Tight"/>
                          <a:ea typeface="Inter Tight"/>
                          <a:cs typeface="Inter Tight"/>
                          <a:sym typeface="Inter Tight"/>
                        </a:rPr>
                        <a:t>RM 14.54</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1.24%</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July</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7,827.69</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224</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7BF7"/>
                        </a:buClr>
                        <a:buSzPts val="750"/>
                        <a:buFont typeface="Inter Tight"/>
                        <a:buNone/>
                      </a:pPr>
                      <a:r>
                        <a:rPr b="1" lang="en-US" sz="750" u="none" cap="none" strike="noStrike">
                          <a:solidFill>
                            <a:srgbClr val="4A7BF7"/>
                          </a:solidFill>
                          <a:latin typeface="Inter Tight"/>
                          <a:ea typeface="Inter Tight"/>
                          <a:cs typeface="Inter Tight"/>
                          <a:sym typeface="Inter Tight"/>
                        </a:rPr>
                        <a:t>RM 34.95</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0.61%</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r>
              <a:tr h="274325">
                <a:tc>
                  <a:txBody>
                    <a:bodyPr/>
                    <a:lstStyle/>
                    <a:p>
                      <a:pPr indent="0" lvl="0" marL="0" marR="0" rtl="0" algn="l">
                        <a:spcBef>
                          <a:spcPts val="0"/>
                        </a:spcBef>
                        <a:spcAft>
                          <a:spcPts val="0"/>
                        </a:spcAft>
                        <a:buClr>
                          <a:srgbClr val="0F0F0F"/>
                        </a:buClr>
                        <a:buSzPts val="750"/>
                        <a:buFont typeface="Inter Tight"/>
                        <a:buNone/>
                      </a:pPr>
                      <a:r>
                        <a:rPr b="1" lang="en-US" sz="750" u="none" cap="none" strike="noStrike">
                          <a:solidFill>
                            <a:srgbClr val="0F0F0F"/>
                          </a:solidFill>
                          <a:latin typeface="Inter Tight"/>
                          <a:ea typeface="Inter Tight"/>
                          <a:cs typeface="Inter Tight"/>
                          <a:sym typeface="Inter Tight"/>
                        </a:rPr>
                        <a:t>Both months</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0F0F0F"/>
                        </a:buClr>
                        <a:buSzPts val="750"/>
                        <a:buFont typeface="Inter Tight"/>
                        <a:buNone/>
                      </a:pPr>
                      <a:r>
                        <a:rPr b="1" lang="en-US" sz="750" u="none" cap="none" strike="noStrike">
                          <a:solidFill>
                            <a:srgbClr val="0F0F0F"/>
                          </a:solidFill>
                          <a:latin typeface="Inter Tight"/>
                          <a:ea typeface="Inter Tight"/>
                          <a:cs typeface="Inter Tight"/>
                          <a:sym typeface="Inter Tight"/>
                        </a:rPr>
                        <a:t>RM 12,234.75</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0F0F0F"/>
                        </a:buClr>
                        <a:buSzPts val="750"/>
                        <a:buFont typeface="Inter Tight"/>
                        <a:buNone/>
                      </a:pPr>
                      <a:r>
                        <a:rPr b="1" lang="en-US" sz="750" u="none" cap="none" strike="noStrike">
                          <a:solidFill>
                            <a:srgbClr val="0F0F0F"/>
                          </a:solidFill>
                          <a:latin typeface="Inter Tight"/>
                          <a:ea typeface="Inter Tight"/>
                          <a:cs typeface="Inter Tight"/>
                          <a:sym typeface="Inter Tight"/>
                        </a:rPr>
                        <a:t>527</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3056C9"/>
                        </a:buClr>
                        <a:buSzPts val="750"/>
                        <a:buFont typeface="Inter Tight"/>
                        <a:buNone/>
                      </a:pPr>
                      <a:r>
                        <a:rPr b="1" lang="en-US" sz="750" u="none" cap="none" strike="noStrike">
                          <a:solidFill>
                            <a:srgbClr val="3056C9"/>
                          </a:solidFill>
                          <a:latin typeface="Inter Tight"/>
                          <a:ea typeface="Inter Tight"/>
                          <a:cs typeface="Inter Tight"/>
                          <a:sym typeface="Inter Tight"/>
                        </a:rPr>
                        <a:t>RM 23.22</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0F0F0F"/>
                        </a:buClr>
                        <a:buSzPts val="750"/>
                        <a:buFont typeface="Inter Tight"/>
                        <a:buNone/>
                      </a:pPr>
                      <a:r>
                        <a:rPr b="1" lang="en-US" sz="750" u="none" cap="none" strike="noStrike">
                          <a:solidFill>
                            <a:srgbClr val="0F0F0F"/>
                          </a:solidFill>
                          <a:latin typeface="Inter Tight"/>
                          <a:ea typeface="Inter Tight"/>
                          <a:cs typeface="Inter Tight"/>
                          <a:sym typeface="Inter Tight"/>
                        </a:rPr>
                        <a:t>0.82%</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bl>
          </a:graphicData>
        </a:graphic>
      </p:graphicFrame>
      <p:sp>
        <p:nvSpPr>
          <p:cNvPr id="89" name="Google Shape;89;p4"/>
          <p:cNvSpPr/>
          <p:nvPr/>
        </p:nvSpPr>
        <p:spPr>
          <a:xfrm>
            <a:off x="457200" y="2604227"/>
            <a:ext cx="3977700" cy="1651800"/>
          </a:xfrm>
          <a:prstGeom prst="roundRect">
            <a:avLst>
              <a:gd fmla="val 6016"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603504" y="2732236"/>
            <a:ext cx="3684900" cy="2013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3056C9"/>
              </a:buClr>
              <a:buSzPts val="950"/>
              <a:buFont typeface="Inter Tight"/>
              <a:buNone/>
            </a:pPr>
            <a:r>
              <a:rPr b="1" i="0" lang="en-US" sz="950" u="none" cap="none" strike="noStrike">
                <a:solidFill>
                  <a:srgbClr val="3056C9"/>
                </a:solidFill>
                <a:latin typeface="Inter Tight"/>
                <a:ea typeface="Inter Tight"/>
                <a:cs typeface="Inter Tight"/>
                <a:sym typeface="Inter Tight"/>
              </a:rPr>
              <a:t>What changed</a:t>
            </a:r>
            <a:endParaRPr b="0" i="0" sz="950" u="none" cap="none" strike="noStrike">
              <a:solidFill>
                <a:schemeClr val="dk1"/>
              </a:solidFill>
              <a:latin typeface="Calibri"/>
              <a:ea typeface="Calibri"/>
              <a:cs typeface="Calibri"/>
              <a:sym typeface="Calibri"/>
            </a:endParaRPr>
          </a:p>
        </p:txBody>
      </p:sp>
      <p:sp>
        <p:nvSpPr>
          <p:cNvPr id="91" name="Google Shape;91;p4"/>
          <p:cNvSpPr/>
          <p:nvPr/>
        </p:nvSpPr>
        <p:spPr>
          <a:xfrm>
            <a:off x="603504" y="3006556"/>
            <a:ext cx="3684900" cy="630900"/>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July spent 78% more than June and returned 26% fewer leads.</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lang="en-US" sz="750">
                <a:solidFill>
                  <a:srgbClr val="4A4A4A"/>
                </a:solidFill>
                <a:latin typeface="Inter Tight"/>
                <a:ea typeface="Inter Tight"/>
                <a:cs typeface="Inter Tight"/>
                <a:sym typeface="Inter Tight"/>
              </a:rPr>
              <a:t>This change was due to low quality leads coming from the initial instant form launched in June, and we have since tested out High Intent and Rich Content instant forms in July.</a:t>
            </a:r>
            <a:endParaRPr sz="750">
              <a:solidFill>
                <a:srgbClr val="4A4A4A"/>
              </a:solidFill>
              <a:latin typeface="Inter Tight"/>
              <a:ea typeface="Inter Tight"/>
              <a:cs typeface="Inter Tight"/>
              <a:sym typeface="Inter Tight"/>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CTR halved, from 1.24% to 0.61%, so fewer people tapped the same volume of impressions.</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The Form Submission campaign was paused on 30 June, and it was the cheapest source of leads in the account</a:t>
            </a:r>
            <a:r>
              <a:rPr lang="en-US" sz="750">
                <a:solidFill>
                  <a:srgbClr val="4A4A4A"/>
                </a:solidFill>
                <a:latin typeface="Inter Tight"/>
                <a:ea typeface="Inter Tight"/>
                <a:cs typeface="Inter Tight"/>
                <a:sym typeface="Inter Tight"/>
              </a:rPr>
              <a:t>, but quality was subpar.</a:t>
            </a:r>
            <a:endParaRPr b="0" i="0" sz="750" u="none" cap="none" strike="noStrike">
              <a:solidFill>
                <a:schemeClr val="dk1"/>
              </a:solidFill>
              <a:latin typeface="Calibri"/>
              <a:ea typeface="Calibri"/>
              <a:cs typeface="Calibri"/>
              <a:sym typeface="Calibri"/>
            </a:endParaRPr>
          </a:p>
        </p:txBody>
      </p:sp>
      <p:sp>
        <p:nvSpPr>
          <p:cNvPr id="92" name="Google Shape;92;p4"/>
          <p:cNvSpPr/>
          <p:nvPr/>
        </p:nvSpPr>
        <p:spPr>
          <a:xfrm>
            <a:off x="4709155" y="2604227"/>
            <a:ext cx="3977700" cy="1651800"/>
          </a:xfrm>
          <a:prstGeom prst="roundRect">
            <a:avLst>
              <a:gd fmla="val 6016"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4855464" y="2732236"/>
            <a:ext cx="3684900" cy="2013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3056C9"/>
              </a:buClr>
              <a:buSzPts val="950"/>
              <a:buFont typeface="Inter Tight"/>
              <a:buNone/>
            </a:pPr>
            <a:r>
              <a:rPr b="1" i="0" lang="en-US" sz="950" u="none" cap="none" strike="noStrike">
                <a:solidFill>
                  <a:srgbClr val="3056C9"/>
                </a:solidFill>
                <a:latin typeface="Inter Tight"/>
                <a:ea typeface="Inter Tight"/>
                <a:cs typeface="Inter Tight"/>
                <a:sym typeface="Inter Tight"/>
              </a:rPr>
              <a:t>What did not change</a:t>
            </a:r>
            <a:endParaRPr b="0" i="0" sz="950" u="none" cap="none" strike="noStrike">
              <a:solidFill>
                <a:schemeClr val="dk1"/>
              </a:solidFill>
              <a:latin typeface="Calibri"/>
              <a:ea typeface="Calibri"/>
              <a:cs typeface="Calibri"/>
              <a:sym typeface="Calibri"/>
            </a:endParaRPr>
          </a:p>
        </p:txBody>
      </p:sp>
      <p:sp>
        <p:nvSpPr>
          <p:cNvPr id="94" name="Google Shape;94;p4"/>
          <p:cNvSpPr/>
          <p:nvPr/>
        </p:nvSpPr>
        <p:spPr>
          <a:xfrm>
            <a:off x="4855464" y="3006556"/>
            <a:ext cx="3684900" cy="630900"/>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Both months still come in under the RM 50 cost per lead we committed to.</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The audiences and the geo stayed the same throughout.</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Spend pacing held, with July at RM 7,828 against an RM 8,000 budget.</a:t>
            </a:r>
            <a:endParaRPr b="0" i="0" sz="750" u="none" cap="none" strike="noStrike">
              <a:solidFill>
                <a:schemeClr val="dk1"/>
              </a:solidFill>
              <a:latin typeface="Calibri"/>
              <a:ea typeface="Calibri"/>
              <a:cs typeface="Calibri"/>
              <a:sym typeface="Calibri"/>
            </a:endParaRPr>
          </a:p>
        </p:txBody>
      </p:sp>
      <p:sp>
        <p:nvSpPr>
          <p:cNvPr id="95" name="Google Shape;95;p4"/>
          <p:cNvSpPr/>
          <p:nvPr/>
        </p:nvSpPr>
        <p:spPr>
          <a:xfrm>
            <a:off x="423125" y="4477020"/>
            <a:ext cx="8229600" cy="310800"/>
          </a:xfrm>
          <a:prstGeom prst="rect">
            <a:avLst/>
          </a:prstGeom>
          <a:solidFill>
            <a:srgbClr val="3056C9"/>
          </a:solidFill>
          <a:ln cap="flat" cmpd="sng" w="12700">
            <a:solidFill>
              <a:srgbClr val="3056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569429" y="4477020"/>
            <a:ext cx="7937100" cy="3108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800"/>
              <a:buFont typeface="Inter Tight"/>
              <a:buNone/>
            </a:pPr>
            <a:r>
              <a:rPr b="1" i="0" lang="en-US" sz="800" u="none" cap="none" strike="noStrike">
                <a:solidFill>
                  <a:srgbClr val="FFFFFF"/>
                </a:solidFill>
                <a:latin typeface="Inter Tight"/>
                <a:ea typeface="Inter Tight"/>
                <a:cs typeface="Inter Tight"/>
                <a:sym typeface="Inter Tight"/>
              </a:rPr>
              <a:t>The budget performed as planned. The cost of each lead is what moved, and the form template and creative changes are where it went.</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 name="Shape 101"/>
        <p:cNvGrpSpPr/>
        <p:nvPr/>
      </p:nvGrpSpPr>
      <p:grpSpPr>
        <a:xfrm>
          <a:off x="0" y="0"/>
          <a:ext cx="0" cy="0"/>
          <a:chOff x="0" y="0"/>
          <a:chExt cx="0" cy="0"/>
        </a:xfrm>
      </p:grpSpPr>
      <p:sp>
        <p:nvSpPr>
          <p:cNvPr id="102" name="Google Shape;102;p6"/>
          <p:cNvSpPr/>
          <p:nvPr/>
        </p:nvSpPr>
        <p:spPr>
          <a:xfrm>
            <a:off x="5394960" y="219456"/>
            <a:ext cx="329184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103" name="Google Shape;103;p6"/>
          <p:cNvSpPr/>
          <p:nvPr/>
        </p:nvSpPr>
        <p:spPr>
          <a:xfrm>
            <a:off x="457200" y="420624"/>
            <a:ext cx="8229600" cy="3474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The SPM and STPM leavers are the cheapest audience in the account</a:t>
            </a:r>
            <a:endParaRPr b="0" i="0" sz="2150" u="none" cap="none" strike="noStrike">
              <a:solidFill>
                <a:schemeClr val="dk1"/>
              </a:solidFill>
              <a:latin typeface="Calibri"/>
              <a:ea typeface="Calibri"/>
              <a:cs typeface="Calibri"/>
              <a:sym typeface="Calibri"/>
            </a:endParaRPr>
          </a:p>
        </p:txBody>
      </p:sp>
      <p:sp>
        <p:nvSpPr>
          <p:cNvPr id="104" name="Google Shape;104;p6"/>
          <p:cNvSpPr/>
          <p:nvPr/>
        </p:nvSpPr>
        <p:spPr>
          <a:xfrm>
            <a:off x="457200" y="1120572"/>
            <a:ext cx="8229600" cy="384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50"/>
              <a:buFont typeface="Inter Tight"/>
              <a:buNone/>
            </a:pPr>
            <a:r>
              <a:rPr b="0" i="0" lang="en-US" sz="850" u="none" cap="none" strike="noStrike">
                <a:solidFill>
                  <a:srgbClr val="4A4A4A"/>
                </a:solidFill>
                <a:latin typeface="Inter Tight"/>
                <a:ea typeface="Inter Tight"/>
                <a:cs typeface="Inter Tight"/>
                <a:sym typeface="Inter Tight"/>
              </a:rPr>
              <a:t>Ten ad groups carried spend across the two months, ranked here by cost per lead.</a:t>
            </a:r>
            <a:endParaRPr b="0" i="0" sz="850" u="none" cap="none" strike="noStrike">
              <a:solidFill>
                <a:schemeClr val="dk1"/>
              </a:solidFill>
              <a:latin typeface="Calibri"/>
              <a:ea typeface="Calibri"/>
              <a:cs typeface="Calibri"/>
              <a:sym typeface="Calibri"/>
            </a:endParaRPr>
          </a:p>
        </p:txBody>
      </p:sp>
      <p:graphicFrame>
        <p:nvGraphicFramePr>
          <p:cNvPr id="105" name="Google Shape;105;p6"/>
          <p:cNvGraphicFramePr/>
          <p:nvPr/>
        </p:nvGraphicFramePr>
        <p:xfrm>
          <a:off x="457188" y="1504621"/>
          <a:ext cx="3000000" cy="3000000"/>
        </p:xfrm>
        <a:graphic>
          <a:graphicData uri="http://schemas.openxmlformats.org/drawingml/2006/table">
            <a:tbl>
              <a:tblPr>
                <a:noFill/>
                <a:tableStyleId>{DA89EFAE-9271-447B-A4AB-8F31947992DB}</a:tableStyleId>
              </a:tblPr>
              <a:tblGrid>
                <a:gridCol w="2834650"/>
                <a:gridCol w="1280150"/>
                <a:gridCol w="1188725"/>
                <a:gridCol w="731525"/>
                <a:gridCol w="1188725"/>
                <a:gridCol w="1005850"/>
              </a:tblGrid>
              <a:tr h="214875">
                <a:tc>
                  <a:txBody>
                    <a:bodyPr/>
                    <a:lstStyle/>
                    <a:p>
                      <a:pPr indent="0" lvl="0" marL="0" marR="0" rtl="0" algn="l">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Ad group</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r">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Form template</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r">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Spend</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r">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Leads</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r">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Cost per lead</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r">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CTR</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r>
              <a:tr h="21487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18 to 25, SPM and STPM leavers</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Form Submission</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1,490.88</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126</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7BF7"/>
                        </a:buClr>
                        <a:buSzPts val="750"/>
                        <a:buFont typeface="Inter Tight"/>
                        <a:buNone/>
                      </a:pPr>
                      <a:r>
                        <a:rPr b="1" lang="en-US" sz="750" u="none" cap="none" strike="noStrike">
                          <a:solidFill>
                            <a:srgbClr val="4A7BF7"/>
                          </a:solidFill>
                          <a:latin typeface="Inter Tight"/>
                          <a:ea typeface="Inter Tight"/>
                          <a:cs typeface="Inter Tight"/>
                          <a:sym typeface="Inter Tight"/>
                        </a:rPr>
                        <a:t>RM 11.83</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0.71%</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r h="21487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18 to 25, final year STPM</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Form Submission</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1,012.78</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75</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3056C9"/>
                        </a:buClr>
                        <a:buSzPts val="750"/>
                        <a:buFont typeface="Inter Tight"/>
                        <a:buNone/>
                      </a:pPr>
                      <a:r>
                        <a:rPr b="1" lang="en-US" sz="750" u="none" cap="none" strike="noStrike">
                          <a:solidFill>
                            <a:srgbClr val="3056C9"/>
                          </a:solidFill>
                          <a:latin typeface="Inter Tight"/>
                          <a:ea typeface="Inter Tight"/>
                          <a:cs typeface="Inter Tight"/>
                          <a:sym typeface="Inter Tight"/>
                        </a:rPr>
                        <a:t>RM 13.50</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2.17%</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r>
              <a:tr h="21487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35 to 55 plus, parents</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Form Submission</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1,653.33</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98</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3056C9"/>
                        </a:buClr>
                        <a:buSzPts val="750"/>
                        <a:buFont typeface="Inter Tight"/>
                        <a:buNone/>
                      </a:pPr>
                      <a:r>
                        <a:rPr b="1" lang="en-US" sz="750" u="none" cap="none" strike="noStrike">
                          <a:solidFill>
                            <a:srgbClr val="3056C9"/>
                          </a:solidFill>
                          <a:latin typeface="Inter Tight"/>
                          <a:ea typeface="Inter Tight"/>
                          <a:cs typeface="Inter Tight"/>
                          <a:sym typeface="Inter Tight"/>
                        </a:rPr>
                        <a:t>RM 16.87</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2.77%</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r h="21487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18 to 25, final July intake</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High Intent</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199.37</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9</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3056C9"/>
                        </a:buClr>
                        <a:buSzPts val="750"/>
                        <a:buFont typeface="Inter Tight"/>
                        <a:buNone/>
                      </a:pPr>
                      <a:r>
                        <a:rPr b="1" lang="en-US" sz="750" u="none" cap="none" strike="noStrike">
                          <a:solidFill>
                            <a:srgbClr val="3056C9"/>
                          </a:solidFill>
                          <a:latin typeface="Inter Tight"/>
                          <a:ea typeface="Inter Tight"/>
                          <a:cs typeface="Inter Tight"/>
                          <a:sym typeface="Inter Tight"/>
                        </a:rPr>
                        <a:t>RM 22.15</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3.91%</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r>
              <a:tr h="21487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35 to 54, parents</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Rich Content</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1,344.84</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51</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3056C9"/>
                        </a:buClr>
                        <a:buSzPts val="750"/>
                        <a:buFont typeface="Inter Tight"/>
                        <a:buNone/>
                      </a:pPr>
                      <a:r>
                        <a:rPr b="1" lang="en-US" sz="750" u="none" cap="none" strike="noStrike">
                          <a:solidFill>
                            <a:srgbClr val="3056C9"/>
                          </a:solidFill>
                          <a:latin typeface="Inter Tight"/>
                          <a:ea typeface="Inter Tight"/>
                          <a:cs typeface="Inter Tight"/>
                          <a:sym typeface="Inter Tight"/>
                        </a:rPr>
                        <a:t>RM 26.37</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0.60%</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r h="21487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18 to 25, SPM and STPM leavers</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Rich Content</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1,055.91</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33</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3056C9"/>
                        </a:buClr>
                        <a:buSzPts val="750"/>
                        <a:buFont typeface="Inter Tight"/>
                        <a:buNone/>
                      </a:pPr>
                      <a:r>
                        <a:rPr b="1" lang="en-US" sz="750" u="none" cap="none" strike="noStrike">
                          <a:solidFill>
                            <a:srgbClr val="3056C9"/>
                          </a:solidFill>
                          <a:latin typeface="Inter Tight"/>
                          <a:ea typeface="Inter Tight"/>
                          <a:cs typeface="Inter Tight"/>
                          <a:sym typeface="Inter Tight"/>
                        </a:rPr>
                        <a:t>RM 32.00</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0.26%</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r>
              <a:tr h="21487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35 to 54, parents, July roadshow</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Rich Content</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248.78</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7</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3056C9"/>
                        </a:buClr>
                        <a:buSzPts val="750"/>
                        <a:buFont typeface="Inter Tight"/>
                        <a:buNone/>
                      </a:pPr>
                      <a:r>
                        <a:rPr b="1" lang="en-US" sz="750" u="none" cap="none" strike="noStrike">
                          <a:solidFill>
                            <a:srgbClr val="3056C9"/>
                          </a:solidFill>
                          <a:latin typeface="Inter Tight"/>
                          <a:ea typeface="Inter Tight"/>
                          <a:cs typeface="Inter Tight"/>
                          <a:sym typeface="Inter Tight"/>
                        </a:rPr>
                        <a:t>RM 35.54</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0.92%</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r h="21487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18 to 25, SPM and STPM leavers</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High Intent</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2,494.18</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69</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3056C9"/>
                        </a:buClr>
                        <a:buSzPts val="750"/>
                        <a:buFont typeface="Inter Tight"/>
                        <a:buNone/>
                      </a:pPr>
                      <a:r>
                        <a:rPr b="1" lang="en-US" sz="750" u="none" cap="none" strike="noStrike">
                          <a:solidFill>
                            <a:srgbClr val="3056C9"/>
                          </a:solidFill>
                          <a:latin typeface="Inter Tight"/>
                          <a:ea typeface="Inter Tight"/>
                          <a:cs typeface="Inter Tight"/>
                          <a:sym typeface="Inter Tight"/>
                        </a:rPr>
                        <a:t>RM 36.15</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0.54%</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r>
              <a:tr h="21487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35 to 54, parents</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High Intent</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2,383.88</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58</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3056C9"/>
                        </a:buClr>
                        <a:buSzPts val="750"/>
                        <a:buFont typeface="Inter Tight"/>
                        <a:buNone/>
                      </a:pPr>
                      <a:r>
                        <a:rPr b="1" lang="en-US" sz="750" u="none" cap="none" strike="noStrike">
                          <a:solidFill>
                            <a:srgbClr val="3056C9"/>
                          </a:solidFill>
                          <a:latin typeface="Inter Tight"/>
                          <a:ea typeface="Inter Tight"/>
                          <a:cs typeface="Inter Tight"/>
                          <a:sym typeface="Inter Tight"/>
                        </a:rPr>
                        <a:t>RM 41.10</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1.05%</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r h="21487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18 to 54, video viewer retargeting</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High Intent</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350.80</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3056C9"/>
                        </a:buClr>
                        <a:buSzPts val="750"/>
                        <a:buFont typeface="Inter Tight"/>
                        <a:buNone/>
                      </a:pPr>
                      <a:r>
                        <a:rPr b="1" lang="en-US" sz="750" u="none" cap="none" strike="noStrike">
                          <a:solidFill>
                            <a:srgbClr val="3056C9"/>
                          </a:solidFill>
                          <a:latin typeface="Inter Tight"/>
                          <a:ea typeface="Inter Tight"/>
                          <a:cs typeface="Inter Tight"/>
                          <a:sym typeface="Inter Tight"/>
                        </a:rPr>
                        <a:t>RM 350.80</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0.45%</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r>
            </a:tbl>
          </a:graphicData>
        </a:graphic>
      </p:graphicFrame>
      <p:sp>
        <p:nvSpPr>
          <p:cNvPr id="106" name="Google Shape;106;p6"/>
          <p:cNvSpPr/>
          <p:nvPr/>
        </p:nvSpPr>
        <p:spPr>
          <a:xfrm>
            <a:off x="457188" y="4091121"/>
            <a:ext cx="8229600" cy="310800"/>
          </a:xfrm>
          <a:prstGeom prst="rect">
            <a:avLst/>
          </a:prstGeom>
          <a:solidFill>
            <a:srgbClr val="3056C9"/>
          </a:solidFill>
          <a:ln cap="flat" cmpd="sng" w="12700">
            <a:solidFill>
              <a:srgbClr val="3056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
          <p:cNvSpPr/>
          <p:nvPr/>
        </p:nvSpPr>
        <p:spPr>
          <a:xfrm>
            <a:off x="603492" y="4091121"/>
            <a:ext cx="7937100" cy="3108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800"/>
              <a:buFont typeface="Inter Tight"/>
              <a:buNone/>
            </a:pPr>
            <a:r>
              <a:rPr b="1" i="0" lang="en-US" sz="800" u="none" cap="none" strike="noStrike">
                <a:solidFill>
                  <a:srgbClr val="FFFFFF"/>
                </a:solidFill>
                <a:latin typeface="Inter Tight"/>
                <a:ea typeface="Inter Tight"/>
                <a:cs typeface="Inter Tight"/>
                <a:sym typeface="Inter Tight"/>
              </a:rPr>
              <a:t>By segment  |  Final year STPM RM 13.50  |  Students 18 to 25 RM 22.11 across 237 leads  |  Parents RM 26.31 across 214 leads  |  Retargeting RM 350.80 for a single lead</a:t>
            </a:r>
            <a:endParaRPr b="0" i="0" sz="800" u="none" cap="none" strike="noStrike">
              <a:solidFill>
                <a:schemeClr val="dk1"/>
              </a:solidFill>
              <a:latin typeface="Calibri"/>
              <a:ea typeface="Calibri"/>
              <a:cs typeface="Calibri"/>
              <a:sym typeface="Calibri"/>
            </a:endParaRPr>
          </a:p>
        </p:txBody>
      </p:sp>
      <p:sp>
        <p:nvSpPr>
          <p:cNvPr id="108" name="Google Shape;108;p6"/>
          <p:cNvSpPr/>
          <p:nvPr/>
        </p:nvSpPr>
        <p:spPr>
          <a:xfrm>
            <a:off x="457188" y="4493457"/>
            <a:ext cx="8229600" cy="310800"/>
          </a:xfrm>
          <a:prstGeom prst="roundRect">
            <a:avLst>
              <a:gd fmla="val 81315"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621775" y="4554876"/>
            <a:ext cx="7900500" cy="201300"/>
          </a:xfrm>
          <a:prstGeom prst="rect">
            <a:avLst/>
          </a:prstGeom>
          <a:noFill/>
          <a:ln>
            <a:noFill/>
          </a:ln>
        </p:spPr>
        <p:txBody>
          <a:bodyPr anchorCtr="0" anchor="t" bIns="45700" lIns="91425" spcFirstLastPara="1" rIns="91425" wrap="square" tIns="45700">
            <a:normAutofit/>
          </a:bodyPr>
          <a:lstStyle/>
          <a:p>
            <a:pPr indent="0" lvl="0" marL="0" marR="0" rtl="0" algn="l">
              <a:lnSpc>
                <a:spcPct val="114000"/>
              </a:lnSpc>
              <a:spcBef>
                <a:spcPts val="0"/>
              </a:spcBef>
              <a:spcAft>
                <a:spcPts val="0"/>
              </a:spcAft>
              <a:buClr>
                <a:srgbClr val="0F0F0F"/>
              </a:buClr>
              <a:buSzPts val="800"/>
              <a:buFont typeface="Inter Tight"/>
              <a:buNone/>
            </a:pPr>
            <a:r>
              <a:rPr b="0" i="0" lang="en-US" sz="800" u="none" cap="none" strike="noStrike">
                <a:solidFill>
                  <a:srgbClr val="0F0F0F"/>
                </a:solidFill>
                <a:latin typeface="Inter Tight"/>
                <a:ea typeface="Inter Tight"/>
                <a:cs typeface="Inter Tight"/>
                <a:sym typeface="Inter Tight"/>
              </a:rPr>
              <a:t>Parents cost more per lead than students and they are the ones who pay the fees, so we hold that budget rather than cutting it.</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 name="Shape 114"/>
        <p:cNvGrpSpPr/>
        <p:nvPr/>
      </p:nvGrpSpPr>
      <p:grpSpPr>
        <a:xfrm>
          <a:off x="0" y="0"/>
          <a:ext cx="0" cy="0"/>
          <a:chOff x="0" y="0"/>
          <a:chExt cx="0" cy="0"/>
        </a:xfrm>
      </p:grpSpPr>
      <p:sp>
        <p:nvSpPr>
          <p:cNvPr id="115" name="Google Shape;115;p7"/>
          <p:cNvSpPr/>
          <p:nvPr/>
        </p:nvSpPr>
        <p:spPr>
          <a:xfrm>
            <a:off x="5394960" y="219456"/>
            <a:ext cx="329184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116" name="Google Shape;116;p7"/>
          <p:cNvSpPr/>
          <p:nvPr/>
        </p:nvSpPr>
        <p:spPr>
          <a:xfrm>
            <a:off x="457200" y="420624"/>
            <a:ext cx="8229600" cy="3474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lang="en-US" sz="2150">
                <a:solidFill>
                  <a:srgbClr val="4A7BF7"/>
                </a:solidFill>
                <a:latin typeface="Inter Tight"/>
                <a:ea typeface="Inter Tight"/>
                <a:cs typeface="Inter Tight"/>
                <a:sym typeface="Inter Tight"/>
              </a:rPr>
              <a:t>Creative concept across the account</a:t>
            </a:r>
            <a:endParaRPr b="0" i="0" sz="2150" u="none" cap="none" strike="noStrike">
              <a:solidFill>
                <a:schemeClr val="dk1"/>
              </a:solidFill>
              <a:latin typeface="Calibri"/>
              <a:ea typeface="Calibri"/>
              <a:cs typeface="Calibri"/>
              <a:sym typeface="Calibri"/>
            </a:endParaRPr>
          </a:p>
        </p:txBody>
      </p:sp>
      <p:sp>
        <p:nvSpPr>
          <p:cNvPr id="117" name="Google Shape;117;p7"/>
          <p:cNvSpPr/>
          <p:nvPr/>
        </p:nvSpPr>
        <p:spPr>
          <a:xfrm>
            <a:off x="457200" y="804672"/>
            <a:ext cx="8229600" cy="38404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50"/>
              <a:buFont typeface="Inter Tight"/>
              <a:buNone/>
            </a:pPr>
            <a:r>
              <a:rPr b="0" i="0" lang="en-US" sz="850" u="none" cap="none" strike="noStrike">
                <a:solidFill>
                  <a:srgbClr val="4A4A4A"/>
                </a:solidFill>
                <a:latin typeface="Inter Tight"/>
                <a:ea typeface="Inter Tight"/>
                <a:cs typeface="Inter Tight"/>
                <a:sym typeface="Inter Tight"/>
              </a:rPr>
              <a:t>Ad level data across 40 ads. All three concepts run as video and differ in treatment rather than format.</a:t>
            </a:r>
            <a:endParaRPr b="0" i="0" sz="850" u="none" cap="none" strike="noStrike">
              <a:solidFill>
                <a:schemeClr val="dk1"/>
              </a:solidFill>
              <a:latin typeface="Calibri"/>
              <a:ea typeface="Calibri"/>
              <a:cs typeface="Calibri"/>
              <a:sym typeface="Calibri"/>
            </a:endParaRPr>
          </a:p>
        </p:txBody>
      </p:sp>
      <p:graphicFrame>
        <p:nvGraphicFramePr>
          <p:cNvPr id="118" name="Google Shape;118;p7"/>
          <p:cNvGraphicFramePr/>
          <p:nvPr/>
        </p:nvGraphicFramePr>
        <p:xfrm>
          <a:off x="457200" y="1280160"/>
          <a:ext cx="3000000" cy="3000000"/>
        </p:xfrm>
        <a:graphic>
          <a:graphicData uri="http://schemas.openxmlformats.org/drawingml/2006/table">
            <a:tbl>
              <a:tblPr>
                <a:noFill/>
                <a:tableStyleId>{DA89EFAE-9271-447B-A4AB-8F31947992DB}</a:tableStyleId>
              </a:tblPr>
              <a:tblGrid>
                <a:gridCol w="2194550"/>
                <a:gridCol w="1371600"/>
                <a:gridCol w="822950"/>
                <a:gridCol w="1371600"/>
                <a:gridCol w="1097275"/>
                <a:gridCol w="1371600"/>
              </a:tblGrid>
              <a:tr h="274325">
                <a:tc>
                  <a:txBody>
                    <a:bodyPr/>
                    <a:lstStyle/>
                    <a:p>
                      <a:pPr indent="0" lvl="0" marL="0" marR="0" rtl="0" algn="l">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Creative concept</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r">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Spend</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r">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Leads</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r">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Cost per lead</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r">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CTR</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r">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Hook rate</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r>
              <a:tr h="27432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Roadshow poster cut. </a:t>
                      </a:r>
                      <a:r>
                        <a:rPr lang="en-US" sz="750" u="sng">
                          <a:solidFill>
                            <a:schemeClr val="hlink"/>
                          </a:solidFill>
                          <a:latin typeface="Inter Tight"/>
                          <a:ea typeface="Inter Tight"/>
                          <a:cs typeface="Inter Tight"/>
                          <a:sym typeface="Inter Tight"/>
                          <a:hlinkClick r:id="rId3"/>
                        </a:rPr>
                        <a:t>Reference</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2,028.65</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111</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7BF7"/>
                        </a:buClr>
                        <a:buSzPts val="750"/>
                        <a:buFont typeface="Inter Tight"/>
                        <a:buNone/>
                      </a:pPr>
                      <a:r>
                        <a:rPr b="1" lang="en-US" sz="750" u="none" cap="none" strike="noStrike">
                          <a:solidFill>
                            <a:srgbClr val="4A7BF7"/>
                          </a:solidFill>
                          <a:latin typeface="Inter Tight"/>
                          <a:ea typeface="Inter Tight"/>
                          <a:cs typeface="Inter Tight"/>
                          <a:sym typeface="Inter Tight"/>
                        </a:rPr>
                        <a:t>RM 18.28</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1.70%</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12.6%</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Daily roadshow edit. </a:t>
                      </a:r>
                      <a:r>
                        <a:rPr lang="en-US" sz="750" u="sng" cap="none" strike="noStrike">
                          <a:solidFill>
                            <a:schemeClr val="hlink"/>
                          </a:solidFill>
                          <a:latin typeface="Inter Tight"/>
                          <a:ea typeface="Inter Tight"/>
                          <a:cs typeface="Inter Tight"/>
                          <a:sym typeface="Inter Tight"/>
                          <a:hlinkClick r:id="rId4"/>
                        </a:rPr>
                        <a:t>Reference</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9,584.93</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397</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3056C9"/>
                        </a:buClr>
                        <a:buSzPts val="750"/>
                        <a:buFont typeface="Inter Tight"/>
                        <a:buNone/>
                      </a:pPr>
                      <a:r>
                        <a:rPr b="1" lang="en-US" sz="750" u="none" cap="none" strike="noStrike">
                          <a:solidFill>
                            <a:srgbClr val="3056C9"/>
                          </a:solidFill>
                          <a:latin typeface="Inter Tight"/>
                          <a:ea typeface="Inter Tight"/>
                          <a:cs typeface="Inter Tight"/>
                          <a:sym typeface="Inter Tight"/>
                        </a:rPr>
                        <a:t>RM 24.14</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0.69%</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19.2%</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r>
              <a:tr h="27432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Last July intake. </a:t>
                      </a:r>
                      <a:r>
                        <a:rPr lang="en-US" sz="750" u="sng" cap="none" strike="noStrike">
                          <a:solidFill>
                            <a:schemeClr val="hlink"/>
                          </a:solidFill>
                          <a:latin typeface="Inter Tight"/>
                          <a:ea typeface="Inter Tight"/>
                          <a:cs typeface="Inter Tight"/>
                          <a:sym typeface="Inter Tight"/>
                          <a:hlinkClick r:id="rId5"/>
                        </a:rPr>
                        <a:t>Reference</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621.17</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19</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3056C9"/>
                        </a:buClr>
                        <a:buSzPts val="750"/>
                        <a:buFont typeface="Inter Tight"/>
                        <a:buNone/>
                      </a:pPr>
                      <a:r>
                        <a:rPr b="1" lang="en-US" sz="750" u="none" cap="none" strike="noStrike">
                          <a:solidFill>
                            <a:srgbClr val="3056C9"/>
                          </a:solidFill>
                          <a:latin typeface="Inter Tight"/>
                          <a:ea typeface="Inter Tight"/>
                          <a:cs typeface="Inter Tight"/>
                          <a:sym typeface="Inter Tight"/>
                        </a:rPr>
                        <a:t>RM 32.69</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1.00%</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4.4%</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bl>
          </a:graphicData>
        </a:graphic>
      </p:graphicFrame>
      <p:sp>
        <p:nvSpPr>
          <p:cNvPr id="119" name="Google Shape;119;p7"/>
          <p:cNvSpPr/>
          <p:nvPr/>
        </p:nvSpPr>
        <p:spPr>
          <a:xfrm>
            <a:off x="457188" y="2734020"/>
            <a:ext cx="8229600" cy="1024200"/>
          </a:xfrm>
          <a:prstGeom prst="roundRect">
            <a:avLst>
              <a:gd fmla="val 7494"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nvSpPr>
        <p:spPr>
          <a:xfrm>
            <a:off x="621779" y="2852892"/>
            <a:ext cx="79005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056C9"/>
              </a:buClr>
              <a:buSzPts val="900"/>
              <a:buFont typeface="Inter Tight"/>
              <a:buNone/>
            </a:pPr>
            <a:r>
              <a:rPr b="1" i="0" lang="en-US" sz="900" u="none" cap="none" strike="noStrike">
                <a:solidFill>
                  <a:srgbClr val="3056C9"/>
                </a:solidFill>
                <a:latin typeface="Inter Tight"/>
                <a:ea typeface="Inter Tight"/>
                <a:cs typeface="Inter Tight"/>
                <a:sym typeface="Inter Tight"/>
              </a:rPr>
              <a:t>Half the budget went to one ad</a:t>
            </a:r>
            <a:endParaRPr b="0" i="0" sz="900" u="none" cap="none" strike="noStrike">
              <a:solidFill>
                <a:schemeClr val="dk1"/>
              </a:solidFill>
              <a:latin typeface="Calibri"/>
              <a:ea typeface="Calibri"/>
              <a:cs typeface="Calibri"/>
              <a:sym typeface="Calibri"/>
            </a:endParaRPr>
          </a:p>
        </p:txBody>
      </p:sp>
      <p:sp>
        <p:nvSpPr>
          <p:cNvPr id="121" name="Google Shape;121;p7"/>
          <p:cNvSpPr/>
          <p:nvPr/>
        </p:nvSpPr>
        <p:spPr>
          <a:xfrm>
            <a:off x="621779" y="3090636"/>
            <a:ext cx="7900500" cy="576000"/>
          </a:xfrm>
          <a:prstGeom prst="rect">
            <a:avLst/>
          </a:prstGeom>
          <a:noFill/>
          <a:ln>
            <a:noFill/>
          </a:ln>
        </p:spPr>
        <p:txBody>
          <a:bodyPr anchorCtr="0" anchor="t" bIns="45700" lIns="91425" spcFirstLastPara="1" rIns="91425" wrap="square" tIns="45700">
            <a:normAutofit/>
          </a:bodyPr>
          <a:lstStyle/>
          <a:p>
            <a:pPr indent="0" lvl="0" marL="0" marR="0" rtl="0" algn="l">
              <a:lnSpc>
                <a:spcPct val="114000"/>
              </a:lnSpc>
              <a:spcBef>
                <a:spcPts val="0"/>
              </a:spcBef>
              <a:spcAft>
                <a:spcPts val="0"/>
              </a:spcAft>
              <a:buClr>
                <a:srgbClr val="0F0F0F"/>
              </a:buClr>
              <a:buSzPts val="800"/>
              <a:buFont typeface="Inter Tight"/>
              <a:buNone/>
            </a:pPr>
            <a:r>
              <a:rPr b="0" i="0" lang="en-US" sz="800" u="none" cap="none" strike="noStrike">
                <a:solidFill>
                  <a:srgbClr val="0F0F0F"/>
                </a:solidFill>
                <a:latin typeface="Inter Tight"/>
                <a:ea typeface="Inter Tight"/>
                <a:cs typeface="Inter Tight"/>
                <a:sym typeface="Inter Tight"/>
              </a:rPr>
              <a:t>A single ad, the </a:t>
            </a:r>
            <a:r>
              <a:rPr b="0" i="0" lang="en-US" sz="800" u="sng" cap="none" strike="noStrike">
                <a:solidFill>
                  <a:schemeClr val="hlink"/>
                </a:solidFill>
                <a:latin typeface="Inter Tight"/>
                <a:ea typeface="Inter Tight"/>
                <a:cs typeface="Inter Tight"/>
                <a:sym typeface="Inter Tight"/>
                <a:hlinkClick r:id="rId6"/>
              </a:rPr>
              <a:t>daily roadshow open day</a:t>
            </a:r>
            <a:r>
              <a:rPr b="0" i="0" lang="en-US" sz="800" u="none" cap="none" strike="noStrike">
                <a:solidFill>
                  <a:srgbClr val="0F0F0F"/>
                </a:solidFill>
                <a:latin typeface="Inter Tight"/>
                <a:ea typeface="Inter Tight"/>
                <a:cs typeface="Inter Tight"/>
                <a:sym typeface="Inter Tight"/>
              </a:rPr>
              <a:t> </a:t>
            </a:r>
            <a:r>
              <a:rPr lang="en-US" sz="800">
                <a:solidFill>
                  <a:srgbClr val="0F0F0F"/>
                </a:solidFill>
                <a:latin typeface="Inter Tight"/>
                <a:ea typeface="Inter Tight"/>
                <a:cs typeface="Inter Tight"/>
                <a:sym typeface="Inter Tight"/>
              </a:rPr>
              <a:t>ad</a:t>
            </a:r>
            <a:r>
              <a:rPr b="0" i="0" lang="en-US" sz="800" u="none" cap="none" strike="noStrike">
                <a:solidFill>
                  <a:srgbClr val="0F0F0F"/>
                </a:solidFill>
                <a:latin typeface="Inter Tight"/>
                <a:ea typeface="Inter Tight"/>
                <a:cs typeface="Inter Tight"/>
                <a:sym typeface="Inter Tight"/>
              </a:rPr>
              <a:t> aimed at SPM and STPM leavers, absorbed RM 6,377.00. That is 52% of everything spent, and it returned 221 leads at RM 28.86, which is 24% </a:t>
            </a:r>
            <a:r>
              <a:rPr lang="en-US" sz="800">
                <a:solidFill>
                  <a:srgbClr val="0F0F0F"/>
                </a:solidFill>
                <a:latin typeface="Inter Tight"/>
                <a:ea typeface="Inter Tight"/>
                <a:cs typeface="Inter Tight"/>
                <a:sym typeface="Inter Tight"/>
              </a:rPr>
              <a:t>higher</a:t>
            </a:r>
            <a:r>
              <a:rPr b="0" i="0" lang="en-US" sz="800" u="none" cap="none" strike="noStrike">
                <a:solidFill>
                  <a:srgbClr val="0F0F0F"/>
                </a:solidFill>
                <a:latin typeface="Inter Tight"/>
                <a:ea typeface="Inter Tight"/>
                <a:cs typeface="Inter Tight"/>
                <a:sym typeface="Inter Tight"/>
              </a:rPr>
              <a:t> than the account average. Over the same period six other ads produced leads under RM 20 each while sharing 22% of the budget between them.</a:t>
            </a:r>
            <a:endParaRPr b="0" i="0" sz="800" u="none" cap="none" strike="noStrike">
              <a:solidFill>
                <a:schemeClr val="dk1"/>
              </a:solidFill>
              <a:latin typeface="Calibri"/>
              <a:ea typeface="Calibri"/>
              <a:cs typeface="Calibri"/>
              <a:sym typeface="Calibri"/>
            </a:endParaRPr>
          </a:p>
        </p:txBody>
      </p:sp>
      <p:sp>
        <p:nvSpPr>
          <p:cNvPr id="122" name="Google Shape;122;p7"/>
          <p:cNvSpPr/>
          <p:nvPr/>
        </p:nvSpPr>
        <p:spPr>
          <a:xfrm>
            <a:off x="457200" y="4114800"/>
            <a:ext cx="8229600" cy="310896"/>
          </a:xfrm>
          <a:prstGeom prst="rect">
            <a:avLst/>
          </a:prstGeom>
          <a:solidFill>
            <a:srgbClr val="3056C9"/>
          </a:solidFill>
          <a:ln cap="flat" cmpd="sng" w="12700">
            <a:solidFill>
              <a:srgbClr val="3056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
          <p:cNvSpPr/>
          <p:nvPr/>
        </p:nvSpPr>
        <p:spPr>
          <a:xfrm>
            <a:off x="603504" y="4114800"/>
            <a:ext cx="7936992"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800"/>
              <a:buFont typeface="Inter Tight"/>
              <a:buNone/>
            </a:pPr>
            <a:r>
              <a:rPr b="1" i="0" lang="en-US" sz="800" u="none" cap="none" strike="noStrike">
                <a:solidFill>
                  <a:srgbClr val="FFFFFF"/>
                </a:solidFill>
                <a:latin typeface="Inter Tight"/>
                <a:ea typeface="Inter Tight"/>
                <a:cs typeface="Inter Tight"/>
                <a:sym typeface="Inter Tight"/>
              </a:rPr>
              <a:t>Account averages  |  Hook rate 17.5%  |  Hold rate 31.6%  |  Frequency 3.02  |  CPM RM 7.08  |  CPC RM 0.86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g3f61e30a597_0_1"/>
          <p:cNvSpPr/>
          <p:nvPr/>
        </p:nvSpPr>
        <p:spPr>
          <a:xfrm>
            <a:off x="5394960" y="219456"/>
            <a:ext cx="3291900" cy="2013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130" name="Google Shape;130;g3f61e30a597_0_1"/>
          <p:cNvSpPr/>
          <p:nvPr/>
        </p:nvSpPr>
        <p:spPr>
          <a:xfrm>
            <a:off x="457200" y="420624"/>
            <a:ext cx="8229600" cy="347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lang="en-US" sz="2150">
                <a:solidFill>
                  <a:srgbClr val="4A7BF7"/>
                </a:solidFill>
                <a:latin typeface="Inter Tight"/>
                <a:ea typeface="Inter Tight"/>
                <a:cs typeface="Inter Tight"/>
                <a:sym typeface="Inter Tight"/>
              </a:rPr>
              <a:t>Preview of the ad concepts</a:t>
            </a:r>
            <a:endParaRPr b="0" i="0" sz="2150" u="none" cap="none" strike="noStrike">
              <a:solidFill>
                <a:schemeClr val="dk1"/>
              </a:solidFill>
              <a:latin typeface="Calibri"/>
              <a:ea typeface="Calibri"/>
              <a:cs typeface="Calibri"/>
              <a:sym typeface="Calibri"/>
            </a:endParaRPr>
          </a:p>
        </p:txBody>
      </p:sp>
      <p:pic>
        <p:nvPicPr>
          <p:cNvPr id="131" name="Google Shape;131;g3f61e30a597_0_1"/>
          <p:cNvPicPr preferRelativeResize="0"/>
          <p:nvPr/>
        </p:nvPicPr>
        <p:blipFill>
          <a:blip r:embed="rId3">
            <a:alphaModFix/>
          </a:blip>
          <a:stretch>
            <a:fillRect/>
          </a:stretch>
        </p:blipFill>
        <p:spPr>
          <a:xfrm>
            <a:off x="1361575" y="859575"/>
            <a:ext cx="1493625" cy="3334725"/>
          </a:xfrm>
          <a:prstGeom prst="rect">
            <a:avLst/>
          </a:prstGeom>
          <a:noFill/>
          <a:ln>
            <a:noFill/>
          </a:ln>
        </p:spPr>
      </p:pic>
      <p:sp>
        <p:nvSpPr>
          <p:cNvPr id="132" name="Google Shape;132;g3f61e30a597_0_1"/>
          <p:cNvSpPr txBox="1"/>
          <p:nvPr/>
        </p:nvSpPr>
        <p:spPr>
          <a:xfrm>
            <a:off x="1361575" y="4333250"/>
            <a:ext cx="1493700" cy="330900"/>
          </a:xfrm>
          <a:prstGeom prst="rect">
            <a:avLst/>
          </a:prstGeom>
          <a:solidFill>
            <a:srgbClr val="4A7BF7"/>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950">
                <a:solidFill>
                  <a:schemeClr val="lt1"/>
                </a:solidFill>
                <a:latin typeface="Inter Tight"/>
                <a:ea typeface="Inter Tight"/>
                <a:cs typeface="Inter Tight"/>
                <a:sym typeface="Inter Tight"/>
              </a:rPr>
              <a:t>Roadshow Poster</a:t>
            </a:r>
            <a:endParaRPr b="1" sz="950">
              <a:solidFill>
                <a:schemeClr val="lt1"/>
              </a:solidFill>
              <a:latin typeface="Inter Tight"/>
              <a:ea typeface="Inter Tight"/>
              <a:cs typeface="Inter Tight"/>
              <a:sym typeface="Inter Tight"/>
            </a:endParaRPr>
          </a:p>
        </p:txBody>
      </p:sp>
      <p:pic>
        <p:nvPicPr>
          <p:cNvPr id="133" name="Google Shape;133;g3f61e30a597_0_1"/>
          <p:cNvPicPr preferRelativeResize="0"/>
          <p:nvPr/>
        </p:nvPicPr>
        <p:blipFill>
          <a:blip r:embed="rId4">
            <a:alphaModFix/>
          </a:blip>
          <a:stretch>
            <a:fillRect/>
          </a:stretch>
        </p:blipFill>
        <p:spPr>
          <a:xfrm>
            <a:off x="3825175" y="859575"/>
            <a:ext cx="1493625" cy="3320261"/>
          </a:xfrm>
          <a:prstGeom prst="rect">
            <a:avLst/>
          </a:prstGeom>
          <a:noFill/>
          <a:ln>
            <a:noFill/>
          </a:ln>
        </p:spPr>
      </p:pic>
      <p:sp>
        <p:nvSpPr>
          <p:cNvPr id="134" name="Google Shape;134;g3f61e30a597_0_1"/>
          <p:cNvSpPr txBox="1"/>
          <p:nvPr/>
        </p:nvSpPr>
        <p:spPr>
          <a:xfrm>
            <a:off x="3825138" y="4333250"/>
            <a:ext cx="1493700" cy="330900"/>
          </a:xfrm>
          <a:prstGeom prst="rect">
            <a:avLst/>
          </a:prstGeom>
          <a:solidFill>
            <a:srgbClr val="4A7BF7"/>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950">
                <a:solidFill>
                  <a:schemeClr val="lt1"/>
                </a:solidFill>
                <a:latin typeface="Inter Tight"/>
                <a:ea typeface="Inter Tight"/>
                <a:cs typeface="Inter Tight"/>
                <a:sym typeface="Inter Tight"/>
              </a:rPr>
              <a:t>Daily Roadshow</a:t>
            </a:r>
            <a:endParaRPr b="1" sz="950">
              <a:solidFill>
                <a:schemeClr val="lt1"/>
              </a:solidFill>
              <a:latin typeface="Inter Tight"/>
              <a:ea typeface="Inter Tight"/>
              <a:cs typeface="Inter Tight"/>
              <a:sym typeface="Inter Tight"/>
            </a:endParaRPr>
          </a:p>
        </p:txBody>
      </p:sp>
      <p:pic>
        <p:nvPicPr>
          <p:cNvPr id="135" name="Google Shape;135;g3f61e30a597_0_1"/>
          <p:cNvPicPr preferRelativeResize="0"/>
          <p:nvPr/>
        </p:nvPicPr>
        <p:blipFill>
          <a:blip r:embed="rId5">
            <a:alphaModFix/>
          </a:blip>
          <a:stretch>
            <a:fillRect/>
          </a:stretch>
        </p:blipFill>
        <p:spPr>
          <a:xfrm>
            <a:off x="6288725" y="859575"/>
            <a:ext cx="1493625" cy="3320250"/>
          </a:xfrm>
          <a:prstGeom prst="rect">
            <a:avLst/>
          </a:prstGeom>
          <a:noFill/>
          <a:ln>
            <a:noFill/>
          </a:ln>
        </p:spPr>
      </p:pic>
      <p:sp>
        <p:nvSpPr>
          <p:cNvPr id="136" name="Google Shape;136;g3f61e30a597_0_1"/>
          <p:cNvSpPr txBox="1"/>
          <p:nvPr/>
        </p:nvSpPr>
        <p:spPr>
          <a:xfrm>
            <a:off x="6288713" y="4333250"/>
            <a:ext cx="1493700" cy="330900"/>
          </a:xfrm>
          <a:prstGeom prst="rect">
            <a:avLst/>
          </a:prstGeom>
          <a:solidFill>
            <a:srgbClr val="4A7BF7"/>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950">
                <a:solidFill>
                  <a:schemeClr val="lt1"/>
                </a:solidFill>
                <a:latin typeface="Inter Tight"/>
                <a:ea typeface="Inter Tight"/>
                <a:cs typeface="Inter Tight"/>
                <a:sym typeface="Inter Tight"/>
              </a:rPr>
              <a:t>Last July Intake</a:t>
            </a:r>
            <a:endParaRPr b="1" sz="950">
              <a:solidFill>
                <a:schemeClr val="lt1"/>
              </a:solidFill>
              <a:latin typeface="Inter Tight"/>
              <a:ea typeface="Inter Tight"/>
              <a:cs typeface="Inter Tight"/>
              <a:sym typeface="Inter T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 name="Shape 141"/>
        <p:cNvGrpSpPr/>
        <p:nvPr/>
      </p:nvGrpSpPr>
      <p:grpSpPr>
        <a:xfrm>
          <a:off x="0" y="0"/>
          <a:ext cx="0" cy="0"/>
          <a:chOff x="0" y="0"/>
          <a:chExt cx="0" cy="0"/>
        </a:xfrm>
      </p:grpSpPr>
      <p:sp>
        <p:nvSpPr>
          <p:cNvPr id="142" name="Google Shape;142;p8"/>
          <p:cNvSpPr/>
          <p:nvPr/>
        </p:nvSpPr>
        <p:spPr>
          <a:xfrm>
            <a:off x="5394960" y="219456"/>
            <a:ext cx="329184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143" name="Google Shape;143;p8"/>
          <p:cNvSpPr/>
          <p:nvPr/>
        </p:nvSpPr>
        <p:spPr>
          <a:xfrm>
            <a:off x="457200" y="420624"/>
            <a:ext cx="8229600" cy="3474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Hook rate is the strongest creative signal in the account</a:t>
            </a:r>
            <a:endParaRPr b="0" i="0" sz="2150" u="none" cap="none" strike="noStrike">
              <a:solidFill>
                <a:schemeClr val="dk1"/>
              </a:solidFill>
              <a:latin typeface="Calibri"/>
              <a:ea typeface="Calibri"/>
              <a:cs typeface="Calibri"/>
              <a:sym typeface="Calibri"/>
            </a:endParaRPr>
          </a:p>
        </p:txBody>
      </p:sp>
      <p:sp>
        <p:nvSpPr>
          <p:cNvPr id="144" name="Google Shape;144;p8"/>
          <p:cNvSpPr/>
          <p:nvPr/>
        </p:nvSpPr>
        <p:spPr>
          <a:xfrm>
            <a:off x="457200" y="804672"/>
            <a:ext cx="8229600" cy="38404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50"/>
              <a:buFont typeface="Inter Tight"/>
              <a:buNone/>
            </a:pPr>
            <a:r>
              <a:rPr b="0" i="0" lang="en-US" sz="850" u="none" cap="none" strike="noStrike">
                <a:solidFill>
                  <a:srgbClr val="4A4A4A"/>
                </a:solidFill>
                <a:latin typeface="Inter Tight"/>
                <a:ea typeface="Inter Tight"/>
                <a:cs typeface="Inter Tight"/>
                <a:sym typeface="Inter Tight"/>
              </a:rPr>
              <a:t>Hook rate is the share of viewers who stay past the opening seconds. It separates </a:t>
            </a:r>
            <a:r>
              <a:rPr lang="en-US" sz="850">
                <a:solidFill>
                  <a:srgbClr val="4A4A4A"/>
                </a:solidFill>
                <a:latin typeface="Inter Tight"/>
                <a:ea typeface="Inter Tight"/>
                <a:cs typeface="Inter Tight"/>
                <a:sym typeface="Inter Tight"/>
              </a:rPr>
              <a:t>cost-effective </a:t>
            </a:r>
            <a:r>
              <a:rPr b="0" i="0" lang="en-US" sz="850" u="none" cap="none" strike="noStrike">
                <a:solidFill>
                  <a:srgbClr val="4A4A4A"/>
                </a:solidFill>
                <a:latin typeface="Inter Tight"/>
                <a:ea typeface="Inter Tight"/>
                <a:cs typeface="Inter Tight"/>
                <a:sym typeface="Inter Tight"/>
              </a:rPr>
              <a:t>leads from expensive ones more cleanly than any other creative metric here.</a:t>
            </a:r>
            <a:endParaRPr b="0" i="0" sz="850" u="none" cap="none" strike="noStrike">
              <a:solidFill>
                <a:schemeClr val="dk1"/>
              </a:solidFill>
              <a:latin typeface="Calibri"/>
              <a:ea typeface="Calibri"/>
              <a:cs typeface="Calibri"/>
              <a:sym typeface="Calibri"/>
            </a:endParaRPr>
          </a:p>
        </p:txBody>
      </p:sp>
      <p:sp>
        <p:nvSpPr>
          <p:cNvPr id="145" name="Google Shape;145;p8"/>
          <p:cNvSpPr/>
          <p:nvPr/>
        </p:nvSpPr>
        <p:spPr>
          <a:xfrm>
            <a:off x="457200" y="1280160"/>
            <a:ext cx="3977640" cy="932688"/>
          </a:xfrm>
          <a:prstGeom prst="roundRect">
            <a:avLst>
              <a:gd fmla="val 9035"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457200" y="1280160"/>
            <a:ext cx="3977640" cy="50292"/>
          </a:xfrm>
          <a:prstGeom prst="rect">
            <a:avLst/>
          </a:prstGeom>
          <a:solidFill>
            <a:srgbClr val="2ECC9B"/>
          </a:solidFill>
          <a:ln cap="flat" cmpd="sng" w="12700">
            <a:solidFill>
              <a:srgbClr val="2ECC9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585216" y="1435608"/>
            <a:ext cx="3721608" cy="40233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4A7BF7"/>
              </a:buClr>
              <a:buSzPts val="2500"/>
              <a:buFont typeface="Inter Tight"/>
              <a:buNone/>
            </a:pPr>
            <a:r>
              <a:rPr b="1" i="0" lang="en-US" sz="2500" u="none" cap="none" strike="noStrike">
                <a:solidFill>
                  <a:srgbClr val="4A7BF7"/>
                </a:solidFill>
                <a:latin typeface="Inter Tight"/>
                <a:ea typeface="Inter Tight"/>
                <a:cs typeface="Inter Tight"/>
                <a:sym typeface="Inter Tight"/>
              </a:rPr>
              <a:t>RM 15.08</a:t>
            </a:r>
            <a:endParaRPr b="0" i="0" sz="2500" u="none" cap="none" strike="noStrike">
              <a:solidFill>
                <a:schemeClr val="dk1"/>
              </a:solidFill>
              <a:latin typeface="Calibri"/>
              <a:ea typeface="Calibri"/>
              <a:cs typeface="Calibri"/>
              <a:sym typeface="Calibri"/>
            </a:endParaRPr>
          </a:p>
        </p:txBody>
      </p:sp>
      <p:sp>
        <p:nvSpPr>
          <p:cNvPr id="148" name="Google Shape;148;p8"/>
          <p:cNvSpPr/>
          <p:nvPr/>
        </p:nvSpPr>
        <p:spPr>
          <a:xfrm>
            <a:off x="585216" y="1883664"/>
            <a:ext cx="3721608" cy="18288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800"/>
              <a:buFont typeface="Inter Tight"/>
              <a:buNone/>
            </a:pPr>
            <a:r>
              <a:rPr b="1" i="0" lang="en-US" sz="800" u="none" cap="none" strike="noStrike">
                <a:solidFill>
                  <a:srgbClr val="0F0F0F"/>
                </a:solidFill>
                <a:latin typeface="Inter Tight"/>
                <a:ea typeface="Inter Tight"/>
                <a:cs typeface="Inter Tight"/>
                <a:sym typeface="Inter Tight"/>
              </a:rPr>
              <a:t>Cost per lead across the five ads with hook rate at or above 26%</a:t>
            </a:r>
            <a:endParaRPr b="0" i="0" sz="800" u="none" cap="none" strike="noStrike">
              <a:solidFill>
                <a:schemeClr val="dk1"/>
              </a:solidFill>
              <a:latin typeface="Calibri"/>
              <a:ea typeface="Calibri"/>
              <a:cs typeface="Calibri"/>
              <a:sym typeface="Calibri"/>
            </a:endParaRPr>
          </a:p>
        </p:txBody>
      </p:sp>
      <p:sp>
        <p:nvSpPr>
          <p:cNvPr id="149" name="Google Shape;149;p8"/>
          <p:cNvSpPr/>
          <p:nvPr/>
        </p:nvSpPr>
        <p:spPr>
          <a:xfrm>
            <a:off x="4709160" y="1280160"/>
            <a:ext cx="3977640" cy="932688"/>
          </a:xfrm>
          <a:prstGeom prst="roundRect">
            <a:avLst>
              <a:gd fmla="val 9035"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a:off x="4709160" y="1280160"/>
            <a:ext cx="3977640" cy="50292"/>
          </a:xfrm>
          <a:prstGeom prst="rect">
            <a:avLst/>
          </a:prstGeom>
          <a:solidFill>
            <a:srgbClr val="F28B4C"/>
          </a:solidFill>
          <a:ln cap="flat" cmpd="sng" w="12700">
            <a:solidFill>
              <a:srgbClr val="F28B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8"/>
          <p:cNvSpPr/>
          <p:nvPr/>
        </p:nvSpPr>
        <p:spPr>
          <a:xfrm>
            <a:off x="4837176" y="1435608"/>
            <a:ext cx="3721608" cy="40233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2500"/>
              <a:buFont typeface="Inter Tight"/>
              <a:buNone/>
            </a:pPr>
            <a:r>
              <a:rPr b="1" i="0" lang="en-US" sz="2500" u="none" cap="none" strike="noStrike">
                <a:solidFill>
                  <a:srgbClr val="0F0F0F"/>
                </a:solidFill>
                <a:latin typeface="Inter Tight"/>
                <a:ea typeface="Inter Tight"/>
                <a:cs typeface="Inter Tight"/>
                <a:sym typeface="Inter Tight"/>
              </a:rPr>
              <a:t>RM 24.00</a:t>
            </a:r>
            <a:endParaRPr b="0" i="0" sz="2500" u="none" cap="none" strike="noStrike">
              <a:solidFill>
                <a:schemeClr val="dk1"/>
              </a:solidFill>
              <a:latin typeface="Calibri"/>
              <a:ea typeface="Calibri"/>
              <a:cs typeface="Calibri"/>
              <a:sym typeface="Calibri"/>
            </a:endParaRPr>
          </a:p>
        </p:txBody>
      </p:sp>
      <p:sp>
        <p:nvSpPr>
          <p:cNvPr id="152" name="Google Shape;152;p8"/>
          <p:cNvSpPr/>
          <p:nvPr/>
        </p:nvSpPr>
        <p:spPr>
          <a:xfrm>
            <a:off x="4837176" y="1883664"/>
            <a:ext cx="3721608" cy="18288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800"/>
              <a:buFont typeface="Inter Tight"/>
              <a:buNone/>
            </a:pPr>
            <a:r>
              <a:rPr b="1" i="0" lang="en-US" sz="800" u="none" cap="none" strike="noStrike">
                <a:solidFill>
                  <a:srgbClr val="0F0F0F"/>
                </a:solidFill>
                <a:latin typeface="Inter Tight"/>
                <a:ea typeface="Inter Tight"/>
                <a:cs typeface="Inter Tight"/>
                <a:sym typeface="Inter Tight"/>
              </a:rPr>
              <a:t>Cost per lead across the nine ads with hook rate at or below 13%</a:t>
            </a:r>
            <a:endParaRPr b="0" i="0" sz="800" u="none" cap="none" strike="noStrike">
              <a:solidFill>
                <a:schemeClr val="dk1"/>
              </a:solidFill>
              <a:latin typeface="Calibri"/>
              <a:ea typeface="Calibri"/>
              <a:cs typeface="Calibri"/>
              <a:sym typeface="Calibri"/>
            </a:endParaRPr>
          </a:p>
        </p:txBody>
      </p:sp>
      <p:sp>
        <p:nvSpPr>
          <p:cNvPr id="153" name="Google Shape;153;p8"/>
          <p:cNvSpPr/>
          <p:nvPr/>
        </p:nvSpPr>
        <p:spPr>
          <a:xfrm>
            <a:off x="457200" y="2286000"/>
            <a:ext cx="8229600" cy="20116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800"/>
              <a:buFont typeface="Inter Tight"/>
              <a:buNone/>
            </a:pPr>
            <a:r>
              <a:rPr b="1" i="0" lang="en-US" sz="800" u="none" cap="none" strike="noStrike">
                <a:solidFill>
                  <a:srgbClr val="0F0F0F"/>
                </a:solidFill>
                <a:latin typeface="Inter Tight"/>
                <a:ea typeface="Inter Tight"/>
                <a:cs typeface="Inter Tight"/>
                <a:sym typeface="Inter Tight"/>
              </a:rPr>
              <a:t>The weakest hooks cost 59% more per lead than the strongest. Every ad below carries its hook rate, and the pattern holds down the table.</a:t>
            </a:r>
            <a:endParaRPr b="0" i="0" sz="800" u="none" cap="none" strike="noStrike">
              <a:solidFill>
                <a:schemeClr val="dk1"/>
              </a:solidFill>
              <a:latin typeface="Calibri"/>
              <a:ea typeface="Calibri"/>
              <a:cs typeface="Calibri"/>
              <a:sym typeface="Calibri"/>
            </a:endParaRPr>
          </a:p>
        </p:txBody>
      </p:sp>
      <p:graphicFrame>
        <p:nvGraphicFramePr>
          <p:cNvPr id="154" name="Google Shape;154;p8"/>
          <p:cNvGraphicFramePr/>
          <p:nvPr/>
        </p:nvGraphicFramePr>
        <p:xfrm>
          <a:off x="457200" y="2542032"/>
          <a:ext cx="3000000" cy="3000000"/>
        </p:xfrm>
        <a:graphic>
          <a:graphicData uri="http://schemas.openxmlformats.org/drawingml/2006/table">
            <a:tbl>
              <a:tblPr>
                <a:noFill/>
                <a:tableStyleId>{DA89EFAE-9271-447B-A4AB-8F31947992DB}</a:tableStyleId>
              </a:tblPr>
              <a:tblGrid>
                <a:gridCol w="3017525"/>
                <a:gridCol w="1143000"/>
                <a:gridCol w="731525"/>
                <a:gridCol w="1188725"/>
                <a:gridCol w="960125"/>
                <a:gridCol w="1188725"/>
              </a:tblGrid>
              <a:tr h="214875">
                <a:tc>
                  <a:txBody>
                    <a:bodyPr/>
                    <a:lstStyle/>
                    <a:p>
                      <a:pPr indent="0" lvl="0" marL="0" marR="0" rtl="0" algn="l">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Ad</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r">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Spend</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r">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Leads</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r">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Cost per lead</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r">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CTR</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r">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Hook rate</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r>
              <a:tr h="214875">
                <a:tc>
                  <a:txBody>
                    <a:bodyPr/>
                    <a:lstStyle/>
                    <a:p>
                      <a:pPr indent="0" lvl="0" marL="0" marR="0" rtl="0" algn="l">
                        <a:spcBef>
                          <a:spcPts val="0"/>
                        </a:spcBef>
                        <a:spcAft>
                          <a:spcPts val="0"/>
                        </a:spcAft>
                        <a:buClr>
                          <a:srgbClr val="4A4A4A"/>
                        </a:buClr>
                        <a:buSzPts val="750"/>
                        <a:buFont typeface="Inter Tight"/>
                        <a:buNone/>
                      </a:pPr>
                      <a:r>
                        <a:rPr lang="en-US" sz="750" u="sng" cap="none" strike="noStrike">
                          <a:solidFill>
                            <a:schemeClr val="hlink"/>
                          </a:solidFill>
                          <a:latin typeface="Inter Tight"/>
                          <a:ea typeface="Inter Tight"/>
                          <a:cs typeface="Inter Tight"/>
                          <a:sym typeface="Inter Tight"/>
                          <a:hlinkClick r:id="rId3"/>
                        </a:rPr>
                        <a:t>Roadshow poster</a:t>
                      </a:r>
                      <a:r>
                        <a:rPr lang="en-US" sz="750" u="none" cap="none" strike="noStrike">
                          <a:solidFill>
                            <a:srgbClr val="4A4A4A"/>
                          </a:solidFill>
                          <a:latin typeface="Inter Tight"/>
                          <a:ea typeface="Inter Tight"/>
                          <a:cs typeface="Inter Tight"/>
                          <a:sym typeface="Inter Tight"/>
                        </a:rPr>
                        <a:t>, final year STPM</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351.60</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29</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7BF7"/>
                        </a:buClr>
                        <a:buSzPts val="750"/>
                        <a:buFont typeface="Inter Tight"/>
                        <a:buNone/>
                      </a:pPr>
                      <a:r>
                        <a:rPr b="1" lang="en-US" sz="750" u="none" cap="none" strike="noStrike">
                          <a:solidFill>
                            <a:srgbClr val="4A7BF7"/>
                          </a:solidFill>
                          <a:latin typeface="Inter Tight"/>
                          <a:ea typeface="Inter Tight"/>
                          <a:cs typeface="Inter Tight"/>
                          <a:sym typeface="Inter Tight"/>
                        </a:rPr>
                        <a:t>RM 12.12</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3.06%</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26.1%</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r h="214875">
                <a:tc>
                  <a:txBody>
                    <a:bodyPr/>
                    <a:lstStyle/>
                    <a:p>
                      <a:pPr indent="0" lvl="0" marL="0" marR="0" rtl="0" algn="l">
                        <a:spcBef>
                          <a:spcPts val="0"/>
                        </a:spcBef>
                        <a:spcAft>
                          <a:spcPts val="0"/>
                        </a:spcAft>
                        <a:buClr>
                          <a:srgbClr val="4A4A4A"/>
                        </a:buClr>
                        <a:buSzPts val="750"/>
                        <a:buFont typeface="Inter Tight"/>
                        <a:buNone/>
                      </a:pPr>
                      <a:r>
                        <a:rPr lang="en-US" sz="750" u="sng" cap="none" strike="noStrike">
                          <a:solidFill>
                            <a:schemeClr val="hlink"/>
                          </a:solidFill>
                          <a:latin typeface="Inter Tight"/>
                          <a:ea typeface="Inter Tight"/>
                          <a:cs typeface="Inter Tight"/>
                          <a:sym typeface="Inter Tight"/>
                          <a:hlinkClick r:id="rId4"/>
                        </a:rPr>
                        <a:t>Daily roadshow</a:t>
                      </a:r>
                      <a:r>
                        <a:rPr lang="en-US" sz="750" u="none" cap="none" strike="noStrike">
                          <a:solidFill>
                            <a:srgbClr val="4A4A4A"/>
                          </a:solidFill>
                          <a:latin typeface="Inter Tight"/>
                          <a:ea typeface="Inter Tight"/>
                          <a:cs typeface="Inter Tight"/>
                          <a:sym typeface="Inter Tight"/>
                        </a:rPr>
                        <a:t>, open day, final year STPM</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392.22</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32</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3056C9"/>
                        </a:buClr>
                        <a:buSzPts val="750"/>
                        <a:buFont typeface="Inter Tight"/>
                        <a:buNone/>
                      </a:pPr>
                      <a:r>
                        <a:rPr b="1" lang="en-US" sz="750" u="none" cap="none" strike="noStrike">
                          <a:solidFill>
                            <a:srgbClr val="3056C9"/>
                          </a:solidFill>
                          <a:latin typeface="Inter Tight"/>
                          <a:ea typeface="Inter Tight"/>
                          <a:cs typeface="Inter Tight"/>
                          <a:sym typeface="Inter Tight"/>
                        </a:rPr>
                        <a:t>RM 12.26</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1.11%</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38.3%</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r>
              <a:tr h="214875">
                <a:tc>
                  <a:txBody>
                    <a:bodyPr/>
                    <a:lstStyle/>
                    <a:p>
                      <a:pPr indent="0" lvl="0" marL="0" marR="0" rtl="0" algn="l">
                        <a:spcBef>
                          <a:spcPts val="0"/>
                        </a:spcBef>
                        <a:spcAft>
                          <a:spcPts val="0"/>
                        </a:spcAft>
                        <a:buClr>
                          <a:srgbClr val="4A4A4A"/>
                        </a:buClr>
                        <a:buSzPts val="750"/>
                        <a:buFont typeface="Inter Tight"/>
                        <a:buNone/>
                      </a:pPr>
                      <a:r>
                        <a:rPr lang="en-US" sz="750" u="sng" cap="none" strike="noStrike">
                          <a:solidFill>
                            <a:schemeClr val="hlink"/>
                          </a:solidFill>
                          <a:latin typeface="Inter Tight"/>
                          <a:ea typeface="Inter Tight"/>
                          <a:cs typeface="Inter Tight"/>
                          <a:sym typeface="Inter Tight"/>
                          <a:hlinkClick r:id="rId5"/>
                        </a:rPr>
                        <a:t>Daily roadshow</a:t>
                      </a:r>
                      <a:r>
                        <a:rPr lang="en-US" sz="750" u="none" cap="none" strike="noStrike">
                          <a:solidFill>
                            <a:srgbClr val="4A4A4A"/>
                          </a:solidFill>
                          <a:latin typeface="Inter Tight"/>
                          <a:ea typeface="Inter Tight"/>
                          <a:cs typeface="Inter Tight"/>
                          <a:sym typeface="Inter Tight"/>
                        </a:rPr>
                        <a:t>, open day, parents</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236.67</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19</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3056C9"/>
                        </a:buClr>
                        <a:buSzPts val="750"/>
                        <a:buFont typeface="Inter Tight"/>
                        <a:buNone/>
                      </a:pPr>
                      <a:r>
                        <a:rPr b="1" lang="en-US" sz="750" u="none" cap="none" strike="noStrike">
                          <a:solidFill>
                            <a:srgbClr val="3056C9"/>
                          </a:solidFill>
                          <a:latin typeface="Inter Tight"/>
                          <a:ea typeface="Inter Tight"/>
                          <a:cs typeface="Inter Tight"/>
                          <a:sym typeface="Inter Tight"/>
                        </a:rPr>
                        <a:t>RM 12.46</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1.63%</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34.5%</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r h="214875">
                <a:tc>
                  <a:txBody>
                    <a:bodyPr/>
                    <a:lstStyle/>
                    <a:p>
                      <a:pPr indent="0" lvl="0" marL="0" marR="0" rtl="0" algn="l">
                        <a:spcBef>
                          <a:spcPts val="0"/>
                        </a:spcBef>
                        <a:spcAft>
                          <a:spcPts val="0"/>
                        </a:spcAft>
                        <a:buClr>
                          <a:srgbClr val="4A4A4A"/>
                        </a:buClr>
                        <a:buSzPts val="750"/>
                        <a:buFont typeface="Inter Tight"/>
                        <a:buNone/>
                      </a:pPr>
                      <a:r>
                        <a:rPr lang="en-US" sz="750" u="sng" cap="none" strike="noStrike">
                          <a:solidFill>
                            <a:schemeClr val="hlink"/>
                          </a:solidFill>
                          <a:latin typeface="Inter Tight"/>
                          <a:ea typeface="Inter Tight"/>
                          <a:cs typeface="Inter Tight"/>
                          <a:sym typeface="Inter Tight"/>
                          <a:hlinkClick r:id="rId6"/>
                        </a:rPr>
                        <a:t>Roadshow poster</a:t>
                      </a:r>
                      <a:r>
                        <a:rPr lang="en-US" sz="750" u="none" cap="none" strike="noStrike">
                          <a:solidFill>
                            <a:srgbClr val="4A4A4A"/>
                          </a:solidFill>
                          <a:latin typeface="Inter Tight"/>
                          <a:ea typeface="Inter Tight"/>
                          <a:cs typeface="Inter Tight"/>
                          <a:sym typeface="Inter Tight"/>
                        </a:rPr>
                        <a:t>, final year parents</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768.05</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43</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3056C9"/>
                        </a:buClr>
                        <a:buSzPts val="750"/>
                        <a:buFont typeface="Inter Tight"/>
                        <a:buNone/>
                      </a:pPr>
                      <a:r>
                        <a:rPr b="1" lang="en-US" sz="750" u="none" cap="none" strike="noStrike">
                          <a:solidFill>
                            <a:srgbClr val="3056C9"/>
                          </a:solidFill>
                          <a:latin typeface="Inter Tight"/>
                          <a:ea typeface="Inter Tight"/>
                          <a:cs typeface="Inter Tight"/>
                          <a:sym typeface="Inter Tight"/>
                        </a:rPr>
                        <a:t>RM 17.86</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3.85%</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26.9%</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r>
              <a:tr h="214875">
                <a:tc>
                  <a:txBody>
                    <a:bodyPr/>
                    <a:lstStyle/>
                    <a:p>
                      <a:pPr indent="0" lvl="0" marL="0" marR="0" rtl="0" algn="l">
                        <a:spcBef>
                          <a:spcPts val="0"/>
                        </a:spcBef>
                        <a:spcAft>
                          <a:spcPts val="0"/>
                        </a:spcAft>
                        <a:buClr>
                          <a:srgbClr val="4A4A4A"/>
                        </a:buClr>
                        <a:buSzPts val="750"/>
                        <a:buFont typeface="Inter Tight"/>
                        <a:buNone/>
                      </a:pPr>
                      <a:r>
                        <a:rPr lang="en-US" sz="750" u="sng" cap="none" strike="noStrike">
                          <a:solidFill>
                            <a:schemeClr val="hlink"/>
                          </a:solidFill>
                          <a:latin typeface="Inter Tight"/>
                          <a:ea typeface="Inter Tight"/>
                          <a:cs typeface="Inter Tight"/>
                          <a:sym typeface="Inter Tight"/>
                          <a:hlinkClick r:id="rId7"/>
                        </a:rPr>
                        <a:t>Daily roadshow</a:t>
                      </a:r>
                      <a:r>
                        <a:rPr lang="en-US" sz="750" u="none" cap="none" strike="noStrike">
                          <a:solidFill>
                            <a:srgbClr val="4A4A4A"/>
                          </a:solidFill>
                          <a:latin typeface="Inter Tight"/>
                          <a:ea typeface="Inter Tight"/>
                          <a:cs typeface="Inter Tight"/>
                          <a:sym typeface="Inter Tight"/>
                        </a:rPr>
                        <a:t>, final year parents</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648.61</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36</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3056C9"/>
                        </a:buClr>
                        <a:buSzPts val="750"/>
                        <a:buFont typeface="Inter Tight"/>
                        <a:buNone/>
                      </a:pPr>
                      <a:r>
                        <a:rPr b="1" lang="en-US" sz="750" u="none" cap="none" strike="noStrike">
                          <a:solidFill>
                            <a:srgbClr val="3056C9"/>
                          </a:solidFill>
                          <a:latin typeface="Inter Tight"/>
                          <a:ea typeface="Inter Tight"/>
                          <a:cs typeface="Inter Tight"/>
                          <a:sym typeface="Inter Tight"/>
                        </a:rPr>
                        <a:t>RM 18.02</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2.42%</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29.4%</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r h="214875">
                <a:tc>
                  <a:txBody>
                    <a:bodyPr/>
                    <a:lstStyle/>
                    <a:p>
                      <a:pPr indent="0" lvl="0" marL="0" marR="0" rtl="0" algn="l">
                        <a:spcBef>
                          <a:spcPts val="0"/>
                        </a:spcBef>
                        <a:spcAft>
                          <a:spcPts val="0"/>
                        </a:spcAft>
                        <a:buClr>
                          <a:srgbClr val="4A4A4A"/>
                        </a:buClr>
                        <a:buSzPts val="750"/>
                        <a:buFont typeface="Inter Tight"/>
                        <a:buNone/>
                      </a:pPr>
                      <a:r>
                        <a:rPr lang="en-US" sz="750" u="sng" cap="none" strike="noStrike">
                          <a:solidFill>
                            <a:schemeClr val="hlink"/>
                          </a:solidFill>
                          <a:latin typeface="Inter Tight"/>
                          <a:ea typeface="Inter Tight"/>
                          <a:cs typeface="Inter Tight"/>
                          <a:sym typeface="Inter Tight"/>
                          <a:hlinkClick r:id="rId8"/>
                        </a:rPr>
                        <a:t>Daily roadshow</a:t>
                      </a:r>
                      <a:r>
                        <a:rPr lang="en-US" sz="750" u="none" cap="none" strike="noStrike">
                          <a:solidFill>
                            <a:srgbClr val="4A4A4A"/>
                          </a:solidFill>
                          <a:latin typeface="Inter Tight"/>
                          <a:ea typeface="Inter Tight"/>
                          <a:cs typeface="Inter Tight"/>
                          <a:sym typeface="Inter Tight"/>
                        </a:rPr>
                        <a:t>, open day, SPM and STPM leavers</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6,377.00</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221</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3056C9"/>
                        </a:buClr>
                        <a:buSzPts val="750"/>
                        <a:buFont typeface="Inter Tight"/>
                        <a:buNone/>
                      </a:pPr>
                      <a:r>
                        <a:rPr b="1" lang="en-US" sz="750" u="none" cap="none" strike="noStrike">
                          <a:solidFill>
                            <a:srgbClr val="3056C9"/>
                          </a:solidFill>
                          <a:latin typeface="Inter Tight"/>
                          <a:ea typeface="Inter Tight"/>
                          <a:cs typeface="Inter Tight"/>
                          <a:sym typeface="Inter Tight"/>
                        </a:rPr>
                        <a:t>RM 28.86</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0.47%</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19.8%</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r>
              <a:tr h="214875">
                <a:tc>
                  <a:txBody>
                    <a:bodyPr/>
                    <a:lstStyle/>
                    <a:p>
                      <a:pPr indent="0" lvl="0" marL="0" marR="0" rtl="0" algn="l">
                        <a:spcBef>
                          <a:spcPts val="0"/>
                        </a:spcBef>
                        <a:spcAft>
                          <a:spcPts val="0"/>
                        </a:spcAft>
                        <a:buClr>
                          <a:srgbClr val="4A4A4A"/>
                        </a:buClr>
                        <a:buSzPts val="750"/>
                        <a:buFont typeface="Inter Tight"/>
                        <a:buNone/>
                      </a:pPr>
                      <a:r>
                        <a:rPr lang="en-US" sz="750" u="sng" cap="none" strike="noStrike">
                          <a:solidFill>
                            <a:schemeClr val="hlink"/>
                          </a:solidFill>
                          <a:latin typeface="Inter Tight"/>
                          <a:ea typeface="Inter Tight"/>
                          <a:cs typeface="Inter Tight"/>
                          <a:sym typeface="Inter Tight"/>
                          <a:hlinkClick r:id="rId9"/>
                        </a:rPr>
                        <a:t>Last July intake</a:t>
                      </a:r>
                      <a:r>
                        <a:rPr lang="en-US" sz="750" u="none" cap="none" strike="noStrike">
                          <a:solidFill>
                            <a:srgbClr val="4A4A4A"/>
                          </a:solidFill>
                          <a:latin typeface="Inter Tight"/>
                          <a:ea typeface="Inter Tight"/>
                          <a:cs typeface="Inter Tight"/>
                          <a:sym typeface="Inter Tight"/>
                        </a:rPr>
                        <a:t>, final year STPM leavers</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RM 354.38</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10</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3056C9"/>
                        </a:buClr>
                        <a:buSzPts val="750"/>
                        <a:buFont typeface="Inter Tight"/>
                        <a:buNone/>
                      </a:pPr>
                      <a:r>
                        <a:rPr b="1" lang="en-US" sz="750" u="none" cap="none" strike="noStrike">
                          <a:solidFill>
                            <a:srgbClr val="3056C9"/>
                          </a:solidFill>
                          <a:latin typeface="Inter Tight"/>
                          <a:ea typeface="Inter Tight"/>
                          <a:cs typeface="Inter Tight"/>
                          <a:sym typeface="Inter Tight"/>
                        </a:rPr>
                        <a:t>RM 35.44</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1.05%</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4.0%</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bl>
          </a:graphicData>
        </a:graphic>
      </p:graphicFrame>
      <p:sp>
        <p:nvSpPr>
          <p:cNvPr id="155" name="Google Shape;155;p8"/>
          <p:cNvSpPr/>
          <p:nvPr/>
        </p:nvSpPr>
        <p:spPr>
          <a:xfrm>
            <a:off x="457200" y="4445418"/>
            <a:ext cx="8229600" cy="310800"/>
          </a:xfrm>
          <a:prstGeom prst="rect">
            <a:avLst/>
          </a:prstGeom>
          <a:solidFill>
            <a:srgbClr val="3056C9"/>
          </a:solidFill>
          <a:ln cap="flat" cmpd="sng" w="12700">
            <a:solidFill>
              <a:srgbClr val="3056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
          <p:cNvSpPr/>
          <p:nvPr/>
        </p:nvSpPr>
        <p:spPr>
          <a:xfrm>
            <a:off x="603504" y="4445418"/>
            <a:ext cx="7937100" cy="3108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800"/>
              <a:buFont typeface="Inter Tight"/>
              <a:buNone/>
            </a:pPr>
            <a:r>
              <a:rPr b="1" i="0" lang="en-US" sz="800" u="none" cap="none" strike="noStrike">
                <a:solidFill>
                  <a:srgbClr val="FFFFFF"/>
                </a:solidFill>
                <a:latin typeface="Inter Tight"/>
                <a:ea typeface="Inter Tight"/>
                <a:cs typeface="Inter Tight"/>
                <a:sym typeface="Inter Tight"/>
              </a:rPr>
              <a:t>What this gives us: a creative brief with a number attached. Judge every new video on hook rate in</a:t>
            </a:r>
            <a:r>
              <a:rPr b="1" lang="en-US" sz="800">
                <a:solidFill>
                  <a:srgbClr val="FFFFFF"/>
                </a:solidFill>
                <a:latin typeface="Inter Tight"/>
                <a:ea typeface="Inter Tight"/>
                <a:cs typeface="Inter Tight"/>
                <a:sym typeface="Inter Tight"/>
              </a:rPr>
              <a:t> 1 week</a:t>
            </a:r>
            <a:r>
              <a:rPr b="1" i="0" lang="en-US" sz="800" u="none" cap="none" strike="noStrike">
                <a:solidFill>
                  <a:srgbClr val="FFFFFF"/>
                </a:solidFill>
                <a:latin typeface="Inter Tight"/>
                <a:ea typeface="Inter Tight"/>
                <a:cs typeface="Inter Tight"/>
                <a:sym typeface="Inter Tight"/>
              </a:rPr>
              <a:t>, and kill anything under 15%.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p9"/>
          <p:cNvSpPr/>
          <p:nvPr/>
        </p:nvSpPr>
        <p:spPr>
          <a:xfrm>
            <a:off x="5394960" y="219456"/>
            <a:ext cx="329184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163" name="Google Shape;163;p9"/>
          <p:cNvSpPr/>
          <p:nvPr/>
        </p:nvSpPr>
        <p:spPr>
          <a:xfrm>
            <a:off x="457200" y="420624"/>
            <a:ext cx="8229600" cy="3474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What is working, and what is not</a:t>
            </a:r>
            <a:endParaRPr b="0" i="0" sz="2150" u="none" cap="none" strike="noStrike">
              <a:solidFill>
                <a:schemeClr val="dk1"/>
              </a:solidFill>
              <a:latin typeface="Calibri"/>
              <a:ea typeface="Calibri"/>
              <a:cs typeface="Calibri"/>
              <a:sym typeface="Calibri"/>
            </a:endParaRPr>
          </a:p>
        </p:txBody>
      </p:sp>
      <p:sp>
        <p:nvSpPr>
          <p:cNvPr id="164" name="Google Shape;164;p9"/>
          <p:cNvSpPr/>
          <p:nvPr/>
        </p:nvSpPr>
        <p:spPr>
          <a:xfrm>
            <a:off x="457200" y="804672"/>
            <a:ext cx="8229600" cy="38404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50"/>
              <a:buFont typeface="Inter Tight"/>
              <a:buNone/>
            </a:pPr>
            <a:r>
              <a:rPr b="0" i="0" lang="en-US" sz="850" u="none" cap="none" strike="noStrike">
                <a:solidFill>
                  <a:srgbClr val="4A4A4A"/>
                </a:solidFill>
                <a:latin typeface="Inter Tight"/>
                <a:ea typeface="Inter Tight"/>
                <a:cs typeface="Inter Tight"/>
                <a:sym typeface="Inter Tight"/>
              </a:rPr>
              <a:t>The media is doing its job. The measurement around it is not, and that is now the binding constraint.</a:t>
            </a:r>
            <a:endParaRPr b="0" i="0" sz="850" u="none" cap="none" strike="noStrike">
              <a:solidFill>
                <a:schemeClr val="dk1"/>
              </a:solidFill>
              <a:latin typeface="Calibri"/>
              <a:ea typeface="Calibri"/>
              <a:cs typeface="Calibri"/>
              <a:sym typeface="Calibri"/>
            </a:endParaRPr>
          </a:p>
        </p:txBody>
      </p:sp>
      <p:sp>
        <p:nvSpPr>
          <p:cNvPr id="165" name="Google Shape;165;p9"/>
          <p:cNvSpPr/>
          <p:nvPr/>
        </p:nvSpPr>
        <p:spPr>
          <a:xfrm>
            <a:off x="457200" y="1280160"/>
            <a:ext cx="3977640" cy="2194560"/>
          </a:xfrm>
          <a:prstGeom prst="roundRect">
            <a:avLst>
              <a:gd fmla="val 1632"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457200" y="1325880"/>
            <a:ext cx="45720" cy="2103120"/>
          </a:xfrm>
          <a:prstGeom prst="rect">
            <a:avLst/>
          </a:prstGeom>
          <a:solidFill>
            <a:srgbClr val="2ECC9B"/>
          </a:solidFill>
          <a:ln cap="flat" cmpd="sng" w="12700">
            <a:solidFill>
              <a:srgbClr val="2ECC9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
          <p:cNvSpPr/>
          <p:nvPr/>
        </p:nvSpPr>
        <p:spPr>
          <a:xfrm>
            <a:off x="603504" y="1408176"/>
            <a:ext cx="3685032" cy="20116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3056C9"/>
              </a:buClr>
              <a:buSzPts val="950"/>
              <a:buFont typeface="Inter Tight"/>
              <a:buNone/>
            </a:pPr>
            <a:r>
              <a:rPr b="1" i="0" lang="en-US" sz="950" u="none" cap="none" strike="noStrike">
                <a:solidFill>
                  <a:srgbClr val="3056C9"/>
                </a:solidFill>
                <a:latin typeface="Inter Tight"/>
                <a:ea typeface="Inter Tight"/>
                <a:cs typeface="Inter Tight"/>
                <a:sym typeface="Inter Tight"/>
              </a:rPr>
              <a:t>Working</a:t>
            </a:r>
            <a:endParaRPr b="0" i="0" sz="950" u="none" cap="none" strike="noStrike">
              <a:solidFill>
                <a:schemeClr val="dk1"/>
              </a:solidFill>
              <a:latin typeface="Calibri"/>
              <a:ea typeface="Calibri"/>
              <a:cs typeface="Calibri"/>
              <a:sym typeface="Calibri"/>
            </a:endParaRPr>
          </a:p>
        </p:txBody>
      </p:sp>
      <p:sp>
        <p:nvSpPr>
          <p:cNvPr id="168" name="Google Shape;168;p9"/>
          <p:cNvSpPr/>
          <p:nvPr/>
        </p:nvSpPr>
        <p:spPr>
          <a:xfrm>
            <a:off x="603504" y="1682496"/>
            <a:ext cx="3685032" cy="1682496"/>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Cost per lead sits at RM 23.22 blended, against the RM 50 we committed to and about RM 63 on the previous campaign.</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Volume is on target, with 303 leads in June and 224 in July against a goal of 150 to 250 a month.</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SPM and STPM leavers are the cheapest audience we have, at RM 11.83 to RM 13.50 a lead.</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Six ads delivered leads under RM 20 each, and we now know what they have in common.</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Parents convert on a short form, producing 98 leads at RM 16.87 with a 2.77% CTR.</a:t>
            </a:r>
            <a:endParaRPr b="0" i="0" sz="750" u="none" cap="none" strike="noStrike">
              <a:solidFill>
                <a:schemeClr val="dk1"/>
              </a:solidFill>
              <a:latin typeface="Calibri"/>
              <a:ea typeface="Calibri"/>
              <a:cs typeface="Calibri"/>
              <a:sym typeface="Calibri"/>
            </a:endParaRPr>
          </a:p>
        </p:txBody>
      </p:sp>
      <p:sp>
        <p:nvSpPr>
          <p:cNvPr id="169" name="Google Shape;169;p9"/>
          <p:cNvSpPr/>
          <p:nvPr/>
        </p:nvSpPr>
        <p:spPr>
          <a:xfrm>
            <a:off x="4709160" y="1280160"/>
            <a:ext cx="3977640" cy="2194560"/>
          </a:xfrm>
          <a:prstGeom prst="roundRect">
            <a:avLst>
              <a:gd fmla="val 1632"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9"/>
          <p:cNvSpPr/>
          <p:nvPr/>
        </p:nvSpPr>
        <p:spPr>
          <a:xfrm>
            <a:off x="4709160" y="1325880"/>
            <a:ext cx="45720" cy="2103120"/>
          </a:xfrm>
          <a:prstGeom prst="rect">
            <a:avLst/>
          </a:prstGeom>
          <a:solidFill>
            <a:srgbClr val="F28B4C"/>
          </a:solidFill>
          <a:ln cap="flat" cmpd="sng" w="12700">
            <a:solidFill>
              <a:srgbClr val="F28B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
          <p:cNvSpPr/>
          <p:nvPr/>
        </p:nvSpPr>
        <p:spPr>
          <a:xfrm>
            <a:off x="4855464" y="1408176"/>
            <a:ext cx="3685032" cy="20116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3056C9"/>
              </a:buClr>
              <a:buSzPts val="950"/>
              <a:buFont typeface="Inter Tight"/>
              <a:buNone/>
            </a:pPr>
            <a:r>
              <a:rPr b="1" i="0" lang="en-US" sz="950" u="none" cap="none" strike="noStrike">
                <a:solidFill>
                  <a:srgbClr val="3056C9"/>
                </a:solidFill>
                <a:latin typeface="Inter Tight"/>
                <a:ea typeface="Inter Tight"/>
                <a:cs typeface="Inter Tight"/>
                <a:sym typeface="Inter Tight"/>
              </a:rPr>
              <a:t>Not working</a:t>
            </a:r>
            <a:endParaRPr b="0" i="0" sz="950" u="none" cap="none" strike="noStrike">
              <a:solidFill>
                <a:schemeClr val="dk1"/>
              </a:solidFill>
              <a:latin typeface="Calibri"/>
              <a:ea typeface="Calibri"/>
              <a:cs typeface="Calibri"/>
              <a:sym typeface="Calibri"/>
            </a:endParaRPr>
          </a:p>
        </p:txBody>
      </p:sp>
      <p:sp>
        <p:nvSpPr>
          <p:cNvPr id="172" name="Google Shape;172;p9"/>
          <p:cNvSpPr/>
          <p:nvPr/>
        </p:nvSpPr>
        <p:spPr>
          <a:xfrm>
            <a:off x="4855464" y="1682496"/>
            <a:ext cx="3685032" cy="1682496"/>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No outcome data. </a:t>
            </a:r>
            <a:r>
              <a:rPr lang="en-US" sz="750">
                <a:solidFill>
                  <a:srgbClr val="4A4A4A"/>
                </a:solidFill>
                <a:latin typeface="Inter Tight"/>
                <a:ea typeface="Inter Tight"/>
                <a:cs typeface="Inter Tight"/>
                <a:sym typeface="Inter Tight"/>
              </a:rPr>
              <a:t>There’s </a:t>
            </a:r>
            <a:r>
              <a:rPr lang="en-US" sz="750">
                <a:solidFill>
                  <a:srgbClr val="4A4A4A"/>
                </a:solidFill>
                <a:latin typeface="Inter Tight"/>
                <a:ea typeface="Inter Tight"/>
                <a:cs typeface="Inter Tight"/>
                <a:sym typeface="Inter Tight"/>
              </a:rPr>
              <a:t>currently a lack of consistent reporting on</a:t>
            </a:r>
            <a:r>
              <a:rPr b="0" i="0" lang="en-US" sz="750" u="none" cap="none" strike="noStrike">
                <a:solidFill>
                  <a:srgbClr val="4A4A4A"/>
                </a:solidFill>
                <a:latin typeface="Inter Tight"/>
                <a:ea typeface="Inter Tight"/>
                <a:cs typeface="Inter Tight"/>
                <a:sym typeface="Inter Tight"/>
              </a:rPr>
              <a:t> leads qualified, booked, or walked in, so we cannot optimize past the form.</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CTR sits at 0.82% against the 1.5% we targeted.</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The weakest hooks cost 59% more per lead, and the account average hook rate is only 17.5%.</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Retargeting cost RM 350.80 for one lead, at a frequency of 8.75 on a pool far too small to work.</a:t>
            </a:r>
            <a:endParaRPr b="0" i="0" sz="750" u="none" cap="none" strike="noStrike">
              <a:solidFill>
                <a:schemeClr val="dk1"/>
              </a:solidFill>
              <a:latin typeface="Calibri"/>
              <a:ea typeface="Calibri"/>
              <a:cs typeface="Calibri"/>
              <a:sym typeface="Calibri"/>
            </a:endParaRPr>
          </a:p>
        </p:txBody>
      </p:sp>
      <p:sp>
        <p:nvSpPr>
          <p:cNvPr id="173" name="Google Shape;173;p9"/>
          <p:cNvSpPr/>
          <p:nvPr/>
        </p:nvSpPr>
        <p:spPr>
          <a:xfrm>
            <a:off x="457200" y="3621024"/>
            <a:ext cx="8229600" cy="1005840"/>
          </a:xfrm>
          <a:prstGeom prst="roundRect">
            <a:avLst>
              <a:gd fmla="val 7769"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9"/>
          <p:cNvSpPr/>
          <p:nvPr/>
        </p:nvSpPr>
        <p:spPr>
          <a:xfrm>
            <a:off x="658368" y="3712464"/>
            <a:ext cx="36576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200"/>
              <a:buFont typeface="Inter Tight"/>
              <a:buNone/>
            </a:pPr>
            <a:r>
              <a:rPr b="1" i="0" lang="en-US" sz="1200" u="none" cap="none" strike="sngStrike">
                <a:solidFill>
                  <a:srgbClr val="6B7280"/>
                </a:solidFill>
                <a:latin typeface="Inter Tight"/>
                <a:ea typeface="Inter Tight"/>
                <a:cs typeface="Inter Tight"/>
                <a:sym typeface="Inter Tight"/>
              </a:rPr>
              <a:t>Cost per lead</a:t>
            </a:r>
            <a:endParaRPr b="0" i="0" sz="1200" u="none" cap="none" strike="noStrike">
              <a:solidFill>
                <a:schemeClr val="dk1"/>
              </a:solidFill>
              <a:latin typeface="Calibri"/>
              <a:ea typeface="Calibri"/>
              <a:cs typeface="Calibri"/>
              <a:sym typeface="Calibri"/>
            </a:endParaRPr>
          </a:p>
        </p:txBody>
      </p:sp>
      <p:sp>
        <p:nvSpPr>
          <p:cNvPr id="175" name="Google Shape;175;p9"/>
          <p:cNvSpPr/>
          <p:nvPr/>
        </p:nvSpPr>
        <p:spPr>
          <a:xfrm>
            <a:off x="658368" y="3950208"/>
            <a:ext cx="51206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0F0F"/>
              </a:buClr>
              <a:buSzPts val="1500"/>
              <a:buFont typeface="Inter Tight"/>
              <a:buNone/>
            </a:pPr>
            <a:r>
              <a:rPr b="1" i="0" lang="en-US" sz="1500" u="none" cap="none" strike="noStrike">
                <a:solidFill>
                  <a:srgbClr val="0F0F0F"/>
                </a:solidFill>
                <a:latin typeface="Inter Tight"/>
                <a:ea typeface="Inter Tight"/>
                <a:cs typeface="Inter Tight"/>
                <a:sym typeface="Inter Tight"/>
              </a:rPr>
              <a:t>Cost per student who walks in</a:t>
            </a:r>
            <a:endParaRPr b="0" i="0" sz="1500" u="none" cap="none" strike="noStrike">
              <a:solidFill>
                <a:schemeClr val="dk1"/>
              </a:solidFill>
              <a:latin typeface="Calibri"/>
              <a:ea typeface="Calibri"/>
              <a:cs typeface="Calibri"/>
              <a:sym typeface="Calibri"/>
            </a:endParaRPr>
          </a:p>
        </p:txBody>
      </p:sp>
      <p:sp>
        <p:nvSpPr>
          <p:cNvPr id="176" name="Google Shape;176;p9"/>
          <p:cNvSpPr/>
          <p:nvPr/>
        </p:nvSpPr>
        <p:spPr>
          <a:xfrm>
            <a:off x="658368" y="4261104"/>
            <a:ext cx="7827264" cy="310896"/>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We have delivered 527 leads and no record of how many became students. </a:t>
            </a:r>
            <a:r>
              <a:rPr lang="en-US" sz="800">
                <a:solidFill>
                  <a:srgbClr val="4A4A4A"/>
                </a:solidFill>
                <a:latin typeface="Inter Tight"/>
                <a:ea typeface="Inter Tight"/>
                <a:cs typeface="Inter Tight"/>
                <a:sym typeface="Inter Tight"/>
              </a:rPr>
              <a:t>We will need the data of the leads journey after they submit the form, so we can optimize towards quality leads.</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10"/>
          <p:cNvSpPr/>
          <p:nvPr/>
        </p:nvSpPr>
        <p:spPr>
          <a:xfrm>
            <a:off x="5394960" y="219456"/>
            <a:ext cx="329184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183" name="Google Shape;183;p10"/>
          <p:cNvSpPr/>
          <p:nvPr/>
        </p:nvSpPr>
        <p:spPr>
          <a:xfrm>
            <a:off x="457200" y="420624"/>
            <a:ext cx="8229600" cy="3474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Creative supply is the constraint, and it sits with IJN</a:t>
            </a:r>
            <a:endParaRPr b="0" i="0" sz="2150" u="none" cap="none" strike="noStrike">
              <a:solidFill>
                <a:schemeClr val="dk1"/>
              </a:solidFill>
              <a:latin typeface="Calibri"/>
              <a:ea typeface="Calibri"/>
              <a:cs typeface="Calibri"/>
              <a:sym typeface="Calibri"/>
            </a:endParaRPr>
          </a:p>
        </p:txBody>
      </p:sp>
      <p:sp>
        <p:nvSpPr>
          <p:cNvPr id="184" name="Google Shape;184;p10"/>
          <p:cNvSpPr/>
          <p:nvPr/>
        </p:nvSpPr>
        <p:spPr>
          <a:xfrm>
            <a:off x="457200" y="804674"/>
            <a:ext cx="8229600" cy="2442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50"/>
              <a:buFont typeface="Inter Tight"/>
              <a:buNone/>
            </a:pPr>
            <a:r>
              <a:rPr b="0" i="0" lang="en-US" sz="850" u="none" cap="none" strike="noStrike">
                <a:solidFill>
                  <a:srgbClr val="4A4A4A"/>
                </a:solidFill>
                <a:latin typeface="Inter Tight"/>
                <a:ea typeface="Inter Tight"/>
                <a:cs typeface="Inter Tight"/>
                <a:sym typeface="Inter Tight"/>
              </a:rPr>
              <a:t>Most of what has run so far is drawn from TikTok creative library assets and auto generated variants rather than original footage of your campus.</a:t>
            </a:r>
            <a:endParaRPr b="0" i="0" sz="850" u="none" cap="none" strike="noStrike">
              <a:solidFill>
                <a:schemeClr val="dk1"/>
              </a:solidFill>
              <a:latin typeface="Calibri"/>
              <a:ea typeface="Calibri"/>
              <a:cs typeface="Calibri"/>
              <a:sym typeface="Calibri"/>
            </a:endParaRPr>
          </a:p>
        </p:txBody>
      </p:sp>
      <p:sp>
        <p:nvSpPr>
          <p:cNvPr id="185" name="Google Shape;185;p10"/>
          <p:cNvSpPr/>
          <p:nvPr/>
        </p:nvSpPr>
        <p:spPr>
          <a:xfrm>
            <a:off x="457200" y="1280160"/>
            <a:ext cx="4663440" cy="2468880"/>
          </a:xfrm>
          <a:prstGeom prst="roundRect">
            <a:avLst>
              <a:gd fmla="val 1289"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0"/>
          <p:cNvSpPr/>
          <p:nvPr/>
        </p:nvSpPr>
        <p:spPr>
          <a:xfrm>
            <a:off x="603504" y="1408176"/>
            <a:ext cx="4370832" cy="20116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3056C9"/>
              </a:buClr>
              <a:buSzPts val="950"/>
              <a:buFont typeface="Inter Tight"/>
              <a:buNone/>
            </a:pPr>
            <a:r>
              <a:rPr b="1" i="0" lang="en-US" sz="950" u="none" cap="none" strike="noStrike">
                <a:solidFill>
                  <a:srgbClr val="3056C9"/>
                </a:solidFill>
                <a:latin typeface="Inter Tight"/>
                <a:ea typeface="Inter Tight"/>
                <a:cs typeface="Inter Tight"/>
                <a:sym typeface="Inter Tight"/>
              </a:rPr>
              <a:t>Five things worth filming</a:t>
            </a:r>
            <a:endParaRPr b="0" i="0" sz="950" u="none" cap="none" strike="noStrike">
              <a:solidFill>
                <a:schemeClr val="dk1"/>
              </a:solidFill>
              <a:latin typeface="Calibri"/>
              <a:ea typeface="Calibri"/>
              <a:cs typeface="Calibri"/>
              <a:sym typeface="Calibri"/>
            </a:endParaRPr>
          </a:p>
        </p:txBody>
      </p:sp>
      <p:sp>
        <p:nvSpPr>
          <p:cNvPr id="187" name="Google Shape;187;p10"/>
          <p:cNvSpPr/>
          <p:nvPr/>
        </p:nvSpPr>
        <p:spPr>
          <a:xfrm>
            <a:off x="603504" y="1682496"/>
            <a:ext cx="4370832" cy="1956816"/>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1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Student life at IJNUC. A day on campus, in the wards, in the labs.</a:t>
            </a:r>
            <a:endParaRPr b="0" i="0" sz="80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Campus and clinical tour. The rooms and wards a student will study in.</a:t>
            </a:r>
            <a:endParaRPr b="0" i="0" sz="80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Program explainers. What a cardiovascular technologist or a nursing graduate does at work.</a:t>
            </a:r>
            <a:endParaRPr b="0" i="0" sz="80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Student and lecturer voices. One person, one story, straight to camera.</a:t>
            </a:r>
            <a:endParaRPr b="0" i="0" sz="80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Admissions questions answered one at a time. Fees, PTPTN, entry requirements, intake dates.</a:t>
            </a:r>
            <a:endParaRPr b="0" i="0" sz="800" u="none" cap="none" strike="noStrike">
              <a:solidFill>
                <a:schemeClr val="dk1"/>
              </a:solidFill>
              <a:latin typeface="Calibri"/>
              <a:ea typeface="Calibri"/>
              <a:cs typeface="Calibri"/>
              <a:sym typeface="Calibri"/>
            </a:endParaRPr>
          </a:p>
        </p:txBody>
      </p:sp>
      <p:sp>
        <p:nvSpPr>
          <p:cNvPr id="188" name="Google Shape;188;p10"/>
          <p:cNvSpPr/>
          <p:nvPr/>
        </p:nvSpPr>
        <p:spPr>
          <a:xfrm>
            <a:off x="5394960" y="1280160"/>
            <a:ext cx="3291840" cy="1170432"/>
          </a:xfrm>
          <a:prstGeom prst="roundRect">
            <a:avLst>
              <a:gd fmla="val 5737"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0"/>
          <p:cNvSpPr/>
          <p:nvPr/>
        </p:nvSpPr>
        <p:spPr>
          <a:xfrm>
            <a:off x="5541264" y="1408176"/>
            <a:ext cx="2999232" cy="20116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3056C9"/>
              </a:buClr>
              <a:buSzPts val="950"/>
              <a:buFont typeface="Inter Tight"/>
              <a:buNone/>
            </a:pPr>
            <a:r>
              <a:rPr b="1" i="0" lang="en-US" sz="950" u="none" cap="none" strike="noStrike">
                <a:solidFill>
                  <a:srgbClr val="3056C9"/>
                </a:solidFill>
                <a:latin typeface="Inter Tight"/>
                <a:ea typeface="Inter Tight"/>
                <a:cs typeface="Inter Tight"/>
                <a:sym typeface="Inter Tight"/>
              </a:rPr>
              <a:t>What we are asking for</a:t>
            </a:r>
            <a:endParaRPr b="0" i="0" sz="950" u="none" cap="none" strike="noStrike">
              <a:solidFill>
                <a:schemeClr val="dk1"/>
              </a:solidFill>
              <a:latin typeface="Calibri"/>
              <a:ea typeface="Calibri"/>
              <a:cs typeface="Calibri"/>
              <a:sym typeface="Calibri"/>
            </a:endParaRPr>
          </a:p>
        </p:txBody>
      </p:sp>
      <p:sp>
        <p:nvSpPr>
          <p:cNvPr id="190" name="Google Shape;190;p10"/>
          <p:cNvSpPr/>
          <p:nvPr/>
        </p:nvSpPr>
        <p:spPr>
          <a:xfrm>
            <a:off x="5541264" y="1682496"/>
            <a:ext cx="2999232" cy="658368"/>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12000"/>
              </a:lnSpc>
              <a:spcBef>
                <a:spcPts val="0"/>
              </a:spcBef>
              <a:spcAft>
                <a:spcPts val="0"/>
              </a:spcAft>
              <a:buClr>
                <a:srgbClr val="4A4A4A"/>
              </a:buClr>
              <a:buSzPts val="800"/>
              <a:buFont typeface="Inter Tight"/>
              <a:buChar char="•"/>
            </a:pPr>
            <a:r>
              <a:rPr lang="en-US" sz="800">
                <a:solidFill>
                  <a:srgbClr val="4A4A4A"/>
                </a:solidFill>
                <a:latin typeface="Inter Tight"/>
                <a:ea typeface="Inter Tight"/>
                <a:cs typeface="Inter Tight"/>
                <a:sym typeface="Inter Tight"/>
              </a:rPr>
              <a:t>Five to ten assets a month.</a:t>
            </a:r>
            <a:endParaRPr sz="800">
              <a:solidFill>
                <a:srgbClr val="4A4A4A"/>
              </a:solidFill>
              <a:latin typeface="Inter Tight"/>
              <a:ea typeface="Inter Tight"/>
              <a:cs typeface="Inter Tight"/>
              <a:sym typeface="Inter Tight"/>
            </a:endParaRPr>
          </a:p>
          <a:p>
            <a:pPr indent="-152400" lvl="0" marL="152400" marR="0" rtl="0" algn="l">
              <a:lnSpc>
                <a:spcPct val="11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Filmed on a phone is fine. One shoot day on campus can produce a month of content.</a:t>
            </a:r>
            <a:endParaRPr b="0" i="0" sz="800" u="none" cap="none" strike="noStrike">
              <a:solidFill>
                <a:schemeClr val="dk1"/>
              </a:solidFill>
              <a:latin typeface="Calibri"/>
              <a:ea typeface="Calibri"/>
              <a:cs typeface="Calibri"/>
              <a:sym typeface="Calibri"/>
            </a:endParaRPr>
          </a:p>
        </p:txBody>
      </p:sp>
      <p:sp>
        <p:nvSpPr>
          <p:cNvPr id="191" name="Google Shape;191;p10"/>
          <p:cNvSpPr/>
          <p:nvPr/>
        </p:nvSpPr>
        <p:spPr>
          <a:xfrm>
            <a:off x="5394960" y="2578608"/>
            <a:ext cx="3291840" cy="1170432"/>
          </a:xfrm>
          <a:prstGeom prst="roundRect">
            <a:avLst>
              <a:gd fmla="val 5737"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0"/>
          <p:cNvSpPr/>
          <p:nvPr/>
        </p:nvSpPr>
        <p:spPr>
          <a:xfrm>
            <a:off x="5541264" y="2706624"/>
            <a:ext cx="2999232" cy="20116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3056C9"/>
              </a:buClr>
              <a:buSzPts val="950"/>
              <a:buFont typeface="Inter Tight"/>
              <a:buNone/>
            </a:pPr>
            <a:r>
              <a:rPr b="1" i="0" lang="en-US" sz="950" u="none" cap="none" strike="noStrike">
                <a:solidFill>
                  <a:srgbClr val="3056C9"/>
                </a:solidFill>
                <a:latin typeface="Inter Tight"/>
                <a:ea typeface="Inter Tight"/>
                <a:cs typeface="Inter Tight"/>
                <a:sym typeface="Inter Tight"/>
              </a:rPr>
              <a:t>How each video should be built</a:t>
            </a:r>
            <a:endParaRPr b="0" i="0" sz="950" u="none" cap="none" strike="noStrike">
              <a:solidFill>
                <a:schemeClr val="dk1"/>
              </a:solidFill>
              <a:latin typeface="Calibri"/>
              <a:ea typeface="Calibri"/>
              <a:cs typeface="Calibri"/>
              <a:sym typeface="Calibri"/>
            </a:endParaRPr>
          </a:p>
        </p:txBody>
      </p:sp>
      <p:sp>
        <p:nvSpPr>
          <p:cNvPr id="193" name="Google Shape;193;p10"/>
          <p:cNvSpPr/>
          <p:nvPr/>
        </p:nvSpPr>
        <p:spPr>
          <a:xfrm>
            <a:off x="5541264" y="2980944"/>
            <a:ext cx="2999232" cy="658368"/>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1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Vertical 9:16, and the opening seconds carry the hook rate that decides the cost.</a:t>
            </a:r>
            <a:endParaRPr b="0" i="0" sz="80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On screen text throughout, because most viewers watch without sound.</a:t>
            </a:r>
            <a:endParaRPr b="0" i="0" sz="80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One program per video, and a clear next step at the end.</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sp>
        <p:nvSpPr>
          <p:cNvPr id="199" name="Google Shape;199;p11"/>
          <p:cNvSpPr/>
          <p:nvPr/>
        </p:nvSpPr>
        <p:spPr>
          <a:xfrm>
            <a:off x="5394960" y="219456"/>
            <a:ext cx="329184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200" name="Google Shape;200;p11"/>
          <p:cNvSpPr/>
          <p:nvPr/>
        </p:nvSpPr>
        <p:spPr>
          <a:xfrm>
            <a:off x="457200" y="420624"/>
            <a:ext cx="8229600" cy="3474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Spark ads: run your own TikTok posts as the ads</a:t>
            </a:r>
            <a:endParaRPr b="0" i="0" sz="2150" u="none" cap="none" strike="noStrike">
              <a:solidFill>
                <a:schemeClr val="dk1"/>
              </a:solidFill>
              <a:latin typeface="Calibri"/>
              <a:ea typeface="Calibri"/>
              <a:cs typeface="Calibri"/>
              <a:sym typeface="Calibri"/>
            </a:endParaRPr>
          </a:p>
        </p:txBody>
      </p:sp>
      <p:sp>
        <p:nvSpPr>
          <p:cNvPr id="201" name="Google Shape;201;p11"/>
          <p:cNvSpPr/>
          <p:nvPr/>
        </p:nvSpPr>
        <p:spPr>
          <a:xfrm>
            <a:off x="457200" y="804672"/>
            <a:ext cx="8229600" cy="38404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50"/>
              <a:buFont typeface="Inter Tight"/>
              <a:buNone/>
            </a:pPr>
            <a:r>
              <a:rPr b="0" i="0" lang="en-US" sz="850" u="none" cap="none" strike="noStrike">
                <a:solidFill>
                  <a:srgbClr val="4A4A4A"/>
                </a:solidFill>
                <a:latin typeface="Inter Tight"/>
                <a:ea typeface="Inter Tight"/>
                <a:cs typeface="Inter Tight"/>
                <a:sym typeface="Inter Tight"/>
              </a:rPr>
              <a:t>A spark ad promotes a real post from the IJNUC account instead of an upload that exists only inside the ad platform.</a:t>
            </a:r>
            <a:endParaRPr b="0" i="0" sz="850" u="none" cap="none" strike="noStrike">
              <a:solidFill>
                <a:schemeClr val="dk1"/>
              </a:solidFill>
              <a:latin typeface="Calibri"/>
              <a:ea typeface="Calibri"/>
              <a:cs typeface="Calibri"/>
              <a:sym typeface="Calibri"/>
            </a:endParaRPr>
          </a:p>
        </p:txBody>
      </p:sp>
      <p:sp>
        <p:nvSpPr>
          <p:cNvPr id="202" name="Google Shape;202;p11"/>
          <p:cNvSpPr/>
          <p:nvPr/>
        </p:nvSpPr>
        <p:spPr>
          <a:xfrm>
            <a:off x="457200" y="1280160"/>
            <a:ext cx="2615184" cy="1737360"/>
          </a:xfrm>
          <a:prstGeom prst="roundRect">
            <a:avLst>
              <a:gd fmla="val 2604"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1"/>
          <p:cNvSpPr/>
          <p:nvPr/>
        </p:nvSpPr>
        <p:spPr>
          <a:xfrm>
            <a:off x="603504" y="1408176"/>
            <a:ext cx="2322576" cy="20116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3056C9"/>
              </a:buClr>
              <a:buSzPts val="950"/>
              <a:buFont typeface="Inter Tight"/>
              <a:buNone/>
            </a:pPr>
            <a:r>
              <a:rPr b="1" i="0" lang="en-US" sz="950" u="none" cap="none" strike="noStrike">
                <a:solidFill>
                  <a:srgbClr val="3056C9"/>
                </a:solidFill>
                <a:latin typeface="Inter Tight"/>
                <a:ea typeface="Inter Tight"/>
                <a:cs typeface="Inter Tight"/>
                <a:sym typeface="Inter Tight"/>
              </a:rPr>
              <a:t>How it works</a:t>
            </a:r>
            <a:endParaRPr b="0" i="0" sz="950" u="none" cap="none" strike="noStrike">
              <a:solidFill>
                <a:schemeClr val="dk1"/>
              </a:solidFill>
              <a:latin typeface="Calibri"/>
              <a:ea typeface="Calibri"/>
              <a:cs typeface="Calibri"/>
              <a:sym typeface="Calibri"/>
            </a:endParaRPr>
          </a:p>
        </p:txBody>
      </p:sp>
      <p:sp>
        <p:nvSpPr>
          <p:cNvPr id="204" name="Google Shape;204;p11"/>
          <p:cNvSpPr/>
          <p:nvPr/>
        </p:nvSpPr>
        <p:spPr>
          <a:xfrm>
            <a:off x="603504" y="1682496"/>
            <a:ext cx="2322576"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112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You authorize a post inside TikTok Ads Manager and we run it as an ad. The post stays on your profile and keeps every comment, like, and share it earns.</a:t>
            </a:r>
            <a:endParaRPr b="0" i="0" sz="800" u="none" cap="none" strike="noStrike">
              <a:solidFill>
                <a:schemeClr val="dk1"/>
              </a:solidFill>
              <a:latin typeface="Calibri"/>
              <a:ea typeface="Calibri"/>
              <a:cs typeface="Calibri"/>
              <a:sym typeface="Calibri"/>
            </a:endParaRPr>
          </a:p>
        </p:txBody>
      </p:sp>
      <p:sp>
        <p:nvSpPr>
          <p:cNvPr id="205" name="Google Shape;205;p11"/>
          <p:cNvSpPr/>
          <p:nvPr/>
        </p:nvSpPr>
        <p:spPr>
          <a:xfrm>
            <a:off x="3264408" y="1280160"/>
            <a:ext cx="2615184" cy="1737360"/>
          </a:xfrm>
          <a:prstGeom prst="roundRect">
            <a:avLst>
              <a:gd fmla="val 2604"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a:off x="3410712" y="1408176"/>
            <a:ext cx="2322576" cy="20116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3056C9"/>
              </a:buClr>
              <a:buSzPts val="950"/>
              <a:buFont typeface="Inter Tight"/>
              <a:buNone/>
            </a:pPr>
            <a:r>
              <a:rPr b="1" i="0" lang="en-US" sz="950" u="none" cap="none" strike="noStrike">
                <a:solidFill>
                  <a:srgbClr val="3056C9"/>
                </a:solidFill>
                <a:latin typeface="Inter Tight"/>
                <a:ea typeface="Inter Tight"/>
                <a:cs typeface="Inter Tight"/>
                <a:sym typeface="Inter Tight"/>
              </a:rPr>
              <a:t>Why it performs better</a:t>
            </a:r>
            <a:endParaRPr b="0" i="0" sz="950" u="none" cap="none" strike="noStrike">
              <a:solidFill>
                <a:schemeClr val="dk1"/>
              </a:solidFill>
              <a:latin typeface="Calibri"/>
              <a:ea typeface="Calibri"/>
              <a:cs typeface="Calibri"/>
              <a:sym typeface="Calibri"/>
            </a:endParaRPr>
          </a:p>
        </p:txBody>
      </p:sp>
      <p:sp>
        <p:nvSpPr>
          <p:cNvPr id="207" name="Google Shape;207;p11"/>
          <p:cNvSpPr/>
          <p:nvPr/>
        </p:nvSpPr>
        <p:spPr>
          <a:xfrm>
            <a:off x="3410712" y="1682496"/>
            <a:ext cx="2322576" cy="1225296"/>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1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Engagement lands on the real post, so the ad arrives carrying social proof.</a:t>
            </a:r>
            <a:endParaRPr b="0" i="0" sz="80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Viewers can tap through and check the profile before they enquire.</a:t>
            </a:r>
            <a:endParaRPr b="0" i="0" sz="80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Your follower count grows while the ads run.</a:t>
            </a:r>
            <a:endParaRPr b="0" i="0" sz="800" u="none" cap="none" strike="noStrike">
              <a:solidFill>
                <a:schemeClr val="dk1"/>
              </a:solidFill>
              <a:latin typeface="Calibri"/>
              <a:ea typeface="Calibri"/>
              <a:cs typeface="Calibri"/>
              <a:sym typeface="Calibri"/>
            </a:endParaRPr>
          </a:p>
        </p:txBody>
      </p:sp>
      <p:sp>
        <p:nvSpPr>
          <p:cNvPr id="208" name="Google Shape;208;p11"/>
          <p:cNvSpPr/>
          <p:nvPr/>
        </p:nvSpPr>
        <p:spPr>
          <a:xfrm>
            <a:off x="6071616" y="1280160"/>
            <a:ext cx="2615184" cy="1737360"/>
          </a:xfrm>
          <a:prstGeom prst="roundRect">
            <a:avLst>
              <a:gd fmla="val 2604"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1"/>
          <p:cNvSpPr/>
          <p:nvPr/>
        </p:nvSpPr>
        <p:spPr>
          <a:xfrm>
            <a:off x="6217920" y="1408176"/>
            <a:ext cx="2322576" cy="20116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3056C9"/>
              </a:buClr>
              <a:buSzPts val="950"/>
              <a:buFont typeface="Inter Tight"/>
              <a:buNone/>
            </a:pPr>
            <a:r>
              <a:rPr b="1" i="0" lang="en-US" sz="950" u="none" cap="none" strike="noStrike">
                <a:solidFill>
                  <a:srgbClr val="3056C9"/>
                </a:solidFill>
                <a:latin typeface="Inter Tight"/>
                <a:ea typeface="Inter Tight"/>
                <a:cs typeface="Inter Tight"/>
                <a:sym typeface="Inter Tight"/>
              </a:rPr>
              <a:t>What we need from you</a:t>
            </a:r>
            <a:endParaRPr b="0" i="0" sz="950" u="none" cap="none" strike="noStrike">
              <a:solidFill>
                <a:schemeClr val="dk1"/>
              </a:solidFill>
              <a:latin typeface="Calibri"/>
              <a:ea typeface="Calibri"/>
              <a:cs typeface="Calibri"/>
              <a:sym typeface="Calibri"/>
            </a:endParaRPr>
          </a:p>
        </p:txBody>
      </p:sp>
      <p:sp>
        <p:nvSpPr>
          <p:cNvPr id="210" name="Google Shape;210;p11"/>
          <p:cNvSpPr/>
          <p:nvPr/>
        </p:nvSpPr>
        <p:spPr>
          <a:xfrm>
            <a:off x="6217920" y="1682496"/>
            <a:ext cx="2322576" cy="1225296"/>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1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Post level authorization for the posts we select, refreshed as you publish.</a:t>
            </a:r>
            <a:endParaRPr b="0" i="0" sz="80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800"/>
              <a:buFont typeface="Inter Tight"/>
              <a:buChar char="•"/>
            </a:pPr>
            <a:r>
              <a:rPr b="0" i="0" lang="en-US" sz="800" u="none" cap="none" strike="noStrike">
                <a:solidFill>
                  <a:srgbClr val="4A4A4A"/>
                </a:solidFill>
                <a:latin typeface="Inter Tight"/>
                <a:ea typeface="Inter Tight"/>
                <a:cs typeface="Inter Tight"/>
                <a:sym typeface="Inter Tight"/>
              </a:rPr>
              <a:t>Nothing else on your side changes.</a:t>
            </a:r>
            <a:endParaRPr b="0" i="0" sz="800" u="none" cap="none" strike="noStrike">
              <a:solidFill>
                <a:schemeClr val="dk1"/>
              </a:solidFill>
              <a:latin typeface="Calibri"/>
              <a:ea typeface="Calibri"/>
              <a:cs typeface="Calibri"/>
              <a:sym typeface="Calibri"/>
            </a:endParaRPr>
          </a:p>
        </p:txBody>
      </p:sp>
      <p:sp>
        <p:nvSpPr>
          <p:cNvPr id="211" name="Google Shape;211;p11"/>
          <p:cNvSpPr/>
          <p:nvPr/>
        </p:nvSpPr>
        <p:spPr>
          <a:xfrm>
            <a:off x="457200" y="3154680"/>
            <a:ext cx="8229600" cy="1234440"/>
          </a:xfrm>
          <a:prstGeom prst="roundRect">
            <a:avLst>
              <a:gd fmla="val 5158"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a:off x="621792" y="3273552"/>
            <a:ext cx="7900416"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056C9"/>
              </a:buClr>
              <a:buSzPts val="900"/>
              <a:buFont typeface="Inter Tight"/>
              <a:buNone/>
            </a:pPr>
            <a:r>
              <a:rPr b="1" i="0" lang="en-US" sz="900" u="none" cap="none" strike="noStrike">
                <a:solidFill>
                  <a:srgbClr val="3056C9"/>
                </a:solidFill>
                <a:latin typeface="Inter Tight"/>
                <a:ea typeface="Inter Tight"/>
                <a:cs typeface="Inter Tight"/>
                <a:sym typeface="Inter Tight"/>
              </a:rPr>
              <a:t>The condition attached to it</a:t>
            </a:r>
            <a:endParaRPr b="0" i="0" sz="900" u="none" cap="none" strike="noStrike">
              <a:solidFill>
                <a:schemeClr val="dk1"/>
              </a:solidFill>
              <a:latin typeface="Calibri"/>
              <a:ea typeface="Calibri"/>
              <a:cs typeface="Calibri"/>
              <a:sym typeface="Calibri"/>
            </a:endParaRPr>
          </a:p>
        </p:txBody>
      </p:sp>
      <p:sp>
        <p:nvSpPr>
          <p:cNvPr id="213" name="Google Shape;213;p11"/>
          <p:cNvSpPr/>
          <p:nvPr/>
        </p:nvSpPr>
        <p:spPr>
          <a:xfrm>
            <a:off x="621792" y="3511296"/>
            <a:ext cx="7900416" cy="786384"/>
          </a:xfrm>
          <a:prstGeom prst="rect">
            <a:avLst/>
          </a:prstGeom>
          <a:noFill/>
          <a:ln>
            <a:noFill/>
          </a:ln>
        </p:spPr>
        <p:txBody>
          <a:bodyPr anchorCtr="0" anchor="t" bIns="45700" lIns="91425" spcFirstLastPara="1" rIns="91425" wrap="square" tIns="45700">
            <a:normAutofit/>
          </a:bodyPr>
          <a:lstStyle/>
          <a:p>
            <a:pPr indent="0" lvl="0" marL="0" rtl="0" algn="l">
              <a:lnSpc>
                <a:spcPct val="114000"/>
              </a:lnSpc>
              <a:spcBef>
                <a:spcPts val="0"/>
              </a:spcBef>
              <a:spcAft>
                <a:spcPts val="0"/>
              </a:spcAft>
              <a:buClr>
                <a:srgbClr val="0F0F0F"/>
              </a:buClr>
              <a:buSzPts val="800"/>
              <a:buFont typeface="Inter Tight"/>
              <a:buNone/>
            </a:pPr>
            <a:r>
              <a:rPr lang="en-US" sz="800">
                <a:solidFill>
                  <a:srgbClr val="0F0F0F"/>
                </a:solidFill>
                <a:latin typeface="Inter Tight"/>
                <a:ea typeface="Inter Tight"/>
                <a:cs typeface="Inter Tight"/>
                <a:sym typeface="Inter Tight"/>
              </a:rPr>
              <a:t>Spark ads only work when the account publishes posts worth promoting. The IJNUC account </a:t>
            </a:r>
            <a:r>
              <a:rPr lang="en-US" sz="800">
                <a:solidFill>
                  <a:srgbClr val="0F0F0F"/>
                </a:solidFill>
                <a:latin typeface="Inter Tight"/>
                <a:ea typeface="Inter Tight"/>
                <a:cs typeface="Inter Tight"/>
                <a:sym typeface="Inter Tight"/>
              </a:rPr>
              <a:t>mostly</a:t>
            </a:r>
            <a:r>
              <a:rPr lang="en-US" sz="800">
                <a:solidFill>
                  <a:srgbClr val="0F0F0F"/>
                </a:solidFill>
                <a:latin typeface="Inter Tight"/>
                <a:ea typeface="Inter Tight"/>
                <a:cs typeface="Inter Tight"/>
                <a:sym typeface="Inter Tight"/>
              </a:rPr>
              <a:t> announces events right now, which serves people who already follow you. Give the account three jobs instead. </a:t>
            </a:r>
            <a:endParaRPr sz="800">
              <a:solidFill>
                <a:srgbClr val="0F0F0F"/>
              </a:solidFill>
              <a:latin typeface="Inter Tight"/>
              <a:ea typeface="Inter Tight"/>
              <a:cs typeface="Inter Tight"/>
              <a:sym typeface="Inter Tight"/>
            </a:endParaRPr>
          </a:p>
          <a:p>
            <a:pPr indent="-279400" lvl="0" marL="457200" rtl="0" algn="l">
              <a:lnSpc>
                <a:spcPct val="114000"/>
              </a:lnSpc>
              <a:spcBef>
                <a:spcPts val="0"/>
              </a:spcBef>
              <a:spcAft>
                <a:spcPts val="0"/>
              </a:spcAft>
              <a:buClr>
                <a:srgbClr val="0F0F0F"/>
              </a:buClr>
              <a:buSzPts val="800"/>
              <a:buFont typeface="Inter Tight"/>
              <a:buChar char="●"/>
            </a:pPr>
            <a:r>
              <a:rPr lang="en-US" sz="800">
                <a:solidFill>
                  <a:srgbClr val="0F0F0F"/>
                </a:solidFill>
                <a:latin typeface="Inter Tight"/>
                <a:ea typeface="Inter Tight"/>
                <a:cs typeface="Inter Tight"/>
                <a:sym typeface="Inter Tight"/>
              </a:rPr>
              <a:t>Inform, by covering programs, fees, and entry requirements.</a:t>
            </a:r>
            <a:endParaRPr sz="800">
              <a:solidFill>
                <a:srgbClr val="0F0F0F"/>
              </a:solidFill>
              <a:latin typeface="Inter Tight"/>
              <a:ea typeface="Inter Tight"/>
              <a:cs typeface="Inter Tight"/>
              <a:sym typeface="Inter Tight"/>
            </a:endParaRPr>
          </a:p>
          <a:p>
            <a:pPr indent="-279400" lvl="0" marL="457200" rtl="0" algn="l">
              <a:lnSpc>
                <a:spcPct val="114000"/>
              </a:lnSpc>
              <a:spcBef>
                <a:spcPts val="0"/>
              </a:spcBef>
              <a:spcAft>
                <a:spcPts val="0"/>
              </a:spcAft>
              <a:buClr>
                <a:srgbClr val="0F0F0F"/>
              </a:buClr>
              <a:buSzPts val="800"/>
              <a:buFont typeface="Inter Tight"/>
              <a:buChar char="●"/>
            </a:pPr>
            <a:r>
              <a:rPr lang="en-US" sz="800">
                <a:solidFill>
                  <a:srgbClr val="0F0F0F"/>
                </a:solidFill>
                <a:latin typeface="Inter Tight"/>
                <a:ea typeface="Inter Tight"/>
                <a:cs typeface="Inter Tight"/>
                <a:sym typeface="Inter Tight"/>
              </a:rPr>
              <a:t>Educate, by showing what these careers involve day to day.</a:t>
            </a:r>
            <a:endParaRPr sz="800">
              <a:solidFill>
                <a:srgbClr val="0F0F0F"/>
              </a:solidFill>
              <a:latin typeface="Inter Tight"/>
              <a:ea typeface="Inter Tight"/>
              <a:cs typeface="Inter Tight"/>
              <a:sym typeface="Inter Tight"/>
            </a:endParaRPr>
          </a:p>
          <a:p>
            <a:pPr indent="-279400" lvl="0" marL="457200" rtl="0" algn="l">
              <a:lnSpc>
                <a:spcPct val="114000"/>
              </a:lnSpc>
              <a:spcBef>
                <a:spcPts val="0"/>
              </a:spcBef>
              <a:spcAft>
                <a:spcPts val="0"/>
              </a:spcAft>
              <a:buClr>
                <a:srgbClr val="0F0F0F"/>
              </a:buClr>
              <a:buSzPts val="800"/>
              <a:buFont typeface="Inter Tight"/>
              <a:buChar char="●"/>
            </a:pPr>
            <a:r>
              <a:rPr lang="en-US" sz="800">
                <a:solidFill>
                  <a:srgbClr val="0F0F0F"/>
                </a:solidFill>
                <a:latin typeface="Inter Tight"/>
                <a:ea typeface="Inter Tight"/>
                <a:cs typeface="Inter Tight"/>
                <a:sym typeface="Inter Tight"/>
              </a:rPr>
              <a:t>Direct, by closing every post with the next step, which is registering for the open day.</a:t>
            </a:r>
            <a:endParaRPr sz="800">
              <a:solidFill>
                <a:srgbClr val="0F0F0F"/>
              </a:solidFill>
              <a:latin typeface="Inter Tight"/>
              <a:ea typeface="Inter Tight"/>
              <a:cs typeface="Inter Tight"/>
              <a:sym typeface="Inter T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8" name="Shape 218"/>
        <p:cNvGrpSpPr/>
        <p:nvPr/>
      </p:nvGrpSpPr>
      <p:grpSpPr>
        <a:xfrm>
          <a:off x="0" y="0"/>
          <a:ext cx="0" cy="0"/>
          <a:chOff x="0" y="0"/>
          <a:chExt cx="0" cy="0"/>
        </a:xfrm>
      </p:grpSpPr>
      <p:sp>
        <p:nvSpPr>
          <p:cNvPr id="219" name="Google Shape;219;p12"/>
          <p:cNvSpPr/>
          <p:nvPr/>
        </p:nvSpPr>
        <p:spPr>
          <a:xfrm>
            <a:off x="5394960" y="219456"/>
            <a:ext cx="329184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220" name="Google Shape;220;p12"/>
          <p:cNvSpPr/>
          <p:nvPr/>
        </p:nvSpPr>
        <p:spPr>
          <a:xfrm>
            <a:off x="457200" y="420624"/>
            <a:ext cx="8229600" cy="3474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Your recent posts already pointing the right way</a:t>
            </a:r>
            <a:endParaRPr b="0" i="0" sz="2150" u="none" cap="none" strike="noStrike">
              <a:solidFill>
                <a:schemeClr val="dk1"/>
              </a:solidFill>
              <a:latin typeface="Calibri"/>
              <a:ea typeface="Calibri"/>
              <a:cs typeface="Calibri"/>
              <a:sym typeface="Calibri"/>
            </a:endParaRPr>
          </a:p>
        </p:txBody>
      </p:sp>
      <p:sp>
        <p:nvSpPr>
          <p:cNvPr id="221" name="Google Shape;221;p12"/>
          <p:cNvSpPr/>
          <p:nvPr/>
        </p:nvSpPr>
        <p:spPr>
          <a:xfrm>
            <a:off x="457200" y="804672"/>
            <a:ext cx="8229600" cy="38404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50"/>
              <a:buFont typeface="Inter Tight"/>
              <a:buNone/>
            </a:pPr>
            <a:r>
              <a:rPr b="0" i="0" lang="en-US" sz="850" u="none" cap="none" strike="noStrike">
                <a:solidFill>
                  <a:srgbClr val="4A4A4A"/>
                </a:solidFill>
                <a:latin typeface="Inter Tight"/>
                <a:ea typeface="Inter Tight"/>
                <a:cs typeface="Inter Tight"/>
                <a:sym typeface="Inter Tight"/>
              </a:rPr>
              <a:t>These posts from the IJNUC account fit the recommendation and would work as spark ads today.</a:t>
            </a:r>
            <a:endParaRPr b="0" i="0" sz="850" u="none" cap="none" strike="noStrike">
              <a:solidFill>
                <a:schemeClr val="dk1"/>
              </a:solidFill>
              <a:latin typeface="Calibri"/>
              <a:ea typeface="Calibri"/>
              <a:cs typeface="Calibri"/>
              <a:sym typeface="Calibri"/>
            </a:endParaRPr>
          </a:p>
        </p:txBody>
      </p:sp>
      <p:sp>
        <p:nvSpPr>
          <p:cNvPr id="222" name="Google Shape;222;p12"/>
          <p:cNvSpPr/>
          <p:nvPr/>
        </p:nvSpPr>
        <p:spPr>
          <a:xfrm>
            <a:off x="457200" y="3690318"/>
            <a:ext cx="8229600" cy="2376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800"/>
              <a:buFont typeface="Inter Tight"/>
              <a:buNone/>
            </a:pPr>
            <a:r>
              <a:rPr b="1" i="0" lang="en-US" sz="800" u="none" cap="none" strike="noStrike">
                <a:solidFill>
                  <a:srgbClr val="0F0F0F"/>
                </a:solidFill>
                <a:latin typeface="Inter Tight"/>
                <a:ea typeface="Inter Tight"/>
                <a:cs typeface="Inter Tight"/>
                <a:sym typeface="Inter Tight"/>
              </a:rPr>
              <a:t>Each of these posts already informs, educates, or directs, which is what makes them worth putting budget behind.</a:t>
            </a:r>
            <a:endParaRPr b="0" i="0" sz="800" u="none" cap="none" strike="noStrike">
              <a:solidFill>
                <a:schemeClr val="dk1"/>
              </a:solidFill>
              <a:latin typeface="Calibri"/>
              <a:ea typeface="Calibri"/>
              <a:cs typeface="Calibri"/>
              <a:sym typeface="Calibri"/>
            </a:endParaRPr>
          </a:p>
        </p:txBody>
      </p:sp>
      <p:pic>
        <p:nvPicPr>
          <p:cNvPr id="223" name="Google Shape;223;p12"/>
          <p:cNvPicPr preferRelativeResize="0"/>
          <p:nvPr/>
        </p:nvPicPr>
        <p:blipFill>
          <a:blip r:embed="rId3">
            <a:alphaModFix/>
          </a:blip>
          <a:stretch>
            <a:fillRect/>
          </a:stretch>
        </p:blipFill>
        <p:spPr>
          <a:xfrm>
            <a:off x="152400" y="1508470"/>
            <a:ext cx="8839199" cy="197022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8" name="Shape 228"/>
        <p:cNvGrpSpPr/>
        <p:nvPr/>
      </p:nvGrpSpPr>
      <p:grpSpPr>
        <a:xfrm>
          <a:off x="0" y="0"/>
          <a:ext cx="0" cy="0"/>
          <a:chOff x="0" y="0"/>
          <a:chExt cx="0" cy="0"/>
        </a:xfrm>
      </p:grpSpPr>
      <p:sp>
        <p:nvSpPr>
          <p:cNvPr id="229" name="Google Shape;229;p13"/>
          <p:cNvSpPr/>
          <p:nvPr/>
        </p:nvSpPr>
        <p:spPr>
          <a:xfrm>
            <a:off x="5394960" y="219456"/>
            <a:ext cx="329184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230" name="Google Shape;230;p13"/>
          <p:cNvSpPr/>
          <p:nvPr/>
        </p:nvSpPr>
        <p:spPr>
          <a:xfrm>
            <a:off x="457200" y="420624"/>
            <a:ext cx="8229600" cy="3474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What we change inside the ad account</a:t>
            </a:r>
            <a:endParaRPr b="0" i="0" sz="2150" u="none" cap="none" strike="noStrike">
              <a:solidFill>
                <a:schemeClr val="dk1"/>
              </a:solidFill>
              <a:latin typeface="Calibri"/>
              <a:ea typeface="Calibri"/>
              <a:cs typeface="Calibri"/>
              <a:sym typeface="Calibri"/>
            </a:endParaRPr>
          </a:p>
        </p:txBody>
      </p:sp>
      <p:sp>
        <p:nvSpPr>
          <p:cNvPr id="231" name="Google Shape;231;p13"/>
          <p:cNvSpPr/>
          <p:nvPr/>
        </p:nvSpPr>
        <p:spPr>
          <a:xfrm>
            <a:off x="457200" y="804672"/>
            <a:ext cx="8229600" cy="38404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50"/>
              <a:buFont typeface="Inter Tight"/>
              <a:buNone/>
            </a:pPr>
            <a:r>
              <a:rPr lang="en-US" sz="850">
                <a:solidFill>
                  <a:srgbClr val="4A4A4A"/>
                </a:solidFill>
                <a:latin typeface="Inter Tight"/>
                <a:ea typeface="Inter Tight"/>
                <a:cs typeface="Inter Tight"/>
                <a:sym typeface="Inter Tight"/>
              </a:rPr>
              <a:t>Four</a:t>
            </a:r>
            <a:r>
              <a:rPr b="0" i="0" lang="en-US" sz="850" u="none" cap="none" strike="noStrike">
                <a:solidFill>
                  <a:srgbClr val="4A4A4A"/>
                </a:solidFill>
                <a:latin typeface="Inter Tight"/>
                <a:ea typeface="Inter Tight"/>
                <a:cs typeface="Inter Tight"/>
                <a:sym typeface="Inter Tight"/>
              </a:rPr>
              <a:t> moves we make on our side. None of them wait on anything from IJNUC.</a:t>
            </a:r>
            <a:endParaRPr b="0" i="0" sz="850" u="none" cap="none" strike="noStrike">
              <a:solidFill>
                <a:schemeClr val="dk1"/>
              </a:solidFill>
              <a:latin typeface="Calibri"/>
              <a:ea typeface="Calibri"/>
              <a:cs typeface="Calibri"/>
              <a:sym typeface="Calibri"/>
            </a:endParaRPr>
          </a:p>
        </p:txBody>
      </p:sp>
      <p:sp>
        <p:nvSpPr>
          <p:cNvPr id="232" name="Google Shape;232;p13"/>
          <p:cNvSpPr/>
          <p:nvPr/>
        </p:nvSpPr>
        <p:spPr>
          <a:xfrm>
            <a:off x="1860800" y="1252760"/>
            <a:ext cx="2615100" cy="1298400"/>
          </a:xfrm>
          <a:prstGeom prst="roundRect">
            <a:avLst>
              <a:gd fmla="val 4662"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3"/>
          <p:cNvSpPr/>
          <p:nvPr/>
        </p:nvSpPr>
        <p:spPr>
          <a:xfrm>
            <a:off x="1860800" y="1252760"/>
            <a:ext cx="2615100" cy="50400"/>
          </a:xfrm>
          <a:prstGeom prst="rect">
            <a:avLst/>
          </a:prstGeom>
          <a:solidFill>
            <a:srgbClr val="4A7BF7"/>
          </a:solidFill>
          <a:ln cap="flat" cmpd="sng" w="12700">
            <a:solidFill>
              <a:srgbClr val="4A7B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3"/>
          <p:cNvSpPr/>
          <p:nvPr/>
        </p:nvSpPr>
        <p:spPr>
          <a:xfrm>
            <a:off x="2007104" y="1380776"/>
            <a:ext cx="5487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056C9"/>
              </a:buClr>
              <a:buSzPts val="800"/>
              <a:buFont typeface="Inter Tight"/>
              <a:buNone/>
            </a:pPr>
            <a:r>
              <a:rPr b="1" i="0" lang="en-US" sz="800" u="none" cap="none" strike="noStrike">
                <a:solidFill>
                  <a:srgbClr val="3056C9"/>
                </a:solidFill>
                <a:latin typeface="Inter Tight"/>
                <a:ea typeface="Inter Tight"/>
                <a:cs typeface="Inter Tight"/>
                <a:sym typeface="Inter Tight"/>
              </a:rPr>
              <a:t>01</a:t>
            </a:r>
            <a:endParaRPr b="0" i="0" sz="800" u="none" cap="none" strike="noStrike">
              <a:solidFill>
                <a:schemeClr val="dk1"/>
              </a:solidFill>
              <a:latin typeface="Calibri"/>
              <a:ea typeface="Calibri"/>
              <a:cs typeface="Calibri"/>
              <a:sym typeface="Calibri"/>
            </a:endParaRPr>
          </a:p>
        </p:txBody>
      </p:sp>
      <p:sp>
        <p:nvSpPr>
          <p:cNvPr id="235" name="Google Shape;235;p13"/>
          <p:cNvSpPr/>
          <p:nvPr/>
        </p:nvSpPr>
        <p:spPr>
          <a:xfrm>
            <a:off x="2007104" y="1572800"/>
            <a:ext cx="2322600" cy="2013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900"/>
              <a:buFont typeface="Inter Tight"/>
              <a:buNone/>
            </a:pPr>
            <a:r>
              <a:rPr b="1" lang="en-US" sz="900">
                <a:solidFill>
                  <a:srgbClr val="0F0F0F"/>
                </a:solidFill>
                <a:latin typeface="Inter Tight"/>
                <a:ea typeface="Inter Tight"/>
                <a:cs typeface="Inter Tight"/>
                <a:sym typeface="Inter Tight"/>
              </a:rPr>
              <a:t>Judge creative on hook rate</a:t>
            </a:r>
            <a:endParaRPr b="1" sz="900">
              <a:solidFill>
                <a:srgbClr val="0F0F0F"/>
              </a:solidFill>
              <a:latin typeface="Inter Tight"/>
              <a:ea typeface="Inter Tight"/>
              <a:cs typeface="Inter Tight"/>
              <a:sym typeface="Inter Tight"/>
            </a:endParaRPr>
          </a:p>
        </p:txBody>
      </p:sp>
      <p:sp>
        <p:nvSpPr>
          <p:cNvPr id="236" name="Google Shape;236;p13"/>
          <p:cNvSpPr/>
          <p:nvPr/>
        </p:nvSpPr>
        <p:spPr>
          <a:xfrm>
            <a:off x="2007104" y="1783112"/>
            <a:ext cx="2322600" cy="676800"/>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rgbClr val="4A4A4A"/>
              </a:buClr>
              <a:buSzPts val="750"/>
              <a:buFont typeface="Inter Tight"/>
              <a:buNone/>
            </a:pPr>
            <a:r>
              <a:rPr lang="en-US" sz="750">
                <a:solidFill>
                  <a:srgbClr val="4A4A4A"/>
                </a:solidFill>
                <a:latin typeface="Inter Tight"/>
                <a:ea typeface="Inter Tight"/>
                <a:cs typeface="Inter Tight"/>
                <a:sym typeface="Inter Tight"/>
              </a:rPr>
              <a:t>Every new video gets read </a:t>
            </a:r>
            <a:r>
              <a:rPr lang="en-US" sz="750">
                <a:solidFill>
                  <a:srgbClr val="4A4A4A"/>
                </a:solidFill>
                <a:latin typeface="Inter Tight"/>
                <a:ea typeface="Inter Tight"/>
                <a:cs typeface="Inter Tight"/>
                <a:sym typeface="Inter Tight"/>
              </a:rPr>
              <a:t>within</a:t>
            </a:r>
            <a:r>
              <a:rPr lang="en-US" sz="750">
                <a:solidFill>
                  <a:srgbClr val="4A4A4A"/>
                </a:solidFill>
                <a:latin typeface="Inter Tight"/>
                <a:ea typeface="Inter Tight"/>
                <a:cs typeface="Inter Tight"/>
                <a:sym typeface="Inter Tight"/>
              </a:rPr>
              <a:t> 1 week. Anything under 15% hook rate comes out of rotation.</a:t>
            </a:r>
            <a:endParaRPr sz="750">
              <a:solidFill>
                <a:srgbClr val="4A4A4A"/>
              </a:solidFill>
              <a:latin typeface="Inter Tight"/>
              <a:ea typeface="Inter Tight"/>
              <a:cs typeface="Inter Tight"/>
              <a:sym typeface="Inter Tight"/>
            </a:endParaRPr>
          </a:p>
        </p:txBody>
      </p:sp>
      <p:sp>
        <p:nvSpPr>
          <p:cNvPr id="237" name="Google Shape;237;p13"/>
          <p:cNvSpPr/>
          <p:nvPr/>
        </p:nvSpPr>
        <p:spPr>
          <a:xfrm>
            <a:off x="4668008" y="1252760"/>
            <a:ext cx="2615100" cy="1298400"/>
          </a:xfrm>
          <a:prstGeom prst="roundRect">
            <a:avLst>
              <a:gd fmla="val 4662"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3"/>
          <p:cNvSpPr/>
          <p:nvPr/>
        </p:nvSpPr>
        <p:spPr>
          <a:xfrm>
            <a:off x="4668008" y="1252760"/>
            <a:ext cx="2615100" cy="50400"/>
          </a:xfrm>
          <a:prstGeom prst="rect">
            <a:avLst/>
          </a:prstGeom>
          <a:solidFill>
            <a:srgbClr val="2ECC9B"/>
          </a:solidFill>
          <a:ln cap="flat" cmpd="sng" w="12700">
            <a:solidFill>
              <a:srgbClr val="2ECC9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3"/>
          <p:cNvSpPr/>
          <p:nvPr/>
        </p:nvSpPr>
        <p:spPr>
          <a:xfrm>
            <a:off x="4814312" y="1380776"/>
            <a:ext cx="5487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056C9"/>
              </a:buClr>
              <a:buSzPts val="800"/>
              <a:buFont typeface="Inter Tight"/>
              <a:buNone/>
            </a:pPr>
            <a:r>
              <a:rPr b="1" i="0" lang="en-US" sz="800" u="none" cap="none" strike="noStrike">
                <a:solidFill>
                  <a:srgbClr val="3056C9"/>
                </a:solidFill>
                <a:latin typeface="Inter Tight"/>
                <a:ea typeface="Inter Tight"/>
                <a:cs typeface="Inter Tight"/>
                <a:sym typeface="Inter Tight"/>
              </a:rPr>
              <a:t>02</a:t>
            </a:r>
            <a:endParaRPr b="0" i="0" sz="800" u="none" cap="none" strike="noStrike">
              <a:solidFill>
                <a:schemeClr val="dk1"/>
              </a:solidFill>
              <a:latin typeface="Calibri"/>
              <a:ea typeface="Calibri"/>
              <a:cs typeface="Calibri"/>
              <a:sym typeface="Calibri"/>
            </a:endParaRPr>
          </a:p>
        </p:txBody>
      </p:sp>
      <p:sp>
        <p:nvSpPr>
          <p:cNvPr id="240" name="Google Shape;240;p13"/>
          <p:cNvSpPr/>
          <p:nvPr/>
        </p:nvSpPr>
        <p:spPr>
          <a:xfrm>
            <a:off x="4814312" y="1572800"/>
            <a:ext cx="2322600" cy="2013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900"/>
              <a:buFont typeface="Inter Tight"/>
              <a:buNone/>
            </a:pPr>
            <a:r>
              <a:rPr b="1" lang="en-US" sz="900">
                <a:solidFill>
                  <a:srgbClr val="0F0F0F"/>
                </a:solidFill>
                <a:latin typeface="Inter Tight"/>
                <a:ea typeface="Inter Tight"/>
                <a:cs typeface="Inter Tight"/>
                <a:sym typeface="Inter Tight"/>
              </a:rPr>
              <a:t>Rebuild retargeting later</a:t>
            </a:r>
            <a:endParaRPr b="1" sz="900">
              <a:solidFill>
                <a:srgbClr val="0F0F0F"/>
              </a:solidFill>
              <a:latin typeface="Inter Tight"/>
              <a:ea typeface="Inter Tight"/>
              <a:cs typeface="Inter Tight"/>
              <a:sym typeface="Inter Tight"/>
            </a:endParaRPr>
          </a:p>
        </p:txBody>
      </p:sp>
      <p:sp>
        <p:nvSpPr>
          <p:cNvPr id="241" name="Google Shape;241;p13"/>
          <p:cNvSpPr/>
          <p:nvPr/>
        </p:nvSpPr>
        <p:spPr>
          <a:xfrm>
            <a:off x="4814312" y="1783112"/>
            <a:ext cx="2322600" cy="676800"/>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rgbClr val="4A4A4A"/>
              </a:buClr>
              <a:buSzPts val="750"/>
              <a:buFont typeface="Inter Tight"/>
              <a:buNone/>
            </a:pPr>
            <a:r>
              <a:rPr lang="en-US" sz="750">
                <a:solidFill>
                  <a:srgbClr val="4A4A4A"/>
                </a:solidFill>
                <a:latin typeface="Inter Tight"/>
                <a:ea typeface="Inter Tight"/>
                <a:cs typeface="Inter Tight"/>
                <a:sym typeface="Inter Tight"/>
              </a:rPr>
              <a:t>Frequency hit 8.75 on a pool of 1,864 people. That only works once the new creative supply grows the view audience.</a:t>
            </a:r>
            <a:endParaRPr sz="750">
              <a:solidFill>
                <a:srgbClr val="4A4A4A"/>
              </a:solidFill>
              <a:latin typeface="Inter Tight"/>
              <a:ea typeface="Inter Tight"/>
              <a:cs typeface="Inter Tight"/>
              <a:sym typeface="Inter Tight"/>
            </a:endParaRPr>
          </a:p>
        </p:txBody>
      </p:sp>
      <p:sp>
        <p:nvSpPr>
          <p:cNvPr id="242" name="Google Shape;242;p13"/>
          <p:cNvSpPr/>
          <p:nvPr/>
        </p:nvSpPr>
        <p:spPr>
          <a:xfrm>
            <a:off x="1860800" y="2752376"/>
            <a:ext cx="2615100" cy="1298400"/>
          </a:xfrm>
          <a:prstGeom prst="roundRect">
            <a:avLst>
              <a:gd fmla="val 4662"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3"/>
          <p:cNvSpPr/>
          <p:nvPr/>
        </p:nvSpPr>
        <p:spPr>
          <a:xfrm>
            <a:off x="1860800" y="2752376"/>
            <a:ext cx="2615100" cy="50400"/>
          </a:xfrm>
          <a:prstGeom prst="rect">
            <a:avLst/>
          </a:prstGeom>
          <a:solidFill>
            <a:srgbClr val="F59EC9"/>
          </a:solidFill>
          <a:ln cap="flat" cmpd="sng" w="12700">
            <a:solidFill>
              <a:srgbClr val="F59E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3"/>
          <p:cNvSpPr/>
          <p:nvPr/>
        </p:nvSpPr>
        <p:spPr>
          <a:xfrm>
            <a:off x="2007104" y="2880392"/>
            <a:ext cx="5487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056C9"/>
              </a:buClr>
              <a:buSzPts val="800"/>
              <a:buFont typeface="Inter Tight"/>
              <a:buNone/>
            </a:pPr>
            <a:r>
              <a:rPr b="1" i="0" lang="en-US" sz="800" u="none" cap="none" strike="noStrike">
                <a:solidFill>
                  <a:srgbClr val="3056C9"/>
                </a:solidFill>
                <a:latin typeface="Inter Tight"/>
                <a:ea typeface="Inter Tight"/>
                <a:cs typeface="Inter Tight"/>
                <a:sym typeface="Inter Tight"/>
              </a:rPr>
              <a:t>0</a:t>
            </a:r>
            <a:r>
              <a:rPr b="1" lang="en-US" sz="800">
                <a:solidFill>
                  <a:srgbClr val="3056C9"/>
                </a:solidFill>
                <a:latin typeface="Inter Tight"/>
                <a:ea typeface="Inter Tight"/>
                <a:cs typeface="Inter Tight"/>
                <a:sym typeface="Inter Tight"/>
              </a:rPr>
              <a:t>3</a:t>
            </a:r>
            <a:endParaRPr b="0" i="0" sz="800" u="none" cap="none" strike="noStrike">
              <a:solidFill>
                <a:schemeClr val="dk1"/>
              </a:solidFill>
              <a:latin typeface="Calibri"/>
              <a:ea typeface="Calibri"/>
              <a:cs typeface="Calibri"/>
              <a:sym typeface="Calibri"/>
            </a:endParaRPr>
          </a:p>
        </p:txBody>
      </p:sp>
      <p:sp>
        <p:nvSpPr>
          <p:cNvPr id="245" name="Google Shape;245;p13"/>
          <p:cNvSpPr/>
          <p:nvPr/>
        </p:nvSpPr>
        <p:spPr>
          <a:xfrm>
            <a:off x="2007104" y="3072416"/>
            <a:ext cx="2322600" cy="2013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900"/>
              <a:buFont typeface="Inter Tight"/>
              <a:buNone/>
            </a:pPr>
            <a:r>
              <a:rPr b="1" lang="en-US" sz="900">
                <a:solidFill>
                  <a:srgbClr val="0F0F0F"/>
                </a:solidFill>
                <a:latin typeface="Inter Tight"/>
                <a:ea typeface="Inter Tight"/>
                <a:cs typeface="Inter Tight"/>
                <a:sym typeface="Inter Tight"/>
              </a:rPr>
              <a:t>Break the spend concentration</a:t>
            </a:r>
            <a:endParaRPr b="1" sz="900">
              <a:solidFill>
                <a:srgbClr val="0F0F0F"/>
              </a:solidFill>
              <a:latin typeface="Inter Tight"/>
              <a:ea typeface="Inter Tight"/>
              <a:cs typeface="Inter Tight"/>
              <a:sym typeface="Inter Tight"/>
            </a:endParaRPr>
          </a:p>
        </p:txBody>
      </p:sp>
      <p:sp>
        <p:nvSpPr>
          <p:cNvPr id="246" name="Google Shape;246;p13"/>
          <p:cNvSpPr/>
          <p:nvPr/>
        </p:nvSpPr>
        <p:spPr>
          <a:xfrm>
            <a:off x="2007104" y="3282728"/>
            <a:ext cx="2322600" cy="676800"/>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rgbClr val="4A4A4A"/>
              </a:buClr>
              <a:buSzPts val="750"/>
              <a:buFont typeface="Inter Tight"/>
              <a:buNone/>
            </a:pPr>
            <a:r>
              <a:rPr lang="en-US" sz="750">
                <a:solidFill>
                  <a:srgbClr val="4A4A4A"/>
                </a:solidFill>
                <a:latin typeface="Inter Tight"/>
                <a:ea typeface="Inter Tight"/>
                <a:cs typeface="Inter Tight"/>
                <a:sym typeface="Inter Tight"/>
              </a:rPr>
              <a:t>No single ad carries half the budget again. Spend follows cost per lead, and the six sub RM 20 ads get funded properly.</a:t>
            </a:r>
            <a:endParaRPr sz="750">
              <a:solidFill>
                <a:srgbClr val="4A4A4A"/>
              </a:solidFill>
              <a:latin typeface="Inter Tight"/>
              <a:ea typeface="Inter Tight"/>
              <a:cs typeface="Inter Tight"/>
              <a:sym typeface="Inter Tight"/>
            </a:endParaRPr>
          </a:p>
        </p:txBody>
      </p:sp>
      <p:sp>
        <p:nvSpPr>
          <p:cNvPr id="247" name="Google Shape;247;p13"/>
          <p:cNvSpPr/>
          <p:nvPr/>
        </p:nvSpPr>
        <p:spPr>
          <a:xfrm>
            <a:off x="4668008" y="2752376"/>
            <a:ext cx="2615100" cy="1298400"/>
          </a:xfrm>
          <a:prstGeom prst="roundRect">
            <a:avLst>
              <a:gd fmla="val 4662"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3"/>
          <p:cNvSpPr/>
          <p:nvPr/>
        </p:nvSpPr>
        <p:spPr>
          <a:xfrm>
            <a:off x="4668008" y="2752376"/>
            <a:ext cx="2615100" cy="50400"/>
          </a:xfrm>
          <a:prstGeom prst="rect">
            <a:avLst/>
          </a:prstGeom>
          <a:solidFill>
            <a:srgbClr val="F28B4C"/>
          </a:solidFill>
          <a:ln cap="flat" cmpd="sng" w="12700">
            <a:solidFill>
              <a:srgbClr val="F28B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3"/>
          <p:cNvSpPr/>
          <p:nvPr/>
        </p:nvSpPr>
        <p:spPr>
          <a:xfrm>
            <a:off x="4814312" y="2880392"/>
            <a:ext cx="5487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056C9"/>
              </a:buClr>
              <a:buSzPts val="800"/>
              <a:buFont typeface="Inter Tight"/>
              <a:buNone/>
            </a:pPr>
            <a:r>
              <a:rPr b="1" i="0" lang="en-US" sz="800" u="none" cap="none" strike="noStrike">
                <a:solidFill>
                  <a:srgbClr val="3056C9"/>
                </a:solidFill>
                <a:latin typeface="Inter Tight"/>
                <a:ea typeface="Inter Tight"/>
                <a:cs typeface="Inter Tight"/>
                <a:sym typeface="Inter Tight"/>
              </a:rPr>
              <a:t>0</a:t>
            </a:r>
            <a:r>
              <a:rPr b="1" lang="en-US" sz="800">
                <a:solidFill>
                  <a:srgbClr val="3056C9"/>
                </a:solidFill>
                <a:latin typeface="Inter Tight"/>
                <a:ea typeface="Inter Tight"/>
                <a:cs typeface="Inter Tight"/>
                <a:sym typeface="Inter Tight"/>
              </a:rPr>
              <a:t>4</a:t>
            </a:r>
            <a:endParaRPr b="0" i="0" sz="800" u="none" cap="none" strike="noStrike">
              <a:solidFill>
                <a:schemeClr val="dk1"/>
              </a:solidFill>
              <a:latin typeface="Calibri"/>
              <a:ea typeface="Calibri"/>
              <a:cs typeface="Calibri"/>
              <a:sym typeface="Calibri"/>
            </a:endParaRPr>
          </a:p>
        </p:txBody>
      </p:sp>
      <p:sp>
        <p:nvSpPr>
          <p:cNvPr id="250" name="Google Shape;250;p13"/>
          <p:cNvSpPr/>
          <p:nvPr/>
        </p:nvSpPr>
        <p:spPr>
          <a:xfrm>
            <a:off x="4814312" y="3072416"/>
            <a:ext cx="2322600" cy="2013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900"/>
              <a:buFont typeface="Inter Tight"/>
              <a:buNone/>
            </a:pPr>
            <a:r>
              <a:rPr b="1" lang="en-US" sz="900">
                <a:solidFill>
                  <a:srgbClr val="0F0F0F"/>
                </a:solidFill>
                <a:latin typeface="Inter Tight"/>
                <a:ea typeface="Inter Tight"/>
                <a:cs typeface="Inter Tight"/>
                <a:sym typeface="Inter Tight"/>
              </a:rPr>
              <a:t>Send outcomes back to TikTok</a:t>
            </a:r>
            <a:endParaRPr b="1" sz="900">
              <a:solidFill>
                <a:srgbClr val="0F0F0F"/>
              </a:solidFill>
              <a:latin typeface="Inter Tight"/>
              <a:ea typeface="Inter Tight"/>
              <a:cs typeface="Inter Tight"/>
              <a:sym typeface="Inter Tight"/>
            </a:endParaRPr>
          </a:p>
        </p:txBody>
      </p:sp>
      <p:sp>
        <p:nvSpPr>
          <p:cNvPr id="251" name="Google Shape;251;p13"/>
          <p:cNvSpPr/>
          <p:nvPr/>
        </p:nvSpPr>
        <p:spPr>
          <a:xfrm>
            <a:off x="4814312" y="3282728"/>
            <a:ext cx="2322600" cy="676800"/>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rgbClr val="4A4A4A"/>
              </a:buClr>
              <a:buSzPts val="750"/>
              <a:buFont typeface="Inter Tight"/>
              <a:buNone/>
            </a:pPr>
            <a:r>
              <a:rPr lang="en-US" sz="750">
                <a:solidFill>
                  <a:srgbClr val="4A4A4A"/>
                </a:solidFill>
                <a:latin typeface="Inter Tight"/>
                <a:ea typeface="Inter Tight"/>
                <a:cs typeface="Inter Tight"/>
                <a:sym typeface="Inter Tight"/>
              </a:rPr>
              <a:t>Walk-in and enrolment events through the Events API, so delivery optimizes toward students rather than form fills.</a:t>
            </a:r>
            <a:endParaRPr sz="750">
              <a:solidFill>
                <a:srgbClr val="4A4A4A"/>
              </a:solidFill>
              <a:latin typeface="Inter Tight"/>
              <a:ea typeface="Inter Tight"/>
              <a:cs typeface="Inter Tight"/>
              <a:sym typeface="Inter Tight"/>
            </a:endParaRPr>
          </a:p>
        </p:txBody>
      </p:sp>
      <p:sp>
        <p:nvSpPr>
          <p:cNvPr id="252" name="Google Shape;252;p13"/>
          <p:cNvSpPr/>
          <p:nvPr/>
        </p:nvSpPr>
        <p:spPr>
          <a:xfrm>
            <a:off x="500850" y="4343250"/>
            <a:ext cx="8229600" cy="310800"/>
          </a:xfrm>
          <a:prstGeom prst="rect">
            <a:avLst/>
          </a:prstGeom>
          <a:solidFill>
            <a:srgbClr val="3056C9"/>
          </a:solidFill>
          <a:ln cap="flat" cmpd="sng" w="12700">
            <a:solidFill>
              <a:srgbClr val="3056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3"/>
          <p:cNvSpPr/>
          <p:nvPr/>
        </p:nvSpPr>
        <p:spPr>
          <a:xfrm>
            <a:off x="647154" y="4343250"/>
            <a:ext cx="7937100" cy="3108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800"/>
              <a:buFont typeface="Inter Tight"/>
              <a:buNone/>
            </a:pPr>
            <a:r>
              <a:rPr b="1" lang="en-US" sz="800">
                <a:solidFill>
                  <a:srgbClr val="FFFFFF"/>
                </a:solidFill>
                <a:latin typeface="Inter Tight"/>
                <a:ea typeface="Inter Tight"/>
                <a:cs typeface="Inter Tight"/>
                <a:sym typeface="Inter Tight"/>
              </a:rPr>
              <a:t>Item 4 is the one that changes the economics. Everything else improves the cost of a lead, and that one improves the cost of a student.</a:t>
            </a:r>
            <a:endParaRPr b="1" sz="800">
              <a:solidFill>
                <a:srgbClr val="FFFFFF"/>
              </a:solidFill>
              <a:latin typeface="Inter Tight"/>
              <a:ea typeface="Inter Tight"/>
              <a:cs typeface="Inter Tight"/>
              <a:sym typeface="Inter T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 name="Shape 258"/>
        <p:cNvGrpSpPr/>
        <p:nvPr/>
      </p:nvGrpSpPr>
      <p:grpSpPr>
        <a:xfrm>
          <a:off x="0" y="0"/>
          <a:ext cx="0" cy="0"/>
          <a:chOff x="0" y="0"/>
          <a:chExt cx="0" cy="0"/>
        </a:xfrm>
      </p:grpSpPr>
      <p:sp>
        <p:nvSpPr>
          <p:cNvPr id="259" name="Google Shape;259;p14"/>
          <p:cNvSpPr/>
          <p:nvPr/>
        </p:nvSpPr>
        <p:spPr>
          <a:xfrm>
            <a:off x="5394960" y="219456"/>
            <a:ext cx="329184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260" name="Google Shape;260;p14"/>
          <p:cNvSpPr/>
          <p:nvPr/>
        </p:nvSpPr>
        <p:spPr>
          <a:xfrm>
            <a:off x="457200" y="420624"/>
            <a:ext cx="8229600" cy="3474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Three channels, three jobs</a:t>
            </a:r>
            <a:endParaRPr b="0" i="0" sz="2150" u="none" cap="none" strike="noStrike">
              <a:solidFill>
                <a:schemeClr val="dk1"/>
              </a:solidFill>
              <a:latin typeface="Calibri"/>
              <a:ea typeface="Calibri"/>
              <a:cs typeface="Calibri"/>
              <a:sym typeface="Calibri"/>
            </a:endParaRPr>
          </a:p>
        </p:txBody>
      </p:sp>
      <p:sp>
        <p:nvSpPr>
          <p:cNvPr id="261" name="Google Shape;261;p14"/>
          <p:cNvSpPr/>
          <p:nvPr/>
        </p:nvSpPr>
        <p:spPr>
          <a:xfrm>
            <a:off x="457200" y="804672"/>
            <a:ext cx="8229600" cy="38404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50"/>
              <a:buFont typeface="Inter Tight"/>
              <a:buNone/>
            </a:pPr>
            <a:r>
              <a:rPr b="0" i="0" lang="en-US" sz="850" u="none" cap="none" strike="noStrike">
                <a:solidFill>
                  <a:srgbClr val="4A4A4A"/>
                </a:solidFill>
                <a:latin typeface="Inter Tight"/>
                <a:ea typeface="Inter Tight"/>
                <a:cs typeface="Inter Tight"/>
                <a:sym typeface="Inter Tight"/>
              </a:rPr>
              <a:t>TikTok is doing one job well. The demand it creates is being captured by whoever ranks and bids on it, and right now that is not IJNUC.</a:t>
            </a:r>
            <a:endParaRPr b="0" i="0" sz="850" u="none" cap="none" strike="noStrike">
              <a:solidFill>
                <a:schemeClr val="dk1"/>
              </a:solidFill>
              <a:latin typeface="Calibri"/>
              <a:ea typeface="Calibri"/>
              <a:cs typeface="Calibri"/>
              <a:sym typeface="Calibri"/>
            </a:endParaRPr>
          </a:p>
        </p:txBody>
      </p:sp>
      <p:sp>
        <p:nvSpPr>
          <p:cNvPr id="262" name="Google Shape;262;p14"/>
          <p:cNvSpPr/>
          <p:nvPr/>
        </p:nvSpPr>
        <p:spPr>
          <a:xfrm>
            <a:off x="457200" y="1280160"/>
            <a:ext cx="6766560" cy="713232"/>
          </a:xfrm>
          <a:prstGeom prst="roundRect">
            <a:avLst>
              <a:gd fmla="val 15450"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4"/>
          <p:cNvSpPr/>
          <p:nvPr/>
        </p:nvSpPr>
        <p:spPr>
          <a:xfrm>
            <a:off x="457200" y="1325880"/>
            <a:ext cx="45720" cy="621792"/>
          </a:xfrm>
          <a:prstGeom prst="rect">
            <a:avLst/>
          </a:prstGeom>
          <a:solidFill>
            <a:srgbClr val="4A7BF7"/>
          </a:solidFill>
          <a:ln cap="flat" cmpd="sng" w="12700">
            <a:solidFill>
              <a:srgbClr val="4A7B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4"/>
          <p:cNvSpPr/>
          <p:nvPr/>
        </p:nvSpPr>
        <p:spPr>
          <a:xfrm>
            <a:off x="640080" y="1371600"/>
            <a:ext cx="146304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0F0F"/>
              </a:buClr>
              <a:buSzPts val="1100"/>
              <a:buFont typeface="Inter Tight"/>
              <a:buNone/>
            </a:pPr>
            <a:r>
              <a:rPr b="1" i="0" lang="en-US" sz="1100" u="none" cap="none" strike="noStrike">
                <a:solidFill>
                  <a:srgbClr val="0F0F0F"/>
                </a:solidFill>
                <a:latin typeface="Inter Tight"/>
                <a:ea typeface="Inter Tight"/>
                <a:cs typeface="Inter Tight"/>
                <a:sym typeface="Inter Tight"/>
              </a:rPr>
              <a:t>TikTok</a:t>
            </a:r>
            <a:endParaRPr b="0" i="0" sz="1100" u="none" cap="none" strike="noStrike">
              <a:solidFill>
                <a:schemeClr val="dk1"/>
              </a:solidFill>
              <a:latin typeface="Calibri"/>
              <a:ea typeface="Calibri"/>
              <a:cs typeface="Calibri"/>
              <a:sym typeface="Calibri"/>
            </a:endParaRPr>
          </a:p>
        </p:txBody>
      </p:sp>
      <p:sp>
        <p:nvSpPr>
          <p:cNvPr id="265" name="Google Shape;265;p14"/>
          <p:cNvSpPr/>
          <p:nvPr/>
        </p:nvSpPr>
        <p:spPr>
          <a:xfrm>
            <a:off x="2148840" y="1389888"/>
            <a:ext cx="13716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056C9"/>
              </a:buClr>
              <a:buSzPts val="800"/>
              <a:buFont typeface="Inter Tight"/>
              <a:buNone/>
            </a:pPr>
            <a:r>
              <a:rPr b="1" i="0" lang="en-US" sz="800" u="none" cap="none" strike="noStrike">
                <a:solidFill>
                  <a:srgbClr val="3056C9"/>
                </a:solidFill>
                <a:latin typeface="Inter Tight"/>
                <a:ea typeface="Inter Tight"/>
                <a:cs typeface="Inter Tight"/>
                <a:sym typeface="Inter Tight"/>
              </a:rPr>
              <a:t>Creates demand</a:t>
            </a:r>
            <a:endParaRPr b="0" i="0" sz="800" u="none" cap="none" strike="noStrike">
              <a:solidFill>
                <a:schemeClr val="dk1"/>
              </a:solidFill>
              <a:latin typeface="Calibri"/>
              <a:ea typeface="Calibri"/>
              <a:cs typeface="Calibri"/>
              <a:sym typeface="Calibri"/>
            </a:endParaRPr>
          </a:p>
        </p:txBody>
      </p:sp>
      <p:sp>
        <p:nvSpPr>
          <p:cNvPr id="266" name="Google Shape;266;p14"/>
          <p:cNvSpPr/>
          <p:nvPr/>
        </p:nvSpPr>
        <p:spPr>
          <a:xfrm>
            <a:off x="640080" y="1627632"/>
            <a:ext cx="6309360" cy="310896"/>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Reaches people who were not looking for a healthcare course this morning. This is the channel we already run.</a:t>
            </a:r>
            <a:endParaRPr b="0" i="0" sz="800" u="none" cap="none" strike="noStrike">
              <a:solidFill>
                <a:schemeClr val="dk1"/>
              </a:solidFill>
              <a:latin typeface="Calibri"/>
              <a:ea typeface="Calibri"/>
              <a:cs typeface="Calibri"/>
              <a:sym typeface="Calibri"/>
            </a:endParaRPr>
          </a:p>
        </p:txBody>
      </p:sp>
      <p:sp>
        <p:nvSpPr>
          <p:cNvPr id="267" name="Google Shape;267;p14"/>
          <p:cNvSpPr/>
          <p:nvPr/>
        </p:nvSpPr>
        <p:spPr>
          <a:xfrm>
            <a:off x="457200" y="2121408"/>
            <a:ext cx="6766560" cy="713232"/>
          </a:xfrm>
          <a:prstGeom prst="roundRect">
            <a:avLst>
              <a:gd fmla="val 15450"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4"/>
          <p:cNvSpPr/>
          <p:nvPr/>
        </p:nvSpPr>
        <p:spPr>
          <a:xfrm>
            <a:off x="457200" y="2167128"/>
            <a:ext cx="45720" cy="621792"/>
          </a:xfrm>
          <a:prstGeom prst="rect">
            <a:avLst/>
          </a:prstGeom>
          <a:solidFill>
            <a:srgbClr val="2ECC9B"/>
          </a:solidFill>
          <a:ln cap="flat" cmpd="sng" w="12700">
            <a:solidFill>
              <a:srgbClr val="2ECC9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4"/>
          <p:cNvSpPr/>
          <p:nvPr/>
        </p:nvSpPr>
        <p:spPr>
          <a:xfrm>
            <a:off x="640080" y="2212848"/>
            <a:ext cx="146304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0F0F"/>
              </a:buClr>
              <a:buSzPts val="1100"/>
              <a:buFont typeface="Inter Tight"/>
              <a:buNone/>
            </a:pPr>
            <a:r>
              <a:rPr b="1" i="0" lang="en-US" sz="1100" u="none" cap="none" strike="noStrike">
                <a:solidFill>
                  <a:srgbClr val="0F0F0F"/>
                </a:solidFill>
                <a:latin typeface="Inter Tight"/>
                <a:ea typeface="Inter Tight"/>
                <a:cs typeface="Inter Tight"/>
                <a:sym typeface="Inter Tight"/>
              </a:rPr>
              <a:t>Google Search</a:t>
            </a:r>
            <a:endParaRPr b="0" i="0" sz="1100" u="none" cap="none" strike="noStrike">
              <a:solidFill>
                <a:schemeClr val="dk1"/>
              </a:solidFill>
              <a:latin typeface="Calibri"/>
              <a:ea typeface="Calibri"/>
              <a:cs typeface="Calibri"/>
              <a:sym typeface="Calibri"/>
            </a:endParaRPr>
          </a:p>
        </p:txBody>
      </p:sp>
      <p:sp>
        <p:nvSpPr>
          <p:cNvPr id="270" name="Google Shape;270;p14"/>
          <p:cNvSpPr/>
          <p:nvPr/>
        </p:nvSpPr>
        <p:spPr>
          <a:xfrm>
            <a:off x="2148840" y="2231136"/>
            <a:ext cx="13716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056C9"/>
              </a:buClr>
              <a:buSzPts val="800"/>
              <a:buFont typeface="Inter Tight"/>
              <a:buNone/>
            </a:pPr>
            <a:r>
              <a:rPr b="1" i="0" lang="en-US" sz="800" u="none" cap="none" strike="noStrike">
                <a:solidFill>
                  <a:srgbClr val="3056C9"/>
                </a:solidFill>
                <a:latin typeface="Inter Tight"/>
                <a:ea typeface="Inter Tight"/>
                <a:cs typeface="Inter Tight"/>
                <a:sym typeface="Inter Tight"/>
              </a:rPr>
              <a:t>Captures demand</a:t>
            </a:r>
            <a:endParaRPr b="0" i="0" sz="800" u="none" cap="none" strike="noStrike">
              <a:solidFill>
                <a:schemeClr val="dk1"/>
              </a:solidFill>
              <a:latin typeface="Calibri"/>
              <a:ea typeface="Calibri"/>
              <a:cs typeface="Calibri"/>
              <a:sym typeface="Calibri"/>
            </a:endParaRPr>
          </a:p>
        </p:txBody>
      </p:sp>
      <p:sp>
        <p:nvSpPr>
          <p:cNvPr id="271" name="Google Shape;271;p14"/>
          <p:cNvSpPr/>
          <p:nvPr/>
        </p:nvSpPr>
        <p:spPr>
          <a:xfrm>
            <a:off x="640080" y="2468880"/>
            <a:ext cx="6309360" cy="310896"/>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Meets the person who types diploma kejururawatan today and is ready to pick a college.</a:t>
            </a:r>
            <a:endParaRPr b="0" i="0" sz="800" u="none" cap="none" strike="noStrike">
              <a:solidFill>
                <a:schemeClr val="dk1"/>
              </a:solidFill>
              <a:latin typeface="Calibri"/>
              <a:ea typeface="Calibri"/>
              <a:cs typeface="Calibri"/>
              <a:sym typeface="Calibri"/>
            </a:endParaRPr>
          </a:p>
        </p:txBody>
      </p:sp>
      <p:sp>
        <p:nvSpPr>
          <p:cNvPr id="272" name="Google Shape;272;p14"/>
          <p:cNvSpPr/>
          <p:nvPr/>
        </p:nvSpPr>
        <p:spPr>
          <a:xfrm>
            <a:off x="457200" y="2962656"/>
            <a:ext cx="6766560" cy="713232"/>
          </a:xfrm>
          <a:prstGeom prst="roundRect">
            <a:avLst>
              <a:gd fmla="val 15450"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4"/>
          <p:cNvSpPr/>
          <p:nvPr/>
        </p:nvSpPr>
        <p:spPr>
          <a:xfrm>
            <a:off x="457200" y="3008376"/>
            <a:ext cx="45720" cy="621792"/>
          </a:xfrm>
          <a:prstGeom prst="rect">
            <a:avLst/>
          </a:prstGeom>
          <a:solidFill>
            <a:srgbClr val="8E6BE6"/>
          </a:solidFill>
          <a:ln cap="flat" cmpd="sng" w="12700">
            <a:solidFill>
              <a:srgbClr val="8E6B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4"/>
          <p:cNvSpPr/>
          <p:nvPr/>
        </p:nvSpPr>
        <p:spPr>
          <a:xfrm>
            <a:off x="640080" y="3054096"/>
            <a:ext cx="146304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0F0F"/>
              </a:buClr>
              <a:buSzPts val="1100"/>
              <a:buFont typeface="Inter Tight"/>
              <a:buNone/>
            </a:pPr>
            <a:r>
              <a:rPr b="1" i="0" lang="en-US" sz="1100" u="none" cap="none" strike="noStrike">
                <a:solidFill>
                  <a:srgbClr val="0F0F0F"/>
                </a:solidFill>
                <a:latin typeface="Inter Tight"/>
                <a:ea typeface="Inter Tight"/>
                <a:cs typeface="Inter Tight"/>
                <a:sym typeface="Inter Tight"/>
              </a:rPr>
              <a:t>Meta</a:t>
            </a:r>
            <a:endParaRPr b="0" i="0" sz="1100" u="none" cap="none" strike="noStrike">
              <a:solidFill>
                <a:schemeClr val="dk1"/>
              </a:solidFill>
              <a:latin typeface="Calibri"/>
              <a:ea typeface="Calibri"/>
              <a:cs typeface="Calibri"/>
              <a:sym typeface="Calibri"/>
            </a:endParaRPr>
          </a:p>
        </p:txBody>
      </p:sp>
      <p:sp>
        <p:nvSpPr>
          <p:cNvPr id="275" name="Google Shape;275;p14"/>
          <p:cNvSpPr/>
          <p:nvPr/>
        </p:nvSpPr>
        <p:spPr>
          <a:xfrm>
            <a:off x="2148840" y="3072384"/>
            <a:ext cx="13716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056C9"/>
              </a:buClr>
              <a:buSzPts val="800"/>
              <a:buFont typeface="Inter Tight"/>
              <a:buNone/>
            </a:pPr>
            <a:r>
              <a:rPr b="1" i="0" lang="en-US" sz="800" u="none" cap="none" strike="noStrike">
                <a:solidFill>
                  <a:srgbClr val="3056C9"/>
                </a:solidFill>
                <a:latin typeface="Inter Tight"/>
                <a:ea typeface="Inter Tight"/>
                <a:cs typeface="Inter Tight"/>
                <a:sym typeface="Inter Tight"/>
              </a:rPr>
              <a:t>Works the middle</a:t>
            </a:r>
            <a:endParaRPr b="0" i="0" sz="800" u="none" cap="none" strike="noStrike">
              <a:solidFill>
                <a:schemeClr val="dk1"/>
              </a:solidFill>
              <a:latin typeface="Calibri"/>
              <a:ea typeface="Calibri"/>
              <a:cs typeface="Calibri"/>
              <a:sym typeface="Calibri"/>
            </a:endParaRPr>
          </a:p>
        </p:txBody>
      </p:sp>
      <p:sp>
        <p:nvSpPr>
          <p:cNvPr id="276" name="Google Shape;276;p14"/>
          <p:cNvSpPr/>
          <p:nvPr/>
        </p:nvSpPr>
        <p:spPr>
          <a:xfrm>
            <a:off x="640080" y="3310128"/>
            <a:ext cx="6309360" cy="310896"/>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Carries the parent conversation, the reminder, and the follow up on WhatsApp.</a:t>
            </a:r>
            <a:endParaRPr b="0" i="0" sz="800" u="none" cap="none" strike="noStrike">
              <a:solidFill>
                <a:schemeClr val="dk1"/>
              </a:solidFill>
              <a:latin typeface="Calibri"/>
              <a:ea typeface="Calibri"/>
              <a:cs typeface="Calibri"/>
              <a:sym typeface="Calibri"/>
            </a:endParaRPr>
          </a:p>
        </p:txBody>
      </p:sp>
      <p:pic>
        <p:nvPicPr>
          <p:cNvPr descr="c:\Users\Jordan\Desktop\Claude Code\toggle-brain\assets\illustrations\channel-stack-form.png" id="277" name="Google Shape;277;p14"/>
          <p:cNvPicPr preferRelativeResize="0"/>
          <p:nvPr/>
        </p:nvPicPr>
        <p:blipFill rotWithShape="1">
          <a:blip r:embed="rId3">
            <a:alphaModFix/>
          </a:blip>
          <a:srcRect b="0" l="0" r="0" t="0"/>
          <a:stretch/>
        </p:blipFill>
        <p:spPr>
          <a:xfrm>
            <a:off x="7635240" y="1325880"/>
            <a:ext cx="824789" cy="2560320"/>
          </a:xfrm>
          <a:prstGeom prst="rect">
            <a:avLst/>
          </a:prstGeom>
          <a:noFill/>
          <a:ln>
            <a:noFill/>
          </a:ln>
        </p:spPr>
      </p:pic>
      <p:sp>
        <p:nvSpPr>
          <p:cNvPr id="278" name="Google Shape;278;p14"/>
          <p:cNvSpPr/>
          <p:nvPr/>
        </p:nvSpPr>
        <p:spPr>
          <a:xfrm>
            <a:off x="457200" y="3913632"/>
            <a:ext cx="8229600" cy="731520"/>
          </a:xfrm>
          <a:prstGeom prst="roundRect">
            <a:avLst>
              <a:gd fmla="val 14688"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4"/>
          <p:cNvSpPr/>
          <p:nvPr/>
        </p:nvSpPr>
        <p:spPr>
          <a:xfrm>
            <a:off x="621792" y="4032504"/>
            <a:ext cx="7900416" cy="521208"/>
          </a:xfrm>
          <a:prstGeom prst="rect">
            <a:avLst/>
          </a:prstGeom>
          <a:noFill/>
          <a:ln>
            <a:noFill/>
          </a:ln>
        </p:spPr>
        <p:txBody>
          <a:bodyPr anchorCtr="0" anchor="t" bIns="45700" lIns="91425" spcFirstLastPara="1" rIns="91425" wrap="square" tIns="45700">
            <a:normAutofit/>
          </a:bodyPr>
          <a:lstStyle/>
          <a:p>
            <a:pPr indent="0" lvl="0" marL="0" marR="0" rtl="0" algn="l">
              <a:lnSpc>
                <a:spcPct val="114000"/>
              </a:lnSpc>
              <a:spcBef>
                <a:spcPts val="0"/>
              </a:spcBef>
              <a:spcAft>
                <a:spcPts val="0"/>
              </a:spcAft>
              <a:buClr>
                <a:srgbClr val="0F0F0F"/>
              </a:buClr>
              <a:buSzPts val="800"/>
              <a:buFont typeface="Inter Tight"/>
              <a:buNone/>
            </a:pPr>
            <a:r>
              <a:rPr b="0" i="0" lang="en-US" sz="800" u="none" cap="none" strike="noStrike">
                <a:solidFill>
                  <a:srgbClr val="0F0F0F"/>
                </a:solidFill>
                <a:latin typeface="Inter Tight"/>
                <a:ea typeface="Inter Tight"/>
                <a:cs typeface="Inter Tight"/>
                <a:sym typeface="Inter Tight"/>
              </a:rPr>
              <a:t>We recommend adding these alongside the current TikTok budget rather than splitting it. Cutting TikTok to fund search would trade leads you already have for leads nobody has proven yet.</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sp>
        <p:nvSpPr>
          <p:cNvPr id="285" name="Google Shape;285;p15"/>
          <p:cNvSpPr/>
          <p:nvPr/>
        </p:nvSpPr>
        <p:spPr>
          <a:xfrm>
            <a:off x="5394960" y="219456"/>
            <a:ext cx="329184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286" name="Google Shape;286;p15"/>
          <p:cNvSpPr/>
          <p:nvPr/>
        </p:nvSpPr>
        <p:spPr>
          <a:xfrm>
            <a:off x="457200" y="420624"/>
            <a:ext cx="8229600" cy="3474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Google Search: meet the people already looking for you</a:t>
            </a:r>
            <a:endParaRPr b="0" i="0" sz="2150" u="none" cap="none" strike="noStrike">
              <a:solidFill>
                <a:schemeClr val="dk1"/>
              </a:solidFill>
              <a:latin typeface="Calibri"/>
              <a:ea typeface="Calibri"/>
              <a:cs typeface="Calibri"/>
              <a:sym typeface="Calibri"/>
            </a:endParaRPr>
          </a:p>
        </p:txBody>
      </p:sp>
      <p:sp>
        <p:nvSpPr>
          <p:cNvPr id="287" name="Google Shape;287;p15"/>
          <p:cNvSpPr/>
          <p:nvPr/>
        </p:nvSpPr>
        <p:spPr>
          <a:xfrm>
            <a:off x="457200" y="804672"/>
            <a:ext cx="8229600" cy="38404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50"/>
              <a:buFont typeface="Inter Tight"/>
              <a:buNone/>
            </a:pPr>
            <a:r>
              <a:rPr b="0" i="0" lang="en-US" sz="850" u="none" cap="none" strike="noStrike">
                <a:solidFill>
                  <a:srgbClr val="4A4A4A"/>
                </a:solidFill>
                <a:latin typeface="Inter Tight"/>
                <a:ea typeface="Inter Tight"/>
                <a:cs typeface="Inter Tight"/>
                <a:sym typeface="Inter Tight"/>
              </a:rPr>
              <a:t>Four campaign groups, each with its own job. Malay and English terms sit in separate ad groups so the ad copy can be written in the language of the search.</a:t>
            </a:r>
            <a:endParaRPr b="0" i="0" sz="850" u="none" cap="none" strike="noStrike">
              <a:solidFill>
                <a:schemeClr val="dk1"/>
              </a:solidFill>
              <a:latin typeface="Calibri"/>
              <a:ea typeface="Calibri"/>
              <a:cs typeface="Calibri"/>
              <a:sym typeface="Calibri"/>
            </a:endParaRPr>
          </a:p>
        </p:txBody>
      </p:sp>
      <p:sp>
        <p:nvSpPr>
          <p:cNvPr id="288" name="Google Shape;288;p15"/>
          <p:cNvSpPr/>
          <p:nvPr/>
        </p:nvSpPr>
        <p:spPr>
          <a:xfrm>
            <a:off x="457200" y="1280160"/>
            <a:ext cx="3977640" cy="1170432"/>
          </a:xfrm>
          <a:prstGeom prst="roundRect">
            <a:avLst>
              <a:gd fmla="val 5737"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5"/>
          <p:cNvSpPr/>
          <p:nvPr/>
        </p:nvSpPr>
        <p:spPr>
          <a:xfrm>
            <a:off x="457200" y="1280160"/>
            <a:ext cx="3977640" cy="50292"/>
          </a:xfrm>
          <a:prstGeom prst="rect">
            <a:avLst/>
          </a:prstGeom>
          <a:solidFill>
            <a:srgbClr val="4A7BF7"/>
          </a:solidFill>
          <a:ln cap="flat" cmpd="sng" w="12700">
            <a:solidFill>
              <a:srgbClr val="4A7B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5"/>
          <p:cNvSpPr/>
          <p:nvPr/>
        </p:nvSpPr>
        <p:spPr>
          <a:xfrm>
            <a:off x="603504" y="1399032"/>
            <a:ext cx="3685032"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0F0F"/>
              </a:buClr>
              <a:buSzPts val="950"/>
              <a:buFont typeface="Inter Tight"/>
              <a:buNone/>
            </a:pPr>
            <a:r>
              <a:rPr b="1" i="0" lang="en-US" sz="950" u="none" cap="none" strike="noStrike">
                <a:solidFill>
                  <a:srgbClr val="0F0F0F"/>
                </a:solidFill>
                <a:latin typeface="Inter Tight"/>
                <a:ea typeface="Inter Tight"/>
                <a:cs typeface="Inter Tight"/>
                <a:sym typeface="Inter Tight"/>
              </a:rPr>
              <a:t>Brand and defensive</a:t>
            </a:r>
            <a:endParaRPr b="0" i="0" sz="950" u="none" cap="none" strike="noStrike">
              <a:solidFill>
                <a:schemeClr val="dk1"/>
              </a:solidFill>
              <a:latin typeface="Calibri"/>
              <a:ea typeface="Calibri"/>
              <a:cs typeface="Calibri"/>
              <a:sym typeface="Calibri"/>
            </a:endParaRPr>
          </a:p>
        </p:txBody>
      </p:sp>
      <p:sp>
        <p:nvSpPr>
          <p:cNvPr id="291" name="Google Shape;291;p15"/>
          <p:cNvSpPr/>
          <p:nvPr/>
        </p:nvSpPr>
        <p:spPr>
          <a:xfrm>
            <a:off x="603504" y="1618488"/>
            <a:ext cx="3685032" cy="457200"/>
          </a:xfrm>
          <a:prstGeom prst="rect">
            <a:avLst/>
          </a:prstGeom>
          <a:noFill/>
          <a:ln>
            <a:noFill/>
          </a:ln>
        </p:spPr>
        <p:txBody>
          <a:bodyPr anchorCtr="0" anchor="t" bIns="45700" lIns="91425" spcFirstLastPara="1" rIns="91425" wrap="square" tIns="45700">
            <a:normAutofit/>
          </a:bodyPr>
          <a:lstStyle/>
          <a:p>
            <a:pPr indent="0" lvl="0" marL="0" marR="0" rtl="0" algn="l">
              <a:lnSpc>
                <a:spcPct val="108000"/>
              </a:lnSpc>
              <a:spcBef>
                <a:spcPts val="0"/>
              </a:spcBef>
              <a:spcAft>
                <a:spcPts val="0"/>
              </a:spcAft>
              <a:buClr>
                <a:srgbClr val="3056C9"/>
              </a:buClr>
              <a:buSzPts val="750"/>
              <a:buFont typeface="Inter Tight"/>
              <a:buNone/>
            </a:pPr>
            <a:r>
              <a:rPr b="0" i="0" lang="en-US" sz="750" u="none" cap="none" strike="noStrike">
                <a:solidFill>
                  <a:srgbClr val="3056C9"/>
                </a:solidFill>
                <a:latin typeface="Inter Tight"/>
                <a:ea typeface="Inter Tight"/>
                <a:cs typeface="Inter Tight"/>
                <a:sym typeface="Inter Tight"/>
              </a:rPr>
              <a:t>ijn university college, ijnuc, ijn nursing, kolej ijn, ijn university college fees</a:t>
            </a:r>
            <a:endParaRPr b="0" i="0" sz="750" u="none" cap="none" strike="noStrike">
              <a:solidFill>
                <a:schemeClr val="dk1"/>
              </a:solidFill>
              <a:latin typeface="Calibri"/>
              <a:ea typeface="Calibri"/>
              <a:cs typeface="Calibri"/>
              <a:sym typeface="Calibri"/>
            </a:endParaRPr>
          </a:p>
        </p:txBody>
      </p:sp>
      <p:sp>
        <p:nvSpPr>
          <p:cNvPr id="292" name="Google Shape;292;p15"/>
          <p:cNvSpPr/>
          <p:nvPr/>
        </p:nvSpPr>
        <p:spPr>
          <a:xfrm>
            <a:off x="603504" y="2103120"/>
            <a:ext cx="3685032" cy="29260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Own your own name so aggregators and competitor colleges stop sitting above you on it.</a:t>
            </a:r>
            <a:endParaRPr b="0" i="0" sz="750" u="none" cap="none" strike="noStrike">
              <a:solidFill>
                <a:schemeClr val="dk1"/>
              </a:solidFill>
              <a:latin typeface="Calibri"/>
              <a:ea typeface="Calibri"/>
              <a:cs typeface="Calibri"/>
              <a:sym typeface="Calibri"/>
            </a:endParaRPr>
          </a:p>
        </p:txBody>
      </p:sp>
      <p:sp>
        <p:nvSpPr>
          <p:cNvPr id="293" name="Google Shape;293;p15"/>
          <p:cNvSpPr/>
          <p:nvPr/>
        </p:nvSpPr>
        <p:spPr>
          <a:xfrm>
            <a:off x="4709160" y="1280160"/>
            <a:ext cx="3977640" cy="1170432"/>
          </a:xfrm>
          <a:prstGeom prst="roundRect">
            <a:avLst>
              <a:gd fmla="val 5737"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5"/>
          <p:cNvSpPr/>
          <p:nvPr/>
        </p:nvSpPr>
        <p:spPr>
          <a:xfrm>
            <a:off x="4709160" y="1280160"/>
            <a:ext cx="3977640" cy="50292"/>
          </a:xfrm>
          <a:prstGeom prst="rect">
            <a:avLst/>
          </a:prstGeom>
          <a:solidFill>
            <a:srgbClr val="2ECC9B"/>
          </a:solidFill>
          <a:ln cap="flat" cmpd="sng" w="12700">
            <a:solidFill>
              <a:srgbClr val="2ECC9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5"/>
          <p:cNvSpPr/>
          <p:nvPr/>
        </p:nvSpPr>
        <p:spPr>
          <a:xfrm>
            <a:off x="4855464" y="1399032"/>
            <a:ext cx="3685032"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0F0F"/>
              </a:buClr>
              <a:buSzPts val="950"/>
              <a:buFont typeface="Inter Tight"/>
              <a:buNone/>
            </a:pPr>
            <a:r>
              <a:rPr b="1" i="0" lang="en-US" sz="950" u="none" cap="none" strike="noStrike">
                <a:solidFill>
                  <a:srgbClr val="0F0F0F"/>
                </a:solidFill>
                <a:latin typeface="Inter Tight"/>
                <a:ea typeface="Inter Tight"/>
                <a:cs typeface="Inter Tight"/>
                <a:sym typeface="Inter Tight"/>
              </a:rPr>
              <a:t>Program terms</a:t>
            </a:r>
            <a:endParaRPr b="0" i="0" sz="950" u="none" cap="none" strike="noStrike">
              <a:solidFill>
                <a:schemeClr val="dk1"/>
              </a:solidFill>
              <a:latin typeface="Calibri"/>
              <a:ea typeface="Calibri"/>
              <a:cs typeface="Calibri"/>
              <a:sym typeface="Calibri"/>
            </a:endParaRPr>
          </a:p>
        </p:txBody>
      </p:sp>
      <p:sp>
        <p:nvSpPr>
          <p:cNvPr id="296" name="Google Shape;296;p15"/>
          <p:cNvSpPr/>
          <p:nvPr/>
        </p:nvSpPr>
        <p:spPr>
          <a:xfrm>
            <a:off x="4855464" y="1618488"/>
            <a:ext cx="3685032" cy="457200"/>
          </a:xfrm>
          <a:prstGeom prst="rect">
            <a:avLst/>
          </a:prstGeom>
          <a:noFill/>
          <a:ln>
            <a:noFill/>
          </a:ln>
        </p:spPr>
        <p:txBody>
          <a:bodyPr anchorCtr="0" anchor="t" bIns="45700" lIns="91425" spcFirstLastPara="1" rIns="91425" wrap="square" tIns="45700">
            <a:normAutofit/>
          </a:bodyPr>
          <a:lstStyle/>
          <a:p>
            <a:pPr indent="0" lvl="0" marL="0" marR="0" rtl="0" algn="l">
              <a:lnSpc>
                <a:spcPct val="108000"/>
              </a:lnSpc>
              <a:spcBef>
                <a:spcPts val="0"/>
              </a:spcBef>
              <a:spcAft>
                <a:spcPts val="0"/>
              </a:spcAft>
              <a:buClr>
                <a:srgbClr val="3056C9"/>
              </a:buClr>
              <a:buSzPts val="750"/>
              <a:buFont typeface="Inter Tight"/>
              <a:buNone/>
            </a:pPr>
            <a:r>
              <a:rPr b="0" i="0" lang="en-US" sz="750" u="none" cap="none" strike="noStrike">
                <a:solidFill>
                  <a:srgbClr val="3056C9"/>
                </a:solidFill>
                <a:latin typeface="Inter Tight"/>
                <a:ea typeface="Inter Tight"/>
                <a:cs typeface="Inter Tight"/>
                <a:sym typeface="Inter Tight"/>
              </a:rPr>
              <a:t>diploma in nursing, diploma kejururawatan, bachelor of nursing science, cardiovascular technology degree, diploma physiotherapy, diploma fisioterapi, medical imaging diploma</a:t>
            </a:r>
            <a:endParaRPr b="0" i="0" sz="750" u="none" cap="none" strike="noStrike">
              <a:solidFill>
                <a:schemeClr val="dk1"/>
              </a:solidFill>
              <a:latin typeface="Calibri"/>
              <a:ea typeface="Calibri"/>
              <a:cs typeface="Calibri"/>
              <a:sym typeface="Calibri"/>
            </a:endParaRPr>
          </a:p>
        </p:txBody>
      </p:sp>
      <p:sp>
        <p:nvSpPr>
          <p:cNvPr id="297" name="Google Shape;297;p15"/>
          <p:cNvSpPr/>
          <p:nvPr/>
        </p:nvSpPr>
        <p:spPr>
          <a:xfrm>
            <a:off x="4855464" y="2103120"/>
            <a:ext cx="3685032" cy="29260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Catch the searcher who has already chosen a field and is choosing between colleges.</a:t>
            </a:r>
            <a:endParaRPr b="0" i="0" sz="750" u="none" cap="none" strike="noStrike">
              <a:solidFill>
                <a:schemeClr val="dk1"/>
              </a:solidFill>
              <a:latin typeface="Calibri"/>
              <a:ea typeface="Calibri"/>
              <a:cs typeface="Calibri"/>
              <a:sym typeface="Calibri"/>
            </a:endParaRPr>
          </a:p>
        </p:txBody>
      </p:sp>
      <p:sp>
        <p:nvSpPr>
          <p:cNvPr id="298" name="Google Shape;298;p15"/>
          <p:cNvSpPr/>
          <p:nvPr/>
        </p:nvSpPr>
        <p:spPr>
          <a:xfrm>
            <a:off x="457200" y="2633472"/>
            <a:ext cx="3977640" cy="1170432"/>
          </a:xfrm>
          <a:prstGeom prst="roundRect">
            <a:avLst>
              <a:gd fmla="val 5737"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5"/>
          <p:cNvSpPr/>
          <p:nvPr/>
        </p:nvSpPr>
        <p:spPr>
          <a:xfrm>
            <a:off x="457200" y="2633472"/>
            <a:ext cx="3977640" cy="50292"/>
          </a:xfrm>
          <a:prstGeom prst="rect">
            <a:avLst/>
          </a:prstGeom>
          <a:solidFill>
            <a:srgbClr val="8E6BE6"/>
          </a:solidFill>
          <a:ln cap="flat" cmpd="sng" w="12700">
            <a:solidFill>
              <a:srgbClr val="8E6B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5"/>
          <p:cNvSpPr/>
          <p:nvPr/>
        </p:nvSpPr>
        <p:spPr>
          <a:xfrm>
            <a:off x="603504" y="2752344"/>
            <a:ext cx="3685032"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0F0F"/>
              </a:buClr>
              <a:buSzPts val="950"/>
              <a:buFont typeface="Inter Tight"/>
              <a:buNone/>
            </a:pPr>
            <a:r>
              <a:rPr b="1" i="0" lang="en-US" sz="950" u="none" cap="none" strike="noStrike">
                <a:solidFill>
                  <a:srgbClr val="0F0F0F"/>
                </a:solidFill>
                <a:latin typeface="Inter Tight"/>
                <a:ea typeface="Inter Tight"/>
                <a:cs typeface="Inter Tight"/>
                <a:sym typeface="Inter Tight"/>
              </a:rPr>
              <a:t>Category and post SPM pathway</a:t>
            </a:r>
            <a:endParaRPr b="0" i="0" sz="950" u="none" cap="none" strike="noStrike">
              <a:solidFill>
                <a:schemeClr val="dk1"/>
              </a:solidFill>
              <a:latin typeface="Calibri"/>
              <a:ea typeface="Calibri"/>
              <a:cs typeface="Calibri"/>
              <a:sym typeface="Calibri"/>
            </a:endParaRPr>
          </a:p>
        </p:txBody>
      </p:sp>
      <p:sp>
        <p:nvSpPr>
          <p:cNvPr id="301" name="Google Shape;301;p15"/>
          <p:cNvSpPr/>
          <p:nvPr/>
        </p:nvSpPr>
        <p:spPr>
          <a:xfrm>
            <a:off x="603504" y="2971800"/>
            <a:ext cx="3685032" cy="457200"/>
          </a:xfrm>
          <a:prstGeom prst="rect">
            <a:avLst/>
          </a:prstGeom>
          <a:noFill/>
          <a:ln>
            <a:noFill/>
          </a:ln>
        </p:spPr>
        <p:txBody>
          <a:bodyPr anchorCtr="0" anchor="t" bIns="45700" lIns="91425" spcFirstLastPara="1" rIns="91425" wrap="square" tIns="45700">
            <a:normAutofit/>
          </a:bodyPr>
          <a:lstStyle/>
          <a:p>
            <a:pPr indent="0" lvl="0" marL="0" marR="0" rtl="0" algn="l">
              <a:lnSpc>
                <a:spcPct val="108000"/>
              </a:lnSpc>
              <a:spcBef>
                <a:spcPts val="0"/>
              </a:spcBef>
              <a:spcAft>
                <a:spcPts val="0"/>
              </a:spcAft>
              <a:buClr>
                <a:srgbClr val="3056C9"/>
              </a:buClr>
              <a:buSzPts val="750"/>
              <a:buFont typeface="Inter Tight"/>
              <a:buNone/>
            </a:pPr>
            <a:r>
              <a:rPr b="0" i="0" lang="en-US" sz="750" u="none" cap="none" strike="noStrike">
                <a:solidFill>
                  <a:srgbClr val="3056C9"/>
                </a:solidFill>
                <a:latin typeface="Inter Tight"/>
                <a:ea typeface="Inter Tight"/>
                <a:cs typeface="Inter Tight"/>
                <a:sym typeface="Inter Tight"/>
              </a:rPr>
              <a:t>nursing college kl, allied health courses malaysia, kursus kesihatan lepas spm, diploma lepas spm kl</a:t>
            </a:r>
            <a:endParaRPr b="0" i="0" sz="750" u="none" cap="none" strike="noStrike">
              <a:solidFill>
                <a:schemeClr val="dk1"/>
              </a:solidFill>
              <a:latin typeface="Calibri"/>
              <a:ea typeface="Calibri"/>
              <a:cs typeface="Calibri"/>
              <a:sym typeface="Calibri"/>
            </a:endParaRPr>
          </a:p>
        </p:txBody>
      </p:sp>
      <p:sp>
        <p:nvSpPr>
          <p:cNvPr id="302" name="Google Shape;302;p15"/>
          <p:cNvSpPr/>
          <p:nvPr/>
        </p:nvSpPr>
        <p:spPr>
          <a:xfrm>
            <a:off x="603504" y="3456432"/>
            <a:ext cx="3685032" cy="29260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Reach the leaver who is still deciding what to study.</a:t>
            </a:r>
            <a:endParaRPr b="0" i="0" sz="750" u="none" cap="none" strike="noStrike">
              <a:solidFill>
                <a:schemeClr val="dk1"/>
              </a:solidFill>
              <a:latin typeface="Calibri"/>
              <a:ea typeface="Calibri"/>
              <a:cs typeface="Calibri"/>
              <a:sym typeface="Calibri"/>
            </a:endParaRPr>
          </a:p>
        </p:txBody>
      </p:sp>
      <p:sp>
        <p:nvSpPr>
          <p:cNvPr id="303" name="Google Shape;303;p15"/>
          <p:cNvSpPr/>
          <p:nvPr/>
        </p:nvSpPr>
        <p:spPr>
          <a:xfrm>
            <a:off x="4709160" y="2633472"/>
            <a:ext cx="3977640" cy="1170432"/>
          </a:xfrm>
          <a:prstGeom prst="roundRect">
            <a:avLst>
              <a:gd fmla="val 5737"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5"/>
          <p:cNvSpPr/>
          <p:nvPr/>
        </p:nvSpPr>
        <p:spPr>
          <a:xfrm>
            <a:off x="4709160" y="2633472"/>
            <a:ext cx="3977640" cy="50292"/>
          </a:xfrm>
          <a:prstGeom prst="rect">
            <a:avLst/>
          </a:prstGeom>
          <a:solidFill>
            <a:srgbClr val="F28B4C"/>
          </a:solidFill>
          <a:ln cap="flat" cmpd="sng" w="12700">
            <a:solidFill>
              <a:srgbClr val="F28B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5"/>
          <p:cNvSpPr/>
          <p:nvPr/>
        </p:nvSpPr>
        <p:spPr>
          <a:xfrm>
            <a:off x="4855464" y="2752344"/>
            <a:ext cx="3685032"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0F0F"/>
              </a:buClr>
              <a:buSzPts val="950"/>
              <a:buFont typeface="Inter Tight"/>
              <a:buNone/>
            </a:pPr>
            <a:r>
              <a:rPr b="1" i="0" lang="en-US" sz="950" u="none" cap="none" strike="noStrike">
                <a:solidFill>
                  <a:srgbClr val="0F0F0F"/>
                </a:solidFill>
                <a:latin typeface="Inter Tight"/>
                <a:ea typeface="Inter Tight"/>
                <a:cs typeface="Inter Tight"/>
                <a:sym typeface="Inter Tight"/>
              </a:rPr>
              <a:t>Funding</a:t>
            </a:r>
            <a:endParaRPr b="0" i="0" sz="950" u="none" cap="none" strike="noStrike">
              <a:solidFill>
                <a:schemeClr val="dk1"/>
              </a:solidFill>
              <a:latin typeface="Calibri"/>
              <a:ea typeface="Calibri"/>
              <a:cs typeface="Calibri"/>
              <a:sym typeface="Calibri"/>
            </a:endParaRPr>
          </a:p>
        </p:txBody>
      </p:sp>
      <p:sp>
        <p:nvSpPr>
          <p:cNvPr id="306" name="Google Shape;306;p15"/>
          <p:cNvSpPr/>
          <p:nvPr/>
        </p:nvSpPr>
        <p:spPr>
          <a:xfrm>
            <a:off x="4855464" y="2971800"/>
            <a:ext cx="3685032" cy="457200"/>
          </a:xfrm>
          <a:prstGeom prst="rect">
            <a:avLst/>
          </a:prstGeom>
          <a:noFill/>
          <a:ln>
            <a:noFill/>
          </a:ln>
        </p:spPr>
        <p:txBody>
          <a:bodyPr anchorCtr="0" anchor="t" bIns="45700" lIns="91425" spcFirstLastPara="1" rIns="91425" wrap="square" tIns="45700">
            <a:normAutofit/>
          </a:bodyPr>
          <a:lstStyle/>
          <a:p>
            <a:pPr indent="0" lvl="0" marL="0" marR="0" rtl="0" algn="l">
              <a:lnSpc>
                <a:spcPct val="108000"/>
              </a:lnSpc>
              <a:spcBef>
                <a:spcPts val="0"/>
              </a:spcBef>
              <a:spcAft>
                <a:spcPts val="0"/>
              </a:spcAft>
              <a:buClr>
                <a:srgbClr val="3056C9"/>
              </a:buClr>
              <a:buSzPts val="750"/>
              <a:buFont typeface="Inter Tight"/>
              <a:buNone/>
            </a:pPr>
            <a:r>
              <a:rPr b="0" i="0" lang="en-US" sz="750" u="none" cap="none" strike="noStrike">
                <a:solidFill>
                  <a:srgbClr val="3056C9"/>
                </a:solidFill>
                <a:latin typeface="Inter Tight"/>
                <a:ea typeface="Inter Tight"/>
                <a:cs typeface="Inter Tight"/>
                <a:sym typeface="Inter Tight"/>
              </a:rPr>
              <a:t>ptptn diploma kejururawatan, kursus yang ada ptptn, biasiswa kesihatan</a:t>
            </a:r>
            <a:endParaRPr b="0" i="0" sz="750" u="none" cap="none" strike="noStrike">
              <a:solidFill>
                <a:schemeClr val="dk1"/>
              </a:solidFill>
              <a:latin typeface="Calibri"/>
              <a:ea typeface="Calibri"/>
              <a:cs typeface="Calibri"/>
              <a:sym typeface="Calibri"/>
            </a:endParaRPr>
          </a:p>
        </p:txBody>
      </p:sp>
      <p:sp>
        <p:nvSpPr>
          <p:cNvPr id="307" name="Google Shape;307;p15"/>
          <p:cNvSpPr/>
          <p:nvPr/>
        </p:nvSpPr>
        <p:spPr>
          <a:xfrm>
            <a:off x="4855464" y="3456432"/>
            <a:ext cx="3685032" cy="29260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Answer the affordability question at the moment it gets asked.</a:t>
            </a:r>
            <a:endParaRPr b="0" i="0" sz="750" u="none" cap="none" strike="noStrike">
              <a:solidFill>
                <a:schemeClr val="dk1"/>
              </a:solidFill>
              <a:latin typeface="Calibri"/>
              <a:ea typeface="Calibri"/>
              <a:cs typeface="Calibri"/>
              <a:sym typeface="Calibri"/>
            </a:endParaRPr>
          </a:p>
        </p:txBody>
      </p:sp>
      <p:sp>
        <p:nvSpPr>
          <p:cNvPr id="308" name="Google Shape;308;p15"/>
          <p:cNvSpPr/>
          <p:nvPr/>
        </p:nvSpPr>
        <p:spPr>
          <a:xfrm>
            <a:off x="457200" y="4041640"/>
            <a:ext cx="8229600" cy="896100"/>
          </a:xfrm>
          <a:prstGeom prst="roundRect">
            <a:avLst>
              <a:gd fmla="val 9788"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5"/>
          <p:cNvSpPr/>
          <p:nvPr/>
        </p:nvSpPr>
        <p:spPr>
          <a:xfrm>
            <a:off x="621792" y="4160512"/>
            <a:ext cx="79005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056C9"/>
              </a:buClr>
              <a:buSzPts val="900"/>
              <a:buFont typeface="Inter Tight"/>
              <a:buNone/>
            </a:pPr>
            <a:r>
              <a:rPr b="1" i="0" lang="en-US" sz="900" u="none" cap="none" strike="noStrike">
                <a:solidFill>
                  <a:srgbClr val="3056C9"/>
                </a:solidFill>
                <a:latin typeface="Inter Tight"/>
                <a:ea typeface="Inter Tight"/>
                <a:cs typeface="Inter Tight"/>
                <a:sym typeface="Inter Tight"/>
              </a:rPr>
              <a:t>One thing to get right before a single ringgit goes live</a:t>
            </a:r>
            <a:endParaRPr b="0" i="0" sz="900" u="none" cap="none" strike="noStrike">
              <a:solidFill>
                <a:schemeClr val="dk1"/>
              </a:solidFill>
              <a:latin typeface="Calibri"/>
              <a:ea typeface="Calibri"/>
              <a:cs typeface="Calibri"/>
              <a:sym typeface="Calibri"/>
            </a:endParaRPr>
          </a:p>
        </p:txBody>
      </p:sp>
      <p:sp>
        <p:nvSpPr>
          <p:cNvPr id="310" name="Google Shape;310;p15"/>
          <p:cNvSpPr/>
          <p:nvPr/>
        </p:nvSpPr>
        <p:spPr>
          <a:xfrm>
            <a:off x="621792" y="4398256"/>
            <a:ext cx="7900500" cy="448200"/>
          </a:xfrm>
          <a:prstGeom prst="rect">
            <a:avLst/>
          </a:prstGeom>
          <a:noFill/>
          <a:ln>
            <a:noFill/>
          </a:ln>
        </p:spPr>
        <p:txBody>
          <a:bodyPr anchorCtr="0" anchor="t" bIns="45700" lIns="91425" spcFirstLastPara="1" rIns="91425" wrap="square" tIns="45700">
            <a:normAutofit/>
          </a:bodyPr>
          <a:lstStyle/>
          <a:p>
            <a:pPr indent="0" lvl="0" marL="0" marR="0" rtl="0" algn="l">
              <a:lnSpc>
                <a:spcPct val="114000"/>
              </a:lnSpc>
              <a:spcBef>
                <a:spcPts val="0"/>
              </a:spcBef>
              <a:spcAft>
                <a:spcPts val="0"/>
              </a:spcAft>
              <a:buClr>
                <a:srgbClr val="0F0F0F"/>
              </a:buClr>
              <a:buSzPts val="800"/>
              <a:buFont typeface="Inter Tight"/>
              <a:buNone/>
            </a:pPr>
            <a:r>
              <a:rPr b="0" i="0" lang="en-US" sz="800" u="none" cap="none" strike="noStrike">
                <a:solidFill>
                  <a:srgbClr val="0F0F0F"/>
                </a:solidFill>
                <a:latin typeface="Inter Tight"/>
                <a:ea typeface="Inter Tight"/>
                <a:cs typeface="Inter Tight"/>
                <a:sym typeface="Inter Tight"/>
              </a:rPr>
              <a:t>IJN is the National Heart Institute, so searches for appointments, cardiologists, visiting hours, and job vacancies will land on any loose IJN keyword and burn budget on people who will never enrol. We launch on exact and phrase match with a patient intent negative list in place, and we do not open broad match until the search term report comes back clean.</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5" name="Shape 315"/>
        <p:cNvGrpSpPr/>
        <p:nvPr/>
      </p:nvGrpSpPr>
      <p:grpSpPr>
        <a:xfrm>
          <a:off x="0" y="0"/>
          <a:ext cx="0" cy="0"/>
          <a:chOff x="0" y="0"/>
          <a:chExt cx="0" cy="0"/>
        </a:xfrm>
      </p:grpSpPr>
      <p:sp>
        <p:nvSpPr>
          <p:cNvPr id="316" name="Google Shape;316;p16"/>
          <p:cNvSpPr/>
          <p:nvPr/>
        </p:nvSpPr>
        <p:spPr>
          <a:xfrm>
            <a:off x="5394960" y="219456"/>
            <a:ext cx="329184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317" name="Google Shape;317;p16"/>
          <p:cNvSpPr/>
          <p:nvPr/>
        </p:nvSpPr>
        <p:spPr>
          <a:xfrm>
            <a:off x="457200" y="420624"/>
            <a:ext cx="8229600" cy="3474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Google Search: how each group converts and what it says</a:t>
            </a:r>
            <a:endParaRPr b="0" i="0" sz="2150" u="none" cap="none" strike="noStrike">
              <a:solidFill>
                <a:schemeClr val="dk1"/>
              </a:solidFill>
              <a:latin typeface="Calibri"/>
              <a:ea typeface="Calibri"/>
              <a:cs typeface="Calibri"/>
              <a:sym typeface="Calibri"/>
            </a:endParaRPr>
          </a:p>
        </p:txBody>
      </p:sp>
      <p:sp>
        <p:nvSpPr>
          <p:cNvPr id="318" name="Google Shape;318;p16"/>
          <p:cNvSpPr/>
          <p:nvPr/>
        </p:nvSpPr>
        <p:spPr>
          <a:xfrm>
            <a:off x="457200" y="804672"/>
            <a:ext cx="8229600" cy="38404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50"/>
              <a:buFont typeface="Inter Tight"/>
              <a:buNone/>
            </a:pPr>
            <a:r>
              <a:rPr b="0" i="0" lang="en-US" sz="850" u="none" cap="none" strike="noStrike">
                <a:solidFill>
                  <a:srgbClr val="4A4A4A"/>
                </a:solidFill>
                <a:latin typeface="Inter Tight"/>
                <a:ea typeface="Inter Tight"/>
                <a:cs typeface="Inter Tight"/>
                <a:sym typeface="Inter Tight"/>
              </a:rPr>
              <a:t>Every group points at an appointment form on a dedicated page, not the homepage. The message changes with the search behind the click.</a:t>
            </a:r>
            <a:endParaRPr b="0" i="0" sz="850" u="none" cap="none" strike="noStrike">
              <a:solidFill>
                <a:schemeClr val="dk1"/>
              </a:solidFill>
              <a:latin typeface="Calibri"/>
              <a:ea typeface="Calibri"/>
              <a:cs typeface="Calibri"/>
              <a:sym typeface="Calibri"/>
            </a:endParaRPr>
          </a:p>
        </p:txBody>
      </p:sp>
      <p:graphicFrame>
        <p:nvGraphicFramePr>
          <p:cNvPr id="319" name="Google Shape;319;p16"/>
          <p:cNvGraphicFramePr/>
          <p:nvPr/>
        </p:nvGraphicFramePr>
        <p:xfrm>
          <a:off x="457200" y="1280160"/>
          <a:ext cx="3000000" cy="3000000"/>
        </p:xfrm>
        <a:graphic>
          <a:graphicData uri="http://schemas.openxmlformats.org/drawingml/2006/table">
            <a:tbl>
              <a:tblPr>
                <a:noFill/>
                <a:tableStyleId>{DA89EFAE-9271-447B-A4AB-8F31947992DB}</a:tableStyleId>
              </a:tblPr>
              <a:tblGrid>
                <a:gridCol w="1554475"/>
                <a:gridCol w="1554475"/>
                <a:gridCol w="2560325"/>
                <a:gridCol w="2560325"/>
              </a:tblGrid>
              <a:tr h="566925">
                <a:tc>
                  <a:txBody>
                    <a:bodyPr/>
                    <a:lstStyle/>
                    <a:p>
                      <a:pPr indent="0" lvl="0" marL="0" marR="0" rtl="0" algn="l">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Campaign group</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l">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Destination</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l">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Message direction</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l">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Example line</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r>
              <a:tr h="56692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Brand and defensive</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Admissions page</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Confirm the official route and remove any doubt that this is the real IJNUC.</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IJN University College official admissions. Speak to a counsellor today.</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Program terms</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Program page, then the appointment form</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Name the program and the credential in the same breath.</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Diploma in Nursing, taught at the National Heart Institute. MQA accredited and PTPTN eligible.</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r>
              <a:tr h="56692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Category and pathway</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Open day appointment page</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Lead on direct entry, because the default assumption is a matriculation year.</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Go straight from SPM into healthcare. Walk in any weekday, 9am to 4pm.</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Funding</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Fees and funding page</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Answer cost first, then invite the conversation in person.</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PTPTN eligible, with fee waivers available. Ask us what you qualify for.</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r>
            </a:tbl>
          </a:graphicData>
        </a:graphic>
      </p:graphicFrame>
      <p:sp>
        <p:nvSpPr>
          <p:cNvPr id="320" name="Google Shape;320;p16"/>
          <p:cNvSpPr/>
          <p:nvPr/>
        </p:nvSpPr>
        <p:spPr>
          <a:xfrm>
            <a:off x="457200" y="4206189"/>
            <a:ext cx="8229600" cy="310800"/>
          </a:xfrm>
          <a:prstGeom prst="rect">
            <a:avLst/>
          </a:prstGeom>
          <a:solidFill>
            <a:srgbClr val="3056C9"/>
          </a:solidFill>
          <a:ln cap="flat" cmpd="sng" w="12700">
            <a:solidFill>
              <a:srgbClr val="3056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6"/>
          <p:cNvSpPr/>
          <p:nvPr/>
        </p:nvSpPr>
        <p:spPr>
          <a:xfrm>
            <a:off x="603504" y="4206189"/>
            <a:ext cx="7937100" cy="3108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800"/>
              <a:buFont typeface="Inter Tight"/>
              <a:buNone/>
            </a:pPr>
            <a:r>
              <a:rPr b="1" i="0" lang="en-US" sz="800" u="none" cap="none" strike="noStrike">
                <a:solidFill>
                  <a:srgbClr val="FFFFFF"/>
                </a:solidFill>
                <a:latin typeface="Inter Tight"/>
                <a:ea typeface="Inter Tight"/>
                <a:cs typeface="Inter Tight"/>
                <a:sym typeface="Inter Tight"/>
              </a:rPr>
              <a:t>Conversion setup  |  Appointment form submission on a dedicated landing page  |  Thank you page so Google can count the conversion  |  Call and WhatsApp clicks as secondary conversions</a:t>
            </a:r>
            <a:endParaRPr b="0" i="0" sz="800" u="none" cap="none" strike="noStrike">
              <a:solidFill>
                <a:schemeClr val="dk1"/>
              </a:solidFill>
              <a:latin typeface="Calibri"/>
              <a:ea typeface="Calibri"/>
              <a:cs typeface="Calibri"/>
              <a:sym typeface="Calibri"/>
            </a:endParaRPr>
          </a:p>
        </p:txBody>
      </p:sp>
      <p:sp>
        <p:nvSpPr>
          <p:cNvPr id="322" name="Google Shape;322;p16"/>
          <p:cNvSpPr/>
          <p:nvPr/>
        </p:nvSpPr>
        <p:spPr>
          <a:xfrm>
            <a:off x="457200" y="4582713"/>
            <a:ext cx="8229600" cy="4572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F0F0F"/>
              </a:buClr>
              <a:buSzPts val="800"/>
              <a:buFont typeface="Inter Tight"/>
              <a:buNone/>
            </a:pPr>
            <a:r>
              <a:rPr b="1" i="0" lang="en-US" sz="800" u="none" cap="none" strike="noStrike">
                <a:solidFill>
                  <a:srgbClr val="0F0F0F"/>
                </a:solidFill>
                <a:latin typeface="Inter Tight"/>
                <a:ea typeface="Inter Tight"/>
                <a:cs typeface="Inter Tight"/>
                <a:sym typeface="Inter Tight"/>
              </a:rPr>
              <a:t>Two things matter in execution. </a:t>
            </a:r>
            <a:r>
              <a:rPr b="0" i="0" lang="en-US" sz="800" u="none" cap="none" strike="noStrike">
                <a:solidFill>
                  <a:srgbClr val="4A4A4A"/>
                </a:solidFill>
                <a:latin typeface="Inter Tight"/>
                <a:ea typeface="Inter Tight"/>
                <a:cs typeface="Inter Tight"/>
                <a:sym typeface="Inter Tight"/>
              </a:rPr>
              <a:t>Malay queries get ad copy written in Malay rather than translated from English, and every waiver or fee claim needs your written confirmation before it runs in an ad, since Google holds the advertiser to it.</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7" name="Shape 327"/>
        <p:cNvGrpSpPr/>
        <p:nvPr/>
      </p:nvGrpSpPr>
      <p:grpSpPr>
        <a:xfrm>
          <a:off x="0" y="0"/>
          <a:ext cx="0" cy="0"/>
          <a:chOff x="0" y="0"/>
          <a:chExt cx="0" cy="0"/>
        </a:xfrm>
      </p:grpSpPr>
      <p:sp>
        <p:nvSpPr>
          <p:cNvPr id="328" name="Google Shape;328;p17"/>
          <p:cNvSpPr/>
          <p:nvPr/>
        </p:nvSpPr>
        <p:spPr>
          <a:xfrm>
            <a:off x="5394960" y="219456"/>
            <a:ext cx="329184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329" name="Google Shape;329;p17"/>
          <p:cNvSpPr/>
          <p:nvPr/>
        </p:nvSpPr>
        <p:spPr>
          <a:xfrm>
            <a:off x="457200" y="420624"/>
            <a:ext cx="8229600" cy="3474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Meta: two ways in, and a warmer follow up</a:t>
            </a:r>
            <a:endParaRPr b="0" i="0" sz="2150" u="none" cap="none" strike="noStrike">
              <a:solidFill>
                <a:schemeClr val="dk1"/>
              </a:solidFill>
              <a:latin typeface="Calibri"/>
              <a:ea typeface="Calibri"/>
              <a:cs typeface="Calibri"/>
              <a:sym typeface="Calibri"/>
            </a:endParaRPr>
          </a:p>
        </p:txBody>
      </p:sp>
      <p:sp>
        <p:nvSpPr>
          <p:cNvPr id="330" name="Google Shape;330;p17"/>
          <p:cNvSpPr/>
          <p:nvPr/>
        </p:nvSpPr>
        <p:spPr>
          <a:xfrm>
            <a:off x="457200" y="804672"/>
            <a:ext cx="8229600" cy="38404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50"/>
              <a:buFont typeface="Inter Tight"/>
              <a:buNone/>
            </a:pPr>
            <a:r>
              <a:rPr b="0" i="0" lang="en-US" sz="850" u="none" cap="none" strike="noStrike">
                <a:solidFill>
                  <a:srgbClr val="4A4A4A"/>
                </a:solidFill>
                <a:latin typeface="Inter Tight"/>
                <a:ea typeface="Inter Tight"/>
                <a:cs typeface="Inter Tight"/>
                <a:sym typeface="Inter Tight"/>
              </a:rPr>
              <a:t>Meta </a:t>
            </a:r>
            <a:r>
              <a:rPr lang="en-US" sz="850">
                <a:solidFill>
                  <a:srgbClr val="4A4A4A"/>
                </a:solidFill>
                <a:latin typeface="Inter Tight"/>
                <a:ea typeface="Inter Tight"/>
                <a:cs typeface="Inter Tight"/>
                <a:sym typeface="Inter Tight"/>
              </a:rPr>
              <a:t>can mirror</a:t>
            </a:r>
            <a:r>
              <a:rPr b="0" i="0" lang="en-US" sz="850" u="none" cap="none" strike="noStrike">
                <a:solidFill>
                  <a:srgbClr val="4A4A4A"/>
                </a:solidFill>
                <a:latin typeface="Inter Tight"/>
                <a:ea typeface="Inter Tight"/>
                <a:cs typeface="Inter Tight"/>
                <a:sym typeface="Inter Tight"/>
              </a:rPr>
              <a:t> what already works on TikTok, plus a WhatsApp route that skips the form altogether.</a:t>
            </a:r>
            <a:endParaRPr b="0" i="0" sz="850" u="none" cap="none" strike="noStrike">
              <a:solidFill>
                <a:schemeClr val="dk1"/>
              </a:solidFill>
              <a:latin typeface="Calibri"/>
              <a:ea typeface="Calibri"/>
              <a:cs typeface="Calibri"/>
              <a:sym typeface="Calibri"/>
            </a:endParaRPr>
          </a:p>
        </p:txBody>
      </p:sp>
      <p:sp>
        <p:nvSpPr>
          <p:cNvPr id="331" name="Google Shape;331;p17"/>
          <p:cNvSpPr/>
          <p:nvPr/>
        </p:nvSpPr>
        <p:spPr>
          <a:xfrm>
            <a:off x="457200" y="1280160"/>
            <a:ext cx="3977640" cy="1097280"/>
          </a:xfrm>
          <a:prstGeom prst="roundRect">
            <a:avLst>
              <a:gd fmla="val 6528"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7"/>
          <p:cNvSpPr/>
          <p:nvPr/>
        </p:nvSpPr>
        <p:spPr>
          <a:xfrm>
            <a:off x="457200" y="1325880"/>
            <a:ext cx="45720" cy="1005840"/>
          </a:xfrm>
          <a:prstGeom prst="rect">
            <a:avLst/>
          </a:prstGeom>
          <a:solidFill>
            <a:srgbClr val="2ECC9B"/>
          </a:solidFill>
          <a:ln cap="flat" cmpd="sng" w="12700">
            <a:solidFill>
              <a:srgbClr val="2ECC9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7"/>
          <p:cNvSpPr/>
          <p:nvPr/>
        </p:nvSpPr>
        <p:spPr>
          <a:xfrm>
            <a:off x="603504" y="1408176"/>
            <a:ext cx="3685032" cy="20116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3056C9"/>
              </a:buClr>
              <a:buSzPts val="950"/>
              <a:buFont typeface="Inter Tight"/>
              <a:buNone/>
            </a:pPr>
            <a:r>
              <a:rPr b="1" i="0" lang="en-US" sz="950" u="none" cap="none" strike="noStrike">
                <a:solidFill>
                  <a:srgbClr val="3056C9"/>
                </a:solidFill>
                <a:latin typeface="Inter Tight"/>
                <a:ea typeface="Inter Tight"/>
                <a:cs typeface="Inter Tight"/>
                <a:sym typeface="Inter Tight"/>
              </a:rPr>
              <a:t>Instant lead form</a:t>
            </a:r>
            <a:endParaRPr b="0" i="0" sz="950" u="none" cap="none" strike="noStrike">
              <a:solidFill>
                <a:schemeClr val="dk1"/>
              </a:solidFill>
              <a:latin typeface="Calibri"/>
              <a:ea typeface="Calibri"/>
              <a:cs typeface="Calibri"/>
              <a:sym typeface="Calibri"/>
            </a:endParaRPr>
          </a:p>
        </p:txBody>
      </p:sp>
      <p:sp>
        <p:nvSpPr>
          <p:cNvPr id="334" name="Google Shape;334;p17"/>
          <p:cNvSpPr/>
          <p:nvPr/>
        </p:nvSpPr>
        <p:spPr>
          <a:xfrm>
            <a:off x="603504" y="1682496"/>
            <a:ext cx="3685032" cy="585216"/>
          </a:xfrm>
          <a:prstGeom prst="rect">
            <a:avLst/>
          </a:prstGeom>
          <a:noFill/>
          <a:ln>
            <a:noFill/>
          </a:ln>
        </p:spPr>
        <p:txBody>
          <a:bodyPr anchorCtr="0" anchor="t" bIns="45700" lIns="91425" spcFirstLastPara="1" rIns="91425" wrap="square" tIns="45700">
            <a:normAutofit/>
          </a:bodyPr>
          <a:lstStyle/>
          <a:p>
            <a:pPr indent="0" lvl="0" marL="0" marR="0" rtl="0" algn="l">
              <a:lnSpc>
                <a:spcPct val="112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The same mechanic that produced 527 leads on TikTok. Cheapest volume, and the winning audiences carry across from one platform to the other.</a:t>
            </a:r>
            <a:endParaRPr b="0" i="0" sz="800" u="none" cap="none" strike="noStrike">
              <a:solidFill>
                <a:schemeClr val="dk1"/>
              </a:solidFill>
              <a:latin typeface="Calibri"/>
              <a:ea typeface="Calibri"/>
              <a:cs typeface="Calibri"/>
              <a:sym typeface="Calibri"/>
            </a:endParaRPr>
          </a:p>
        </p:txBody>
      </p:sp>
      <p:sp>
        <p:nvSpPr>
          <p:cNvPr id="335" name="Google Shape;335;p17"/>
          <p:cNvSpPr/>
          <p:nvPr/>
        </p:nvSpPr>
        <p:spPr>
          <a:xfrm>
            <a:off x="4709160" y="1280160"/>
            <a:ext cx="3977640" cy="1097280"/>
          </a:xfrm>
          <a:prstGeom prst="roundRect">
            <a:avLst>
              <a:gd fmla="val 6528"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7"/>
          <p:cNvSpPr/>
          <p:nvPr/>
        </p:nvSpPr>
        <p:spPr>
          <a:xfrm>
            <a:off x="4709160" y="1325880"/>
            <a:ext cx="45720" cy="1005840"/>
          </a:xfrm>
          <a:prstGeom prst="rect">
            <a:avLst/>
          </a:prstGeom>
          <a:solidFill>
            <a:srgbClr val="8E6BE6"/>
          </a:solidFill>
          <a:ln cap="flat" cmpd="sng" w="12700">
            <a:solidFill>
              <a:srgbClr val="8E6B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7"/>
          <p:cNvSpPr/>
          <p:nvPr/>
        </p:nvSpPr>
        <p:spPr>
          <a:xfrm>
            <a:off x="4855464" y="1408176"/>
            <a:ext cx="3685032" cy="20116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3056C9"/>
              </a:buClr>
              <a:buSzPts val="950"/>
              <a:buFont typeface="Inter Tight"/>
              <a:buNone/>
            </a:pPr>
            <a:r>
              <a:rPr b="1" i="0" lang="en-US" sz="950" u="none" cap="none" strike="noStrike">
                <a:solidFill>
                  <a:srgbClr val="3056C9"/>
                </a:solidFill>
                <a:latin typeface="Inter Tight"/>
                <a:ea typeface="Inter Tight"/>
                <a:cs typeface="Inter Tight"/>
                <a:sym typeface="Inter Tight"/>
              </a:rPr>
              <a:t>Click to WhatsApp</a:t>
            </a:r>
            <a:endParaRPr b="0" i="0" sz="950" u="none" cap="none" strike="noStrike">
              <a:solidFill>
                <a:schemeClr val="dk1"/>
              </a:solidFill>
              <a:latin typeface="Calibri"/>
              <a:ea typeface="Calibri"/>
              <a:cs typeface="Calibri"/>
              <a:sym typeface="Calibri"/>
            </a:endParaRPr>
          </a:p>
        </p:txBody>
      </p:sp>
      <p:sp>
        <p:nvSpPr>
          <p:cNvPr id="338" name="Google Shape;338;p17"/>
          <p:cNvSpPr/>
          <p:nvPr/>
        </p:nvSpPr>
        <p:spPr>
          <a:xfrm>
            <a:off x="4855464" y="1682496"/>
            <a:ext cx="3685032" cy="585216"/>
          </a:xfrm>
          <a:prstGeom prst="rect">
            <a:avLst/>
          </a:prstGeom>
          <a:noFill/>
          <a:ln>
            <a:noFill/>
          </a:ln>
        </p:spPr>
        <p:txBody>
          <a:bodyPr anchorCtr="0" anchor="t" bIns="45700" lIns="91425" spcFirstLastPara="1" rIns="91425" wrap="square" tIns="45700">
            <a:normAutofit/>
          </a:bodyPr>
          <a:lstStyle/>
          <a:p>
            <a:pPr indent="0" lvl="0" marL="0" marR="0" rtl="0" algn="l">
              <a:lnSpc>
                <a:spcPct val="112000"/>
              </a:lnSpc>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The enquirer lands in a WhatsApp thread with your team instead of a form. Nothing is lost between submit and first contact, and parents prefer talking to typing.</a:t>
            </a:r>
            <a:endParaRPr b="0" i="0" sz="800" u="none" cap="none" strike="noStrike">
              <a:solidFill>
                <a:schemeClr val="dk1"/>
              </a:solidFill>
              <a:latin typeface="Calibri"/>
              <a:ea typeface="Calibri"/>
              <a:cs typeface="Calibri"/>
              <a:sym typeface="Calibri"/>
            </a:endParaRPr>
          </a:p>
        </p:txBody>
      </p:sp>
      <p:sp>
        <p:nvSpPr>
          <p:cNvPr id="339" name="Google Shape;339;p17"/>
          <p:cNvSpPr/>
          <p:nvPr/>
        </p:nvSpPr>
        <p:spPr>
          <a:xfrm>
            <a:off x="457200" y="2542032"/>
            <a:ext cx="1933956" cy="1152144"/>
          </a:xfrm>
          <a:prstGeom prst="roundRect">
            <a:avLst>
              <a:gd fmla="val 5921"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7"/>
          <p:cNvSpPr/>
          <p:nvPr/>
        </p:nvSpPr>
        <p:spPr>
          <a:xfrm>
            <a:off x="585216" y="2660904"/>
            <a:ext cx="1677924" cy="32918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F0F0F"/>
              </a:buClr>
              <a:buSzPts val="850"/>
              <a:buFont typeface="Inter Tight"/>
              <a:buNone/>
            </a:pPr>
            <a:r>
              <a:rPr b="1" i="0" lang="en-US" sz="850" u="none" cap="none" strike="noStrike">
                <a:solidFill>
                  <a:srgbClr val="0F0F0F"/>
                </a:solidFill>
                <a:latin typeface="Inter Tight"/>
                <a:ea typeface="Inter Tight"/>
                <a:cs typeface="Inter Tight"/>
                <a:sym typeface="Inter Tight"/>
              </a:rPr>
              <a:t>Broad Klang Valley, 18 to 24</a:t>
            </a:r>
            <a:endParaRPr b="0" i="0" sz="850" u="none" cap="none" strike="noStrike">
              <a:solidFill>
                <a:schemeClr val="dk1"/>
              </a:solidFill>
              <a:latin typeface="Calibri"/>
              <a:ea typeface="Calibri"/>
              <a:cs typeface="Calibri"/>
              <a:sym typeface="Calibri"/>
            </a:endParaRPr>
          </a:p>
        </p:txBody>
      </p:sp>
      <p:sp>
        <p:nvSpPr>
          <p:cNvPr id="341" name="Google Shape;341;p17"/>
          <p:cNvSpPr/>
          <p:nvPr/>
        </p:nvSpPr>
        <p:spPr>
          <a:xfrm>
            <a:off x="585216" y="3017520"/>
            <a:ext cx="1677924" cy="585216"/>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Let Meta find them. Stacking interests limits reach at this budget.</a:t>
            </a:r>
            <a:endParaRPr b="0" i="0" sz="750" u="none" cap="none" strike="noStrike">
              <a:solidFill>
                <a:schemeClr val="dk1"/>
              </a:solidFill>
              <a:latin typeface="Calibri"/>
              <a:ea typeface="Calibri"/>
              <a:cs typeface="Calibri"/>
              <a:sym typeface="Calibri"/>
            </a:endParaRPr>
          </a:p>
        </p:txBody>
      </p:sp>
      <p:sp>
        <p:nvSpPr>
          <p:cNvPr id="342" name="Google Shape;342;p17"/>
          <p:cNvSpPr/>
          <p:nvPr/>
        </p:nvSpPr>
        <p:spPr>
          <a:xfrm>
            <a:off x="2523744" y="2542032"/>
            <a:ext cx="1933956" cy="1152144"/>
          </a:xfrm>
          <a:prstGeom prst="roundRect">
            <a:avLst>
              <a:gd fmla="val 5921"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7"/>
          <p:cNvSpPr/>
          <p:nvPr/>
        </p:nvSpPr>
        <p:spPr>
          <a:xfrm>
            <a:off x="2651760" y="2660904"/>
            <a:ext cx="1677924" cy="32918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F0F0F"/>
              </a:buClr>
              <a:buSzPts val="850"/>
              <a:buFont typeface="Inter Tight"/>
              <a:buNone/>
            </a:pPr>
            <a:r>
              <a:rPr b="1" i="0" lang="en-US" sz="850" u="none" cap="none" strike="noStrike">
                <a:solidFill>
                  <a:srgbClr val="0F0F0F"/>
                </a:solidFill>
                <a:latin typeface="Inter Tight"/>
                <a:ea typeface="Inter Tight"/>
                <a:cs typeface="Inter Tight"/>
                <a:sym typeface="Inter Tight"/>
              </a:rPr>
              <a:t>Parents, 35 to 55</a:t>
            </a:r>
            <a:endParaRPr b="0" i="0" sz="850" u="none" cap="none" strike="noStrike">
              <a:solidFill>
                <a:schemeClr val="dk1"/>
              </a:solidFill>
              <a:latin typeface="Calibri"/>
              <a:ea typeface="Calibri"/>
              <a:cs typeface="Calibri"/>
              <a:sym typeface="Calibri"/>
            </a:endParaRPr>
          </a:p>
        </p:txBody>
      </p:sp>
      <p:sp>
        <p:nvSpPr>
          <p:cNvPr id="344" name="Google Shape;344;p17"/>
          <p:cNvSpPr/>
          <p:nvPr/>
        </p:nvSpPr>
        <p:spPr>
          <a:xfrm>
            <a:off x="2651760" y="3017520"/>
            <a:ext cx="1677924" cy="585216"/>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Klang Valley, layered with education and parent of teenager signals.</a:t>
            </a:r>
            <a:endParaRPr b="0" i="0" sz="750" u="none" cap="none" strike="noStrike">
              <a:solidFill>
                <a:schemeClr val="dk1"/>
              </a:solidFill>
              <a:latin typeface="Calibri"/>
              <a:ea typeface="Calibri"/>
              <a:cs typeface="Calibri"/>
              <a:sym typeface="Calibri"/>
            </a:endParaRPr>
          </a:p>
        </p:txBody>
      </p:sp>
      <p:sp>
        <p:nvSpPr>
          <p:cNvPr id="345" name="Google Shape;345;p17"/>
          <p:cNvSpPr/>
          <p:nvPr/>
        </p:nvSpPr>
        <p:spPr>
          <a:xfrm>
            <a:off x="4590288" y="2542032"/>
            <a:ext cx="1933956" cy="1152144"/>
          </a:xfrm>
          <a:prstGeom prst="roundRect">
            <a:avLst>
              <a:gd fmla="val 5921"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7"/>
          <p:cNvSpPr/>
          <p:nvPr/>
        </p:nvSpPr>
        <p:spPr>
          <a:xfrm>
            <a:off x="4718304" y="2660904"/>
            <a:ext cx="1677924" cy="32918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F0F0F"/>
              </a:buClr>
              <a:buSzPts val="850"/>
              <a:buFont typeface="Inter Tight"/>
              <a:buNone/>
            </a:pPr>
            <a:r>
              <a:rPr b="1" i="0" lang="en-US" sz="850" u="none" cap="none" strike="noStrike">
                <a:solidFill>
                  <a:srgbClr val="0F0F0F"/>
                </a:solidFill>
                <a:latin typeface="Inter Tight"/>
                <a:ea typeface="Inter Tight"/>
                <a:cs typeface="Inter Tight"/>
                <a:sym typeface="Inter Tight"/>
              </a:rPr>
              <a:t>Lookalikes</a:t>
            </a:r>
            <a:endParaRPr b="0" i="0" sz="850" u="none" cap="none" strike="noStrike">
              <a:solidFill>
                <a:schemeClr val="dk1"/>
              </a:solidFill>
              <a:latin typeface="Calibri"/>
              <a:ea typeface="Calibri"/>
              <a:cs typeface="Calibri"/>
              <a:sym typeface="Calibri"/>
            </a:endParaRPr>
          </a:p>
        </p:txBody>
      </p:sp>
      <p:sp>
        <p:nvSpPr>
          <p:cNvPr id="347" name="Google Shape;347;p17"/>
          <p:cNvSpPr/>
          <p:nvPr/>
        </p:nvSpPr>
        <p:spPr>
          <a:xfrm>
            <a:off x="4718304" y="3017520"/>
            <a:ext cx="1677924" cy="585216"/>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Built from your TikTok lead list, uploaded as a customer list.</a:t>
            </a:r>
            <a:endParaRPr b="0" i="0" sz="750" u="none" cap="none" strike="noStrike">
              <a:solidFill>
                <a:schemeClr val="dk1"/>
              </a:solidFill>
              <a:latin typeface="Calibri"/>
              <a:ea typeface="Calibri"/>
              <a:cs typeface="Calibri"/>
              <a:sym typeface="Calibri"/>
            </a:endParaRPr>
          </a:p>
        </p:txBody>
      </p:sp>
      <p:sp>
        <p:nvSpPr>
          <p:cNvPr id="348" name="Google Shape;348;p17"/>
          <p:cNvSpPr/>
          <p:nvPr/>
        </p:nvSpPr>
        <p:spPr>
          <a:xfrm>
            <a:off x="6656832" y="2542032"/>
            <a:ext cx="1933956" cy="1152144"/>
          </a:xfrm>
          <a:prstGeom prst="roundRect">
            <a:avLst>
              <a:gd fmla="val 5921"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7"/>
          <p:cNvSpPr/>
          <p:nvPr/>
        </p:nvSpPr>
        <p:spPr>
          <a:xfrm>
            <a:off x="6784848" y="2660904"/>
            <a:ext cx="1677924" cy="32918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F0F0F"/>
              </a:buClr>
              <a:buSzPts val="850"/>
              <a:buFont typeface="Inter Tight"/>
              <a:buNone/>
            </a:pPr>
            <a:r>
              <a:rPr b="1" i="0" lang="en-US" sz="850" u="none" cap="none" strike="noStrike">
                <a:solidFill>
                  <a:srgbClr val="0F0F0F"/>
                </a:solidFill>
                <a:latin typeface="Inter Tight"/>
                <a:ea typeface="Inter Tight"/>
                <a:cs typeface="Inter Tight"/>
                <a:sym typeface="Inter Tight"/>
              </a:rPr>
              <a:t>Retargeting</a:t>
            </a:r>
            <a:endParaRPr b="0" i="0" sz="850" u="none" cap="none" strike="noStrike">
              <a:solidFill>
                <a:schemeClr val="dk1"/>
              </a:solidFill>
              <a:latin typeface="Calibri"/>
              <a:ea typeface="Calibri"/>
              <a:cs typeface="Calibri"/>
              <a:sym typeface="Calibri"/>
            </a:endParaRPr>
          </a:p>
        </p:txBody>
      </p:sp>
      <p:sp>
        <p:nvSpPr>
          <p:cNvPr id="350" name="Google Shape;350;p17"/>
          <p:cNvSpPr/>
          <p:nvPr/>
        </p:nvSpPr>
        <p:spPr>
          <a:xfrm>
            <a:off x="6784848" y="3017520"/>
            <a:ext cx="1677924" cy="585216"/>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Video viewers, page and profile engagers, form openers who did not submit, and site visitors.</a:t>
            </a:r>
            <a:endParaRPr b="0" i="0" sz="750" u="none" cap="none" strike="noStrike">
              <a:solidFill>
                <a:schemeClr val="dk1"/>
              </a:solidFill>
              <a:latin typeface="Calibri"/>
              <a:ea typeface="Calibri"/>
              <a:cs typeface="Calibri"/>
              <a:sym typeface="Calibri"/>
            </a:endParaRPr>
          </a:p>
        </p:txBody>
      </p:sp>
      <p:sp>
        <p:nvSpPr>
          <p:cNvPr id="351" name="Google Shape;351;p17"/>
          <p:cNvSpPr/>
          <p:nvPr/>
        </p:nvSpPr>
        <p:spPr>
          <a:xfrm>
            <a:off x="457200" y="3858768"/>
            <a:ext cx="8229600" cy="310896"/>
          </a:xfrm>
          <a:prstGeom prst="rect">
            <a:avLst/>
          </a:prstGeom>
          <a:solidFill>
            <a:srgbClr val="3056C9"/>
          </a:solidFill>
          <a:ln cap="flat" cmpd="sng" w="12700">
            <a:solidFill>
              <a:srgbClr val="3056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7"/>
          <p:cNvSpPr/>
          <p:nvPr/>
        </p:nvSpPr>
        <p:spPr>
          <a:xfrm>
            <a:off x="603504" y="3858768"/>
            <a:ext cx="7936992"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800"/>
              <a:buFont typeface="Inter Tight"/>
              <a:buNone/>
            </a:pPr>
            <a:r>
              <a:rPr b="1" i="0" lang="en-US" sz="800" u="none" cap="none" strike="noStrike">
                <a:solidFill>
                  <a:srgbClr val="FFFFFF"/>
                </a:solidFill>
                <a:latin typeface="Inter Tight"/>
                <a:ea typeface="Inter Tight"/>
                <a:cs typeface="Inter Tight"/>
                <a:sym typeface="Inter Tight"/>
              </a:rPr>
              <a:t>Meta pixel and the Conversions API go in from day one, so walk-ins and enrolments can train delivery instead of form fills.</a:t>
            </a:r>
            <a:endParaRPr b="0" i="0" sz="800" u="none" cap="none" strike="noStrike">
              <a:solidFill>
                <a:schemeClr val="dk1"/>
              </a:solidFill>
              <a:latin typeface="Calibri"/>
              <a:ea typeface="Calibri"/>
              <a:cs typeface="Calibri"/>
              <a:sym typeface="Calibri"/>
            </a:endParaRPr>
          </a:p>
        </p:txBody>
      </p:sp>
      <p:sp>
        <p:nvSpPr>
          <p:cNvPr id="353" name="Google Shape;353;p17"/>
          <p:cNvSpPr/>
          <p:nvPr/>
        </p:nvSpPr>
        <p:spPr>
          <a:xfrm>
            <a:off x="457200" y="4261104"/>
            <a:ext cx="8229600" cy="27432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Creative comes from the same library as TikTok. The vertical videos run as reels, with a program carousel and one student testimonial added for the feed.</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8" name="Shape 358"/>
        <p:cNvGrpSpPr/>
        <p:nvPr/>
      </p:nvGrpSpPr>
      <p:grpSpPr>
        <a:xfrm>
          <a:off x="0" y="0"/>
          <a:ext cx="0" cy="0"/>
          <a:chOff x="0" y="0"/>
          <a:chExt cx="0" cy="0"/>
        </a:xfrm>
      </p:grpSpPr>
      <p:sp>
        <p:nvSpPr>
          <p:cNvPr id="359" name="Google Shape;359;p18"/>
          <p:cNvSpPr/>
          <p:nvPr/>
        </p:nvSpPr>
        <p:spPr>
          <a:xfrm>
            <a:off x="5394960" y="219456"/>
            <a:ext cx="329184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360" name="Google Shape;360;p18"/>
          <p:cNvSpPr/>
          <p:nvPr/>
        </p:nvSpPr>
        <p:spPr>
          <a:xfrm>
            <a:off x="457200" y="420624"/>
            <a:ext cx="8229600" cy="3474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Meta: what each audience sees</a:t>
            </a:r>
            <a:endParaRPr b="0" i="0" sz="2150" u="none" cap="none" strike="noStrike">
              <a:solidFill>
                <a:schemeClr val="dk1"/>
              </a:solidFill>
              <a:latin typeface="Calibri"/>
              <a:ea typeface="Calibri"/>
              <a:cs typeface="Calibri"/>
              <a:sym typeface="Calibri"/>
            </a:endParaRPr>
          </a:p>
        </p:txBody>
      </p:sp>
      <p:sp>
        <p:nvSpPr>
          <p:cNvPr id="361" name="Google Shape;361;p18"/>
          <p:cNvSpPr/>
          <p:nvPr/>
        </p:nvSpPr>
        <p:spPr>
          <a:xfrm>
            <a:off x="457200" y="804672"/>
            <a:ext cx="8229600" cy="38404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50"/>
              <a:buFont typeface="Inter Tight"/>
              <a:buNone/>
            </a:pPr>
            <a:r>
              <a:rPr b="0" i="0" lang="en-US" sz="850" u="none" cap="none" strike="noStrike">
                <a:solidFill>
                  <a:srgbClr val="4A4A4A"/>
                </a:solidFill>
                <a:latin typeface="Inter Tight"/>
                <a:ea typeface="Inter Tight"/>
                <a:cs typeface="Inter Tight"/>
                <a:sym typeface="Inter Tight"/>
              </a:rPr>
              <a:t>Four audiences, four different reasons to act. The example lines are directions for the copywriter rather than final ads.</a:t>
            </a:r>
            <a:endParaRPr b="0" i="0" sz="850" u="none" cap="none" strike="noStrike">
              <a:solidFill>
                <a:schemeClr val="dk1"/>
              </a:solidFill>
              <a:latin typeface="Calibri"/>
              <a:ea typeface="Calibri"/>
              <a:cs typeface="Calibri"/>
              <a:sym typeface="Calibri"/>
            </a:endParaRPr>
          </a:p>
        </p:txBody>
      </p:sp>
      <p:graphicFrame>
        <p:nvGraphicFramePr>
          <p:cNvPr id="362" name="Google Shape;362;p18"/>
          <p:cNvGraphicFramePr/>
          <p:nvPr/>
        </p:nvGraphicFramePr>
        <p:xfrm>
          <a:off x="457188" y="1188735"/>
          <a:ext cx="3000000" cy="3000000"/>
        </p:xfrm>
        <a:graphic>
          <a:graphicData uri="http://schemas.openxmlformats.org/drawingml/2006/table">
            <a:tbl>
              <a:tblPr>
                <a:noFill/>
                <a:tableStyleId>{DA89EFAE-9271-447B-A4AB-8F31947992DB}</a:tableStyleId>
              </a:tblPr>
              <a:tblGrid>
                <a:gridCol w="1645925"/>
                <a:gridCol w="1463050"/>
                <a:gridCol w="2560325"/>
                <a:gridCol w="2560325"/>
              </a:tblGrid>
              <a:tr h="566925">
                <a:tc>
                  <a:txBody>
                    <a:bodyPr/>
                    <a:lstStyle/>
                    <a:p>
                      <a:pPr indent="0" lvl="0" marL="0" marR="0" rtl="0" algn="l">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Audience</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l">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Method</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l">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Message direction</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c>
                  <a:txBody>
                    <a:bodyPr/>
                    <a:lstStyle/>
                    <a:p>
                      <a:pPr indent="0" lvl="0" marL="0" marR="0" rtl="0" algn="l">
                        <a:spcBef>
                          <a:spcPts val="0"/>
                        </a:spcBef>
                        <a:spcAft>
                          <a:spcPts val="0"/>
                        </a:spcAft>
                        <a:buClr>
                          <a:srgbClr val="FFFFFF"/>
                        </a:buClr>
                        <a:buSzPts val="750"/>
                        <a:buFont typeface="Inter Tight"/>
                        <a:buNone/>
                      </a:pPr>
                      <a:r>
                        <a:rPr b="1" lang="en-US" sz="750" u="none" cap="none" strike="noStrike">
                          <a:solidFill>
                            <a:srgbClr val="FFFFFF"/>
                          </a:solidFill>
                          <a:latin typeface="Inter Tight"/>
                          <a:ea typeface="Inter Tight"/>
                          <a:cs typeface="Inter Tight"/>
                          <a:sym typeface="Inter Tight"/>
                        </a:rPr>
                        <a:t>Example line</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3056C9"/>
                    </a:solidFill>
                  </a:tcPr>
                </a:tc>
              </a:tr>
              <a:tr h="56692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SPM leavers, 18 to 24</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Instant form</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Remove the assumption that matriculation is the only route after SPM.</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Lepas SPM tak semestinya matrik. Boleh terus masuk diploma.</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Parents, 35 to 55</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Click to WhatsApp</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Answer cost and credibility together, then offer a real person to ask.</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Yuran dan PTPTN, tanya terus di open day. Tak perlu buat temujanji.</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r>
              <a:tr h="56692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Final year STPM</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Instant form</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Use the intake date, which is the only deadline this group responds to.</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Intake closing soon. Walk in this week and get an answer the same day.</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Retargeting</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Click to WhatsApp</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Assume they already know who you are and ask for the visit.</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c>
                  <a:txBody>
                    <a:bodyPr/>
                    <a:lstStyle/>
                    <a:p>
                      <a:pPr indent="0" lvl="0" marL="0" marR="0" rtl="0" algn="l">
                        <a:spcBef>
                          <a:spcPts val="0"/>
                        </a:spcBef>
                        <a:spcAft>
                          <a:spcPts val="0"/>
                        </a:spcAft>
                        <a:buClr>
                          <a:srgbClr val="4A4A4A"/>
                        </a:buClr>
                        <a:buSzPts val="750"/>
                        <a:buFont typeface="Inter Tight"/>
                        <a:buNone/>
                      </a:pPr>
                      <a:r>
                        <a:rPr lang="en-US" sz="750" u="none" cap="none" strike="noStrike">
                          <a:solidFill>
                            <a:srgbClr val="4A4A4A"/>
                          </a:solidFill>
                          <a:latin typeface="Inter Tight"/>
                          <a:ea typeface="Inter Tight"/>
                          <a:cs typeface="Inter Tight"/>
                          <a:sym typeface="Inter Tight"/>
                        </a:rPr>
                        <a:t>Still deciding? The open day runs every weekday, 9am to 4pm.</a:t>
                      </a:r>
                      <a:endParaRPr sz="750" u="none" cap="none" strike="noStrike">
                        <a:latin typeface="Inter Tight"/>
                        <a:ea typeface="Inter Tight"/>
                        <a:cs typeface="Inter Tight"/>
                        <a:sym typeface="Inter Tight"/>
                      </a:endParaRPr>
                    </a:p>
                  </a:txBody>
                  <a:tcPr marT="50800" marB="50800" marR="50800" marL="50800" anchor="ctr">
                    <a:lnL cap="flat" cmpd="sng" w="9525">
                      <a:solidFill>
                        <a:srgbClr val="E4E6EE"/>
                      </a:solidFill>
                      <a:prstDash val="solid"/>
                      <a:round/>
                      <a:headEnd len="sm" w="sm" type="none"/>
                      <a:tailEnd len="sm" w="sm" type="none"/>
                    </a:lnL>
                    <a:lnR cap="flat" cmpd="sng" w="9525">
                      <a:solidFill>
                        <a:srgbClr val="E4E6EE"/>
                      </a:solidFill>
                      <a:prstDash val="solid"/>
                      <a:round/>
                      <a:headEnd len="sm" w="sm" type="none"/>
                      <a:tailEnd len="sm" w="sm" type="none"/>
                    </a:lnR>
                    <a:lnT cap="flat" cmpd="sng" w="9525">
                      <a:solidFill>
                        <a:srgbClr val="E4E6EE"/>
                      </a:solidFill>
                      <a:prstDash val="solid"/>
                      <a:round/>
                      <a:headEnd len="sm" w="sm" type="none"/>
                      <a:tailEnd len="sm" w="sm" type="none"/>
                    </a:lnT>
                    <a:lnB cap="flat" cmpd="sng" w="9525">
                      <a:solidFill>
                        <a:srgbClr val="E4E6EE"/>
                      </a:solidFill>
                      <a:prstDash val="solid"/>
                      <a:round/>
                      <a:headEnd len="sm" w="sm" type="none"/>
                      <a:tailEnd len="sm" w="sm" type="none"/>
                    </a:lnB>
                    <a:solidFill>
                      <a:srgbClr val="F2F3F6"/>
                    </a:solidFill>
                  </a:tcPr>
                </a:tc>
              </a:tr>
            </a:tbl>
          </a:graphicData>
        </a:graphic>
      </p:graphicFrame>
      <p:sp>
        <p:nvSpPr>
          <p:cNvPr id="363" name="Google Shape;363;p18"/>
          <p:cNvSpPr/>
          <p:nvPr/>
        </p:nvSpPr>
        <p:spPr>
          <a:xfrm>
            <a:off x="457188" y="4114764"/>
            <a:ext cx="8229600" cy="896100"/>
          </a:xfrm>
          <a:prstGeom prst="roundRect">
            <a:avLst>
              <a:gd fmla="val 9788"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8"/>
          <p:cNvSpPr/>
          <p:nvPr/>
        </p:nvSpPr>
        <p:spPr>
          <a:xfrm>
            <a:off x="621779" y="4233636"/>
            <a:ext cx="79005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056C9"/>
              </a:buClr>
              <a:buSzPts val="900"/>
              <a:buFont typeface="Inter Tight"/>
              <a:buNone/>
            </a:pPr>
            <a:r>
              <a:rPr b="1" i="0" lang="en-US" sz="900" u="none" cap="none" strike="noStrike">
                <a:solidFill>
                  <a:srgbClr val="3056C9"/>
                </a:solidFill>
                <a:latin typeface="Inter Tight"/>
                <a:ea typeface="Inter Tight"/>
                <a:cs typeface="Inter Tight"/>
                <a:sym typeface="Inter Tight"/>
              </a:rPr>
              <a:t>What we would test first</a:t>
            </a:r>
            <a:endParaRPr b="0" i="0" sz="900" u="none" cap="none" strike="noStrike">
              <a:solidFill>
                <a:schemeClr val="dk1"/>
              </a:solidFill>
              <a:latin typeface="Calibri"/>
              <a:ea typeface="Calibri"/>
              <a:cs typeface="Calibri"/>
              <a:sym typeface="Calibri"/>
            </a:endParaRPr>
          </a:p>
        </p:txBody>
      </p:sp>
      <p:sp>
        <p:nvSpPr>
          <p:cNvPr id="365" name="Google Shape;365;p18"/>
          <p:cNvSpPr/>
          <p:nvPr/>
        </p:nvSpPr>
        <p:spPr>
          <a:xfrm>
            <a:off x="621779" y="4471380"/>
            <a:ext cx="7900500" cy="448200"/>
          </a:xfrm>
          <a:prstGeom prst="rect">
            <a:avLst/>
          </a:prstGeom>
          <a:noFill/>
          <a:ln>
            <a:noFill/>
          </a:ln>
        </p:spPr>
        <p:txBody>
          <a:bodyPr anchorCtr="0" anchor="t" bIns="45700" lIns="91425" spcFirstLastPara="1" rIns="91425" wrap="square" tIns="45700">
            <a:normAutofit/>
          </a:bodyPr>
          <a:lstStyle/>
          <a:p>
            <a:pPr indent="0" lvl="0" marL="0" marR="0" rtl="0" algn="l">
              <a:lnSpc>
                <a:spcPct val="114000"/>
              </a:lnSpc>
              <a:spcBef>
                <a:spcPts val="0"/>
              </a:spcBef>
              <a:spcAft>
                <a:spcPts val="0"/>
              </a:spcAft>
              <a:buClr>
                <a:srgbClr val="0F0F0F"/>
              </a:buClr>
              <a:buSzPts val="800"/>
              <a:buFont typeface="Inter Tight"/>
              <a:buNone/>
            </a:pPr>
            <a:r>
              <a:rPr b="0" i="0" lang="en-US" sz="800" u="none" cap="none" strike="noStrike">
                <a:solidFill>
                  <a:srgbClr val="0F0F0F"/>
                </a:solidFill>
                <a:latin typeface="Inter Tight"/>
                <a:ea typeface="Inter Tight"/>
                <a:cs typeface="Inter Tight"/>
                <a:sym typeface="Inter Tight"/>
              </a:rPr>
              <a:t>The offers already on your open day poster have never appeared in an ad we have run. The Foundation tuition fee waiver, the RM 3,000 undergraduate waiver, and the RM 250 per A are the strongest things you have to say to a parent, and they are sitting unused.</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0" name="Shape 370"/>
        <p:cNvGrpSpPr/>
        <p:nvPr/>
      </p:nvGrpSpPr>
      <p:grpSpPr>
        <a:xfrm>
          <a:off x="0" y="0"/>
          <a:ext cx="0" cy="0"/>
          <a:chOff x="0" y="0"/>
          <a:chExt cx="0" cy="0"/>
        </a:xfrm>
      </p:grpSpPr>
      <p:sp>
        <p:nvSpPr>
          <p:cNvPr id="371" name="Google Shape;371;p19"/>
          <p:cNvSpPr/>
          <p:nvPr/>
        </p:nvSpPr>
        <p:spPr>
          <a:xfrm>
            <a:off x="5394960" y="219456"/>
            <a:ext cx="329184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372" name="Google Shape;372;p19"/>
          <p:cNvSpPr/>
          <p:nvPr/>
        </p:nvSpPr>
        <p:spPr>
          <a:xfrm>
            <a:off x="457200" y="420624"/>
            <a:ext cx="8229600" cy="3474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The website decides whether search spend is worth buying</a:t>
            </a:r>
            <a:endParaRPr b="0" i="0" sz="2150" u="none" cap="none" strike="noStrike">
              <a:solidFill>
                <a:schemeClr val="dk1"/>
              </a:solidFill>
              <a:latin typeface="Calibri"/>
              <a:ea typeface="Calibri"/>
              <a:cs typeface="Calibri"/>
              <a:sym typeface="Calibri"/>
            </a:endParaRPr>
          </a:p>
        </p:txBody>
      </p:sp>
      <p:sp>
        <p:nvSpPr>
          <p:cNvPr id="373" name="Google Shape;373;p19"/>
          <p:cNvSpPr/>
          <p:nvPr/>
        </p:nvSpPr>
        <p:spPr>
          <a:xfrm>
            <a:off x="457200" y="804672"/>
            <a:ext cx="8229600" cy="38404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50"/>
              <a:buFont typeface="Inter Tight"/>
              <a:buNone/>
            </a:pPr>
            <a:r>
              <a:rPr b="0" i="0" lang="en-US" sz="850" u="none" cap="none" strike="noStrike">
                <a:solidFill>
                  <a:srgbClr val="4A4A4A"/>
                </a:solidFill>
                <a:latin typeface="Inter Tight"/>
                <a:ea typeface="Inter Tight"/>
                <a:cs typeface="Inter Tight"/>
                <a:sym typeface="Inter Tight"/>
              </a:rPr>
              <a:t>Google Search sends people who are ready to act. At the moment there is no page built to receive them.</a:t>
            </a:r>
            <a:endParaRPr b="0" i="0" sz="850" u="none" cap="none" strike="noStrike">
              <a:solidFill>
                <a:schemeClr val="dk1"/>
              </a:solidFill>
              <a:latin typeface="Calibri"/>
              <a:ea typeface="Calibri"/>
              <a:cs typeface="Calibri"/>
              <a:sym typeface="Calibri"/>
            </a:endParaRPr>
          </a:p>
        </p:txBody>
      </p:sp>
      <p:sp>
        <p:nvSpPr>
          <p:cNvPr id="374" name="Google Shape;374;p19"/>
          <p:cNvSpPr/>
          <p:nvPr/>
        </p:nvSpPr>
        <p:spPr>
          <a:xfrm>
            <a:off x="457200" y="1280160"/>
            <a:ext cx="3977640" cy="2212848"/>
          </a:xfrm>
          <a:prstGeom prst="roundRect">
            <a:avLst>
              <a:gd fmla="val 1605"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9"/>
          <p:cNvSpPr/>
          <p:nvPr/>
        </p:nvSpPr>
        <p:spPr>
          <a:xfrm>
            <a:off x="457200" y="1325880"/>
            <a:ext cx="45720" cy="2121408"/>
          </a:xfrm>
          <a:prstGeom prst="rect">
            <a:avLst/>
          </a:prstGeom>
          <a:solidFill>
            <a:srgbClr val="4A7BF7"/>
          </a:solidFill>
          <a:ln cap="flat" cmpd="sng" w="12700">
            <a:solidFill>
              <a:srgbClr val="4A7B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9"/>
          <p:cNvSpPr/>
          <p:nvPr/>
        </p:nvSpPr>
        <p:spPr>
          <a:xfrm>
            <a:off x="603504" y="1408176"/>
            <a:ext cx="3685032" cy="20116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3056C9"/>
              </a:buClr>
              <a:buSzPts val="950"/>
              <a:buFont typeface="Inter Tight"/>
              <a:buNone/>
            </a:pPr>
            <a:r>
              <a:rPr b="1" i="0" lang="en-US" sz="950" u="none" cap="none" strike="noStrike">
                <a:solidFill>
                  <a:srgbClr val="3056C9"/>
                </a:solidFill>
                <a:latin typeface="Inter Tight"/>
                <a:ea typeface="Inter Tight"/>
                <a:cs typeface="Inter Tight"/>
                <a:sym typeface="Inter Tight"/>
              </a:rPr>
              <a:t>Build these</a:t>
            </a:r>
            <a:endParaRPr b="0" i="0" sz="950" u="none" cap="none" strike="noStrike">
              <a:solidFill>
                <a:schemeClr val="dk1"/>
              </a:solidFill>
              <a:latin typeface="Calibri"/>
              <a:ea typeface="Calibri"/>
              <a:cs typeface="Calibri"/>
              <a:sym typeface="Calibri"/>
            </a:endParaRPr>
          </a:p>
        </p:txBody>
      </p:sp>
      <p:sp>
        <p:nvSpPr>
          <p:cNvPr id="377" name="Google Shape;377;p19"/>
          <p:cNvSpPr/>
          <p:nvPr/>
        </p:nvSpPr>
        <p:spPr>
          <a:xfrm>
            <a:off x="603504" y="1682496"/>
            <a:ext cx="3685032" cy="1700784"/>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A dedicated open day and appointment page. Form above the fold, four or five fields, program dropdown, WhatsApp button, campus photos, MQA and PTPTN marks.</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A thank you page, because Google Ads needs a destination event to count a conversion.</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Program pages that answer the real questions: fees, entry requirements, intake dates, MQA code, and what graduates do at work.</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One open day calendar page, so organic, paid, and social all point to the same place.</a:t>
            </a:r>
            <a:endParaRPr b="0" i="0" sz="750" u="none" cap="none" strike="noStrike">
              <a:solidFill>
                <a:schemeClr val="dk1"/>
              </a:solidFill>
              <a:latin typeface="Calibri"/>
              <a:ea typeface="Calibri"/>
              <a:cs typeface="Calibri"/>
              <a:sym typeface="Calibri"/>
            </a:endParaRPr>
          </a:p>
        </p:txBody>
      </p:sp>
      <p:sp>
        <p:nvSpPr>
          <p:cNvPr id="378" name="Google Shape;378;p19"/>
          <p:cNvSpPr/>
          <p:nvPr/>
        </p:nvSpPr>
        <p:spPr>
          <a:xfrm>
            <a:off x="4709160" y="1280160"/>
            <a:ext cx="3977640" cy="2212848"/>
          </a:xfrm>
          <a:prstGeom prst="roundRect">
            <a:avLst>
              <a:gd fmla="val 1605"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9"/>
          <p:cNvSpPr/>
          <p:nvPr/>
        </p:nvSpPr>
        <p:spPr>
          <a:xfrm>
            <a:off x="4709160" y="1325880"/>
            <a:ext cx="45720" cy="2121408"/>
          </a:xfrm>
          <a:prstGeom prst="rect">
            <a:avLst/>
          </a:prstGeom>
          <a:solidFill>
            <a:srgbClr val="F28B4C"/>
          </a:solidFill>
          <a:ln cap="flat" cmpd="sng" w="12700">
            <a:solidFill>
              <a:srgbClr val="F28B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9"/>
          <p:cNvSpPr/>
          <p:nvPr/>
        </p:nvSpPr>
        <p:spPr>
          <a:xfrm>
            <a:off x="4855464" y="1408176"/>
            <a:ext cx="3685032" cy="20116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3056C9"/>
              </a:buClr>
              <a:buSzPts val="950"/>
              <a:buFont typeface="Inter Tight"/>
              <a:buNone/>
            </a:pPr>
            <a:r>
              <a:rPr b="1" i="0" lang="en-US" sz="950" u="none" cap="none" strike="noStrike">
                <a:solidFill>
                  <a:srgbClr val="3056C9"/>
                </a:solidFill>
                <a:latin typeface="Inter Tight"/>
                <a:ea typeface="Inter Tight"/>
                <a:cs typeface="Inter Tight"/>
                <a:sym typeface="Inter Tight"/>
              </a:rPr>
              <a:t>Fix these</a:t>
            </a:r>
            <a:endParaRPr b="0" i="0" sz="950" u="none" cap="none" strike="noStrike">
              <a:solidFill>
                <a:schemeClr val="dk1"/>
              </a:solidFill>
              <a:latin typeface="Calibri"/>
              <a:ea typeface="Calibri"/>
              <a:cs typeface="Calibri"/>
              <a:sym typeface="Calibri"/>
            </a:endParaRPr>
          </a:p>
        </p:txBody>
      </p:sp>
      <p:sp>
        <p:nvSpPr>
          <p:cNvPr id="381" name="Google Shape;381;p19"/>
          <p:cNvSpPr/>
          <p:nvPr/>
        </p:nvSpPr>
        <p:spPr>
          <a:xfrm>
            <a:off x="4855464" y="1682496"/>
            <a:ext cx="3685032" cy="1700784"/>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One tracking stack with one named owner: GA4, Google tag, Meta pixel and Conversions API, TikTok pixel and Events API.</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Mobile speed. Almost every click from social and search arrives on a phone.</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Malay landing pages, because half the audience searches in Malay and should not land on English.</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Published fees. Hiding them adds a phone call to every enquiry and loses the ones who will not call.</a:t>
            </a:r>
            <a:endParaRPr b="0" i="0" sz="750" u="none" cap="none" strike="noStrike">
              <a:solidFill>
                <a:schemeClr val="dk1"/>
              </a:solidFill>
              <a:latin typeface="Calibri"/>
              <a:ea typeface="Calibri"/>
              <a:cs typeface="Calibri"/>
              <a:sym typeface="Calibri"/>
            </a:endParaRPr>
          </a:p>
        </p:txBody>
      </p:sp>
      <p:sp>
        <p:nvSpPr>
          <p:cNvPr id="382" name="Google Shape;382;p19"/>
          <p:cNvSpPr/>
          <p:nvPr/>
        </p:nvSpPr>
        <p:spPr>
          <a:xfrm>
            <a:off x="457200" y="3621025"/>
            <a:ext cx="8229600" cy="792000"/>
          </a:xfrm>
          <a:prstGeom prst="roundRect">
            <a:avLst>
              <a:gd fmla="val 7769" name="adj"/>
            </a:avLst>
          </a:prstGeom>
          <a:solidFill>
            <a:srgbClr val="DDE5FE"/>
          </a:solidFill>
          <a:ln cap="flat" cmpd="sng" w="12700">
            <a:solidFill>
              <a:srgbClr val="DDE5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9"/>
          <p:cNvSpPr/>
          <p:nvPr/>
        </p:nvSpPr>
        <p:spPr>
          <a:xfrm>
            <a:off x="621792" y="3739896"/>
            <a:ext cx="7900416"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056C9"/>
              </a:buClr>
              <a:buSzPts val="900"/>
              <a:buFont typeface="Inter Tight"/>
              <a:buNone/>
            </a:pPr>
            <a:r>
              <a:rPr b="1" i="0" lang="en-US" sz="900" u="none" cap="none" strike="noStrike">
                <a:solidFill>
                  <a:srgbClr val="3056C9"/>
                </a:solidFill>
                <a:latin typeface="Inter Tight"/>
                <a:ea typeface="Inter Tight"/>
                <a:cs typeface="Inter Tight"/>
                <a:sym typeface="Inter Tight"/>
              </a:rPr>
              <a:t>What we need in order to be specific</a:t>
            </a:r>
            <a:endParaRPr b="0" i="0" sz="900" u="none" cap="none" strike="noStrike">
              <a:solidFill>
                <a:schemeClr val="dk1"/>
              </a:solidFill>
              <a:latin typeface="Calibri"/>
              <a:ea typeface="Calibri"/>
              <a:cs typeface="Calibri"/>
              <a:sym typeface="Calibri"/>
            </a:endParaRPr>
          </a:p>
        </p:txBody>
      </p:sp>
      <p:sp>
        <p:nvSpPr>
          <p:cNvPr id="384" name="Google Shape;384;p19"/>
          <p:cNvSpPr/>
          <p:nvPr/>
        </p:nvSpPr>
        <p:spPr>
          <a:xfrm>
            <a:off x="621800" y="3977647"/>
            <a:ext cx="7900500" cy="384000"/>
          </a:xfrm>
          <a:prstGeom prst="rect">
            <a:avLst/>
          </a:prstGeom>
          <a:noFill/>
          <a:ln>
            <a:noFill/>
          </a:ln>
        </p:spPr>
        <p:txBody>
          <a:bodyPr anchorCtr="0" anchor="t" bIns="45700" lIns="91425" spcFirstLastPara="1" rIns="91425" wrap="square" tIns="45700">
            <a:normAutofit/>
          </a:bodyPr>
          <a:lstStyle/>
          <a:p>
            <a:pPr indent="0" lvl="0" marL="0" marR="0" rtl="0" algn="l">
              <a:lnSpc>
                <a:spcPct val="114000"/>
              </a:lnSpc>
              <a:spcBef>
                <a:spcPts val="0"/>
              </a:spcBef>
              <a:spcAft>
                <a:spcPts val="0"/>
              </a:spcAft>
              <a:buClr>
                <a:srgbClr val="0F0F0F"/>
              </a:buClr>
              <a:buSzPts val="800"/>
              <a:buFont typeface="Inter Tight"/>
              <a:buNone/>
            </a:pPr>
            <a:r>
              <a:rPr b="0" i="0" lang="en-US" sz="800" u="none" cap="none" strike="noStrike">
                <a:solidFill>
                  <a:srgbClr val="0F0F0F"/>
                </a:solidFill>
                <a:latin typeface="Inter Tight"/>
                <a:ea typeface="Inter Tight"/>
                <a:cs typeface="Inter Tight"/>
                <a:sym typeface="Inter Tight"/>
              </a:rPr>
              <a:t>GA4 access, Search Console access, and your web developer or CMS contact. With those three we can </a:t>
            </a:r>
            <a:r>
              <a:rPr lang="en-US" sz="800">
                <a:solidFill>
                  <a:srgbClr val="0F0F0F"/>
                </a:solidFill>
                <a:latin typeface="Inter Tight"/>
                <a:ea typeface="Inter Tight"/>
                <a:cs typeface="Inter Tight"/>
                <a:sym typeface="Inter Tight"/>
              </a:rPr>
              <a:t>further improve the website to acquire conversions and open a new leads stream for IJN</a:t>
            </a:r>
            <a:r>
              <a:rPr b="0" i="0" lang="en-US" sz="800" u="none" cap="none" strike="noStrike">
                <a:solidFill>
                  <a:srgbClr val="0F0F0F"/>
                </a:solidFill>
                <a:latin typeface="Inter Tight"/>
                <a:ea typeface="Inter Tight"/>
                <a:cs typeface="Inter Tight"/>
                <a:sym typeface="Inter Tight"/>
              </a:rPr>
              <a:t>. </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9" name="Shape 389"/>
        <p:cNvGrpSpPr/>
        <p:nvPr/>
      </p:nvGrpSpPr>
      <p:grpSpPr>
        <a:xfrm>
          <a:off x="0" y="0"/>
          <a:ext cx="0" cy="0"/>
          <a:chOff x="0" y="0"/>
          <a:chExt cx="0" cy="0"/>
        </a:xfrm>
      </p:grpSpPr>
      <p:sp>
        <p:nvSpPr>
          <p:cNvPr id="390" name="Google Shape;390;p20"/>
          <p:cNvSpPr/>
          <p:nvPr/>
        </p:nvSpPr>
        <p:spPr>
          <a:xfrm>
            <a:off x="5394960" y="219456"/>
            <a:ext cx="329184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391" name="Google Shape;391;p20"/>
          <p:cNvSpPr/>
          <p:nvPr/>
        </p:nvSpPr>
        <p:spPr>
          <a:xfrm>
            <a:off x="457200" y="420624"/>
            <a:ext cx="8229600" cy="3474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Six things outside the ad account that move the numbers more than bidding does</a:t>
            </a:r>
            <a:endParaRPr b="0" i="0" sz="2150" u="none" cap="none" strike="noStrike">
              <a:solidFill>
                <a:schemeClr val="dk1"/>
              </a:solidFill>
              <a:latin typeface="Calibri"/>
              <a:ea typeface="Calibri"/>
              <a:cs typeface="Calibri"/>
              <a:sym typeface="Calibri"/>
            </a:endParaRPr>
          </a:p>
        </p:txBody>
      </p:sp>
      <p:sp>
        <p:nvSpPr>
          <p:cNvPr id="392" name="Google Shape;392;p20"/>
          <p:cNvSpPr/>
          <p:nvPr/>
        </p:nvSpPr>
        <p:spPr>
          <a:xfrm>
            <a:off x="457150" y="1163085"/>
            <a:ext cx="8229600" cy="384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50"/>
              <a:buFont typeface="Inter Tight"/>
              <a:buNone/>
            </a:pPr>
            <a:r>
              <a:rPr b="0" i="0" lang="en-US" sz="850" u="none" cap="none" strike="noStrike">
                <a:solidFill>
                  <a:srgbClr val="4A4A4A"/>
                </a:solidFill>
                <a:latin typeface="Inter Tight"/>
                <a:ea typeface="Inter Tight"/>
                <a:cs typeface="Inter Tight"/>
                <a:sym typeface="Inter Tight"/>
              </a:rPr>
              <a:t>Ranked by how much they change the result, not by how hard they are.</a:t>
            </a:r>
            <a:endParaRPr b="0" i="0" sz="850" u="none" cap="none" strike="noStrike">
              <a:solidFill>
                <a:schemeClr val="dk1"/>
              </a:solidFill>
              <a:latin typeface="Calibri"/>
              <a:ea typeface="Calibri"/>
              <a:cs typeface="Calibri"/>
              <a:sym typeface="Calibri"/>
            </a:endParaRPr>
          </a:p>
        </p:txBody>
      </p:sp>
      <p:sp>
        <p:nvSpPr>
          <p:cNvPr id="393" name="Google Shape;393;p20"/>
          <p:cNvSpPr/>
          <p:nvPr/>
        </p:nvSpPr>
        <p:spPr>
          <a:xfrm>
            <a:off x="457200" y="1622085"/>
            <a:ext cx="2615100" cy="1371600"/>
          </a:xfrm>
          <a:prstGeom prst="roundRect">
            <a:avLst>
              <a:gd fmla="val 4178"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0"/>
          <p:cNvSpPr/>
          <p:nvPr/>
        </p:nvSpPr>
        <p:spPr>
          <a:xfrm>
            <a:off x="457200" y="1622085"/>
            <a:ext cx="2615100" cy="50400"/>
          </a:xfrm>
          <a:prstGeom prst="rect">
            <a:avLst/>
          </a:prstGeom>
          <a:solidFill>
            <a:srgbClr val="4A7BF7"/>
          </a:solidFill>
          <a:ln cap="flat" cmpd="sng" w="12700">
            <a:solidFill>
              <a:srgbClr val="4A7B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0"/>
          <p:cNvSpPr/>
          <p:nvPr/>
        </p:nvSpPr>
        <p:spPr>
          <a:xfrm>
            <a:off x="603504" y="1750101"/>
            <a:ext cx="5487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056C9"/>
              </a:buClr>
              <a:buSzPts val="800"/>
              <a:buFont typeface="Inter Tight"/>
              <a:buNone/>
            </a:pPr>
            <a:r>
              <a:rPr b="1" i="0" lang="en-US" sz="800" u="none" cap="none" strike="noStrike">
                <a:solidFill>
                  <a:srgbClr val="3056C9"/>
                </a:solidFill>
                <a:latin typeface="Inter Tight"/>
                <a:ea typeface="Inter Tight"/>
                <a:cs typeface="Inter Tight"/>
                <a:sym typeface="Inter Tight"/>
              </a:rPr>
              <a:t>01</a:t>
            </a:r>
            <a:endParaRPr b="0" i="0" sz="800" u="none" cap="none" strike="noStrike">
              <a:solidFill>
                <a:schemeClr val="dk1"/>
              </a:solidFill>
              <a:latin typeface="Calibri"/>
              <a:ea typeface="Calibri"/>
              <a:cs typeface="Calibri"/>
              <a:sym typeface="Calibri"/>
            </a:endParaRPr>
          </a:p>
        </p:txBody>
      </p:sp>
      <p:sp>
        <p:nvSpPr>
          <p:cNvPr id="396" name="Google Shape;396;p20"/>
          <p:cNvSpPr/>
          <p:nvPr/>
        </p:nvSpPr>
        <p:spPr>
          <a:xfrm>
            <a:off x="603504" y="1942125"/>
            <a:ext cx="2322600" cy="2013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900"/>
              <a:buFont typeface="Inter Tight"/>
              <a:buNone/>
            </a:pPr>
            <a:r>
              <a:rPr b="1" i="0" lang="en-US" sz="900" u="none" cap="none" strike="noStrike">
                <a:solidFill>
                  <a:srgbClr val="0F0F0F"/>
                </a:solidFill>
                <a:latin typeface="Inter Tight"/>
                <a:ea typeface="Inter Tight"/>
                <a:cs typeface="Inter Tight"/>
                <a:sym typeface="Inter Tight"/>
              </a:rPr>
              <a:t>Lead outcomes in the shared sheet</a:t>
            </a:r>
            <a:endParaRPr b="0" i="0" sz="900" u="none" cap="none" strike="noStrike">
              <a:solidFill>
                <a:schemeClr val="dk1"/>
              </a:solidFill>
              <a:latin typeface="Calibri"/>
              <a:ea typeface="Calibri"/>
              <a:cs typeface="Calibri"/>
              <a:sym typeface="Calibri"/>
            </a:endParaRPr>
          </a:p>
        </p:txBody>
      </p:sp>
      <p:sp>
        <p:nvSpPr>
          <p:cNvPr id="397" name="Google Shape;397;p20"/>
          <p:cNvSpPr/>
          <p:nvPr/>
        </p:nvSpPr>
        <p:spPr>
          <a:xfrm>
            <a:off x="603504" y="2152437"/>
            <a:ext cx="2322600" cy="749700"/>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Qualified, appointment booked, walked in, applied, enrolled, updated weekly. The June report asked how the High Intent leads were performing and that question is still open.</a:t>
            </a:r>
            <a:endParaRPr b="0" i="0" sz="750" u="none" cap="none" strike="noStrike">
              <a:solidFill>
                <a:schemeClr val="dk1"/>
              </a:solidFill>
              <a:latin typeface="Calibri"/>
              <a:ea typeface="Calibri"/>
              <a:cs typeface="Calibri"/>
              <a:sym typeface="Calibri"/>
            </a:endParaRPr>
          </a:p>
        </p:txBody>
      </p:sp>
      <p:sp>
        <p:nvSpPr>
          <p:cNvPr id="398" name="Google Shape;398;p20"/>
          <p:cNvSpPr/>
          <p:nvPr/>
        </p:nvSpPr>
        <p:spPr>
          <a:xfrm>
            <a:off x="3264408" y="1622085"/>
            <a:ext cx="2615100" cy="1371600"/>
          </a:xfrm>
          <a:prstGeom prst="roundRect">
            <a:avLst>
              <a:gd fmla="val 4178"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0"/>
          <p:cNvSpPr/>
          <p:nvPr/>
        </p:nvSpPr>
        <p:spPr>
          <a:xfrm>
            <a:off x="3264408" y="1622085"/>
            <a:ext cx="2615100" cy="50400"/>
          </a:xfrm>
          <a:prstGeom prst="rect">
            <a:avLst/>
          </a:prstGeom>
          <a:solidFill>
            <a:srgbClr val="2ECC9B"/>
          </a:solidFill>
          <a:ln cap="flat" cmpd="sng" w="12700">
            <a:solidFill>
              <a:srgbClr val="2ECC9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0"/>
          <p:cNvSpPr/>
          <p:nvPr/>
        </p:nvSpPr>
        <p:spPr>
          <a:xfrm>
            <a:off x="3410712" y="1750101"/>
            <a:ext cx="5487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056C9"/>
              </a:buClr>
              <a:buSzPts val="800"/>
              <a:buFont typeface="Inter Tight"/>
              <a:buNone/>
            </a:pPr>
            <a:r>
              <a:rPr b="1" i="0" lang="en-US" sz="800" u="none" cap="none" strike="noStrike">
                <a:solidFill>
                  <a:srgbClr val="3056C9"/>
                </a:solidFill>
                <a:latin typeface="Inter Tight"/>
                <a:ea typeface="Inter Tight"/>
                <a:cs typeface="Inter Tight"/>
                <a:sym typeface="Inter Tight"/>
              </a:rPr>
              <a:t>02</a:t>
            </a:r>
            <a:endParaRPr b="0" i="0" sz="800" u="none" cap="none" strike="noStrike">
              <a:solidFill>
                <a:schemeClr val="dk1"/>
              </a:solidFill>
              <a:latin typeface="Calibri"/>
              <a:ea typeface="Calibri"/>
              <a:cs typeface="Calibri"/>
              <a:sym typeface="Calibri"/>
            </a:endParaRPr>
          </a:p>
        </p:txBody>
      </p:sp>
      <p:sp>
        <p:nvSpPr>
          <p:cNvPr id="401" name="Google Shape;401;p20"/>
          <p:cNvSpPr/>
          <p:nvPr/>
        </p:nvSpPr>
        <p:spPr>
          <a:xfrm>
            <a:off x="3410712" y="1942125"/>
            <a:ext cx="2322600" cy="2013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900"/>
              <a:buFont typeface="Inter Tight"/>
              <a:buNone/>
            </a:pPr>
            <a:r>
              <a:rPr b="1" i="0" lang="en-US" sz="900" u="none" cap="none" strike="noStrike">
                <a:solidFill>
                  <a:srgbClr val="0F0F0F"/>
                </a:solidFill>
                <a:latin typeface="Inter Tight"/>
                <a:ea typeface="Inter Tight"/>
                <a:cs typeface="Inter Tight"/>
                <a:sym typeface="Inter Tight"/>
              </a:rPr>
              <a:t>Speed to first contact</a:t>
            </a:r>
            <a:endParaRPr b="0" i="0" sz="900" u="none" cap="none" strike="noStrike">
              <a:solidFill>
                <a:schemeClr val="dk1"/>
              </a:solidFill>
              <a:latin typeface="Calibri"/>
              <a:ea typeface="Calibri"/>
              <a:cs typeface="Calibri"/>
              <a:sym typeface="Calibri"/>
            </a:endParaRPr>
          </a:p>
        </p:txBody>
      </p:sp>
      <p:sp>
        <p:nvSpPr>
          <p:cNvPr id="402" name="Google Shape;402;p20"/>
          <p:cNvSpPr/>
          <p:nvPr/>
        </p:nvSpPr>
        <p:spPr>
          <a:xfrm>
            <a:off x="3410712" y="2152437"/>
            <a:ext cx="2322600" cy="749700"/>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An automated WhatsApp acknowledgement on submit, a human inside the hour, then reminders 24 hours and 2 hours before the visit.</a:t>
            </a:r>
            <a:endParaRPr b="0" i="0" sz="750" u="none" cap="none" strike="noStrike">
              <a:solidFill>
                <a:schemeClr val="dk1"/>
              </a:solidFill>
              <a:latin typeface="Calibri"/>
              <a:ea typeface="Calibri"/>
              <a:cs typeface="Calibri"/>
              <a:sym typeface="Calibri"/>
            </a:endParaRPr>
          </a:p>
        </p:txBody>
      </p:sp>
      <p:sp>
        <p:nvSpPr>
          <p:cNvPr id="403" name="Google Shape;403;p20"/>
          <p:cNvSpPr/>
          <p:nvPr/>
        </p:nvSpPr>
        <p:spPr>
          <a:xfrm>
            <a:off x="6071616" y="1622085"/>
            <a:ext cx="2615100" cy="1371600"/>
          </a:xfrm>
          <a:prstGeom prst="roundRect">
            <a:avLst>
              <a:gd fmla="val 4178"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0"/>
          <p:cNvSpPr/>
          <p:nvPr/>
        </p:nvSpPr>
        <p:spPr>
          <a:xfrm>
            <a:off x="6071616" y="1622085"/>
            <a:ext cx="2615100" cy="50400"/>
          </a:xfrm>
          <a:prstGeom prst="rect">
            <a:avLst/>
          </a:prstGeom>
          <a:solidFill>
            <a:srgbClr val="8E6BE6"/>
          </a:solidFill>
          <a:ln cap="flat" cmpd="sng" w="12700">
            <a:solidFill>
              <a:srgbClr val="8E6B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0"/>
          <p:cNvSpPr/>
          <p:nvPr/>
        </p:nvSpPr>
        <p:spPr>
          <a:xfrm>
            <a:off x="6217920" y="1750101"/>
            <a:ext cx="5487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056C9"/>
              </a:buClr>
              <a:buSzPts val="800"/>
              <a:buFont typeface="Inter Tight"/>
              <a:buNone/>
            </a:pPr>
            <a:r>
              <a:rPr b="1" i="0" lang="en-US" sz="800" u="none" cap="none" strike="noStrike">
                <a:solidFill>
                  <a:srgbClr val="3056C9"/>
                </a:solidFill>
                <a:latin typeface="Inter Tight"/>
                <a:ea typeface="Inter Tight"/>
                <a:cs typeface="Inter Tight"/>
                <a:sym typeface="Inter Tight"/>
              </a:rPr>
              <a:t>03</a:t>
            </a:r>
            <a:endParaRPr b="0" i="0" sz="800" u="none" cap="none" strike="noStrike">
              <a:solidFill>
                <a:schemeClr val="dk1"/>
              </a:solidFill>
              <a:latin typeface="Calibri"/>
              <a:ea typeface="Calibri"/>
              <a:cs typeface="Calibri"/>
              <a:sym typeface="Calibri"/>
            </a:endParaRPr>
          </a:p>
        </p:txBody>
      </p:sp>
      <p:sp>
        <p:nvSpPr>
          <p:cNvPr id="406" name="Google Shape;406;p20"/>
          <p:cNvSpPr/>
          <p:nvPr/>
        </p:nvSpPr>
        <p:spPr>
          <a:xfrm>
            <a:off x="6217920" y="1942125"/>
            <a:ext cx="2322600" cy="2013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900"/>
              <a:buFont typeface="Inter Tight"/>
              <a:buNone/>
            </a:pPr>
            <a:r>
              <a:rPr b="1" i="0" lang="en-US" sz="900" u="none" cap="none" strike="noStrike">
                <a:solidFill>
                  <a:srgbClr val="0F0F0F"/>
                </a:solidFill>
                <a:latin typeface="Inter Tight"/>
                <a:ea typeface="Inter Tight"/>
                <a:cs typeface="Inter Tight"/>
                <a:sym typeface="Inter Tight"/>
              </a:rPr>
              <a:t>Outcome events to every platform</a:t>
            </a:r>
            <a:endParaRPr b="0" i="0" sz="900" u="none" cap="none" strike="noStrike">
              <a:solidFill>
                <a:schemeClr val="dk1"/>
              </a:solidFill>
              <a:latin typeface="Calibri"/>
              <a:ea typeface="Calibri"/>
              <a:cs typeface="Calibri"/>
              <a:sym typeface="Calibri"/>
            </a:endParaRPr>
          </a:p>
        </p:txBody>
      </p:sp>
      <p:sp>
        <p:nvSpPr>
          <p:cNvPr id="407" name="Google Shape;407;p20"/>
          <p:cNvSpPr/>
          <p:nvPr/>
        </p:nvSpPr>
        <p:spPr>
          <a:xfrm>
            <a:off x="6217920" y="2152437"/>
            <a:ext cx="2322600" cy="749700"/>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TikTok Events API, Meta Conversions API, Google offline conversion import. This is what turns cost per lead into cost per student.</a:t>
            </a:r>
            <a:endParaRPr b="0" i="0" sz="750" u="none" cap="none" strike="noStrike">
              <a:solidFill>
                <a:schemeClr val="dk1"/>
              </a:solidFill>
              <a:latin typeface="Calibri"/>
              <a:ea typeface="Calibri"/>
              <a:cs typeface="Calibri"/>
              <a:sym typeface="Calibri"/>
            </a:endParaRPr>
          </a:p>
        </p:txBody>
      </p:sp>
      <p:sp>
        <p:nvSpPr>
          <p:cNvPr id="408" name="Google Shape;408;p20"/>
          <p:cNvSpPr/>
          <p:nvPr/>
        </p:nvSpPr>
        <p:spPr>
          <a:xfrm>
            <a:off x="457200" y="3194853"/>
            <a:ext cx="2615100" cy="1371600"/>
          </a:xfrm>
          <a:prstGeom prst="roundRect">
            <a:avLst>
              <a:gd fmla="val 4178"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0"/>
          <p:cNvSpPr/>
          <p:nvPr/>
        </p:nvSpPr>
        <p:spPr>
          <a:xfrm>
            <a:off x="457200" y="3194853"/>
            <a:ext cx="2615100" cy="50400"/>
          </a:xfrm>
          <a:prstGeom prst="rect">
            <a:avLst/>
          </a:prstGeom>
          <a:solidFill>
            <a:srgbClr val="F59EC9"/>
          </a:solidFill>
          <a:ln cap="flat" cmpd="sng" w="12700">
            <a:solidFill>
              <a:srgbClr val="F59E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0"/>
          <p:cNvSpPr/>
          <p:nvPr/>
        </p:nvSpPr>
        <p:spPr>
          <a:xfrm>
            <a:off x="603504" y="3322869"/>
            <a:ext cx="5487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056C9"/>
              </a:buClr>
              <a:buSzPts val="800"/>
              <a:buFont typeface="Inter Tight"/>
              <a:buNone/>
            </a:pPr>
            <a:r>
              <a:rPr b="1" i="0" lang="en-US" sz="800" u="none" cap="none" strike="noStrike">
                <a:solidFill>
                  <a:srgbClr val="3056C9"/>
                </a:solidFill>
                <a:latin typeface="Inter Tight"/>
                <a:ea typeface="Inter Tight"/>
                <a:cs typeface="Inter Tight"/>
                <a:sym typeface="Inter Tight"/>
              </a:rPr>
              <a:t>04</a:t>
            </a:r>
            <a:endParaRPr b="0" i="0" sz="800" u="none" cap="none" strike="noStrike">
              <a:solidFill>
                <a:schemeClr val="dk1"/>
              </a:solidFill>
              <a:latin typeface="Calibri"/>
              <a:ea typeface="Calibri"/>
              <a:cs typeface="Calibri"/>
              <a:sym typeface="Calibri"/>
            </a:endParaRPr>
          </a:p>
        </p:txBody>
      </p:sp>
      <p:sp>
        <p:nvSpPr>
          <p:cNvPr id="411" name="Google Shape;411;p20"/>
          <p:cNvSpPr/>
          <p:nvPr/>
        </p:nvSpPr>
        <p:spPr>
          <a:xfrm>
            <a:off x="603504" y="3514893"/>
            <a:ext cx="2322600" cy="2013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900"/>
              <a:buFont typeface="Inter Tight"/>
              <a:buNone/>
            </a:pPr>
            <a:r>
              <a:rPr b="1" i="0" lang="en-US" sz="900" u="none" cap="none" strike="noStrike">
                <a:solidFill>
                  <a:srgbClr val="0F0F0F"/>
                </a:solidFill>
                <a:latin typeface="Inter Tight"/>
                <a:ea typeface="Inter Tight"/>
                <a:cs typeface="Inter Tight"/>
                <a:sym typeface="Inter Tight"/>
              </a:rPr>
              <a:t>Own the category in search results</a:t>
            </a:r>
            <a:endParaRPr b="0" i="0" sz="900" u="none" cap="none" strike="noStrike">
              <a:solidFill>
                <a:schemeClr val="dk1"/>
              </a:solidFill>
              <a:latin typeface="Calibri"/>
              <a:ea typeface="Calibri"/>
              <a:cs typeface="Calibri"/>
              <a:sym typeface="Calibri"/>
            </a:endParaRPr>
          </a:p>
        </p:txBody>
      </p:sp>
      <p:sp>
        <p:nvSpPr>
          <p:cNvPr id="412" name="Google Shape;412;p20"/>
          <p:cNvSpPr/>
          <p:nvPr/>
        </p:nvSpPr>
        <p:spPr>
          <a:xfrm>
            <a:off x="603504" y="3725205"/>
            <a:ext cx="2322600" cy="749700"/>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Uni Enrol and StudyMalaysia currently outrank IJNUC on terms IJNUC should own, including in AI generated answers.</a:t>
            </a:r>
            <a:endParaRPr b="0" i="0" sz="750" u="none" cap="none" strike="noStrike">
              <a:solidFill>
                <a:schemeClr val="dk1"/>
              </a:solidFill>
              <a:latin typeface="Calibri"/>
              <a:ea typeface="Calibri"/>
              <a:cs typeface="Calibri"/>
              <a:sym typeface="Calibri"/>
            </a:endParaRPr>
          </a:p>
        </p:txBody>
      </p:sp>
      <p:sp>
        <p:nvSpPr>
          <p:cNvPr id="413" name="Google Shape;413;p20"/>
          <p:cNvSpPr/>
          <p:nvPr/>
        </p:nvSpPr>
        <p:spPr>
          <a:xfrm>
            <a:off x="3264408" y="3194853"/>
            <a:ext cx="2615100" cy="1371600"/>
          </a:xfrm>
          <a:prstGeom prst="roundRect">
            <a:avLst>
              <a:gd fmla="val 4178"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0"/>
          <p:cNvSpPr/>
          <p:nvPr/>
        </p:nvSpPr>
        <p:spPr>
          <a:xfrm>
            <a:off x="3264408" y="3194853"/>
            <a:ext cx="2615100" cy="50400"/>
          </a:xfrm>
          <a:prstGeom prst="rect">
            <a:avLst/>
          </a:prstGeom>
          <a:solidFill>
            <a:srgbClr val="F28B4C"/>
          </a:solidFill>
          <a:ln cap="flat" cmpd="sng" w="12700">
            <a:solidFill>
              <a:srgbClr val="F28B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0"/>
          <p:cNvSpPr/>
          <p:nvPr/>
        </p:nvSpPr>
        <p:spPr>
          <a:xfrm>
            <a:off x="3410712" y="3322869"/>
            <a:ext cx="5487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056C9"/>
              </a:buClr>
              <a:buSzPts val="800"/>
              <a:buFont typeface="Inter Tight"/>
              <a:buNone/>
            </a:pPr>
            <a:r>
              <a:rPr b="1" i="0" lang="en-US" sz="800" u="none" cap="none" strike="noStrike">
                <a:solidFill>
                  <a:srgbClr val="3056C9"/>
                </a:solidFill>
                <a:latin typeface="Inter Tight"/>
                <a:ea typeface="Inter Tight"/>
                <a:cs typeface="Inter Tight"/>
                <a:sym typeface="Inter Tight"/>
              </a:rPr>
              <a:t>05</a:t>
            </a:r>
            <a:endParaRPr b="0" i="0" sz="800" u="none" cap="none" strike="noStrike">
              <a:solidFill>
                <a:schemeClr val="dk1"/>
              </a:solidFill>
              <a:latin typeface="Calibri"/>
              <a:ea typeface="Calibri"/>
              <a:cs typeface="Calibri"/>
              <a:sym typeface="Calibri"/>
            </a:endParaRPr>
          </a:p>
        </p:txBody>
      </p:sp>
      <p:sp>
        <p:nvSpPr>
          <p:cNvPr id="416" name="Google Shape;416;p20"/>
          <p:cNvSpPr/>
          <p:nvPr/>
        </p:nvSpPr>
        <p:spPr>
          <a:xfrm>
            <a:off x="3410712" y="3514893"/>
            <a:ext cx="2322600" cy="2013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900"/>
              <a:buFont typeface="Inter Tight"/>
              <a:buNone/>
            </a:pPr>
            <a:r>
              <a:rPr b="1" i="0" lang="en-US" sz="900" u="none" cap="none" strike="noStrike">
                <a:solidFill>
                  <a:srgbClr val="0F0F0F"/>
                </a:solidFill>
                <a:latin typeface="Inter Tight"/>
                <a:ea typeface="Inter Tight"/>
                <a:cs typeface="Inter Tight"/>
                <a:sym typeface="Inter Tight"/>
              </a:rPr>
              <a:t>Put the existing offers to work</a:t>
            </a:r>
            <a:endParaRPr b="0" i="0" sz="900" u="none" cap="none" strike="noStrike">
              <a:solidFill>
                <a:schemeClr val="dk1"/>
              </a:solidFill>
              <a:latin typeface="Calibri"/>
              <a:ea typeface="Calibri"/>
              <a:cs typeface="Calibri"/>
              <a:sym typeface="Calibri"/>
            </a:endParaRPr>
          </a:p>
        </p:txBody>
      </p:sp>
      <p:sp>
        <p:nvSpPr>
          <p:cNvPr id="417" name="Google Shape;417;p20"/>
          <p:cNvSpPr/>
          <p:nvPr/>
        </p:nvSpPr>
        <p:spPr>
          <a:xfrm>
            <a:off x="3410712" y="3725205"/>
            <a:ext cx="2322600" cy="749700"/>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The Foundation tuition waiver, the RM 3,000 undergraduate waiver, and the RM 250 per A appear on one poster and in none of the ad copy we have tested.</a:t>
            </a:r>
            <a:endParaRPr b="0" i="0" sz="750" u="none" cap="none" strike="noStrike">
              <a:solidFill>
                <a:schemeClr val="dk1"/>
              </a:solidFill>
              <a:latin typeface="Calibri"/>
              <a:ea typeface="Calibri"/>
              <a:cs typeface="Calibri"/>
              <a:sym typeface="Calibri"/>
            </a:endParaRPr>
          </a:p>
        </p:txBody>
      </p:sp>
      <p:sp>
        <p:nvSpPr>
          <p:cNvPr id="418" name="Google Shape;418;p20"/>
          <p:cNvSpPr/>
          <p:nvPr/>
        </p:nvSpPr>
        <p:spPr>
          <a:xfrm>
            <a:off x="6071616" y="3194853"/>
            <a:ext cx="2615100" cy="1371600"/>
          </a:xfrm>
          <a:prstGeom prst="roundRect">
            <a:avLst>
              <a:gd fmla="val 4178"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0"/>
          <p:cNvSpPr/>
          <p:nvPr/>
        </p:nvSpPr>
        <p:spPr>
          <a:xfrm>
            <a:off x="6071616" y="3194853"/>
            <a:ext cx="2615100" cy="50400"/>
          </a:xfrm>
          <a:prstGeom prst="rect">
            <a:avLst/>
          </a:prstGeom>
          <a:solidFill>
            <a:srgbClr val="2C2C36"/>
          </a:solidFill>
          <a:ln cap="flat" cmpd="sng" w="12700">
            <a:solidFill>
              <a:srgbClr val="2C2C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0"/>
          <p:cNvSpPr/>
          <p:nvPr/>
        </p:nvSpPr>
        <p:spPr>
          <a:xfrm>
            <a:off x="6217920" y="3322869"/>
            <a:ext cx="5487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056C9"/>
              </a:buClr>
              <a:buSzPts val="800"/>
              <a:buFont typeface="Inter Tight"/>
              <a:buNone/>
            </a:pPr>
            <a:r>
              <a:rPr b="1" i="0" lang="en-US" sz="800" u="none" cap="none" strike="noStrike">
                <a:solidFill>
                  <a:srgbClr val="3056C9"/>
                </a:solidFill>
                <a:latin typeface="Inter Tight"/>
                <a:ea typeface="Inter Tight"/>
                <a:cs typeface="Inter Tight"/>
                <a:sym typeface="Inter Tight"/>
              </a:rPr>
              <a:t>06</a:t>
            </a:r>
            <a:endParaRPr b="0" i="0" sz="800" u="none" cap="none" strike="noStrike">
              <a:solidFill>
                <a:schemeClr val="dk1"/>
              </a:solidFill>
              <a:latin typeface="Calibri"/>
              <a:ea typeface="Calibri"/>
              <a:cs typeface="Calibri"/>
              <a:sym typeface="Calibri"/>
            </a:endParaRPr>
          </a:p>
        </p:txBody>
      </p:sp>
      <p:sp>
        <p:nvSpPr>
          <p:cNvPr id="421" name="Google Shape;421;p20"/>
          <p:cNvSpPr/>
          <p:nvPr/>
        </p:nvSpPr>
        <p:spPr>
          <a:xfrm>
            <a:off x="6217920" y="3514893"/>
            <a:ext cx="2322600" cy="2013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900"/>
              <a:buFont typeface="Inter Tight"/>
              <a:buNone/>
            </a:pPr>
            <a:r>
              <a:rPr b="1" i="0" lang="en-US" sz="900" u="none" cap="none" strike="noStrike">
                <a:solidFill>
                  <a:srgbClr val="0F0F0F"/>
                </a:solidFill>
                <a:latin typeface="Inter Tight"/>
                <a:ea typeface="Inter Tight"/>
                <a:cs typeface="Inter Tight"/>
                <a:sym typeface="Inter Tight"/>
              </a:rPr>
              <a:t>Share the calendar a month ahead</a:t>
            </a:r>
            <a:endParaRPr b="0" i="0" sz="900" u="none" cap="none" strike="noStrike">
              <a:solidFill>
                <a:schemeClr val="dk1"/>
              </a:solidFill>
              <a:latin typeface="Calibri"/>
              <a:ea typeface="Calibri"/>
              <a:cs typeface="Calibri"/>
              <a:sym typeface="Calibri"/>
            </a:endParaRPr>
          </a:p>
        </p:txBody>
      </p:sp>
      <p:sp>
        <p:nvSpPr>
          <p:cNvPr id="422" name="Google Shape;422;p20"/>
          <p:cNvSpPr/>
          <p:nvPr/>
        </p:nvSpPr>
        <p:spPr>
          <a:xfrm>
            <a:off x="6217920" y="3725205"/>
            <a:ext cx="2322600" cy="749700"/>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rgbClr val="4A4A4A"/>
              </a:buClr>
              <a:buSzPts val="750"/>
              <a:buFont typeface="Inter Tight"/>
              <a:buNone/>
            </a:pPr>
            <a:r>
              <a:rPr b="0" i="0" lang="en-US" sz="750" u="none" cap="none" strike="noStrike">
                <a:solidFill>
                  <a:srgbClr val="4A4A4A"/>
                </a:solidFill>
                <a:latin typeface="Inter Tight"/>
                <a:ea typeface="Inter Tight"/>
                <a:cs typeface="Inter Tight"/>
                <a:sym typeface="Inter Tight"/>
              </a:rPr>
              <a:t>Intake dates and open day dates in advance, so creative and budget get planned rather than reacted to.</a:t>
            </a:r>
            <a:endParaRPr b="0" i="0" sz="750" u="none" cap="none" strike="noStrike">
              <a:solidFill>
                <a:schemeClr val="dk1"/>
              </a:solidFill>
              <a:latin typeface="Calibri"/>
              <a:ea typeface="Calibri"/>
              <a:cs typeface="Calibri"/>
              <a:sym typeface="Calibri"/>
            </a:endParaRPr>
          </a:p>
        </p:txBody>
      </p:sp>
      <p:sp>
        <p:nvSpPr>
          <p:cNvPr id="423" name="Google Shape;423;p20"/>
          <p:cNvSpPr/>
          <p:nvPr/>
        </p:nvSpPr>
        <p:spPr>
          <a:xfrm>
            <a:off x="457200" y="4657893"/>
            <a:ext cx="8229600" cy="2742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0F0F0F"/>
              </a:buClr>
              <a:buSzPts val="800"/>
              <a:buFont typeface="Inter Tight"/>
              <a:buNone/>
            </a:pPr>
            <a:r>
              <a:rPr b="1" i="0" lang="en-US" sz="800" u="none" cap="none" strike="noStrike">
                <a:solidFill>
                  <a:srgbClr val="0F0F0F"/>
                </a:solidFill>
                <a:latin typeface="Inter Tight"/>
                <a:ea typeface="Inter Tight"/>
                <a:cs typeface="Inter Tight"/>
                <a:sym typeface="Inter Tight"/>
              </a:rPr>
              <a:t>Item 01 unlocks the other five. Without it, every optimization decision we make is a guess dressed up as analysis.</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8" name="Shape 428"/>
        <p:cNvGrpSpPr/>
        <p:nvPr/>
      </p:nvGrpSpPr>
      <p:grpSpPr>
        <a:xfrm>
          <a:off x="0" y="0"/>
          <a:ext cx="0" cy="0"/>
          <a:chOff x="0" y="0"/>
          <a:chExt cx="0" cy="0"/>
        </a:xfrm>
      </p:grpSpPr>
      <p:sp>
        <p:nvSpPr>
          <p:cNvPr id="429" name="Google Shape;429;p21"/>
          <p:cNvSpPr/>
          <p:nvPr/>
        </p:nvSpPr>
        <p:spPr>
          <a:xfrm>
            <a:off x="5394960" y="219456"/>
            <a:ext cx="329184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A8"/>
              </a:buClr>
              <a:buSzPts val="750"/>
              <a:buFont typeface="Inter Tight"/>
              <a:buNone/>
            </a:pPr>
            <a:r>
              <a:rPr b="0" i="0" lang="en-US" sz="750" u="none" cap="none" strike="noStrike">
                <a:solidFill>
                  <a:srgbClr val="9AA0A8"/>
                </a:solidFill>
                <a:latin typeface="Inter Tight"/>
                <a:ea typeface="Inter Tight"/>
                <a:cs typeface="Inter Tight"/>
                <a:sym typeface="Inter Tight"/>
              </a:rPr>
              <a:t>[ toggle.solutions ]</a:t>
            </a:r>
            <a:endParaRPr b="0" i="0" sz="750" u="none" cap="none" strike="noStrike">
              <a:solidFill>
                <a:schemeClr val="dk1"/>
              </a:solidFill>
              <a:latin typeface="Calibri"/>
              <a:ea typeface="Calibri"/>
              <a:cs typeface="Calibri"/>
              <a:sym typeface="Calibri"/>
            </a:endParaRPr>
          </a:p>
        </p:txBody>
      </p:sp>
      <p:sp>
        <p:nvSpPr>
          <p:cNvPr id="430" name="Google Shape;430;p21"/>
          <p:cNvSpPr/>
          <p:nvPr/>
        </p:nvSpPr>
        <p:spPr>
          <a:xfrm>
            <a:off x="457200" y="420624"/>
            <a:ext cx="8229600" cy="3474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7BF7"/>
              </a:buClr>
              <a:buSzPts val="2150"/>
              <a:buFont typeface="Inter Tight"/>
              <a:buNone/>
            </a:pPr>
            <a:r>
              <a:rPr b="1" i="0" lang="en-US" sz="2150" u="none" cap="none" strike="noStrike">
                <a:solidFill>
                  <a:srgbClr val="4A7BF7"/>
                </a:solidFill>
                <a:latin typeface="Inter Tight"/>
                <a:ea typeface="Inter Tight"/>
                <a:cs typeface="Inter Tight"/>
                <a:sym typeface="Inter Tight"/>
              </a:rPr>
              <a:t>Next steps</a:t>
            </a:r>
            <a:endParaRPr b="0" i="0" sz="2150" u="none" cap="none" strike="noStrike">
              <a:solidFill>
                <a:schemeClr val="dk1"/>
              </a:solidFill>
              <a:latin typeface="Calibri"/>
              <a:ea typeface="Calibri"/>
              <a:cs typeface="Calibri"/>
              <a:sym typeface="Calibri"/>
            </a:endParaRPr>
          </a:p>
        </p:txBody>
      </p:sp>
      <p:sp>
        <p:nvSpPr>
          <p:cNvPr id="431" name="Google Shape;431;p21"/>
          <p:cNvSpPr/>
          <p:nvPr/>
        </p:nvSpPr>
        <p:spPr>
          <a:xfrm>
            <a:off x="457200" y="804672"/>
            <a:ext cx="8229600" cy="38404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4A4A4A"/>
              </a:buClr>
              <a:buSzPts val="850"/>
              <a:buFont typeface="Inter Tight"/>
              <a:buNone/>
            </a:pPr>
            <a:r>
              <a:rPr b="0" i="0" lang="en-US" sz="850" u="none" cap="none" strike="noStrike">
                <a:solidFill>
                  <a:srgbClr val="4A4A4A"/>
                </a:solidFill>
                <a:latin typeface="Inter Tight"/>
                <a:ea typeface="Inter Tight"/>
                <a:cs typeface="Inter Tight"/>
                <a:sym typeface="Inter Tight"/>
              </a:rPr>
              <a:t>Your list unblocks the work, and ours starts the moment the access and the approvals land.</a:t>
            </a:r>
            <a:endParaRPr b="0" i="0" sz="850" u="none" cap="none" strike="noStrike">
              <a:solidFill>
                <a:schemeClr val="dk1"/>
              </a:solidFill>
              <a:latin typeface="Calibri"/>
              <a:ea typeface="Calibri"/>
              <a:cs typeface="Calibri"/>
              <a:sym typeface="Calibri"/>
            </a:endParaRPr>
          </a:p>
        </p:txBody>
      </p:sp>
      <p:sp>
        <p:nvSpPr>
          <p:cNvPr id="432" name="Google Shape;432;p21"/>
          <p:cNvSpPr/>
          <p:nvPr/>
        </p:nvSpPr>
        <p:spPr>
          <a:xfrm>
            <a:off x="457200" y="1280160"/>
            <a:ext cx="3977640" cy="2286000"/>
          </a:xfrm>
          <a:prstGeom prst="roundRect">
            <a:avLst>
              <a:gd fmla="val 1504"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1"/>
          <p:cNvSpPr/>
          <p:nvPr/>
        </p:nvSpPr>
        <p:spPr>
          <a:xfrm>
            <a:off x="457200" y="1325880"/>
            <a:ext cx="45720" cy="2194560"/>
          </a:xfrm>
          <a:prstGeom prst="rect">
            <a:avLst/>
          </a:prstGeom>
          <a:solidFill>
            <a:srgbClr val="4A7BF7"/>
          </a:solidFill>
          <a:ln cap="flat" cmpd="sng" w="12700">
            <a:solidFill>
              <a:srgbClr val="4A7B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1"/>
          <p:cNvSpPr/>
          <p:nvPr/>
        </p:nvSpPr>
        <p:spPr>
          <a:xfrm>
            <a:off x="603504" y="1408176"/>
            <a:ext cx="3685032" cy="20116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3056C9"/>
              </a:buClr>
              <a:buSzPts val="950"/>
              <a:buFont typeface="Inter Tight"/>
              <a:buNone/>
            </a:pPr>
            <a:r>
              <a:rPr b="1" i="0" lang="en-US" sz="950" u="none" cap="none" strike="noStrike">
                <a:solidFill>
                  <a:srgbClr val="3056C9"/>
                </a:solidFill>
                <a:latin typeface="Inter Tight"/>
                <a:ea typeface="Inter Tight"/>
                <a:cs typeface="Inter Tight"/>
                <a:sym typeface="Inter Tight"/>
              </a:rPr>
              <a:t>IJNUC</a:t>
            </a:r>
            <a:endParaRPr b="0" i="0" sz="950" u="none" cap="none" strike="noStrike">
              <a:solidFill>
                <a:schemeClr val="dk1"/>
              </a:solidFill>
              <a:latin typeface="Calibri"/>
              <a:ea typeface="Calibri"/>
              <a:cs typeface="Calibri"/>
              <a:sym typeface="Calibri"/>
            </a:endParaRPr>
          </a:p>
        </p:txBody>
      </p:sp>
      <p:sp>
        <p:nvSpPr>
          <p:cNvPr id="435" name="Google Shape;435;p21"/>
          <p:cNvSpPr/>
          <p:nvPr/>
        </p:nvSpPr>
        <p:spPr>
          <a:xfrm>
            <a:off x="603504" y="1682496"/>
            <a:ext cx="3685032" cy="1773936"/>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Video assets,</a:t>
            </a:r>
            <a:r>
              <a:rPr lang="en-US" sz="750">
                <a:solidFill>
                  <a:srgbClr val="4A4A4A"/>
                </a:solidFill>
                <a:latin typeface="Inter Tight"/>
                <a:ea typeface="Inter Tight"/>
                <a:cs typeface="Inter Tight"/>
                <a:sym typeface="Inter Tight"/>
              </a:rPr>
              <a:t> five to ten</a:t>
            </a:r>
            <a:r>
              <a:rPr b="0" i="0" lang="en-US" sz="750" u="none" cap="none" strike="noStrike">
                <a:solidFill>
                  <a:srgbClr val="4A4A4A"/>
                </a:solidFill>
                <a:latin typeface="Inter Tight"/>
                <a:ea typeface="Inter Tight"/>
                <a:cs typeface="Inter Tight"/>
                <a:sym typeface="Inter Tight"/>
              </a:rPr>
              <a:t> a month, starting with one campus shoot day.</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Spark ad authorization for the posts we select.</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Lead outcomes in the shared sheet, updated weekly by the sales team.</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GA4 access, Search Console access, and your developer or CMS contact.</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Intake and open day calendar for the next quarter.</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Fee schedule and MQA codes per program, plus written confirmation of the waiver terms.</a:t>
            </a:r>
            <a:endParaRPr b="0" i="0" sz="750" u="none" cap="none" strike="noStrike">
              <a:solidFill>
                <a:schemeClr val="dk1"/>
              </a:solidFill>
              <a:latin typeface="Calibri"/>
              <a:ea typeface="Calibri"/>
              <a:cs typeface="Calibri"/>
              <a:sym typeface="Calibri"/>
            </a:endParaRPr>
          </a:p>
        </p:txBody>
      </p:sp>
      <p:sp>
        <p:nvSpPr>
          <p:cNvPr id="436" name="Google Shape;436;p21"/>
          <p:cNvSpPr/>
          <p:nvPr/>
        </p:nvSpPr>
        <p:spPr>
          <a:xfrm>
            <a:off x="4709160" y="1280160"/>
            <a:ext cx="3977640" cy="2286000"/>
          </a:xfrm>
          <a:prstGeom prst="roundRect">
            <a:avLst>
              <a:gd fmla="val 1504" name="adj"/>
            </a:avLst>
          </a:prstGeom>
          <a:solidFill>
            <a:srgbClr val="F2F3F6"/>
          </a:solidFill>
          <a:ln cap="flat" cmpd="sng" w="12700">
            <a:solidFill>
              <a:srgbClr val="F2F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1"/>
          <p:cNvSpPr/>
          <p:nvPr/>
        </p:nvSpPr>
        <p:spPr>
          <a:xfrm>
            <a:off x="4709160" y="1325880"/>
            <a:ext cx="45720" cy="2194560"/>
          </a:xfrm>
          <a:prstGeom prst="rect">
            <a:avLst/>
          </a:prstGeom>
          <a:solidFill>
            <a:srgbClr val="2ECC9B"/>
          </a:solidFill>
          <a:ln cap="flat" cmpd="sng" w="12700">
            <a:solidFill>
              <a:srgbClr val="2ECC9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1"/>
          <p:cNvSpPr/>
          <p:nvPr/>
        </p:nvSpPr>
        <p:spPr>
          <a:xfrm>
            <a:off x="4855464" y="1408176"/>
            <a:ext cx="3685032" cy="20116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3056C9"/>
              </a:buClr>
              <a:buSzPts val="950"/>
              <a:buFont typeface="Inter Tight"/>
              <a:buNone/>
            </a:pPr>
            <a:r>
              <a:rPr b="1" i="0" lang="en-US" sz="950" u="none" cap="none" strike="noStrike">
                <a:solidFill>
                  <a:srgbClr val="3056C9"/>
                </a:solidFill>
                <a:latin typeface="Inter Tight"/>
                <a:ea typeface="Inter Tight"/>
                <a:cs typeface="Inter Tight"/>
                <a:sym typeface="Inter Tight"/>
              </a:rPr>
              <a:t>Toggle</a:t>
            </a:r>
            <a:endParaRPr b="0" i="0" sz="950" u="none" cap="none" strike="noStrike">
              <a:solidFill>
                <a:schemeClr val="dk1"/>
              </a:solidFill>
              <a:latin typeface="Calibri"/>
              <a:ea typeface="Calibri"/>
              <a:cs typeface="Calibri"/>
              <a:sym typeface="Calibri"/>
            </a:endParaRPr>
          </a:p>
        </p:txBody>
      </p:sp>
      <p:sp>
        <p:nvSpPr>
          <p:cNvPr id="439" name="Google Shape;439;p21"/>
          <p:cNvSpPr/>
          <p:nvPr/>
        </p:nvSpPr>
        <p:spPr>
          <a:xfrm>
            <a:off x="4855464" y="1682496"/>
            <a:ext cx="3685032" cy="1773936"/>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Rebalance spend off the single dominant ad and fund the sub RM 20 performers.</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Build the Google Search account on approval, negatives first.</a:t>
            </a:r>
            <a:endParaRPr b="0" i="0" sz="750" u="none" cap="none" strike="noStrike">
              <a:solidFill>
                <a:schemeClr val="dk1"/>
              </a:solidFill>
              <a:latin typeface="Calibri"/>
              <a:ea typeface="Calibri"/>
              <a:cs typeface="Calibri"/>
              <a:sym typeface="Calibri"/>
            </a:endParaRPr>
          </a:p>
          <a:p>
            <a:pPr indent="-152400" lvl="0" marL="152400" marR="0" rtl="0" algn="l">
              <a:lnSpc>
                <a:spcPct val="112000"/>
              </a:lnSpc>
              <a:spcBef>
                <a:spcPts val="0"/>
              </a:spcBef>
              <a:spcAft>
                <a:spcPts val="0"/>
              </a:spcAft>
              <a:buClr>
                <a:srgbClr val="4A4A4A"/>
              </a:buClr>
              <a:buSzPts val="750"/>
              <a:buFont typeface="Inter Tight"/>
              <a:buChar char="•"/>
            </a:pPr>
            <a:r>
              <a:rPr b="0" i="0" lang="en-US" sz="750" u="none" cap="none" strike="noStrike">
                <a:solidFill>
                  <a:srgbClr val="4A4A4A"/>
                </a:solidFill>
                <a:latin typeface="Inter Tight"/>
                <a:ea typeface="Inter Tight"/>
                <a:cs typeface="Inter Tight"/>
                <a:sym typeface="Inter Tight"/>
              </a:rPr>
              <a:t>Build the Meta account on approval, with the Conversions API from day one.</a:t>
            </a:r>
            <a:endParaRPr b="0" i="0" sz="750" u="none" cap="none" strike="noStrike">
              <a:solidFill>
                <a:srgbClr val="4A4A4A"/>
              </a:solidFill>
              <a:latin typeface="Inter Tight"/>
              <a:ea typeface="Inter Tight"/>
              <a:cs typeface="Inter Tight"/>
              <a:sym typeface="Inter Tight"/>
            </a:endParaRPr>
          </a:p>
          <a:p>
            <a:pPr indent="-152400" lvl="0" marL="152400" marR="0" rtl="0" algn="l">
              <a:lnSpc>
                <a:spcPct val="112000"/>
              </a:lnSpc>
              <a:spcBef>
                <a:spcPts val="0"/>
              </a:spcBef>
              <a:spcAft>
                <a:spcPts val="0"/>
              </a:spcAft>
              <a:buClr>
                <a:srgbClr val="4A4A4A"/>
              </a:buClr>
              <a:buSzPts val="750"/>
              <a:buFont typeface="Inter Tight"/>
              <a:buChar char="•"/>
            </a:pPr>
            <a:r>
              <a:rPr lang="en-US" sz="750">
                <a:solidFill>
                  <a:srgbClr val="4A4A4A"/>
                </a:solidFill>
                <a:latin typeface="Inter Tight"/>
                <a:ea typeface="Inter Tight"/>
                <a:cs typeface="Inter Tight"/>
                <a:sym typeface="Inter Tight"/>
              </a:rPr>
              <a:t>Share creative directions to IJN’s team to identify new, performing messaging angles.</a:t>
            </a:r>
            <a:endParaRPr sz="750">
              <a:solidFill>
                <a:srgbClr val="4A4A4A"/>
              </a:solidFill>
              <a:latin typeface="Inter Tight"/>
              <a:ea typeface="Inter Tight"/>
              <a:cs typeface="Inter Tight"/>
              <a:sym typeface="Inter Tight"/>
            </a:endParaRPr>
          </a:p>
        </p:txBody>
      </p:sp>
      <p:sp>
        <p:nvSpPr>
          <p:cNvPr id="440" name="Google Shape;440;p21"/>
          <p:cNvSpPr/>
          <p:nvPr/>
        </p:nvSpPr>
        <p:spPr>
          <a:xfrm>
            <a:off x="457200" y="3877056"/>
            <a:ext cx="36576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0F0F"/>
              </a:buClr>
              <a:buSzPts val="1200"/>
              <a:buFont typeface="Inter Tight"/>
              <a:buNone/>
            </a:pPr>
            <a:r>
              <a:rPr b="1" i="0" lang="en-US" sz="1200" u="none" cap="none" strike="noStrike">
                <a:solidFill>
                  <a:srgbClr val="0F0F0F"/>
                </a:solidFill>
                <a:latin typeface="Inter Tight"/>
                <a:ea typeface="Inter Tight"/>
                <a:cs typeface="Inter Tight"/>
                <a:sym typeface="Inter Tight"/>
              </a:rPr>
              <a:t>Viknesh</a:t>
            </a:r>
            <a:endParaRPr b="0" i="0" sz="1200" u="none" cap="none" strike="noStrike">
              <a:solidFill>
                <a:schemeClr val="dk1"/>
              </a:solidFill>
              <a:latin typeface="Calibri"/>
              <a:ea typeface="Calibri"/>
              <a:cs typeface="Calibri"/>
              <a:sym typeface="Calibri"/>
            </a:endParaRPr>
          </a:p>
        </p:txBody>
      </p:sp>
      <p:sp>
        <p:nvSpPr>
          <p:cNvPr id="441" name="Google Shape;441;p21"/>
          <p:cNvSpPr/>
          <p:nvPr/>
        </p:nvSpPr>
        <p:spPr>
          <a:xfrm>
            <a:off x="457200" y="4096512"/>
            <a:ext cx="3657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4A4A"/>
              </a:buClr>
              <a:buSzPts val="800"/>
              <a:buFont typeface="Inter Tight"/>
              <a:buNone/>
            </a:pPr>
            <a:r>
              <a:rPr b="0" i="0" lang="en-US" sz="800" u="none" cap="none" strike="noStrike">
                <a:solidFill>
                  <a:srgbClr val="4A4A4A"/>
                </a:solidFill>
                <a:latin typeface="Inter Tight"/>
                <a:ea typeface="Inter Tight"/>
                <a:cs typeface="Inter Tight"/>
                <a:sym typeface="Inter Tight"/>
              </a:rPr>
              <a:t>Sales and Partnership Director, Toggle Solutions</a:t>
            </a:r>
            <a:endParaRPr b="0" i="0" sz="800" u="none" cap="none" strike="noStrike">
              <a:solidFill>
                <a:schemeClr val="dk1"/>
              </a:solidFill>
              <a:latin typeface="Calibri"/>
              <a:ea typeface="Calibri"/>
              <a:cs typeface="Calibri"/>
              <a:sym typeface="Calibri"/>
            </a:endParaRPr>
          </a:p>
        </p:txBody>
      </p:sp>
      <p:sp>
        <p:nvSpPr>
          <p:cNvPr id="442" name="Google Shape;442;p21"/>
          <p:cNvSpPr/>
          <p:nvPr/>
        </p:nvSpPr>
        <p:spPr>
          <a:xfrm>
            <a:off x="457200" y="4297680"/>
            <a:ext cx="36576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056C9"/>
              </a:buClr>
              <a:buSzPts val="1000"/>
              <a:buFont typeface="Inter Tight"/>
              <a:buNone/>
            </a:pPr>
            <a:r>
              <a:rPr b="1" i="0" lang="en-US" sz="1000" u="none" cap="none" strike="noStrike">
                <a:solidFill>
                  <a:srgbClr val="3056C9"/>
                </a:solidFill>
                <a:latin typeface="Inter Tight"/>
                <a:ea typeface="Inter Tight"/>
                <a:cs typeface="Inter Tight"/>
                <a:sym typeface="Inter Tight"/>
              </a:rPr>
              <a:t>(+60) 125 688 681</a:t>
            </a:r>
            <a:endParaRPr b="0" i="0" sz="1000" u="none" cap="none" strike="noStrike">
              <a:solidFill>
                <a:schemeClr val="dk1"/>
              </a:solidFill>
              <a:latin typeface="Calibri"/>
              <a:ea typeface="Calibri"/>
              <a:cs typeface="Calibri"/>
              <a:sym typeface="Calibri"/>
            </a:endParaRPr>
          </a:p>
        </p:txBody>
      </p:sp>
      <p:sp>
        <p:nvSpPr>
          <p:cNvPr id="443" name="Google Shape;443;p21"/>
          <p:cNvSpPr/>
          <p:nvPr/>
        </p:nvSpPr>
        <p:spPr>
          <a:xfrm>
            <a:off x="5029200" y="4297680"/>
            <a:ext cx="3657600" cy="21945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4A7BF7"/>
              </a:buClr>
              <a:buSzPts val="950"/>
              <a:buFont typeface="Inter Tight"/>
              <a:buNone/>
            </a:pPr>
            <a:r>
              <a:rPr b="1" i="0" lang="en-US" sz="950" u="none" cap="none" strike="noStrike">
                <a:solidFill>
                  <a:srgbClr val="4A7BF7"/>
                </a:solidFill>
                <a:latin typeface="Inter Tight"/>
                <a:ea typeface="Inter Tight"/>
                <a:cs typeface="Inter Tight"/>
                <a:sym typeface="Inter Tight"/>
              </a:rPr>
              <a:t>[ toggle.solutions ]</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2026-08-01T08:25:41Z</dcterms:created>
  <dc:creator>Toggle Solutions</dc:creator>
</cp:coreProperties>
</file>