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The four headline ranges are the min and max across the three budget options: media RM15,000 to RM25,000; leads 301 (option 1 low) to 544 (option 3 high); qualified 62 (option 1 low) to 168 (option 3 high); cost per qualified RM148 (option 2 best) to RM242 (option 1 worst). If any budget option changes, update all four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option 1 reconciliation.
Platform column: 7050 + 4950 + 3000 = 15000.
Funnel columns: 8100 + 4500 + 2400 = 15000.
TikTok and Meta split 50/30/20. Google splits 70/30 with no awareness line.
Leads 301 to 326 and qualified 62 to 100 must match the two forecast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option 2 reconciliation.
Platform column: 9400 + 6600 + 4000 = 20000.
Funnel columns: 10800 + 6000 + 3200 = 20000.
TikTok and Meta split 50/30/20. Google splits 70/30 with no awareness line.
Leads 402 to 436 and qualified 84 to 135 must match the two forecast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option 3 reconciliation.
Platform column: 11750 + 8250 + 5000 = 25000.
Funnel columns: 13500 + 7500 + 4000 = 25000.
TikTok and Meta split 50/30/20. Google splits 70/30 with no awareness line.
Leads 503 to 544 and qualified 105 to 168 must match the two forecast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Leads = total platform spend / CPL, floored. TikTok RM34 flat. Meta RM60 to RM80. Google RM80 to RM90. Column totals: 301 to 326 | 402 to 436 | 503 to 544. These must match the budget option stat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Qualified = leads x rate, floored. TikTok and Meta 20% to 30%. Google 30% to 40%. Cost per qualified = budget / qualified: RM150 to RM242 | RM148 to RM238 | RM149 to RM238. We do not forecast appointments or enrolments.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ordmark.png"/>
          <p:cNvPicPr>
            <a:picLocks noChangeAspect="1"/>
          </p:cNvPicPr>
          <p:nvPr/>
        </p:nvPicPr>
        <p:blipFill>
          <a:blip r:embed="rId1"/>
          <a:stretch>
            <a:fillRect/>
          </a:stretch>
        </p:blipFill>
        <p:spPr>
          <a:xfrm>
            <a:off x="457200" y="384048"/>
            <a:ext cx="804672" cy="219456"/>
          </a:xfrm>
          <a:prstGeom prst="rect">
            <a:avLst/>
          </a:prstGeom>
        </p:spPr>
      </p:pic>
      <p:pic>
        <p:nvPicPr>
          <p:cNvPr id="3" name="Image 1" descr="stepform.png"/>
          <p:cNvPicPr>
            <a:picLocks noChangeAspect="1"/>
          </p:cNvPicPr>
          <p:nvPr/>
        </p:nvPicPr>
        <p:blipFill>
          <a:blip r:embed="rId2"/>
          <a:stretch>
            <a:fillRect/>
          </a:stretch>
        </p:blipFill>
        <p:spPr>
          <a:xfrm>
            <a:off x="5532120" y="1417320"/>
            <a:ext cx="2926080" cy="2267712"/>
          </a:xfrm>
          <a:prstGeom prst="rect">
            <a:avLst/>
          </a:prstGeom>
        </p:spPr>
      </p:pic>
      <p:sp>
        <p:nvSpPr>
          <p:cNvPr id="4" name="Text 0"/>
          <p:cNvSpPr/>
          <p:nvPr/>
        </p:nvSpPr>
        <p:spPr>
          <a:xfrm>
            <a:off x="457200" y="1783080"/>
            <a:ext cx="4892040" cy="502920"/>
          </a:xfrm>
          <a:prstGeom prst="rect">
            <a:avLst/>
          </a:prstGeom>
          <a:noFill/>
          <a:ln/>
        </p:spPr>
        <p:txBody>
          <a:bodyPr wrap="square" lIns="0" tIns="0" rIns="0" bIns="0" rtlCol="0" anchor="t"/>
          <a:lstStyle/>
          <a:p>
            <a:pPr indent="0" marL="0">
              <a:buNone/>
            </a:pPr>
            <a:r>
              <a:rPr lang="en-US" sz="3600" b="1" dirty="0">
                <a:solidFill>
                  <a:srgbClr val="4A7BF7"/>
                </a:solidFill>
                <a:latin typeface="Inter Tight" pitchFamily="34" charset="0"/>
                <a:ea typeface="Inter Tight" pitchFamily="34" charset="-122"/>
                <a:cs typeface="Inter Tight" pitchFamily="34" charset="-120"/>
              </a:rPr>
              <a:t>IJN University College</a:t>
            </a:r>
            <a:endParaRPr lang="en-US" sz="3600" dirty="0"/>
          </a:p>
        </p:txBody>
      </p:sp>
      <p:sp>
        <p:nvSpPr>
          <p:cNvPr id="5" name="Text 1"/>
          <p:cNvSpPr/>
          <p:nvPr/>
        </p:nvSpPr>
        <p:spPr>
          <a:xfrm>
            <a:off x="457200" y="2304288"/>
            <a:ext cx="4892040" cy="822960"/>
          </a:xfrm>
          <a:prstGeom prst="rect">
            <a:avLst/>
          </a:prstGeom>
          <a:noFill/>
          <a:ln/>
        </p:spPr>
        <p:txBody>
          <a:bodyPr wrap="square" lIns="0" tIns="0" rIns="0" bIns="0" rtlCol="0" anchor="t"/>
          <a:lstStyle/>
          <a:p>
            <a:pPr indent="0" marL="0">
              <a:buNone/>
            </a:pPr>
            <a:r>
              <a:rPr lang="en-US" sz="3050" b="1" dirty="0">
                <a:solidFill>
                  <a:srgbClr val="0F0F0F"/>
                </a:solidFill>
                <a:latin typeface="Inter Tight" pitchFamily="34" charset="0"/>
                <a:ea typeface="Inter Tight" pitchFamily="34" charset="-122"/>
                <a:cs typeface="Inter Tight" pitchFamily="34" charset="-120"/>
              </a:rPr>
              <a:t>Full Funnel Growth Proposal</a:t>
            </a:r>
            <a:endParaRPr lang="en-US" sz="3050" dirty="0"/>
          </a:p>
        </p:txBody>
      </p:sp>
      <p:sp>
        <p:nvSpPr>
          <p:cNvPr id="6" name="Text 2"/>
          <p:cNvSpPr/>
          <p:nvPr/>
        </p:nvSpPr>
        <p:spPr>
          <a:xfrm>
            <a:off x="457200" y="3310128"/>
            <a:ext cx="4892040" cy="640080"/>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Meta, Google Search and TikTok working one funnel, plus the CRM layer that reports which leads became students. Prepared August 2026.</a:t>
            </a:r>
            <a:endParaRPr lang="en-US" sz="850" dirty="0"/>
          </a:p>
        </p:txBody>
      </p:sp>
      <p:sp>
        <p:nvSpPr>
          <p:cNvPr id="7" name="Text 3"/>
          <p:cNvSpPr/>
          <p:nvPr/>
        </p:nvSpPr>
        <p:spPr>
          <a:xfrm>
            <a:off x="457200" y="4443984"/>
            <a:ext cx="3657600" cy="219456"/>
          </a:xfrm>
          <a:prstGeom prst="rect">
            <a:avLst/>
          </a:prstGeom>
          <a:noFill/>
          <a:ln/>
        </p:spPr>
        <p:txBody>
          <a:bodyPr wrap="square" lIns="0" tIns="0" rIns="0" bIns="0" rtlCol="0" anchor="t"/>
          <a:lstStyle/>
          <a:p>
            <a:pPr indent="0" marL="0">
              <a:buNone/>
            </a:pPr>
            <a:r>
              <a:rPr lang="en-US" sz="950" b="1" dirty="0">
                <a:solidFill>
                  <a:srgbClr val="4A7BF7"/>
                </a:solidFill>
                <a:latin typeface="Inter Tight" pitchFamily="34" charset="0"/>
                <a:ea typeface="Inter Tight" pitchFamily="34" charset="-122"/>
                <a:cs typeface="Inter Tight" pitchFamily="34" charset="-120"/>
              </a:rPr>
              <a:t>[ Your Digital Growth Partner ]</a:t>
            </a:r>
            <a:endParaRPr lang="en-US" sz="950" dirty="0"/>
          </a:p>
        </p:txBody>
      </p:sp>
      <p:sp>
        <p:nvSpPr>
          <p:cNvPr id="8" name="Text 4"/>
          <p:cNvSpPr/>
          <p:nvPr/>
        </p:nvSpPr>
        <p:spPr>
          <a:xfrm>
            <a:off x="5029200" y="4443984"/>
            <a:ext cx="3657600" cy="219456"/>
          </a:xfrm>
          <a:prstGeom prst="rect">
            <a:avLst/>
          </a:prstGeom>
          <a:noFill/>
          <a:ln/>
        </p:spPr>
        <p:txBody>
          <a:bodyPr wrap="square" lIns="0" tIns="0" rIns="0" bIns="0" rtlCol="0" anchor="t"/>
          <a:lstStyle/>
          <a:p>
            <a:pPr algn="r" indent="0" marL="0">
              <a:buNone/>
            </a:pPr>
            <a:r>
              <a:rPr lang="en-US" sz="950" b="1" dirty="0">
                <a:solidFill>
                  <a:srgbClr val="4A7BF7"/>
                </a:solidFill>
                <a:latin typeface="Inter Tight" pitchFamily="34" charset="0"/>
                <a:ea typeface="Inter Tight" pitchFamily="34" charset="-122"/>
                <a:cs typeface="Inter Tight" pitchFamily="34" charset="-120"/>
              </a:rPr>
              <a:t>[ toggle.solutions ]</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Executive summary</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Three platforms working one funnel, plus the system that tells us which leads became students.</a:t>
            </a:r>
            <a:endParaRPr lang="en-US" sz="850" dirty="0"/>
          </a:p>
        </p:txBody>
      </p:sp>
      <p:sp>
        <p:nvSpPr>
          <p:cNvPr id="5" name="Shape 3"/>
          <p:cNvSpPr/>
          <p:nvPr/>
        </p:nvSpPr>
        <p:spPr>
          <a:xfrm>
            <a:off x="457200" y="1207008"/>
            <a:ext cx="1961388" cy="1097280"/>
          </a:xfrm>
          <a:prstGeom prst="roundRect">
            <a:avLst>
              <a:gd name="adj" fmla="val 5000"/>
            </a:avLst>
          </a:prstGeom>
          <a:solidFill>
            <a:srgbClr val="F2F3F6"/>
          </a:solidFill>
          <a:ln/>
        </p:spPr>
      </p:sp>
      <p:sp>
        <p:nvSpPr>
          <p:cNvPr id="6" name="Shape 4"/>
          <p:cNvSpPr/>
          <p:nvPr/>
        </p:nvSpPr>
        <p:spPr>
          <a:xfrm>
            <a:off x="457200" y="1207008"/>
            <a:ext cx="1961388" cy="54864"/>
          </a:xfrm>
          <a:prstGeom prst="rect">
            <a:avLst/>
          </a:prstGeom>
          <a:solidFill>
            <a:srgbClr val="4A7BF7"/>
          </a:solidFill>
          <a:ln/>
        </p:spPr>
      </p:sp>
      <p:sp>
        <p:nvSpPr>
          <p:cNvPr id="7" name="Text 5"/>
          <p:cNvSpPr/>
          <p:nvPr/>
        </p:nvSpPr>
        <p:spPr>
          <a:xfrm>
            <a:off x="585216" y="1316736"/>
            <a:ext cx="1705356" cy="310896"/>
          </a:xfrm>
          <a:prstGeom prst="rect">
            <a:avLst/>
          </a:prstGeom>
          <a:noFill/>
          <a:ln/>
        </p:spPr>
        <p:txBody>
          <a:bodyPr wrap="none" lIns="0" tIns="0" rIns="0" bIns="0" rtlCol="0" anchor="t"/>
          <a:lstStyle/>
          <a:p>
            <a:pPr indent="0" marL="0">
              <a:buNone/>
            </a:pPr>
            <a:r>
              <a:rPr lang="en-US" sz="1700" b="1" dirty="0">
                <a:solidFill>
                  <a:srgbClr val="0F0F0F"/>
                </a:solidFill>
                <a:latin typeface="Inter Tight" pitchFamily="34" charset="0"/>
                <a:ea typeface="Inter Tight" pitchFamily="34" charset="-122"/>
                <a:cs typeface="Inter Tight" pitchFamily="34" charset="-120"/>
              </a:rPr>
              <a:t>RM 15k to 25k</a:t>
            </a:r>
            <a:endParaRPr lang="en-US" sz="1700" dirty="0"/>
          </a:p>
        </p:txBody>
      </p:sp>
      <p:sp>
        <p:nvSpPr>
          <p:cNvPr id="8" name="Text 6"/>
          <p:cNvSpPr/>
          <p:nvPr/>
        </p:nvSpPr>
        <p:spPr>
          <a:xfrm>
            <a:off x="585216" y="1636776"/>
            <a:ext cx="1705356"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Monthly media options</a:t>
            </a:r>
            <a:endParaRPr lang="en-US" sz="800" dirty="0"/>
          </a:p>
        </p:txBody>
      </p:sp>
      <p:sp>
        <p:nvSpPr>
          <p:cNvPr id="9" name="Text 7"/>
          <p:cNvSpPr/>
          <p:nvPr/>
        </p:nvSpPr>
        <p:spPr>
          <a:xfrm>
            <a:off x="585216" y="1810512"/>
            <a:ext cx="1705356" cy="42062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Three options, and TikTok holds 47% in each one</a:t>
            </a:r>
            <a:endParaRPr lang="en-US" sz="750" dirty="0"/>
          </a:p>
        </p:txBody>
      </p:sp>
      <p:sp>
        <p:nvSpPr>
          <p:cNvPr id="10" name="Shape 8"/>
          <p:cNvSpPr/>
          <p:nvPr/>
        </p:nvSpPr>
        <p:spPr>
          <a:xfrm>
            <a:off x="2546604" y="1207008"/>
            <a:ext cx="1961388" cy="1097280"/>
          </a:xfrm>
          <a:prstGeom prst="roundRect">
            <a:avLst>
              <a:gd name="adj" fmla="val 5000"/>
            </a:avLst>
          </a:prstGeom>
          <a:solidFill>
            <a:srgbClr val="F2F3F6"/>
          </a:solidFill>
          <a:ln/>
        </p:spPr>
      </p:sp>
      <p:sp>
        <p:nvSpPr>
          <p:cNvPr id="11" name="Shape 9"/>
          <p:cNvSpPr/>
          <p:nvPr/>
        </p:nvSpPr>
        <p:spPr>
          <a:xfrm>
            <a:off x="2546604" y="1207008"/>
            <a:ext cx="1961388" cy="54864"/>
          </a:xfrm>
          <a:prstGeom prst="rect">
            <a:avLst/>
          </a:prstGeom>
          <a:solidFill>
            <a:srgbClr val="2ECC9B"/>
          </a:solidFill>
          <a:ln/>
        </p:spPr>
      </p:sp>
      <p:sp>
        <p:nvSpPr>
          <p:cNvPr id="12" name="Text 10"/>
          <p:cNvSpPr/>
          <p:nvPr/>
        </p:nvSpPr>
        <p:spPr>
          <a:xfrm>
            <a:off x="2674620" y="1316736"/>
            <a:ext cx="1705356" cy="310896"/>
          </a:xfrm>
          <a:prstGeom prst="rect">
            <a:avLst/>
          </a:prstGeom>
          <a:noFill/>
          <a:ln/>
        </p:spPr>
        <p:txBody>
          <a:bodyPr wrap="none" lIns="0" tIns="0" rIns="0" bIns="0" rtlCol="0" anchor="t"/>
          <a:lstStyle/>
          <a:p>
            <a:pPr indent="0" marL="0">
              <a:buNone/>
            </a:pPr>
            <a:r>
              <a:rPr lang="en-US" sz="1700" b="1" dirty="0">
                <a:solidFill>
                  <a:srgbClr val="0F0F0F"/>
                </a:solidFill>
                <a:latin typeface="Inter Tight" pitchFamily="34" charset="0"/>
                <a:ea typeface="Inter Tight" pitchFamily="34" charset="-122"/>
                <a:cs typeface="Inter Tight" pitchFamily="34" charset="-120"/>
              </a:rPr>
              <a:t>301 to 544</a:t>
            </a:r>
            <a:endParaRPr lang="en-US" sz="1700" dirty="0"/>
          </a:p>
        </p:txBody>
      </p:sp>
      <p:sp>
        <p:nvSpPr>
          <p:cNvPr id="13" name="Text 11"/>
          <p:cNvSpPr/>
          <p:nvPr/>
        </p:nvSpPr>
        <p:spPr>
          <a:xfrm>
            <a:off x="2674620" y="1636776"/>
            <a:ext cx="1705356"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Forecast leads a month</a:t>
            </a:r>
            <a:endParaRPr lang="en-US" sz="800" dirty="0"/>
          </a:p>
        </p:txBody>
      </p:sp>
      <p:sp>
        <p:nvSpPr>
          <p:cNvPr id="14" name="Text 12"/>
          <p:cNvSpPr/>
          <p:nvPr/>
        </p:nvSpPr>
        <p:spPr>
          <a:xfrm>
            <a:off x="2674620" y="1810512"/>
            <a:ext cx="1705356" cy="42062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Across TikTok, Meta and Google Search</a:t>
            </a:r>
            <a:endParaRPr lang="en-US" sz="750" dirty="0"/>
          </a:p>
        </p:txBody>
      </p:sp>
      <p:sp>
        <p:nvSpPr>
          <p:cNvPr id="15" name="Shape 13"/>
          <p:cNvSpPr/>
          <p:nvPr/>
        </p:nvSpPr>
        <p:spPr>
          <a:xfrm>
            <a:off x="4636008" y="1207008"/>
            <a:ext cx="1961388" cy="1097280"/>
          </a:xfrm>
          <a:prstGeom prst="roundRect">
            <a:avLst>
              <a:gd name="adj" fmla="val 5000"/>
            </a:avLst>
          </a:prstGeom>
          <a:solidFill>
            <a:srgbClr val="F2F3F6"/>
          </a:solidFill>
          <a:ln/>
        </p:spPr>
      </p:sp>
      <p:sp>
        <p:nvSpPr>
          <p:cNvPr id="16" name="Shape 14"/>
          <p:cNvSpPr/>
          <p:nvPr/>
        </p:nvSpPr>
        <p:spPr>
          <a:xfrm>
            <a:off x="4636008" y="1207008"/>
            <a:ext cx="1961388" cy="54864"/>
          </a:xfrm>
          <a:prstGeom prst="rect">
            <a:avLst/>
          </a:prstGeom>
          <a:solidFill>
            <a:srgbClr val="8E6BE6"/>
          </a:solidFill>
          <a:ln/>
        </p:spPr>
      </p:sp>
      <p:sp>
        <p:nvSpPr>
          <p:cNvPr id="17" name="Text 15"/>
          <p:cNvSpPr/>
          <p:nvPr/>
        </p:nvSpPr>
        <p:spPr>
          <a:xfrm>
            <a:off x="4764024" y="1316736"/>
            <a:ext cx="1705356" cy="310896"/>
          </a:xfrm>
          <a:prstGeom prst="rect">
            <a:avLst/>
          </a:prstGeom>
          <a:noFill/>
          <a:ln/>
        </p:spPr>
        <p:txBody>
          <a:bodyPr wrap="none" lIns="0" tIns="0" rIns="0" bIns="0" rtlCol="0" anchor="t"/>
          <a:lstStyle/>
          <a:p>
            <a:pPr indent="0" marL="0">
              <a:buNone/>
            </a:pPr>
            <a:r>
              <a:rPr lang="en-US" sz="1700" b="1" dirty="0">
                <a:solidFill>
                  <a:srgbClr val="4A7BF7"/>
                </a:solidFill>
                <a:latin typeface="Inter Tight" pitchFamily="34" charset="0"/>
                <a:ea typeface="Inter Tight" pitchFamily="34" charset="-122"/>
                <a:cs typeface="Inter Tight" pitchFamily="34" charset="-120"/>
              </a:rPr>
              <a:t>62 to 168</a:t>
            </a:r>
            <a:endParaRPr lang="en-US" sz="1700" dirty="0"/>
          </a:p>
        </p:txBody>
      </p:sp>
      <p:sp>
        <p:nvSpPr>
          <p:cNvPr id="18" name="Text 16"/>
          <p:cNvSpPr/>
          <p:nvPr/>
        </p:nvSpPr>
        <p:spPr>
          <a:xfrm>
            <a:off x="4764024" y="1636776"/>
            <a:ext cx="1705356"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Forecast qualified leads</a:t>
            </a:r>
            <a:endParaRPr lang="en-US" sz="800" dirty="0"/>
          </a:p>
        </p:txBody>
      </p:sp>
      <p:sp>
        <p:nvSpPr>
          <p:cNvPr id="19" name="Text 17"/>
          <p:cNvSpPr/>
          <p:nvPr/>
        </p:nvSpPr>
        <p:spPr>
          <a:xfrm>
            <a:off x="4764024" y="1810512"/>
            <a:ext cx="1705356" cy="42062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At 20% to 40% of leads, depending on platform</a:t>
            </a:r>
            <a:endParaRPr lang="en-US" sz="750" dirty="0"/>
          </a:p>
        </p:txBody>
      </p:sp>
      <p:sp>
        <p:nvSpPr>
          <p:cNvPr id="20" name="Shape 18"/>
          <p:cNvSpPr/>
          <p:nvPr/>
        </p:nvSpPr>
        <p:spPr>
          <a:xfrm>
            <a:off x="6725412" y="1207008"/>
            <a:ext cx="1961388" cy="1097280"/>
          </a:xfrm>
          <a:prstGeom prst="roundRect">
            <a:avLst>
              <a:gd name="adj" fmla="val 5000"/>
            </a:avLst>
          </a:prstGeom>
          <a:solidFill>
            <a:srgbClr val="F2F3F6"/>
          </a:solidFill>
          <a:ln/>
        </p:spPr>
      </p:sp>
      <p:sp>
        <p:nvSpPr>
          <p:cNvPr id="21" name="Shape 19"/>
          <p:cNvSpPr/>
          <p:nvPr/>
        </p:nvSpPr>
        <p:spPr>
          <a:xfrm>
            <a:off x="6725412" y="1207008"/>
            <a:ext cx="1961388" cy="54864"/>
          </a:xfrm>
          <a:prstGeom prst="rect">
            <a:avLst/>
          </a:prstGeom>
          <a:solidFill>
            <a:srgbClr val="F28B4C"/>
          </a:solidFill>
          <a:ln/>
        </p:spPr>
      </p:sp>
      <p:sp>
        <p:nvSpPr>
          <p:cNvPr id="22" name="Text 20"/>
          <p:cNvSpPr/>
          <p:nvPr/>
        </p:nvSpPr>
        <p:spPr>
          <a:xfrm>
            <a:off x="6853428" y="1316736"/>
            <a:ext cx="1705356" cy="310896"/>
          </a:xfrm>
          <a:prstGeom prst="rect">
            <a:avLst/>
          </a:prstGeom>
          <a:noFill/>
          <a:ln/>
        </p:spPr>
        <p:txBody>
          <a:bodyPr wrap="none" lIns="0" tIns="0" rIns="0" bIns="0" rtlCol="0" anchor="t"/>
          <a:lstStyle/>
          <a:p>
            <a:pPr indent="0" marL="0">
              <a:buNone/>
            </a:pPr>
            <a:r>
              <a:rPr lang="en-US" sz="1700" b="1" dirty="0">
                <a:solidFill>
                  <a:srgbClr val="0F0F0F"/>
                </a:solidFill>
                <a:latin typeface="Inter Tight" pitchFamily="34" charset="0"/>
                <a:ea typeface="Inter Tight" pitchFamily="34" charset="-122"/>
                <a:cs typeface="Inter Tight" pitchFamily="34" charset="-120"/>
              </a:rPr>
              <a:t>RM 148 to 242</a:t>
            </a:r>
            <a:endParaRPr lang="en-US" sz="1700" dirty="0"/>
          </a:p>
        </p:txBody>
      </p:sp>
      <p:sp>
        <p:nvSpPr>
          <p:cNvPr id="23" name="Text 21"/>
          <p:cNvSpPr/>
          <p:nvPr/>
        </p:nvSpPr>
        <p:spPr>
          <a:xfrm>
            <a:off x="6853428" y="1636776"/>
            <a:ext cx="1705356"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Cost per qualified lead</a:t>
            </a:r>
            <a:endParaRPr lang="en-US" sz="800" dirty="0"/>
          </a:p>
        </p:txBody>
      </p:sp>
      <p:sp>
        <p:nvSpPr>
          <p:cNvPr id="24" name="Text 22"/>
          <p:cNvSpPr/>
          <p:nvPr/>
        </p:nvSpPr>
        <p:spPr>
          <a:xfrm>
            <a:off x="6853428" y="1810512"/>
            <a:ext cx="1705356" cy="42062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Holds steady across all three options</a:t>
            </a:r>
            <a:endParaRPr lang="en-US" sz="750" dirty="0"/>
          </a:p>
        </p:txBody>
      </p:sp>
      <p:sp>
        <p:nvSpPr>
          <p:cNvPr id="25" name="Shape 23"/>
          <p:cNvSpPr/>
          <p:nvPr/>
        </p:nvSpPr>
        <p:spPr>
          <a:xfrm>
            <a:off x="457200" y="2432304"/>
            <a:ext cx="3977640" cy="1783080"/>
          </a:xfrm>
          <a:prstGeom prst="roundRect">
            <a:avLst>
              <a:gd name="adj" fmla="val 3077"/>
            </a:avLst>
          </a:prstGeom>
          <a:solidFill>
            <a:srgbClr val="F2F3F6"/>
          </a:solidFill>
          <a:ln/>
        </p:spPr>
      </p:sp>
      <p:sp>
        <p:nvSpPr>
          <p:cNvPr id="26" name="Shape 24"/>
          <p:cNvSpPr/>
          <p:nvPr/>
        </p:nvSpPr>
        <p:spPr>
          <a:xfrm>
            <a:off x="457200" y="2478024"/>
            <a:ext cx="45720" cy="1691640"/>
          </a:xfrm>
          <a:prstGeom prst="rect">
            <a:avLst/>
          </a:prstGeom>
          <a:solidFill>
            <a:srgbClr val="4A7BF7"/>
          </a:solidFill>
          <a:ln/>
        </p:spPr>
      </p:sp>
      <p:sp>
        <p:nvSpPr>
          <p:cNvPr id="27" name="Text 25"/>
          <p:cNvSpPr/>
          <p:nvPr/>
        </p:nvSpPr>
        <p:spPr>
          <a:xfrm>
            <a:off x="603504" y="2551176"/>
            <a:ext cx="3685032" cy="201168"/>
          </a:xfrm>
          <a:prstGeom prst="rect">
            <a:avLst/>
          </a:prstGeom>
          <a:noFill/>
          <a:ln/>
        </p:spPr>
        <p:txBody>
          <a:bodyPr wrap="square" lIns="0" tIns="0" rIns="0" bIns="0" rtlCol="0" anchor="t"/>
          <a:lstStyle/>
          <a:p>
            <a:pPr indent="0" marL="0">
              <a:buNone/>
            </a:pPr>
            <a:r>
              <a:rPr lang="en-US" sz="950" b="1" dirty="0">
                <a:solidFill>
                  <a:srgbClr val="3056C9"/>
                </a:solidFill>
                <a:latin typeface="Inter Tight" pitchFamily="34" charset="0"/>
                <a:ea typeface="Inter Tight" pitchFamily="34" charset="-122"/>
                <a:cs typeface="Inter Tight" pitchFamily="34" charset="-120"/>
              </a:rPr>
              <a:t>The media proposal</a:t>
            </a:r>
            <a:endParaRPr lang="en-US" sz="950" dirty="0"/>
          </a:p>
        </p:txBody>
      </p:sp>
      <p:sp>
        <p:nvSpPr>
          <p:cNvPr id="28" name="Text 26"/>
          <p:cNvSpPr/>
          <p:nvPr/>
        </p:nvSpPr>
        <p:spPr>
          <a:xfrm>
            <a:off x="603504" y="2761488"/>
            <a:ext cx="3685032" cy="1389888"/>
          </a:xfrm>
          <a:prstGeom prst="rect">
            <a:avLst/>
          </a:prstGeom>
          <a:noFill/>
          <a:ln/>
        </p:spPr>
        <p:txBody>
          <a:bodyPr wrap="square" lIns="0" tIns="0" rIns="0" bIns="0" rtlCol="0" anchor="t"/>
          <a:lstStyle/>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TikTok keeps creating demand at RM 34 a lead on the two form types that produce quality.</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Meta mirrors the instant form mechanic that already delivered 527 leads, and adds a WhatsApp route for parents.</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Google Search meets the person typing diploma kejururawatan today, who is choosing a college this week.</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Every platform runs its own upper, middle and lower funnel instead of one conversion campaign.</a:t>
            </a:r>
            <a:endParaRPr lang="en-US" sz="750" dirty="0"/>
          </a:p>
        </p:txBody>
      </p:sp>
      <p:sp>
        <p:nvSpPr>
          <p:cNvPr id="29" name="Shape 27"/>
          <p:cNvSpPr/>
          <p:nvPr/>
        </p:nvSpPr>
        <p:spPr>
          <a:xfrm>
            <a:off x="4709160" y="2432304"/>
            <a:ext cx="3977640" cy="1783080"/>
          </a:xfrm>
          <a:prstGeom prst="roundRect">
            <a:avLst>
              <a:gd name="adj" fmla="val 3077"/>
            </a:avLst>
          </a:prstGeom>
          <a:solidFill>
            <a:srgbClr val="F2F3F6"/>
          </a:solidFill>
          <a:ln/>
        </p:spPr>
      </p:sp>
      <p:sp>
        <p:nvSpPr>
          <p:cNvPr id="30" name="Shape 28"/>
          <p:cNvSpPr/>
          <p:nvPr/>
        </p:nvSpPr>
        <p:spPr>
          <a:xfrm>
            <a:off x="4709160" y="2478024"/>
            <a:ext cx="45720" cy="1691640"/>
          </a:xfrm>
          <a:prstGeom prst="rect">
            <a:avLst/>
          </a:prstGeom>
          <a:solidFill>
            <a:srgbClr val="2ECC9B"/>
          </a:solidFill>
          <a:ln/>
        </p:spPr>
      </p:sp>
      <p:sp>
        <p:nvSpPr>
          <p:cNvPr id="31" name="Text 29"/>
          <p:cNvSpPr/>
          <p:nvPr/>
        </p:nvSpPr>
        <p:spPr>
          <a:xfrm>
            <a:off x="4855464" y="2551176"/>
            <a:ext cx="3685032" cy="201168"/>
          </a:xfrm>
          <a:prstGeom prst="rect">
            <a:avLst/>
          </a:prstGeom>
          <a:noFill/>
          <a:ln/>
        </p:spPr>
        <p:txBody>
          <a:bodyPr wrap="square" lIns="0" tIns="0" rIns="0" bIns="0" rtlCol="0" anchor="t"/>
          <a:lstStyle/>
          <a:p>
            <a:pPr indent="0" marL="0">
              <a:buNone/>
            </a:pPr>
            <a:r>
              <a:rPr lang="en-US" sz="950" b="1" dirty="0">
                <a:solidFill>
                  <a:srgbClr val="3056C9"/>
                </a:solidFill>
                <a:latin typeface="Inter Tight" pitchFamily="34" charset="0"/>
                <a:ea typeface="Inter Tight" pitchFamily="34" charset="-122"/>
                <a:cs typeface="Inter Tight" pitchFamily="34" charset="-120"/>
              </a:rPr>
              <a:t>The conversion engine</a:t>
            </a:r>
            <a:endParaRPr lang="en-US" sz="950" dirty="0"/>
          </a:p>
        </p:txBody>
      </p:sp>
      <p:sp>
        <p:nvSpPr>
          <p:cNvPr id="32" name="Text 30"/>
          <p:cNvSpPr/>
          <p:nvPr/>
        </p:nvSpPr>
        <p:spPr>
          <a:xfrm>
            <a:off x="4855464" y="2761488"/>
            <a:ext cx="3685032" cy="1389888"/>
          </a:xfrm>
          <a:prstGeom prst="rect">
            <a:avLst/>
          </a:prstGeom>
          <a:noFill/>
          <a:ln/>
        </p:spPr>
        <p:txBody>
          <a:bodyPr wrap="square" lIns="0" tIns="0" rIns="0" bIns="0" rtlCol="0" anchor="t"/>
          <a:lstStyle/>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Every lead from every channel lands in one inbox with its full message history attached.</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An automated reply opens the conversation in seconds and asks the questions IJN sets.</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The tool labels each lead as qualified or not, so your team reads a list instead of a thread.</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A PIC assigns qualified leads to the right counsellor, then outcomes flow back to all three platforms.</a:t>
            </a:r>
            <a:endParaRPr lang="en-US" sz="750" dirty="0"/>
          </a:p>
        </p:txBody>
      </p:sp>
      <p:sp>
        <p:nvSpPr>
          <p:cNvPr id="33" name="Shape 31"/>
          <p:cNvSpPr/>
          <p:nvPr/>
        </p:nvSpPr>
        <p:spPr>
          <a:xfrm>
            <a:off x="457200" y="4352544"/>
            <a:ext cx="8229600" cy="310896"/>
          </a:xfrm>
          <a:prstGeom prst="rect">
            <a:avLst/>
          </a:prstGeom>
          <a:solidFill>
            <a:srgbClr val="3056C9"/>
          </a:solidFill>
          <a:ln/>
        </p:spPr>
      </p:sp>
      <p:sp>
        <p:nvSpPr>
          <p:cNvPr id="34" name="Text 32"/>
          <p:cNvSpPr/>
          <p:nvPr/>
        </p:nvSpPr>
        <p:spPr>
          <a:xfrm>
            <a:off x="603504" y="4352544"/>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Two months delivered 527 leads  |  No record of what happened to any of them  |  The conversion engine is what closes that loop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What we will cover</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The first three sections cover the media plan. The last three cover the budget, the forecast, and the system that converts what we buy.</a:t>
            </a:r>
            <a:endParaRPr lang="en-US" sz="850" dirty="0"/>
          </a:p>
        </p:txBody>
      </p:sp>
      <p:sp>
        <p:nvSpPr>
          <p:cNvPr id="5" name="Shape 3"/>
          <p:cNvSpPr/>
          <p:nvPr/>
        </p:nvSpPr>
        <p:spPr>
          <a:xfrm>
            <a:off x="457200" y="1371600"/>
            <a:ext cx="2651760" cy="1371600"/>
          </a:xfrm>
          <a:prstGeom prst="roundRect">
            <a:avLst>
              <a:gd name="adj" fmla="val 4000"/>
            </a:avLst>
          </a:prstGeom>
          <a:solidFill>
            <a:srgbClr val="F2F3F6"/>
          </a:solidFill>
          <a:ln/>
        </p:spPr>
      </p:sp>
      <p:sp>
        <p:nvSpPr>
          <p:cNvPr id="6" name="Shape 4"/>
          <p:cNvSpPr/>
          <p:nvPr/>
        </p:nvSpPr>
        <p:spPr>
          <a:xfrm>
            <a:off x="457200" y="1371600"/>
            <a:ext cx="2651760" cy="54864"/>
          </a:xfrm>
          <a:prstGeom prst="rect">
            <a:avLst/>
          </a:prstGeom>
          <a:solidFill>
            <a:srgbClr val="4A7BF7"/>
          </a:solidFill>
          <a:ln/>
        </p:spPr>
      </p:sp>
      <p:sp>
        <p:nvSpPr>
          <p:cNvPr id="7" name="Text 5"/>
          <p:cNvSpPr/>
          <p:nvPr/>
        </p:nvSpPr>
        <p:spPr>
          <a:xfrm>
            <a:off x="603504" y="1499616"/>
            <a:ext cx="54864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01</a:t>
            </a:r>
            <a:endParaRPr lang="en-US" sz="800" dirty="0"/>
          </a:p>
        </p:txBody>
      </p:sp>
      <p:sp>
        <p:nvSpPr>
          <p:cNvPr id="8" name="Text 6"/>
          <p:cNvSpPr/>
          <p:nvPr/>
        </p:nvSpPr>
        <p:spPr>
          <a:xfrm>
            <a:off x="603504" y="1700784"/>
            <a:ext cx="2359152"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Where we left it</a:t>
            </a:r>
            <a:endParaRPr lang="en-US" sz="950" dirty="0"/>
          </a:p>
        </p:txBody>
      </p:sp>
      <p:sp>
        <p:nvSpPr>
          <p:cNvPr id="9" name="Text 7"/>
          <p:cNvSpPr/>
          <p:nvPr/>
        </p:nvSpPr>
        <p:spPr>
          <a:xfrm>
            <a:off x="603504" y="1920240"/>
            <a:ext cx="2359152" cy="713232"/>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Two months of TikTok, the issues we raised, and what we agreed to add.</a:t>
            </a:r>
            <a:endParaRPr lang="en-US" sz="750" dirty="0"/>
          </a:p>
        </p:txBody>
      </p:sp>
      <p:sp>
        <p:nvSpPr>
          <p:cNvPr id="10" name="Shape 8"/>
          <p:cNvSpPr/>
          <p:nvPr/>
        </p:nvSpPr>
        <p:spPr>
          <a:xfrm>
            <a:off x="3246120" y="1371600"/>
            <a:ext cx="2651760" cy="1371600"/>
          </a:xfrm>
          <a:prstGeom prst="roundRect">
            <a:avLst>
              <a:gd name="adj" fmla="val 4000"/>
            </a:avLst>
          </a:prstGeom>
          <a:solidFill>
            <a:srgbClr val="F2F3F6"/>
          </a:solidFill>
          <a:ln/>
        </p:spPr>
      </p:sp>
      <p:sp>
        <p:nvSpPr>
          <p:cNvPr id="11" name="Shape 9"/>
          <p:cNvSpPr/>
          <p:nvPr/>
        </p:nvSpPr>
        <p:spPr>
          <a:xfrm>
            <a:off x="3246120" y="1371600"/>
            <a:ext cx="2651760" cy="54864"/>
          </a:xfrm>
          <a:prstGeom prst="rect">
            <a:avLst/>
          </a:prstGeom>
          <a:solidFill>
            <a:srgbClr val="2ECC9B"/>
          </a:solidFill>
          <a:ln/>
        </p:spPr>
      </p:sp>
      <p:sp>
        <p:nvSpPr>
          <p:cNvPr id="12" name="Text 10"/>
          <p:cNvSpPr/>
          <p:nvPr/>
        </p:nvSpPr>
        <p:spPr>
          <a:xfrm>
            <a:off x="3392424" y="1499616"/>
            <a:ext cx="54864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02</a:t>
            </a:r>
            <a:endParaRPr lang="en-US" sz="800" dirty="0"/>
          </a:p>
        </p:txBody>
      </p:sp>
      <p:sp>
        <p:nvSpPr>
          <p:cNvPr id="13" name="Text 11"/>
          <p:cNvSpPr/>
          <p:nvPr/>
        </p:nvSpPr>
        <p:spPr>
          <a:xfrm>
            <a:off x="3392424" y="1700784"/>
            <a:ext cx="2359152"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The full funnel</a:t>
            </a:r>
            <a:endParaRPr lang="en-US" sz="950" dirty="0"/>
          </a:p>
        </p:txBody>
      </p:sp>
      <p:sp>
        <p:nvSpPr>
          <p:cNvPr id="14" name="Text 12"/>
          <p:cNvSpPr/>
          <p:nvPr/>
        </p:nvSpPr>
        <p:spPr>
          <a:xfrm>
            <a:off x="3392424" y="1920240"/>
            <a:ext cx="2359152" cy="713232"/>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How TikTok, Meta and Google Search each split the upper, middle and lower funnel.</a:t>
            </a:r>
            <a:endParaRPr lang="en-US" sz="750" dirty="0"/>
          </a:p>
        </p:txBody>
      </p:sp>
      <p:sp>
        <p:nvSpPr>
          <p:cNvPr id="15" name="Shape 13"/>
          <p:cNvSpPr/>
          <p:nvPr/>
        </p:nvSpPr>
        <p:spPr>
          <a:xfrm>
            <a:off x="6035040" y="1371600"/>
            <a:ext cx="2651760" cy="1371600"/>
          </a:xfrm>
          <a:prstGeom prst="roundRect">
            <a:avLst>
              <a:gd name="adj" fmla="val 4000"/>
            </a:avLst>
          </a:prstGeom>
          <a:solidFill>
            <a:srgbClr val="F2F3F6"/>
          </a:solidFill>
          <a:ln/>
        </p:spPr>
      </p:sp>
      <p:sp>
        <p:nvSpPr>
          <p:cNvPr id="16" name="Shape 14"/>
          <p:cNvSpPr/>
          <p:nvPr/>
        </p:nvSpPr>
        <p:spPr>
          <a:xfrm>
            <a:off x="6035040" y="1371600"/>
            <a:ext cx="2651760" cy="54864"/>
          </a:xfrm>
          <a:prstGeom prst="rect">
            <a:avLst/>
          </a:prstGeom>
          <a:solidFill>
            <a:srgbClr val="8E6BE6"/>
          </a:solidFill>
          <a:ln/>
        </p:spPr>
      </p:sp>
      <p:sp>
        <p:nvSpPr>
          <p:cNvPr id="17" name="Text 15"/>
          <p:cNvSpPr/>
          <p:nvPr/>
        </p:nvSpPr>
        <p:spPr>
          <a:xfrm>
            <a:off x="6181344" y="1499616"/>
            <a:ext cx="54864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03</a:t>
            </a:r>
            <a:endParaRPr lang="en-US" sz="800" dirty="0"/>
          </a:p>
        </p:txBody>
      </p:sp>
      <p:sp>
        <p:nvSpPr>
          <p:cNvPr id="18" name="Text 16"/>
          <p:cNvSpPr/>
          <p:nvPr/>
        </p:nvSpPr>
        <p:spPr>
          <a:xfrm>
            <a:off x="6181344" y="1700784"/>
            <a:ext cx="2359152"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The plan per platform</a:t>
            </a:r>
            <a:endParaRPr lang="en-US" sz="950" dirty="0"/>
          </a:p>
        </p:txBody>
      </p:sp>
      <p:sp>
        <p:nvSpPr>
          <p:cNvPr id="19" name="Text 17"/>
          <p:cNvSpPr/>
          <p:nvPr/>
        </p:nvSpPr>
        <p:spPr>
          <a:xfrm>
            <a:off x="6181344" y="1920240"/>
            <a:ext cx="2359152" cy="713232"/>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Campaign groups, audiences, and the messaging behind each click.</a:t>
            </a:r>
            <a:endParaRPr lang="en-US" sz="750" dirty="0"/>
          </a:p>
        </p:txBody>
      </p:sp>
      <p:sp>
        <p:nvSpPr>
          <p:cNvPr id="20" name="Shape 18"/>
          <p:cNvSpPr/>
          <p:nvPr/>
        </p:nvSpPr>
        <p:spPr>
          <a:xfrm>
            <a:off x="457200" y="2880360"/>
            <a:ext cx="2651760" cy="1371600"/>
          </a:xfrm>
          <a:prstGeom prst="roundRect">
            <a:avLst>
              <a:gd name="adj" fmla="val 4000"/>
            </a:avLst>
          </a:prstGeom>
          <a:solidFill>
            <a:srgbClr val="F2F3F6"/>
          </a:solidFill>
          <a:ln/>
        </p:spPr>
      </p:sp>
      <p:sp>
        <p:nvSpPr>
          <p:cNvPr id="21" name="Shape 19"/>
          <p:cNvSpPr/>
          <p:nvPr/>
        </p:nvSpPr>
        <p:spPr>
          <a:xfrm>
            <a:off x="457200" y="2880360"/>
            <a:ext cx="2651760" cy="54864"/>
          </a:xfrm>
          <a:prstGeom prst="rect">
            <a:avLst/>
          </a:prstGeom>
          <a:solidFill>
            <a:srgbClr val="F28B4C"/>
          </a:solidFill>
          <a:ln/>
        </p:spPr>
      </p:sp>
      <p:sp>
        <p:nvSpPr>
          <p:cNvPr id="22" name="Text 20"/>
          <p:cNvSpPr/>
          <p:nvPr/>
        </p:nvSpPr>
        <p:spPr>
          <a:xfrm>
            <a:off x="603504" y="3008376"/>
            <a:ext cx="54864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04</a:t>
            </a:r>
            <a:endParaRPr lang="en-US" sz="800" dirty="0"/>
          </a:p>
        </p:txBody>
      </p:sp>
      <p:sp>
        <p:nvSpPr>
          <p:cNvPr id="23" name="Text 21"/>
          <p:cNvSpPr/>
          <p:nvPr/>
        </p:nvSpPr>
        <p:spPr>
          <a:xfrm>
            <a:off x="603504" y="3209544"/>
            <a:ext cx="2359152"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Three budget options</a:t>
            </a:r>
            <a:endParaRPr lang="en-US" sz="950" dirty="0"/>
          </a:p>
        </p:txBody>
      </p:sp>
      <p:sp>
        <p:nvSpPr>
          <p:cNvPr id="24" name="Text 22"/>
          <p:cNvSpPr/>
          <p:nvPr/>
        </p:nvSpPr>
        <p:spPr>
          <a:xfrm>
            <a:off x="603504" y="3429000"/>
            <a:ext cx="2359152" cy="713232"/>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RM 15,000, RM 20,000 and RM 25,000, broken down by platform and by funnel.</a:t>
            </a:r>
            <a:endParaRPr lang="en-US" sz="750" dirty="0"/>
          </a:p>
        </p:txBody>
      </p:sp>
      <p:sp>
        <p:nvSpPr>
          <p:cNvPr id="25" name="Shape 23"/>
          <p:cNvSpPr/>
          <p:nvPr/>
        </p:nvSpPr>
        <p:spPr>
          <a:xfrm>
            <a:off x="3246120" y="2880360"/>
            <a:ext cx="2651760" cy="1371600"/>
          </a:xfrm>
          <a:prstGeom prst="roundRect">
            <a:avLst>
              <a:gd name="adj" fmla="val 4000"/>
            </a:avLst>
          </a:prstGeom>
          <a:solidFill>
            <a:srgbClr val="F2F3F6"/>
          </a:solidFill>
          <a:ln/>
        </p:spPr>
      </p:sp>
      <p:sp>
        <p:nvSpPr>
          <p:cNvPr id="26" name="Shape 24"/>
          <p:cNvSpPr/>
          <p:nvPr/>
        </p:nvSpPr>
        <p:spPr>
          <a:xfrm>
            <a:off x="3246120" y="2880360"/>
            <a:ext cx="2651760" cy="54864"/>
          </a:xfrm>
          <a:prstGeom prst="rect">
            <a:avLst/>
          </a:prstGeom>
          <a:solidFill>
            <a:srgbClr val="4A7BF7"/>
          </a:solidFill>
          <a:ln/>
        </p:spPr>
      </p:sp>
      <p:sp>
        <p:nvSpPr>
          <p:cNvPr id="27" name="Text 25"/>
          <p:cNvSpPr/>
          <p:nvPr/>
        </p:nvSpPr>
        <p:spPr>
          <a:xfrm>
            <a:off x="3392424" y="3008376"/>
            <a:ext cx="54864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05</a:t>
            </a:r>
            <a:endParaRPr lang="en-US" sz="800" dirty="0"/>
          </a:p>
        </p:txBody>
      </p:sp>
      <p:sp>
        <p:nvSpPr>
          <p:cNvPr id="28" name="Text 26"/>
          <p:cNvSpPr/>
          <p:nvPr/>
        </p:nvSpPr>
        <p:spPr>
          <a:xfrm>
            <a:off x="3392424" y="3209544"/>
            <a:ext cx="2359152"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Forecast</a:t>
            </a:r>
            <a:endParaRPr lang="en-US" sz="950" dirty="0"/>
          </a:p>
        </p:txBody>
      </p:sp>
      <p:sp>
        <p:nvSpPr>
          <p:cNvPr id="29" name="Text 27"/>
          <p:cNvSpPr/>
          <p:nvPr/>
        </p:nvSpPr>
        <p:spPr>
          <a:xfrm>
            <a:off x="3392424" y="3429000"/>
            <a:ext cx="2359152" cy="713232"/>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Leads and qualified leads at each budget, with every assumption written down.</a:t>
            </a:r>
            <a:endParaRPr lang="en-US" sz="750" dirty="0"/>
          </a:p>
        </p:txBody>
      </p:sp>
      <p:sp>
        <p:nvSpPr>
          <p:cNvPr id="30" name="Shape 28"/>
          <p:cNvSpPr/>
          <p:nvPr/>
        </p:nvSpPr>
        <p:spPr>
          <a:xfrm>
            <a:off x="6035040" y="2880360"/>
            <a:ext cx="2651760" cy="1371600"/>
          </a:xfrm>
          <a:prstGeom prst="roundRect">
            <a:avLst>
              <a:gd name="adj" fmla="val 4000"/>
            </a:avLst>
          </a:prstGeom>
          <a:solidFill>
            <a:srgbClr val="F2F3F6"/>
          </a:solidFill>
          <a:ln/>
        </p:spPr>
      </p:sp>
      <p:sp>
        <p:nvSpPr>
          <p:cNvPr id="31" name="Shape 29"/>
          <p:cNvSpPr/>
          <p:nvPr/>
        </p:nvSpPr>
        <p:spPr>
          <a:xfrm>
            <a:off x="6035040" y="2880360"/>
            <a:ext cx="2651760" cy="54864"/>
          </a:xfrm>
          <a:prstGeom prst="rect">
            <a:avLst/>
          </a:prstGeom>
          <a:solidFill>
            <a:srgbClr val="2ECC9B"/>
          </a:solidFill>
          <a:ln/>
        </p:spPr>
      </p:sp>
      <p:sp>
        <p:nvSpPr>
          <p:cNvPr id="32" name="Text 30"/>
          <p:cNvSpPr/>
          <p:nvPr/>
        </p:nvSpPr>
        <p:spPr>
          <a:xfrm>
            <a:off x="6181344" y="3008376"/>
            <a:ext cx="54864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06</a:t>
            </a:r>
            <a:endParaRPr lang="en-US" sz="800" dirty="0"/>
          </a:p>
        </p:txBody>
      </p:sp>
      <p:sp>
        <p:nvSpPr>
          <p:cNvPr id="33" name="Text 31"/>
          <p:cNvSpPr/>
          <p:nvPr/>
        </p:nvSpPr>
        <p:spPr>
          <a:xfrm>
            <a:off x="6181344" y="3209544"/>
            <a:ext cx="2359152"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The conversion engine</a:t>
            </a:r>
            <a:endParaRPr lang="en-US" sz="950" dirty="0"/>
          </a:p>
        </p:txBody>
      </p:sp>
      <p:sp>
        <p:nvSpPr>
          <p:cNvPr id="34" name="Text 32"/>
          <p:cNvSpPr/>
          <p:nvPr/>
        </p:nvSpPr>
        <p:spPr>
          <a:xfrm>
            <a:off x="6181344" y="3429000"/>
            <a:ext cx="2359152" cy="713232"/>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CRM and automation, the two tools that run it, and the first three months.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Where we left it</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Two full months of TikTok delivery, 12 June to 31 July 2026, and the three issues we raised in the review.</a:t>
            </a:r>
            <a:endParaRPr lang="en-US" sz="850" dirty="0"/>
          </a:p>
        </p:txBody>
      </p:sp>
      <p:sp>
        <p:nvSpPr>
          <p:cNvPr id="5" name="Shape 3"/>
          <p:cNvSpPr/>
          <p:nvPr/>
        </p:nvSpPr>
        <p:spPr>
          <a:xfrm>
            <a:off x="457200" y="1280160"/>
            <a:ext cx="1961388" cy="1298448"/>
          </a:xfrm>
          <a:prstGeom prst="roundRect">
            <a:avLst>
              <a:gd name="adj" fmla="val 4225"/>
            </a:avLst>
          </a:prstGeom>
          <a:solidFill>
            <a:srgbClr val="F2F3F6"/>
          </a:solidFill>
          <a:ln/>
        </p:spPr>
      </p:sp>
      <p:sp>
        <p:nvSpPr>
          <p:cNvPr id="6" name="Shape 4"/>
          <p:cNvSpPr/>
          <p:nvPr/>
        </p:nvSpPr>
        <p:spPr>
          <a:xfrm>
            <a:off x="457200" y="1280160"/>
            <a:ext cx="1961388" cy="54864"/>
          </a:xfrm>
          <a:prstGeom prst="rect">
            <a:avLst/>
          </a:prstGeom>
          <a:solidFill>
            <a:srgbClr val="4A7BF7"/>
          </a:solidFill>
          <a:ln/>
        </p:spPr>
      </p:sp>
      <p:sp>
        <p:nvSpPr>
          <p:cNvPr id="7" name="Text 5"/>
          <p:cNvSpPr/>
          <p:nvPr/>
        </p:nvSpPr>
        <p:spPr>
          <a:xfrm>
            <a:off x="585216" y="1389888"/>
            <a:ext cx="1705356" cy="310896"/>
          </a:xfrm>
          <a:prstGeom prst="rect">
            <a:avLst/>
          </a:prstGeom>
          <a:noFill/>
          <a:ln/>
        </p:spPr>
        <p:txBody>
          <a:bodyPr wrap="none" lIns="0" tIns="0" rIns="0" bIns="0" rtlCol="0" anchor="t"/>
          <a:lstStyle/>
          <a:p>
            <a:pPr indent="0" marL="0">
              <a:buNone/>
            </a:pPr>
            <a:r>
              <a:rPr lang="en-US" sz="2500" b="1" dirty="0">
                <a:solidFill>
                  <a:srgbClr val="0F0F0F"/>
                </a:solidFill>
                <a:latin typeface="Inter Tight" pitchFamily="34" charset="0"/>
                <a:ea typeface="Inter Tight" pitchFamily="34" charset="-122"/>
                <a:cs typeface="Inter Tight" pitchFamily="34" charset="-120"/>
              </a:rPr>
              <a:t>RM 12,235</a:t>
            </a:r>
            <a:endParaRPr lang="en-US" sz="2500" dirty="0"/>
          </a:p>
        </p:txBody>
      </p:sp>
      <p:sp>
        <p:nvSpPr>
          <p:cNvPr id="8" name="Text 6"/>
          <p:cNvSpPr/>
          <p:nvPr/>
        </p:nvSpPr>
        <p:spPr>
          <a:xfrm>
            <a:off x="585216" y="1709928"/>
            <a:ext cx="1705356"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Total ad spend</a:t>
            </a:r>
            <a:endParaRPr lang="en-US" sz="800" dirty="0"/>
          </a:p>
        </p:txBody>
      </p:sp>
      <p:sp>
        <p:nvSpPr>
          <p:cNvPr id="9" name="Text 7"/>
          <p:cNvSpPr/>
          <p:nvPr/>
        </p:nvSpPr>
        <p:spPr>
          <a:xfrm>
            <a:off x="585216" y="1883664"/>
            <a:ext cx="1705356" cy="621792"/>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12 June to 31 July 2026</a:t>
            </a:r>
            <a:endParaRPr lang="en-US" sz="750" dirty="0"/>
          </a:p>
        </p:txBody>
      </p:sp>
      <p:sp>
        <p:nvSpPr>
          <p:cNvPr id="10" name="Shape 8"/>
          <p:cNvSpPr/>
          <p:nvPr/>
        </p:nvSpPr>
        <p:spPr>
          <a:xfrm>
            <a:off x="2546604" y="1280160"/>
            <a:ext cx="1961388" cy="1298448"/>
          </a:xfrm>
          <a:prstGeom prst="roundRect">
            <a:avLst>
              <a:gd name="adj" fmla="val 4225"/>
            </a:avLst>
          </a:prstGeom>
          <a:solidFill>
            <a:srgbClr val="F2F3F6"/>
          </a:solidFill>
          <a:ln/>
        </p:spPr>
      </p:sp>
      <p:sp>
        <p:nvSpPr>
          <p:cNvPr id="11" name="Shape 9"/>
          <p:cNvSpPr/>
          <p:nvPr/>
        </p:nvSpPr>
        <p:spPr>
          <a:xfrm>
            <a:off x="2546604" y="1280160"/>
            <a:ext cx="1961388" cy="54864"/>
          </a:xfrm>
          <a:prstGeom prst="rect">
            <a:avLst/>
          </a:prstGeom>
          <a:solidFill>
            <a:srgbClr val="2ECC9B"/>
          </a:solidFill>
          <a:ln/>
        </p:spPr>
      </p:sp>
      <p:sp>
        <p:nvSpPr>
          <p:cNvPr id="12" name="Text 10"/>
          <p:cNvSpPr/>
          <p:nvPr/>
        </p:nvSpPr>
        <p:spPr>
          <a:xfrm>
            <a:off x="2674620" y="1389888"/>
            <a:ext cx="1705356" cy="310896"/>
          </a:xfrm>
          <a:prstGeom prst="rect">
            <a:avLst/>
          </a:prstGeom>
          <a:noFill/>
          <a:ln/>
        </p:spPr>
        <p:txBody>
          <a:bodyPr wrap="none" lIns="0" tIns="0" rIns="0" bIns="0" rtlCol="0" anchor="t"/>
          <a:lstStyle/>
          <a:p>
            <a:pPr indent="0" marL="0">
              <a:buNone/>
            </a:pPr>
            <a:r>
              <a:rPr lang="en-US" sz="2500" b="1" dirty="0">
                <a:solidFill>
                  <a:srgbClr val="0F0F0F"/>
                </a:solidFill>
                <a:latin typeface="Inter Tight" pitchFamily="34" charset="0"/>
                <a:ea typeface="Inter Tight" pitchFamily="34" charset="-122"/>
                <a:cs typeface="Inter Tight" pitchFamily="34" charset="-120"/>
              </a:rPr>
              <a:t>527</a:t>
            </a:r>
            <a:endParaRPr lang="en-US" sz="2500" dirty="0"/>
          </a:p>
        </p:txBody>
      </p:sp>
      <p:sp>
        <p:nvSpPr>
          <p:cNvPr id="13" name="Text 11"/>
          <p:cNvSpPr/>
          <p:nvPr/>
        </p:nvSpPr>
        <p:spPr>
          <a:xfrm>
            <a:off x="2674620" y="1709928"/>
            <a:ext cx="1705356"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Leads delivered</a:t>
            </a:r>
            <a:endParaRPr lang="en-US" sz="800" dirty="0"/>
          </a:p>
        </p:txBody>
      </p:sp>
      <p:sp>
        <p:nvSpPr>
          <p:cNvPr id="14" name="Text 12"/>
          <p:cNvSpPr/>
          <p:nvPr/>
        </p:nvSpPr>
        <p:spPr>
          <a:xfrm>
            <a:off x="2674620" y="1883664"/>
            <a:ext cx="1705356" cy="621792"/>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TikTok instant form submissions</a:t>
            </a:r>
            <a:endParaRPr lang="en-US" sz="750" dirty="0"/>
          </a:p>
        </p:txBody>
      </p:sp>
      <p:sp>
        <p:nvSpPr>
          <p:cNvPr id="15" name="Shape 13"/>
          <p:cNvSpPr/>
          <p:nvPr/>
        </p:nvSpPr>
        <p:spPr>
          <a:xfrm>
            <a:off x="4636008" y="1280160"/>
            <a:ext cx="1961388" cy="1298448"/>
          </a:xfrm>
          <a:prstGeom prst="roundRect">
            <a:avLst>
              <a:gd name="adj" fmla="val 4225"/>
            </a:avLst>
          </a:prstGeom>
          <a:solidFill>
            <a:srgbClr val="F2F3F6"/>
          </a:solidFill>
          <a:ln/>
        </p:spPr>
      </p:sp>
      <p:sp>
        <p:nvSpPr>
          <p:cNvPr id="16" name="Shape 14"/>
          <p:cNvSpPr/>
          <p:nvPr/>
        </p:nvSpPr>
        <p:spPr>
          <a:xfrm>
            <a:off x="4636008" y="1280160"/>
            <a:ext cx="1961388" cy="54864"/>
          </a:xfrm>
          <a:prstGeom prst="rect">
            <a:avLst/>
          </a:prstGeom>
          <a:solidFill>
            <a:srgbClr val="8E6BE6"/>
          </a:solidFill>
          <a:ln/>
        </p:spPr>
      </p:sp>
      <p:sp>
        <p:nvSpPr>
          <p:cNvPr id="17" name="Text 15"/>
          <p:cNvSpPr/>
          <p:nvPr/>
        </p:nvSpPr>
        <p:spPr>
          <a:xfrm>
            <a:off x="4764024" y="1389888"/>
            <a:ext cx="1705356" cy="310896"/>
          </a:xfrm>
          <a:prstGeom prst="rect">
            <a:avLst/>
          </a:prstGeom>
          <a:noFill/>
          <a:ln/>
        </p:spPr>
        <p:txBody>
          <a:bodyPr wrap="none" lIns="0" tIns="0" rIns="0" bIns="0" rtlCol="0" anchor="t"/>
          <a:lstStyle/>
          <a:p>
            <a:pPr indent="0" marL="0">
              <a:buNone/>
            </a:pPr>
            <a:r>
              <a:rPr lang="en-US" sz="2500" b="1" dirty="0">
                <a:solidFill>
                  <a:srgbClr val="4A7BF7"/>
                </a:solidFill>
                <a:latin typeface="Inter Tight" pitchFamily="34" charset="0"/>
                <a:ea typeface="Inter Tight" pitchFamily="34" charset="-122"/>
                <a:cs typeface="Inter Tight" pitchFamily="34" charset="-120"/>
              </a:rPr>
              <a:t>RM 23.22</a:t>
            </a:r>
            <a:endParaRPr lang="en-US" sz="2500" dirty="0"/>
          </a:p>
        </p:txBody>
      </p:sp>
      <p:sp>
        <p:nvSpPr>
          <p:cNvPr id="18" name="Text 16"/>
          <p:cNvSpPr/>
          <p:nvPr/>
        </p:nvSpPr>
        <p:spPr>
          <a:xfrm>
            <a:off x="4764024" y="1709928"/>
            <a:ext cx="1705356"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Cost per lead</a:t>
            </a:r>
            <a:endParaRPr lang="en-US" sz="800" dirty="0"/>
          </a:p>
        </p:txBody>
      </p:sp>
      <p:sp>
        <p:nvSpPr>
          <p:cNvPr id="19" name="Text 17"/>
          <p:cNvSpPr/>
          <p:nvPr/>
        </p:nvSpPr>
        <p:spPr>
          <a:xfrm>
            <a:off x="4764024" y="1883664"/>
            <a:ext cx="1705356" cy="621792"/>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Against the RM 50 we committed to</a:t>
            </a:r>
            <a:endParaRPr lang="en-US" sz="750" dirty="0"/>
          </a:p>
        </p:txBody>
      </p:sp>
      <p:sp>
        <p:nvSpPr>
          <p:cNvPr id="20" name="Shape 18"/>
          <p:cNvSpPr/>
          <p:nvPr/>
        </p:nvSpPr>
        <p:spPr>
          <a:xfrm>
            <a:off x="6725412" y="1280160"/>
            <a:ext cx="1961388" cy="1298448"/>
          </a:xfrm>
          <a:prstGeom prst="roundRect">
            <a:avLst>
              <a:gd name="adj" fmla="val 4225"/>
            </a:avLst>
          </a:prstGeom>
          <a:solidFill>
            <a:srgbClr val="F2F3F6"/>
          </a:solidFill>
          <a:ln/>
        </p:spPr>
      </p:sp>
      <p:sp>
        <p:nvSpPr>
          <p:cNvPr id="21" name="Shape 19"/>
          <p:cNvSpPr/>
          <p:nvPr/>
        </p:nvSpPr>
        <p:spPr>
          <a:xfrm>
            <a:off x="6725412" y="1280160"/>
            <a:ext cx="1961388" cy="54864"/>
          </a:xfrm>
          <a:prstGeom prst="rect">
            <a:avLst/>
          </a:prstGeom>
          <a:solidFill>
            <a:srgbClr val="F28B4C"/>
          </a:solidFill>
          <a:ln/>
        </p:spPr>
      </p:sp>
      <p:sp>
        <p:nvSpPr>
          <p:cNvPr id="22" name="Text 20"/>
          <p:cNvSpPr/>
          <p:nvPr/>
        </p:nvSpPr>
        <p:spPr>
          <a:xfrm>
            <a:off x="6853428" y="1389888"/>
            <a:ext cx="1705356" cy="310896"/>
          </a:xfrm>
          <a:prstGeom prst="rect">
            <a:avLst/>
          </a:prstGeom>
          <a:noFill/>
          <a:ln/>
        </p:spPr>
        <p:txBody>
          <a:bodyPr wrap="none" lIns="0" tIns="0" rIns="0" bIns="0" rtlCol="0" anchor="t"/>
          <a:lstStyle/>
          <a:p>
            <a:pPr indent="0" marL="0">
              <a:buNone/>
            </a:pPr>
            <a:r>
              <a:rPr lang="en-US" sz="2500" b="1" dirty="0">
                <a:solidFill>
                  <a:srgbClr val="0F0F0F"/>
                </a:solidFill>
                <a:latin typeface="Inter Tight" pitchFamily="34" charset="0"/>
                <a:ea typeface="Inter Tight" pitchFamily="34" charset="-122"/>
                <a:cs typeface="Inter Tight" pitchFamily="34" charset="-120"/>
              </a:rPr>
              <a:t>52%</a:t>
            </a:r>
            <a:endParaRPr lang="en-US" sz="2500" dirty="0"/>
          </a:p>
        </p:txBody>
      </p:sp>
      <p:sp>
        <p:nvSpPr>
          <p:cNvPr id="23" name="Text 21"/>
          <p:cNvSpPr/>
          <p:nvPr/>
        </p:nvSpPr>
        <p:spPr>
          <a:xfrm>
            <a:off x="6853428" y="1709928"/>
            <a:ext cx="1705356"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Budget in one ad</a:t>
            </a:r>
            <a:endParaRPr lang="en-US" sz="800" dirty="0"/>
          </a:p>
        </p:txBody>
      </p:sp>
      <p:sp>
        <p:nvSpPr>
          <p:cNvPr id="24" name="Text 22"/>
          <p:cNvSpPr/>
          <p:nvPr/>
        </p:nvSpPr>
        <p:spPr>
          <a:xfrm>
            <a:off x="6853428" y="1883664"/>
            <a:ext cx="1705356" cy="621792"/>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RM 6,377 went to a single daily roadshow edit</a:t>
            </a:r>
            <a:endParaRPr lang="en-US" sz="750" dirty="0"/>
          </a:p>
        </p:txBody>
      </p:sp>
      <p:sp>
        <p:nvSpPr>
          <p:cNvPr id="25" name="Shape 23"/>
          <p:cNvSpPr/>
          <p:nvPr/>
        </p:nvSpPr>
        <p:spPr>
          <a:xfrm>
            <a:off x="457200" y="2724912"/>
            <a:ext cx="8229600" cy="1060704"/>
          </a:xfrm>
          <a:prstGeom prst="roundRect">
            <a:avLst>
              <a:gd name="adj" fmla="val 5172"/>
            </a:avLst>
          </a:prstGeom>
          <a:solidFill>
            <a:srgbClr val="DDE5FE"/>
          </a:solidFill>
          <a:ln/>
        </p:spPr>
      </p:sp>
      <p:sp>
        <p:nvSpPr>
          <p:cNvPr id="26" name="Text 24"/>
          <p:cNvSpPr/>
          <p:nvPr/>
        </p:nvSpPr>
        <p:spPr>
          <a:xfrm>
            <a:off x="621792" y="2843784"/>
            <a:ext cx="7900416" cy="182880"/>
          </a:xfrm>
          <a:prstGeom prst="rect">
            <a:avLst/>
          </a:prstGeom>
          <a:noFill/>
          <a:ln/>
        </p:spPr>
        <p:txBody>
          <a:bodyPr wrap="square" lIns="0" tIns="0" rIns="0" bIns="0" rtlCol="0" anchor="t"/>
          <a:lstStyle/>
          <a:p>
            <a:pPr indent="0" marL="0">
              <a:buNone/>
            </a:pPr>
            <a:r>
              <a:rPr lang="en-US" sz="900" b="1" dirty="0">
                <a:solidFill>
                  <a:srgbClr val="3056C9"/>
                </a:solidFill>
                <a:latin typeface="Inter Tight" pitchFamily="34" charset="0"/>
                <a:ea typeface="Inter Tight" pitchFamily="34" charset="-122"/>
                <a:cs typeface="Inter Tight" pitchFamily="34" charset="-120"/>
              </a:rPr>
              <a:t>The three issues we raised</a:t>
            </a:r>
            <a:endParaRPr lang="en-US" sz="900" dirty="0"/>
          </a:p>
        </p:txBody>
      </p:sp>
      <p:sp>
        <p:nvSpPr>
          <p:cNvPr id="27" name="Text 25"/>
          <p:cNvSpPr/>
          <p:nvPr/>
        </p:nvSpPr>
        <p:spPr>
          <a:xfrm>
            <a:off x="621792" y="3044952"/>
            <a:ext cx="7900416" cy="621792"/>
          </a:xfrm>
          <a:prstGeom prst="rect">
            <a:avLst/>
          </a:prstGeom>
          <a:noFill/>
          <a:ln/>
        </p:spPr>
        <p:txBody>
          <a:bodyPr wrap="square" lIns="0" tIns="0" rIns="0" bIns="0" rtlCol="0" anchor="t"/>
          <a:lstStyle/>
          <a:p>
            <a:pPr indent="0" marL="0">
              <a:buNone/>
            </a:pPr>
            <a:r>
              <a:rPr lang="en-US" sz="800" dirty="0">
                <a:solidFill>
                  <a:srgbClr val="0F0F0F"/>
                </a:solidFill>
                <a:latin typeface="Inter Tight" pitchFamily="34" charset="0"/>
                <a:ea typeface="Inter Tight" pitchFamily="34" charset="-122"/>
                <a:cs typeface="Inter Tight" pitchFamily="34" charset="-120"/>
              </a:rPr>
              <a:t>No outcome data comes back, so we cannot optimize past the form. Hook rate decides cost, and the nine weakest hooks produced leads 59% more expensive than the five strongest. Retargeting spent RM 350.80 on one lead because the pool held only 1,864 people.</a:t>
            </a:r>
            <a:endParaRPr lang="en-US" sz="800" dirty="0"/>
          </a:p>
        </p:txBody>
      </p:sp>
      <p:sp>
        <p:nvSpPr>
          <p:cNvPr id="28" name="Shape 26"/>
          <p:cNvSpPr/>
          <p:nvPr/>
        </p:nvSpPr>
        <p:spPr>
          <a:xfrm>
            <a:off x="457200" y="3931920"/>
            <a:ext cx="8229600" cy="310896"/>
          </a:xfrm>
          <a:prstGeom prst="rect">
            <a:avLst/>
          </a:prstGeom>
          <a:solidFill>
            <a:srgbClr val="3056C9"/>
          </a:solidFill>
          <a:ln/>
        </p:spPr>
      </p:sp>
      <p:sp>
        <p:nvSpPr>
          <p:cNvPr id="29" name="Text 27"/>
          <p:cNvSpPr/>
          <p:nvPr/>
        </p:nvSpPr>
        <p:spPr>
          <a:xfrm>
            <a:off x="603504" y="3931920"/>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Agreed additions  |  Google Search to capture demand  |  Meta to work the middle  |  A CRM layer that reports what happens after the form</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The full funnel at a glance</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Each platform runs all three stages. The objective and the buying mechanic change with the stage, not with the platform.</a:t>
            </a:r>
            <a:endParaRPr lang="en-US" sz="8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280160"/>
                <a:gridCol w="2331720"/>
                <a:gridCol w="2331720"/>
                <a:gridCol w="2286000"/>
              </a:tblGrid>
              <a:tr h="256032">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Stage</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TikTok</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Meta</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Google Search</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r>
              <a:tr h="932688">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Bottom of funnel</a:t>
                      </a:r>
                      <a:endParaRPr lang="en-US" sz="750" dirty="0">
                        <a:latin typeface="Inter Tight" charset="0"/>
                        <a:ea typeface="Inter Tight" charset="0"/>
                        <a:cs typeface="Inter Tight" charset="0"/>
                      </a:endParaRPr>
                    </a:p>
                    <a:p>
                      <a:pPr indent="0" marL="0">
                        <a:buNone/>
                      </a:pPr>
                      <a:r>
                        <a:rPr lang="en-US" sz="700" b="1" dirty="0">
                          <a:solidFill>
                            <a:srgbClr val="3056C9"/>
                          </a:solidFill>
                          <a:latin typeface="Inter Tight" pitchFamily="34" charset="0"/>
                          <a:ea typeface="Inter Tight" pitchFamily="34" charset="-122"/>
                          <a:cs typeface="Inter Tight" pitchFamily="34" charset="-120"/>
                        </a:rPr>
                        <a:t>Conversions, 50%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Lead generation on the Rich Content and High Intent forms, the two that produce quality rather than volume.</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Instant lead form and click to WhatsApp, with the pixel and Conversions API in from day one.</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Brand, program and funding terms, all pointing at an appointment form on a dedicated page. 70% of Search.</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r>
              <a:tr h="932688">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Middle of funnel</a:t>
                      </a:r>
                      <a:endParaRPr lang="en-US" sz="750" dirty="0">
                        <a:latin typeface="Inter Tight" charset="0"/>
                        <a:ea typeface="Inter Tight" charset="0"/>
                        <a:cs typeface="Inter Tight" charset="0"/>
                      </a:endParaRPr>
                    </a:p>
                    <a:p>
                      <a:pPr indent="0" marL="0">
                        <a:buNone/>
                      </a:pPr>
                      <a:r>
                        <a:rPr lang="en-US" sz="700" b="1" dirty="0">
                          <a:solidFill>
                            <a:srgbClr val="3056C9"/>
                          </a:solidFill>
                          <a:latin typeface="Inter Tight" pitchFamily="34" charset="0"/>
                          <a:ea typeface="Inter Tight" pitchFamily="34" charset="-122"/>
                          <a:cs typeface="Inter Tight" pitchFamily="34" charset="-120"/>
                        </a:rPr>
                        <a:t>Traffic, 30%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Traffic to the open day appointment page, plus Spark Ads that carry viewers to your profile.</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Traffic to program and fees pages, and retargeting of video viewers and form openers who did not submit.</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Category and post SPM pathway terms, pointing at program pages. 30% of Search.</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r>
              <a:tr h="932688">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Top of funnel</a:t>
                      </a:r>
                      <a:endParaRPr lang="en-US" sz="750" dirty="0">
                        <a:latin typeface="Inter Tight" charset="0"/>
                        <a:ea typeface="Inter Tight" charset="0"/>
                        <a:cs typeface="Inter Tight" charset="0"/>
                      </a:endParaRPr>
                    </a:p>
                    <a:p>
                      <a:pPr indent="0" marL="0">
                        <a:buNone/>
                      </a:pPr>
                      <a:r>
                        <a:rPr lang="en-US" sz="700" b="1" dirty="0">
                          <a:solidFill>
                            <a:srgbClr val="3056C9"/>
                          </a:solidFill>
                          <a:latin typeface="Inter Tight" pitchFamily="34" charset="0"/>
                          <a:ea typeface="Inter Tight" pitchFamily="34" charset="-122"/>
                          <a:cs typeface="Inter Tight" pitchFamily="34" charset="-120"/>
                        </a:rPr>
                        <a:t>Awareness, 20%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Video views on the five content pillars, from campus life to program explainers, boosted as Spark Ads.</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Reels reach across Klang Valley 18 to 24 and parents 35 to 55, which builds the retargeting pool.</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Search sells no awareness inventory, so this 20% moves into traffic and leads instead.</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4480560"/>
            <a:ext cx="8229600" cy="310896"/>
          </a:xfrm>
          <a:prstGeom prst="rect">
            <a:avLst/>
          </a:prstGeom>
          <a:solidFill>
            <a:srgbClr val="3056C9"/>
          </a:solidFill>
          <a:ln/>
        </p:spPr>
      </p:sp>
      <p:sp>
        <p:nvSpPr>
          <p:cNvPr id="7" name="Text 4"/>
          <p:cNvSpPr/>
          <p:nvPr/>
        </p:nvSpPr>
        <p:spPr>
          <a:xfrm>
            <a:off x="603504" y="4480560"/>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TikTok and Meta split 50 / 30 / 20  |  Google Search splits 70 / 30 with no awareness line  |  Blended across the account: 54% conversions, 30% traffic, 16% awareness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TikTok: the funnel we already have, extended</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TikTok produced 527 leads on a conversion campaign alone. Adding the upper and middle funnel feeds that campaign cheaper leads over time.</a:t>
            </a:r>
            <a:endParaRPr lang="en-US" sz="850" dirty="0"/>
          </a:p>
        </p:txBody>
      </p:sp>
      <p:sp>
        <p:nvSpPr>
          <p:cNvPr id="5" name="Shape 3"/>
          <p:cNvSpPr/>
          <p:nvPr/>
        </p:nvSpPr>
        <p:spPr>
          <a:xfrm>
            <a:off x="457200" y="1280160"/>
            <a:ext cx="2651760" cy="1975104"/>
          </a:xfrm>
          <a:prstGeom prst="roundRect">
            <a:avLst>
              <a:gd name="adj" fmla="val 2778"/>
            </a:avLst>
          </a:prstGeom>
          <a:solidFill>
            <a:srgbClr val="F2F3F6"/>
          </a:solidFill>
          <a:ln/>
        </p:spPr>
      </p:sp>
      <p:sp>
        <p:nvSpPr>
          <p:cNvPr id="6" name="Shape 4"/>
          <p:cNvSpPr/>
          <p:nvPr/>
        </p:nvSpPr>
        <p:spPr>
          <a:xfrm>
            <a:off x="457200" y="1280160"/>
            <a:ext cx="2651760" cy="54864"/>
          </a:xfrm>
          <a:prstGeom prst="rect">
            <a:avLst/>
          </a:prstGeom>
          <a:solidFill>
            <a:srgbClr val="4A7BF7"/>
          </a:solidFill>
          <a:ln/>
        </p:spPr>
      </p:sp>
      <p:sp>
        <p:nvSpPr>
          <p:cNvPr id="7" name="Shape 5"/>
          <p:cNvSpPr/>
          <p:nvPr/>
        </p:nvSpPr>
        <p:spPr>
          <a:xfrm>
            <a:off x="2676906" y="1389888"/>
            <a:ext cx="285750" cy="285750"/>
          </a:xfrm>
          <a:prstGeom prst="roundRect">
            <a:avLst>
              <a:gd name="adj" fmla="val 30000"/>
            </a:avLst>
          </a:prstGeom>
          <a:solidFill>
            <a:srgbClr val="FFFFFF"/>
          </a:solidFill>
          <a:ln/>
        </p:spPr>
      </p:sp>
      <p:pic>
        <p:nvPicPr>
          <p:cNvPr id="8" name="Image 0" descr="icons/funnel.png"/>
          <p:cNvPicPr>
            <a:picLocks noChangeAspect="1"/>
          </p:cNvPicPr>
          <p:nvPr/>
        </p:nvPicPr>
        <p:blipFill>
          <a:blip r:embed="rId1"/>
          <a:stretch>
            <a:fillRect/>
          </a:stretch>
        </p:blipFill>
        <p:spPr>
          <a:xfrm>
            <a:off x="2734056" y="1447038"/>
            <a:ext cx="171450" cy="171450"/>
          </a:xfrm>
          <a:prstGeom prst="rect">
            <a:avLst/>
          </a:prstGeom>
        </p:spPr>
      </p:pic>
      <p:sp>
        <p:nvSpPr>
          <p:cNvPr id="9" name="Text 6"/>
          <p:cNvSpPr/>
          <p:nvPr/>
        </p:nvSpPr>
        <p:spPr>
          <a:xfrm>
            <a:off x="603504" y="1389888"/>
            <a:ext cx="1920240" cy="164592"/>
          </a:xfrm>
          <a:prstGeom prst="rect">
            <a:avLst/>
          </a:prstGeom>
          <a:noFill/>
          <a:ln/>
        </p:spPr>
        <p:txBody>
          <a:bodyPr wrap="square" lIns="0" tIns="0" rIns="0" bIns="0" rtlCol="0" anchor="t"/>
          <a:lstStyle/>
          <a:p>
            <a:pPr indent="0" marL="0">
              <a:buNone/>
            </a:pPr>
            <a:r>
              <a:rPr lang="en-US" sz="750" b="1" dirty="0">
                <a:solidFill>
                  <a:srgbClr val="3056C9"/>
                </a:solidFill>
                <a:latin typeface="Inter Tight" pitchFamily="34" charset="0"/>
                <a:ea typeface="Inter Tight" pitchFamily="34" charset="-122"/>
                <a:cs typeface="Inter Tight" pitchFamily="34" charset="-120"/>
              </a:rPr>
              <a:t>Bottom of funnel, 50%</a:t>
            </a:r>
            <a:endParaRPr lang="en-US" sz="750" dirty="0"/>
          </a:p>
        </p:txBody>
      </p:sp>
      <p:sp>
        <p:nvSpPr>
          <p:cNvPr id="10" name="Text 7"/>
          <p:cNvSpPr/>
          <p:nvPr/>
        </p:nvSpPr>
        <p:spPr>
          <a:xfrm>
            <a:off x="603504" y="1572768"/>
            <a:ext cx="1920240"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Lead generation</a:t>
            </a:r>
            <a:endParaRPr lang="en-US" sz="950" dirty="0"/>
          </a:p>
        </p:txBody>
      </p:sp>
      <p:sp>
        <p:nvSpPr>
          <p:cNvPr id="11" name="Text 8"/>
          <p:cNvSpPr/>
          <p:nvPr/>
        </p:nvSpPr>
        <p:spPr>
          <a:xfrm>
            <a:off x="603504" y="1792224"/>
            <a:ext cx="2359152" cy="1389888"/>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Rich Content and High Intent instant forms only. We retire the generic volume form that produced cheap leads your team could not use. Average cost per lead on the two we keep is RM 34.</a:t>
            </a:r>
            <a:endParaRPr lang="en-US" sz="750" dirty="0"/>
          </a:p>
        </p:txBody>
      </p:sp>
      <p:sp>
        <p:nvSpPr>
          <p:cNvPr id="12" name="Shape 9"/>
          <p:cNvSpPr/>
          <p:nvPr/>
        </p:nvSpPr>
        <p:spPr>
          <a:xfrm>
            <a:off x="3246120" y="1280160"/>
            <a:ext cx="2651760" cy="1975104"/>
          </a:xfrm>
          <a:prstGeom prst="roundRect">
            <a:avLst>
              <a:gd name="adj" fmla="val 2778"/>
            </a:avLst>
          </a:prstGeom>
          <a:solidFill>
            <a:srgbClr val="F2F3F6"/>
          </a:solidFill>
          <a:ln/>
        </p:spPr>
      </p:sp>
      <p:sp>
        <p:nvSpPr>
          <p:cNvPr id="13" name="Shape 10"/>
          <p:cNvSpPr/>
          <p:nvPr/>
        </p:nvSpPr>
        <p:spPr>
          <a:xfrm>
            <a:off x="3246120" y="1280160"/>
            <a:ext cx="2651760" cy="54864"/>
          </a:xfrm>
          <a:prstGeom prst="rect">
            <a:avLst/>
          </a:prstGeom>
          <a:solidFill>
            <a:srgbClr val="2ECC9B"/>
          </a:solidFill>
          <a:ln/>
        </p:spPr>
      </p:sp>
      <p:sp>
        <p:nvSpPr>
          <p:cNvPr id="14" name="Shape 11"/>
          <p:cNvSpPr/>
          <p:nvPr/>
        </p:nvSpPr>
        <p:spPr>
          <a:xfrm>
            <a:off x="5465826" y="1389888"/>
            <a:ext cx="285750" cy="285750"/>
          </a:xfrm>
          <a:prstGeom prst="roundRect">
            <a:avLst>
              <a:gd name="adj" fmla="val 30000"/>
            </a:avLst>
          </a:prstGeom>
          <a:solidFill>
            <a:srgbClr val="FFFFFF"/>
          </a:solidFill>
          <a:ln/>
        </p:spPr>
      </p:sp>
      <p:pic>
        <p:nvPicPr>
          <p:cNvPr id="15" name="Image 1" descr="icons/arrow-up-right.png"/>
          <p:cNvPicPr>
            <a:picLocks noChangeAspect="1"/>
          </p:cNvPicPr>
          <p:nvPr/>
        </p:nvPicPr>
        <p:blipFill>
          <a:blip r:embed="rId2"/>
          <a:stretch>
            <a:fillRect/>
          </a:stretch>
        </p:blipFill>
        <p:spPr>
          <a:xfrm>
            <a:off x="5522976" y="1447038"/>
            <a:ext cx="171450" cy="171450"/>
          </a:xfrm>
          <a:prstGeom prst="rect">
            <a:avLst/>
          </a:prstGeom>
        </p:spPr>
      </p:pic>
      <p:sp>
        <p:nvSpPr>
          <p:cNvPr id="16" name="Text 12"/>
          <p:cNvSpPr/>
          <p:nvPr/>
        </p:nvSpPr>
        <p:spPr>
          <a:xfrm>
            <a:off x="3392424" y="1389888"/>
            <a:ext cx="1920240" cy="164592"/>
          </a:xfrm>
          <a:prstGeom prst="rect">
            <a:avLst/>
          </a:prstGeom>
          <a:noFill/>
          <a:ln/>
        </p:spPr>
        <p:txBody>
          <a:bodyPr wrap="square" lIns="0" tIns="0" rIns="0" bIns="0" rtlCol="0" anchor="t"/>
          <a:lstStyle/>
          <a:p>
            <a:pPr indent="0" marL="0">
              <a:buNone/>
            </a:pPr>
            <a:r>
              <a:rPr lang="en-US" sz="750" b="1" dirty="0">
                <a:solidFill>
                  <a:srgbClr val="3056C9"/>
                </a:solidFill>
                <a:latin typeface="Inter Tight" pitchFamily="34" charset="0"/>
                <a:ea typeface="Inter Tight" pitchFamily="34" charset="-122"/>
                <a:cs typeface="Inter Tight" pitchFamily="34" charset="-120"/>
              </a:rPr>
              <a:t>Middle of funnel, 30%</a:t>
            </a:r>
            <a:endParaRPr lang="en-US" sz="750" dirty="0"/>
          </a:p>
        </p:txBody>
      </p:sp>
      <p:sp>
        <p:nvSpPr>
          <p:cNvPr id="17" name="Text 13"/>
          <p:cNvSpPr/>
          <p:nvPr/>
        </p:nvSpPr>
        <p:spPr>
          <a:xfrm>
            <a:off x="3392424" y="1572768"/>
            <a:ext cx="1920240"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Traffic</a:t>
            </a:r>
            <a:endParaRPr lang="en-US" sz="950" dirty="0"/>
          </a:p>
        </p:txBody>
      </p:sp>
      <p:sp>
        <p:nvSpPr>
          <p:cNvPr id="18" name="Text 14"/>
          <p:cNvSpPr/>
          <p:nvPr/>
        </p:nvSpPr>
        <p:spPr>
          <a:xfrm>
            <a:off x="3392424" y="1792224"/>
            <a:ext cx="2359152" cy="1389888"/>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Clicks to the open day appointment page once it exists, plus Spark Ads that carry viewers to the IJNUC profile where they can check you out before they enquire.</a:t>
            </a:r>
            <a:endParaRPr lang="en-US" sz="750" dirty="0"/>
          </a:p>
        </p:txBody>
      </p:sp>
      <p:sp>
        <p:nvSpPr>
          <p:cNvPr id="19" name="Shape 15"/>
          <p:cNvSpPr/>
          <p:nvPr/>
        </p:nvSpPr>
        <p:spPr>
          <a:xfrm>
            <a:off x="6035040" y="1280160"/>
            <a:ext cx="2651760" cy="1975104"/>
          </a:xfrm>
          <a:prstGeom prst="roundRect">
            <a:avLst>
              <a:gd name="adj" fmla="val 2778"/>
            </a:avLst>
          </a:prstGeom>
          <a:solidFill>
            <a:srgbClr val="F2F3F6"/>
          </a:solidFill>
          <a:ln/>
        </p:spPr>
      </p:sp>
      <p:sp>
        <p:nvSpPr>
          <p:cNvPr id="20" name="Shape 16"/>
          <p:cNvSpPr/>
          <p:nvPr/>
        </p:nvSpPr>
        <p:spPr>
          <a:xfrm>
            <a:off x="6035040" y="1280160"/>
            <a:ext cx="2651760" cy="54864"/>
          </a:xfrm>
          <a:prstGeom prst="rect">
            <a:avLst/>
          </a:prstGeom>
          <a:solidFill>
            <a:srgbClr val="8E6BE6"/>
          </a:solidFill>
          <a:ln/>
        </p:spPr>
      </p:sp>
      <p:sp>
        <p:nvSpPr>
          <p:cNvPr id="21" name="Shape 17"/>
          <p:cNvSpPr/>
          <p:nvPr/>
        </p:nvSpPr>
        <p:spPr>
          <a:xfrm>
            <a:off x="8254746" y="1389888"/>
            <a:ext cx="285750" cy="285750"/>
          </a:xfrm>
          <a:prstGeom prst="roundRect">
            <a:avLst>
              <a:gd name="adj" fmla="val 30000"/>
            </a:avLst>
          </a:prstGeom>
          <a:solidFill>
            <a:srgbClr val="FFFFFF"/>
          </a:solidFill>
          <a:ln/>
        </p:spPr>
      </p:sp>
      <p:pic>
        <p:nvPicPr>
          <p:cNvPr id="22" name="Image 2" descr="icons/media-play.png"/>
          <p:cNvPicPr>
            <a:picLocks noChangeAspect="1"/>
          </p:cNvPicPr>
          <p:nvPr/>
        </p:nvPicPr>
        <p:blipFill>
          <a:blip r:embed="rId3"/>
          <a:stretch>
            <a:fillRect/>
          </a:stretch>
        </p:blipFill>
        <p:spPr>
          <a:xfrm>
            <a:off x="8311896" y="1447038"/>
            <a:ext cx="171450" cy="171450"/>
          </a:xfrm>
          <a:prstGeom prst="rect">
            <a:avLst/>
          </a:prstGeom>
        </p:spPr>
      </p:pic>
      <p:sp>
        <p:nvSpPr>
          <p:cNvPr id="23" name="Text 18"/>
          <p:cNvSpPr/>
          <p:nvPr/>
        </p:nvSpPr>
        <p:spPr>
          <a:xfrm>
            <a:off x="6181344" y="1389888"/>
            <a:ext cx="1920240" cy="164592"/>
          </a:xfrm>
          <a:prstGeom prst="rect">
            <a:avLst/>
          </a:prstGeom>
          <a:noFill/>
          <a:ln/>
        </p:spPr>
        <p:txBody>
          <a:bodyPr wrap="square" lIns="0" tIns="0" rIns="0" bIns="0" rtlCol="0" anchor="t"/>
          <a:lstStyle/>
          <a:p>
            <a:pPr indent="0" marL="0">
              <a:buNone/>
            </a:pPr>
            <a:r>
              <a:rPr lang="en-US" sz="750" b="1" dirty="0">
                <a:solidFill>
                  <a:srgbClr val="3056C9"/>
                </a:solidFill>
                <a:latin typeface="Inter Tight" pitchFamily="34" charset="0"/>
                <a:ea typeface="Inter Tight" pitchFamily="34" charset="-122"/>
                <a:cs typeface="Inter Tight" pitchFamily="34" charset="-120"/>
              </a:rPr>
              <a:t>Top of funnel, 20%</a:t>
            </a:r>
            <a:endParaRPr lang="en-US" sz="750" dirty="0"/>
          </a:p>
        </p:txBody>
      </p:sp>
      <p:sp>
        <p:nvSpPr>
          <p:cNvPr id="24" name="Text 19"/>
          <p:cNvSpPr/>
          <p:nvPr/>
        </p:nvSpPr>
        <p:spPr>
          <a:xfrm>
            <a:off x="6181344" y="1572768"/>
            <a:ext cx="1920240"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Video views</a:t>
            </a:r>
            <a:endParaRPr lang="en-US" sz="950" dirty="0"/>
          </a:p>
        </p:txBody>
      </p:sp>
      <p:sp>
        <p:nvSpPr>
          <p:cNvPr id="25" name="Text 20"/>
          <p:cNvSpPr/>
          <p:nvPr/>
        </p:nvSpPr>
        <p:spPr>
          <a:xfrm>
            <a:off x="6181344" y="1792224"/>
            <a:ext cx="2359152" cy="1389888"/>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The five content pillars, filmed on campus. Student life, the campus and clinical tour, program explainers, student and lecturer voices, and admissions questions answered one at a time.</a:t>
            </a:r>
            <a:endParaRPr lang="en-US" sz="750" dirty="0"/>
          </a:p>
        </p:txBody>
      </p:sp>
      <p:sp>
        <p:nvSpPr>
          <p:cNvPr id="26" name="Shape 21"/>
          <p:cNvSpPr/>
          <p:nvPr/>
        </p:nvSpPr>
        <p:spPr>
          <a:xfrm>
            <a:off x="457200" y="3401568"/>
            <a:ext cx="8229600" cy="822960"/>
          </a:xfrm>
          <a:prstGeom prst="roundRect">
            <a:avLst>
              <a:gd name="adj" fmla="val 6667"/>
            </a:avLst>
          </a:prstGeom>
          <a:solidFill>
            <a:srgbClr val="DDE5FE"/>
          </a:solidFill>
          <a:ln/>
        </p:spPr>
      </p:sp>
      <p:sp>
        <p:nvSpPr>
          <p:cNvPr id="27" name="Text 22"/>
          <p:cNvSpPr/>
          <p:nvPr/>
        </p:nvSpPr>
        <p:spPr>
          <a:xfrm>
            <a:off x="621792" y="3520440"/>
            <a:ext cx="7900416" cy="182880"/>
          </a:xfrm>
          <a:prstGeom prst="rect">
            <a:avLst/>
          </a:prstGeom>
          <a:noFill/>
          <a:ln/>
        </p:spPr>
        <p:txBody>
          <a:bodyPr wrap="square" lIns="0" tIns="0" rIns="0" bIns="0" rtlCol="0" anchor="t"/>
          <a:lstStyle/>
          <a:p>
            <a:pPr indent="0" marL="0">
              <a:buNone/>
            </a:pPr>
            <a:r>
              <a:rPr lang="en-US" sz="900" b="1" dirty="0">
                <a:solidFill>
                  <a:srgbClr val="3056C9"/>
                </a:solidFill>
                <a:latin typeface="Inter Tight" pitchFamily="34" charset="0"/>
                <a:ea typeface="Inter Tight" pitchFamily="34" charset="-122"/>
                <a:cs typeface="Inter Tight" pitchFamily="34" charset="-120"/>
              </a:rPr>
              <a:t>The lever that decides cost</a:t>
            </a:r>
            <a:endParaRPr lang="en-US" sz="900" dirty="0"/>
          </a:p>
        </p:txBody>
      </p:sp>
      <p:sp>
        <p:nvSpPr>
          <p:cNvPr id="28" name="Text 23"/>
          <p:cNvSpPr/>
          <p:nvPr/>
        </p:nvSpPr>
        <p:spPr>
          <a:xfrm>
            <a:off x="621792" y="3721608"/>
            <a:ext cx="7900416" cy="384048"/>
          </a:xfrm>
          <a:prstGeom prst="rect">
            <a:avLst/>
          </a:prstGeom>
          <a:noFill/>
          <a:ln/>
        </p:spPr>
        <p:txBody>
          <a:bodyPr wrap="square" lIns="0" tIns="0" rIns="0" bIns="0" rtlCol="0" anchor="t"/>
          <a:lstStyle/>
          <a:p>
            <a:pPr indent="0" marL="0">
              <a:buNone/>
            </a:pPr>
            <a:r>
              <a:rPr lang="en-US" sz="800" dirty="0">
                <a:solidFill>
                  <a:srgbClr val="0F0F0F"/>
                </a:solidFill>
                <a:latin typeface="Inter Tight" pitchFamily="34" charset="0"/>
                <a:ea typeface="Inter Tight" pitchFamily="34" charset="-122"/>
                <a:cs typeface="Inter Tight" pitchFamily="34" charset="-120"/>
              </a:rPr>
              <a:t>Hook rate separates a RM 15 lead from a RM 24 one. Every new video gets read at one week, and anything under 15% comes out of rotation.</a:t>
            </a:r>
            <a:endParaRPr lang="en-US" sz="800" dirty="0"/>
          </a:p>
        </p:txBody>
      </p:sp>
      <p:sp>
        <p:nvSpPr>
          <p:cNvPr id="29" name="Shape 24"/>
          <p:cNvSpPr/>
          <p:nvPr/>
        </p:nvSpPr>
        <p:spPr>
          <a:xfrm>
            <a:off x="457200" y="4370832"/>
            <a:ext cx="8229600" cy="310896"/>
          </a:xfrm>
          <a:prstGeom prst="rect">
            <a:avLst/>
          </a:prstGeom>
          <a:solidFill>
            <a:srgbClr val="3056C9"/>
          </a:solidFill>
          <a:ln/>
        </p:spPr>
      </p:sp>
      <p:sp>
        <p:nvSpPr>
          <p:cNvPr id="30" name="Text 25"/>
          <p:cNvSpPr/>
          <p:nvPr/>
        </p:nvSpPr>
        <p:spPr>
          <a:xfrm>
            <a:off x="603504" y="4370832"/>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Creative supply from IJNUC: five to ten assets a month  |  Vertical 9:16  |  On screen text throughout  |  One program per video, with a clear next step</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Meta: the same mechanic, plus a WhatsApp route</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Meta mirrors what already works on TikTok and adds a conversation that skips the form. The Conversions API goes in from day one.</a:t>
            </a:r>
            <a:endParaRPr lang="en-US" sz="850" dirty="0"/>
          </a:p>
        </p:txBody>
      </p:sp>
      <p:sp>
        <p:nvSpPr>
          <p:cNvPr id="5" name="Shape 3"/>
          <p:cNvSpPr/>
          <p:nvPr/>
        </p:nvSpPr>
        <p:spPr>
          <a:xfrm>
            <a:off x="457200" y="1280160"/>
            <a:ext cx="2651760" cy="1975104"/>
          </a:xfrm>
          <a:prstGeom prst="roundRect">
            <a:avLst>
              <a:gd name="adj" fmla="val 2778"/>
            </a:avLst>
          </a:prstGeom>
          <a:solidFill>
            <a:srgbClr val="F2F3F6"/>
          </a:solidFill>
          <a:ln/>
        </p:spPr>
      </p:sp>
      <p:sp>
        <p:nvSpPr>
          <p:cNvPr id="6" name="Shape 4"/>
          <p:cNvSpPr/>
          <p:nvPr/>
        </p:nvSpPr>
        <p:spPr>
          <a:xfrm>
            <a:off x="457200" y="1280160"/>
            <a:ext cx="2651760" cy="54864"/>
          </a:xfrm>
          <a:prstGeom prst="rect">
            <a:avLst/>
          </a:prstGeom>
          <a:solidFill>
            <a:srgbClr val="4A7BF7"/>
          </a:solidFill>
          <a:ln/>
        </p:spPr>
      </p:sp>
      <p:sp>
        <p:nvSpPr>
          <p:cNvPr id="7" name="Shape 5"/>
          <p:cNvSpPr/>
          <p:nvPr/>
        </p:nvSpPr>
        <p:spPr>
          <a:xfrm>
            <a:off x="2676906" y="1389888"/>
            <a:ext cx="285750" cy="285750"/>
          </a:xfrm>
          <a:prstGeom prst="roundRect">
            <a:avLst>
              <a:gd name="adj" fmla="val 30000"/>
            </a:avLst>
          </a:prstGeom>
          <a:solidFill>
            <a:srgbClr val="FFFFFF"/>
          </a:solidFill>
          <a:ln/>
        </p:spPr>
      </p:sp>
      <p:pic>
        <p:nvPicPr>
          <p:cNvPr id="8" name="Image 0" descr="icons/funnel.png"/>
          <p:cNvPicPr>
            <a:picLocks noChangeAspect="1"/>
          </p:cNvPicPr>
          <p:nvPr/>
        </p:nvPicPr>
        <p:blipFill>
          <a:blip r:embed="rId1"/>
          <a:stretch>
            <a:fillRect/>
          </a:stretch>
        </p:blipFill>
        <p:spPr>
          <a:xfrm>
            <a:off x="2734056" y="1447038"/>
            <a:ext cx="171450" cy="171450"/>
          </a:xfrm>
          <a:prstGeom prst="rect">
            <a:avLst/>
          </a:prstGeom>
        </p:spPr>
      </p:pic>
      <p:sp>
        <p:nvSpPr>
          <p:cNvPr id="9" name="Text 6"/>
          <p:cNvSpPr/>
          <p:nvPr/>
        </p:nvSpPr>
        <p:spPr>
          <a:xfrm>
            <a:off x="603504" y="1389888"/>
            <a:ext cx="1920240" cy="164592"/>
          </a:xfrm>
          <a:prstGeom prst="rect">
            <a:avLst/>
          </a:prstGeom>
          <a:noFill/>
          <a:ln/>
        </p:spPr>
        <p:txBody>
          <a:bodyPr wrap="square" lIns="0" tIns="0" rIns="0" bIns="0" rtlCol="0" anchor="t"/>
          <a:lstStyle/>
          <a:p>
            <a:pPr indent="0" marL="0">
              <a:buNone/>
            </a:pPr>
            <a:r>
              <a:rPr lang="en-US" sz="750" b="1" dirty="0">
                <a:solidFill>
                  <a:srgbClr val="3056C9"/>
                </a:solidFill>
                <a:latin typeface="Inter Tight" pitchFamily="34" charset="0"/>
                <a:ea typeface="Inter Tight" pitchFamily="34" charset="-122"/>
                <a:cs typeface="Inter Tight" pitchFamily="34" charset="-120"/>
              </a:rPr>
              <a:t>Bottom of funnel, 50%</a:t>
            </a:r>
            <a:endParaRPr lang="en-US" sz="750" dirty="0"/>
          </a:p>
        </p:txBody>
      </p:sp>
      <p:sp>
        <p:nvSpPr>
          <p:cNvPr id="10" name="Text 7"/>
          <p:cNvSpPr/>
          <p:nvPr/>
        </p:nvSpPr>
        <p:spPr>
          <a:xfrm>
            <a:off x="603504" y="1572768"/>
            <a:ext cx="1920240"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Instant form and WhatsApp</a:t>
            </a:r>
            <a:endParaRPr lang="en-US" sz="950" dirty="0"/>
          </a:p>
        </p:txBody>
      </p:sp>
      <p:sp>
        <p:nvSpPr>
          <p:cNvPr id="11" name="Text 8"/>
          <p:cNvSpPr/>
          <p:nvPr/>
        </p:nvSpPr>
        <p:spPr>
          <a:xfrm>
            <a:off x="603504" y="1792224"/>
            <a:ext cx="2359152" cy="1389888"/>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The instant form carries the winning TikTok audiences across. Click to WhatsApp puts the enquirer in a thread with your team, so nothing is lost between submit and first contact.</a:t>
            </a:r>
            <a:endParaRPr lang="en-US" sz="750" dirty="0"/>
          </a:p>
        </p:txBody>
      </p:sp>
      <p:sp>
        <p:nvSpPr>
          <p:cNvPr id="12" name="Shape 9"/>
          <p:cNvSpPr/>
          <p:nvPr/>
        </p:nvSpPr>
        <p:spPr>
          <a:xfrm>
            <a:off x="3246120" y="1280160"/>
            <a:ext cx="2651760" cy="1975104"/>
          </a:xfrm>
          <a:prstGeom prst="roundRect">
            <a:avLst>
              <a:gd name="adj" fmla="val 2778"/>
            </a:avLst>
          </a:prstGeom>
          <a:solidFill>
            <a:srgbClr val="F2F3F6"/>
          </a:solidFill>
          <a:ln/>
        </p:spPr>
      </p:sp>
      <p:sp>
        <p:nvSpPr>
          <p:cNvPr id="13" name="Shape 10"/>
          <p:cNvSpPr/>
          <p:nvPr/>
        </p:nvSpPr>
        <p:spPr>
          <a:xfrm>
            <a:off x="3246120" y="1280160"/>
            <a:ext cx="2651760" cy="54864"/>
          </a:xfrm>
          <a:prstGeom prst="rect">
            <a:avLst/>
          </a:prstGeom>
          <a:solidFill>
            <a:srgbClr val="2ECC9B"/>
          </a:solidFill>
          <a:ln/>
        </p:spPr>
      </p:sp>
      <p:sp>
        <p:nvSpPr>
          <p:cNvPr id="14" name="Shape 11"/>
          <p:cNvSpPr/>
          <p:nvPr/>
        </p:nvSpPr>
        <p:spPr>
          <a:xfrm>
            <a:off x="5465826" y="1389888"/>
            <a:ext cx="285750" cy="285750"/>
          </a:xfrm>
          <a:prstGeom prst="roundRect">
            <a:avLst>
              <a:gd name="adj" fmla="val 30000"/>
            </a:avLst>
          </a:prstGeom>
          <a:solidFill>
            <a:srgbClr val="FFFFFF"/>
          </a:solidFill>
          <a:ln/>
        </p:spPr>
      </p:sp>
      <p:pic>
        <p:nvPicPr>
          <p:cNvPr id="15" name="Image 1" descr="icons/arrow-up-right.png"/>
          <p:cNvPicPr>
            <a:picLocks noChangeAspect="1"/>
          </p:cNvPicPr>
          <p:nvPr/>
        </p:nvPicPr>
        <p:blipFill>
          <a:blip r:embed="rId2"/>
          <a:stretch>
            <a:fillRect/>
          </a:stretch>
        </p:blipFill>
        <p:spPr>
          <a:xfrm>
            <a:off x="5522976" y="1447038"/>
            <a:ext cx="171450" cy="171450"/>
          </a:xfrm>
          <a:prstGeom prst="rect">
            <a:avLst/>
          </a:prstGeom>
        </p:spPr>
      </p:pic>
      <p:sp>
        <p:nvSpPr>
          <p:cNvPr id="16" name="Text 12"/>
          <p:cNvSpPr/>
          <p:nvPr/>
        </p:nvSpPr>
        <p:spPr>
          <a:xfrm>
            <a:off x="3392424" y="1389888"/>
            <a:ext cx="1920240" cy="164592"/>
          </a:xfrm>
          <a:prstGeom prst="rect">
            <a:avLst/>
          </a:prstGeom>
          <a:noFill/>
          <a:ln/>
        </p:spPr>
        <p:txBody>
          <a:bodyPr wrap="square" lIns="0" tIns="0" rIns="0" bIns="0" rtlCol="0" anchor="t"/>
          <a:lstStyle/>
          <a:p>
            <a:pPr indent="0" marL="0">
              <a:buNone/>
            </a:pPr>
            <a:r>
              <a:rPr lang="en-US" sz="750" b="1" dirty="0">
                <a:solidFill>
                  <a:srgbClr val="3056C9"/>
                </a:solidFill>
                <a:latin typeface="Inter Tight" pitchFamily="34" charset="0"/>
                <a:ea typeface="Inter Tight" pitchFamily="34" charset="-122"/>
                <a:cs typeface="Inter Tight" pitchFamily="34" charset="-120"/>
              </a:rPr>
              <a:t>Middle of funnel, 30%</a:t>
            </a:r>
            <a:endParaRPr lang="en-US" sz="750" dirty="0"/>
          </a:p>
        </p:txBody>
      </p:sp>
      <p:sp>
        <p:nvSpPr>
          <p:cNvPr id="17" name="Text 13"/>
          <p:cNvSpPr/>
          <p:nvPr/>
        </p:nvSpPr>
        <p:spPr>
          <a:xfrm>
            <a:off x="3392424" y="1572768"/>
            <a:ext cx="1920240"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Traffic and retargeting</a:t>
            </a:r>
            <a:endParaRPr lang="en-US" sz="950" dirty="0"/>
          </a:p>
        </p:txBody>
      </p:sp>
      <p:sp>
        <p:nvSpPr>
          <p:cNvPr id="18" name="Text 14"/>
          <p:cNvSpPr/>
          <p:nvPr/>
        </p:nvSpPr>
        <p:spPr>
          <a:xfrm>
            <a:off x="3392424" y="1792224"/>
            <a:ext cx="2359152" cy="1389888"/>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Clicks to program pages and the fees and funding page. Retargeting picks up video viewers, page and profile engagers, and form openers who did not submit.</a:t>
            </a:r>
            <a:endParaRPr lang="en-US" sz="750" dirty="0"/>
          </a:p>
        </p:txBody>
      </p:sp>
      <p:sp>
        <p:nvSpPr>
          <p:cNvPr id="19" name="Shape 15"/>
          <p:cNvSpPr/>
          <p:nvPr/>
        </p:nvSpPr>
        <p:spPr>
          <a:xfrm>
            <a:off x="6035040" y="1280160"/>
            <a:ext cx="2651760" cy="1975104"/>
          </a:xfrm>
          <a:prstGeom prst="roundRect">
            <a:avLst>
              <a:gd name="adj" fmla="val 2778"/>
            </a:avLst>
          </a:prstGeom>
          <a:solidFill>
            <a:srgbClr val="F2F3F6"/>
          </a:solidFill>
          <a:ln/>
        </p:spPr>
      </p:sp>
      <p:sp>
        <p:nvSpPr>
          <p:cNvPr id="20" name="Shape 16"/>
          <p:cNvSpPr/>
          <p:nvPr/>
        </p:nvSpPr>
        <p:spPr>
          <a:xfrm>
            <a:off x="6035040" y="1280160"/>
            <a:ext cx="2651760" cy="54864"/>
          </a:xfrm>
          <a:prstGeom prst="rect">
            <a:avLst/>
          </a:prstGeom>
          <a:solidFill>
            <a:srgbClr val="8E6BE6"/>
          </a:solidFill>
          <a:ln/>
        </p:spPr>
      </p:sp>
      <p:sp>
        <p:nvSpPr>
          <p:cNvPr id="21" name="Shape 17"/>
          <p:cNvSpPr/>
          <p:nvPr/>
        </p:nvSpPr>
        <p:spPr>
          <a:xfrm>
            <a:off x="8254746" y="1389888"/>
            <a:ext cx="285750" cy="285750"/>
          </a:xfrm>
          <a:prstGeom prst="roundRect">
            <a:avLst>
              <a:gd name="adj" fmla="val 30000"/>
            </a:avLst>
          </a:prstGeom>
          <a:solidFill>
            <a:srgbClr val="FFFFFF"/>
          </a:solidFill>
          <a:ln/>
        </p:spPr>
      </p:sp>
      <p:pic>
        <p:nvPicPr>
          <p:cNvPr id="22" name="Image 2" descr="icons/media-play.png"/>
          <p:cNvPicPr>
            <a:picLocks noChangeAspect="1"/>
          </p:cNvPicPr>
          <p:nvPr/>
        </p:nvPicPr>
        <p:blipFill>
          <a:blip r:embed="rId3"/>
          <a:stretch>
            <a:fillRect/>
          </a:stretch>
        </p:blipFill>
        <p:spPr>
          <a:xfrm>
            <a:off x="8311896" y="1447038"/>
            <a:ext cx="171450" cy="171450"/>
          </a:xfrm>
          <a:prstGeom prst="rect">
            <a:avLst/>
          </a:prstGeom>
        </p:spPr>
      </p:pic>
      <p:sp>
        <p:nvSpPr>
          <p:cNvPr id="23" name="Text 18"/>
          <p:cNvSpPr/>
          <p:nvPr/>
        </p:nvSpPr>
        <p:spPr>
          <a:xfrm>
            <a:off x="6181344" y="1389888"/>
            <a:ext cx="1920240" cy="164592"/>
          </a:xfrm>
          <a:prstGeom prst="rect">
            <a:avLst/>
          </a:prstGeom>
          <a:noFill/>
          <a:ln/>
        </p:spPr>
        <p:txBody>
          <a:bodyPr wrap="square" lIns="0" tIns="0" rIns="0" bIns="0" rtlCol="0" anchor="t"/>
          <a:lstStyle/>
          <a:p>
            <a:pPr indent="0" marL="0">
              <a:buNone/>
            </a:pPr>
            <a:r>
              <a:rPr lang="en-US" sz="750" b="1" dirty="0">
                <a:solidFill>
                  <a:srgbClr val="3056C9"/>
                </a:solidFill>
                <a:latin typeface="Inter Tight" pitchFamily="34" charset="0"/>
                <a:ea typeface="Inter Tight" pitchFamily="34" charset="-122"/>
                <a:cs typeface="Inter Tight" pitchFamily="34" charset="-120"/>
              </a:rPr>
              <a:t>Top of funnel, 20%</a:t>
            </a:r>
            <a:endParaRPr lang="en-US" sz="750" dirty="0"/>
          </a:p>
        </p:txBody>
      </p:sp>
      <p:sp>
        <p:nvSpPr>
          <p:cNvPr id="24" name="Text 19"/>
          <p:cNvSpPr/>
          <p:nvPr/>
        </p:nvSpPr>
        <p:spPr>
          <a:xfrm>
            <a:off x="6181344" y="1572768"/>
            <a:ext cx="1920240"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Reels reach</a:t>
            </a:r>
            <a:endParaRPr lang="en-US" sz="950" dirty="0"/>
          </a:p>
        </p:txBody>
      </p:sp>
      <p:sp>
        <p:nvSpPr>
          <p:cNvPr id="25" name="Text 20"/>
          <p:cNvSpPr/>
          <p:nvPr/>
        </p:nvSpPr>
        <p:spPr>
          <a:xfrm>
            <a:off x="6181344" y="1792224"/>
            <a:ext cx="2359152" cy="1389888"/>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Broad Klang Valley 18 to 24, and parents 35 to 55 layered with education and parent of teenager signals. This layer builds a retargeting pool large enough to work.</a:t>
            </a:r>
            <a:endParaRPr lang="en-US" sz="750" dirty="0"/>
          </a:p>
        </p:txBody>
      </p:sp>
      <p:sp>
        <p:nvSpPr>
          <p:cNvPr id="26" name="Shape 21"/>
          <p:cNvSpPr/>
          <p:nvPr/>
        </p:nvSpPr>
        <p:spPr>
          <a:xfrm>
            <a:off x="457200" y="3401568"/>
            <a:ext cx="8229600" cy="822960"/>
          </a:xfrm>
          <a:prstGeom prst="roundRect">
            <a:avLst>
              <a:gd name="adj" fmla="val 6667"/>
            </a:avLst>
          </a:prstGeom>
          <a:solidFill>
            <a:srgbClr val="DDE5FE"/>
          </a:solidFill>
          <a:ln/>
        </p:spPr>
      </p:sp>
      <p:sp>
        <p:nvSpPr>
          <p:cNvPr id="27" name="Text 22"/>
          <p:cNvSpPr/>
          <p:nvPr/>
        </p:nvSpPr>
        <p:spPr>
          <a:xfrm>
            <a:off x="621792" y="3520440"/>
            <a:ext cx="7900416" cy="182880"/>
          </a:xfrm>
          <a:prstGeom prst="rect">
            <a:avLst/>
          </a:prstGeom>
          <a:noFill/>
          <a:ln/>
        </p:spPr>
        <p:txBody>
          <a:bodyPr wrap="square" lIns="0" tIns="0" rIns="0" bIns="0" rtlCol="0" anchor="t"/>
          <a:lstStyle/>
          <a:p>
            <a:pPr indent="0" marL="0">
              <a:buNone/>
            </a:pPr>
            <a:r>
              <a:rPr lang="en-US" sz="900" b="1" dirty="0">
                <a:solidFill>
                  <a:srgbClr val="3056C9"/>
                </a:solidFill>
                <a:latin typeface="Inter Tight" pitchFamily="34" charset="0"/>
                <a:ea typeface="Inter Tight" pitchFamily="34" charset="-122"/>
                <a:cs typeface="Inter Tight" pitchFamily="34" charset="-120"/>
              </a:rPr>
              <a:t>Why Meta takes the larger share of the two new channels</a:t>
            </a:r>
            <a:endParaRPr lang="en-US" sz="900" dirty="0"/>
          </a:p>
        </p:txBody>
      </p:sp>
      <p:sp>
        <p:nvSpPr>
          <p:cNvPr id="28" name="Text 23"/>
          <p:cNvSpPr/>
          <p:nvPr/>
        </p:nvSpPr>
        <p:spPr>
          <a:xfrm>
            <a:off x="621792" y="3721608"/>
            <a:ext cx="7900416" cy="384048"/>
          </a:xfrm>
          <a:prstGeom prst="rect">
            <a:avLst/>
          </a:prstGeom>
          <a:noFill/>
          <a:ln/>
        </p:spPr>
        <p:txBody>
          <a:bodyPr wrap="square" lIns="0" tIns="0" rIns="0" bIns="0" rtlCol="0" anchor="t"/>
          <a:lstStyle/>
          <a:p>
            <a:pPr indent="0" marL="0">
              <a:buNone/>
            </a:pPr>
            <a:r>
              <a:rPr lang="en-US" sz="800" dirty="0">
                <a:solidFill>
                  <a:srgbClr val="0F0F0F"/>
                </a:solidFill>
                <a:latin typeface="Inter Tight" pitchFamily="34" charset="0"/>
                <a:ea typeface="Inter Tight" pitchFamily="34" charset="-122"/>
                <a:cs typeface="Inter Tight" pitchFamily="34" charset="-120"/>
              </a:rPr>
              <a:t>Parents pay the fees, and Meta reaches them at a scale Search cannot. Parents already cost RM 26.31 a lead on TikTok, and click to WhatsApp suits a group that would rather talk than type.</a:t>
            </a:r>
            <a:endParaRPr lang="en-US" sz="800" dirty="0"/>
          </a:p>
        </p:txBody>
      </p:sp>
      <p:sp>
        <p:nvSpPr>
          <p:cNvPr id="29" name="Shape 24"/>
          <p:cNvSpPr/>
          <p:nvPr/>
        </p:nvSpPr>
        <p:spPr>
          <a:xfrm>
            <a:off x="457200" y="4370832"/>
            <a:ext cx="8229600" cy="310896"/>
          </a:xfrm>
          <a:prstGeom prst="rect">
            <a:avLst/>
          </a:prstGeom>
          <a:solidFill>
            <a:srgbClr val="3056C9"/>
          </a:solidFill>
          <a:ln/>
        </p:spPr>
      </p:sp>
      <p:sp>
        <p:nvSpPr>
          <p:cNvPr id="30" name="Text 25"/>
          <p:cNvSpPr/>
          <p:nvPr/>
        </p:nvSpPr>
        <p:spPr>
          <a:xfrm>
            <a:off x="603504" y="4370832"/>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Meta pixel and Conversions API from day one  |  Creative from the same library as TikTok, run as reels  |  One program carousel and one student testimonial for the feed</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Google Search: capture the demand, and nothing else</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Search sells no video views or awareness inventory, so the 20% that would fund an upper funnel moves into traffic and leads instead.</a:t>
            </a:r>
            <a:endParaRPr lang="en-US" sz="850" dirty="0"/>
          </a:p>
        </p:txBody>
      </p:sp>
      <p:sp>
        <p:nvSpPr>
          <p:cNvPr id="5" name="Shape 3"/>
          <p:cNvSpPr/>
          <p:nvPr/>
        </p:nvSpPr>
        <p:spPr>
          <a:xfrm>
            <a:off x="457200" y="1280160"/>
            <a:ext cx="3977640" cy="1554480"/>
          </a:xfrm>
          <a:prstGeom prst="roundRect">
            <a:avLst>
              <a:gd name="adj" fmla="val 3529"/>
            </a:avLst>
          </a:prstGeom>
          <a:solidFill>
            <a:srgbClr val="F2F3F6"/>
          </a:solidFill>
          <a:ln/>
        </p:spPr>
      </p:sp>
      <p:sp>
        <p:nvSpPr>
          <p:cNvPr id="6" name="Shape 4"/>
          <p:cNvSpPr/>
          <p:nvPr/>
        </p:nvSpPr>
        <p:spPr>
          <a:xfrm>
            <a:off x="457200" y="1280160"/>
            <a:ext cx="3977640" cy="54864"/>
          </a:xfrm>
          <a:prstGeom prst="rect">
            <a:avLst/>
          </a:prstGeom>
          <a:solidFill>
            <a:srgbClr val="4A7BF7"/>
          </a:solidFill>
          <a:ln/>
        </p:spPr>
      </p:sp>
      <p:sp>
        <p:nvSpPr>
          <p:cNvPr id="7" name="Shape 5"/>
          <p:cNvSpPr/>
          <p:nvPr/>
        </p:nvSpPr>
        <p:spPr>
          <a:xfrm>
            <a:off x="4002786" y="1389888"/>
            <a:ext cx="285750" cy="285750"/>
          </a:xfrm>
          <a:prstGeom prst="roundRect">
            <a:avLst>
              <a:gd name="adj" fmla="val 30000"/>
            </a:avLst>
          </a:prstGeom>
          <a:solidFill>
            <a:srgbClr val="FFFFFF"/>
          </a:solidFill>
          <a:ln/>
        </p:spPr>
      </p:sp>
      <p:pic>
        <p:nvPicPr>
          <p:cNvPr id="8" name="Image 0" descr="icons/funnel.png"/>
          <p:cNvPicPr>
            <a:picLocks noChangeAspect="1"/>
          </p:cNvPicPr>
          <p:nvPr/>
        </p:nvPicPr>
        <p:blipFill>
          <a:blip r:embed="rId1"/>
          <a:stretch>
            <a:fillRect/>
          </a:stretch>
        </p:blipFill>
        <p:spPr>
          <a:xfrm>
            <a:off x="4059936" y="1447038"/>
            <a:ext cx="171450" cy="171450"/>
          </a:xfrm>
          <a:prstGeom prst="rect">
            <a:avLst/>
          </a:prstGeom>
        </p:spPr>
      </p:pic>
      <p:sp>
        <p:nvSpPr>
          <p:cNvPr id="9" name="Text 6"/>
          <p:cNvSpPr/>
          <p:nvPr/>
        </p:nvSpPr>
        <p:spPr>
          <a:xfrm>
            <a:off x="603504" y="1389888"/>
            <a:ext cx="3246120" cy="164592"/>
          </a:xfrm>
          <a:prstGeom prst="rect">
            <a:avLst/>
          </a:prstGeom>
          <a:noFill/>
          <a:ln/>
        </p:spPr>
        <p:txBody>
          <a:bodyPr wrap="square" lIns="0" tIns="0" rIns="0" bIns="0" rtlCol="0" anchor="t"/>
          <a:lstStyle/>
          <a:p>
            <a:pPr indent="0" marL="0">
              <a:buNone/>
            </a:pPr>
            <a:r>
              <a:rPr lang="en-US" sz="750" b="1" dirty="0">
                <a:solidFill>
                  <a:srgbClr val="3056C9"/>
                </a:solidFill>
                <a:latin typeface="Inter Tight" pitchFamily="34" charset="0"/>
                <a:ea typeface="Inter Tight" pitchFamily="34" charset="-122"/>
                <a:cs typeface="Inter Tight" pitchFamily="34" charset="-120"/>
              </a:rPr>
              <a:t>Bottom of funnel, 70%</a:t>
            </a:r>
            <a:endParaRPr lang="en-US" sz="750" dirty="0"/>
          </a:p>
        </p:txBody>
      </p:sp>
      <p:sp>
        <p:nvSpPr>
          <p:cNvPr id="10" name="Text 7"/>
          <p:cNvSpPr/>
          <p:nvPr/>
        </p:nvSpPr>
        <p:spPr>
          <a:xfrm>
            <a:off x="603504" y="1572768"/>
            <a:ext cx="3246120"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Leads</a:t>
            </a:r>
            <a:endParaRPr lang="en-US" sz="950" dirty="0"/>
          </a:p>
        </p:txBody>
      </p:sp>
      <p:sp>
        <p:nvSpPr>
          <p:cNvPr id="11" name="Text 8"/>
          <p:cNvSpPr/>
          <p:nvPr/>
        </p:nvSpPr>
        <p:spPr>
          <a:xfrm>
            <a:off x="603504" y="1792224"/>
            <a:ext cx="3685032" cy="96926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Brand and defensive terms, program terms, and funding terms. Every one points at an appointment form on a dedicated page rather than the homepage, with a thank you page behind it so Google can count the conversion.</a:t>
            </a:r>
            <a:endParaRPr lang="en-US" sz="750" dirty="0"/>
          </a:p>
        </p:txBody>
      </p:sp>
      <p:sp>
        <p:nvSpPr>
          <p:cNvPr id="12" name="Shape 9"/>
          <p:cNvSpPr/>
          <p:nvPr/>
        </p:nvSpPr>
        <p:spPr>
          <a:xfrm>
            <a:off x="4709160" y="1280160"/>
            <a:ext cx="3977640" cy="1554480"/>
          </a:xfrm>
          <a:prstGeom prst="roundRect">
            <a:avLst>
              <a:gd name="adj" fmla="val 3529"/>
            </a:avLst>
          </a:prstGeom>
          <a:solidFill>
            <a:srgbClr val="F2F3F6"/>
          </a:solidFill>
          <a:ln/>
        </p:spPr>
      </p:sp>
      <p:sp>
        <p:nvSpPr>
          <p:cNvPr id="13" name="Shape 10"/>
          <p:cNvSpPr/>
          <p:nvPr/>
        </p:nvSpPr>
        <p:spPr>
          <a:xfrm>
            <a:off x="4709160" y="1280160"/>
            <a:ext cx="3977640" cy="54864"/>
          </a:xfrm>
          <a:prstGeom prst="rect">
            <a:avLst/>
          </a:prstGeom>
          <a:solidFill>
            <a:srgbClr val="2ECC9B"/>
          </a:solidFill>
          <a:ln/>
        </p:spPr>
      </p:sp>
      <p:sp>
        <p:nvSpPr>
          <p:cNvPr id="14" name="Shape 11"/>
          <p:cNvSpPr/>
          <p:nvPr/>
        </p:nvSpPr>
        <p:spPr>
          <a:xfrm>
            <a:off x="8254746" y="1389888"/>
            <a:ext cx="285750" cy="285750"/>
          </a:xfrm>
          <a:prstGeom prst="roundRect">
            <a:avLst>
              <a:gd name="adj" fmla="val 30000"/>
            </a:avLst>
          </a:prstGeom>
          <a:solidFill>
            <a:srgbClr val="FFFFFF"/>
          </a:solidFill>
          <a:ln/>
        </p:spPr>
      </p:sp>
      <p:pic>
        <p:nvPicPr>
          <p:cNvPr id="15" name="Image 1" descr="icons/arrow-up-right.png"/>
          <p:cNvPicPr>
            <a:picLocks noChangeAspect="1"/>
          </p:cNvPicPr>
          <p:nvPr/>
        </p:nvPicPr>
        <p:blipFill>
          <a:blip r:embed="rId2"/>
          <a:stretch>
            <a:fillRect/>
          </a:stretch>
        </p:blipFill>
        <p:spPr>
          <a:xfrm>
            <a:off x="8311896" y="1447038"/>
            <a:ext cx="171450" cy="171450"/>
          </a:xfrm>
          <a:prstGeom prst="rect">
            <a:avLst/>
          </a:prstGeom>
        </p:spPr>
      </p:pic>
      <p:sp>
        <p:nvSpPr>
          <p:cNvPr id="16" name="Text 12"/>
          <p:cNvSpPr/>
          <p:nvPr/>
        </p:nvSpPr>
        <p:spPr>
          <a:xfrm>
            <a:off x="4855464" y="1389888"/>
            <a:ext cx="3246120" cy="164592"/>
          </a:xfrm>
          <a:prstGeom prst="rect">
            <a:avLst/>
          </a:prstGeom>
          <a:noFill/>
          <a:ln/>
        </p:spPr>
        <p:txBody>
          <a:bodyPr wrap="square" lIns="0" tIns="0" rIns="0" bIns="0" rtlCol="0" anchor="t"/>
          <a:lstStyle/>
          <a:p>
            <a:pPr indent="0" marL="0">
              <a:buNone/>
            </a:pPr>
            <a:r>
              <a:rPr lang="en-US" sz="750" b="1" dirty="0">
                <a:solidFill>
                  <a:srgbClr val="3056C9"/>
                </a:solidFill>
                <a:latin typeface="Inter Tight" pitchFamily="34" charset="0"/>
                <a:ea typeface="Inter Tight" pitchFamily="34" charset="-122"/>
                <a:cs typeface="Inter Tight" pitchFamily="34" charset="-120"/>
              </a:rPr>
              <a:t>Middle of funnel, 30%</a:t>
            </a:r>
            <a:endParaRPr lang="en-US" sz="750" dirty="0"/>
          </a:p>
        </p:txBody>
      </p:sp>
      <p:sp>
        <p:nvSpPr>
          <p:cNvPr id="17" name="Text 13"/>
          <p:cNvSpPr/>
          <p:nvPr/>
        </p:nvSpPr>
        <p:spPr>
          <a:xfrm>
            <a:off x="4855464" y="1572768"/>
            <a:ext cx="3246120"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Traffic</a:t>
            </a:r>
            <a:endParaRPr lang="en-US" sz="950" dirty="0"/>
          </a:p>
        </p:txBody>
      </p:sp>
      <p:sp>
        <p:nvSpPr>
          <p:cNvPr id="18" name="Text 14"/>
          <p:cNvSpPr/>
          <p:nvPr/>
        </p:nvSpPr>
        <p:spPr>
          <a:xfrm>
            <a:off x="4855464" y="1792224"/>
            <a:ext cx="3685032" cy="96926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Category and post SPM pathway terms, where the searcher has not settled on a field yet. These point at program pages that answer fees, entry requirements, intake dates and what graduates do at work.</a:t>
            </a:r>
            <a:endParaRPr lang="en-US" sz="750" dirty="0"/>
          </a:p>
        </p:txBody>
      </p:sp>
      <p:sp>
        <p:nvSpPr>
          <p:cNvPr id="19" name="Shape 15"/>
          <p:cNvSpPr/>
          <p:nvPr/>
        </p:nvSpPr>
        <p:spPr>
          <a:xfrm>
            <a:off x="457200" y="2980944"/>
            <a:ext cx="8229600" cy="914400"/>
          </a:xfrm>
          <a:prstGeom prst="roundRect">
            <a:avLst>
              <a:gd name="adj" fmla="val 6000"/>
            </a:avLst>
          </a:prstGeom>
          <a:solidFill>
            <a:srgbClr val="DDE5FE"/>
          </a:solidFill>
          <a:ln/>
        </p:spPr>
      </p:sp>
      <p:sp>
        <p:nvSpPr>
          <p:cNvPr id="20" name="Text 16"/>
          <p:cNvSpPr/>
          <p:nvPr/>
        </p:nvSpPr>
        <p:spPr>
          <a:xfrm>
            <a:off x="621792" y="3099816"/>
            <a:ext cx="7900416" cy="182880"/>
          </a:xfrm>
          <a:prstGeom prst="rect">
            <a:avLst/>
          </a:prstGeom>
          <a:noFill/>
          <a:ln/>
        </p:spPr>
        <p:txBody>
          <a:bodyPr wrap="square" lIns="0" tIns="0" rIns="0" bIns="0" rtlCol="0" anchor="t"/>
          <a:lstStyle/>
          <a:p>
            <a:pPr indent="0" marL="0">
              <a:buNone/>
            </a:pPr>
            <a:r>
              <a:rPr lang="en-US" sz="900" b="1" dirty="0">
                <a:solidFill>
                  <a:srgbClr val="3056C9"/>
                </a:solidFill>
                <a:latin typeface="Inter Tight" pitchFamily="34" charset="0"/>
                <a:ea typeface="Inter Tight" pitchFamily="34" charset="-122"/>
                <a:cs typeface="Inter Tight" pitchFamily="34" charset="-120"/>
              </a:rPr>
              <a:t>Why Search takes the smallest share of the three</a:t>
            </a:r>
            <a:endParaRPr lang="en-US" sz="900" dirty="0"/>
          </a:p>
        </p:txBody>
      </p:sp>
      <p:sp>
        <p:nvSpPr>
          <p:cNvPr id="21" name="Text 17"/>
          <p:cNvSpPr/>
          <p:nvPr/>
        </p:nvSpPr>
        <p:spPr>
          <a:xfrm>
            <a:off x="621792" y="3300984"/>
            <a:ext cx="7900416" cy="475488"/>
          </a:xfrm>
          <a:prstGeom prst="rect">
            <a:avLst/>
          </a:prstGeom>
          <a:noFill/>
          <a:ln/>
        </p:spPr>
        <p:txBody>
          <a:bodyPr wrap="square" lIns="0" tIns="0" rIns="0" bIns="0" rtlCol="0" anchor="t"/>
          <a:lstStyle/>
          <a:p>
            <a:pPr indent="0" marL="0">
              <a:buNone/>
            </a:pPr>
            <a:r>
              <a:rPr lang="en-US" sz="800" dirty="0">
                <a:solidFill>
                  <a:srgbClr val="0F0F0F"/>
                </a:solidFill>
                <a:latin typeface="Inter Tight" pitchFamily="34" charset="0"/>
                <a:ea typeface="Inter Tight" pitchFamily="34" charset="-122"/>
                <a:cs typeface="Inter Tight" pitchFamily="34" charset="-120"/>
              </a:rPr>
              <a:t>Search volume for nursing and allied health terms in Malaysia is finite. Pushing more budget through it means bidding on looser terms, and looser IJN terms pull in patients looking for the National Heart Institute.</a:t>
            </a:r>
            <a:endParaRPr lang="en-US" sz="800" dirty="0"/>
          </a:p>
        </p:txBody>
      </p:sp>
      <p:sp>
        <p:nvSpPr>
          <p:cNvPr id="22" name="Shape 18"/>
          <p:cNvSpPr/>
          <p:nvPr/>
        </p:nvSpPr>
        <p:spPr>
          <a:xfrm>
            <a:off x="457200" y="4041648"/>
            <a:ext cx="8229600" cy="310896"/>
          </a:xfrm>
          <a:prstGeom prst="rect">
            <a:avLst/>
          </a:prstGeom>
          <a:solidFill>
            <a:srgbClr val="3056C9"/>
          </a:solidFill>
          <a:ln/>
        </p:spPr>
      </p:sp>
      <p:sp>
        <p:nvSpPr>
          <p:cNvPr id="23" name="Text 19"/>
          <p:cNvSpPr/>
          <p:nvPr/>
        </p:nvSpPr>
        <p:spPr>
          <a:xfrm>
            <a:off x="603504" y="4041648"/>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Exact and phrase match at launch  |  Patient intent negative list in place before a single ringgit goes live  |  Broad match only after the search term report comes back clean</a:t>
            </a:r>
            <a:endParaRPr lang="en-US" sz="800" dirty="0"/>
          </a:p>
        </p:txBody>
      </p:sp>
      <p:sp>
        <p:nvSpPr>
          <p:cNvPr id="24" name="Text 20"/>
          <p:cNvSpPr/>
          <p:nvPr/>
        </p:nvSpPr>
        <p:spPr>
          <a:xfrm>
            <a:off x="457200" y="4480560"/>
            <a:ext cx="8229600" cy="402336"/>
          </a:xfrm>
          <a:prstGeom prst="rect">
            <a:avLst/>
          </a:prstGeom>
          <a:noFill/>
          <a:ln/>
        </p:spPr>
        <p:txBody>
          <a:bodyPr wrap="square" lIns="0" tIns="0" rIns="0" bIns="0" rtlCol="0" anchor="t"/>
          <a:lstStyle/>
          <a:p>
            <a:pPr indent="0" marL="0">
              <a:buNone/>
            </a:pPr>
            <a:r>
              <a:rPr lang="en-US" sz="800" dirty="0">
                <a:solidFill>
                  <a:srgbClr val="0F0F0F"/>
                </a:solidFill>
                <a:latin typeface="Inter Tight" pitchFamily="34" charset="0"/>
                <a:ea typeface="Inter Tight" pitchFamily="34" charset="-122"/>
                <a:cs typeface="Inter Tight" pitchFamily="34" charset="-120"/>
              </a:rPr>
              <a:t>The 20% that would fund awareness on TikTok and Meta is redistributed here at a 70 / 30 split, so Search buys leads and traffic only.</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TikTok: what we change inside the ad account</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Four moves we make on our side. None of them wait on anything from IJNUC.</a:t>
            </a:r>
            <a:endParaRPr lang="en-US" sz="850" dirty="0"/>
          </a:p>
        </p:txBody>
      </p:sp>
      <p:sp>
        <p:nvSpPr>
          <p:cNvPr id="5" name="Shape 3"/>
          <p:cNvSpPr/>
          <p:nvPr/>
        </p:nvSpPr>
        <p:spPr>
          <a:xfrm>
            <a:off x="457200" y="1280160"/>
            <a:ext cx="3977640" cy="1298448"/>
          </a:xfrm>
          <a:prstGeom prst="roundRect">
            <a:avLst>
              <a:gd name="adj" fmla="val 4225"/>
            </a:avLst>
          </a:prstGeom>
          <a:solidFill>
            <a:srgbClr val="F2F3F6"/>
          </a:solidFill>
          <a:ln/>
        </p:spPr>
      </p:sp>
      <p:sp>
        <p:nvSpPr>
          <p:cNvPr id="6" name="Shape 4"/>
          <p:cNvSpPr/>
          <p:nvPr/>
        </p:nvSpPr>
        <p:spPr>
          <a:xfrm>
            <a:off x="457200" y="1280160"/>
            <a:ext cx="3977640" cy="54864"/>
          </a:xfrm>
          <a:prstGeom prst="rect">
            <a:avLst/>
          </a:prstGeom>
          <a:solidFill>
            <a:srgbClr val="4A7BF7"/>
          </a:solidFill>
          <a:ln/>
        </p:spPr>
      </p:sp>
      <p:sp>
        <p:nvSpPr>
          <p:cNvPr id="7" name="Text 5"/>
          <p:cNvSpPr/>
          <p:nvPr/>
        </p:nvSpPr>
        <p:spPr>
          <a:xfrm>
            <a:off x="603504" y="1389888"/>
            <a:ext cx="54864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01</a:t>
            </a:r>
            <a:endParaRPr lang="en-US" sz="800" dirty="0"/>
          </a:p>
        </p:txBody>
      </p:sp>
      <p:sp>
        <p:nvSpPr>
          <p:cNvPr id="8" name="Text 6"/>
          <p:cNvSpPr/>
          <p:nvPr/>
        </p:nvSpPr>
        <p:spPr>
          <a:xfrm>
            <a:off x="603504" y="1591056"/>
            <a:ext cx="3685032" cy="201168"/>
          </a:xfrm>
          <a:prstGeom prst="rect">
            <a:avLst/>
          </a:prstGeom>
          <a:noFill/>
          <a:ln/>
        </p:spPr>
        <p:txBody>
          <a:bodyPr wrap="square" lIns="0" tIns="0" rIns="0" bIns="0" rtlCol="0" anchor="t"/>
          <a:lstStyle/>
          <a:p>
            <a:pPr indent="0" marL="0">
              <a:buNone/>
            </a:pPr>
            <a:r>
              <a:rPr lang="en-US" sz="900" b="1" dirty="0">
                <a:solidFill>
                  <a:srgbClr val="0F0F0F"/>
                </a:solidFill>
                <a:latin typeface="Inter Tight" pitchFamily="34" charset="0"/>
                <a:ea typeface="Inter Tight" pitchFamily="34" charset="-122"/>
                <a:cs typeface="Inter Tight" pitchFamily="34" charset="-120"/>
              </a:rPr>
              <a:t>Judge creative on hook rate</a:t>
            </a:r>
            <a:endParaRPr lang="en-US" sz="900" dirty="0"/>
          </a:p>
        </p:txBody>
      </p:sp>
      <p:sp>
        <p:nvSpPr>
          <p:cNvPr id="9" name="Text 7"/>
          <p:cNvSpPr/>
          <p:nvPr/>
        </p:nvSpPr>
        <p:spPr>
          <a:xfrm>
            <a:off x="603504" y="1810512"/>
            <a:ext cx="3685032" cy="69494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Every new video gets read within 1 week. Anything under 15% hook rate comes out of rotation.</a:t>
            </a:r>
            <a:endParaRPr lang="en-US" sz="750" dirty="0"/>
          </a:p>
        </p:txBody>
      </p:sp>
      <p:sp>
        <p:nvSpPr>
          <p:cNvPr id="10" name="Shape 8"/>
          <p:cNvSpPr/>
          <p:nvPr/>
        </p:nvSpPr>
        <p:spPr>
          <a:xfrm>
            <a:off x="4709160" y="1280160"/>
            <a:ext cx="3977640" cy="1298448"/>
          </a:xfrm>
          <a:prstGeom prst="roundRect">
            <a:avLst>
              <a:gd name="adj" fmla="val 4225"/>
            </a:avLst>
          </a:prstGeom>
          <a:solidFill>
            <a:srgbClr val="F2F3F6"/>
          </a:solidFill>
          <a:ln/>
        </p:spPr>
      </p:sp>
      <p:sp>
        <p:nvSpPr>
          <p:cNvPr id="11" name="Shape 9"/>
          <p:cNvSpPr/>
          <p:nvPr/>
        </p:nvSpPr>
        <p:spPr>
          <a:xfrm>
            <a:off x="4709160" y="1280160"/>
            <a:ext cx="3977640" cy="54864"/>
          </a:xfrm>
          <a:prstGeom prst="rect">
            <a:avLst/>
          </a:prstGeom>
          <a:solidFill>
            <a:srgbClr val="2ECC9B"/>
          </a:solidFill>
          <a:ln/>
        </p:spPr>
      </p:sp>
      <p:sp>
        <p:nvSpPr>
          <p:cNvPr id="12" name="Text 10"/>
          <p:cNvSpPr/>
          <p:nvPr/>
        </p:nvSpPr>
        <p:spPr>
          <a:xfrm>
            <a:off x="4855464" y="1389888"/>
            <a:ext cx="54864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02</a:t>
            </a:r>
            <a:endParaRPr lang="en-US" sz="800" dirty="0"/>
          </a:p>
        </p:txBody>
      </p:sp>
      <p:sp>
        <p:nvSpPr>
          <p:cNvPr id="13" name="Text 11"/>
          <p:cNvSpPr/>
          <p:nvPr/>
        </p:nvSpPr>
        <p:spPr>
          <a:xfrm>
            <a:off x="4855464" y="1591056"/>
            <a:ext cx="3685032" cy="201168"/>
          </a:xfrm>
          <a:prstGeom prst="rect">
            <a:avLst/>
          </a:prstGeom>
          <a:noFill/>
          <a:ln/>
        </p:spPr>
        <p:txBody>
          <a:bodyPr wrap="square" lIns="0" tIns="0" rIns="0" bIns="0" rtlCol="0" anchor="t"/>
          <a:lstStyle/>
          <a:p>
            <a:pPr indent="0" marL="0">
              <a:buNone/>
            </a:pPr>
            <a:r>
              <a:rPr lang="en-US" sz="900" b="1" dirty="0">
                <a:solidFill>
                  <a:srgbClr val="0F0F0F"/>
                </a:solidFill>
                <a:latin typeface="Inter Tight" pitchFamily="34" charset="0"/>
                <a:ea typeface="Inter Tight" pitchFamily="34" charset="-122"/>
                <a:cs typeface="Inter Tight" pitchFamily="34" charset="-120"/>
              </a:rPr>
              <a:t>Rebuild retargeting later</a:t>
            </a:r>
            <a:endParaRPr lang="en-US" sz="900" dirty="0"/>
          </a:p>
        </p:txBody>
      </p:sp>
      <p:sp>
        <p:nvSpPr>
          <p:cNvPr id="14" name="Text 12"/>
          <p:cNvSpPr/>
          <p:nvPr/>
        </p:nvSpPr>
        <p:spPr>
          <a:xfrm>
            <a:off x="4855464" y="1810512"/>
            <a:ext cx="3685032" cy="69494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Frequency hit 8.75 on a pool of 1,864 people. That only works once the new creative supply grows the view audience.</a:t>
            </a:r>
            <a:endParaRPr lang="en-US" sz="750" dirty="0"/>
          </a:p>
        </p:txBody>
      </p:sp>
      <p:sp>
        <p:nvSpPr>
          <p:cNvPr id="15" name="Shape 13"/>
          <p:cNvSpPr/>
          <p:nvPr/>
        </p:nvSpPr>
        <p:spPr>
          <a:xfrm>
            <a:off x="457200" y="2670048"/>
            <a:ext cx="3977640" cy="1298448"/>
          </a:xfrm>
          <a:prstGeom prst="roundRect">
            <a:avLst>
              <a:gd name="adj" fmla="val 4225"/>
            </a:avLst>
          </a:prstGeom>
          <a:solidFill>
            <a:srgbClr val="F2F3F6"/>
          </a:solidFill>
          <a:ln/>
        </p:spPr>
      </p:sp>
      <p:sp>
        <p:nvSpPr>
          <p:cNvPr id="16" name="Shape 14"/>
          <p:cNvSpPr/>
          <p:nvPr/>
        </p:nvSpPr>
        <p:spPr>
          <a:xfrm>
            <a:off x="457200" y="2670048"/>
            <a:ext cx="3977640" cy="54864"/>
          </a:xfrm>
          <a:prstGeom prst="rect">
            <a:avLst/>
          </a:prstGeom>
          <a:solidFill>
            <a:srgbClr val="8E6BE6"/>
          </a:solidFill>
          <a:ln/>
        </p:spPr>
      </p:sp>
      <p:sp>
        <p:nvSpPr>
          <p:cNvPr id="17" name="Text 15"/>
          <p:cNvSpPr/>
          <p:nvPr/>
        </p:nvSpPr>
        <p:spPr>
          <a:xfrm>
            <a:off x="603504" y="2779776"/>
            <a:ext cx="54864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03</a:t>
            </a:r>
            <a:endParaRPr lang="en-US" sz="800" dirty="0"/>
          </a:p>
        </p:txBody>
      </p:sp>
      <p:sp>
        <p:nvSpPr>
          <p:cNvPr id="18" name="Text 16"/>
          <p:cNvSpPr/>
          <p:nvPr/>
        </p:nvSpPr>
        <p:spPr>
          <a:xfrm>
            <a:off x="603504" y="2980944"/>
            <a:ext cx="3685032" cy="201168"/>
          </a:xfrm>
          <a:prstGeom prst="rect">
            <a:avLst/>
          </a:prstGeom>
          <a:noFill/>
          <a:ln/>
        </p:spPr>
        <p:txBody>
          <a:bodyPr wrap="square" lIns="0" tIns="0" rIns="0" bIns="0" rtlCol="0" anchor="t"/>
          <a:lstStyle/>
          <a:p>
            <a:pPr indent="0" marL="0">
              <a:buNone/>
            </a:pPr>
            <a:r>
              <a:rPr lang="en-US" sz="900" b="1" dirty="0">
                <a:solidFill>
                  <a:srgbClr val="0F0F0F"/>
                </a:solidFill>
                <a:latin typeface="Inter Tight" pitchFamily="34" charset="0"/>
                <a:ea typeface="Inter Tight" pitchFamily="34" charset="-122"/>
                <a:cs typeface="Inter Tight" pitchFamily="34" charset="-120"/>
              </a:rPr>
              <a:t>Break the spend concentration</a:t>
            </a:r>
            <a:endParaRPr lang="en-US" sz="900" dirty="0"/>
          </a:p>
        </p:txBody>
      </p:sp>
      <p:sp>
        <p:nvSpPr>
          <p:cNvPr id="19" name="Text 17"/>
          <p:cNvSpPr/>
          <p:nvPr/>
        </p:nvSpPr>
        <p:spPr>
          <a:xfrm>
            <a:off x="603504" y="3200400"/>
            <a:ext cx="3685032" cy="69494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No single ad carries half the budget again. Spend follows cost per lead, and the six sub RM 20 ads get funded properly.</a:t>
            </a:r>
            <a:endParaRPr lang="en-US" sz="750" dirty="0"/>
          </a:p>
        </p:txBody>
      </p:sp>
      <p:sp>
        <p:nvSpPr>
          <p:cNvPr id="20" name="Shape 18"/>
          <p:cNvSpPr/>
          <p:nvPr/>
        </p:nvSpPr>
        <p:spPr>
          <a:xfrm>
            <a:off x="4709160" y="2670048"/>
            <a:ext cx="3977640" cy="1298448"/>
          </a:xfrm>
          <a:prstGeom prst="roundRect">
            <a:avLst>
              <a:gd name="adj" fmla="val 4225"/>
            </a:avLst>
          </a:prstGeom>
          <a:solidFill>
            <a:srgbClr val="F2F3F6"/>
          </a:solidFill>
          <a:ln/>
        </p:spPr>
      </p:sp>
      <p:sp>
        <p:nvSpPr>
          <p:cNvPr id="21" name="Shape 19"/>
          <p:cNvSpPr/>
          <p:nvPr/>
        </p:nvSpPr>
        <p:spPr>
          <a:xfrm>
            <a:off x="4709160" y="2670048"/>
            <a:ext cx="3977640" cy="54864"/>
          </a:xfrm>
          <a:prstGeom prst="rect">
            <a:avLst/>
          </a:prstGeom>
          <a:solidFill>
            <a:srgbClr val="F28B4C"/>
          </a:solidFill>
          <a:ln/>
        </p:spPr>
      </p:sp>
      <p:sp>
        <p:nvSpPr>
          <p:cNvPr id="22" name="Text 20"/>
          <p:cNvSpPr/>
          <p:nvPr/>
        </p:nvSpPr>
        <p:spPr>
          <a:xfrm>
            <a:off x="4855464" y="2779776"/>
            <a:ext cx="54864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04</a:t>
            </a:r>
            <a:endParaRPr lang="en-US" sz="800" dirty="0"/>
          </a:p>
        </p:txBody>
      </p:sp>
      <p:sp>
        <p:nvSpPr>
          <p:cNvPr id="23" name="Text 21"/>
          <p:cNvSpPr/>
          <p:nvPr/>
        </p:nvSpPr>
        <p:spPr>
          <a:xfrm>
            <a:off x="4855464" y="2980944"/>
            <a:ext cx="3685032" cy="201168"/>
          </a:xfrm>
          <a:prstGeom prst="rect">
            <a:avLst/>
          </a:prstGeom>
          <a:noFill/>
          <a:ln/>
        </p:spPr>
        <p:txBody>
          <a:bodyPr wrap="square" lIns="0" tIns="0" rIns="0" bIns="0" rtlCol="0" anchor="t"/>
          <a:lstStyle/>
          <a:p>
            <a:pPr indent="0" marL="0">
              <a:buNone/>
            </a:pPr>
            <a:r>
              <a:rPr lang="en-US" sz="900" b="1" dirty="0">
                <a:solidFill>
                  <a:srgbClr val="0F0F0F"/>
                </a:solidFill>
                <a:latin typeface="Inter Tight" pitchFamily="34" charset="0"/>
                <a:ea typeface="Inter Tight" pitchFamily="34" charset="-122"/>
                <a:cs typeface="Inter Tight" pitchFamily="34" charset="-120"/>
              </a:rPr>
              <a:t>Send outcomes back to TikTok</a:t>
            </a:r>
            <a:endParaRPr lang="en-US" sz="900" dirty="0"/>
          </a:p>
        </p:txBody>
      </p:sp>
      <p:sp>
        <p:nvSpPr>
          <p:cNvPr id="24" name="Text 22"/>
          <p:cNvSpPr/>
          <p:nvPr/>
        </p:nvSpPr>
        <p:spPr>
          <a:xfrm>
            <a:off x="4855464" y="3200400"/>
            <a:ext cx="3685032" cy="69494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Walk-in and enrolment events through the Events API, so delivery optimizes toward students rather than form fills.</a:t>
            </a:r>
            <a:endParaRPr lang="en-US" sz="750" dirty="0"/>
          </a:p>
        </p:txBody>
      </p:sp>
      <p:sp>
        <p:nvSpPr>
          <p:cNvPr id="25" name="Shape 23"/>
          <p:cNvSpPr/>
          <p:nvPr/>
        </p:nvSpPr>
        <p:spPr>
          <a:xfrm>
            <a:off x="457200" y="4114800"/>
            <a:ext cx="8229600" cy="310896"/>
          </a:xfrm>
          <a:prstGeom prst="rect">
            <a:avLst/>
          </a:prstGeom>
          <a:solidFill>
            <a:srgbClr val="3056C9"/>
          </a:solidFill>
          <a:ln/>
        </p:spPr>
      </p:sp>
      <p:sp>
        <p:nvSpPr>
          <p:cNvPr id="26" name="Text 24"/>
          <p:cNvSpPr/>
          <p:nvPr/>
        </p:nvSpPr>
        <p:spPr>
          <a:xfrm>
            <a:off x="603504" y="4114800"/>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Item 04 is the one that changes the economics. Everything else improves the cost of a lead, and that one improves the cost of a student.</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Google Search: meet the people already looking for you</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Four campaign groups, each with its own job. Malay and English terms sit in separate ad groups so the ad copy can be written in the language of the search.</a:t>
            </a:r>
            <a:endParaRPr lang="en-US" sz="850" dirty="0"/>
          </a:p>
        </p:txBody>
      </p:sp>
      <p:sp>
        <p:nvSpPr>
          <p:cNvPr id="5" name="Shape 3"/>
          <p:cNvSpPr/>
          <p:nvPr/>
        </p:nvSpPr>
        <p:spPr>
          <a:xfrm>
            <a:off x="457200" y="1280160"/>
            <a:ext cx="3977640" cy="1170432"/>
          </a:xfrm>
          <a:prstGeom prst="roundRect">
            <a:avLst>
              <a:gd name="adj" fmla="val 4688"/>
            </a:avLst>
          </a:prstGeom>
          <a:solidFill>
            <a:srgbClr val="F2F3F6"/>
          </a:solidFill>
          <a:ln/>
        </p:spPr>
      </p:sp>
      <p:sp>
        <p:nvSpPr>
          <p:cNvPr id="6" name="Shape 4"/>
          <p:cNvSpPr/>
          <p:nvPr/>
        </p:nvSpPr>
        <p:spPr>
          <a:xfrm>
            <a:off x="457200" y="1280160"/>
            <a:ext cx="3977640" cy="54864"/>
          </a:xfrm>
          <a:prstGeom prst="rect">
            <a:avLst/>
          </a:prstGeom>
          <a:solidFill>
            <a:srgbClr val="4A7BF7"/>
          </a:solidFill>
          <a:ln/>
        </p:spPr>
      </p:sp>
      <p:sp>
        <p:nvSpPr>
          <p:cNvPr id="7" name="Text 5"/>
          <p:cNvSpPr/>
          <p:nvPr/>
        </p:nvSpPr>
        <p:spPr>
          <a:xfrm>
            <a:off x="603504" y="1399032"/>
            <a:ext cx="3685032"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Brand and defensive</a:t>
            </a:r>
            <a:endParaRPr lang="en-US" sz="950" dirty="0"/>
          </a:p>
        </p:txBody>
      </p:sp>
      <p:sp>
        <p:nvSpPr>
          <p:cNvPr id="8" name="Text 6"/>
          <p:cNvSpPr/>
          <p:nvPr/>
        </p:nvSpPr>
        <p:spPr>
          <a:xfrm>
            <a:off x="603504" y="1618488"/>
            <a:ext cx="3685032" cy="457200"/>
          </a:xfrm>
          <a:prstGeom prst="rect">
            <a:avLst/>
          </a:prstGeom>
          <a:noFill/>
          <a:ln/>
        </p:spPr>
        <p:txBody>
          <a:bodyPr wrap="square" lIns="0" tIns="0" rIns="0" bIns="0" rtlCol="0" anchor="t"/>
          <a:lstStyle/>
          <a:p>
            <a:pPr indent="0" marL="0">
              <a:buNone/>
            </a:pPr>
            <a:r>
              <a:rPr lang="en-US" sz="750" dirty="0">
                <a:solidFill>
                  <a:srgbClr val="3056C9"/>
                </a:solidFill>
                <a:latin typeface="Inter Tight" pitchFamily="34" charset="0"/>
                <a:ea typeface="Inter Tight" pitchFamily="34" charset="-122"/>
                <a:cs typeface="Inter Tight" pitchFamily="34" charset="-120"/>
              </a:rPr>
              <a:t>ijn university college, ijnuc, ijn nursing, kolej ijn, ijn university college fees</a:t>
            </a:r>
            <a:endParaRPr lang="en-US" sz="750" dirty="0"/>
          </a:p>
        </p:txBody>
      </p:sp>
      <p:sp>
        <p:nvSpPr>
          <p:cNvPr id="9" name="Text 7"/>
          <p:cNvSpPr/>
          <p:nvPr/>
        </p:nvSpPr>
        <p:spPr>
          <a:xfrm>
            <a:off x="603504" y="2103120"/>
            <a:ext cx="3685032" cy="292608"/>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Own your own name so aggregators and competitor colleges stop sitting above you on it.</a:t>
            </a:r>
            <a:endParaRPr lang="en-US" sz="750" dirty="0"/>
          </a:p>
        </p:txBody>
      </p:sp>
      <p:sp>
        <p:nvSpPr>
          <p:cNvPr id="10" name="Shape 8"/>
          <p:cNvSpPr/>
          <p:nvPr/>
        </p:nvSpPr>
        <p:spPr>
          <a:xfrm>
            <a:off x="4709160" y="1280160"/>
            <a:ext cx="3977640" cy="1170432"/>
          </a:xfrm>
          <a:prstGeom prst="roundRect">
            <a:avLst>
              <a:gd name="adj" fmla="val 4688"/>
            </a:avLst>
          </a:prstGeom>
          <a:solidFill>
            <a:srgbClr val="F2F3F6"/>
          </a:solidFill>
          <a:ln/>
        </p:spPr>
      </p:sp>
      <p:sp>
        <p:nvSpPr>
          <p:cNvPr id="11" name="Shape 9"/>
          <p:cNvSpPr/>
          <p:nvPr/>
        </p:nvSpPr>
        <p:spPr>
          <a:xfrm>
            <a:off x="4709160" y="1280160"/>
            <a:ext cx="3977640" cy="54864"/>
          </a:xfrm>
          <a:prstGeom prst="rect">
            <a:avLst/>
          </a:prstGeom>
          <a:solidFill>
            <a:srgbClr val="2ECC9B"/>
          </a:solidFill>
          <a:ln/>
        </p:spPr>
      </p:sp>
      <p:sp>
        <p:nvSpPr>
          <p:cNvPr id="12" name="Text 10"/>
          <p:cNvSpPr/>
          <p:nvPr/>
        </p:nvSpPr>
        <p:spPr>
          <a:xfrm>
            <a:off x="4855464" y="1399032"/>
            <a:ext cx="3685032"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Program terms</a:t>
            </a:r>
            <a:endParaRPr lang="en-US" sz="950" dirty="0"/>
          </a:p>
        </p:txBody>
      </p:sp>
      <p:sp>
        <p:nvSpPr>
          <p:cNvPr id="13" name="Text 11"/>
          <p:cNvSpPr/>
          <p:nvPr/>
        </p:nvSpPr>
        <p:spPr>
          <a:xfrm>
            <a:off x="4855464" y="1618488"/>
            <a:ext cx="3685032" cy="457200"/>
          </a:xfrm>
          <a:prstGeom prst="rect">
            <a:avLst/>
          </a:prstGeom>
          <a:noFill/>
          <a:ln/>
        </p:spPr>
        <p:txBody>
          <a:bodyPr wrap="square" lIns="0" tIns="0" rIns="0" bIns="0" rtlCol="0" anchor="t"/>
          <a:lstStyle/>
          <a:p>
            <a:pPr indent="0" marL="0">
              <a:buNone/>
            </a:pPr>
            <a:r>
              <a:rPr lang="en-US" sz="750" dirty="0">
                <a:solidFill>
                  <a:srgbClr val="3056C9"/>
                </a:solidFill>
                <a:latin typeface="Inter Tight" pitchFamily="34" charset="0"/>
                <a:ea typeface="Inter Tight" pitchFamily="34" charset="-122"/>
                <a:cs typeface="Inter Tight" pitchFamily="34" charset="-120"/>
              </a:rPr>
              <a:t>diploma in nursing, diploma kejururawatan, bachelor of nursing science, cardiovascular technology degree, diploma physiotherapy, diploma fisioterapi, medical imaging diploma</a:t>
            </a:r>
            <a:endParaRPr lang="en-US" sz="750" dirty="0"/>
          </a:p>
        </p:txBody>
      </p:sp>
      <p:sp>
        <p:nvSpPr>
          <p:cNvPr id="14" name="Text 12"/>
          <p:cNvSpPr/>
          <p:nvPr/>
        </p:nvSpPr>
        <p:spPr>
          <a:xfrm>
            <a:off x="4855464" y="2103120"/>
            <a:ext cx="3685032" cy="292608"/>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Catch the searcher who has already chosen a field and is choosing between colleges.</a:t>
            </a:r>
            <a:endParaRPr lang="en-US" sz="750" dirty="0"/>
          </a:p>
        </p:txBody>
      </p:sp>
      <p:sp>
        <p:nvSpPr>
          <p:cNvPr id="15" name="Shape 13"/>
          <p:cNvSpPr/>
          <p:nvPr/>
        </p:nvSpPr>
        <p:spPr>
          <a:xfrm>
            <a:off x="457200" y="2633472"/>
            <a:ext cx="3977640" cy="1170432"/>
          </a:xfrm>
          <a:prstGeom prst="roundRect">
            <a:avLst>
              <a:gd name="adj" fmla="val 4688"/>
            </a:avLst>
          </a:prstGeom>
          <a:solidFill>
            <a:srgbClr val="F2F3F6"/>
          </a:solidFill>
          <a:ln/>
        </p:spPr>
      </p:sp>
      <p:sp>
        <p:nvSpPr>
          <p:cNvPr id="16" name="Shape 14"/>
          <p:cNvSpPr/>
          <p:nvPr/>
        </p:nvSpPr>
        <p:spPr>
          <a:xfrm>
            <a:off x="457200" y="2633472"/>
            <a:ext cx="3977640" cy="54864"/>
          </a:xfrm>
          <a:prstGeom prst="rect">
            <a:avLst/>
          </a:prstGeom>
          <a:solidFill>
            <a:srgbClr val="8E6BE6"/>
          </a:solidFill>
          <a:ln/>
        </p:spPr>
      </p:sp>
      <p:sp>
        <p:nvSpPr>
          <p:cNvPr id="17" name="Text 15"/>
          <p:cNvSpPr/>
          <p:nvPr/>
        </p:nvSpPr>
        <p:spPr>
          <a:xfrm>
            <a:off x="603504" y="2752344"/>
            <a:ext cx="3685032"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Category and post SPM pathway</a:t>
            </a:r>
            <a:endParaRPr lang="en-US" sz="950" dirty="0"/>
          </a:p>
        </p:txBody>
      </p:sp>
      <p:sp>
        <p:nvSpPr>
          <p:cNvPr id="18" name="Text 16"/>
          <p:cNvSpPr/>
          <p:nvPr/>
        </p:nvSpPr>
        <p:spPr>
          <a:xfrm>
            <a:off x="603504" y="2971800"/>
            <a:ext cx="3685032" cy="457200"/>
          </a:xfrm>
          <a:prstGeom prst="rect">
            <a:avLst/>
          </a:prstGeom>
          <a:noFill/>
          <a:ln/>
        </p:spPr>
        <p:txBody>
          <a:bodyPr wrap="square" lIns="0" tIns="0" rIns="0" bIns="0" rtlCol="0" anchor="t"/>
          <a:lstStyle/>
          <a:p>
            <a:pPr indent="0" marL="0">
              <a:buNone/>
            </a:pPr>
            <a:r>
              <a:rPr lang="en-US" sz="750" dirty="0">
                <a:solidFill>
                  <a:srgbClr val="3056C9"/>
                </a:solidFill>
                <a:latin typeface="Inter Tight" pitchFamily="34" charset="0"/>
                <a:ea typeface="Inter Tight" pitchFamily="34" charset="-122"/>
                <a:cs typeface="Inter Tight" pitchFamily="34" charset="-120"/>
              </a:rPr>
              <a:t>nursing college kl, allied health courses malaysia, kursus kesihatan lepas spm, diploma lepas spm kl</a:t>
            </a:r>
            <a:endParaRPr lang="en-US" sz="750" dirty="0"/>
          </a:p>
        </p:txBody>
      </p:sp>
      <p:sp>
        <p:nvSpPr>
          <p:cNvPr id="19" name="Text 17"/>
          <p:cNvSpPr/>
          <p:nvPr/>
        </p:nvSpPr>
        <p:spPr>
          <a:xfrm>
            <a:off x="603504" y="3456432"/>
            <a:ext cx="3685032" cy="292608"/>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Reach the leaver who is still deciding what to study.</a:t>
            </a:r>
            <a:endParaRPr lang="en-US" sz="750" dirty="0"/>
          </a:p>
        </p:txBody>
      </p:sp>
      <p:sp>
        <p:nvSpPr>
          <p:cNvPr id="20" name="Shape 18"/>
          <p:cNvSpPr/>
          <p:nvPr/>
        </p:nvSpPr>
        <p:spPr>
          <a:xfrm>
            <a:off x="4709160" y="2633472"/>
            <a:ext cx="3977640" cy="1170432"/>
          </a:xfrm>
          <a:prstGeom prst="roundRect">
            <a:avLst>
              <a:gd name="adj" fmla="val 4688"/>
            </a:avLst>
          </a:prstGeom>
          <a:solidFill>
            <a:srgbClr val="F2F3F6"/>
          </a:solidFill>
          <a:ln/>
        </p:spPr>
      </p:sp>
      <p:sp>
        <p:nvSpPr>
          <p:cNvPr id="21" name="Shape 19"/>
          <p:cNvSpPr/>
          <p:nvPr/>
        </p:nvSpPr>
        <p:spPr>
          <a:xfrm>
            <a:off x="4709160" y="2633472"/>
            <a:ext cx="3977640" cy="54864"/>
          </a:xfrm>
          <a:prstGeom prst="rect">
            <a:avLst/>
          </a:prstGeom>
          <a:solidFill>
            <a:srgbClr val="F28B4C"/>
          </a:solidFill>
          <a:ln/>
        </p:spPr>
      </p:sp>
      <p:sp>
        <p:nvSpPr>
          <p:cNvPr id="22" name="Text 20"/>
          <p:cNvSpPr/>
          <p:nvPr/>
        </p:nvSpPr>
        <p:spPr>
          <a:xfrm>
            <a:off x="4855464" y="2752344"/>
            <a:ext cx="3685032" cy="201168"/>
          </a:xfrm>
          <a:prstGeom prst="rect">
            <a:avLst/>
          </a:prstGeom>
          <a:noFill/>
          <a:ln/>
        </p:spPr>
        <p:txBody>
          <a:bodyPr wrap="square" lIns="0" tIns="0" rIns="0" bIns="0" rtlCol="0" anchor="t"/>
          <a:lstStyle/>
          <a:p>
            <a:pPr indent="0" marL="0">
              <a:buNone/>
            </a:pPr>
            <a:r>
              <a:rPr lang="en-US" sz="950" b="1" dirty="0">
                <a:solidFill>
                  <a:srgbClr val="0F0F0F"/>
                </a:solidFill>
                <a:latin typeface="Inter Tight" pitchFamily="34" charset="0"/>
                <a:ea typeface="Inter Tight" pitchFamily="34" charset="-122"/>
                <a:cs typeface="Inter Tight" pitchFamily="34" charset="-120"/>
              </a:rPr>
              <a:t>Funding</a:t>
            </a:r>
            <a:endParaRPr lang="en-US" sz="950" dirty="0"/>
          </a:p>
        </p:txBody>
      </p:sp>
      <p:sp>
        <p:nvSpPr>
          <p:cNvPr id="23" name="Text 21"/>
          <p:cNvSpPr/>
          <p:nvPr/>
        </p:nvSpPr>
        <p:spPr>
          <a:xfrm>
            <a:off x="4855464" y="2971800"/>
            <a:ext cx="3685032" cy="457200"/>
          </a:xfrm>
          <a:prstGeom prst="rect">
            <a:avLst/>
          </a:prstGeom>
          <a:noFill/>
          <a:ln/>
        </p:spPr>
        <p:txBody>
          <a:bodyPr wrap="square" lIns="0" tIns="0" rIns="0" bIns="0" rtlCol="0" anchor="t"/>
          <a:lstStyle/>
          <a:p>
            <a:pPr indent="0" marL="0">
              <a:buNone/>
            </a:pPr>
            <a:r>
              <a:rPr lang="en-US" sz="750" dirty="0">
                <a:solidFill>
                  <a:srgbClr val="3056C9"/>
                </a:solidFill>
                <a:latin typeface="Inter Tight" pitchFamily="34" charset="0"/>
                <a:ea typeface="Inter Tight" pitchFamily="34" charset="-122"/>
                <a:cs typeface="Inter Tight" pitchFamily="34" charset="-120"/>
              </a:rPr>
              <a:t>ptptn diploma kejururawatan, kursus yang ada ptptn, biasiswa kesihatan</a:t>
            </a:r>
            <a:endParaRPr lang="en-US" sz="750" dirty="0"/>
          </a:p>
        </p:txBody>
      </p:sp>
      <p:sp>
        <p:nvSpPr>
          <p:cNvPr id="24" name="Text 22"/>
          <p:cNvSpPr/>
          <p:nvPr/>
        </p:nvSpPr>
        <p:spPr>
          <a:xfrm>
            <a:off x="4855464" y="3456432"/>
            <a:ext cx="3685032" cy="292608"/>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Answer the affordability question at the moment it gets asked.</a:t>
            </a:r>
            <a:endParaRPr lang="en-US" sz="750" dirty="0"/>
          </a:p>
        </p:txBody>
      </p:sp>
      <p:sp>
        <p:nvSpPr>
          <p:cNvPr id="25" name="Shape 23"/>
          <p:cNvSpPr/>
          <p:nvPr/>
        </p:nvSpPr>
        <p:spPr>
          <a:xfrm>
            <a:off x="457200" y="3986784"/>
            <a:ext cx="8229600" cy="896112"/>
          </a:xfrm>
          <a:prstGeom prst="roundRect">
            <a:avLst>
              <a:gd name="adj" fmla="val 6122"/>
            </a:avLst>
          </a:prstGeom>
          <a:solidFill>
            <a:srgbClr val="DDE5FE"/>
          </a:solidFill>
          <a:ln/>
        </p:spPr>
      </p:sp>
      <p:sp>
        <p:nvSpPr>
          <p:cNvPr id="26" name="Text 24"/>
          <p:cNvSpPr/>
          <p:nvPr/>
        </p:nvSpPr>
        <p:spPr>
          <a:xfrm>
            <a:off x="621792" y="4105656"/>
            <a:ext cx="7900416" cy="182880"/>
          </a:xfrm>
          <a:prstGeom prst="rect">
            <a:avLst/>
          </a:prstGeom>
          <a:noFill/>
          <a:ln/>
        </p:spPr>
        <p:txBody>
          <a:bodyPr wrap="square" lIns="0" tIns="0" rIns="0" bIns="0" rtlCol="0" anchor="t"/>
          <a:lstStyle/>
          <a:p>
            <a:pPr indent="0" marL="0">
              <a:buNone/>
            </a:pPr>
            <a:r>
              <a:rPr lang="en-US" sz="900" b="1" dirty="0">
                <a:solidFill>
                  <a:srgbClr val="3056C9"/>
                </a:solidFill>
                <a:latin typeface="Inter Tight" pitchFamily="34" charset="0"/>
                <a:ea typeface="Inter Tight" pitchFamily="34" charset="-122"/>
                <a:cs typeface="Inter Tight" pitchFamily="34" charset="-120"/>
              </a:rPr>
              <a:t>One thing to get right before a single ringgit goes live</a:t>
            </a:r>
            <a:endParaRPr lang="en-US" sz="900" dirty="0"/>
          </a:p>
        </p:txBody>
      </p:sp>
      <p:sp>
        <p:nvSpPr>
          <p:cNvPr id="27" name="Text 25"/>
          <p:cNvSpPr/>
          <p:nvPr/>
        </p:nvSpPr>
        <p:spPr>
          <a:xfrm>
            <a:off x="621792" y="4306824"/>
            <a:ext cx="7900416" cy="457200"/>
          </a:xfrm>
          <a:prstGeom prst="rect">
            <a:avLst/>
          </a:prstGeom>
          <a:noFill/>
          <a:ln/>
        </p:spPr>
        <p:txBody>
          <a:bodyPr wrap="square" lIns="0" tIns="0" rIns="0" bIns="0" rtlCol="0" anchor="t"/>
          <a:lstStyle/>
          <a:p>
            <a:pPr indent="0" marL="0">
              <a:buNone/>
            </a:pPr>
            <a:r>
              <a:rPr lang="en-US" sz="800" dirty="0">
                <a:solidFill>
                  <a:srgbClr val="0F0F0F"/>
                </a:solidFill>
                <a:latin typeface="Inter Tight" pitchFamily="34" charset="0"/>
                <a:ea typeface="Inter Tight" pitchFamily="34" charset="-122"/>
                <a:cs typeface="Inter Tight" pitchFamily="34" charset="-120"/>
              </a:rPr>
              <a:t>IJN is the National Heart Institute, so searches for appointments, cardiologists, visiting hours, and job vacancies will land on any loose IJN keyword and burn budget on people who will never enrol. We launch on exact and phrase match with a patient intent negative list in place, and we do not open broad match until the search term report comes back clean.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Google Search: how each group converts and what it says</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Every group points at an appointment form on a dedicated page, not the homepage. The message changes with the search behind the click.</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554480"/>
                <a:gridCol w="1554480"/>
                <a:gridCol w="2560320"/>
                <a:gridCol w="2560320"/>
              </a:tblGrid>
              <a:tr h="274320">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Campaign group</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Destination</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Message direction</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Example line</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r>
              <a:tr h="54864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Brand and defensive</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Admissions page</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Confirm the official route and remove any doubt that this is the real IJNUC.</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IJN University College official admissions. Speak to a counsellor today.</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r>
              <a:tr h="54864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Program terms</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Program page, then the appointment form</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Name the program and the credential in the same breath.</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Diploma in Nursing, taught at the National Heart Institute. MQA accredited and PTPTN eligible.</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r>
              <a:tr h="54864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Category and pathway</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Open day appointment page</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Lead on direct entry, because the default assumption is a matriculation year.</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Go straight from SPM into healthcare. Walk in any weekday, 9am to 4pm.</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r>
              <a:tr h="54864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Funding</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Fees and funding page</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Answer cost first, then invite the conversation in person.</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PTPTN eligible, with fee waivers available. Ask us what you qualify for.</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r>
            </a:tbl>
          </a:graphicData>
        </a:graphic>
      </p:graphicFrame>
      <p:sp>
        <p:nvSpPr>
          <p:cNvPr id="6" name="Shape 3"/>
          <p:cNvSpPr/>
          <p:nvPr/>
        </p:nvSpPr>
        <p:spPr>
          <a:xfrm>
            <a:off x="457200" y="3895344"/>
            <a:ext cx="8229600" cy="310896"/>
          </a:xfrm>
          <a:prstGeom prst="rect">
            <a:avLst/>
          </a:prstGeom>
          <a:solidFill>
            <a:srgbClr val="3056C9"/>
          </a:solidFill>
          <a:ln/>
        </p:spPr>
      </p:sp>
      <p:sp>
        <p:nvSpPr>
          <p:cNvPr id="7" name="Text 4"/>
          <p:cNvSpPr/>
          <p:nvPr/>
        </p:nvSpPr>
        <p:spPr>
          <a:xfrm>
            <a:off x="603504" y="3895344"/>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Conversion setup  |  Appointment form submission on a dedicated landing page  |  Thank you page so Google can count the conversion  |  Call and WhatsApp clicks as secondary conversions</a:t>
            </a:r>
            <a:endParaRPr lang="en-US" sz="800" dirty="0"/>
          </a:p>
        </p:txBody>
      </p:sp>
      <p:sp>
        <p:nvSpPr>
          <p:cNvPr id="8" name="Text 5"/>
          <p:cNvSpPr/>
          <p:nvPr/>
        </p:nvSpPr>
        <p:spPr>
          <a:xfrm>
            <a:off x="457200" y="4334256"/>
            <a:ext cx="8229600" cy="457200"/>
          </a:xfrm>
          <a:prstGeom prst="rect">
            <a:avLst/>
          </a:prstGeom>
          <a:noFill/>
          <a:ln/>
        </p:spPr>
        <p:txBody>
          <a:bodyPr wrap="square" lIns="0" tIns="0" rIns="0" bIns="0" rtlCol="0" anchor="t"/>
          <a:lstStyle/>
          <a:p>
            <a:pPr indent="0" marL="0">
              <a:buNone/>
            </a:pPr>
            <a:r>
              <a:rPr lang="en-US" sz="800" dirty="0">
                <a:solidFill>
                  <a:srgbClr val="0F0F0F"/>
                </a:solidFill>
                <a:latin typeface="Inter Tight" pitchFamily="34" charset="0"/>
                <a:ea typeface="Inter Tight" pitchFamily="34" charset="-122"/>
                <a:cs typeface="Inter Tight" pitchFamily="34" charset="-120"/>
              </a:rPr>
              <a:t>Two things matter in execution. Malay queries get ad copy written in Malay rather than translated from English, and every waiver or fee claim needs your written confirmation before it runs in an ad, since Google holds the advertiser to it.</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Meta: two ways in, and a warmer follow up</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Meta can mirror what already works on TikTok, plus a WhatsApp route that skips the form altogether.</a:t>
            </a:r>
            <a:endParaRPr lang="en-US" sz="850" dirty="0"/>
          </a:p>
        </p:txBody>
      </p:sp>
      <p:sp>
        <p:nvSpPr>
          <p:cNvPr id="5" name="Shape 3"/>
          <p:cNvSpPr/>
          <p:nvPr/>
        </p:nvSpPr>
        <p:spPr>
          <a:xfrm>
            <a:off x="457200" y="1280160"/>
            <a:ext cx="3977640" cy="1097280"/>
          </a:xfrm>
          <a:prstGeom prst="roundRect">
            <a:avLst>
              <a:gd name="adj" fmla="val 5000"/>
            </a:avLst>
          </a:prstGeom>
          <a:solidFill>
            <a:srgbClr val="F2F3F6"/>
          </a:solidFill>
          <a:ln/>
        </p:spPr>
      </p:sp>
      <p:sp>
        <p:nvSpPr>
          <p:cNvPr id="6" name="Shape 4"/>
          <p:cNvSpPr/>
          <p:nvPr/>
        </p:nvSpPr>
        <p:spPr>
          <a:xfrm>
            <a:off x="457200" y="1325880"/>
            <a:ext cx="45720" cy="1005840"/>
          </a:xfrm>
          <a:prstGeom prst="rect">
            <a:avLst/>
          </a:prstGeom>
          <a:solidFill>
            <a:srgbClr val="2ECC9B"/>
          </a:solidFill>
          <a:ln/>
        </p:spPr>
      </p:sp>
      <p:sp>
        <p:nvSpPr>
          <p:cNvPr id="7" name="Text 5"/>
          <p:cNvSpPr/>
          <p:nvPr/>
        </p:nvSpPr>
        <p:spPr>
          <a:xfrm>
            <a:off x="603504" y="1408176"/>
            <a:ext cx="3685032" cy="201168"/>
          </a:xfrm>
          <a:prstGeom prst="rect">
            <a:avLst/>
          </a:prstGeom>
          <a:noFill/>
          <a:ln/>
        </p:spPr>
        <p:txBody>
          <a:bodyPr wrap="square" lIns="0" tIns="0" rIns="0" bIns="0" rtlCol="0" anchor="t"/>
          <a:lstStyle/>
          <a:p>
            <a:pPr indent="0" marL="0">
              <a:buNone/>
            </a:pPr>
            <a:r>
              <a:rPr lang="en-US" sz="950" b="1" dirty="0">
                <a:solidFill>
                  <a:srgbClr val="3056C9"/>
                </a:solidFill>
                <a:latin typeface="Inter Tight" pitchFamily="34" charset="0"/>
                <a:ea typeface="Inter Tight" pitchFamily="34" charset="-122"/>
                <a:cs typeface="Inter Tight" pitchFamily="34" charset="-120"/>
              </a:rPr>
              <a:t>Instant lead form</a:t>
            </a:r>
            <a:endParaRPr lang="en-US" sz="950" dirty="0"/>
          </a:p>
        </p:txBody>
      </p:sp>
      <p:sp>
        <p:nvSpPr>
          <p:cNvPr id="8" name="Text 6"/>
          <p:cNvSpPr/>
          <p:nvPr/>
        </p:nvSpPr>
        <p:spPr>
          <a:xfrm>
            <a:off x="603504" y="1682496"/>
            <a:ext cx="3685032" cy="585216"/>
          </a:xfrm>
          <a:prstGeom prst="rect">
            <a:avLst/>
          </a:prstGeom>
          <a:noFill/>
          <a:ln/>
        </p:spPr>
        <p:txBody>
          <a:bodyPr wrap="square" lIns="0" tIns="0" rIns="0" bIns="0" rtlCol="0" anchor="t"/>
          <a:lstStyle/>
          <a:p>
            <a:pPr indent="0" marL="0">
              <a:buNone/>
            </a:pPr>
            <a:r>
              <a:rPr lang="en-US" sz="800" dirty="0">
                <a:solidFill>
                  <a:srgbClr val="4A4A4A"/>
                </a:solidFill>
                <a:latin typeface="Inter Tight" pitchFamily="34" charset="0"/>
                <a:ea typeface="Inter Tight" pitchFamily="34" charset="-122"/>
                <a:cs typeface="Inter Tight" pitchFamily="34" charset="-120"/>
              </a:rPr>
              <a:t>The same mechanic that produced 527 leads on TikTok. Cheapest volume, and the winning audiences carry across from one platform to the other.</a:t>
            </a:r>
            <a:endParaRPr lang="en-US" sz="800" dirty="0"/>
          </a:p>
        </p:txBody>
      </p:sp>
      <p:sp>
        <p:nvSpPr>
          <p:cNvPr id="9" name="Shape 7"/>
          <p:cNvSpPr/>
          <p:nvPr/>
        </p:nvSpPr>
        <p:spPr>
          <a:xfrm>
            <a:off x="4709160" y="1280160"/>
            <a:ext cx="3977640" cy="1097280"/>
          </a:xfrm>
          <a:prstGeom prst="roundRect">
            <a:avLst>
              <a:gd name="adj" fmla="val 5000"/>
            </a:avLst>
          </a:prstGeom>
          <a:solidFill>
            <a:srgbClr val="F2F3F6"/>
          </a:solidFill>
          <a:ln/>
        </p:spPr>
      </p:sp>
      <p:sp>
        <p:nvSpPr>
          <p:cNvPr id="10" name="Shape 8"/>
          <p:cNvSpPr/>
          <p:nvPr/>
        </p:nvSpPr>
        <p:spPr>
          <a:xfrm>
            <a:off x="4709160" y="1325880"/>
            <a:ext cx="45720" cy="1005840"/>
          </a:xfrm>
          <a:prstGeom prst="rect">
            <a:avLst/>
          </a:prstGeom>
          <a:solidFill>
            <a:srgbClr val="8E6BE6"/>
          </a:solidFill>
          <a:ln/>
        </p:spPr>
      </p:sp>
      <p:sp>
        <p:nvSpPr>
          <p:cNvPr id="11" name="Text 9"/>
          <p:cNvSpPr/>
          <p:nvPr/>
        </p:nvSpPr>
        <p:spPr>
          <a:xfrm>
            <a:off x="4855464" y="1408176"/>
            <a:ext cx="3685032" cy="201168"/>
          </a:xfrm>
          <a:prstGeom prst="rect">
            <a:avLst/>
          </a:prstGeom>
          <a:noFill/>
          <a:ln/>
        </p:spPr>
        <p:txBody>
          <a:bodyPr wrap="square" lIns="0" tIns="0" rIns="0" bIns="0" rtlCol="0" anchor="t"/>
          <a:lstStyle/>
          <a:p>
            <a:pPr indent="0" marL="0">
              <a:buNone/>
            </a:pPr>
            <a:r>
              <a:rPr lang="en-US" sz="950" b="1" dirty="0">
                <a:solidFill>
                  <a:srgbClr val="3056C9"/>
                </a:solidFill>
                <a:latin typeface="Inter Tight" pitchFamily="34" charset="0"/>
                <a:ea typeface="Inter Tight" pitchFamily="34" charset="-122"/>
                <a:cs typeface="Inter Tight" pitchFamily="34" charset="-120"/>
              </a:rPr>
              <a:t>Click to WhatsApp</a:t>
            </a:r>
            <a:endParaRPr lang="en-US" sz="950" dirty="0"/>
          </a:p>
        </p:txBody>
      </p:sp>
      <p:sp>
        <p:nvSpPr>
          <p:cNvPr id="12" name="Text 10"/>
          <p:cNvSpPr/>
          <p:nvPr/>
        </p:nvSpPr>
        <p:spPr>
          <a:xfrm>
            <a:off x="4855464" y="1682496"/>
            <a:ext cx="3685032" cy="585216"/>
          </a:xfrm>
          <a:prstGeom prst="rect">
            <a:avLst/>
          </a:prstGeom>
          <a:noFill/>
          <a:ln/>
        </p:spPr>
        <p:txBody>
          <a:bodyPr wrap="square" lIns="0" tIns="0" rIns="0" bIns="0" rtlCol="0" anchor="t"/>
          <a:lstStyle/>
          <a:p>
            <a:pPr indent="0" marL="0">
              <a:buNone/>
            </a:pPr>
            <a:r>
              <a:rPr lang="en-US" sz="800" dirty="0">
                <a:solidFill>
                  <a:srgbClr val="4A4A4A"/>
                </a:solidFill>
                <a:latin typeface="Inter Tight" pitchFamily="34" charset="0"/>
                <a:ea typeface="Inter Tight" pitchFamily="34" charset="-122"/>
                <a:cs typeface="Inter Tight" pitchFamily="34" charset="-120"/>
              </a:rPr>
              <a:t>The enquirer lands in a WhatsApp thread with your team instead of a form. Nothing is lost between submit and first contact, and parents prefer talking to typing.</a:t>
            </a:r>
            <a:endParaRPr lang="en-US" sz="800" dirty="0"/>
          </a:p>
        </p:txBody>
      </p:sp>
      <p:sp>
        <p:nvSpPr>
          <p:cNvPr id="13" name="Shape 11"/>
          <p:cNvSpPr/>
          <p:nvPr/>
        </p:nvSpPr>
        <p:spPr>
          <a:xfrm>
            <a:off x="457200" y="2542032"/>
            <a:ext cx="1938528" cy="1152144"/>
          </a:xfrm>
          <a:prstGeom prst="roundRect">
            <a:avLst>
              <a:gd name="adj" fmla="val 4762"/>
            </a:avLst>
          </a:prstGeom>
          <a:solidFill>
            <a:srgbClr val="F2F3F6"/>
          </a:solidFill>
          <a:ln/>
        </p:spPr>
      </p:sp>
      <p:sp>
        <p:nvSpPr>
          <p:cNvPr id="14" name="Text 12"/>
          <p:cNvSpPr/>
          <p:nvPr/>
        </p:nvSpPr>
        <p:spPr>
          <a:xfrm>
            <a:off x="585216" y="2660904"/>
            <a:ext cx="1673352" cy="329184"/>
          </a:xfrm>
          <a:prstGeom prst="rect">
            <a:avLst/>
          </a:prstGeom>
          <a:noFill/>
          <a:ln/>
        </p:spPr>
        <p:txBody>
          <a:bodyPr wrap="square" lIns="0" tIns="0" rIns="0" bIns="0" rtlCol="0" anchor="t"/>
          <a:lstStyle/>
          <a:p>
            <a:pPr indent="0" marL="0">
              <a:buNone/>
            </a:pPr>
            <a:r>
              <a:rPr lang="en-US" sz="850" b="1" dirty="0">
                <a:solidFill>
                  <a:srgbClr val="0F0F0F"/>
                </a:solidFill>
                <a:latin typeface="Inter Tight" pitchFamily="34" charset="0"/>
                <a:ea typeface="Inter Tight" pitchFamily="34" charset="-122"/>
                <a:cs typeface="Inter Tight" pitchFamily="34" charset="-120"/>
              </a:rPr>
              <a:t>Broad Klang Valley, 18 to 24</a:t>
            </a:r>
            <a:endParaRPr lang="en-US" sz="850" dirty="0"/>
          </a:p>
        </p:txBody>
      </p:sp>
      <p:sp>
        <p:nvSpPr>
          <p:cNvPr id="15" name="Text 13"/>
          <p:cNvSpPr/>
          <p:nvPr/>
        </p:nvSpPr>
        <p:spPr>
          <a:xfrm>
            <a:off x="585216" y="3017520"/>
            <a:ext cx="1673352" cy="585216"/>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Let Meta find them. Stacking interests limits reach at this budget.</a:t>
            </a:r>
            <a:endParaRPr lang="en-US" sz="750" dirty="0"/>
          </a:p>
        </p:txBody>
      </p:sp>
      <p:sp>
        <p:nvSpPr>
          <p:cNvPr id="16" name="Shape 14"/>
          <p:cNvSpPr/>
          <p:nvPr/>
        </p:nvSpPr>
        <p:spPr>
          <a:xfrm>
            <a:off x="2523744" y="2542032"/>
            <a:ext cx="1938528" cy="1152144"/>
          </a:xfrm>
          <a:prstGeom prst="roundRect">
            <a:avLst>
              <a:gd name="adj" fmla="val 4762"/>
            </a:avLst>
          </a:prstGeom>
          <a:solidFill>
            <a:srgbClr val="F2F3F6"/>
          </a:solidFill>
          <a:ln/>
        </p:spPr>
      </p:sp>
      <p:sp>
        <p:nvSpPr>
          <p:cNvPr id="17" name="Text 15"/>
          <p:cNvSpPr/>
          <p:nvPr/>
        </p:nvSpPr>
        <p:spPr>
          <a:xfrm>
            <a:off x="2651760" y="2660904"/>
            <a:ext cx="1673352" cy="329184"/>
          </a:xfrm>
          <a:prstGeom prst="rect">
            <a:avLst/>
          </a:prstGeom>
          <a:noFill/>
          <a:ln/>
        </p:spPr>
        <p:txBody>
          <a:bodyPr wrap="square" lIns="0" tIns="0" rIns="0" bIns="0" rtlCol="0" anchor="t"/>
          <a:lstStyle/>
          <a:p>
            <a:pPr indent="0" marL="0">
              <a:buNone/>
            </a:pPr>
            <a:r>
              <a:rPr lang="en-US" sz="850" b="1" dirty="0">
                <a:solidFill>
                  <a:srgbClr val="0F0F0F"/>
                </a:solidFill>
                <a:latin typeface="Inter Tight" pitchFamily="34" charset="0"/>
                <a:ea typeface="Inter Tight" pitchFamily="34" charset="-122"/>
                <a:cs typeface="Inter Tight" pitchFamily="34" charset="-120"/>
              </a:rPr>
              <a:t>Parents, 35 to 55</a:t>
            </a:r>
            <a:endParaRPr lang="en-US" sz="850" dirty="0"/>
          </a:p>
        </p:txBody>
      </p:sp>
      <p:sp>
        <p:nvSpPr>
          <p:cNvPr id="18" name="Text 16"/>
          <p:cNvSpPr/>
          <p:nvPr/>
        </p:nvSpPr>
        <p:spPr>
          <a:xfrm>
            <a:off x="2651760" y="3017520"/>
            <a:ext cx="1673352" cy="585216"/>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Klang Valley, layered with education and parent of teenager signals.</a:t>
            </a:r>
            <a:endParaRPr lang="en-US" sz="750" dirty="0"/>
          </a:p>
        </p:txBody>
      </p:sp>
      <p:sp>
        <p:nvSpPr>
          <p:cNvPr id="19" name="Shape 17"/>
          <p:cNvSpPr/>
          <p:nvPr/>
        </p:nvSpPr>
        <p:spPr>
          <a:xfrm>
            <a:off x="4590288" y="2542032"/>
            <a:ext cx="1938528" cy="1152144"/>
          </a:xfrm>
          <a:prstGeom prst="roundRect">
            <a:avLst>
              <a:gd name="adj" fmla="val 4762"/>
            </a:avLst>
          </a:prstGeom>
          <a:solidFill>
            <a:srgbClr val="F2F3F6"/>
          </a:solidFill>
          <a:ln/>
        </p:spPr>
      </p:sp>
      <p:sp>
        <p:nvSpPr>
          <p:cNvPr id="20" name="Text 18"/>
          <p:cNvSpPr/>
          <p:nvPr/>
        </p:nvSpPr>
        <p:spPr>
          <a:xfrm>
            <a:off x="4718304" y="2660904"/>
            <a:ext cx="1673352" cy="329184"/>
          </a:xfrm>
          <a:prstGeom prst="rect">
            <a:avLst/>
          </a:prstGeom>
          <a:noFill/>
          <a:ln/>
        </p:spPr>
        <p:txBody>
          <a:bodyPr wrap="square" lIns="0" tIns="0" rIns="0" bIns="0" rtlCol="0" anchor="t"/>
          <a:lstStyle/>
          <a:p>
            <a:pPr indent="0" marL="0">
              <a:buNone/>
            </a:pPr>
            <a:r>
              <a:rPr lang="en-US" sz="850" b="1" dirty="0">
                <a:solidFill>
                  <a:srgbClr val="0F0F0F"/>
                </a:solidFill>
                <a:latin typeface="Inter Tight" pitchFamily="34" charset="0"/>
                <a:ea typeface="Inter Tight" pitchFamily="34" charset="-122"/>
                <a:cs typeface="Inter Tight" pitchFamily="34" charset="-120"/>
              </a:rPr>
              <a:t>Lookalikes</a:t>
            </a:r>
            <a:endParaRPr lang="en-US" sz="850" dirty="0"/>
          </a:p>
        </p:txBody>
      </p:sp>
      <p:sp>
        <p:nvSpPr>
          <p:cNvPr id="21" name="Text 19"/>
          <p:cNvSpPr/>
          <p:nvPr/>
        </p:nvSpPr>
        <p:spPr>
          <a:xfrm>
            <a:off x="4718304" y="3017520"/>
            <a:ext cx="1673352" cy="585216"/>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Built from your TikTok lead list, uploaded as a customer list.</a:t>
            </a:r>
            <a:endParaRPr lang="en-US" sz="750" dirty="0"/>
          </a:p>
        </p:txBody>
      </p:sp>
      <p:sp>
        <p:nvSpPr>
          <p:cNvPr id="22" name="Shape 20"/>
          <p:cNvSpPr/>
          <p:nvPr/>
        </p:nvSpPr>
        <p:spPr>
          <a:xfrm>
            <a:off x="6656832" y="2542032"/>
            <a:ext cx="1938528" cy="1152144"/>
          </a:xfrm>
          <a:prstGeom prst="roundRect">
            <a:avLst>
              <a:gd name="adj" fmla="val 4762"/>
            </a:avLst>
          </a:prstGeom>
          <a:solidFill>
            <a:srgbClr val="F2F3F6"/>
          </a:solidFill>
          <a:ln/>
        </p:spPr>
      </p:sp>
      <p:sp>
        <p:nvSpPr>
          <p:cNvPr id="23" name="Text 21"/>
          <p:cNvSpPr/>
          <p:nvPr/>
        </p:nvSpPr>
        <p:spPr>
          <a:xfrm>
            <a:off x="6784848" y="2660904"/>
            <a:ext cx="1673352" cy="329184"/>
          </a:xfrm>
          <a:prstGeom prst="rect">
            <a:avLst/>
          </a:prstGeom>
          <a:noFill/>
          <a:ln/>
        </p:spPr>
        <p:txBody>
          <a:bodyPr wrap="square" lIns="0" tIns="0" rIns="0" bIns="0" rtlCol="0" anchor="t"/>
          <a:lstStyle/>
          <a:p>
            <a:pPr indent="0" marL="0">
              <a:buNone/>
            </a:pPr>
            <a:r>
              <a:rPr lang="en-US" sz="850" b="1" dirty="0">
                <a:solidFill>
                  <a:srgbClr val="0F0F0F"/>
                </a:solidFill>
                <a:latin typeface="Inter Tight" pitchFamily="34" charset="0"/>
                <a:ea typeface="Inter Tight" pitchFamily="34" charset="-122"/>
                <a:cs typeface="Inter Tight" pitchFamily="34" charset="-120"/>
              </a:rPr>
              <a:t>Retargeting</a:t>
            </a:r>
            <a:endParaRPr lang="en-US" sz="850" dirty="0"/>
          </a:p>
        </p:txBody>
      </p:sp>
      <p:sp>
        <p:nvSpPr>
          <p:cNvPr id="24" name="Text 22"/>
          <p:cNvSpPr/>
          <p:nvPr/>
        </p:nvSpPr>
        <p:spPr>
          <a:xfrm>
            <a:off x="6784848" y="3017520"/>
            <a:ext cx="1673352" cy="585216"/>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Video viewers, page and profile engagers, form openers who did not submit, and site visitors.</a:t>
            </a:r>
            <a:endParaRPr lang="en-US" sz="750" dirty="0"/>
          </a:p>
        </p:txBody>
      </p:sp>
      <p:sp>
        <p:nvSpPr>
          <p:cNvPr id="25" name="Shape 23"/>
          <p:cNvSpPr/>
          <p:nvPr/>
        </p:nvSpPr>
        <p:spPr>
          <a:xfrm>
            <a:off x="457200" y="3858768"/>
            <a:ext cx="8229600" cy="310896"/>
          </a:xfrm>
          <a:prstGeom prst="rect">
            <a:avLst/>
          </a:prstGeom>
          <a:solidFill>
            <a:srgbClr val="3056C9"/>
          </a:solidFill>
          <a:ln/>
        </p:spPr>
      </p:sp>
      <p:sp>
        <p:nvSpPr>
          <p:cNvPr id="26" name="Text 24"/>
          <p:cNvSpPr/>
          <p:nvPr/>
        </p:nvSpPr>
        <p:spPr>
          <a:xfrm>
            <a:off x="603504" y="3858768"/>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Meta pixel and the Conversions API go in from day one, so walk-ins and enrolments can train delivery instead of form fills.</a:t>
            </a:r>
            <a:endParaRPr lang="en-US" sz="800" dirty="0"/>
          </a:p>
        </p:txBody>
      </p:sp>
      <p:sp>
        <p:nvSpPr>
          <p:cNvPr id="27" name="Text 25"/>
          <p:cNvSpPr/>
          <p:nvPr/>
        </p:nvSpPr>
        <p:spPr>
          <a:xfrm>
            <a:off x="457200" y="4261104"/>
            <a:ext cx="8229600" cy="274320"/>
          </a:xfrm>
          <a:prstGeom prst="rect">
            <a:avLst/>
          </a:prstGeom>
          <a:noFill/>
          <a:ln/>
        </p:spPr>
        <p:txBody>
          <a:bodyPr wrap="square" lIns="0" tIns="0" rIns="0" bIns="0" rtlCol="0" anchor="t"/>
          <a:lstStyle/>
          <a:p>
            <a:pPr indent="0" marL="0">
              <a:buNone/>
            </a:pPr>
            <a:r>
              <a:rPr lang="en-US" sz="800" dirty="0">
                <a:solidFill>
                  <a:srgbClr val="0F0F0F"/>
                </a:solidFill>
                <a:latin typeface="Inter Tight" pitchFamily="34" charset="0"/>
                <a:ea typeface="Inter Tight" pitchFamily="34" charset="-122"/>
                <a:cs typeface="Inter Tight" pitchFamily="34" charset="-120"/>
              </a:rPr>
              <a:t>Creative comes from the same library as TikTok. The vertical videos run as reels, with a program carousel and one student testimonial added for the feed.</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Meta: what each audience sees</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Four audiences, four different reasons to act. The example lines are directions for the copywriter rather than final ads.</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417320"/>
                <a:gridCol w="1188720"/>
                <a:gridCol w="2788920"/>
                <a:gridCol w="2834640"/>
              </a:tblGrid>
              <a:tr h="274320">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Audience</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Method</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Message direction</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Example line</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r>
              <a:tr h="54864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SPM leavers, 18 to 24</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Instant form</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Remove the assumption that matriculation is the only route after SPM.</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Lepas SPM tak semestinya matrik. Boleh terus masuk diploma.</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r>
              <a:tr h="54864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Parents, 35 to 55</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Click to WhatsApp</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Answer cost and credibility together, then offer a real person to ask.</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Yuran dan PTPTN, tanya terus di open day. Tak perlu buat temujanji.</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r>
              <a:tr h="54864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Final year STPM</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Instant form</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Use the intake date, which is the only deadline this group responds to.</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Intake closing soon. Walk in this week and get an answer the same day.</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r>
              <a:tr h="54864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Retargeting</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Click to WhatsApp</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Assume they already know who you are and ask for the visit.</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Still deciding? The open day runs every weekday, 9am to 4pm.</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r>
            </a:tbl>
          </a:graphicData>
        </a:graphic>
      </p:graphicFrame>
      <p:sp>
        <p:nvSpPr>
          <p:cNvPr id="6" name="Shape 3"/>
          <p:cNvSpPr/>
          <p:nvPr/>
        </p:nvSpPr>
        <p:spPr>
          <a:xfrm>
            <a:off x="457200" y="3895344"/>
            <a:ext cx="8229600" cy="969264"/>
          </a:xfrm>
          <a:prstGeom prst="roundRect">
            <a:avLst>
              <a:gd name="adj" fmla="val 5660"/>
            </a:avLst>
          </a:prstGeom>
          <a:solidFill>
            <a:srgbClr val="DDE5FE"/>
          </a:solidFill>
          <a:ln/>
        </p:spPr>
      </p:sp>
      <p:sp>
        <p:nvSpPr>
          <p:cNvPr id="7" name="Text 4"/>
          <p:cNvSpPr/>
          <p:nvPr/>
        </p:nvSpPr>
        <p:spPr>
          <a:xfrm>
            <a:off x="621792" y="4014216"/>
            <a:ext cx="7900416" cy="182880"/>
          </a:xfrm>
          <a:prstGeom prst="rect">
            <a:avLst/>
          </a:prstGeom>
          <a:noFill/>
          <a:ln/>
        </p:spPr>
        <p:txBody>
          <a:bodyPr wrap="square" lIns="0" tIns="0" rIns="0" bIns="0" rtlCol="0" anchor="t"/>
          <a:lstStyle/>
          <a:p>
            <a:pPr indent="0" marL="0">
              <a:buNone/>
            </a:pPr>
            <a:r>
              <a:rPr lang="en-US" sz="900" b="1" dirty="0">
                <a:solidFill>
                  <a:srgbClr val="3056C9"/>
                </a:solidFill>
                <a:latin typeface="Inter Tight" pitchFamily="34" charset="0"/>
                <a:ea typeface="Inter Tight" pitchFamily="34" charset="-122"/>
                <a:cs typeface="Inter Tight" pitchFamily="34" charset="-120"/>
              </a:rPr>
              <a:t>What we would test first</a:t>
            </a:r>
            <a:endParaRPr lang="en-US" sz="900" dirty="0"/>
          </a:p>
        </p:txBody>
      </p:sp>
      <p:sp>
        <p:nvSpPr>
          <p:cNvPr id="8" name="Text 5"/>
          <p:cNvSpPr/>
          <p:nvPr/>
        </p:nvSpPr>
        <p:spPr>
          <a:xfrm>
            <a:off x="621792" y="4215384"/>
            <a:ext cx="7900416" cy="530352"/>
          </a:xfrm>
          <a:prstGeom prst="rect">
            <a:avLst/>
          </a:prstGeom>
          <a:noFill/>
          <a:ln/>
        </p:spPr>
        <p:txBody>
          <a:bodyPr wrap="square" lIns="0" tIns="0" rIns="0" bIns="0" rtlCol="0" anchor="t"/>
          <a:lstStyle/>
          <a:p>
            <a:pPr indent="0" marL="0">
              <a:buNone/>
            </a:pPr>
            <a:r>
              <a:rPr lang="en-US" sz="800" dirty="0">
                <a:solidFill>
                  <a:srgbClr val="0F0F0F"/>
                </a:solidFill>
                <a:latin typeface="Inter Tight" pitchFamily="34" charset="0"/>
                <a:ea typeface="Inter Tight" pitchFamily="34" charset="-122"/>
                <a:cs typeface="Inter Tight" pitchFamily="34" charset="-120"/>
              </a:rPr>
              <a:t>The offers already on your open day poster have never appeared in an ad we have run. The Foundation tuition fee waiver, the RM 3,000 undergraduate waiver, and the RM 250 per A are the strongest things you have to say to a parent, and they are sitting unused.</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Budget option 1: RM 15,000 a month</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TikTok holds 47% of the budget so its spend never drops below what runs today. Conversions take half of the TikTok and Meta budgets, and 70% of Search.</a:t>
            </a:r>
            <a:endParaRPr lang="en-US" sz="850" dirty="0"/>
          </a:p>
        </p:txBody>
      </p:sp>
      <p:sp>
        <p:nvSpPr>
          <p:cNvPr id="5" name="Shape 3"/>
          <p:cNvSpPr/>
          <p:nvPr/>
        </p:nvSpPr>
        <p:spPr>
          <a:xfrm>
            <a:off x="457200" y="1280160"/>
            <a:ext cx="2657856" cy="1051560"/>
          </a:xfrm>
          <a:prstGeom prst="roundRect">
            <a:avLst>
              <a:gd name="adj" fmla="val 5217"/>
            </a:avLst>
          </a:prstGeom>
          <a:solidFill>
            <a:srgbClr val="F2F3F6"/>
          </a:solidFill>
          <a:ln/>
        </p:spPr>
      </p:sp>
      <p:sp>
        <p:nvSpPr>
          <p:cNvPr id="6" name="Shape 4"/>
          <p:cNvSpPr/>
          <p:nvPr/>
        </p:nvSpPr>
        <p:spPr>
          <a:xfrm>
            <a:off x="457200" y="1280160"/>
            <a:ext cx="2657856" cy="54864"/>
          </a:xfrm>
          <a:prstGeom prst="rect">
            <a:avLst/>
          </a:prstGeom>
          <a:solidFill>
            <a:srgbClr val="4A7BF7"/>
          </a:solidFill>
          <a:ln/>
        </p:spPr>
      </p:sp>
      <p:sp>
        <p:nvSpPr>
          <p:cNvPr id="7" name="Text 5"/>
          <p:cNvSpPr/>
          <p:nvPr/>
        </p:nvSpPr>
        <p:spPr>
          <a:xfrm>
            <a:off x="585216" y="1389888"/>
            <a:ext cx="2401824" cy="310896"/>
          </a:xfrm>
          <a:prstGeom prst="rect">
            <a:avLst/>
          </a:prstGeom>
          <a:noFill/>
          <a:ln/>
        </p:spPr>
        <p:txBody>
          <a:bodyPr wrap="none" lIns="0" tIns="0" rIns="0" bIns="0" rtlCol="0" anchor="t"/>
          <a:lstStyle/>
          <a:p>
            <a:pPr indent="0" marL="0">
              <a:buNone/>
            </a:pPr>
            <a:r>
              <a:rPr lang="en-US" sz="1700" b="1" dirty="0">
                <a:solidFill>
                  <a:srgbClr val="0F0F0F"/>
                </a:solidFill>
                <a:latin typeface="Inter Tight" pitchFamily="34" charset="0"/>
                <a:ea typeface="Inter Tight" pitchFamily="34" charset="-122"/>
                <a:cs typeface="Inter Tight" pitchFamily="34" charset="-120"/>
              </a:rPr>
              <a:t>RM 15,000</a:t>
            </a:r>
            <a:endParaRPr lang="en-US" sz="1700" dirty="0"/>
          </a:p>
        </p:txBody>
      </p:sp>
      <p:sp>
        <p:nvSpPr>
          <p:cNvPr id="8" name="Text 6"/>
          <p:cNvSpPr/>
          <p:nvPr/>
        </p:nvSpPr>
        <p:spPr>
          <a:xfrm>
            <a:off x="585216" y="1709928"/>
            <a:ext cx="2401824"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Monthly media spend</a:t>
            </a:r>
            <a:endParaRPr lang="en-US" sz="800" dirty="0"/>
          </a:p>
        </p:txBody>
      </p:sp>
      <p:sp>
        <p:nvSpPr>
          <p:cNvPr id="9" name="Text 7"/>
          <p:cNvSpPr/>
          <p:nvPr/>
        </p:nvSpPr>
        <p:spPr>
          <a:xfrm>
            <a:off x="585216" y="1883664"/>
            <a:ext cx="2401824" cy="37490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Toggle management fee sits outside this figure</a:t>
            </a:r>
            <a:endParaRPr lang="en-US" sz="750" dirty="0"/>
          </a:p>
        </p:txBody>
      </p:sp>
      <p:sp>
        <p:nvSpPr>
          <p:cNvPr id="10" name="Shape 8"/>
          <p:cNvSpPr/>
          <p:nvPr/>
        </p:nvSpPr>
        <p:spPr>
          <a:xfrm>
            <a:off x="3243072" y="1280160"/>
            <a:ext cx="2657856" cy="1051560"/>
          </a:xfrm>
          <a:prstGeom prst="roundRect">
            <a:avLst>
              <a:gd name="adj" fmla="val 5217"/>
            </a:avLst>
          </a:prstGeom>
          <a:solidFill>
            <a:srgbClr val="F2F3F6"/>
          </a:solidFill>
          <a:ln/>
        </p:spPr>
      </p:sp>
      <p:sp>
        <p:nvSpPr>
          <p:cNvPr id="11" name="Shape 9"/>
          <p:cNvSpPr/>
          <p:nvPr/>
        </p:nvSpPr>
        <p:spPr>
          <a:xfrm>
            <a:off x="3243072" y="1280160"/>
            <a:ext cx="2657856" cy="54864"/>
          </a:xfrm>
          <a:prstGeom prst="rect">
            <a:avLst/>
          </a:prstGeom>
          <a:solidFill>
            <a:srgbClr val="2ECC9B"/>
          </a:solidFill>
          <a:ln/>
        </p:spPr>
      </p:sp>
      <p:sp>
        <p:nvSpPr>
          <p:cNvPr id="12" name="Text 10"/>
          <p:cNvSpPr/>
          <p:nvPr/>
        </p:nvSpPr>
        <p:spPr>
          <a:xfrm>
            <a:off x="3371088" y="1389888"/>
            <a:ext cx="2401824" cy="310896"/>
          </a:xfrm>
          <a:prstGeom prst="rect">
            <a:avLst/>
          </a:prstGeom>
          <a:noFill/>
          <a:ln/>
        </p:spPr>
        <p:txBody>
          <a:bodyPr wrap="none" lIns="0" tIns="0" rIns="0" bIns="0" rtlCol="0" anchor="t"/>
          <a:lstStyle/>
          <a:p>
            <a:pPr indent="0" marL="0">
              <a:buNone/>
            </a:pPr>
            <a:r>
              <a:rPr lang="en-US" sz="1700" b="1" dirty="0">
                <a:solidFill>
                  <a:srgbClr val="0F0F0F"/>
                </a:solidFill>
                <a:latin typeface="Inter Tight" pitchFamily="34" charset="0"/>
                <a:ea typeface="Inter Tight" pitchFamily="34" charset="-122"/>
                <a:cs typeface="Inter Tight" pitchFamily="34" charset="-120"/>
              </a:rPr>
              <a:t>301 to 326</a:t>
            </a:r>
            <a:endParaRPr lang="en-US" sz="1700" dirty="0"/>
          </a:p>
        </p:txBody>
      </p:sp>
      <p:sp>
        <p:nvSpPr>
          <p:cNvPr id="13" name="Text 11"/>
          <p:cNvSpPr/>
          <p:nvPr/>
        </p:nvSpPr>
        <p:spPr>
          <a:xfrm>
            <a:off x="3371088" y="1709928"/>
            <a:ext cx="2401824"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Forecast leads a month</a:t>
            </a:r>
            <a:endParaRPr lang="en-US" sz="800" dirty="0"/>
          </a:p>
        </p:txBody>
      </p:sp>
      <p:sp>
        <p:nvSpPr>
          <p:cNvPr id="14" name="Text 12"/>
          <p:cNvSpPr/>
          <p:nvPr/>
        </p:nvSpPr>
        <p:spPr>
          <a:xfrm>
            <a:off x="3371088" y="1883664"/>
            <a:ext cx="2401824" cy="37490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At the cost per lead on the forecast slides</a:t>
            </a:r>
            <a:endParaRPr lang="en-US" sz="750" dirty="0"/>
          </a:p>
        </p:txBody>
      </p:sp>
      <p:sp>
        <p:nvSpPr>
          <p:cNvPr id="15" name="Shape 13"/>
          <p:cNvSpPr/>
          <p:nvPr/>
        </p:nvSpPr>
        <p:spPr>
          <a:xfrm>
            <a:off x="6028944" y="1280160"/>
            <a:ext cx="2657856" cy="1051560"/>
          </a:xfrm>
          <a:prstGeom prst="roundRect">
            <a:avLst>
              <a:gd name="adj" fmla="val 5217"/>
            </a:avLst>
          </a:prstGeom>
          <a:solidFill>
            <a:srgbClr val="F2F3F6"/>
          </a:solidFill>
          <a:ln/>
        </p:spPr>
      </p:sp>
      <p:sp>
        <p:nvSpPr>
          <p:cNvPr id="16" name="Shape 14"/>
          <p:cNvSpPr/>
          <p:nvPr/>
        </p:nvSpPr>
        <p:spPr>
          <a:xfrm>
            <a:off x="6028944" y="1280160"/>
            <a:ext cx="2657856" cy="54864"/>
          </a:xfrm>
          <a:prstGeom prst="rect">
            <a:avLst/>
          </a:prstGeom>
          <a:solidFill>
            <a:srgbClr val="8E6BE6"/>
          </a:solidFill>
          <a:ln/>
        </p:spPr>
      </p:sp>
      <p:sp>
        <p:nvSpPr>
          <p:cNvPr id="17" name="Text 15"/>
          <p:cNvSpPr/>
          <p:nvPr/>
        </p:nvSpPr>
        <p:spPr>
          <a:xfrm>
            <a:off x="6156960" y="1389888"/>
            <a:ext cx="2401824" cy="310896"/>
          </a:xfrm>
          <a:prstGeom prst="rect">
            <a:avLst/>
          </a:prstGeom>
          <a:noFill/>
          <a:ln/>
        </p:spPr>
        <p:txBody>
          <a:bodyPr wrap="none" lIns="0" tIns="0" rIns="0" bIns="0" rtlCol="0" anchor="t"/>
          <a:lstStyle/>
          <a:p>
            <a:pPr indent="0" marL="0">
              <a:buNone/>
            </a:pPr>
            <a:r>
              <a:rPr lang="en-US" sz="1700" b="1" dirty="0">
                <a:solidFill>
                  <a:srgbClr val="4A7BF7"/>
                </a:solidFill>
                <a:latin typeface="Inter Tight" pitchFamily="34" charset="0"/>
                <a:ea typeface="Inter Tight" pitchFamily="34" charset="-122"/>
                <a:cs typeface="Inter Tight" pitchFamily="34" charset="-120"/>
              </a:rPr>
              <a:t>62 to 100</a:t>
            </a:r>
            <a:endParaRPr lang="en-US" sz="1700" dirty="0"/>
          </a:p>
        </p:txBody>
      </p:sp>
      <p:sp>
        <p:nvSpPr>
          <p:cNvPr id="18" name="Text 16"/>
          <p:cNvSpPr/>
          <p:nvPr/>
        </p:nvSpPr>
        <p:spPr>
          <a:xfrm>
            <a:off x="6156960" y="1709928"/>
            <a:ext cx="2401824"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Forecast qualified leads</a:t>
            </a:r>
            <a:endParaRPr lang="en-US" sz="800" dirty="0"/>
          </a:p>
        </p:txBody>
      </p:sp>
      <p:sp>
        <p:nvSpPr>
          <p:cNvPr id="19" name="Text 17"/>
          <p:cNvSpPr/>
          <p:nvPr/>
        </p:nvSpPr>
        <p:spPr>
          <a:xfrm>
            <a:off x="6156960" y="1883664"/>
            <a:ext cx="2401824" cy="37490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RM 150 to RM 242 each</a:t>
            </a:r>
            <a:endParaRPr lang="en-US" sz="7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2450592"/>
          <a:ext cx="8229600" cy="914400"/>
        </p:xfrm>
        <a:graphic>
          <a:graphicData uri="http://schemas.openxmlformats.org/drawingml/2006/table">
            <a:tbl>
              <a:tblPr/>
              <a:tblGrid>
                <a:gridCol w="1600200"/>
                <a:gridCol w="731520"/>
                <a:gridCol w="1234440"/>
                <a:gridCol w="1600200"/>
                <a:gridCol w="1508760"/>
                <a:gridCol w="1554480"/>
              </a:tblGrid>
              <a:tr h="256032">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Platform</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Share</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Monthly</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Conversions</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Traffic</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Awareness</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r>
              <a:tr h="27432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TikTok</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47%</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7,050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3,525</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2,115</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1,410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r>
              <a:tr h="27432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Meta</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33%</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4,950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2,475</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1,485</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990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r>
              <a:tr h="27432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Google Search</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20%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3,000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2,100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900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None on Search</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r>
              <a:tr h="27432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Total</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100%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15,000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8,100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4,500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2,400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r>
            </a:tbl>
          </a:graphicData>
        </a:graphic>
      </p:graphicFrame>
      <p:sp>
        <p:nvSpPr>
          <p:cNvPr id="21" name="Shape 18"/>
          <p:cNvSpPr/>
          <p:nvPr/>
        </p:nvSpPr>
        <p:spPr>
          <a:xfrm>
            <a:off x="457200" y="3950208"/>
            <a:ext cx="8229600" cy="310896"/>
          </a:xfrm>
          <a:prstGeom prst="rect">
            <a:avLst/>
          </a:prstGeom>
          <a:solidFill>
            <a:srgbClr val="3056C9"/>
          </a:solidFill>
          <a:ln/>
        </p:spPr>
      </p:sp>
      <p:sp>
        <p:nvSpPr>
          <p:cNvPr id="22" name="Text 19"/>
          <p:cNvSpPr/>
          <p:nvPr/>
        </p:nvSpPr>
        <p:spPr>
          <a:xfrm>
            <a:off x="603504" y="3950208"/>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Blended across the account: 54% conversions, 30% traffic, 16% awareness</a:t>
            </a:r>
            <a:endParaRPr lang="en-US" sz="800" dirty="0"/>
          </a:p>
        </p:txBody>
      </p:sp>
      <p:sp>
        <p:nvSpPr>
          <p:cNvPr id="23" name="Text 20"/>
          <p:cNvSpPr/>
          <p:nvPr/>
        </p:nvSpPr>
        <p:spPr>
          <a:xfrm>
            <a:off x="457200" y="4389120"/>
            <a:ext cx="8229600" cy="402336"/>
          </a:xfrm>
          <a:prstGeom prst="rect">
            <a:avLst/>
          </a:prstGeom>
          <a:noFill/>
          <a:ln/>
        </p:spPr>
        <p:txBody>
          <a:bodyPr wrap="square" lIns="0" tIns="0" rIns="0" bIns="0" rtlCol="0" anchor="t"/>
          <a:lstStyle/>
          <a:p>
            <a:pPr indent="0" marL="0">
              <a:buNone/>
            </a:pPr>
            <a:r>
              <a:rPr lang="en-US" sz="800" dirty="0">
                <a:solidFill>
                  <a:srgbClr val="0F0F0F"/>
                </a:solidFill>
                <a:latin typeface="Inter Tight" pitchFamily="34" charset="0"/>
                <a:ea typeface="Inter Tight" pitchFamily="34" charset="-122"/>
                <a:cs typeface="Inter Tight" pitchFamily="34" charset="-120"/>
              </a:rPr>
              <a:t>Google Search sells no awareness inventory, so the 20% that would sit there moves into leads and traffic at a 70 / 30 split. Every column sums to the option total.</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Budget option 2: RM 20,000 a month</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TikTok holds 47% of the budget so its spend never drops below what runs today. Conversions take half of the TikTok and Meta budgets, and 70% of Search.</a:t>
            </a:r>
            <a:endParaRPr lang="en-US" sz="850" dirty="0"/>
          </a:p>
        </p:txBody>
      </p:sp>
      <p:sp>
        <p:nvSpPr>
          <p:cNvPr id="5" name="Shape 3"/>
          <p:cNvSpPr/>
          <p:nvPr/>
        </p:nvSpPr>
        <p:spPr>
          <a:xfrm>
            <a:off x="457200" y="1280160"/>
            <a:ext cx="2657856" cy="1051560"/>
          </a:xfrm>
          <a:prstGeom prst="roundRect">
            <a:avLst>
              <a:gd name="adj" fmla="val 5217"/>
            </a:avLst>
          </a:prstGeom>
          <a:solidFill>
            <a:srgbClr val="F2F3F6"/>
          </a:solidFill>
          <a:ln/>
        </p:spPr>
      </p:sp>
      <p:sp>
        <p:nvSpPr>
          <p:cNvPr id="6" name="Shape 4"/>
          <p:cNvSpPr/>
          <p:nvPr/>
        </p:nvSpPr>
        <p:spPr>
          <a:xfrm>
            <a:off x="457200" y="1280160"/>
            <a:ext cx="2657856" cy="54864"/>
          </a:xfrm>
          <a:prstGeom prst="rect">
            <a:avLst/>
          </a:prstGeom>
          <a:solidFill>
            <a:srgbClr val="4A7BF7"/>
          </a:solidFill>
          <a:ln/>
        </p:spPr>
      </p:sp>
      <p:sp>
        <p:nvSpPr>
          <p:cNvPr id="7" name="Text 5"/>
          <p:cNvSpPr/>
          <p:nvPr/>
        </p:nvSpPr>
        <p:spPr>
          <a:xfrm>
            <a:off x="585216" y="1389888"/>
            <a:ext cx="2401824" cy="310896"/>
          </a:xfrm>
          <a:prstGeom prst="rect">
            <a:avLst/>
          </a:prstGeom>
          <a:noFill/>
          <a:ln/>
        </p:spPr>
        <p:txBody>
          <a:bodyPr wrap="none" lIns="0" tIns="0" rIns="0" bIns="0" rtlCol="0" anchor="t"/>
          <a:lstStyle/>
          <a:p>
            <a:pPr indent="0" marL="0">
              <a:buNone/>
            </a:pPr>
            <a:r>
              <a:rPr lang="en-US" sz="1700" b="1" dirty="0">
                <a:solidFill>
                  <a:srgbClr val="0F0F0F"/>
                </a:solidFill>
                <a:latin typeface="Inter Tight" pitchFamily="34" charset="0"/>
                <a:ea typeface="Inter Tight" pitchFamily="34" charset="-122"/>
                <a:cs typeface="Inter Tight" pitchFamily="34" charset="-120"/>
              </a:rPr>
              <a:t>RM 20,000</a:t>
            </a:r>
            <a:endParaRPr lang="en-US" sz="1700" dirty="0"/>
          </a:p>
        </p:txBody>
      </p:sp>
      <p:sp>
        <p:nvSpPr>
          <p:cNvPr id="8" name="Text 6"/>
          <p:cNvSpPr/>
          <p:nvPr/>
        </p:nvSpPr>
        <p:spPr>
          <a:xfrm>
            <a:off x="585216" y="1709928"/>
            <a:ext cx="2401824"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Monthly media spend</a:t>
            </a:r>
            <a:endParaRPr lang="en-US" sz="800" dirty="0"/>
          </a:p>
        </p:txBody>
      </p:sp>
      <p:sp>
        <p:nvSpPr>
          <p:cNvPr id="9" name="Text 7"/>
          <p:cNvSpPr/>
          <p:nvPr/>
        </p:nvSpPr>
        <p:spPr>
          <a:xfrm>
            <a:off x="585216" y="1883664"/>
            <a:ext cx="2401824" cy="37490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Toggle management fee sits outside this figure</a:t>
            </a:r>
            <a:endParaRPr lang="en-US" sz="750" dirty="0"/>
          </a:p>
        </p:txBody>
      </p:sp>
      <p:sp>
        <p:nvSpPr>
          <p:cNvPr id="10" name="Shape 8"/>
          <p:cNvSpPr/>
          <p:nvPr/>
        </p:nvSpPr>
        <p:spPr>
          <a:xfrm>
            <a:off x="3243072" y="1280160"/>
            <a:ext cx="2657856" cy="1051560"/>
          </a:xfrm>
          <a:prstGeom prst="roundRect">
            <a:avLst>
              <a:gd name="adj" fmla="val 5217"/>
            </a:avLst>
          </a:prstGeom>
          <a:solidFill>
            <a:srgbClr val="F2F3F6"/>
          </a:solidFill>
          <a:ln/>
        </p:spPr>
      </p:sp>
      <p:sp>
        <p:nvSpPr>
          <p:cNvPr id="11" name="Shape 9"/>
          <p:cNvSpPr/>
          <p:nvPr/>
        </p:nvSpPr>
        <p:spPr>
          <a:xfrm>
            <a:off x="3243072" y="1280160"/>
            <a:ext cx="2657856" cy="54864"/>
          </a:xfrm>
          <a:prstGeom prst="rect">
            <a:avLst/>
          </a:prstGeom>
          <a:solidFill>
            <a:srgbClr val="2ECC9B"/>
          </a:solidFill>
          <a:ln/>
        </p:spPr>
      </p:sp>
      <p:sp>
        <p:nvSpPr>
          <p:cNvPr id="12" name="Text 10"/>
          <p:cNvSpPr/>
          <p:nvPr/>
        </p:nvSpPr>
        <p:spPr>
          <a:xfrm>
            <a:off x="3371088" y="1389888"/>
            <a:ext cx="2401824" cy="310896"/>
          </a:xfrm>
          <a:prstGeom prst="rect">
            <a:avLst/>
          </a:prstGeom>
          <a:noFill/>
          <a:ln/>
        </p:spPr>
        <p:txBody>
          <a:bodyPr wrap="none" lIns="0" tIns="0" rIns="0" bIns="0" rtlCol="0" anchor="t"/>
          <a:lstStyle/>
          <a:p>
            <a:pPr indent="0" marL="0">
              <a:buNone/>
            </a:pPr>
            <a:r>
              <a:rPr lang="en-US" sz="1700" b="1" dirty="0">
                <a:solidFill>
                  <a:srgbClr val="0F0F0F"/>
                </a:solidFill>
                <a:latin typeface="Inter Tight" pitchFamily="34" charset="0"/>
                <a:ea typeface="Inter Tight" pitchFamily="34" charset="-122"/>
                <a:cs typeface="Inter Tight" pitchFamily="34" charset="-120"/>
              </a:rPr>
              <a:t>402 to 436</a:t>
            </a:r>
            <a:endParaRPr lang="en-US" sz="1700" dirty="0"/>
          </a:p>
        </p:txBody>
      </p:sp>
      <p:sp>
        <p:nvSpPr>
          <p:cNvPr id="13" name="Text 11"/>
          <p:cNvSpPr/>
          <p:nvPr/>
        </p:nvSpPr>
        <p:spPr>
          <a:xfrm>
            <a:off x="3371088" y="1709928"/>
            <a:ext cx="2401824"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Forecast leads a month</a:t>
            </a:r>
            <a:endParaRPr lang="en-US" sz="800" dirty="0"/>
          </a:p>
        </p:txBody>
      </p:sp>
      <p:sp>
        <p:nvSpPr>
          <p:cNvPr id="14" name="Text 12"/>
          <p:cNvSpPr/>
          <p:nvPr/>
        </p:nvSpPr>
        <p:spPr>
          <a:xfrm>
            <a:off x="3371088" y="1883664"/>
            <a:ext cx="2401824" cy="37490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At the cost per lead on the forecast slides</a:t>
            </a:r>
            <a:endParaRPr lang="en-US" sz="750" dirty="0"/>
          </a:p>
        </p:txBody>
      </p:sp>
      <p:sp>
        <p:nvSpPr>
          <p:cNvPr id="15" name="Shape 13"/>
          <p:cNvSpPr/>
          <p:nvPr/>
        </p:nvSpPr>
        <p:spPr>
          <a:xfrm>
            <a:off x="6028944" y="1280160"/>
            <a:ext cx="2657856" cy="1051560"/>
          </a:xfrm>
          <a:prstGeom prst="roundRect">
            <a:avLst>
              <a:gd name="adj" fmla="val 5217"/>
            </a:avLst>
          </a:prstGeom>
          <a:solidFill>
            <a:srgbClr val="F2F3F6"/>
          </a:solidFill>
          <a:ln/>
        </p:spPr>
      </p:sp>
      <p:sp>
        <p:nvSpPr>
          <p:cNvPr id="16" name="Shape 14"/>
          <p:cNvSpPr/>
          <p:nvPr/>
        </p:nvSpPr>
        <p:spPr>
          <a:xfrm>
            <a:off x="6028944" y="1280160"/>
            <a:ext cx="2657856" cy="54864"/>
          </a:xfrm>
          <a:prstGeom prst="rect">
            <a:avLst/>
          </a:prstGeom>
          <a:solidFill>
            <a:srgbClr val="8E6BE6"/>
          </a:solidFill>
          <a:ln/>
        </p:spPr>
      </p:sp>
      <p:sp>
        <p:nvSpPr>
          <p:cNvPr id="17" name="Text 15"/>
          <p:cNvSpPr/>
          <p:nvPr/>
        </p:nvSpPr>
        <p:spPr>
          <a:xfrm>
            <a:off x="6156960" y="1389888"/>
            <a:ext cx="2401824" cy="310896"/>
          </a:xfrm>
          <a:prstGeom prst="rect">
            <a:avLst/>
          </a:prstGeom>
          <a:noFill/>
          <a:ln/>
        </p:spPr>
        <p:txBody>
          <a:bodyPr wrap="none" lIns="0" tIns="0" rIns="0" bIns="0" rtlCol="0" anchor="t"/>
          <a:lstStyle/>
          <a:p>
            <a:pPr indent="0" marL="0">
              <a:buNone/>
            </a:pPr>
            <a:r>
              <a:rPr lang="en-US" sz="1700" b="1" dirty="0">
                <a:solidFill>
                  <a:srgbClr val="4A7BF7"/>
                </a:solidFill>
                <a:latin typeface="Inter Tight" pitchFamily="34" charset="0"/>
                <a:ea typeface="Inter Tight" pitchFamily="34" charset="-122"/>
                <a:cs typeface="Inter Tight" pitchFamily="34" charset="-120"/>
              </a:rPr>
              <a:t>84 to 135</a:t>
            </a:r>
            <a:endParaRPr lang="en-US" sz="1700" dirty="0"/>
          </a:p>
        </p:txBody>
      </p:sp>
      <p:sp>
        <p:nvSpPr>
          <p:cNvPr id="18" name="Text 16"/>
          <p:cNvSpPr/>
          <p:nvPr/>
        </p:nvSpPr>
        <p:spPr>
          <a:xfrm>
            <a:off x="6156960" y="1709928"/>
            <a:ext cx="2401824"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Forecast qualified leads</a:t>
            </a:r>
            <a:endParaRPr lang="en-US" sz="800" dirty="0"/>
          </a:p>
        </p:txBody>
      </p:sp>
      <p:sp>
        <p:nvSpPr>
          <p:cNvPr id="19" name="Text 17"/>
          <p:cNvSpPr/>
          <p:nvPr/>
        </p:nvSpPr>
        <p:spPr>
          <a:xfrm>
            <a:off x="6156960" y="1883664"/>
            <a:ext cx="2401824" cy="37490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RM 148 to RM 238 each</a:t>
            </a:r>
            <a:endParaRPr lang="en-US" sz="7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450592"/>
          <a:ext cx="8229600" cy="914400"/>
        </p:xfrm>
        <a:graphic>
          <a:graphicData uri="http://schemas.openxmlformats.org/drawingml/2006/table">
            <a:tbl>
              <a:tblPr/>
              <a:tblGrid>
                <a:gridCol w="1600200"/>
                <a:gridCol w="731520"/>
                <a:gridCol w="1234440"/>
                <a:gridCol w="1600200"/>
                <a:gridCol w="1508760"/>
                <a:gridCol w="1554480"/>
              </a:tblGrid>
              <a:tr h="256032">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Platform</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Share</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Monthly</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Conversions</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Traffic</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Awareness</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r>
              <a:tr h="27432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TikTok</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47%</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9,400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4,700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2,820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1,880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r>
              <a:tr h="27432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Meta</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33%</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6,600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3,300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1,980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1,320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r>
              <a:tr h="27432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Google Search</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20%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4,000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2,800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1,200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None on Search</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r>
              <a:tr h="27432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Total</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100%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20,000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10,800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6,000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3,200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r>
            </a:tbl>
          </a:graphicData>
        </a:graphic>
      </p:graphicFrame>
      <p:sp>
        <p:nvSpPr>
          <p:cNvPr id="21" name="Shape 18"/>
          <p:cNvSpPr/>
          <p:nvPr/>
        </p:nvSpPr>
        <p:spPr>
          <a:xfrm>
            <a:off x="457200" y="3950208"/>
            <a:ext cx="8229600" cy="310896"/>
          </a:xfrm>
          <a:prstGeom prst="rect">
            <a:avLst/>
          </a:prstGeom>
          <a:solidFill>
            <a:srgbClr val="3056C9"/>
          </a:solidFill>
          <a:ln/>
        </p:spPr>
      </p:sp>
      <p:sp>
        <p:nvSpPr>
          <p:cNvPr id="22" name="Text 19"/>
          <p:cNvSpPr/>
          <p:nvPr/>
        </p:nvSpPr>
        <p:spPr>
          <a:xfrm>
            <a:off x="603504" y="3950208"/>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Blended across the account: 54% conversions, 30% traffic, 16% awareness</a:t>
            </a:r>
            <a:endParaRPr lang="en-US" sz="800" dirty="0"/>
          </a:p>
        </p:txBody>
      </p:sp>
      <p:sp>
        <p:nvSpPr>
          <p:cNvPr id="23" name="Text 20"/>
          <p:cNvSpPr/>
          <p:nvPr/>
        </p:nvSpPr>
        <p:spPr>
          <a:xfrm>
            <a:off x="457200" y="4389120"/>
            <a:ext cx="8229600" cy="402336"/>
          </a:xfrm>
          <a:prstGeom prst="rect">
            <a:avLst/>
          </a:prstGeom>
          <a:noFill/>
          <a:ln/>
        </p:spPr>
        <p:txBody>
          <a:bodyPr wrap="square" lIns="0" tIns="0" rIns="0" bIns="0" rtlCol="0" anchor="t"/>
          <a:lstStyle/>
          <a:p>
            <a:pPr indent="0" marL="0">
              <a:buNone/>
            </a:pPr>
            <a:r>
              <a:rPr lang="en-US" sz="800" dirty="0">
                <a:solidFill>
                  <a:srgbClr val="0F0F0F"/>
                </a:solidFill>
                <a:latin typeface="Inter Tight" pitchFamily="34" charset="0"/>
                <a:ea typeface="Inter Tight" pitchFamily="34" charset="-122"/>
                <a:cs typeface="Inter Tight" pitchFamily="34" charset="-120"/>
              </a:rPr>
              <a:t>Google Search sells no awareness inventory, so the 20% that would sit there moves into leads and traffic at a 70 / 30 split. Every column sums to the option total.</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Budget option 3: RM 25,000 a month</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TikTok holds 47% of the budget so its spend never drops below what runs today. Conversions take half of the TikTok and Meta budgets, and 70% of Search.</a:t>
            </a:r>
            <a:endParaRPr lang="en-US" sz="850" dirty="0"/>
          </a:p>
        </p:txBody>
      </p:sp>
      <p:sp>
        <p:nvSpPr>
          <p:cNvPr id="5" name="Shape 3"/>
          <p:cNvSpPr/>
          <p:nvPr/>
        </p:nvSpPr>
        <p:spPr>
          <a:xfrm>
            <a:off x="457200" y="1280160"/>
            <a:ext cx="2657856" cy="1051560"/>
          </a:xfrm>
          <a:prstGeom prst="roundRect">
            <a:avLst>
              <a:gd name="adj" fmla="val 5217"/>
            </a:avLst>
          </a:prstGeom>
          <a:solidFill>
            <a:srgbClr val="F2F3F6"/>
          </a:solidFill>
          <a:ln/>
        </p:spPr>
      </p:sp>
      <p:sp>
        <p:nvSpPr>
          <p:cNvPr id="6" name="Shape 4"/>
          <p:cNvSpPr/>
          <p:nvPr/>
        </p:nvSpPr>
        <p:spPr>
          <a:xfrm>
            <a:off x="457200" y="1280160"/>
            <a:ext cx="2657856" cy="54864"/>
          </a:xfrm>
          <a:prstGeom prst="rect">
            <a:avLst/>
          </a:prstGeom>
          <a:solidFill>
            <a:srgbClr val="4A7BF7"/>
          </a:solidFill>
          <a:ln/>
        </p:spPr>
      </p:sp>
      <p:sp>
        <p:nvSpPr>
          <p:cNvPr id="7" name="Text 5"/>
          <p:cNvSpPr/>
          <p:nvPr/>
        </p:nvSpPr>
        <p:spPr>
          <a:xfrm>
            <a:off x="585216" y="1389888"/>
            <a:ext cx="2401824" cy="310896"/>
          </a:xfrm>
          <a:prstGeom prst="rect">
            <a:avLst/>
          </a:prstGeom>
          <a:noFill/>
          <a:ln/>
        </p:spPr>
        <p:txBody>
          <a:bodyPr wrap="none" lIns="0" tIns="0" rIns="0" bIns="0" rtlCol="0" anchor="t"/>
          <a:lstStyle/>
          <a:p>
            <a:pPr indent="0" marL="0">
              <a:buNone/>
            </a:pPr>
            <a:r>
              <a:rPr lang="en-US" sz="1700" b="1" dirty="0">
                <a:solidFill>
                  <a:srgbClr val="0F0F0F"/>
                </a:solidFill>
                <a:latin typeface="Inter Tight" pitchFamily="34" charset="0"/>
                <a:ea typeface="Inter Tight" pitchFamily="34" charset="-122"/>
                <a:cs typeface="Inter Tight" pitchFamily="34" charset="-120"/>
              </a:rPr>
              <a:t>RM 25,000</a:t>
            </a:r>
            <a:endParaRPr lang="en-US" sz="1700" dirty="0"/>
          </a:p>
        </p:txBody>
      </p:sp>
      <p:sp>
        <p:nvSpPr>
          <p:cNvPr id="8" name="Text 6"/>
          <p:cNvSpPr/>
          <p:nvPr/>
        </p:nvSpPr>
        <p:spPr>
          <a:xfrm>
            <a:off x="585216" y="1709928"/>
            <a:ext cx="2401824"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Monthly media spend</a:t>
            </a:r>
            <a:endParaRPr lang="en-US" sz="800" dirty="0"/>
          </a:p>
        </p:txBody>
      </p:sp>
      <p:sp>
        <p:nvSpPr>
          <p:cNvPr id="9" name="Text 7"/>
          <p:cNvSpPr/>
          <p:nvPr/>
        </p:nvSpPr>
        <p:spPr>
          <a:xfrm>
            <a:off x="585216" y="1883664"/>
            <a:ext cx="2401824" cy="37490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Toggle management fee sits outside this figure</a:t>
            </a:r>
            <a:endParaRPr lang="en-US" sz="750" dirty="0"/>
          </a:p>
        </p:txBody>
      </p:sp>
      <p:sp>
        <p:nvSpPr>
          <p:cNvPr id="10" name="Shape 8"/>
          <p:cNvSpPr/>
          <p:nvPr/>
        </p:nvSpPr>
        <p:spPr>
          <a:xfrm>
            <a:off x="3243072" y="1280160"/>
            <a:ext cx="2657856" cy="1051560"/>
          </a:xfrm>
          <a:prstGeom prst="roundRect">
            <a:avLst>
              <a:gd name="adj" fmla="val 5217"/>
            </a:avLst>
          </a:prstGeom>
          <a:solidFill>
            <a:srgbClr val="F2F3F6"/>
          </a:solidFill>
          <a:ln/>
        </p:spPr>
      </p:sp>
      <p:sp>
        <p:nvSpPr>
          <p:cNvPr id="11" name="Shape 9"/>
          <p:cNvSpPr/>
          <p:nvPr/>
        </p:nvSpPr>
        <p:spPr>
          <a:xfrm>
            <a:off x="3243072" y="1280160"/>
            <a:ext cx="2657856" cy="54864"/>
          </a:xfrm>
          <a:prstGeom prst="rect">
            <a:avLst/>
          </a:prstGeom>
          <a:solidFill>
            <a:srgbClr val="2ECC9B"/>
          </a:solidFill>
          <a:ln/>
        </p:spPr>
      </p:sp>
      <p:sp>
        <p:nvSpPr>
          <p:cNvPr id="12" name="Text 10"/>
          <p:cNvSpPr/>
          <p:nvPr/>
        </p:nvSpPr>
        <p:spPr>
          <a:xfrm>
            <a:off x="3371088" y="1389888"/>
            <a:ext cx="2401824" cy="310896"/>
          </a:xfrm>
          <a:prstGeom prst="rect">
            <a:avLst/>
          </a:prstGeom>
          <a:noFill/>
          <a:ln/>
        </p:spPr>
        <p:txBody>
          <a:bodyPr wrap="none" lIns="0" tIns="0" rIns="0" bIns="0" rtlCol="0" anchor="t"/>
          <a:lstStyle/>
          <a:p>
            <a:pPr indent="0" marL="0">
              <a:buNone/>
            </a:pPr>
            <a:r>
              <a:rPr lang="en-US" sz="1700" b="1" dirty="0">
                <a:solidFill>
                  <a:srgbClr val="0F0F0F"/>
                </a:solidFill>
                <a:latin typeface="Inter Tight" pitchFamily="34" charset="0"/>
                <a:ea typeface="Inter Tight" pitchFamily="34" charset="-122"/>
                <a:cs typeface="Inter Tight" pitchFamily="34" charset="-120"/>
              </a:rPr>
              <a:t>503 to 544</a:t>
            </a:r>
            <a:endParaRPr lang="en-US" sz="1700" dirty="0"/>
          </a:p>
        </p:txBody>
      </p:sp>
      <p:sp>
        <p:nvSpPr>
          <p:cNvPr id="13" name="Text 11"/>
          <p:cNvSpPr/>
          <p:nvPr/>
        </p:nvSpPr>
        <p:spPr>
          <a:xfrm>
            <a:off x="3371088" y="1709928"/>
            <a:ext cx="2401824"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Forecast leads a month</a:t>
            </a:r>
            <a:endParaRPr lang="en-US" sz="800" dirty="0"/>
          </a:p>
        </p:txBody>
      </p:sp>
      <p:sp>
        <p:nvSpPr>
          <p:cNvPr id="14" name="Text 12"/>
          <p:cNvSpPr/>
          <p:nvPr/>
        </p:nvSpPr>
        <p:spPr>
          <a:xfrm>
            <a:off x="3371088" y="1883664"/>
            <a:ext cx="2401824" cy="37490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At the cost per lead on the forecast slides</a:t>
            </a:r>
            <a:endParaRPr lang="en-US" sz="750" dirty="0"/>
          </a:p>
        </p:txBody>
      </p:sp>
      <p:sp>
        <p:nvSpPr>
          <p:cNvPr id="15" name="Shape 13"/>
          <p:cNvSpPr/>
          <p:nvPr/>
        </p:nvSpPr>
        <p:spPr>
          <a:xfrm>
            <a:off x="6028944" y="1280160"/>
            <a:ext cx="2657856" cy="1051560"/>
          </a:xfrm>
          <a:prstGeom prst="roundRect">
            <a:avLst>
              <a:gd name="adj" fmla="val 5217"/>
            </a:avLst>
          </a:prstGeom>
          <a:solidFill>
            <a:srgbClr val="F2F3F6"/>
          </a:solidFill>
          <a:ln/>
        </p:spPr>
      </p:sp>
      <p:sp>
        <p:nvSpPr>
          <p:cNvPr id="16" name="Shape 14"/>
          <p:cNvSpPr/>
          <p:nvPr/>
        </p:nvSpPr>
        <p:spPr>
          <a:xfrm>
            <a:off x="6028944" y="1280160"/>
            <a:ext cx="2657856" cy="54864"/>
          </a:xfrm>
          <a:prstGeom prst="rect">
            <a:avLst/>
          </a:prstGeom>
          <a:solidFill>
            <a:srgbClr val="8E6BE6"/>
          </a:solidFill>
          <a:ln/>
        </p:spPr>
      </p:sp>
      <p:sp>
        <p:nvSpPr>
          <p:cNvPr id="17" name="Text 15"/>
          <p:cNvSpPr/>
          <p:nvPr/>
        </p:nvSpPr>
        <p:spPr>
          <a:xfrm>
            <a:off x="6156960" y="1389888"/>
            <a:ext cx="2401824" cy="310896"/>
          </a:xfrm>
          <a:prstGeom prst="rect">
            <a:avLst/>
          </a:prstGeom>
          <a:noFill/>
          <a:ln/>
        </p:spPr>
        <p:txBody>
          <a:bodyPr wrap="none" lIns="0" tIns="0" rIns="0" bIns="0" rtlCol="0" anchor="t"/>
          <a:lstStyle/>
          <a:p>
            <a:pPr indent="0" marL="0">
              <a:buNone/>
            </a:pPr>
            <a:r>
              <a:rPr lang="en-US" sz="1700" b="1" dirty="0">
                <a:solidFill>
                  <a:srgbClr val="4A7BF7"/>
                </a:solidFill>
                <a:latin typeface="Inter Tight" pitchFamily="34" charset="0"/>
                <a:ea typeface="Inter Tight" pitchFamily="34" charset="-122"/>
                <a:cs typeface="Inter Tight" pitchFamily="34" charset="-120"/>
              </a:rPr>
              <a:t>105 to 168</a:t>
            </a:r>
            <a:endParaRPr lang="en-US" sz="1700" dirty="0"/>
          </a:p>
        </p:txBody>
      </p:sp>
      <p:sp>
        <p:nvSpPr>
          <p:cNvPr id="18" name="Text 16"/>
          <p:cNvSpPr/>
          <p:nvPr/>
        </p:nvSpPr>
        <p:spPr>
          <a:xfrm>
            <a:off x="6156960" y="1709928"/>
            <a:ext cx="2401824" cy="164592"/>
          </a:xfrm>
          <a:prstGeom prst="rect">
            <a:avLst/>
          </a:prstGeom>
          <a:noFill/>
          <a:ln/>
        </p:spPr>
        <p:txBody>
          <a:bodyPr wrap="square" lIns="0" tIns="0" rIns="0" bIns="0" rtlCol="0" anchor="t"/>
          <a:lstStyle/>
          <a:p>
            <a:pPr indent="0" marL="0">
              <a:buNone/>
            </a:pPr>
            <a:r>
              <a:rPr lang="en-US" sz="800" b="1" dirty="0">
                <a:solidFill>
                  <a:srgbClr val="0F0F0F"/>
                </a:solidFill>
                <a:latin typeface="Inter Tight" pitchFamily="34" charset="0"/>
                <a:ea typeface="Inter Tight" pitchFamily="34" charset="-122"/>
                <a:cs typeface="Inter Tight" pitchFamily="34" charset="-120"/>
              </a:rPr>
              <a:t>Forecast qualified leads</a:t>
            </a:r>
            <a:endParaRPr lang="en-US" sz="800" dirty="0"/>
          </a:p>
        </p:txBody>
      </p:sp>
      <p:sp>
        <p:nvSpPr>
          <p:cNvPr id="19" name="Text 17"/>
          <p:cNvSpPr/>
          <p:nvPr/>
        </p:nvSpPr>
        <p:spPr>
          <a:xfrm>
            <a:off x="6156960" y="1883664"/>
            <a:ext cx="2401824" cy="374904"/>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RM 149 to RM 238 each</a:t>
            </a:r>
            <a:endParaRPr lang="en-US" sz="7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2450592"/>
          <a:ext cx="8229600" cy="914400"/>
        </p:xfrm>
        <a:graphic>
          <a:graphicData uri="http://schemas.openxmlformats.org/drawingml/2006/table">
            <a:tbl>
              <a:tblPr/>
              <a:tblGrid>
                <a:gridCol w="1600200"/>
                <a:gridCol w="731520"/>
                <a:gridCol w="1234440"/>
                <a:gridCol w="1600200"/>
                <a:gridCol w="1508760"/>
                <a:gridCol w="1554480"/>
              </a:tblGrid>
              <a:tr h="256032">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Platform</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Share</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Monthly</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Conversions</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Traffic</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Awareness</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r>
              <a:tr h="27432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TikTok</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47%</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11,750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5,875</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3,525</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2,350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r>
              <a:tr h="27432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Meta</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33%</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8,250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4,125</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2,475</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1,650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r>
              <a:tr h="27432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Google Search</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20%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5,000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3,500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1,500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None on Search</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r>
              <a:tr h="274320">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Total</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100%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25,000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13,500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7,500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4,000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r>
            </a:tbl>
          </a:graphicData>
        </a:graphic>
      </p:graphicFrame>
      <p:sp>
        <p:nvSpPr>
          <p:cNvPr id="21" name="Shape 18"/>
          <p:cNvSpPr/>
          <p:nvPr/>
        </p:nvSpPr>
        <p:spPr>
          <a:xfrm>
            <a:off x="457200" y="3950208"/>
            <a:ext cx="8229600" cy="310896"/>
          </a:xfrm>
          <a:prstGeom prst="rect">
            <a:avLst/>
          </a:prstGeom>
          <a:solidFill>
            <a:srgbClr val="3056C9"/>
          </a:solidFill>
          <a:ln/>
        </p:spPr>
      </p:sp>
      <p:sp>
        <p:nvSpPr>
          <p:cNvPr id="22" name="Text 19"/>
          <p:cNvSpPr/>
          <p:nvPr/>
        </p:nvSpPr>
        <p:spPr>
          <a:xfrm>
            <a:off x="603504" y="3950208"/>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Blended across the account: 54% conversions, 30% traffic, 16% awareness</a:t>
            </a:r>
            <a:endParaRPr lang="en-US" sz="800" dirty="0"/>
          </a:p>
        </p:txBody>
      </p:sp>
      <p:sp>
        <p:nvSpPr>
          <p:cNvPr id="23" name="Text 20"/>
          <p:cNvSpPr/>
          <p:nvPr/>
        </p:nvSpPr>
        <p:spPr>
          <a:xfrm>
            <a:off x="457200" y="4389120"/>
            <a:ext cx="8229600" cy="402336"/>
          </a:xfrm>
          <a:prstGeom prst="rect">
            <a:avLst/>
          </a:prstGeom>
          <a:noFill/>
          <a:ln/>
        </p:spPr>
        <p:txBody>
          <a:bodyPr wrap="square" lIns="0" tIns="0" rIns="0" bIns="0" rtlCol="0" anchor="t"/>
          <a:lstStyle/>
          <a:p>
            <a:pPr indent="0" marL="0">
              <a:buNone/>
            </a:pPr>
            <a:r>
              <a:rPr lang="en-US" sz="800" dirty="0">
                <a:solidFill>
                  <a:srgbClr val="0F0F0F"/>
                </a:solidFill>
                <a:latin typeface="Inter Tight" pitchFamily="34" charset="0"/>
                <a:ea typeface="Inter Tight" pitchFamily="34" charset="-122"/>
                <a:cs typeface="Inter Tight" pitchFamily="34" charset="-120"/>
              </a:rPr>
              <a:t>Google Search sells no awareness inventory, so the 20% that would sit there moves into leads and traffic at a 70 / 30 split. Every column sums to the option total.</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Forecast: leads</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Total platform spend divided by cost per lead. The TikTok figure comes from your own account, and the Meta and Google figures come from our internal benchmarks.</a:t>
            </a:r>
            <a:endParaRPr lang="en-US" sz="8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011680"/>
                <a:gridCol w="1463040"/>
                <a:gridCol w="1581912"/>
                <a:gridCol w="1581912"/>
                <a:gridCol w="1591056"/>
              </a:tblGrid>
              <a:tr h="256032">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Platform</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Cost per lead</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RM 15,000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RM 20,000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RM 25,000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r>
              <a:tr h="310896">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TikTok</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RM 34</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207</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276</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345</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r>
              <a:tr h="310896">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Meta</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RM 60 to 80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61 to 82</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82 to 110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103 to 137</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r>
              <a:tr h="310896">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Google Search</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RM 80 to 90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33 to 37</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44 to 50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55 to 62</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r>
              <a:tr h="310896">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Total leads a month</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301 to 326</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402 to 436</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503 to 544</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r>
            </a:tbl>
          </a:graphicData>
        </a:graphic>
      </p:graphicFrame>
      <p:sp>
        <p:nvSpPr>
          <p:cNvPr id="6" name="Shape 3"/>
          <p:cNvSpPr/>
          <p:nvPr/>
        </p:nvSpPr>
        <p:spPr>
          <a:xfrm>
            <a:off x="457200" y="2926080"/>
            <a:ext cx="8229600" cy="932688"/>
          </a:xfrm>
          <a:prstGeom prst="roundRect">
            <a:avLst>
              <a:gd name="adj" fmla="val 5882"/>
            </a:avLst>
          </a:prstGeom>
          <a:solidFill>
            <a:srgbClr val="DDE5FE"/>
          </a:solidFill>
          <a:ln/>
        </p:spPr>
      </p:sp>
      <p:sp>
        <p:nvSpPr>
          <p:cNvPr id="7" name="Text 4"/>
          <p:cNvSpPr/>
          <p:nvPr/>
        </p:nvSpPr>
        <p:spPr>
          <a:xfrm>
            <a:off x="621792" y="3044952"/>
            <a:ext cx="7900416" cy="182880"/>
          </a:xfrm>
          <a:prstGeom prst="rect">
            <a:avLst/>
          </a:prstGeom>
          <a:noFill/>
          <a:ln/>
        </p:spPr>
        <p:txBody>
          <a:bodyPr wrap="square" lIns="0" tIns="0" rIns="0" bIns="0" rtlCol="0" anchor="t"/>
          <a:lstStyle/>
          <a:p>
            <a:pPr indent="0" marL="0">
              <a:buNone/>
            </a:pPr>
            <a:r>
              <a:rPr lang="en-US" sz="900" b="1" dirty="0">
                <a:solidFill>
                  <a:srgbClr val="3056C9"/>
                </a:solidFill>
                <a:latin typeface="Inter Tight" pitchFamily="34" charset="0"/>
                <a:ea typeface="Inter Tight" pitchFamily="34" charset="-122"/>
                <a:cs typeface="Inter Tight" pitchFamily="34" charset="-120"/>
              </a:rPr>
              <a:t>What this forecast is worth today</a:t>
            </a:r>
            <a:endParaRPr lang="en-US" sz="900" dirty="0"/>
          </a:p>
        </p:txBody>
      </p:sp>
      <p:sp>
        <p:nvSpPr>
          <p:cNvPr id="8" name="Text 5"/>
          <p:cNvSpPr/>
          <p:nvPr/>
        </p:nvSpPr>
        <p:spPr>
          <a:xfrm>
            <a:off x="621792" y="3246120"/>
            <a:ext cx="7900416" cy="493776"/>
          </a:xfrm>
          <a:prstGeom prst="rect">
            <a:avLst/>
          </a:prstGeom>
          <a:noFill/>
          <a:ln/>
        </p:spPr>
        <p:txBody>
          <a:bodyPr wrap="square" lIns="0" tIns="0" rIns="0" bIns="0" rtlCol="0" anchor="t"/>
          <a:lstStyle/>
          <a:p>
            <a:pPr indent="0" marL="0">
              <a:buNone/>
            </a:pPr>
            <a:r>
              <a:rPr lang="en-US" sz="800" dirty="0">
                <a:solidFill>
                  <a:srgbClr val="0F0F0F"/>
                </a:solidFill>
                <a:latin typeface="Inter Tight" pitchFamily="34" charset="0"/>
                <a:ea typeface="Inter Tight" pitchFamily="34" charset="-122"/>
                <a:cs typeface="Inter Tight" pitchFamily="34" charset="-120"/>
              </a:rPr>
              <a:t>The TikTok number rests on 527 leads we delivered across two months. The Meta and Google numbers rest on our internal benchmarks for Malaysian higher education, because neither platform has run for IJN yet. We revise this forecast once we hold at least one month of your data on both.</a:t>
            </a:r>
            <a:endParaRPr lang="en-US" sz="800" dirty="0"/>
          </a:p>
        </p:txBody>
      </p:sp>
      <p:sp>
        <p:nvSpPr>
          <p:cNvPr id="9" name="Shape 6"/>
          <p:cNvSpPr/>
          <p:nvPr/>
        </p:nvSpPr>
        <p:spPr>
          <a:xfrm>
            <a:off x="457200" y="4005072"/>
            <a:ext cx="8229600" cy="310896"/>
          </a:xfrm>
          <a:prstGeom prst="rect">
            <a:avLst/>
          </a:prstGeom>
          <a:solidFill>
            <a:srgbClr val="3056C9"/>
          </a:solidFill>
          <a:ln/>
        </p:spPr>
      </p:sp>
      <p:sp>
        <p:nvSpPr>
          <p:cNvPr id="10" name="Text 7"/>
          <p:cNvSpPr/>
          <p:nvPr/>
        </p:nvSpPr>
        <p:spPr>
          <a:xfrm>
            <a:off x="603504" y="4005072"/>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The RM 34 TikTok figure covers the Rich Content and High Intent forms only  |  The generic volume form is retired  |  Leads are calculated on total platform spend, not on conversion spend alone</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Forecast: qualified leads</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A qualified lead is one your counsellors can act on. The rate differs by platform, because someone typing a program name carries more intent than someone stopped by a video.</a:t>
            </a:r>
            <a:endParaRPr lang="en-US" sz="8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011680"/>
                <a:gridCol w="1463040"/>
                <a:gridCol w="1581912"/>
                <a:gridCol w="1581912"/>
                <a:gridCol w="1591056"/>
              </a:tblGrid>
              <a:tr h="256032">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Platform</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Lead to qualified</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RM 15,000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RM 20,000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c>
                  <a:txBody>
                    <a:bodyPr/>
                    <a:lstStyle/>
                    <a:p>
                      <a:pPr algn="l" indent="0" marL="0">
                        <a:buNone/>
                      </a:pPr>
                      <a:r>
                        <a:rPr lang="en-US" sz="750" b="1" dirty="0">
                          <a:solidFill>
                            <a:srgbClr val="FFFFFF"/>
                          </a:solidFill>
                          <a:latin typeface="Inter Tight" pitchFamily="34" charset="0"/>
                          <a:ea typeface="Inter Tight" pitchFamily="34" charset="-122"/>
                          <a:cs typeface="Inter Tight" pitchFamily="34" charset="-120"/>
                        </a:rPr>
                        <a:t>RM 25,000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3056C9"/>
                    </a:solidFill>
                  </a:tcPr>
                </a:tc>
              </a:tr>
              <a:tr h="310896">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TikTok</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20% to 30%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41 to 62</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55 to 82</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69 to 103</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r>
              <a:tr h="310896">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Meta</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20% to 30%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12 to 24</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16 to 33</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20 to 41</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2F3F6"/>
                    </a:solidFill>
                  </a:tcPr>
                </a:tc>
              </a:tr>
              <a:tr h="310896">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Google Search</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dirty="0">
                          <a:solidFill>
                            <a:srgbClr val="4A4A4A"/>
                          </a:solidFill>
                          <a:latin typeface="Inter Tight" pitchFamily="34" charset="0"/>
                          <a:ea typeface="Inter Tight" pitchFamily="34" charset="-122"/>
                          <a:cs typeface="Inter Tight" pitchFamily="34" charset="-120"/>
                        </a:rPr>
                        <a:t>30% to 40%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9 to 14</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13 to 20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16 to 24</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FFFFFF"/>
                    </a:solidFill>
                  </a:tcPr>
                </a:tc>
              </a:tr>
              <a:tr h="310896">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Total qualified a month</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62 to 100</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84 to 135</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105 to 168</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r>
              <a:tr h="310896">
                <a:tc>
                  <a:txBody>
                    <a:bodyPr/>
                    <a:lstStyle/>
                    <a:p>
                      <a:pPr indent="0" marL="0">
                        <a:buNone/>
                      </a:pPr>
                      <a:r>
                        <a:rPr lang="en-US" sz="750" b="1" dirty="0">
                          <a:solidFill>
                            <a:srgbClr val="0F0F0F"/>
                          </a:solidFill>
                          <a:latin typeface="Inter Tight" pitchFamily="34" charset="0"/>
                          <a:ea typeface="Inter Tight" pitchFamily="34" charset="-122"/>
                          <a:cs typeface="Inter Tight" pitchFamily="34" charset="-120"/>
                        </a:rPr>
                        <a:t>Cost per qualified lead</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150 to RM 242</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148 to RM 238</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c>
                  <a:txBody>
                    <a:bodyPr/>
                    <a:lstStyle/>
                    <a:p>
                      <a:pPr indent="0" marL="0">
                        <a:buNone/>
                      </a:pPr>
                      <a:r>
                        <a:rPr lang="en-US" sz="750" b="1" dirty="0">
                          <a:solidFill>
                            <a:srgbClr val="3056C9"/>
                          </a:solidFill>
                          <a:latin typeface="Inter Tight" pitchFamily="34" charset="0"/>
                          <a:ea typeface="Inter Tight" pitchFamily="34" charset="-122"/>
                          <a:cs typeface="Inter Tight" pitchFamily="34" charset="-120"/>
                        </a:rPr>
                        <a:t>RM 149 to RM 238</a:t>
                      </a:r>
                      <a:endParaRPr lang="en-US" sz="750" dirty="0">
                        <a:latin typeface="Inter Tight" charset="0"/>
                        <a:ea typeface="Inter Tight" charset="0"/>
                        <a:cs typeface="Inter Tight" charset="0"/>
                      </a:endParaRPr>
                    </a:p>
                  </a:txBody>
                  <a:tcPr marL="63500" marR="63500" marT="38100" marB="38100" anchor="ctr">
                    <a:lnL w="6350" cap="flat" cmpd="sng" algn="ctr">
                      <a:solidFill>
                        <a:srgbClr val="E4E6EE"/>
                      </a:solidFill>
                      <a:prstDash val="solid"/>
                      <a:round/>
                      <a:headEnd type="none" w="med" len="med"/>
                      <a:tailEnd type="none" w="med" len="med"/>
                    </a:lnL>
                    <a:lnR w="6350" cap="flat" cmpd="sng" algn="ctr">
                      <a:solidFill>
                        <a:srgbClr val="E4E6EE"/>
                      </a:solidFill>
                      <a:prstDash val="solid"/>
                      <a:round/>
                      <a:headEnd type="none" w="med" len="med"/>
                      <a:tailEnd type="none" w="med" len="med"/>
                    </a:lnR>
                    <a:lnT w="6350" cap="flat" cmpd="sng" algn="ctr">
                      <a:solidFill>
                        <a:srgbClr val="E4E6EE"/>
                      </a:solidFill>
                      <a:prstDash val="solid"/>
                      <a:round/>
                      <a:headEnd type="none" w="med" len="med"/>
                      <a:tailEnd type="none" w="med" len="med"/>
                    </a:lnT>
                    <a:lnB w="6350" cap="flat" cmpd="sng" algn="ctr">
                      <a:solidFill>
                        <a:srgbClr val="E4E6EE"/>
                      </a:solidFill>
                      <a:prstDash val="solid"/>
                      <a:round/>
                      <a:headEnd type="none" w="med" len="med"/>
                      <a:tailEnd type="none" w="med" len="med"/>
                    </a:lnB>
                    <a:solidFill>
                      <a:srgbClr val="DDE5FE"/>
                    </a:solidFill>
                  </a:tcPr>
                </a:tc>
              </a:tr>
            </a:tbl>
          </a:graphicData>
        </a:graphic>
      </p:graphicFrame>
      <p:sp>
        <p:nvSpPr>
          <p:cNvPr id="6" name="Shape 3"/>
          <p:cNvSpPr/>
          <p:nvPr/>
        </p:nvSpPr>
        <p:spPr>
          <a:xfrm>
            <a:off x="457200" y="3236976"/>
            <a:ext cx="8229600" cy="932688"/>
          </a:xfrm>
          <a:prstGeom prst="roundRect">
            <a:avLst>
              <a:gd name="adj" fmla="val 5882"/>
            </a:avLst>
          </a:prstGeom>
          <a:solidFill>
            <a:srgbClr val="DDE5FE"/>
          </a:solidFill>
          <a:ln/>
        </p:spPr>
      </p:sp>
      <p:sp>
        <p:nvSpPr>
          <p:cNvPr id="7" name="Text 4"/>
          <p:cNvSpPr/>
          <p:nvPr/>
        </p:nvSpPr>
        <p:spPr>
          <a:xfrm>
            <a:off x="621792" y="3355848"/>
            <a:ext cx="7900416" cy="182880"/>
          </a:xfrm>
          <a:prstGeom prst="rect">
            <a:avLst/>
          </a:prstGeom>
          <a:noFill/>
          <a:ln/>
        </p:spPr>
        <p:txBody>
          <a:bodyPr wrap="square" lIns="0" tIns="0" rIns="0" bIns="0" rtlCol="0" anchor="t"/>
          <a:lstStyle/>
          <a:p>
            <a:pPr indent="0" marL="0">
              <a:buNone/>
            </a:pPr>
            <a:r>
              <a:rPr lang="en-US" sz="900" b="1" dirty="0">
                <a:solidFill>
                  <a:srgbClr val="3056C9"/>
                </a:solidFill>
                <a:latin typeface="Inter Tight" pitchFamily="34" charset="0"/>
                <a:ea typeface="Inter Tight" pitchFamily="34" charset="-122"/>
                <a:cs typeface="Inter Tight" pitchFamily="34" charset="-120"/>
              </a:rPr>
              <a:t>Where this forecast stops, and why</a:t>
            </a:r>
            <a:endParaRPr lang="en-US" sz="900" dirty="0"/>
          </a:p>
        </p:txBody>
      </p:sp>
      <p:sp>
        <p:nvSpPr>
          <p:cNvPr id="8" name="Text 5"/>
          <p:cNvSpPr/>
          <p:nvPr/>
        </p:nvSpPr>
        <p:spPr>
          <a:xfrm>
            <a:off x="621792" y="3557016"/>
            <a:ext cx="7900416" cy="493776"/>
          </a:xfrm>
          <a:prstGeom prst="rect">
            <a:avLst/>
          </a:prstGeom>
          <a:noFill/>
          <a:ln/>
        </p:spPr>
        <p:txBody>
          <a:bodyPr wrap="square" lIns="0" tIns="0" rIns="0" bIns="0" rtlCol="0" anchor="t"/>
          <a:lstStyle/>
          <a:p>
            <a:pPr indent="0" marL="0">
              <a:buNone/>
            </a:pPr>
            <a:r>
              <a:rPr lang="en-US" sz="800" dirty="0">
                <a:solidFill>
                  <a:srgbClr val="0F0F0F"/>
                </a:solidFill>
                <a:latin typeface="Inter Tight" pitchFamily="34" charset="0"/>
                <a:ea typeface="Inter Tight" pitchFamily="34" charset="-122"/>
                <a:cs typeface="Inter Tight" pitchFamily="34" charset="-120"/>
              </a:rPr>
              <a:t>We do not forecast appointments booked or enrolments. Show rate, counsellor follow up, entry requirements and funding approval all sit outside the ad account, and putting a number on them would mean forecasting work we do not control.</a:t>
            </a:r>
            <a:endParaRPr lang="en-US" sz="800" dirty="0"/>
          </a:p>
        </p:txBody>
      </p:sp>
      <p:sp>
        <p:nvSpPr>
          <p:cNvPr id="9" name="Shape 6"/>
          <p:cNvSpPr/>
          <p:nvPr/>
        </p:nvSpPr>
        <p:spPr>
          <a:xfrm>
            <a:off x="457200" y="4315968"/>
            <a:ext cx="8229600" cy="310896"/>
          </a:xfrm>
          <a:prstGeom prst="rect">
            <a:avLst/>
          </a:prstGeom>
          <a:solidFill>
            <a:srgbClr val="3056C9"/>
          </a:solidFill>
          <a:ln/>
        </p:spPr>
      </p:sp>
      <p:sp>
        <p:nvSpPr>
          <p:cNvPr id="10" name="Text 7"/>
          <p:cNvSpPr/>
          <p:nvPr/>
        </p:nvSpPr>
        <p:spPr>
          <a:xfrm>
            <a:off x="603504" y="4315968"/>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Cost per qualified lead holds between RM 148 and RM 242 at every budget  |  Scaling the budget does not degrade the unit economics in this model</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The lead conversion engine</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Five stages run after a lead submits, and automation carries the first three of them.</a:t>
            </a:r>
            <a:endParaRPr lang="en-US" sz="850" dirty="0"/>
          </a:p>
        </p:txBody>
      </p:sp>
      <p:sp>
        <p:nvSpPr>
          <p:cNvPr id="5" name="Shape 3"/>
          <p:cNvSpPr/>
          <p:nvPr/>
        </p:nvSpPr>
        <p:spPr>
          <a:xfrm>
            <a:off x="457200" y="1280160"/>
            <a:ext cx="1554480" cy="2066544"/>
          </a:xfrm>
          <a:prstGeom prst="roundRect">
            <a:avLst>
              <a:gd name="adj" fmla="val 3529"/>
            </a:avLst>
          </a:prstGeom>
          <a:solidFill>
            <a:srgbClr val="F2F3F6"/>
          </a:solidFill>
          <a:ln/>
        </p:spPr>
      </p:sp>
      <p:sp>
        <p:nvSpPr>
          <p:cNvPr id="6" name="Shape 4"/>
          <p:cNvSpPr/>
          <p:nvPr/>
        </p:nvSpPr>
        <p:spPr>
          <a:xfrm>
            <a:off x="457200" y="1280160"/>
            <a:ext cx="1554480" cy="54864"/>
          </a:xfrm>
          <a:prstGeom prst="rect">
            <a:avLst/>
          </a:prstGeom>
          <a:solidFill>
            <a:srgbClr val="4A7BF7"/>
          </a:solidFill>
          <a:ln/>
        </p:spPr>
      </p:sp>
      <p:sp>
        <p:nvSpPr>
          <p:cNvPr id="7" name="Shape 5"/>
          <p:cNvSpPr/>
          <p:nvPr/>
        </p:nvSpPr>
        <p:spPr>
          <a:xfrm>
            <a:off x="1579626" y="1371600"/>
            <a:ext cx="285750" cy="285750"/>
          </a:xfrm>
          <a:prstGeom prst="roundRect">
            <a:avLst>
              <a:gd name="adj" fmla="val 30000"/>
            </a:avLst>
          </a:prstGeom>
          <a:solidFill>
            <a:srgbClr val="FFFFFF"/>
          </a:solidFill>
          <a:ln/>
        </p:spPr>
      </p:sp>
      <p:pic>
        <p:nvPicPr>
          <p:cNvPr id="8" name="Image 0" descr="icons/download.png"/>
          <p:cNvPicPr>
            <a:picLocks noChangeAspect="1"/>
          </p:cNvPicPr>
          <p:nvPr/>
        </p:nvPicPr>
        <p:blipFill>
          <a:blip r:embed="rId1"/>
          <a:stretch>
            <a:fillRect/>
          </a:stretch>
        </p:blipFill>
        <p:spPr>
          <a:xfrm>
            <a:off x="1636776" y="1428750"/>
            <a:ext cx="171450" cy="171450"/>
          </a:xfrm>
          <a:prstGeom prst="rect">
            <a:avLst/>
          </a:prstGeom>
        </p:spPr>
      </p:pic>
      <p:sp>
        <p:nvSpPr>
          <p:cNvPr id="9" name="Text 6"/>
          <p:cNvSpPr/>
          <p:nvPr/>
        </p:nvSpPr>
        <p:spPr>
          <a:xfrm>
            <a:off x="576072" y="1389888"/>
            <a:ext cx="50292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01</a:t>
            </a:r>
            <a:endParaRPr lang="en-US" sz="800" dirty="0"/>
          </a:p>
        </p:txBody>
      </p:sp>
      <p:sp>
        <p:nvSpPr>
          <p:cNvPr id="10" name="Text 7"/>
          <p:cNvSpPr/>
          <p:nvPr/>
        </p:nvSpPr>
        <p:spPr>
          <a:xfrm>
            <a:off x="576072" y="1700784"/>
            <a:ext cx="1316736" cy="274320"/>
          </a:xfrm>
          <a:prstGeom prst="rect">
            <a:avLst/>
          </a:prstGeom>
          <a:noFill/>
          <a:ln/>
        </p:spPr>
        <p:txBody>
          <a:bodyPr wrap="square" lIns="0" tIns="0" rIns="0" bIns="0" rtlCol="0" anchor="t"/>
          <a:lstStyle/>
          <a:p>
            <a:pPr indent="0" marL="0">
              <a:buNone/>
            </a:pPr>
            <a:r>
              <a:rPr lang="en-US" sz="900" b="1" dirty="0">
                <a:solidFill>
                  <a:srgbClr val="0F0F0F"/>
                </a:solidFill>
                <a:latin typeface="Inter Tight" pitchFamily="34" charset="0"/>
                <a:ea typeface="Inter Tight" pitchFamily="34" charset="-122"/>
                <a:cs typeface="Inter Tight" pitchFamily="34" charset="-120"/>
              </a:rPr>
              <a:t>Lead lands</a:t>
            </a:r>
            <a:endParaRPr lang="en-US" sz="900" dirty="0"/>
          </a:p>
        </p:txBody>
      </p:sp>
      <p:sp>
        <p:nvSpPr>
          <p:cNvPr id="11" name="Text 8"/>
          <p:cNvSpPr/>
          <p:nvPr/>
        </p:nvSpPr>
        <p:spPr>
          <a:xfrm>
            <a:off x="576072" y="1993392"/>
            <a:ext cx="1316736" cy="1280160"/>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A form on TikTok, Meta or Google, or a WhatsApp click, all arrive in one inbox with the full message history attached.</a:t>
            </a:r>
            <a:endParaRPr lang="en-US" sz="750" dirty="0"/>
          </a:p>
        </p:txBody>
      </p:sp>
      <p:sp>
        <p:nvSpPr>
          <p:cNvPr id="12" name="Text 9"/>
          <p:cNvSpPr/>
          <p:nvPr/>
        </p:nvSpPr>
        <p:spPr>
          <a:xfrm>
            <a:off x="2011680" y="2148840"/>
            <a:ext cx="114300" cy="182880"/>
          </a:xfrm>
          <a:prstGeom prst="rect">
            <a:avLst/>
          </a:prstGeom>
          <a:noFill/>
          <a:ln/>
        </p:spPr>
        <p:txBody>
          <a:bodyPr wrap="none" lIns="0" tIns="0" rIns="0" bIns="0" rtlCol="0" anchor="t"/>
          <a:lstStyle/>
          <a:p>
            <a:pPr algn="ctr" indent="0" marL="0">
              <a:buNone/>
            </a:pPr>
            <a:r>
              <a:rPr lang="en-US" sz="800" b="1" dirty="0">
                <a:solidFill>
                  <a:srgbClr val="9AA0A8"/>
                </a:solidFill>
                <a:latin typeface="Inter Tight" pitchFamily="34" charset="0"/>
                <a:ea typeface="Inter Tight" pitchFamily="34" charset="-122"/>
                <a:cs typeface="Inter Tight" pitchFamily="34" charset="-120"/>
              </a:rPr>
              <a:t>&gt;</a:t>
            </a:r>
            <a:endParaRPr lang="en-US" sz="800" dirty="0"/>
          </a:p>
        </p:txBody>
      </p:sp>
      <p:sp>
        <p:nvSpPr>
          <p:cNvPr id="13" name="Shape 10"/>
          <p:cNvSpPr/>
          <p:nvPr/>
        </p:nvSpPr>
        <p:spPr>
          <a:xfrm>
            <a:off x="2125980" y="1280160"/>
            <a:ext cx="1554480" cy="2066544"/>
          </a:xfrm>
          <a:prstGeom prst="roundRect">
            <a:avLst>
              <a:gd name="adj" fmla="val 3529"/>
            </a:avLst>
          </a:prstGeom>
          <a:solidFill>
            <a:srgbClr val="F2F3F6"/>
          </a:solidFill>
          <a:ln/>
        </p:spPr>
      </p:sp>
      <p:sp>
        <p:nvSpPr>
          <p:cNvPr id="14" name="Shape 11"/>
          <p:cNvSpPr/>
          <p:nvPr/>
        </p:nvSpPr>
        <p:spPr>
          <a:xfrm>
            <a:off x="2125980" y="1280160"/>
            <a:ext cx="1554480" cy="54864"/>
          </a:xfrm>
          <a:prstGeom prst="rect">
            <a:avLst/>
          </a:prstGeom>
          <a:solidFill>
            <a:srgbClr val="2ECC9B"/>
          </a:solidFill>
          <a:ln/>
        </p:spPr>
      </p:sp>
      <p:sp>
        <p:nvSpPr>
          <p:cNvPr id="15" name="Shape 12"/>
          <p:cNvSpPr/>
          <p:nvPr/>
        </p:nvSpPr>
        <p:spPr>
          <a:xfrm>
            <a:off x="3248406" y="1371600"/>
            <a:ext cx="285750" cy="285750"/>
          </a:xfrm>
          <a:prstGeom prst="roundRect">
            <a:avLst>
              <a:gd name="adj" fmla="val 30000"/>
            </a:avLst>
          </a:prstGeom>
          <a:solidFill>
            <a:srgbClr val="FFFFFF"/>
          </a:solidFill>
          <a:ln/>
        </p:spPr>
      </p:sp>
      <p:pic>
        <p:nvPicPr>
          <p:cNvPr id="16" name="Image 1" descr="icons/envelope.png"/>
          <p:cNvPicPr>
            <a:picLocks noChangeAspect="1"/>
          </p:cNvPicPr>
          <p:nvPr/>
        </p:nvPicPr>
        <p:blipFill>
          <a:blip r:embed="rId2"/>
          <a:stretch>
            <a:fillRect/>
          </a:stretch>
        </p:blipFill>
        <p:spPr>
          <a:xfrm>
            <a:off x="3305556" y="1428750"/>
            <a:ext cx="171450" cy="171450"/>
          </a:xfrm>
          <a:prstGeom prst="rect">
            <a:avLst/>
          </a:prstGeom>
        </p:spPr>
      </p:pic>
      <p:sp>
        <p:nvSpPr>
          <p:cNvPr id="17" name="Text 13"/>
          <p:cNvSpPr/>
          <p:nvPr/>
        </p:nvSpPr>
        <p:spPr>
          <a:xfrm>
            <a:off x="2244852" y="1389888"/>
            <a:ext cx="50292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02</a:t>
            </a:r>
            <a:endParaRPr lang="en-US" sz="800" dirty="0"/>
          </a:p>
        </p:txBody>
      </p:sp>
      <p:sp>
        <p:nvSpPr>
          <p:cNvPr id="18" name="Text 14"/>
          <p:cNvSpPr/>
          <p:nvPr/>
        </p:nvSpPr>
        <p:spPr>
          <a:xfrm>
            <a:off x="2244852" y="1700784"/>
            <a:ext cx="1316736" cy="274320"/>
          </a:xfrm>
          <a:prstGeom prst="rect">
            <a:avLst/>
          </a:prstGeom>
          <a:noFill/>
          <a:ln/>
        </p:spPr>
        <p:txBody>
          <a:bodyPr wrap="square" lIns="0" tIns="0" rIns="0" bIns="0" rtlCol="0" anchor="t"/>
          <a:lstStyle/>
          <a:p>
            <a:pPr indent="0" marL="0">
              <a:buNone/>
            </a:pPr>
            <a:r>
              <a:rPr lang="en-US" sz="900" b="1" dirty="0">
                <a:solidFill>
                  <a:srgbClr val="0F0F0F"/>
                </a:solidFill>
                <a:latin typeface="Inter Tight" pitchFamily="34" charset="0"/>
                <a:ea typeface="Inter Tight" pitchFamily="34" charset="-122"/>
                <a:cs typeface="Inter Tight" pitchFamily="34" charset="-120"/>
              </a:rPr>
              <a:t>Automated reply</a:t>
            </a:r>
            <a:endParaRPr lang="en-US" sz="900" dirty="0"/>
          </a:p>
        </p:txBody>
      </p:sp>
      <p:sp>
        <p:nvSpPr>
          <p:cNvPr id="19" name="Text 15"/>
          <p:cNvSpPr/>
          <p:nvPr/>
        </p:nvSpPr>
        <p:spPr>
          <a:xfrm>
            <a:off x="2244852" y="1993392"/>
            <a:ext cx="1316736" cy="1280160"/>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An automated message opens the conversation within seconds and asks the questions IJN defines. Program interest, results, intake, funding and location.</a:t>
            </a:r>
            <a:endParaRPr lang="en-US" sz="750" dirty="0"/>
          </a:p>
        </p:txBody>
      </p:sp>
      <p:sp>
        <p:nvSpPr>
          <p:cNvPr id="20" name="Text 16"/>
          <p:cNvSpPr/>
          <p:nvPr/>
        </p:nvSpPr>
        <p:spPr>
          <a:xfrm>
            <a:off x="3680460" y="2148840"/>
            <a:ext cx="114300" cy="182880"/>
          </a:xfrm>
          <a:prstGeom prst="rect">
            <a:avLst/>
          </a:prstGeom>
          <a:noFill/>
          <a:ln/>
        </p:spPr>
        <p:txBody>
          <a:bodyPr wrap="none" lIns="0" tIns="0" rIns="0" bIns="0" rtlCol="0" anchor="t"/>
          <a:lstStyle/>
          <a:p>
            <a:pPr algn="ctr" indent="0" marL="0">
              <a:buNone/>
            </a:pPr>
            <a:r>
              <a:rPr lang="en-US" sz="800" b="1" dirty="0">
                <a:solidFill>
                  <a:srgbClr val="9AA0A8"/>
                </a:solidFill>
                <a:latin typeface="Inter Tight" pitchFamily="34" charset="0"/>
                <a:ea typeface="Inter Tight" pitchFamily="34" charset="-122"/>
                <a:cs typeface="Inter Tight" pitchFamily="34" charset="-120"/>
              </a:rPr>
              <a:t>&gt;</a:t>
            </a:r>
            <a:endParaRPr lang="en-US" sz="800" dirty="0"/>
          </a:p>
        </p:txBody>
      </p:sp>
      <p:sp>
        <p:nvSpPr>
          <p:cNvPr id="21" name="Shape 17"/>
          <p:cNvSpPr/>
          <p:nvPr/>
        </p:nvSpPr>
        <p:spPr>
          <a:xfrm>
            <a:off x="3794760" y="1280160"/>
            <a:ext cx="1554480" cy="2066544"/>
          </a:xfrm>
          <a:prstGeom prst="roundRect">
            <a:avLst>
              <a:gd name="adj" fmla="val 3529"/>
            </a:avLst>
          </a:prstGeom>
          <a:solidFill>
            <a:srgbClr val="F2F3F6"/>
          </a:solidFill>
          <a:ln/>
        </p:spPr>
      </p:sp>
      <p:sp>
        <p:nvSpPr>
          <p:cNvPr id="22" name="Shape 18"/>
          <p:cNvSpPr/>
          <p:nvPr/>
        </p:nvSpPr>
        <p:spPr>
          <a:xfrm>
            <a:off x="3794760" y="1280160"/>
            <a:ext cx="1554480" cy="54864"/>
          </a:xfrm>
          <a:prstGeom prst="rect">
            <a:avLst/>
          </a:prstGeom>
          <a:solidFill>
            <a:srgbClr val="8E6BE6"/>
          </a:solidFill>
          <a:ln/>
        </p:spPr>
      </p:sp>
      <p:sp>
        <p:nvSpPr>
          <p:cNvPr id="23" name="Shape 19"/>
          <p:cNvSpPr/>
          <p:nvPr/>
        </p:nvSpPr>
        <p:spPr>
          <a:xfrm>
            <a:off x="4917186" y="1371600"/>
            <a:ext cx="285750" cy="285750"/>
          </a:xfrm>
          <a:prstGeom prst="roundRect">
            <a:avLst>
              <a:gd name="adj" fmla="val 30000"/>
            </a:avLst>
          </a:prstGeom>
          <a:solidFill>
            <a:srgbClr val="FFFFFF"/>
          </a:solidFill>
          <a:ln/>
        </p:spPr>
      </p:sp>
      <p:pic>
        <p:nvPicPr>
          <p:cNvPr id="24" name="Image 2" descr="icons/tag.png"/>
          <p:cNvPicPr>
            <a:picLocks noChangeAspect="1"/>
          </p:cNvPicPr>
          <p:nvPr/>
        </p:nvPicPr>
        <p:blipFill>
          <a:blip r:embed="rId3"/>
          <a:stretch>
            <a:fillRect/>
          </a:stretch>
        </p:blipFill>
        <p:spPr>
          <a:xfrm>
            <a:off x="4974336" y="1428750"/>
            <a:ext cx="171450" cy="171450"/>
          </a:xfrm>
          <a:prstGeom prst="rect">
            <a:avLst/>
          </a:prstGeom>
        </p:spPr>
      </p:pic>
      <p:sp>
        <p:nvSpPr>
          <p:cNvPr id="25" name="Text 20"/>
          <p:cNvSpPr/>
          <p:nvPr/>
        </p:nvSpPr>
        <p:spPr>
          <a:xfrm>
            <a:off x="3913632" y="1389888"/>
            <a:ext cx="50292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03</a:t>
            </a:r>
            <a:endParaRPr lang="en-US" sz="800" dirty="0"/>
          </a:p>
        </p:txBody>
      </p:sp>
      <p:sp>
        <p:nvSpPr>
          <p:cNvPr id="26" name="Text 21"/>
          <p:cNvSpPr/>
          <p:nvPr/>
        </p:nvSpPr>
        <p:spPr>
          <a:xfrm>
            <a:off x="3913632" y="1700784"/>
            <a:ext cx="1316736" cy="274320"/>
          </a:xfrm>
          <a:prstGeom prst="rect">
            <a:avLst/>
          </a:prstGeom>
          <a:noFill/>
          <a:ln/>
        </p:spPr>
        <p:txBody>
          <a:bodyPr wrap="square" lIns="0" tIns="0" rIns="0" bIns="0" rtlCol="0" anchor="t"/>
          <a:lstStyle/>
          <a:p>
            <a:pPr indent="0" marL="0">
              <a:buNone/>
            </a:pPr>
            <a:r>
              <a:rPr lang="en-US" sz="900" b="1" dirty="0">
                <a:solidFill>
                  <a:srgbClr val="0F0F0F"/>
                </a:solidFill>
                <a:latin typeface="Inter Tight" pitchFamily="34" charset="0"/>
                <a:ea typeface="Inter Tight" pitchFamily="34" charset="-122"/>
                <a:cs typeface="Inter Tight" pitchFamily="34" charset="-120"/>
              </a:rPr>
              <a:t>Automatic label</a:t>
            </a:r>
            <a:endParaRPr lang="en-US" sz="900" dirty="0"/>
          </a:p>
        </p:txBody>
      </p:sp>
      <p:sp>
        <p:nvSpPr>
          <p:cNvPr id="27" name="Text 22"/>
          <p:cNvSpPr/>
          <p:nvPr/>
        </p:nvSpPr>
        <p:spPr>
          <a:xfrm>
            <a:off x="3913632" y="1993392"/>
            <a:ext cx="1316736" cy="1280160"/>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The tool reads the answers against your criteria and labels the lead as qualified, not qualified, or needs follow up. Nobody opens a thread to find out.</a:t>
            </a:r>
            <a:endParaRPr lang="en-US" sz="750" dirty="0"/>
          </a:p>
        </p:txBody>
      </p:sp>
      <p:sp>
        <p:nvSpPr>
          <p:cNvPr id="28" name="Text 23"/>
          <p:cNvSpPr/>
          <p:nvPr/>
        </p:nvSpPr>
        <p:spPr>
          <a:xfrm>
            <a:off x="5349240" y="2148840"/>
            <a:ext cx="114300" cy="182880"/>
          </a:xfrm>
          <a:prstGeom prst="rect">
            <a:avLst/>
          </a:prstGeom>
          <a:noFill/>
          <a:ln/>
        </p:spPr>
        <p:txBody>
          <a:bodyPr wrap="none" lIns="0" tIns="0" rIns="0" bIns="0" rtlCol="0" anchor="t"/>
          <a:lstStyle/>
          <a:p>
            <a:pPr algn="ctr" indent="0" marL="0">
              <a:buNone/>
            </a:pPr>
            <a:r>
              <a:rPr lang="en-US" sz="800" b="1" dirty="0">
                <a:solidFill>
                  <a:srgbClr val="9AA0A8"/>
                </a:solidFill>
                <a:latin typeface="Inter Tight" pitchFamily="34" charset="0"/>
                <a:ea typeface="Inter Tight" pitchFamily="34" charset="-122"/>
                <a:cs typeface="Inter Tight" pitchFamily="34" charset="-120"/>
              </a:rPr>
              <a:t>&gt;</a:t>
            </a:r>
            <a:endParaRPr lang="en-US" sz="800" dirty="0"/>
          </a:p>
        </p:txBody>
      </p:sp>
      <p:sp>
        <p:nvSpPr>
          <p:cNvPr id="29" name="Shape 24"/>
          <p:cNvSpPr/>
          <p:nvPr/>
        </p:nvSpPr>
        <p:spPr>
          <a:xfrm>
            <a:off x="5463540" y="1280160"/>
            <a:ext cx="1554480" cy="2066544"/>
          </a:xfrm>
          <a:prstGeom prst="roundRect">
            <a:avLst>
              <a:gd name="adj" fmla="val 3529"/>
            </a:avLst>
          </a:prstGeom>
          <a:solidFill>
            <a:srgbClr val="F2F3F6"/>
          </a:solidFill>
          <a:ln/>
        </p:spPr>
      </p:sp>
      <p:sp>
        <p:nvSpPr>
          <p:cNvPr id="30" name="Shape 25"/>
          <p:cNvSpPr/>
          <p:nvPr/>
        </p:nvSpPr>
        <p:spPr>
          <a:xfrm>
            <a:off x="5463540" y="1280160"/>
            <a:ext cx="1554480" cy="54864"/>
          </a:xfrm>
          <a:prstGeom prst="rect">
            <a:avLst/>
          </a:prstGeom>
          <a:solidFill>
            <a:srgbClr val="F28B4C"/>
          </a:solidFill>
          <a:ln/>
        </p:spPr>
      </p:sp>
      <p:sp>
        <p:nvSpPr>
          <p:cNvPr id="31" name="Shape 26"/>
          <p:cNvSpPr/>
          <p:nvPr/>
        </p:nvSpPr>
        <p:spPr>
          <a:xfrm>
            <a:off x="6585966" y="1371600"/>
            <a:ext cx="285750" cy="285750"/>
          </a:xfrm>
          <a:prstGeom prst="roundRect">
            <a:avLst>
              <a:gd name="adj" fmla="val 30000"/>
            </a:avLst>
          </a:prstGeom>
          <a:solidFill>
            <a:srgbClr val="FFFFFF"/>
          </a:solidFill>
          <a:ln/>
        </p:spPr>
      </p:sp>
      <p:pic>
        <p:nvPicPr>
          <p:cNvPr id="32" name="Image 3" descr="icons/arrow-right.png"/>
          <p:cNvPicPr>
            <a:picLocks noChangeAspect="1"/>
          </p:cNvPicPr>
          <p:nvPr/>
        </p:nvPicPr>
        <p:blipFill>
          <a:blip r:embed="rId4"/>
          <a:stretch>
            <a:fillRect/>
          </a:stretch>
        </p:blipFill>
        <p:spPr>
          <a:xfrm>
            <a:off x="6643116" y="1428750"/>
            <a:ext cx="171450" cy="171450"/>
          </a:xfrm>
          <a:prstGeom prst="rect">
            <a:avLst/>
          </a:prstGeom>
        </p:spPr>
      </p:pic>
      <p:sp>
        <p:nvSpPr>
          <p:cNvPr id="33" name="Text 27"/>
          <p:cNvSpPr/>
          <p:nvPr/>
        </p:nvSpPr>
        <p:spPr>
          <a:xfrm>
            <a:off x="5582412" y="1389888"/>
            <a:ext cx="50292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04</a:t>
            </a:r>
            <a:endParaRPr lang="en-US" sz="800" dirty="0"/>
          </a:p>
        </p:txBody>
      </p:sp>
      <p:sp>
        <p:nvSpPr>
          <p:cNvPr id="34" name="Text 28"/>
          <p:cNvSpPr/>
          <p:nvPr/>
        </p:nvSpPr>
        <p:spPr>
          <a:xfrm>
            <a:off x="5582412" y="1700784"/>
            <a:ext cx="1316736" cy="274320"/>
          </a:xfrm>
          <a:prstGeom prst="rect">
            <a:avLst/>
          </a:prstGeom>
          <a:noFill/>
          <a:ln/>
        </p:spPr>
        <p:txBody>
          <a:bodyPr wrap="square" lIns="0" tIns="0" rIns="0" bIns="0" rtlCol="0" anchor="t"/>
          <a:lstStyle/>
          <a:p>
            <a:pPr indent="0" marL="0">
              <a:buNone/>
            </a:pPr>
            <a:r>
              <a:rPr lang="en-US" sz="900" b="1" dirty="0">
                <a:solidFill>
                  <a:srgbClr val="0F0F0F"/>
                </a:solidFill>
                <a:latin typeface="Inter Tight" pitchFamily="34" charset="0"/>
                <a:ea typeface="Inter Tight" pitchFamily="34" charset="-122"/>
                <a:cs typeface="Inter Tight" pitchFamily="34" charset="-120"/>
              </a:rPr>
              <a:t>PIC assigns</a:t>
            </a:r>
            <a:endParaRPr lang="en-US" sz="900" dirty="0"/>
          </a:p>
        </p:txBody>
      </p:sp>
      <p:sp>
        <p:nvSpPr>
          <p:cNvPr id="35" name="Text 29"/>
          <p:cNvSpPr/>
          <p:nvPr/>
        </p:nvSpPr>
        <p:spPr>
          <a:xfrm>
            <a:off x="5582412" y="1993392"/>
            <a:ext cx="1316736" cy="1280160"/>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Your PIC reviews the labeled queue and assigns qualified leads to the counsellor who covers that program or that campus.</a:t>
            </a:r>
            <a:endParaRPr lang="en-US" sz="750" dirty="0"/>
          </a:p>
        </p:txBody>
      </p:sp>
      <p:sp>
        <p:nvSpPr>
          <p:cNvPr id="36" name="Text 30"/>
          <p:cNvSpPr/>
          <p:nvPr/>
        </p:nvSpPr>
        <p:spPr>
          <a:xfrm>
            <a:off x="7018020" y="2148840"/>
            <a:ext cx="114300" cy="182880"/>
          </a:xfrm>
          <a:prstGeom prst="rect">
            <a:avLst/>
          </a:prstGeom>
          <a:noFill/>
          <a:ln/>
        </p:spPr>
        <p:txBody>
          <a:bodyPr wrap="none" lIns="0" tIns="0" rIns="0" bIns="0" rtlCol="0" anchor="t"/>
          <a:lstStyle/>
          <a:p>
            <a:pPr algn="ctr" indent="0" marL="0">
              <a:buNone/>
            </a:pPr>
            <a:r>
              <a:rPr lang="en-US" sz="800" b="1" dirty="0">
                <a:solidFill>
                  <a:srgbClr val="9AA0A8"/>
                </a:solidFill>
                <a:latin typeface="Inter Tight" pitchFamily="34" charset="0"/>
                <a:ea typeface="Inter Tight" pitchFamily="34" charset="-122"/>
                <a:cs typeface="Inter Tight" pitchFamily="34" charset="-120"/>
              </a:rPr>
              <a:t>&gt;</a:t>
            </a:r>
            <a:endParaRPr lang="en-US" sz="800" dirty="0"/>
          </a:p>
        </p:txBody>
      </p:sp>
      <p:sp>
        <p:nvSpPr>
          <p:cNvPr id="37" name="Shape 31"/>
          <p:cNvSpPr/>
          <p:nvPr/>
        </p:nvSpPr>
        <p:spPr>
          <a:xfrm>
            <a:off x="7132320" y="1280160"/>
            <a:ext cx="1554480" cy="2066544"/>
          </a:xfrm>
          <a:prstGeom prst="roundRect">
            <a:avLst>
              <a:gd name="adj" fmla="val 3529"/>
            </a:avLst>
          </a:prstGeom>
          <a:solidFill>
            <a:srgbClr val="F2F3F6"/>
          </a:solidFill>
          <a:ln/>
        </p:spPr>
      </p:sp>
      <p:sp>
        <p:nvSpPr>
          <p:cNvPr id="38" name="Shape 32"/>
          <p:cNvSpPr/>
          <p:nvPr/>
        </p:nvSpPr>
        <p:spPr>
          <a:xfrm>
            <a:off x="7132320" y="1280160"/>
            <a:ext cx="1554480" cy="54864"/>
          </a:xfrm>
          <a:prstGeom prst="rect">
            <a:avLst/>
          </a:prstGeom>
          <a:solidFill>
            <a:srgbClr val="4A7BF7"/>
          </a:solidFill>
          <a:ln/>
        </p:spPr>
      </p:sp>
      <p:sp>
        <p:nvSpPr>
          <p:cNvPr id="39" name="Shape 33"/>
          <p:cNvSpPr/>
          <p:nvPr/>
        </p:nvSpPr>
        <p:spPr>
          <a:xfrm>
            <a:off x="8254746" y="1371600"/>
            <a:ext cx="285750" cy="285750"/>
          </a:xfrm>
          <a:prstGeom prst="roundRect">
            <a:avLst>
              <a:gd name="adj" fmla="val 30000"/>
            </a:avLst>
          </a:prstGeom>
          <a:solidFill>
            <a:srgbClr val="FFFFFF"/>
          </a:solidFill>
          <a:ln/>
        </p:spPr>
      </p:sp>
      <p:pic>
        <p:nvPicPr>
          <p:cNvPr id="40" name="Image 4" descr="icons/check.png"/>
          <p:cNvPicPr>
            <a:picLocks noChangeAspect="1"/>
          </p:cNvPicPr>
          <p:nvPr/>
        </p:nvPicPr>
        <p:blipFill>
          <a:blip r:embed="rId5"/>
          <a:stretch>
            <a:fillRect/>
          </a:stretch>
        </p:blipFill>
        <p:spPr>
          <a:xfrm>
            <a:off x="8311896" y="1428750"/>
            <a:ext cx="171450" cy="171450"/>
          </a:xfrm>
          <a:prstGeom prst="rect">
            <a:avLst/>
          </a:prstGeom>
        </p:spPr>
      </p:pic>
      <p:sp>
        <p:nvSpPr>
          <p:cNvPr id="41" name="Text 34"/>
          <p:cNvSpPr/>
          <p:nvPr/>
        </p:nvSpPr>
        <p:spPr>
          <a:xfrm>
            <a:off x="7251192" y="1389888"/>
            <a:ext cx="50292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05</a:t>
            </a:r>
            <a:endParaRPr lang="en-US" sz="800" dirty="0"/>
          </a:p>
        </p:txBody>
      </p:sp>
      <p:sp>
        <p:nvSpPr>
          <p:cNvPr id="42" name="Text 35"/>
          <p:cNvSpPr/>
          <p:nvPr/>
        </p:nvSpPr>
        <p:spPr>
          <a:xfrm>
            <a:off x="7251192" y="1700784"/>
            <a:ext cx="1316736" cy="274320"/>
          </a:xfrm>
          <a:prstGeom prst="rect">
            <a:avLst/>
          </a:prstGeom>
          <a:noFill/>
          <a:ln/>
        </p:spPr>
        <p:txBody>
          <a:bodyPr wrap="square" lIns="0" tIns="0" rIns="0" bIns="0" rtlCol="0" anchor="t"/>
          <a:lstStyle/>
          <a:p>
            <a:pPr indent="0" marL="0">
              <a:buNone/>
            </a:pPr>
            <a:r>
              <a:rPr lang="en-US" sz="900" b="1" dirty="0">
                <a:solidFill>
                  <a:srgbClr val="0F0F0F"/>
                </a:solidFill>
                <a:latin typeface="Inter Tight" pitchFamily="34" charset="0"/>
                <a:ea typeface="Inter Tight" pitchFamily="34" charset="-122"/>
                <a:cs typeface="Inter Tight" pitchFamily="34" charset="-120"/>
              </a:rPr>
              <a:t>Outcome recorded</a:t>
            </a:r>
            <a:endParaRPr lang="en-US" sz="900" dirty="0"/>
          </a:p>
        </p:txBody>
      </p:sp>
      <p:sp>
        <p:nvSpPr>
          <p:cNvPr id="43" name="Text 36"/>
          <p:cNvSpPr/>
          <p:nvPr/>
        </p:nvSpPr>
        <p:spPr>
          <a:xfrm>
            <a:off x="7251192" y="1993392"/>
            <a:ext cx="1316736" cy="1280160"/>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Appointment booked, walked in, applied, enrolled. Each outcome writes back to TikTok, Meta and Google so delivery optimizes toward students.</a:t>
            </a:r>
            <a:endParaRPr lang="en-US" sz="750" dirty="0"/>
          </a:p>
        </p:txBody>
      </p:sp>
      <p:sp>
        <p:nvSpPr>
          <p:cNvPr id="44" name="Shape 37"/>
          <p:cNvSpPr/>
          <p:nvPr/>
        </p:nvSpPr>
        <p:spPr>
          <a:xfrm>
            <a:off x="457200" y="3493008"/>
            <a:ext cx="8229600" cy="310896"/>
          </a:xfrm>
          <a:prstGeom prst="rect">
            <a:avLst/>
          </a:prstGeom>
          <a:solidFill>
            <a:srgbClr val="3056C9"/>
          </a:solidFill>
          <a:ln/>
        </p:spPr>
      </p:sp>
      <p:sp>
        <p:nvSpPr>
          <p:cNvPr id="45" name="Text 38"/>
          <p:cNvSpPr/>
          <p:nvPr/>
        </p:nvSpPr>
        <p:spPr>
          <a:xfrm>
            <a:off x="603504" y="3493008"/>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Automation carries stages 01 to 03  |  Your team starts at stage 04, on leads that are already labeled  |  Stage 05 turns cost per lead into cost per student</a:t>
            </a:r>
            <a:endParaRPr lang="en-US" sz="800" dirty="0"/>
          </a:p>
        </p:txBody>
      </p:sp>
      <p:sp>
        <p:nvSpPr>
          <p:cNvPr id="46" name="Text 39"/>
          <p:cNvSpPr/>
          <p:nvPr/>
        </p:nvSpPr>
        <p:spPr>
          <a:xfrm>
            <a:off x="457200" y="3950208"/>
            <a:ext cx="8229600" cy="457200"/>
          </a:xfrm>
          <a:prstGeom prst="rect">
            <a:avLst/>
          </a:prstGeom>
          <a:noFill/>
          <a:ln/>
        </p:spPr>
        <p:txBody>
          <a:bodyPr wrap="square" lIns="0" tIns="0" rIns="0" bIns="0" rtlCol="0" anchor="t"/>
          <a:lstStyle/>
          <a:p>
            <a:pPr indent="0" marL="0">
              <a:buNone/>
            </a:pPr>
            <a:r>
              <a:rPr lang="en-US" sz="800" dirty="0">
                <a:solidFill>
                  <a:srgbClr val="0F0F0F"/>
                </a:solidFill>
                <a:latin typeface="Inter Tight" pitchFamily="34" charset="0"/>
                <a:ea typeface="Inter Tight" pitchFamily="34" charset="-122"/>
                <a:cs typeface="Inter Tight" pitchFamily="34" charset="-120"/>
              </a:rPr>
              <a:t>Stage 05 is the one we asked for in the review. Without it we can keep improving the cost of a lead, but every decision about lead quality stays a guess dressed up as analysis.</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Speed, automation, and visibility</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Three problems your team raised in the review, and what the engine does about each one.</a:t>
            </a:r>
            <a:endParaRPr lang="en-US" sz="850" dirty="0"/>
          </a:p>
        </p:txBody>
      </p:sp>
      <p:sp>
        <p:nvSpPr>
          <p:cNvPr id="5" name="Shape 3"/>
          <p:cNvSpPr/>
          <p:nvPr/>
        </p:nvSpPr>
        <p:spPr>
          <a:xfrm>
            <a:off x="457200" y="1280160"/>
            <a:ext cx="2651760" cy="2834640"/>
          </a:xfrm>
          <a:prstGeom prst="roundRect">
            <a:avLst>
              <a:gd name="adj" fmla="val 2069"/>
            </a:avLst>
          </a:prstGeom>
          <a:solidFill>
            <a:srgbClr val="F2F3F6"/>
          </a:solidFill>
          <a:ln/>
        </p:spPr>
      </p:sp>
      <p:sp>
        <p:nvSpPr>
          <p:cNvPr id="6" name="Shape 4"/>
          <p:cNvSpPr/>
          <p:nvPr/>
        </p:nvSpPr>
        <p:spPr>
          <a:xfrm>
            <a:off x="457200" y="1325880"/>
            <a:ext cx="45720" cy="2743200"/>
          </a:xfrm>
          <a:prstGeom prst="rect">
            <a:avLst/>
          </a:prstGeom>
          <a:solidFill>
            <a:srgbClr val="4A7BF7"/>
          </a:solidFill>
          <a:ln/>
        </p:spPr>
      </p:sp>
      <p:sp>
        <p:nvSpPr>
          <p:cNvPr id="7" name="Shape 5"/>
          <p:cNvSpPr/>
          <p:nvPr/>
        </p:nvSpPr>
        <p:spPr>
          <a:xfrm>
            <a:off x="2676906" y="1335024"/>
            <a:ext cx="285750" cy="285750"/>
          </a:xfrm>
          <a:prstGeom prst="roundRect">
            <a:avLst>
              <a:gd name="adj" fmla="val 30000"/>
            </a:avLst>
          </a:prstGeom>
          <a:solidFill>
            <a:srgbClr val="FFFFFF"/>
          </a:solidFill>
          <a:ln/>
        </p:spPr>
      </p:sp>
      <p:pic>
        <p:nvPicPr>
          <p:cNvPr id="8" name="Image 0" descr="icons/chart.png"/>
          <p:cNvPicPr>
            <a:picLocks noChangeAspect="1"/>
          </p:cNvPicPr>
          <p:nvPr/>
        </p:nvPicPr>
        <p:blipFill>
          <a:blip r:embed="rId1"/>
          <a:stretch>
            <a:fillRect/>
          </a:stretch>
        </p:blipFill>
        <p:spPr>
          <a:xfrm>
            <a:off x="2734056" y="1392174"/>
            <a:ext cx="171450" cy="171450"/>
          </a:xfrm>
          <a:prstGeom prst="rect">
            <a:avLst/>
          </a:prstGeom>
        </p:spPr>
      </p:pic>
      <p:sp>
        <p:nvSpPr>
          <p:cNvPr id="9" name="Text 6"/>
          <p:cNvSpPr/>
          <p:nvPr/>
        </p:nvSpPr>
        <p:spPr>
          <a:xfrm>
            <a:off x="603504" y="1408176"/>
            <a:ext cx="1920240" cy="201168"/>
          </a:xfrm>
          <a:prstGeom prst="rect">
            <a:avLst/>
          </a:prstGeom>
          <a:noFill/>
          <a:ln/>
        </p:spPr>
        <p:txBody>
          <a:bodyPr wrap="square" lIns="0" tIns="0" rIns="0" bIns="0" rtlCol="0" anchor="t"/>
          <a:lstStyle/>
          <a:p>
            <a:pPr indent="0" marL="0">
              <a:buNone/>
            </a:pPr>
            <a:r>
              <a:rPr lang="en-US" sz="950" b="1" dirty="0">
                <a:solidFill>
                  <a:srgbClr val="3056C9"/>
                </a:solidFill>
                <a:latin typeface="Inter Tight" pitchFamily="34" charset="0"/>
                <a:ea typeface="Inter Tight" pitchFamily="34" charset="-122"/>
                <a:cs typeface="Inter Tight" pitchFamily="34" charset="-120"/>
              </a:rPr>
              <a:t>Visibility</a:t>
            </a:r>
            <a:endParaRPr lang="en-US" sz="950" dirty="0"/>
          </a:p>
        </p:txBody>
      </p:sp>
      <p:sp>
        <p:nvSpPr>
          <p:cNvPr id="10" name="Text 7"/>
          <p:cNvSpPr/>
          <p:nvPr/>
        </p:nvSpPr>
        <p:spPr>
          <a:xfrm>
            <a:off x="603504" y="1664208"/>
            <a:ext cx="2359152" cy="146304"/>
          </a:xfrm>
          <a:prstGeom prst="rect">
            <a:avLst/>
          </a:prstGeom>
          <a:noFill/>
          <a:ln/>
        </p:spPr>
        <p:txBody>
          <a:bodyPr wrap="square" lIns="0" tIns="0" rIns="0" bIns="0" rtlCol="0" anchor="t"/>
          <a:lstStyle/>
          <a:p>
            <a:pPr indent="0" marL="0">
              <a:buNone/>
            </a:pPr>
            <a:r>
              <a:rPr lang="en-US" sz="700" b="1" dirty="0">
                <a:solidFill>
                  <a:srgbClr val="3056C9"/>
                </a:solidFill>
                <a:latin typeface="Inter Tight" pitchFamily="34" charset="0"/>
                <a:ea typeface="Inter Tight" pitchFamily="34" charset="-122"/>
                <a:cs typeface="Inter Tight" pitchFamily="34" charset="-120"/>
              </a:rPr>
              <a:t>The problem today</a:t>
            </a:r>
            <a:endParaRPr lang="en-US" sz="700" dirty="0"/>
          </a:p>
        </p:txBody>
      </p:sp>
      <p:sp>
        <p:nvSpPr>
          <p:cNvPr id="11" name="Text 8"/>
          <p:cNvSpPr/>
          <p:nvPr/>
        </p:nvSpPr>
        <p:spPr>
          <a:xfrm>
            <a:off x="603504" y="1819656"/>
            <a:ext cx="2359152" cy="1005840"/>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Leads arrive across TikTok forms, WhatsApp, phone calls and spreadsheets. There is no single place to see them, and no message history to judge whether any of them were worth calling.</a:t>
            </a:r>
            <a:endParaRPr lang="en-US" sz="750" dirty="0"/>
          </a:p>
        </p:txBody>
      </p:sp>
      <p:sp>
        <p:nvSpPr>
          <p:cNvPr id="12" name="Text 9"/>
          <p:cNvSpPr/>
          <p:nvPr/>
        </p:nvSpPr>
        <p:spPr>
          <a:xfrm>
            <a:off x="603504" y="2880360"/>
            <a:ext cx="2359152" cy="146304"/>
          </a:xfrm>
          <a:prstGeom prst="rect">
            <a:avLst/>
          </a:prstGeom>
          <a:noFill/>
          <a:ln/>
        </p:spPr>
        <p:txBody>
          <a:bodyPr wrap="square" lIns="0" tIns="0" rIns="0" bIns="0" rtlCol="0" anchor="t"/>
          <a:lstStyle/>
          <a:p>
            <a:pPr indent="0" marL="0">
              <a:buNone/>
            </a:pPr>
            <a:r>
              <a:rPr lang="en-US" sz="700" b="1" dirty="0">
                <a:solidFill>
                  <a:srgbClr val="3056C9"/>
                </a:solidFill>
                <a:latin typeface="Inter Tight" pitchFamily="34" charset="0"/>
                <a:ea typeface="Inter Tight" pitchFamily="34" charset="-122"/>
                <a:cs typeface="Inter Tight" pitchFamily="34" charset="-120"/>
              </a:rPr>
              <a:t>What changes</a:t>
            </a:r>
            <a:endParaRPr lang="en-US" sz="700" dirty="0"/>
          </a:p>
        </p:txBody>
      </p:sp>
      <p:sp>
        <p:nvSpPr>
          <p:cNvPr id="13" name="Text 10"/>
          <p:cNvSpPr/>
          <p:nvPr/>
        </p:nvSpPr>
        <p:spPr>
          <a:xfrm>
            <a:off x="603504" y="3035808"/>
            <a:ext cx="2359152" cy="1005840"/>
          </a:xfrm>
          <a:prstGeom prst="rect">
            <a:avLst/>
          </a:prstGeom>
          <a:noFill/>
          <a:ln/>
        </p:spPr>
        <p:txBody>
          <a:bodyPr wrap="square" lIns="0" tIns="0" rIns="0" bIns="0" rtlCol="0" anchor="t"/>
          <a:lstStyle/>
          <a:p>
            <a:pPr indent="0" marL="0">
              <a:buNone/>
            </a:pPr>
            <a:r>
              <a:rPr lang="en-US" sz="750" dirty="0">
                <a:solidFill>
                  <a:srgbClr val="0F0F0F"/>
                </a:solidFill>
                <a:latin typeface="Inter Tight" pitchFamily="34" charset="0"/>
                <a:ea typeface="Inter Tight" pitchFamily="34" charset="-122"/>
                <a:cs typeface="Inter Tight" pitchFamily="34" charset="-120"/>
              </a:rPr>
              <a:t>One inbox holds every lead and every conversation. Your manager can see, on any given day, how many leads arrived, who owns each one, and what state it is in.</a:t>
            </a:r>
            <a:endParaRPr lang="en-US" sz="750" dirty="0"/>
          </a:p>
        </p:txBody>
      </p:sp>
      <p:sp>
        <p:nvSpPr>
          <p:cNvPr id="14" name="Shape 11"/>
          <p:cNvSpPr/>
          <p:nvPr/>
        </p:nvSpPr>
        <p:spPr>
          <a:xfrm>
            <a:off x="3246120" y="1280160"/>
            <a:ext cx="2651760" cy="2834640"/>
          </a:xfrm>
          <a:prstGeom prst="roundRect">
            <a:avLst>
              <a:gd name="adj" fmla="val 2069"/>
            </a:avLst>
          </a:prstGeom>
          <a:solidFill>
            <a:srgbClr val="F2F3F6"/>
          </a:solidFill>
          <a:ln/>
        </p:spPr>
      </p:sp>
      <p:sp>
        <p:nvSpPr>
          <p:cNvPr id="15" name="Shape 12"/>
          <p:cNvSpPr/>
          <p:nvPr/>
        </p:nvSpPr>
        <p:spPr>
          <a:xfrm>
            <a:off x="3246120" y="1325880"/>
            <a:ext cx="45720" cy="2743200"/>
          </a:xfrm>
          <a:prstGeom prst="rect">
            <a:avLst/>
          </a:prstGeom>
          <a:solidFill>
            <a:srgbClr val="2ECC9B"/>
          </a:solidFill>
          <a:ln/>
        </p:spPr>
      </p:sp>
      <p:sp>
        <p:nvSpPr>
          <p:cNvPr id="16" name="Shape 13"/>
          <p:cNvSpPr/>
          <p:nvPr/>
        </p:nvSpPr>
        <p:spPr>
          <a:xfrm>
            <a:off x="5465826" y="1335024"/>
            <a:ext cx="285750" cy="285750"/>
          </a:xfrm>
          <a:prstGeom prst="roundRect">
            <a:avLst>
              <a:gd name="adj" fmla="val 30000"/>
            </a:avLst>
          </a:prstGeom>
          <a:solidFill>
            <a:srgbClr val="FFFFFF"/>
          </a:solidFill>
          <a:ln/>
        </p:spPr>
      </p:sp>
      <p:pic>
        <p:nvPicPr>
          <p:cNvPr id="17" name="Image 1" descr="icons/clock.png"/>
          <p:cNvPicPr>
            <a:picLocks noChangeAspect="1"/>
          </p:cNvPicPr>
          <p:nvPr/>
        </p:nvPicPr>
        <p:blipFill>
          <a:blip r:embed="rId2"/>
          <a:stretch>
            <a:fillRect/>
          </a:stretch>
        </p:blipFill>
        <p:spPr>
          <a:xfrm>
            <a:off x="5522976" y="1392174"/>
            <a:ext cx="171450" cy="171450"/>
          </a:xfrm>
          <a:prstGeom prst="rect">
            <a:avLst/>
          </a:prstGeom>
        </p:spPr>
      </p:pic>
      <p:sp>
        <p:nvSpPr>
          <p:cNvPr id="18" name="Text 14"/>
          <p:cNvSpPr/>
          <p:nvPr/>
        </p:nvSpPr>
        <p:spPr>
          <a:xfrm>
            <a:off x="3392424" y="1408176"/>
            <a:ext cx="1920240" cy="201168"/>
          </a:xfrm>
          <a:prstGeom prst="rect">
            <a:avLst/>
          </a:prstGeom>
          <a:noFill/>
          <a:ln/>
        </p:spPr>
        <p:txBody>
          <a:bodyPr wrap="square" lIns="0" tIns="0" rIns="0" bIns="0" rtlCol="0" anchor="t"/>
          <a:lstStyle/>
          <a:p>
            <a:pPr indent="0" marL="0">
              <a:buNone/>
            </a:pPr>
            <a:r>
              <a:rPr lang="en-US" sz="950" b="1" dirty="0">
                <a:solidFill>
                  <a:srgbClr val="3056C9"/>
                </a:solidFill>
                <a:latin typeface="Inter Tight" pitchFamily="34" charset="0"/>
                <a:ea typeface="Inter Tight" pitchFamily="34" charset="-122"/>
                <a:cs typeface="Inter Tight" pitchFamily="34" charset="-120"/>
              </a:rPr>
              <a:t>Speed</a:t>
            </a:r>
            <a:endParaRPr lang="en-US" sz="950" dirty="0"/>
          </a:p>
        </p:txBody>
      </p:sp>
      <p:sp>
        <p:nvSpPr>
          <p:cNvPr id="19" name="Text 15"/>
          <p:cNvSpPr/>
          <p:nvPr/>
        </p:nvSpPr>
        <p:spPr>
          <a:xfrm>
            <a:off x="3392424" y="1664208"/>
            <a:ext cx="2359152" cy="146304"/>
          </a:xfrm>
          <a:prstGeom prst="rect">
            <a:avLst/>
          </a:prstGeom>
          <a:noFill/>
          <a:ln/>
        </p:spPr>
        <p:txBody>
          <a:bodyPr wrap="square" lIns="0" tIns="0" rIns="0" bIns="0" rtlCol="0" anchor="t"/>
          <a:lstStyle/>
          <a:p>
            <a:pPr indent="0" marL="0">
              <a:buNone/>
            </a:pPr>
            <a:r>
              <a:rPr lang="en-US" sz="700" b="1" dirty="0">
                <a:solidFill>
                  <a:srgbClr val="3056C9"/>
                </a:solidFill>
                <a:latin typeface="Inter Tight" pitchFamily="34" charset="0"/>
                <a:ea typeface="Inter Tight" pitchFamily="34" charset="-122"/>
                <a:cs typeface="Inter Tight" pitchFamily="34" charset="-120"/>
              </a:rPr>
              <a:t>The problem today</a:t>
            </a:r>
            <a:endParaRPr lang="en-US" sz="700" dirty="0"/>
          </a:p>
        </p:txBody>
      </p:sp>
      <p:sp>
        <p:nvSpPr>
          <p:cNvPr id="20" name="Text 16"/>
          <p:cNvSpPr/>
          <p:nvPr/>
        </p:nvSpPr>
        <p:spPr>
          <a:xfrm>
            <a:off x="3392424" y="1819656"/>
            <a:ext cx="2359152" cy="1005840"/>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A lead can sit unanswered while it cools. Nobody owns the first reply, and by the time a counsellor calls, the enquirer has already messaged three other colleges.</a:t>
            </a:r>
            <a:endParaRPr lang="en-US" sz="750" dirty="0"/>
          </a:p>
        </p:txBody>
      </p:sp>
      <p:sp>
        <p:nvSpPr>
          <p:cNvPr id="21" name="Text 17"/>
          <p:cNvSpPr/>
          <p:nvPr/>
        </p:nvSpPr>
        <p:spPr>
          <a:xfrm>
            <a:off x="3392424" y="2880360"/>
            <a:ext cx="2359152" cy="146304"/>
          </a:xfrm>
          <a:prstGeom prst="rect">
            <a:avLst/>
          </a:prstGeom>
          <a:noFill/>
          <a:ln/>
        </p:spPr>
        <p:txBody>
          <a:bodyPr wrap="square" lIns="0" tIns="0" rIns="0" bIns="0" rtlCol="0" anchor="t"/>
          <a:lstStyle/>
          <a:p>
            <a:pPr indent="0" marL="0">
              <a:buNone/>
            </a:pPr>
            <a:r>
              <a:rPr lang="en-US" sz="700" b="1" dirty="0">
                <a:solidFill>
                  <a:srgbClr val="3056C9"/>
                </a:solidFill>
                <a:latin typeface="Inter Tight" pitchFamily="34" charset="0"/>
                <a:ea typeface="Inter Tight" pitchFamily="34" charset="-122"/>
                <a:cs typeface="Inter Tight" pitchFamily="34" charset="-120"/>
              </a:rPr>
              <a:t>What changes</a:t>
            </a:r>
            <a:endParaRPr lang="en-US" sz="700" dirty="0"/>
          </a:p>
        </p:txBody>
      </p:sp>
      <p:sp>
        <p:nvSpPr>
          <p:cNvPr id="22" name="Text 18"/>
          <p:cNvSpPr/>
          <p:nvPr/>
        </p:nvSpPr>
        <p:spPr>
          <a:xfrm>
            <a:off x="3392424" y="3035808"/>
            <a:ext cx="2359152" cy="1005840"/>
          </a:xfrm>
          <a:prstGeom prst="rect">
            <a:avLst/>
          </a:prstGeom>
          <a:noFill/>
          <a:ln/>
        </p:spPr>
        <p:txBody>
          <a:bodyPr wrap="square" lIns="0" tIns="0" rIns="0" bIns="0" rtlCol="0" anchor="t"/>
          <a:lstStyle/>
          <a:p>
            <a:pPr indent="0" marL="0">
              <a:buNone/>
            </a:pPr>
            <a:r>
              <a:rPr lang="en-US" sz="750" dirty="0">
                <a:solidFill>
                  <a:srgbClr val="0F0F0F"/>
                </a:solidFill>
                <a:latin typeface="Inter Tight" pitchFamily="34" charset="0"/>
                <a:ea typeface="Inter Tight" pitchFamily="34" charset="-122"/>
                <a:cs typeface="Inter Tight" pitchFamily="34" charset="-120"/>
              </a:rPr>
              <a:t>An automated acknowledgement goes out in seconds and a human picks up inside the hour. Reminders follow 24 hours and 2 hours before the visit.</a:t>
            </a:r>
            <a:endParaRPr lang="en-US" sz="750" dirty="0"/>
          </a:p>
        </p:txBody>
      </p:sp>
      <p:sp>
        <p:nvSpPr>
          <p:cNvPr id="23" name="Shape 19"/>
          <p:cNvSpPr/>
          <p:nvPr/>
        </p:nvSpPr>
        <p:spPr>
          <a:xfrm>
            <a:off x="6035040" y="1280160"/>
            <a:ext cx="2651760" cy="2834640"/>
          </a:xfrm>
          <a:prstGeom prst="roundRect">
            <a:avLst>
              <a:gd name="adj" fmla="val 2069"/>
            </a:avLst>
          </a:prstGeom>
          <a:solidFill>
            <a:srgbClr val="F2F3F6"/>
          </a:solidFill>
          <a:ln/>
        </p:spPr>
      </p:sp>
      <p:sp>
        <p:nvSpPr>
          <p:cNvPr id="24" name="Shape 20"/>
          <p:cNvSpPr/>
          <p:nvPr/>
        </p:nvSpPr>
        <p:spPr>
          <a:xfrm>
            <a:off x="6035040" y="1325880"/>
            <a:ext cx="45720" cy="2743200"/>
          </a:xfrm>
          <a:prstGeom prst="rect">
            <a:avLst/>
          </a:prstGeom>
          <a:solidFill>
            <a:srgbClr val="8E6BE6"/>
          </a:solidFill>
          <a:ln/>
        </p:spPr>
      </p:sp>
      <p:sp>
        <p:nvSpPr>
          <p:cNvPr id="25" name="Shape 21"/>
          <p:cNvSpPr/>
          <p:nvPr/>
        </p:nvSpPr>
        <p:spPr>
          <a:xfrm>
            <a:off x="8254746" y="1335024"/>
            <a:ext cx="285750" cy="285750"/>
          </a:xfrm>
          <a:prstGeom prst="roundRect">
            <a:avLst>
              <a:gd name="adj" fmla="val 30000"/>
            </a:avLst>
          </a:prstGeom>
          <a:solidFill>
            <a:srgbClr val="FFFFFF"/>
          </a:solidFill>
          <a:ln/>
        </p:spPr>
      </p:sp>
      <p:pic>
        <p:nvPicPr>
          <p:cNvPr id="26" name="Image 2" descr="icons/crm.png"/>
          <p:cNvPicPr>
            <a:picLocks noChangeAspect="1"/>
          </p:cNvPicPr>
          <p:nvPr/>
        </p:nvPicPr>
        <p:blipFill>
          <a:blip r:embed="rId3"/>
          <a:stretch>
            <a:fillRect/>
          </a:stretch>
        </p:blipFill>
        <p:spPr>
          <a:xfrm>
            <a:off x="8311896" y="1392174"/>
            <a:ext cx="171450" cy="171450"/>
          </a:xfrm>
          <a:prstGeom prst="rect">
            <a:avLst/>
          </a:prstGeom>
        </p:spPr>
      </p:pic>
      <p:sp>
        <p:nvSpPr>
          <p:cNvPr id="27" name="Text 22"/>
          <p:cNvSpPr/>
          <p:nvPr/>
        </p:nvSpPr>
        <p:spPr>
          <a:xfrm>
            <a:off x="6181344" y="1408176"/>
            <a:ext cx="1920240" cy="201168"/>
          </a:xfrm>
          <a:prstGeom prst="rect">
            <a:avLst/>
          </a:prstGeom>
          <a:noFill/>
          <a:ln/>
        </p:spPr>
        <p:txBody>
          <a:bodyPr wrap="square" lIns="0" tIns="0" rIns="0" bIns="0" rtlCol="0" anchor="t"/>
          <a:lstStyle/>
          <a:p>
            <a:pPr indent="0" marL="0">
              <a:buNone/>
            </a:pPr>
            <a:r>
              <a:rPr lang="en-US" sz="950" b="1" dirty="0">
                <a:solidFill>
                  <a:srgbClr val="3056C9"/>
                </a:solidFill>
                <a:latin typeface="Inter Tight" pitchFamily="34" charset="0"/>
                <a:ea typeface="Inter Tight" pitchFamily="34" charset="-122"/>
                <a:cs typeface="Inter Tight" pitchFamily="34" charset="-120"/>
              </a:rPr>
              <a:t>Automation</a:t>
            </a:r>
            <a:endParaRPr lang="en-US" sz="950" dirty="0"/>
          </a:p>
        </p:txBody>
      </p:sp>
      <p:sp>
        <p:nvSpPr>
          <p:cNvPr id="28" name="Text 23"/>
          <p:cNvSpPr/>
          <p:nvPr/>
        </p:nvSpPr>
        <p:spPr>
          <a:xfrm>
            <a:off x="6181344" y="1664208"/>
            <a:ext cx="2359152" cy="146304"/>
          </a:xfrm>
          <a:prstGeom prst="rect">
            <a:avLst/>
          </a:prstGeom>
          <a:noFill/>
          <a:ln/>
        </p:spPr>
        <p:txBody>
          <a:bodyPr wrap="square" lIns="0" tIns="0" rIns="0" bIns="0" rtlCol="0" anchor="t"/>
          <a:lstStyle/>
          <a:p>
            <a:pPr indent="0" marL="0">
              <a:buNone/>
            </a:pPr>
            <a:r>
              <a:rPr lang="en-US" sz="700" b="1" dirty="0">
                <a:solidFill>
                  <a:srgbClr val="3056C9"/>
                </a:solidFill>
                <a:latin typeface="Inter Tight" pitchFamily="34" charset="0"/>
                <a:ea typeface="Inter Tight" pitchFamily="34" charset="-122"/>
                <a:cs typeface="Inter Tight" pitchFamily="34" charset="-120"/>
              </a:rPr>
              <a:t>The problem today</a:t>
            </a:r>
            <a:endParaRPr lang="en-US" sz="700" dirty="0"/>
          </a:p>
        </p:txBody>
      </p:sp>
      <p:sp>
        <p:nvSpPr>
          <p:cNvPr id="29" name="Text 24"/>
          <p:cNvSpPr/>
          <p:nvPr/>
        </p:nvSpPr>
        <p:spPr>
          <a:xfrm>
            <a:off x="6181344" y="1819656"/>
            <a:ext cx="2359152" cy="1005840"/>
          </a:xfrm>
          <a:prstGeom prst="rect">
            <a:avLst/>
          </a:prstGeom>
          <a:noFill/>
          <a:ln/>
        </p:spPr>
        <p:txBody>
          <a:bodyPr wrap="square" lIns="0" tIns="0" rIns="0" bIns="0" rtlCol="0" anchor="t"/>
          <a:lstStyle/>
          <a:p>
            <a:pPr indent="0" marL="0">
              <a:buNone/>
            </a:pPr>
            <a:r>
              <a:rPr lang="en-US" sz="750" dirty="0">
                <a:solidFill>
                  <a:srgbClr val="4A4A4A"/>
                </a:solidFill>
                <a:latin typeface="Inter Tight" pitchFamily="34" charset="0"/>
                <a:ea typeface="Inter Tight" pitchFamily="34" charset="-122"/>
                <a:cs typeface="Inter Tight" pitchFamily="34" charset="-120"/>
              </a:rPr>
              <a:t>Qualifying every lead by hand costs counsellor hours, and the team spends most of them on people who were never going to enrol.</a:t>
            </a:r>
            <a:endParaRPr lang="en-US" sz="750" dirty="0"/>
          </a:p>
        </p:txBody>
      </p:sp>
      <p:sp>
        <p:nvSpPr>
          <p:cNvPr id="30" name="Text 25"/>
          <p:cNvSpPr/>
          <p:nvPr/>
        </p:nvSpPr>
        <p:spPr>
          <a:xfrm>
            <a:off x="6181344" y="2880360"/>
            <a:ext cx="2359152" cy="146304"/>
          </a:xfrm>
          <a:prstGeom prst="rect">
            <a:avLst/>
          </a:prstGeom>
          <a:noFill/>
          <a:ln/>
        </p:spPr>
        <p:txBody>
          <a:bodyPr wrap="square" lIns="0" tIns="0" rIns="0" bIns="0" rtlCol="0" anchor="t"/>
          <a:lstStyle/>
          <a:p>
            <a:pPr indent="0" marL="0">
              <a:buNone/>
            </a:pPr>
            <a:r>
              <a:rPr lang="en-US" sz="700" b="1" dirty="0">
                <a:solidFill>
                  <a:srgbClr val="3056C9"/>
                </a:solidFill>
                <a:latin typeface="Inter Tight" pitchFamily="34" charset="0"/>
                <a:ea typeface="Inter Tight" pitchFamily="34" charset="-122"/>
                <a:cs typeface="Inter Tight" pitchFamily="34" charset="-120"/>
              </a:rPr>
              <a:t>What changes</a:t>
            </a:r>
            <a:endParaRPr lang="en-US" sz="700" dirty="0"/>
          </a:p>
        </p:txBody>
      </p:sp>
      <p:sp>
        <p:nvSpPr>
          <p:cNvPr id="31" name="Text 26"/>
          <p:cNvSpPr/>
          <p:nvPr/>
        </p:nvSpPr>
        <p:spPr>
          <a:xfrm>
            <a:off x="6181344" y="3035808"/>
            <a:ext cx="2359152" cy="1005840"/>
          </a:xfrm>
          <a:prstGeom prst="rect">
            <a:avLst/>
          </a:prstGeom>
          <a:noFill/>
          <a:ln/>
        </p:spPr>
        <p:txBody>
          <a:bodyPr wrap="square" lIns="0" tIns="0" rIns="0" bIns="0" rtlCol="0" anchor="t"/>
          <a:lstStyle/>
          <a:p>
            <a:pPr indent="0" marL="0">
              <a:buNone/>
            </a:pPr>
            <a:r>
              <a:rPr lang="en-US" sz="750" dirty="0">
                <a:solidFill>
                  <a:srgbClr val="0F0F0F"/>
                </a:solidFill>
                <a:latin typeface="Inter Tight" pitchFamily="34" charset="0"/>
                <a:ea typeface="Inter Tight" pitchFamily="34" charset="-122"/>
                <a:cs typeface="Inter Tight" pitchFamily="34" charset="-120"/>
              </a:rPr>
              <a:t>The tool asks the qualifying questions and labels the answers. Counsellors open their day on a list of qualified leads rather than a list of phone numbers.</a:t>
            </a:r>
            <a:endParaRPr lang="en-US" sz="750" dirty="0"/>
          </a:p>
        </p:txBody>
      </p:sp>
      <p:sp>
        <p:nvSpPr>
          <p:cNvPr id="32" name="Shape 27"/>
          <p:cNvSpPr/>
          <p:nvPr/>
        </p:nvSpPr>
        <p:spPr>
          <a:xfrm>
            <a:off x="457200" y="4261104"/>
            <a:ext cx="8229600" cy="310896"/>
          </a:xfrm>
          <a:prstGeom prst="rect">
            <a:avLst/>
          </a:prstGeom>
          <a:solidFill>
            <a:srgbClr val="3056C9"/>
          </a:solidFill>
          <a:ln/>
        </p:spPr>
      </p:sp>
      <p:sp>
        <p:nvSpPr>
          <p:cNvPr id="33" name="Text 28"/>
          <p:cNvSpPr/>
          <p:nvPr/>
        </p:nvSpPr>
        <p:spPr>
          <a:xfrm>
            <a:off x="603504" y="4261104"/>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None of this replaces your counsellors  |  It decides which leads reach them, and how fast</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Two tools that run this</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Both do the job. We are showing you the options rather than picking for you, and we can handle the setup either way.</a:t>
            </a:r>
            <a:endParaRPr lang="en-US" sz="850" dirty="0"/>
          </a:p>
        </p:txBody>
      </p:sp>
      <p:sp>
        <p:nvSpPr>
          <p:cNvPr id="5" name="Shape 3"/>
          <p:cNvSpPr/>
          <p:nvPr/>
        </p:nvSpPr>
        <p:spPr>
          <a:xfrm>
            <a:off x="457200" y="1280160"/>
            <a:ext cx="3977640" cy="2606040"/>
          </a:xfrm>
          <a:prstGeom prst="roundRect">
            <a:avLst>
              <a:gd name="adj" fmla="val 2105"/>
            </a:avLst>
          </a:prstGeom>
          <a:solidFill>
            <a:srgbClr val="F2F3F6"/>
          </a:solidFill>
          <a:ln/>
        </p:spPr>
      </p:sp>
      <p:sp>
        <p:nvSpPr>
          <p:cNvPr id="6" name="Shape 4"/>
          <p:cNvSpPr/>
          <p:nvPr/>
        </p:nvSpPr>
        <p:spPr>
          <a:xfrm>
            <a:off x="457200" y="1325880"/>
            <a:ext cx="45720" cy="2514600"/>
          </a:xfrm>
          <a:prstGeom prst="rect">
            <a:avLst/>
          </a:prstGeom>
          <a:solidFill>
            <a:srgbClr val="4A7BF7"/>
          </a:solidFill>
          <a:ln/>
        </p:spPr>
      </p:sp>
      <p:sp>
        <p:nvSpPr>
          <p:cNvPr id="7" name="Shape 5"/>
          <p:cNvSpPr/>
          <p:nvPr/>
        </p:nvSpPr>
        <p:spPr>
          <a:xfrm>
            <a:off x="4002786" y="1335024"/>
            <a:ext cx="285750" cy="285750"/>
          </a:xfrm>
          <a:prstGeom prst="roundRect">
            <a:avLst>
              <a:gd name="adj" fmla="val 30000"/>
            </a:avLst>
          </a:prstGeom>
          <a:solidFill>
            <a:srgbClr val="FFFFFF"/>
          </a:solidFill>
          <a:ln/>
        </p:spPr>
      </p:sp>
      <p:pic>
        <p:nvPicPr>
          <p:cNvPr id="8" name="Image 0" descr="icons/crm.png"/>
          <p:cNvPicPr>
            <a:picLocks noChangeAspect="1"/>
          </p:cNvPicPr>
          <p:nvPr/>
        </p:nvPicPr>
        <p:blipFill>
          <a:blip r:embed="rId1"/>
          <a:stretch>
            <a:fillRect/>
          </a:stretch>
        </p:blipFill>
        <p:spPr>
          <a:xfrm>
            <a:off x="4059936" y="1392174"/>
            <a:ext cx="171450" cy="171450"/>
          </a:xfrm>
          <a:prstGeom prst="rect">
            <a:avLst/>
          </a:prstGeom>
        </p:spPr>
      </p:pic>
      <p:sp>
        <p:nvSpPr>
          <p:cNvPr id="9" name="Text 6"/>
          <p:cNvSpPr/>
          <p:nvPr/>
        </p:nvSpPr>
        <p:spPr>
          <a:xfrm>
            <a:off x="603504" y="1408176"/>
            <a:ext cx="3246120" cy="219456"/>
          </a:xfrm>
          <a:prstGeom prst="rect">
            <a:avLst/>
          </a:prstGeom>
          <a:noFill/>
          <a:ln/>
        </p:spPr>
        <p:txBody>
          <a:bodyPr wrap="square" lIns="0" tIns="0" rIns="0" bIns="0" rtlCol="0" anchor="t"/>
          <a:lstStyle/>
          <a:p>
            <a:pPr indent="0" marL="0">
              <a:buNone/>
            </a:pPr>
            <a:r>
              <a:rPr lang="en-US" sz="1200" b="1" dirty="0">
                <a:solidFill>
                  <a:srgbClr val="0F0F0F"/>
                </a:solidFill>
                <a:latin typeface="Inter Tight" pitchFamily="34" charset="0"/>
                <a:ea typeface="Inter Tight" pitchFamily="34" charset="-122"/>
                <a:cs typeface="Inter Tight" pitchFamily="34" charset="-120"/>
              </a:rPr>
              <a:t>respond.io</a:t>
            </a:r>
            <a:endParaRPr lang="en-US" sz="1200" dirty="0"/>
          </a:p>
        </p:txBody>
      </p:sp>
      <p:sp>
        <p:nvSpPr>
          <p:cNvPr id="10" name="Text 7"/>
          <p:cNvSpPr/>
          <p:nvPr/>
        </p:nvSpPr>
        <p:spPr>
          <a:xfrm>
            <a:off x="603504" y="1645920"/>
            <a:ext cx="3246120" cy="164592"/>
          </a:xfrm>
          <a:prstGeom prst="rect">
            <a:avLst/>
          </a:prstGeom>
          <a:noFill/>
          <a:ln/>
        </p:spPr>
        <p:txBody>
          <a:bodyPr wrap="square" lIns="0" tIns="0" rIns="0" bIns="0" rtlCol="0" anchor="t"/>
          <a:lstStyle/>
          <a:p>
            <a:pPr indent="0" marL="0">
              <a:buNone/>
            </a:pPr>
            <a:r>
              <a:rPr lang="en-US" sz="750" b="1" dirty="0">
                <a:solidFill>
                  <a:srgbClr val="3056C9"/>
                </a:solidFill>
                <a:latin typeface="Inter Tight" pitchFamily="34" charset="0"/>
                <a:ea typeface="Inter Tight" pitchFamily="34" charset="-122"/>
                <a:cs typeface="Inter Tight" pitchFamily="34" charset="-120"/>
              </a:rPr>
              <a:t>Meta Business Partner and WhatsApp BSP, omnichannel</a:t>
            </a:r>
            <a:endParaRPr lang="en-US" sz="750" dirty="0"/>
          </a:p>
        </p:txBody>
      </p:sp>
      <p:sp>
        <p:nvSpPr>
          <p:cNvPr id="11" name="Text 8"/>
          <p:cNvSpPr/>
          <p:nvPr/>
        </p:nvSpPr>
        <p:spPr>
          <a:xfrm>
            <a:off x="603504" y="1847088"/>
            <a:ext cx="3685032" cy="1911096"/>
          </a:xfrm>
          <a:prstGeom prst="rect">
            <a:avLst/>
          </a:prstGeom>
          <a:noFill/>
          <a:ln/>
        </p:spPr>
        <p:txBody>
          <a:bodyPr wrap="square" lIns="0" tIns="0" rIns="0" bIns="0" rtlCol="0" anchor="t"/>
          <a:lstStyle/>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One inbox across WhatsApp, TikTok, Instagram, Facebook and email, so paid channels and organic messages sit in the same place.</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An AI agent qualifies the lead, answers common questions, books appointments and routes the conversation to the right person.</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Lifecycle management labels every contact by stage, which is the visibility your manager is missing today.</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Workflow automation covers assignment rules, reminders and satisfaction surveys inside the conversation.</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Indicative cost: the Growth tier includes 10 users at USD 1,908 a year, and it is the tier that carries AI agents, lifecycle management and advanced reports. Extra users are USD 20 each.</a:t>
            </a:r>
            <a:endParaRPr lang="en-US" sz="750" dirty="0"/>
          </a:p>
        </p:txBody>
      </p:sp>
      <p:sp>
        <p:nvSpPr>
          <p:cNvPr id="12" name="Shape 9"/>
          <p:cNvSpPr/>
          <p:nvPr/>
        </p:nvSpPr>
        <p:spPr>
          <a:xfrm>
            <a:off x="4709160" y="1280160"/>
            <a:ext cx="3977640" cy="2606040"/>
          </a:xfrm>
          <a:prstGeom prst="roundRect">
            <a:avLst>
              <a:gd name="adj" fmla="val 2105"/>
            </a:avLst>
          </a:prstGeom>
          <a:solidFill>
            <a:srgbClr val="F2F3F6"/>
          </a:solidFill>
          <a:ln/>
        </p:spPr>
      </p:sp>
      <p:sp>
        <p:nvSpPr>
          <p:cNvPr id="13" name="Shape 10"/>
          <p:cNvSpPr/>
          <p:nvPr/>
        </p:nvSpPr>
        <p:spPr>
          <a:xfrm>
            <a:off x="4709160" y="1325880"/>
            <a:ext cx="45720" cy="2514600"/>
          </a:xfrm>
          <a:prstGeom prst="rect">
            <a:avLst/>
          </a:prstGeom>
          <a:solidFill>
            <a:srgbClr val="F28B4C"/>
          </a:solidFill>
          <a:ln/>
        </p:spPr>
      </p:sp>
      <p:sp>
        <p:nvSpPr>
          <p:cNvPr id="14" name="Shape 11"/>
          <p:cNvSpPr/>
          <p:nvPr/>
        </p:nvSpPr>
        <p:spPr>
          <a:xfrm>
            <a:off x="8254746" y="1335024"/>
            <a:ext cx="285750" cy="285750"/>
          </a:xfrm>
          <a:prstGeom prst="roundRect">
            <a:avLst>
              <a:gd name="adj" fmla="val 30000"/>
            </a:avLst>
          </a:prstGeom>
          <a:solidFill>
            <a:srgbClr val="FFFFFF"/>
          </a:solidFill>
          <a:ln/>
        </p:spPr>
      </p:sp>
      <p:pic>
        <p:nvPicPr>
          <p:cNvPr id="15" name="Image 1" descr="icons/phone.png"/>
          <p:cNvPicPr>
            <a:picLocks noChangeAspect="1"/>
          </p:cNvPicPr>
          <p:nvPr/>
        </p:nvPicPr>
        <p:blipFill>
          <a:blip r:embed="rId2"/>
          <a:stretch>
            <a:fillRect/>
          </a:stretch>
        </p:blipFill>
        <p:spPr>
          <a:xfrm>
            <a:off x="8311896" y="1392174"/>
            <a:ext cx="171450" cy="171450"/>
          </a:xfrm>
          <a:prstGeom prst="rect">
            <a:avLst/>
          </a:prstGeom>
        </p:spPr>
      </p:pic>
      <p:sp>
        <p:nvSpPr>
          <p:cNvPr id="16" name="Text 12"/>
          <p:cNvSpPr/>
          <p:nvPr/>
        </p:nvSpPr>
        <p:spPr>
          <a:xfrm>
            <a:off x="4855464" y="1408176"/>
            <a:ext cx="3246120" cy="219456"/>
          </a:xfrm>
          <a:prstGeom prst="rect">
            <a:avLst/>
          </a:prstGeom>
          <a:noFill/>
          <a:ln/>
        </p:spPr>
        <p:txBody>
          <a:bodyPr wrap="square" lIns="0" tIns="0" rIns="0" bIns="0" rtlCol="0" anchor="t"/>
          <a:lstStyle/>
          <a:p>
            <a:pPr indent="0" marL="0">
              <a:buNone/>
            </a:pPr>
            <a:r>
              <a:rPr lang="en-US" sz="1200" b="1" dirty="0">
                <a:solidFill>
                  <a:srgbClr val="0F0F0F"/>
                </a:solidFill>
                <a:latin typeface="Inter Tight" pitchFamily="34" charset="0"/>
                <a:ea typeface="Inter Tight" pitchFamily="34" charset="-122"/>
                <a:cs typeface="Inter Tight" pitchFamily="34" charset="-120"/>
              </a:rPr>
              <a:t>WATI</a:t>
            </a:r>
            <a:endParaRPr lang="en-US" sz="1200" dirty="0"/>
          </a:p>
        </p:txBody>
      </p:sp>
      <p:sp>
        <p:nvSpPr>
          <p:cNvPr id="17" name="Text 13"/>
          <p:cNvSpPr/>
          <p:nvPr/>
        </p:nvSpPr>
        <p:spPr>
          <a:xfrm>
            <a:off x="4855464" y="1645920"/>
            <a:ext cx="3246120" cy="164592"/>
          </a:xfrm>
          <a:prstGeom prst="rect">
            <a:avLst/>
          </a:prstGeom>
          <a:noFill/>
          <a:ln/>
        </p:spPr>
        <p:txBody>
          <a:bodyPr wrap="square" lIns="0" tIns="0" rIns="0" bIns="0" rtlCol="0" anchor="t"/>
          <a:lstStyle/>
          <a:p>
            <a:pPr indent="0" marL="0">
              <a:buNone/>
            </a:pPr>
            <a:r>
              <a:rPr lang="en-US" sz="750" b="1" dirty="0">
                <a:solidFill>
                  <a:srgbClr val="3056C9"/>
                </a:solidFill>
                <a:latin typeface="Inter Tight" pitchFamily="34" charset="0"/>
                <a:ea typeface="Inter Tight" pitchFamily="34" charset="-122"/>
                <a:cs typeface="Inter Tight" pitchFamily="34" charset="-120"/>
              </a:rPr>
              <a:t>Official WhatsApp BSP, WhatsApp first</a:t>
            </a:r>
            <a:endParaRPr lang="en-US" sz="750" dirty="0"/>
          </a:p>
        </p:txBody>
      </p:sp>
      <p:sp>
        <p:nvSpPr>
          <p:cNvPr id="18" name="Text 14"/>
          <p:cNvSpPr/>
          <p:nvPr/>
        </p:nvSpPr>
        <p:spPr>
          <a:xfrm>
            <a:off x="4855464" y="1847088"/>
            <a:ext cx="3685032" cy="1911096"/>
          </a:xfrm>
          <a:prstGeom prst="rect">
            <a:avLst/>
          </a:prstGeom>
          <a:noFill/>
          <a:ln/>
        </p:spPr>
        <p:txBody>
          <a:bodyPr wrap="square" lIns="0" tIns="0" rIns="0" bIns="0" rtlCol="0" anchor="t"/>
          <a:lstStyle/>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Team inbox across WhatsApp, Instagram, Facebook and website chat, built around WhatsApp as the primary channel.</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A no code chatbot builder, so your team can change the qualifying questions without waiting on a developer.</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AI agents for qualification and support, with broadcast campaigns for intake reminders and open day pushes.</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Over 100 integrations, plus lead forms built directly into the chat flow.</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Indicative cost: the Pro tier includes 5 users, with extra users at USD 24 each. WATI quotes different rates by billing term and region, so we confirm the current plan rate with them before you commit.</a:t>
            </a:r>
            <a:endParaRPr lang="en-US" sz="750" dirty="0"/>
          </a:p>
        </p:txBody>
      </p:sp>
      <p:sp>
        <p:nvSpPr>
          <p:cNvPr id="19" name="Shape 15"/>
          <p:cNvSpPr/>
          <p:nvPr/>
        </p:nvSpPr>
        <p:spPr>
          <a:xfrm>
            <a:off x="457200" y="4133088"/>
            <a:ext cx="8229600" cy="310896"/>
          </a:xfrm>
          <a:prstGeom prst="rect">
            <a:avLst/>
          </a:prstGeom>
          <a:solidFill>
            <a:srgbClr val="3056C9"/>
          </a:solidFill>
          <a:ln/>
        </p:spPr>
      </p:sp>
      <p:sp>
        <p:nvSpPr>
          <p:cNvPr id="20" name="Text 16"/>
          <p:cNvSpPr/>
          <p:nvPr/>
        </p:nvSpPr>
        <p:spPr>
          <a:xfrm>
            <a:off x="603504" y="4133088"/>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Both are official WhatsApp BSPs and both send events to the Meta Conversions API  |  Neither subscription includes WhatsApp message fees, which are charged on usage  |  We run the setup and the team onboarding either way</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The first three months</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Two weeks to build, one month to learn, and one month to scale while we plan the 2027 cycle.</a:t>
            </a:r>
            <a:endParaRPr lang="en-US" sz="850" dirty="0"/>
          </a:p>
        </p:txBody>
      </p:sp>
      <p:sp>
        <p:nvSpPr>
          <p:cNvPr id="5" name="Shape 3"/>
          <p:cNvSpPr/>
          <p:nvPr/>
        </p:nvSpPr>
        <p:spPr>
          <a:xfrm>
            <a:off x="457200" y="1280160"/>
            <a:ext cx="2651760" cy="2651760"/>
          </a:xfrm>
          <a:prstGeom prst="roundRect">
            <a:avLst>
              <a:gd name="adj" fmla="val 2069"/>
            </a:avLst>
          </a:prstGeom>
          <a:solidFill>
            <a:srgbClr val="F2F3F6"/>
          </a:solidFill>
          <a:ln/>
        </p:spPr>
      </p:sp>
      <p:sp>
        <p:nvSpPr>
          <p:cNvPr id="6" name="Shape 4"/>
          <p:cNvSpPr/>
          <p:nvPr/>
        </p:nvSpPr>
        <p:spPr>
          <a:xfrm>
            <a:off x="457200" y="1280160"/>
            <a:ext cx="2651760" cy="54864"/>
          </a:xfrm>
          <a:prstGeom prst="rect">
            <a:avLst/>
          </a:prstGeom>
          <a:solidFill>
            <a:srgbClr val="4A7BF7"/>
          </a:solidFill>
          <a:ln/>
        </p:spPr>
      </p:sp>
      <p:sp>
        <p:nvSpPr>
          <p:cNvPr id="7" name="Shape 5"/>
          <p:cNvSpPr/>
          <p:nvPr/>
        </p:nvSpPr>
        <p:spPr>
          <a:xfrm>
            <a:off x="2676906" y="1389888"/>
            <a:ext cx="285750" cy="285750"/>
          </a:xfrm>
          <a:prstGeom prst="roundRect">
            <a:avLst>
              <a:gd name="adj" fmla="val 30000"/>
            </a:avLst>
          </a:prstGeom>
          <a:solidFill>
            <a:srgbClr val="FFFFFF"/>
          </a:solidFill>
          <a:ln/>
        </p:spPr>
      </p:sp>
      <p:pic>
        <p:nvPicPr>
          <p:cNvPr id="8" name="Image 0" descr="icons/plus.png"/>
          <p:cNvPicPr>
            <a:picLocks noChangeAspect="1"/>
          </p:cNvPicPr>
          <p:nvPr/>
        </p:nvPicPr>
        <p:blipFill>
          <a:blip r:embed="rId1"/>
          <a:stretch>
            <a:fillRect/>
          </a:stretch>
        </p:blipFill>
        <p:spPr>
          <a:xfrm>
            <a:off x="2734056" y="1447038"/>
            <a:ext cx="171450" cy="171450"/>
          </a:xfrm>
          <a:prstGeom prst="rect">
            <a:avLst/>
          </a:prstGeom>
        </p:spPr>
      </p:pic>
      <p:sp>
        <p:nvSpPr>
          <p:cNvPr id="9" name="Text 6"/>
          <p:cNvSpPr/>
          <p:nvPr/>
        </p:nvSpPr>
        <p:spPr>
          <a:xfrm>
            <a:off x="603504" y="1389888"/>
            <a:ext cx="91440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Month 1</a:t>
            </a:r>
            <a:endParaRPr lang="en-US" sz="800" dirty="0"/>
          </a:p>
        </p:txBody>
      </p:sp>
      <p:sp>
        <p:nvSpPr>
          <p:cNvPr id="10" name="Text 7"/>
          <p:cNvSpPr/>
          <p:nvPr/>
        </p:nvSpPr>
        <p:spPr>
          <a:xfrm>
            <a:off x="603504" y="1591056"/>
            <a:ext cx="1920240" cy="219456"/>
          </a:xfrm>
          <a:prstGeom prst="rect">
            <a:avLst/>
          </a:prstGeom>
          <a:noFill/>
          <a:ln/>
        </p:spPr>
        <p:txBody>
          <a:bodyPr wrap="square" lIns="0" tIns="0" rIns="0" bIns="0" rtlCol="0" anchor="t"/>
          <a:lstStyle/>
          <a:p>
            <a:pPr indent="0" marL="0">
              <a:buNone/>
            </a:pPr>
            <a:r>
              <a:rPr lang="en-US" sz="1200" b="1" dirty="0">
                <a:solidFill>
                  <a:srgbClr val="0F0F0F"/>
                </a:solidFill>
                <a:latin typeface="Inter Tight" pitchFamily="34" charset="0"/>
                <a:ea typeface="Inter Tight" pitchFamily="34" charset="-122"/>
                <a:cs typeface="Inter Tight" pitchFamily="34" charset="-120"/>
              </a:rPr>
              <a:t>Build</a:t>
            </a:r>
            <a:endParaRPr lang="en-US" sz="1200" dirty="0"/>
          </a:p>
        </p:txBody>
      </p:sp>
      <p:sp>
        <p:nvSpPr>
          <p:cNvPr id="11" name="Text 8"/>
          <p:cNvSpPr/>
          <p:nvPr/>
        </p:nvSpPr>
        <p:spPr>
          <a:xfrm>
            <a:off x="603504" y="1847088"/>
            <a:ext cx="2359152" cy="1975104"/>
          </a:xfrm>
          <a:prstGeom prst="rect">
            <a:avLst/>
          </a:prstGeom>
          <a:noFill/>
          <a:ln/>
        </p:spPr>
        <p:txBody>
          <a:bodyPr wrap="square" lIns="0" tIns="0" rIns="0" bIns="0" rtlCol="0" anchor="t"/>
          <a:lstStyle/>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Weeks 1 and 2: Meta and Google Search accounts built, tracking stack installed, negative lists in place before any spend.</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CRM chosen, connected, and your sales team onboarded on it.</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TikTok spend rebalanced off the single dominant ad and onto the sub RM 20 performers.</a:t>
            </a:r>
            <a:endParaRPr lang="en-US" sz="750" dirty="0"/>
          </a:p>
        </p:txBody>
      </p:sp>
      <p:sp>
        <p:nvSpPr>
          <p:cNvPr id="12" name="Shape 9"/>
          <p:cNvSpPr/>
          <p:nvPr/>
        </p:nvSpPr>
        <p:spPr>
          <a:xfrm>
            <a:off x="3246120" y="1280160"/>
            <a:ext cx="2651760" cy="2651760"/>
          </a:xfrm>
          <a:prstGeom prst="roundRect">
            <a:avLst>
              <a:gd name="adj" fmla="val 2069"/>
            </a:avLst>
          </a:prstGeom>
          <a:solidFill>
            <a:srgbClr val="F2F3F6"/>
          </a:solidFill>
          <a:ln/>
        </p:spPr>
      </p:sp>
      <p:sp>
        <p:nvSpPr>
          <p:cNvPr id="13" name="Shape 10"/>
          <p:cNvSpPr/>
          <p:nvPr/>
        </p:nvSpPr>
        <p:spPr>
          <a:xfrm>
            <a:off x="3246120" y="1280160"/>
            <a:ext cx="2651760" cy="54864"/>
          </a:xfrm>
          <a:prstGeom prst="rect">
            <a:avLst/>
          </a:prstGeom>
          <a:solidFill>
            <a:srgbClr val="2ECC9B"/>
          </a:solidFill>
          <a:ln/>
        </p:spPr>
      </p:sp>
      <p:sp>
        <p:nvSpPr>
          <p:cNvPr id="14" name="Shape 11"/>
          <p:cNvSpPr/>
          <p:nvPr/>
        </p:nvSpPr>
        <p:spPr>
          <a:xfrm>
            <a:off x="5465826" y="1389888"/>
            <a:ext cx="285750" cy="285750"/>
          </a:xfrm>
          <a:prstGeom prst="roundRect">
            <a:avLst>
              <a:gd name="adj" fmla="val 30000"/>
            </a:avLst>
          </a:prstGeom>
          <a:solidFill>
            <a:srgbClr val="FFFFFF"/>
          </a:solidFill>
          <a:ln/>
        </p:spPr>
      </p:sp>
      <p:pic>
        <p:nvPicPr>
          <p:cNvPr id="15" name="Image 1" descr="icons/magnifier.png"/>
          <p:cNvPicPr>
            <a:picLocks noChangeAspect="1"/>
          </p:cNvPicPr>
          <p:nvPr/>
        </p:nvPicPr>
        <p:blipFill>
          <a:blip r:embed="rId2"/>
          <a:stretch>
            <a:fillRect/>
          </a:stretch>
        </p:blipFill>
        <p:spPr>
          <a:xfrm>
            <a:off x="5522976" y="1447038"/>
            <a:ext cx="171450" cy="171450"/>
          </a:xfrm>
          <a:prstGeom prst="rect">
            <a:avLst/>
          </a:prstGeom>
        </p:spPr>
      </p:pic>
      <p:sp>
        <p:nvSpPr>
          <p:cNvPr id="16" name="Text 12"/>
          <p:cNvSpPr/>
          <p:nvPr/>
        </p:nvSpPr>
        <p:spPr>
          <a:xfrm>
            <a:off x="3392424" y="1389888"/>
            <a:ext cx="91440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Month 2</a:t>
            </a:r>
            <a:endParaRPr lang="en-US" sz="800" dirty="0"/>
          </a:p>
        </p:txBody>
      </p:sp>
      <p:sp>
        <p:nvSpPr>
          <p:cNvPr id="17" name="Text 13"/>
          <p:cNvSpPr/>
          <p:nvPr/>
        </p:nvSpPr>
        <p:spPr>
          <a:xfrm>
            <a:off x="3392424" y="1591056"/>
            <a:ext cx="1920240" cy="219456"/>
          </a:xfrm>
          <a:prstGeom prst="rect">
            <a:avLst/>
          </a:prstGeom>
          <a:noFill/>
          <a:ln/>
        </p:spPr>
        <p:txBody>
          <a:bodyPr wrap="square" lIns="0" tIns="0" rIns="0" bIns="0" rtlCol="0" anchor="t"/>
          <a:lstStyle/>
          <a:p>
            <a:pPr indent="0" marL="0">
              <a:buNone/>
            </a:pPr>
            <a:r>
              <a:rPr lang="en-US" sz="1200" b="1" dirty="0">
                <a:solidFill>
                  <a:srgbClr val="0F0F0F"/>
                </a:solidFill>
                <a:latin typeface="Inter Tight" pitchFamily="34" charset="0"/>
                <a:ea typeface="Inter Tight" pitchFamily="34" charset="-122"/>
                <a:cs typeface="Inter Tight" pitchFamily="34" charset="-120"/>
              </a:rPr>
              <a:t>Test and learn</a:t>
            </a:r>
            <a:endParaRPr lang="en-US" sz="1200" dirty="0"/>
          </a:p>
        </p:txBody>
      </p:sp>
      <p:sp>
        <p:nvSpPr>
          <p:cNvPr id="18" name="Text 14"/>
          <p:cNvSpPr/>
          <p:nvPr/>
        </p:nvSpPr>
        <p:spPr>
          <a:xfrm>
            <a:off x="3392424" y="1847088"/>
            <a:ext cx="2359152" cy="1975104"/>
          </a:xfrm>
          <a:prstGeom prst="rect">
            <a:avLst/>
          </a:prstGeom>
          <a:noFill/>
          <a:ln/>
        </p:spPr>
        <p:txBody>
          <a:bodyPr wrap="square" lIns="0" tIns="0" rIns="0" bIns="0" rtlCol="0" anchor="t"/>
          <a:lstStyle/>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Creative rotation judged on hook rate, with anything under 15% pulled at one week.</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Search term mining and negatives reviewed every week, before broad match opens.</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Instant form against click to WhatsApp on Meta, and the poster offers tested in ad copy for the first time.</a:t>
            </a:r>
            <a:endParaRPr lang="en-US" sz="750" dirty="0"/>
          </a:p>
        </p:txBody>
      </p:sp>
      <p:sp>
        <p:nvSpPr>
          <p:cNvPr id="19" name="Shape 15"/>
          <p:cNvSpPr/>
          <p:nvPr/>
        </p:nvSpPr>
        <p:spPr>
          <a:xfrm>
            <a:off x="6035040" y="1280160"/>
            <a:ext cx="2651760" cy="2651760"/>
          </a:xfrm>
          <a:prstGeom prst="roundRect">
            <a:avLst>
              <a:gd name="adj" fmla="val 2069"/>
            </a:avLst>
          </a:prstGeom>
          <a:solidFill>
            <a:srgbClr val="F2F3F6"/>
          </a:solidFill>
          <a:ln/>
        </p:spPr>
      </p:sp>
      <p:sp>
        <p:nvSpPr>
          <p:cNvPr id="20" name="Shape 16"/>
          <p:cNvSpPr/>
          <p:nvPr/>
        </p:nvSpPr>
        <p:spPr>
          <a:xfrm>
            <a:off x="6035040" y="1280160"/>
            <a:ext cx="2651760" cy="54864"/>
          </a:xfrm>
          <a:prstGeom prst="rect">
            <a:avLst/>
          </a:prstGeom>
          <a:solidFill>
            <a:srgbClr val="8E6BE6"/>
          </a:solidFill>
          <a:ln/>
        </p:spPr>
      </p:sp>
      <p:sp>
        <p:nvSpPr>
          <p:cNvPr id="21" name="Shape 17"/>
          <p:cNvSpPr/>
          <p:nvPr/>
        </p:nvSpPr>
        <p:spPr>
          <a:xfrm>
            <a:off x="8254746" y="1389888"/>
            <a:ext cx="285750" cy="285750"/>
          </a:xfrm>
          <a:prstGeom prst="roundRect">
            <a:avLst>
              <a:gd name="adj" fmla="val 30000"/>
            </a:avLst>
          </a:prstGeom>
          <a:solidFill>
            <a:srgbClr val="FFFFFF"/>
          </a:solidFill>
          <a:ln/>
        </p:spPr>
      </p:sp>
      <p:pic>
        <p:nvPicPr>
          <p:cNvPr id="22" name="Image 2" descr="icons/bars.png"/>
          <p:cNvPicPr>
            <a:picLocks noChangeAspect="1"/>
          </p:cNvPicPr>
          <p:nvPr/>
        </p:nvPicPr>
        <p:blipFill>
          <a:blip r:embed="rId3"/>
          <a:stretch>
            <a:fillRect/>
          </a:stretch>
        </p:blipFill>
        <p:spPr>
          <a:xfrm>
            <a:off x="8311896" y="1447038"/>
            <a:ext cx="171450" cy="171450"/>
          </a:xfrm>
          <a:prstGeom prst="rect">
            <a:avLst/>
          </a:prstGeom>
        </p:spPr>
      </p:pic>
      <p:sp>
        <p:nvSpPr>
          <p:cNvPr id="23" name="Text 18"/>
          <p:cNvSpPr/>
          <p:nvPr/>
        </p:nvSpPr>
        <p:spPr>
          <a:xfrm>
            <a:off x="6181344" y="1389888"/>
            <a:ext cx="914400" cy="182880"/>
          </a:xfrm>
          <a:prstGeom prst="rect">
            <a:avLst/>
          </a:prstGeom>
          <a:noFill/>
          <a:ln/>
        </p:spPr>
        <p:txBody>
          <a:bodyPr wrap="none" lIns="0" tIns="0" rIns="0" bIns="0" rtlCol="0" anchor="t"/>
          <a:lstStyle/>
          <a:p>
            <a:pPr indent="0" marL="0">
              <a:buNone/>
            </a:pPr>
            <a:r>
              <a:rPr lang="en-US" sz="800" b="1" dirty="0">
                <a:solidFill>
                  <a:srgbClr val="3056C9"/>
                </a:solidFill>
                <a:latin typeface="Inter Tight" pitchFamily="34" charset="0"/>
                <a:ea typeface="Inter Tight" pitchFamily="34" charset="-122"/>
                <a:cs typeface="Inter Tight" pitchFamily="34" charset="-120"/>
              </a:rPr>
              <a:t>Month 3</a:t>
            </a:r>
            <a:endParaRPr lang="en-US" sz="800" dirty="0"/>
          </a:p>
        </p:txBody>
      </p:sp>
      <p:sp>
        <p:nvSpPr>
          <p:cNvPr id="24" name="Text 19"/>
          <p:cNvSpPr/>
          <p:nvPr/>
        </p:nvSpPr>
        <p:spPr>
          <a:xfrm>
            <a:off x="6181344" y="1591056"/>
            <a:ext cx="1920240" cy="219456"/>
          </a:xfrm>
          <a:prstGeom prst="rect">
            <a:avLst/>
          </a:prstGeom>
          <a:noFill/>
          <a:ln/>
        </p:spPr>
        <p:txBody>
          <a:bodyPr wrap="square" lIns="0" tIns="0" rIns="0" bIns="0" rtlCol="0" anchor="t"/>
          <a:lstStyle/>
          <a:p>
            <a:pPr indent="0" marL="0">
              <a:buNone/>
            </a:pPr>
            <a:r>
              <a:rPr lang="en-US" sz="1200" b="1" dirty="0">
                <a:solidFill>
                  <a:srgbClr val="0F0F0F"/>
                </a:solidFill>
                <a:latin typeface="Inter Tight" pitchFamily="34" charset="0"/>
                <a:ea typeface="Inter Tight" pitchFamily="34" charset="-122"/>
                <a:cs typeface="Inter Tight" pitchFamily="34" charset="-120"/>
              </a:rPr>
              <a:t>Scale and plan</a:t>
            </a:r>
            <a:endParaRPr lang="en-US" sz="1200" dirty="0"/>
          </a:p>
        </p:txBody>
      </p:sp>
      <p:sp>
        <p:nvSpPr>
          <p:cNvPr id="25" name="Text 20"/>
          <p:cNvSpPr/>
          <p:nvPr/>
        </p:nvSpPr>
        <p:spPr>
          <a:xfrm>
            <a:off x="6181344" y="1847088"/>
            <a:ext cx="2359152" cy="1975104"/>
          </a:xfrm>
          <a:prstGeom prst="rect">
            <a:avLst/>
          </a:prstGeom>
          <a:noFill/>
          <a:ln/>
        </p:spPr>
        <p:txBody>
          <a:bodyPr wrap="square" lIns="0" tIns="0" rIns="0" bIns="0" rtlCol="0" anchor="t"/>
          <a:lstStyle/>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Budget follows cost per qualified lead rather than cost per lead, because the outcome data now exists.</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Retargeting rebuilt on a pool the upper funnel has finally grown.</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The 2027 intake cycle planned against a full quarter of real data.</a:t>
            </a:r>
            <a:endParaRPr lang="en-US" sz="750" dirty="0"/>
          </a:p>
        </p:txBody>
      </p:sp>
      <p:sp>
        <p:nvSpPr>
          <p:cNvPr id="26" name="Shape 21"/>
          <p:cNvSpPr/>
          <p:nvPr/>
        </p:nvSpPr>
        <p:spPr>
          <a:xfrm>
            <a:off x="457200" y="4078224"/>
            <a:ext cx="8229600" cy="310896"/>
          </a:xfrm>
          <a:prstGeom prst="rect">
            <a:avLst/>
          </a:prstGeom>
          <a:solidFill>
            <a:srgbClr val="3056C9"/>
          </a:solidFill>
          <a:ln/>
        </p:spPr>
      </p:sp>
      <p:sp>
        <p:nvSpPr>
          <p:cNvPr id="27" name="Text 22"/>
          <p:cNvSpPr/>
          <p:nvPr/>
        </p:nvSpPr>
        <p:spPr>
          <a:xfrm>
            <a:off x="603504" y="4078224"/>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First read out at the end of week 2  |  Weekly reporting after that  |  The forecast on this deck gets revised at the end of month 1</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Caveats, and what we need from IJN</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The things worth knowing before we start, and the data requests still open from the review.</a:t>
            </a:r>
            <a:endParaRPr lang="en-US" sz="850" dirty="0"/>
          </a:p>
        </p:txBody>
      </p:sp>
      <p:sp>
        <p:nvSpPr>
          <p:cNvPr id="5" name="Shape 3"/>
          <p:cNvSpPr/>
          <p:nvPr/>
        </p:nvSpPr>
        <p:spPr>
          <a:xfrm>
            <a:off x="457200" y="1280160"/>
            <a:ext cx="3977640" cy="2743200"/>
          </a:xfrm>
          <a:prstGeom prst="roundRect">
            <a:avLst>
              <a:gd name="adj" fmla="val 2000"/>
            </a:avLst>
          </a:prstGeom>
          <a:solidFill>
            <a:srgbClr val="F2F3F6"/>
          </a:solidFill>
          <a:ln/>
        </p:spPr>
      </p:sp>
      <p:sp>
        <p:nvSpPr>
          <p:cNvPr id="6" name="Shape 4"/>
          <p:cNvSpPr/>
          <p:nvPr/>
        </p:nvSpPr>
        <p:spPr>
          <a:xfrm>
            <a:off x="457200" y="1325880"/>
            <a:ext cx="45720" cy="2651760"/>
          </a:xfrm>
          <a:prstGeom prst="rect">
            <a:avLst/>
          </a:prstGeom>
          <a:solidFill>
            <a:srgbClr val="F28B4C"/>
          </a:solidFill>
          <a:ln/>
        </p:spPr>
      </p:sp>
      <p:sp>
        <p:nvSpPr>
          <p:cNvPr id="7" name="Text 5"/>
          <p:cNvSpPr/>
          <p:nvPr/>
        </p:nvSpPr>
        <p:spPr>
          <a:xfrm>
            <a:off x="603504" y="1408176"/>
            <a:ext cx="3685032" cy="201168"/>
          </a:xfrm>
          <a:prstGeom prst="rect">
            <a:avLst/>
          </a:prstGeom>
          <a:noFill/>
          <a:ln/>
        </p:spPr>
        <p:txBody>
          <a:bodyPr wrap="square" lIns="0" tIns="0" rIns="0" bIns="0" rtlCol="0" anchor="t"/>
          <a:lstStyle/>
          <a:p>
            <a:pPr indent="0" marL="0">
              <a:buNone/>
            </a:pPr>
            <a:r>
              <a:rPr lang="en-US" sz="950" b="1" dirty="0">
                <a:solidFill>
                  <a:srgbClr val="3056C9"/>
                </a:solidFill>
                <a:latin typeface="Inter Tight" pitchFamily="34" charset="0"/>
                <a:ea typeface="Inter Tight" pitchFamily="34" charset="-122"/>
                <a:cs typeface="Inter Tight" pitchFamily="34" charset="-120"/>
              </a:rPr>
              <a:t>What the team should know</a:t>
            </a:r>
            <a:endParaRPr lang="en-US" sz="950" dirty="0"/>
          </a:p>
        </p:txBody>
      </p:sp>
      <p:sp>
        <p:nvSpPr>
          <p:cNvPr id="8" name="Text 6"/>
          <p:cNvSpPr/>
          <p:nvPr/>
        </p:nvSpPr>
        <p:spPr>
          <a:xfrm>
            <a:off x="603504" y="1664208"/>
            <a:ext cx="3685032" cy="2249424"/>
          </a:xfrm>
          <a:prstGeom prst="rect">
            <a:avLst/>
          </a:prstGeom>
          <a:noFill/>
          <a:ln/>
        </p:spPr>
        <p:txBody>
          <a:bodyPr wrap="square" lIns="0" tIns="0" rIns="0" bIns="0" rtlCol="0" anchor="t"/>
          <a:lstStyle/>
          <a:p>
            <a:pPr marL="152400" indent="-152400">
              <a:spcAft>
                <a:spcPts val="200"/>
              </a:spcAft>
              <a:buSzPct val="100000"/>
              <a:buChar char="•"/>
            </a:pPr>
            <a:r>
              <a:rPr lang="en-US" sz="750" dirty="0">
                <a:solidFill>
                  <a:srgbClr val="4A4A4A"/>
                </a:solidFill>
                <a:latin typeface="Inter Tight" pitchFamily="34" charset="0"/>
                <a:ea typeface="Inter Tight" pitchFamily="34" charset="-122"/>
                <a:cs typeface="Inter Tight" pitchFamily="34" charset="-120"/>
              </a:rPr>
              <a:t>Meta and Google both need two to four weeks of learning. The first two weeks of data is not a verdict on either channel.</a:t>
            </a:r>
            <a:endParaRPr lang="en-US" sz="750" dirty="0"/>
          </a:p>
          <a:p>
            <a:pPr marL="152400" indent="-152400">
              <a:spcAft>
                <a:spcPts val="200"/>
              </a:spcAft>
              <a:buSzPct val="100000"/>
              <a:buChar char="•"/>
            </a:pPr>
            <a:r>
              <a:rPr lang="en-US" sz="750" dirty="0">
                <a:solidFill>
                  <a:srgbClr val="4A4A4A"/>
                </a:solidFill>
                <a:latin typeface="Inter Tight" pitchFamily="34" charset="0"/>
                <a:ea typeface="Inter Tight" pitchFamily="34" charset="-122"/>
                <a:cs typeface="Inter Tight" pitchFamily="34" charset="-120"/>
              </a:rPr>
              <a:t>Google Search performance stays capped until a dedicated appointment page exists. High intent clicks landing on the homepage go to waste.</a:t>
            </a:r>
            <a:endParaRPr lang="en-US" sz="750" dirty="0"/>
          </a:p>
          <a:p>
            <a:pPr marL="152400" indent="-152400">
              <a:spcAft>
                <a:spcPts val="200"/>
              </a:spcAft>
              <a:buSzPct val="100000"/>
              <a:buChar char="•"/>
            </a:pPr>
            <a:r>
              <a:rPr lang="en-US" sz="750" dirty="0">
                <a:solidFill>
                  <a:srgbClr val="4A4A4A"/>
                </a:solidFill>
                <a:latin typeface="Inter Tight" pitchFamily="34" charset="0"/>
                <a:ea typeface="Inter Tight" pitchFamily="34" charset="-122"/>
                <a:cs typeface="Inter Tight" pitchFamily="34" charset="-120"/>
              </a:rPr>
              <a:t>Search volume for these programs is finite, so Google cannot absorb more budget without bidding on looser terms.</a:t>
            </a:r>
            <a:endParaRPr lang="en-US" sz="750" dirty="0"/>
          </a:p>
          <a:p>
            <a:pPr marL="152400" indent="-152400">
              <a:spcAft>
                <a:spcPts val="200"/>
              </a:spcAft>
              <a:buSzPct val="100000"/>
              <a:buChar char="•"/>
            </a:pPr>
            <a:r>
              <a:rPr lang="en-US" sz="750" dirty="0">
                <a:solidFill>
                  <a:srgbClr val="4A4A4A"/>
                </a:solidFill>
                <a:latin typeface="Inter Tight" pitchFamily="34" charset="0"/>
                <a:ea typeface="Inter Tight" pitchFamily="34" charset="-122"/>
                <a:cs typeface="Inter Tight" pitchFamily="34" charset="-120"/>
              </a:rPr>
              <a:t>Any loose IJN keyword pulls in patients looking for the National Heart Institute. We launch with a negative list and hold broad match back.</a:t>
            </a:r>
            <a:endParaRPr lang="en-US" sz="750" dirty="0"/>
          </a:p>
          <a:p>
            <a:pPr marL="152400" indent="-152400">
              <a:spcAft>
                <a:spcPts val="200"/>
              </a:spcAft>
              <a:buSzPct val="100000"/>
              <a:buChar char="•"/>
            </a:pPr>
            <a:r>
              <a:rPr lang="en-US" sz="750" dirty="0">
                <a:solidFill>
                  <a:srgbClr val="4A4A4A"/>
                </a:solidFill>
                <a:latin typeface="Inter Tight" pitchFamily="34" charset="0"/>
                <a:ea typeface="Inter Tight" pitchFamily="34" charset="-122"/>
                <a:cs typeface="Inter Tight" pitchFamily="34" charset="-120"/>
              </a:rPr>
              <a:t>Fee and waiver claims need your written confirmation before they run, because Google holds the advertiser to what the ad says.</a:t>
            </a:r>
            <a:endParaRPr lang="en-US" sz="750" dirty="0"/>
          </a:p>
          <a:p>
            <a:pPr marL="152400" indent="-152400">
              <a:spcAft>
                <a:spcPts val="200"/>
              </a:spcAft>
              <a:buSzPct val="100000"/>
              <a:buChar char="•"/>
            </a:pPr>
            <a:r>
              <a:rPr lang="en-US" sz="750" dirty="0">
                <a:solidFill>
                  <a:srgbClr val="4A4A4A"/>
                </a:solidFill>
                <a:latin typeface="Inter Tight" pitchFamily="34" charset="0"/>
                <a:ea typeface="Inter Tight" pitchFamily="34" charset="-122"/>
                <a:cs typeface="Inter Tight" pitchFamily="34" charset="-120"/>
              </a:rPr>
              <a:t>The CRM only reports what your team records in it. Adoption is the one dependency we cannot solve on your behalf.</a:t>
            </a:r>
            <a:endParaRPr lang="en-US" sz="750" dirty="0"/>
          </a:p>
          <a:p>
            <a:pPr marL="152400" indent="-152400">
              <a:spcAft>
                <a:spcPts val="200"/>
              </a:spcAft>
              <a:buSzPct val="100000"/>
              <a:buChar char="•"/>
            </a:pPr>
            <a:r>
              <a:rPr lang="en-US" sz="750" dirty="0">
                <a:solidFill>
                  <a:srgbClr val="4A4A4A"/>
                </a:solidFill>
                <a:latin typeface="Inter Tight" pitchFamily="34" charset="0"/>
                <a:ea typeface="Inter Tight" pitchFamily="34" charset="-122"/>
                <a:cs typeface="Inter Tight" pitchFamily="34" charset="-120"/>
              </a:rPr>
              <a:t>WhatsApp message templates need Meta approval, which has to clear before the click to WhatsApp campaigns launch.</a:t>
            </a:r>
            <a:endParaRPr lang="en-US" sz="750" dirty="0"/>
          </a:p>
        </p:txBody>
      </p:sp>
      <p:sp>
        <p:nvSpPr>
          <p:cNvPr id="9" name="Shape 7"/>
          <p:cNvSpPr/>
          <p:nvPr/>
        </p:nvSpPr>
        <p:spPr>
          <a:xfrm>
            <a:off x="4709160" y="1280160"/>
            <a:ext cx="3977640" cy="2743200"/>
          </a:xfrm>
          <a:prstGeom prst="roundRect">
            <a:avLst>
              <a:gd name="adj" fmla="val 2000"/>
            </a:avLst>
          </a:prstGeom>
          <a:solidFill>
            <a:srgbClr val="F2F3F6"/>
          </a:solidFill>
          <a:ln/>
        </p:spPr>
      </p:sp>
      <p:sp>
        <p:nvSpPr>
          <p:cNvPr id="10" name="Shape 8"/>
          <p:cNvSpPr/>
          <p:nvPr/>
        </p:nvSpPr>
        <p:spPr>
          <a:xfrm>
            <a:off x="4709160" y="1325880"/>
            <a:ext cx="45720" cy="2651760"/>
          </a:xfrm>
          <a:prstGeom prst="rect">
            <a:avLst/>
          </a:prstGeom>
          <a:solidFill>
            <a:srgbClr val="4A7BF7"/>
          </a:solidFill>
          <a:ln/>
        </p:spPr>
      </p:sp>
      <p:sp>
        <p:nvSpPr>
          <p:cNvPr id="11" name="Text 9"/>
          <p:cNvSpPr/>
          <p:nvPr/>
        </p:nvSpPr>
        <p:spPr>
          <a:xfrm>
            <a:off x="4855464" y="1408176"/>
            <a:ext cx="3685032" cy="201168"/>
          </a:xfrm>
          <a:prstGeom prst="rect">
            <a:avLst/>
          </a:prstGeom>
          <a:noFill/>
          <a:ln/>
        </p:spPr>
        <p:txBody>
          <a:bodyPr wrap="square" lIns="0" tIns="0" rIns="0" bIns="0" rtlCol="0" anchor="t"/>
          <a:lstStyle/>
          <a:p>
            <a:pPr indent="0" marL="0">
              <a:buNone/>
            </a:pPr>
            <a:r>
              <a:rPr lang="en-US" sz="950" b="1" dirty="0">
                <a:solidFill>
                  <a:srgbClr val="3056C9"/>
                </a:solidFill>
                <a:latin typeface="Inter Tight" pitchFamily="34" charset="0"/>
                <a:ea typeface="Inter Tight" pitchFamily="34" charset="-122"/>
                <a:cs typeface="Inter Tight" pitchFamily="34" charset="-120"/>
              </a:rPr>
              <a:t>What we need from IJN</a:t>
            </a:r>
            <a:endParaRPr lang="en-US" sz="950" dirty="0"/>
          </a:p>
        </p:txBody>
      </p:sp>
      <p:sp>
        <p:nvSpPr>
          <p:cNvPr id="12" name="Text 10"/>
          <p:cNvSpPr/>
          <p:nvPr/>
        </p:nvSpPr>
        <p:spPr>
          <a:xfrm>
            <a:off x="4855464" y="1664208"/>
            <a:ext cx="3685032" cy="2249424"/>
          </a:xfrm>
          <a:prstGeom prst="rect">
            <a:avLst/>
          </a:prstGeom>
          <a:noFill/>
          <a:ln/>
        </p:spPr>
        <p:txBody>
          <a:bodyPr wrap="square" lIns="0" tIns="0" rIns="0" bIns="0" rtlCol="0" anchor="t"/>
          <a:lstStyle/>
          <a:p>
            <a:pPr marL="152400" indent="-152400">
              <a:spcAft>
                <a:spcPts val="200"/>
              </a:spcAft>
              <a:buSzPct val="100000"/>
              <a:buChar char="•"/>
            </a:pPr>
            <a:r>
              <a:rPr lang="en-US" sz="750" dirty="0">
                <a:solidFill>
                  <a:srgbClr val="4A4A4A"/>
                </a:solidFill>
                <a:latin typeface="Inter Tight" pitchFamily="34" charset="0"/>
                <a:ea typeface="Inter Tight" pitchFamily="34" charset="-122"/>
                <a:cs typeface="Inter Tight" pitchFamily="34" charset="-120"/>
              </a:rPr>
              <a:t>Lead outcomes in the shared sheet, updated weekly. Qualified, appointment booked, walked in, applied, enrolled.</a:t>
            </a:r>
            <a:endParaRPr lang="en-US" sz="750" dirty="0"/>
          </a:p>
          <a:p>
            <a:pPr marL="152400" indent="-152400">
              <a:spcAft>
                <a:spcPts val="200"/>
              </a:spcAft>
              <a:buSzPct val="100000"/>
              <a:buChar char="•"/>
            </a:pPr>
            <a:r>
              <a:rPr lang="en-US" sz="750" dirty="0">
                <a:solidFill>
                  <a:srgbClr val="4A4A4A"/>
                </a:solidFill>
                <a:latin typeface="Inter Tight" pitchFamily="34" charset="0"/>
                <a:ea typeface="Inter Tight" pitchFamily="34" charset="-122"/>
                <a:cs typeface="Inter Tight" pitchFamily="34" charset="-120"/>
              </a:rPr>
              <a:t>Enrolment numbers year on year, plus the top three courses by intake.</a:t>
            </a:r>
            <a:endParaRPr lang="en-US" sz="750" dirty="0"/>
          </a:p>
          <a:p>
            <a:pPr marL="152400" indent="-152400">
              <a:spcAft>
                <a:spcPts val="200"/>
              </a:spcAft>
              <a:buSzPct val="100000"/>
              <a:buChar char="•"/>
            </a:pPr>
            <a:r>
              <a:rPr lang="en-US" sz="750" dirty="0">
                <a:solidFill>
                  <a:srgbClr val="4A4A4A"/>
                </a:solidFill>
                <a:latin typeface="Inter Tight" pitchFamily="34" charset="0"/>
                <a:ea typeface="Inter Tight" pitchFamily="34" charset="-122"/>
                <a:cs typeface="Inter Tight" pitchFamily="34" charset="-120"/>
              </a:rPr>
              <a:t>GA4 access, Search Console access, and your web developer or CMS contact.</a:t>
            </a:r>
            <a:endParaRPr lang="en-US" sz="750" dirty="0"/>
          </a:p>
          <a:p>
            <a:pPr marL="152400" indent="-152400">
              <a:spcAft>
                <a:spcPts val="200"/>
              </a:spcAft>
              <a:buSzPct val="100000"/>
              <a:buChar char="•"/>
            </a:pPr>
            <a:r>
              <a:rPr lang="en-US" sz="750" dirty="0">
                <a:solidFill>
                  <a:srgbClr val="4A4A4A"/>
                </a:solidFill>
                <a:latin typeface="Inter Tight" pitchFamily="34" charset="0"/>
                <a:ea typeface="Inter Tight" pitchFamily="34" charset="-122"/>
                <a:cs typeface="Inter Tight" pitchFamily="34" charset="-120"/>
              </a:rPr>
              <a:t>The intake and open day calendar for the next quarter.</a:t>
            </a:r>
            <a:endParaRPr lang="en-US" sz="750" dirty="0"/>
          </a:p>
          <a:p>
            <a:pPr marL="152400" indent="-152400">
              <a:spcAft>
                <a:spcPts val="200"/>
              </a:spcAft>
              <a:buSzPct val="100000"/>
              <a:buChar char="•"/>
            </a:pPr>
            <a:r>
              <a:rPr lang="en-US" sz="750" dirty="0">
                <a:solidFill>
                  <a:srgbClr val="4A4A4A"/>
                </a:solidFill>
                <a:latin typeface="Inter Tight" pitchFamily="34" charset="0"/>
                <a:ea typeface="Inter Tight" pitchFamily="34" charset="-122"/>
                <a:cs typeface="Inter Tight" pitchFamily="34" charset="-120"/>
              </a:rPr>
              <a:t>Fee schedule and MQA codes per program, with written confirmation of the waiver terms.</a:t>
            </a:r>
            <a:endParaRPr lang="en-US" sz="750" dirty="0"/>
          </a:p>
          <a:p>
            <a:pPr marL="152400" indent="-152400">
              <a:spcAft>
                <a:spcPts val="200"/>
              </a:spcAft>
              <a:buSzPct val="100000"/>
              <a:buChar char="•"/>
            </a:pPr>
            <a:r>
              <a:rPr lang="en-US" sz="750" dirty="0">
                <a:solidFill>
                  <a:srgbClr val="4A4A4A"/>
                </a:solidFill>
                <a:latin typeface="Inter Tight" pitchFamily="34" charset="0"/>
                <a:ea typeface="Inter Tight" pitchFamily="34" charset="-122"/>
                <a:cs typeface="Inter Tight" pitchFamily="34" charset="-120"/>
              </a:rPr>
              <a:t>Five to ten video assets a month, starting with one campus shoot day.</a:t>
            </a:r>
            <a:endParaRPr lang="en-US" sz="750" dirty="0"/>
          </a:p>
          <a:p>
            <a:pPr marL="152400" indent="-152400">
              <a:spcAft>
                <a:spcPts val="200"/>
              </a:spcAft>
              <a:buSzPct val="100000"/>
              <a:buChar char="•"/>
            </a:pPr>
            <a:r>
              <a:rPr lang="en-US" sz="750" dirty="0">
                <a:solidFill>
                  <a:srgbClr val="4A4A4A"/>
                </a:solidFill>
                <a:latin typeface="Inter Tight" pitchFamily="34" charset="0"/>
                <a:ea typeface="Inter Tight" pitchFamily="34" charset="-122"/>
                <a:cs typeface="Inter Tight" pitchFamily="34" charset="-120"/>
              </a:rPr>
              <a:t>Spark ad authorization for the posts we select, refreshed as you publish.</a:t>
            </a:r>
            <a:endParaRPr lang="en-US" sz="750" dirty="0"/>
          </a:p>
        </p:txBody>
      </p:sp>
      <p:sp>
        <p:nvSpPr>
          <p:cNvPr id="13" name="Shape 11"/>
          <p:cNvSpPr/>
          <p:nvPr/>
        </p:nvSpPr>
        <p:spPr>
          <a:xfrm>
            <a:off x="457200" y="4261104"/>
            <a:ext cx="8229600" cy="310896"/>
          </a:xfrm>
          <a:prstGeom prst="rect">
            <a:avLst/>
          </a:prstGeom>
          <a:solidFill>
            <a:srgbClr val="3056C9"/>
          </a:solidFill>
          <a:ln/>
        </p:spPr>
      </p:sp>
      <p:sp>
        <p:nvSpPr>
          <p:cNvPr id="14" name="Text 12"/>
          <p:cNvSpPr/>
          <p:nvPr/>
        </p:nvSpPr>
        <p:spPr>
          <a:xfrm>
            <a:off x="603504" y="4261104"/>
            <a:ext cx="7936992" cy="310896"/>
          </a:xfrm>
          <a:prstGeom prst="rect">
            <a:avLst/>
          </a:prstGeom>
          <a:noFill/>
          <a:ln/>
        </p:spPr>
        <p:txBody>
          <a:bodyPr wrap="square" lIns="0" tIns="0" rIns="0" bIns="0" rtlCol="0" anchor="ctr"/>
          <a:lstStyle/>
          <a:p>
            <a:pPr indent="0" marL="0">
              <a:buNone/>
            </a:pPr>
            <a:r>
              <a:rPr lang="en-US" sz="800" b="1" dirty="0">
                <a:solidFill>
                  <a:srgbClr val="FFFFFF"/>
                </a:solidFill>
                <a:latin typeface="Inter Tight" pitchFamily="34" charset="0"/>
                <a:ea typeface="Inter Tight" pitchFamily="34" charset="-122"/>
                <a:cs typeface="Inter Tight" pitchFamily="34" charset="-120"/>
              </a:rPr>
              <a:t>The first item on the right unlocks the rest  |  Without lead outcomes we can improve the cost of a lead, but never the cost of a student</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394960" y="219456"/>
            <a:ext cx="3291840" cy="201168"/>
          </a:xfrm>
          <a:prstGeom prst="rect">
            <a:avLst/>
          </a:prstGeom>
          <a:noFill/>
          <a:ln/>
        </p:spPr>
        <p:txBody>
          <a:bodyPr wrap="square" lIns="0" tIns="0" rIns="0" bIns="0" rtlCol="0" anchor="t"/>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20624"/>
            <a:ext cx="8229600" cy="347472"/>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Next steps</a:t>
            </a:r>
            <a:endParaRPr lang="en-US" sz="2150" dirty="0"/>
          </a:p>
        </p:txBody>
      </p:sp>
      <p:sp>
        <p:nvSpPr>
          <p:cNvPr id="4" name="Text 2"/>
          <p:cNvSpPr/>
          <p:nvPr/>
        </p:nvSpPr>
        <p:spPr>
          <a:xfrm>
            <a:off x="457200" y="804672"/>
            <a:ext cx="8229600" cy="384048"/>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Pick a budget and a CRM tool, and our side starts the moment the access and the approvals land.</a:t>
            </a:r>
            <a:endParaRPr lang="en-US" sz="850" dirty="0"/>
          </a:p>
        </p:txBody>
      </p:sp>
      <p:sp>
        <p:nvSpPr>
          <p:cNvPr id="5" name="Shape 3"/>
          <p:cNvSpPr/>
          <p:nvPr/>
        </p:nvSpPr>
        <p:spPr>
          <a:xfrm>
            <a:off x="457200" y="1280160"/>
            <a:ext cx="3977640" cy="2286000"/>
          </a:xfrm>
          <a:prstGeom prst="roundRect">
            <a:avLst>
              <a:gd name="adj" fmla="val 2400"/>
            </a:avLst>
          </a:prstGeom>
          <a:solidFill>
            <a:srgbClr val="F2F3F6"/>
          </a:solidFill>
          <a:ln/>
        </p:spPr>
      </p:sp>
      <p:sp>
        <p:nvSpPr>
          <p:cNvPr id="6" name="Shape 4"/>
          <p:cNvSpPr/>
          <p:nvPr/>
        </p:nvSpPr>
        <p:spPr>
          <a:xfrm>
            <a:off x="457200" y="1325880"/>
            <a:ext cx="45720" cy="2194560"/>
          </a:xfrm>
          <a:prstGeom prst="rect">
            <a:avLst/>
          </a:prstGeom>
          <a:solidFill>
            <a:srgbClr val="4A7BF7"/>
          </a:solidFill>
          <a:ln/>
        </p:spPr>
      </p:sp>
      <p:sp>
        <p:nvSpPr>
          <p:cNvPr id="7" name="Text 5"/>
          <p:cNvSpPr/>
          <p:nvPr/>
        </p:nvSpPr>
        <p:spPr>
          <a:xfrm>
            <a:off x="603504" y="1408176"/>
            <a:ext cx="3685032" cy="201168"/>
          </a:xfrm>
          <a:prstGeom prst="rect">
            <a:avLst/>
          </a:prstGeom>
          <a:noFill/>
          <a:ln/>
        </p:spPr>
        <p:txBody>
          <a:bodyPr wrap="square" lIns="0" tIns="0" rIns="0" bIns="0" rtlCol="0" anchor="t"/>
          <a:lstStyle/>
          <a:p>
            <a:pPr indent="0" marL="0">
              <a:buNone/>
            </a:pPr>
            <a:r>
              <a:rPr lang="en-US" sz="950" b="1" dirty="0">
                <a:solidFill>
                  <a:srgbClr val="3056C9"/>
                </a:solidFill>
                <a:latin typeface="Inter Tight" pitchFamily="34" charset="0"/>
                <a:ea typeface="Inter Tight" pitchFamily="34" charset="-122"/>
                <a:cs typeface="Inter Tight" pitchFamily="34" charset="-120"/>
              </a:rPr>
              <a:t>IJNUC</a:t>
            </a:r>
            <a:endParaRPr lang="en-US" sz="950" dirty="0"/>
          </a:p>
        </p:txBody>
      </p:sp>
      <p:sp>
        <p:nvSpPr>
          <p:cNvPr id="8" name="Text 6"/>
          <p:cNvSpPr/>
          <p:nvPr/>
        </p:nvSpPr>
        <p:spPr>
          <a:xfrm>
            <a:off x="603504" y="1682496"/>
            <a:ext cx="3685032" cy="1773936"/>
          </a:xfrm>
          <a:prstGeom prst="rect">
            <a:avLst/>
          </a:prstGeom>
          <a:noFill/>
          <a:ln/>
        </p:spPr>
        <p:txBody>
          <a:bodyPr wrap="square" lIns="0" tIns="0" rIns="0" bIns="0" rtlCol="0" anchor="t"/>
          <a:lstStyle/>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Choose one of the three budget options.</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Choose respond.io or WATI, and we handle the setup.</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Approve the Meta and Google Search build.</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Send the access list: GA4, Search Console, and your developer contact.</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Start the weekly lead outcome sheet with the sales team.</a:t>
            </a:r>
            <a:endParaRPr lang="en-US" sz="750" dirty="0"/>
          </a:p>
        </p:txBody>
      </p:sp>
      <p:sp>
        <p:nvSpPr>
          <p:cNvPr id="9" name="Shape 7"/>
          <p:cNvSpPr/>
          <p:nvPr/>
        </p:nvSpPr>
        <p:spPr>
          <a:xfrm>
            <a:off x="4709160" y="1280160"/>
            <a:ext cx="3977640" cy="2286000"/>
          </a:xfrm>
          <a:prstGeom prst="roundRect">
            <a:avLst>
              <a:gd name="adj" fmla="val 2400"/>
            </a:avLst>
          </a:prstGeom>
          <a:solidFill>
            <a:srgbClr val="F2F3F6"/>
          </a:solidFill>
          <a:ln/>
        </p:spPr>
      </p:sp>
      <p:sp>
        <p:nvSpPr>
          <p:cNvPr id="10" name="Shape 8"/>
          <p:cNvSpPr/>
          <p:nvPr/>
        </p:nvSpPr>
        <p:spPr>
          <a:xfrm>
            <a:off x="4709160" y="1325880"/>
            <a:ext cx="45720" cy="2194560"/>
          </a:xfrm>
          <a:prstGeom prst="rect">
            <a:avLst/>
          </a:prstGeom>
          <a:solidFill>
            <a:srgbClr val="2ECC9B"/>
          </a:solidFill>
          <a:ln/>
        </p:spPr>
      </p:sp>
      <p:sp>
        <p:nvSpPr>
          <p:cNvPr id="11" name="Text 9"/>
          <p:cNvSpPr/>
          <p:nvPr/>
        </p:nvSpPr>
        <p:spPr>
          <a:xfrm>
            <a:off x="4855464" y="1408176"/>
            <a:ext cx="3685032" cy="201168"/>
          </a:xfrm>
          <a:prstGeom prst="rect">
            <a:avLst/>
          </a:prstGeom>
          <a:noFill/>
          <a:ln/>
        </p:spPr>
        <p:txBody>
          <a:bodyPr wrap="square" lIns="0" tIns="0" rIns="0" bIns="0" rtlCol="0" anchor="t"/>
          <a:lstStyle/>
          <a:p>
            <a:pPr indent="0" marL="0">
              <a:buNone/>
            </a:pPr>
            <a:r>
              <a:rPr lang="en-US" sz="950" b="1" dirty="0">
                <a:solidFill>
                  <a:srgbClr val="3056C9"/>
                </a:solidFill>
                <a:latin typeface="Inter Tight" pitchFamily="34" charset="0"/>
                <a:ea typeface="Inter Tight" pitchFamily="34" charset="-122"/>
                <a:cs typeface="Inter Tight" pitchFamily="34" charset="-120"/>
              </a:rPr>
              <a:t>Toggle</a:t>
            </a:r>
            <a:endParaRPr lang="en-US" sz="950" dirty="0"/>
          </a:p>
        </p:txBody>
      </p:sp>
      <p:sp>
        <p:nvSpPr>
          <p:cNvPr id="12" name="Text 10"/>
          <p:cNvSpPr/>
          <p:nvPr/>
        </p:nvSpPr>
        <p:spPr>
          <a:xfrm>
            <a:off x="4855464" y="1682496"/>
            <a:ext cx="3685032" cy="1773936"/>
          </a:xfrm>
          <a:prstGeom prst="rect">
            <a:avLst/>
          </a:prstGeom>
          <a:noFill/>
          <a:ln/>
        </p:spPr>
        <p:txBody>
          <a:bodyPr wrap="square" lIns="0" tIns="0" rIns="0" bIns="0" rtlCol="0" anchor="t"/>
          <a:lstStyle/>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Build both ad accounts inside two weeks of approval, negatives first.</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Set up the CRM and run the onboarding session for your sales team.</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Rebalance TikTok spend off the dominant ad and fund the sub RM 20 performers.</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Share creative directions for the five content pillars.</a:t>
            </a:r>
            <a:endParaRPr lang="en-US" sz="750" dirty="0"/>
          </a:p>
          <a:p>
            <a:pPr marL="152400" indent="-152400">
              <a:spcAft>
                <a:spcPts val="300"/>
              </a:spcAft>
              <a:buSzPct val="100000"/>
              <a:buChar char="•"/>
            </a:pPr>
            <a:r>
              <a:rPr lang="en-US" sz="750" dirty="0">
                <a:solidFill>
                  <a:srgbClr val="4A4A4A"/>
                </a:solidFill>
                <a:latin typeface="Inter Tight" pitchFamily="34" charset="0"/>
                <a:ea typeface="Inter Tight" pitchFamily="34" charset="-122"/>
                <a:cs typeface="Inter Tight" pitchFamily="34" charset="-120"/>
              </a:rPr>
              <a:t>Revise this forecast at the end of month 1 against real data.</a:t>
            </a:r>
            <a:endParaRPr lang="en-US" sz="750" dirty="0"/>
          </a:p>
        </p:txBody>
      </p:sp>
      <p:sp>
        <p:nvSpPr>
          <p:cNvPr id="13" name="Text 11"/>
          <p:cNvSpPr/>
          <p:nvPr/>
        </p:nvSpPr>
        <p:spPr>
          <a:xfrm>
            <a:off x="457200" y="3877056"/>
            <a:ext cx="3657600" cy="219456"/>
          </a:xfrm>
          <a:prstGeom prst="rect">
            <a:avLst/>
          </a:prstGeom>
          <a:noFill/>
          <a:ln/>
        </p:spPr>
        <p:txBody>
          <a:bodyPr wrap="square" lIns="0" tIns="0" rIns="0" bIns="0" rtlCol="0" anchor="t"/>
          <a:lstStyle/>
          <a:p>
            <a:pPr indent="0" marL="0">
              <a:buNone/>
            </a:pPr>
            <a:r>
              <a:rPr lang="en-US" sz="1200" b="1" dirty="0">
                <a:solidFill>
                  <a:srgbClr val="0F0F0F"/>
                </a:solidFill>
                <a:latin typeface="Inter Tight" pitchFamily="34" charset="0"/>
                <a:ea typeface="Inter Tight" pitchFamily="34" charset="-122"/>
                <a:cs typeface="Inter Tight" pitchFamily="34" charset="-120"/>
              </a:rPr>
              <a:t>Viknesh</a:t>
            </a:r>
            <a:endParaRPr lang="en-US" sz="1200" dirty="0"/>
          </a:p>
        </p:txBody>
      </p:sp>
      <p:sp>
        <p:nvSpPr>
          <p:cNvPr id="14" name="Text 12"/>
          <p:cNvSpPr/>
          <p:nvPr/>
        </p:nvSpPr>
        <p:spPr>
          <a:xfrm>
            <a:off x="457200" y="4096512"/>
            <a:ext cx="3657600" cy="182880"/>
          </a:xfrm>
          <a:prstGeom prst="rect">
            <a:avLst/>
          </a:prstGeom>
          <a:noFill/>
          <a:ln/>
        </p:spPr>
        <p:txBody>
          <a:bodyPr wrap="square" lIns="0" tIns="0" rIns="0" bIns="0" rtlCol="0" anchor="t"/>
          <a:lstStyle/>
          <a:p>
            <a:pPr indent="0" marL="0">
              <a:buNone/>
            </a:pPr>
            <a:r>
              <a:rPr lang="en-US" sz="800" dirty="0">
                <a:solidFill>
                  <a:srgbClr val="4A4A4A"/>
                </a:solidFill>
                <a:latin typeface="Inter Tight" pitchFamily="34" charset="0"/>
                <a:ea typeface="Inter Tight" pitchFamily="34" charset="-122"/>
                <a:cs typeface="Inter Tight" pitchFamily="34" charset="-120"/>
              </a:rPr>
              <a:t>Sales and Partnership Director, Toggle Solutions</a:t>
            </a:r>
            <a:endParaRPr lang="en-US" sz="800" dirty="0"/>
          </a:p>
        </p:txBody>
      </p:sp>
      <p:sp>
        <p:nvSpPr>
          <p:cNvPr id="15" name="Text 13"/>
          <p:cNvSpPr/>
          <p:nvPr/>
        </p:nvSpPr>
        <p:spPr>
          <a:xfrm>
            <a:off x="457200" y="4297680"/>
            <a:ext cx="3657600" cy="201168"/>
          </a:xfrm>
          <a:prstGeom prst="rect">
            <a:avLst/>
          </a:prstGeom>
          <a:noFill/>
          <a:ln/>
        </p:spPr>
        <p:txBody>
          <a:bodyPr wrap="square" lIns="0" tIns="0" rIns="0" bIns="0" rtlCol="0" anchor="t"/>
          <a:lstStyle/>
          <a:p>
            <a:pPr indent="0" marL="0">
              <a:buNone/>
            </a:pPr>
            <a:r>
              <a:rPr lang="en-US" sz="1000" b="1" dirty="0">
                <a:solidFill>
                  <a:srgbClr val="3056C9"/>
                </a:solidFill>
                <a:latin typeface="Inter Tight" pitchFamily="34" charset="0"/>
                <a:ea typeface="Inter Tight" pitchFamily="34" charset="-122"/>
                <a:cs typeface="Inter Tight" pitchFamily="34" charset="-120"/>
              </a:rPr>
              <a:t>(+60) 125 688 681</a:t>
            </a:r>
            <a:endParaRPr lang="en-US" sz="1000" dirty="0"/>
          </a:p>
        </p:txBody>
      </p:sp>
      <p:sp>
        <p:nvSpPr>
          <p:cNvPr id="16" name="Text 14"/>
          <p:cNvSpPr/>
          <p:nvPr/>
        </p:nvSpPr>
        <p:spPr>
          <a:xfrm>
            <a:off x="5029200" y="4297680"/>
            <a:ext cx="3657600" cy="219456"/>
          </a:xfrm>
          <a:prstGeom prst="rect">
            <a:avLst/>
          </a:prstGeom>
          <a:noFill/>
          <a:ln/>
        </p:spPr>
        <p:txBody>
          <a:bodyPr wrap="square" lIns="0" tIns="0" rIns="0" bIns="0" rtlCol="0" anchor="t"/>
          <a:lstStyle/>
          <a:p>
            <a:pPr algn="r" indent="0" marL="0">
              <a:buNone/>
            </a:pPr>
            <a:r>
              <a:rPr lang="en-US" sz="950" b="1" dirty="0">
                <a:solidFill>
                  <a:srgbClr val="4A7BF7"/>
                </a:solidFill>
                <a:latin typeface="Inter Tight" pitchFamily="34" charset="0"/>
                <a:ea typeface="Inter Tight" pitchFamily="34" charset="-122"/>
                <a:cs typeface="Inter Tight" pitchFamily="34" charset="-120"/>
              </a:rPr>
              <a:t>[ toggle.solutions ]</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Toggle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IJN University College - Full Funnel Growth Proposal</dc:title>
  <dc:subject>PptxGenJS Presentation</dc:subject>
  <dc:creator>Toggle Solutions</dc:creator>
  <cp:lastModifiedBy>Toggle Solutions</cp:lastModifiedBy>
  <cp:revision>1</cp:revision>
  <dcterms:created xsi:type="dcterms:W3CDTF">2026-08-13T08:21:38Z</dcterms:created>
  <dcterms:modified xsi:type="dcterms:W3CDTF">2026-08-13T08:21:38Z</dcterms:modified>
</cp:coreProperties>
</file>