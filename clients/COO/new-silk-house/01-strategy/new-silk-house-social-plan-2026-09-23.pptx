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follows the 2 September market and positioning research, which is deck 01. It answers the question COO brought back from the client: how do we market the house for its first year, paid and organic.
Toggle owns the media plan and the content angles. COO owns the client relationship, the brand identity and the creative production that this plan asks for.
The brand still has no name, so the deck says "the house" throughout. RM1,200 is the entry price the research recommended. The client has not confirmed a price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idea to leave the client with: a brand nobody has heard of cannot open with a hard sell at RM1,200. The plan spends the first quarter getting the name in front of the right women, then spends more each quarter on turning those people into buyers.
The budget is our recommendation and covers media only. Production, KOL fees, service tax and agency fees sit on top (slide 05).
The research deck recommended a single capped edition. The client wants ongoing sales, so this plan keeps the store open from Month 1 and releases new prints in numbered batches instead. Slide 11 covers what that change asks of the client.
The research deck suggested closing sales on WhatsApp. The client wants online sales, so every conversion campaign in this plan sends buyers to the website and optimizes toward purchases at checkout.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Google sits out of awareness: nobody can search for a brand they have never heard of. Google Search earns its place once people look for silk scarves in general (consideration) and, later, for the house by name (conversion). Generic terms to test include "silk scarf Malaysia", "luxury scarf gift" and "hand rolled silk scarf".
Conversion on Meta and TikTok optimizes for add to cart first and moves to purchases once the website records enough sales to train the algorithm (slide 11). Google Search conversion campaigns count purchases through the Google Ads tag and GA4.
Targeting: Meta offers household income targeting only in the United States, and TikTok does not offer income targeting in Malaysia. Check both in the ad accounts at setup. The T20 proxies we use are interests (luxury fashion houses, fine jewelry, premium travel), locations (Bangsar, Mont Kiara, Damansara Heights, KLCC, Bukit Tunku and similar), and lookalikes built from site visitors and buyers.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bars as the share of that month's budget going to each stage. In Months 1 to 3, RM4,800 of the RM8,000 goes to awareness. In Months 7 to 12, RM5,000 of the RM10,000 goes to conversion.
Conversion spend runs from Month 1 because the store is open from launch. Early on it only retargets people who have already watched a video or visited the site, which keeps it cheap.
These weightings are our starting recommendation. We review them at the end of Month 3 and Month 6 against cost per purchase and the size of the warm audience, and move budget between stages if the numbers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stage totals are built: Months 1 to 3 at RM8,000 split 60/30/10, Months 4 to 6 at RM8,000 split 30/45/25, Months 7 to 12 at RM10,000 split 20/30/50. That gives RM33,600 for awareness, RM36,000 for consideration and RM38,400 for conversion.
Platform logic. Meta (Instagram first) is where T20 women browse fashion and where catalog and retargeting ads drive the most online sales, so it takes half. TikTok is the cheapest reach for styling and fabric videos, so it leans on awareness and consideration. Google Search only buys intent, so it has no awareness line.
The illustration is the Toggle channel-stack form, and its three blocks sit at 50, 30 and 20, the same split as the table.
The whole budget is our recommendation. If the client wants to start smaller, cut Months 1 to 6 to RM6,000 a month before touching Months 7 to 12, and expect the warm audience to grow more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angles come straight from the research: the proof stack (designer, edition) and the publish list (momme, dimensions, hem), plus the gifter, the buyer the research said a new brand can win first.
Arzu point: across its 100% real silk collection, no product publishes momme weight or dimensions in centimeters, and one product mentions a hand-rolled hem. Source: https://arzuscarf.com/collections/exclusilk-pieces, checked 1 September 2026.
Origin: the Trade Descriptions Act 2011 puts up to RM15,000 per item behind a false "made in Malaysia" claim for a company. This applies to ad copy, captions and landing pages as well as the label. Research deck, slide 12.
Angle 01 depends on the open item from the research: COO still needs to confirm the design work happens in Malaysia.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notes. Meta: build every awareness video for 9:16 first, with the brand shown in the first two seconds. TikTok: Spark Ads boost organic posts from the brand account or a creator's account, so the best organic videos (slide 08) become ads without new production. Google Search: responsive search ads, with sitelinks to the size guide, the gift page and the newest release.
The conversion cells use the 50% video view audience on TikTok and site visitors plus video viewers on Meta. Those audiences will be small in Month 1, which is why conversion spend starts at 10% of budget.
Search terms are starting points to validate in Google Keyword Planner at setup. We have not pulled search volumes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50/30/20 mix is our recommendation for the first six months. From Month 7, when paid media leans on conversion, the organic calendar can move to 40/30/30.
Awareness content does the brand-building work that paid awareness cannot afford to do alone. A buyer who clicks an ad and lands on an Instagram grid full of studio and styling posts has a reason to believe the house is real.
User photos only appear once there are buyers, so expect the "Who wears it" pillar to start around Month 3. Until then, the consideration slot leans on fabric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monthly count: 4 Instagram posts a week is about 17 a month, and 3 TikTok videos a week is about 13. That gives roughly 30 posts, before Stories and paid creatives. Many TikTok videos can be cut from the same shoot as the Instagram Reels.
The website is where the sale closes, so every post and profile link points to a product page rather than the home page. Release news goes to email subscribers first, a few hours before Instagram, which gives the most engaged buyers first choice of the numbered pieces.
Email sign-ups come from a pop-up on the website offering early access to each release. No discount code, in line with the no-promotions rule from the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 0 is non-negotiable. If the pixels, the Conversions API and purchase tracking are not live on launch day, the first month of spend teaches the platforms nothing, and the warm audiences for Month 4 retargeting never get built.
Print releases every three months give the conversion campaigns something new to announce without discounting. The plan contains no promotions, in line with the research.
Raya timing depends on the launch date. Hari Raya Aidilfitri falls around 10 March in 2027, with Ramadan starting around 8 February. If the launch lands so that Raya falls in Months 1 to 3, we still push the gifting angle, but with a smaller warm audience to sell to. Weddings and year-end farewells give smaller gifting peaks later in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Tracking fix: Meta Conversions API and TikTok Events API on the website, plus the Google Ads tag and GA4 ecommerce events, all sending purchase value in ringgit. In Month 0 we place a test order through every payment method and check that each platform records it.
Learning phase: Meta says an ad set needs about 50 optimization events in a week to exit the learning phase. Source: https://www.facebook.com/business/help/112167992830700
Payback math: RM108,000 divided by RM1,200 is 90 pieces. That is revenue, before the cost of goods. The client should treat year-one media as the cost of building a list of warm buyers.
Change from the research: the research deck recommended one capped edition of 100 to 150 pieces and no restock for twelve months. The client prefers ongoing sales. This plan keeps the scarcity real through numbered batches per print, and that only works if the client never tops up a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fastest next step is a 30-minute call with the client to close items 01, 02 and 05. Items 03 and 04 sit with COO. If the online store is not built yet, item 05 sets the launch date, because the conversion campaigns cannot start without a working checkout.
Once we have the launch date, we turn this plan into a dated media calendar with a weekly budget per platform, and we set the cost per purchase target from the unit cost and price in item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20B"/>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B5330F"/>
          </a:solidFill>
          <a:ln/>
        </p:spPr>
      </p:sp>
      <p:sp>
        <p:nvSpPr>
          <p:cNvPr id="3" name="Text 1"/>
          <p:cNvSpPr/>
          <p:nvPr/>
        </p:nvSpPr>
        <p:spPr>
          <a:xfrm>
            <a:off x="640080" y="1051560"/>
            <a:ext cx="3657600" cy="365760"/>
          </a:xfrm>
          <a:prstGeom prst="rect">
            <a:avLst/>
          </a:prstGeom>
          <a:noFill/>
          <a:ln/>
        </p:spPr>
        <p:txBody>
          <a:bodyPr wrap="square" lIns="0" tIns="0" rIns="0" bIns="0" rtlCol="0" anchor="t"/>
          <a:lstStyle/>
          <a:p>
            <a:pPr indent="0" marL="0">
              <a:buNone/>
            </a:pPr>
            <a:r>
              <a:rPr lang="en-US" sz="2100" b="1" dirty="0">
                <a:solidFill>
                  <a:srgbClr val="FFFFFF"/>
                </a:solidFill>
                <a:latin typeface="Century Gothic" pitchFamily="34" charset="0"/>
                <a:ea typeface="Century Gothic" pitchFamily="34" charset="-122"/>
                <a:cs typeface="Century Gothic" pitchFamily="34" charset="-120"/>
              </a:rPr>
              <a:t>02.</a:t>
            </a:r>
            <a:endParaRPr lang="en-US" sz="2100" dirty="0"/>
          </a:p>
        </p:txBody>
      </p:sp>
      <p:sp>
        <p:nvSpPr>
          <p:cNvPr id="4" name="Text 2"/>
          <p:cNvSpPr/>
          <p:nvPr/>
        </p:nvSpPr>
        <p:spPr>
          <a:xfrm>
            <a:off x="640080" y="1783080"/>
            <a:ext cx="6400800" cy="731520"/>
          </a:xfrm>
          <a:prstGeom prst="rect">
            <a:avLst/>
          </a:prstGeom>
          <a:noFill/>
          <a:ln/>
        </p:spPr>
        <p:txBody>
          <a:bodyPr wrap="square" lIns="0" tIns="0" rIns="0" bIns="0" rtlCol="0" anchor="t"/>
          <a:lstStyle/>
          <a:p>
            <a:pPr indent="0" marL="0">
              <a:buNone/>
            </a:pPr>
            <a:r>
              <a:rPr lang="en-US" sz="4000" b="1" dirty="0">
                <a:solidFill>
                  <a:srgbClr val="FFFFFF"/>
                </a:solidFill>
                <a:latin typeface="Century Gothic" pitchFamily="34" charset="0"/>
                <a:ea typeface="Century Gothic" pitchFamily="34" charset="-122"/>
                <a:cs typeface="Century Gothic" pitchFamily="34" charset="-120"/>
              </a:rPr>
              <a:t>The new silk house</a:t>
            </a:r>
            <a:endParaRPr lang="en-US" sz="4000" dirty="0"/>
          </a:p>
        </p:txBody>
      </p:sp>
      <p:sp>
        <p:nvSpPr>
          <p:cNvPr id="5" name="Text 3"/>
          <p:cNvSpPr/>
          <p:nvPr/>
        </p:nvSpPr>
        <p:spPr>
          <a:xfrm>
            <a:off x="640080" y="2651760"/>
            <a:ext cx="5303520" cy="822960"/>
          </a:xfrm>
          <a:prstGeom prst="rect">
            <a:avLst/>
          </a:prstGeom>
          <a:noFill/>
          <a:ln/>
        </p:spPr>
        <p:txBody>
          <a:bodyPr wrap="square" lIns="0" tIns="0" rIns="0" bIns="0" rtlCol="0" anchor="t"/>
          <a:lstStyle/>
          <a:p>
            <a:pPr indent="0" marL="0">
              <a:lnSpc>
                <a:spcPts val="2500"/>
              </a:lnSpc>
              <a:buNone/>
            </a:pPr>
            <a:r>
              <a:rPr lang="en-US" sz="1700" dirty="0">
                <a:solidFill>
                  <a:srgbClr val="FFD966"/>
                </a:solidFill>
                <a:latin typeface="Century Gothic" pitchFamily="34" charset="0"/>
                <a:ea typeface="Century Gothic" pitchFamily="34" charset="-122"/>
                <a:cs typeface="Century Gothic" pitchFamily="34" charset="-120"/>
              </a:rPr>
              <a:t>Twelve months of paid and organic social, planned to sell a RM1,200 silk scarf.</a:t>
            </a:r>
            <a:endParaRPr lang="en-US" sz="1700" dirty="0"/>
          </a:p>
        </p:txBody>
      </p:sp>
      <p:sp>
        <p:nvSpPr>
          <p:cNvPr id="6" name="Text 4"/>
          <p:cNvSpPr/>
          <p:nvPr/>
        </p:nvSpPr>
        <p:spPr>
          <a:xfrm>
            <a:off x="640080" y="4434840"/>
            <a:ext cx="7863840" cy="274320"/>
          </a:xfrm>
          <a:prstGeom prst="rect">
            <a:avLst/>
          </a:prstGeom>
          <a:noFill/>
          <a:ln/>
        </p:spPr>
        <p:txBody>
          <a:bodyPr wrap="square" lIns="0" tIns="0" rIns="0" bIns="0" rtlCol="0" anchor="t"/>
          <a:lstStyle/>
          <a:p>
            <a:pPr indent="0" marL="0">
              <a:buNone/>
            </a:pPr>
            <a:r>
              <a:rPr lang="en-US" sz="950" dirty="0">
                <a:solidFill>
                  <a:srgbClr val="FFFFFF"/>
                </a:solidFill>
                <a:latin typeface="Century Gothic" pitchFamily="34" charset="0"/>
                <a:ea typeface="Century Gothic" pitchFamily="34" charset="-122"/>
                <a:cs typeface="Century Gothic" pitchFamily="34" charset="-120"/>
              </a:rPr>
              <a:t>Paid and organic social plan  ·  Prepared by Toggle Solutions for COO  ·  September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Executive summary</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A 12-month plan that builds the name first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and sells second.</a:t>
            </a:r>
            <a:endParaRPr lang="en-US" sz="2500" dirty="0"/>
          </a:p>
        </p:txBody>
      </p:sp>
      <p:sp>
        <p:nvSpPr>
          <p:cNvPr id="5" name="Text 3"/>
          <p:cNvSpPr/>
          <p:nvPr/>
        </p:nvSpPr>
        <p:spPr>
          <a:xfrm>
            <a:off x="512064" y="1481328"/>
            <a:ext cx="8119872" cy="402336"/>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The house launches with no name recognition. The first three months buy attention, and the last six ask for the sale. Paid and organic social follow the same funnel.</a:t>
            </a:r>
            <a:endParaRPr lang="en-US" sz="1100" dirty="0"/>
          </a:p>
        </p:txBody>
      </p:sp>
      <p:sp>
        <p:nvSpPr>
          <p:cNvPr id="6" name="Shape 4"/>
          <p:cNvSpPr/>
          <p:nvPr/>
        </p:nvSpPr>
        <p:spPr>
          <a:xfrm>
            <a:off x="512064" y="1975104"/>
            <a:ext cx="1892808" cy="2304288"/>
          </a:xfrm>
          <a:prstGeom prst="rect">
            <a:avLst/>
          </a:prstGeom>
          <a:solidFill>
            <a:srgbClr val="FDF2DF"/>
          </a:solidFill>
          <a:ln/>
        </p:spPr>
      </p:sp>
      <p:sp>
        <p:nvSpPr>
          <p:cNvPr id="7" name="Shape 5"/>
          <p:cNvSpPr/>
          <p:nvPr/>
        </p:nvSpPr>
        <p:spPr>
          <a:xfrm>
            <a:off x="512064" y="1975104"/>
            <a:ext cx="1892808" cy="54864"/>
          </a:xfrm>
          <a:prstGeom prst="rect">
            <a:avLst/>
          </a:prstGeom>
          <a:solidFill>
            <a:srgbClr val="B5330F"/>
          </a:solidFill>
          <a:ln/>
        </p:spPr>
      </p:sp>
      <p:sp>
        <p:nvSpPr>
          <p:cNvPr id="8" name="Text 6"/>
          <p:cNvSpPr/>
          <p:nvPr/>
        </p:nvSpPr>
        <p:spPr>
          <a:xfrm>
            <a:off x="676656" y="2176272"/>
            <a:ext cx="1563624" cy="384048"/>
          </a:xfrm>
          <a:prstGeom prst="rect">
            <a:avLst/>
          </a:prstGeom>
          <a:noFill/>
          <a:ln/>
        </p:spPr>
        <p:txBody>
          <a:bodyPr wrap="square" lIns="0" tIns="0" rIns="0" bIns="0" rtlCol="0" anchor="t"/>
          <a:lstStyle/>
          <a:p>
            <a:pPr indent="0" marL="0">
              <a:buNone/>
            </a:pPr>
            <a:r>
              <a:rPr lang="en-US" sz="2000" dirty="0">
                <a:solidFill>
                  <a:srgbClr val="B5330F"/>
                </a:solidFill>
                <a:latin typeface="Arial Black" pitchFamily="34" charset="0"/>
                <a:ea typeface="Arial Black" pitchFamily="34" charset="-122"/>
                <a:cs typeface="Arial Black" pitchFamily="34" charset="-120"/>
              </a:rPr>
              <a:t>3 · 3 · 6</a:t>
            </a:r>
            <a:endParaRPr lang="en-US" sz="2000" dirty="0"/>
          </a:p>
        </p:txBody>
      </p:sp>
      <p:sp>
        <p:nvSpPr>
          <p:cNvPr id="9" name="Text 7"/>
          <p:cNvSpPr/>
          <p:nvPr/>
        </p:nvSpPr>
        <p:spPr>
          <a:xfrm>
            <a:off x="676656" y="2596896"/>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MONTHS PER PHASE</a:t>
            </a:r>
            <a:endParaRPr lang="en-US" sz="800" dirty="0"/>
          </a:p>
        </p:txBody>
      </p:sp>
      <p:sp>
        <p:nvSpPr>
          <p:cNvPr id="10" name="Text 8"/>
          <p:cNvSpPr/>
          <p:nvPr/>
        </p:nvSpPr>
        <p:spPr>
          <a:xfrm>
            <a:off x="676656" y="2816352"/>
            <a:ext cx="1563624" cy="1335024"/>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Three months led by awareness, three led by consideration and six led by conversion. All three stages run every month, and only the weighting changes.</a:t>
            </a:r>
            <a:endParaRPr lang="en-US" sz="950" dirty="0"/>
          </a:p>
        </p:txBody>
      </p:sp>
      <p:sp>
        <p:nvSpPr>
          <p:cNvPr id="11" name="Shape 9"/>
          <p:cNvSpPr/>
          <p:nvPr/>
        </p:nvSpPr>
        <p:spPr>
          <a:xfrm>
            <a:off x="2587752" y="1975104"/>
            <a:ext cx="1892808" cy="2304288"/>
          </a:xfrm>
          <a:prstGeom prst="rect">
            <a:avLst/>
          </a:prstGeom>
          <a:solidFill>
            <a:srgbClr val="FDF2DF"/>
          </a:solidFill>
          <a:ln/>
        </p:spPr>
      </p:sp>
      <p:sp>
        <p:nvSpPr>
          <p:cNvPr id="12" name="Shape 10"/>
          <p:cNvSpPr/>
          <p:nvPr/>
        </p:nvSpPr>
        <p:spPr>
          <a:xfrm>
            <a:off x="2587752" y="1975104"/>
            <a:ext cx="1892808" cy="54864"/>
          </a:xfrm>
          <a:prstGeom prst="rect">
            <a:avLst/>
          </a:prstGeom>
          <a:solidFill>
            <a:srgbClr val="3B2478"/>
          </a:solidFill>
          <a:ln/>
        </p:spPr>
      </p:sp>
      <p:sp>
        <p:nvSpPr>
          <p:cNvPr id="13" name="Text 11"/>
          <p:cNvSpPr/>
          <p:nvPr/>
        </p:nvSpPr>
        <p:spPr>
          <a:xfrm>
            <a:off x="2752344" y="2176272"/>
            <a:ext cx="1563624" cy="384048"/>
          </a:xfrm>
          <a:prstGeom prst="rect">
            <a:avLst/>
          </a:prstGeom>
          <a:noFill/>
          <a:ln/>
        </p:spPr>
        <p:txBody>
          <a:bodyPr wrap="square" lIns="0" tIns="0" rIns="0" bIns="0" rtlCol="0" anchor="t"/>
          <a:lstStyle/>
          <a:p>
            <a:pPr indent="0" marL="0">
              <a:buNone/>
            </a:pPr>
            <a:r>
              <a:rPr lang="en-US" sz="2000" dirty="0">
                <a:solidFill>
                  <a:srgbClr val="3B2478"/>
                </a:solidFill>
                <a:latin typeface="Arial Black" pitchFamily="34" charset="0"/>
                <a:ea typeface="Arial Black" pitchFamily="34" charset="-122"/>
                <a:cs typeface="Arial Black" pitchFamily="34" charset="-120"/>
              </a:rPr>
              <a:t>RM108K</a:t>
            </a:r>
            <a:endParaRPr lang="en-US" sz="2000" dirty="0"/>
          </a:p>
        </p:txBody>
      </p:sp>
      <p:sp>
        <p:nvSpPr>
          <p:cNvPr id="14" name="Text 12"/>
          <p:cNvSpPr/>
          <p:nvPr/>
        </p:nvSpPr>
        <p:spPr>
          <a:xfrm>
            <a:off x="2752344" y="2596896"/>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YEAR-ONE MEDIA</a:t>
            </a:r>
            <a:endParaRPr lang="en-US" sz="800" dirty="0"/>
          </a:p>
        </p:txBody>
      </p:sp>
      <p:sp>
        <p:nvSpPr>
          <p:cNvPr id="15" name="Text 13"/>
          <p:cNvSpPr/>
          <p:nvPr/>
        </p:nvSpPr>
        <p:spPr>
          <a:xfrm>
            <a:off x="2752344" y="2816352"/>
            <a:ext cx="1563624" cy="1335024"/>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RM8,000 a month in Months 1 to 6 and RM10,000 a month in Months 7 to 12. Meta takes 50%, TikTok 30% and Google Search 20%.</a:t>
            </a:r>
            <a:endParaRPr lang="en-US" sz="950" dirty="0"/>
          </a:p>
        </p:txBody>
      </p:sp>
      <p:sp>
        <p:nvSpPr>
          <p:cNvPr id="16" name="Shape 14"/>
          <p:cNvSpPr/>
          <p:nvPr/>
        </p:nvSpPr>
        <p:spPr>
          <a:xfrm>
            <a:off x="4663440" y="1975104"/>
            <a:ext cx="1892808" cy="2304288"/>
          </a:xfrm>
          <a:prstGeom prst="rect">
            <a:avLst/>
          </a:prstGeom>
          <a:solidFill>
            <a:srgbClr val="FDF2DF"/>
          </a:solidFill>
          <a:ln/>
        </p:spPr>
      </p:sp>
      <p:sp>
        <p:nvSpPr>
          <p:cNvPr id="17" name="Shape 15"/>
          <p:cNvSpPr/>
          <p:nvPr/>
        </p:nvSpPr>
        <p:spPr>
          <a:xfrm>
            <a:off x="4663440" y="1975104"/>
            <a:ext cx="1892808" cy="54864"/>
          </a:xfrm>
          <a:prstGeom prst="rect">
            <a:avLst/>
          </a:prstGeom>
          <a:solidFill>
            <a:srgbClr val="F2A25C"/>
          </a:solidFill>
          <a:ln/>
        </p:spPr>
      </p:sp>
      <p:sp>
        <p:nvSpPr>
          <p:cNvPr id="18" name="Text 16"/>
          <p:cNvSpPr/>
          <p:nvPr/>
        </p:nvSpPr>
        <p:spPr>
          <a:xfrm>
            <a:off x="4828032" y="2176272"/>
            <a:ext cx="1563624" cy="384048"/>
          </a:xfrm>
          <a:prstGeom prst="rect">
            <a:avLst/>
          </a:prstGeom>
          <a:noFill/>
          <a:ln/>
        </p:spPr>
        <p:txBody>
          <a:bodyPr wrap="square" lIns="0" tIns="0" rIns="0" bIns="0" rtlCol="0" anchor="t"/>
          <a:lstStyle/>
          <a:p>
            <a:pPr indent="0" marL="0">
              <a:buNone/>
            </a:pPr>
            <a:r>
              <a:rPr lang="en-US" sz="2000" dirty="0">
                <a:solidFill>
                  <a:srgbClr val="F2A25C"/>
                </a:solidFill>
                <a:latin typeface="Arial Black" pitchFamily="34" charset="0"/>
                <a:ea typeface="Arial Black" pitchFamily="34" charset="-122"/>
                <a:cs typeface="Arial Black" pitchFamily="34" charset="-120"/>
              </a:rPr>
              <a:t>4 angles</a:t>
            </a:r>
            <a:endParaRPr lang="en-US" sz="2000" dirty="0"/>
          </a:p>
        </p:txBody>
      </p:sp>
      <p:sp>
        <p:nvSpPr>
          <p:cNvPr id="19" name="Text 17"/>
          <p:cNvSpPr/>
          <p:nvPr/>
        </p:nvSpPr>
        <p:spPr>
          <a:xfrm>
            <a:off x="4828032" y="2596896"/>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IN EVERY AD</a:t>
            </a:r>
            <a:endParaRPr lang="en-US" sz="800" dirty="0"/>
          </a:p>
        </p:txBody>
      </p:sp>
      <p:sp>
        <p:nvSpPr>
          <p:cNvPr id="20" name="Text 18"/>
          <p:cNvSpPr/>
          <p:nvPr/>
        </p:nvSpPr>
        <p:spPr>
          <a:xfrm>
            <a:off x="4828032" y="2816352"/>
            <a:ext cx="1563624" cy="1335024"/>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The designer, the detail up close, the numbered piece and the gift. Each platform runs the four angles in the format its users watch.</a:t>
            </a:r>
            <a:endParaRPr lang="en-US" sz="950" dirty="0"/>
          </a:p>
        </p:txBody>
      </p:sp>
      <p:sp>
        <p:nvSpPr>
          <p:cNvPr id="21" name="Shape 19"/>
          <p:cNvSpPr/>
          <p:nvPr/>
        </p:nvSpPr>
        <p:spPr>
          <a:xfrm>
            <a:off x="6739128" y="1975104"/>
            <a:ext cx="1892808" cy="2304288"/>
          </a:xfrm>
          <a:prstGeom prst="rect">
            <a:avLst/>
          </a:prstGeom>
          <a:solidFill>
            <a:srgbClr val="FDF2DF"/>
          </a:solidFill>
          <a:ln/>
        </p:spPr>
      </p:sp>
      <p:sp>
        <p:nvSpPr>
          <p:cNvPr id="22" name="Shape 20"/>
          <p:cNvSpPr/>
          <p:nvPr/>
        </p:nvSpPr>
        <p:spPr>
          <a:xfrm>
            <a:off x="6739128" y="1975104"/>
            <a:ext cx="1892808" cy="54864"/>
          </a:xfrm>
          <a:prstGeom prst="rect">
            <a:avLst/>
          </a:prstGeom>
          <a:solidFill>
            <a:srgbClr val="1C120B"/>
          </a:solidFill>
          <a:ln/>
        </p:spPr>
      </p:sp>
      <p:sp>
        <p:nvSpPr>
          <p:cNvPr id="23" name="Text 21"/>
          <p:cNvSpPr/>
          <p:nvPr/>
        </p:nvSpPr>
        <p:spPr>
          <a:xfrm>
            <a:off x="6903720" y="2176272"/>
            <a:ext cx="1563624" cy="384048"/>
          </a:xfrm>
          <a:prstGeom prst="rect">
            <a:avLst/>
          </a:prstGeom>
          <a:noFill/>
          <a:ln/>
        </p:spPr>
        <p:txBody>
          <a:bodyPr wrap="square" lIns="0" tIns="0" rIns="0" bIns="0" rtlCol="0" anchor="t"/>
          <a:lstStyle/>
          <a:p>
            <a:pPr indent="0" marL="0">
              <a:buNone/>
            </a:pPr>
            <a:r>
              <a:rPr lang="en-US" sz="2000" dirty="0">
                <a:solidFill>
                  <a:srgbClr val="1C120B"/>
                </a:solidFill>
                <a:latin typeface="Arial Black" pitchFamily="34" charset="0"/>
                <a:ea typeface="Arial Black" pitchFamily="34" charset="-122"/>
                <a:cs typeface="Arial Black" pitchFamily="34" charset="-120"/>
              </a:rPr>
              <a:t>Website</a:t>
            </a:r>
            <a:endParaRPr lang="en-US" sz="2000" dirty="0"/>
          </a:p>
        </p:txBody>
      </p:sp>
      <p:sp>
        <p:nvSpPr>
          <p:cNvPr id="24" name="Text 22"/>
          <p:cNvSpPr/>
          <p:nvPr/>
        </p:nvSpPr>
        <p:spPr>
          <a:xfrm>
            <a:off x="6903720" y="2596896"/>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THE SALES CHANNEL</a:t>
            </a:r>
            <a:endParaRPr lang="en-US" sz="800" dirty="0"/>
          </a:p>
        </p:txBody>
      </p:sp>
      <p:sp>
        <p:nvSpPr>
          <p:cNvPr id="25" name="Text 23"/>
          <p:cNvSpPr/>
          <p:nvPr/>
        </p:nvSpPr>
        <p:spPr>
          <a:xfrm>
            <a:off x="6903720" y="2816352"/>
            <a:ext cx="1563624" cy="1335024"/>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Ads at the bottom of the funnel send buyers to the product page, and the sale happens at checkout on the website.</a:t>
            </a:r>
            <a:endParaRPr lang="en-US" sz="950" dirty="0"/>
          </a:p>
        </p:txBody>
      </p:sp>
      <p:sp>
        <p:nvSpPr>
          <p:cNvPr id="26" name="Shape 24"/>
          <p:cNvSpPr/>
          <p:nvPr/>
        </p:nvSpPr>
        <p:spPr>
          <a:xfrm>
            <a:off x="438912" y="4434840"/>
            <a:ext cx="8266176" cy="402336"/>
          </a:xfrm>
          <a:prstGeom prst="rect">
            <a:avLst/>
          </a:prstGeom>
          <a:solidFill>
            <a:srgbClr val="1C120B"/>
          </a:solidFill>
          <a:ln/>
        </p:spPr>
      </p:sp>
      <p:sp>
        <p:nvSpPr>
          <p:cNvPr id="27" name="Text 25"/>
          <p:cNvSpPr/>
          <p:nvPr/>
        </p:nvSpPr>
        <p:spPr>
          <a:xfrm>
            <a:off x="658368" y="4453128"/>
            <a:ext cx="7827264" cy="365760"/>
          </a:xfrm>
          <a:prstGeom prst="rect">
            <a:avLst/>
          </a:prstGeom>
          <a:noFill/>
          <a:ln/>
        </p:spPr>
        <p:txBody>
          <a:bodyPr wrap="square" lIns="0" tIns="0" rIns="0" bIns="0" rtlCol="0" anchor="ctr"/>
          <a:lstStyle/>
          <a:p>
            <a:pPr indent="0" marL="0">
              <a:lnSpc>
                <a:spcPts val="1200"/>
              </a:lnSpc>
              <a:buNone/>
            </a:pPr>
            <a:r>
              <a:rPr lang="en-US" sz="950" b="1" dirty="0">
                <a:solidFill>
                  <a:srgbClr val="EEFF41"/>
                </a:solidFill>
                <a:latin typeface="Arial" pitchFamily="34" charset="0"/>
                <a:ea typeface="Arial" pitchFamily="34" charset="-122"/>
                <a:cs typeface="Arial" pitchFamily="34" charset="-120"/>
              </a:rPr>
              <a:t>Plan for this: </a:t>
            </a:r>
            <a:pPr indent="0" marL="0">
              <a:lnSpc>
                <a:spcPts val="1200"/>
              </a:lnSpc>
              <a:buNone/>
            </a:pPr>
            <a:r>
              <a:rPr lang="en-US" sz="950" b="1" dirty="0">
                <a:solidFill>
                  <a:srgbClr val="FFFFFF"/>
                </a:solidFill>
                <a:latin typeface="Arial" pitchFamily="34" charset="0"/>
                <a:ea typeface="Arial" pitchFamily="34" charset="-122"/>
                <a:cs typeface="Arial" pitchFamily="34" charset="-120"/>
              </a:rPr>
              <a:t>the first quarter builds the audience, and most of the year's sales arrive in Months 7 to 12.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01.     The funnel</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Meta and TikTok run the whole funnel.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Google Search catches the intent.</a:t>
            </a:r>
            <a:endParaRPr lang="en-US" sz="2500" dirty="0"/>
          </a:p>
        </p:txBody>
      </p:sp>
      <p:sp>
        <p:nvSpPr>
          <p:cNvPr id="5" name="Text 3"/>
          <p:cNvSpPr/>
          <p:nvPr/>
        </p:nvSpPr>
        <p:spPr>
          <a:xfrm>
            <a:off x="512064" y="1481328"/>
            <a:ext cx="8119872"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Each stage has its own objective and its own measure of success, so each stage gets its own campaigns and its own share of the budget.</a:t>
            </a:r>
            <a:endParaRPr lang="en-US" sz="1100" dirty="0"/>
          </a:p>
        </p:txBody>
      </p:sp>
      <p:sp>
        <p:nvSpPr>
          <p:cNvPr id="6" name="Shape 4"/>
          <p:cNvSpPr/>
          <p:nvPr/>
        </p:nvSpPr>
        <p:spPr>
          <a:xfrm>
            <a:off x="512064" y="1938528"/>
            <a:ext cx="2584704" cy="2340864"/>
          </a:xfrm>
          <a:prstGeom prst="rect">
            <a:avLst/>
          </a:prstGeom>
          <a:solidFill>
            <a:srgbClr val="FDF2DF"/>
          </a:solidFill>
          <a:ln/>
        </p:spPr>
      </p:sp>
      <p:sp>
        <p:nvSpPr>
          <p:cNvPr id="7" name="Shape 5"/>
          <p:cNvSpPr/>
          <p:nvPr/>
        </p:nvSpPr>
        <p:spPr>
          <a:xfrm>
            <a:off x="512064" y="1938528"/>
            <a:ext cx="2584704" cy="54864"/>
          </a:xfrm>
          <a:prstGeom prst="rect">
            <a:avLst/>
          </a:prstGeom>
          <a:solidFill>
            <a:srgbClr val="B5330F"/>
          </a:solidFill>
          <a:ln/>
        </p:spPr>
      </p:sp>
      <p:sp>
        <p:nvSpPr>
          <p:cNvPr id="8" name="Text 6"/>
          <p:cNvSpPr/>
          <p:nvPr/>
        </p:nvSpPr>
        <p:spPr>
          <a:xfrm>
            <a:off x="676656" y="2139696"/>
            <a:ext cx="2255520" cy="219456"/>
          </a:xfrm>
          <a:prstGeom prst="rect">
            <a:avLst/>
          </a:prstGeom>
          <a:noFill/>
          <a:ln/>
        </p:spPr>
        <p:txBody>
          <a:bodyPr wrap="square" lIns="0" tIns="0" rIns="0" bIns="0" rtlCol="0" anchor="t"/>
          <a:lstStyle/>
          <a:p>
            <a:pPr indent="0" marL="0">
              <a:buNone/>
            </a:pPr>
            <a:r>
              <a:rPr lang="en-US" sz="1100" b="1" dirty="0">
                <a:solidFill>
                  <a:srgbClr val="B5330F"/>
                </a:solidFill>
                <a:latin typeface="Arial" pitchFamily="34" charset="0"/>
                <a:ea typeface="Arial" pitchFamily="34" charset="-122"/>
                <a:cs typeface="Arial" pitchFamily="34" charset="-120"/>
              </a:rPr>
              <a:t>01  ·  Awareness</a:t>
            </a:r>
            <a:endParaRPr lang="en-US" sz="1100" dirty="0"/>
          </a:p>
        </p:txBody>
      </p:sp>
      <p:sp>
        <p:nvSpPr>
          <p:cNvPr id="9" name="Text 7"/>
          <p:cNvSpPr/>
          <p:nvPr/>
        </p:nvSpPr>
        <p:spPr>
          <a:xfrm>
            <a:off x="676656" y="2432304"/>
            <a:ext cx="2255520" cy="27432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Make the name familiar</a:t>
            </a:r>
            <a:endParaRPr lang="en-US" sz="1300" dirty="0"/>
          </a:p>
        </p:txBody>
      </p:sp>
      <p:sp>
        <p:nvSpPr>
          <p:cNvPr id="10" name="Text 8"/>
          <p:cNvSpPr/>
          <p:nvPr/>
        </p:nvSpPr>
        <p:spPr>
          <a:xfrm>
            <a:off x="676656" y="2706624"/>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PLATFORMS</a:t>
            </a:r>
            <a:endParaRPr lang="en-US" sz="800" dirty="0"/>
          </a:p>
        </p:txBody>
      </p:sp>
      <p:sp>
        <p:nvSpPr>
          <p:cNvPr id="11" name="Text 9"/>
          <p:cNvSpPr/>
          <p:nvPr/>
        </p:nvSpPr>
        <p:spPr>
          <a:xfrm>
            <a:off x="676656" y="2889504"/>
            <a:ext cx="2255520" cy="182880"/>
          </a:xfrm>
          <a:prstGeom prst="rect">
            <a:avLst/>
          </a:prstGeom>
          <a:noFill/>
          <a:ln/>
        </p:spPr>
        <p:txBody>
          <a:bodyPr wrap="square" lIns="0" tIns="0" rIns="0" bIns="0" rtlCol="0" anchor="t"/>
          <a:lstStyle/>
          <a:p>
            <a:pPr indent="0" marL="0">
              <a:lnSpc>
                <a:spcPts val="1233"/>
              </a:lnSpc>
              <a:buNone/>
            </a:pPr>
            <a:r>
              <a:rPr lang="en-US" sz="900" dirty="0">
                <a:solidFill>
                  <a:srgbClr val="3B2478"/>
                </a:solidFill>
                <a:latin typeface="Arial" pitchFamily="34" charset="0"/>
                <a:ea typeface="Arial" pitchFamily="34" charset="-122"/>
                <a:cs typeface="Arial" pitchFamily="34" charset="-120"/>
              </a:rPr>
              <a:t>Meta and TikTok</a:t>
            </a:r>
            <a:endParaRPr lang="en-US" sz="900" dirty="0"/>
          </a:p>
        </p:txBody>
      </p:sp>
      <p:sp>
        <p:nvSpPr>
          <p:cNvPr id="12" name="Text 10"/>
          <p:cNvSpPr/>
          <p:nvPr/>
        </p:nvSpPr>
        <p:spPr>
          <a:xfrm>
            <a:off x="676656" y="3145536"/>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CAMPAIGN OBJECTIVE</a:t>
            </a:r>
            <a:endParaRPr lang="en-US" sz="800" dirty="0"/>
          </a:p>
        </p:txBody>
      </p:sp>
      <p:sp>
        <p:nvSpPr>
          <p:cNvPr id="13" name="Text 11"/>
          <p:cNvSpPr/>
          <p:nvPr/>
        </p:nvSpPr>
        <p:spPr>
          <a:xfrm>
            <a:off x="676656" y="3328416"/>
            <a:ext cx="2255520" cy="365760"/>
          </a:xfrm>
          <a:prstGeom prst="rect">
            <a:avLst/>
          </a:prstGeom>
          <a:noFill/>
          <a:ln/>
        </p:spPr>
        <p:txBody>
          <a:bodyPr wrap="square" lIns="0" tIns="0" rIns="0" bIns="0" rtlCol="0" anchor="t"/>
          <a:lstStyle/>
          <a:p>
            <a:pPr indent="0" marL="0">
              <a:lnSpc>
                <a:spcPts val="1233"/>
              </a:lnSpc>
              <a:buNone/>
            </a:pPr>
            <a:r>
              <a:rPr lang="en-US" sz="900" dirty="0">
                <a:solidFill>
                  <a:srgbClr val="3B2478"/>
                </a:solidFill>
                <a:latin typeface="Arial" pitchFamily="34" charset="0"/>
                <a:ea typeface="Arial" pitchFamily="34" charset="-122"/>
                <a:cs typeface="Arial" pitchFamily="34" charset="-120"/>
              </a:rPr>
              <a:t>Meta Awareness and Reach. TikTok Reach and Video views.</a:t>
            </a:r>
            <a:endParaRPr lang="en-US" sz="900" dirty="0"/>
          </a:p>
        </p:txBody>
      </p:sp>
      <p:sp>
        <p:nvSpPr>
          <p:cNvPr id="14" name="Text 12"/>
          <p:cNvSpPr/>
          <p:nvPr/>
        </p:nvSpPr>
        <p:spPr>
          <a:xfrm>
            <a:off x="676656" y="3767328"/>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WE MEASURE</a:t>
            </a:r>
            <a:endParaRPr lang="en-US" sz="800" dirty="0"/>
          </a:p>
        </p:txBody>
      </p:sp>
      <p:sp>
        <p:nvSpPr>
          <p:cNvPr id="15" name="Text 13"/>
          <p:cNvSpPr/>
          <p:nvPr/>
        </p:nvSpPr>
        <p:spPr>
          <a:xfrm>
            <a:off x="676656" y="3950208"/>
            <a:ext cx="2255520" cy="365760"/>
          </a:xfrm>
          <a:prstGeom prst="rect">
            <a:avLst/>
          </a:prstGeom>
          <a:noFill/>
          <a:ln/>
        </p:spPr>
        <p:txBody>
          <a:bodyPr wrap="square" lIns="0" tIns="0" rIns="0" bIns="0" rtlCol="0" anchor="t"/>
          <a:lstStyle/>
          <a:p>
            <a:pPr indent="0" marL="0">
              <a:lnSpc>
                <a:spcPts val="1233"/>
              </a:lnSpc>
              <a:buNone/>
            </a:pPr>
            <a:r>
              <a:rPr lang="en-US" sz="900" dirty="0">
                <a:solidFill>
                  <a:srgbClr val="3B2478"/>
                </a:solidFill>
                <a:latin typeface="Arial" pitchFamily="34" charset="0"/>
                <a:ea typeface="Arial" pitchFamily="34" charset="-122"/>
                <a:cs typeface="Arial" pitchFamily="34" charset="-120"/>
              </a:rPr>
              <a:t>Reach, frequency, cost per 1,000 people reached and 6-second video views.</a:t>
            </a:r>
            <a:endParaRPr lang="en-US" sz="900" dirty="0"/>
          </a:p>
        </p:txBody>
      </p:sp>
      <p:sp>
        <p:nvSpPr>
          <p:cNvPr id="16" name="Shape 14"/>
          <p:cNvSpPr/>
          <p:nvPr/>
        </p:nvSpPr>
        <p:spPr>
          <a:xfrm>
            <a:off x="3279648" y="1938528"/>
            <a:ext cx="2584704" cy="2340864"/>
          </a:xfrm>
          <a:prstGeom prst="rect">
            <a:avLst/>
          </a:prstGeom>
          <a:solidFill>
            <a:srgbClr val="FDF2DF"/>
          </a:solidFill>
          <a:ln/>
        </p:spPr>
      </p:sp>
      <p:sp>
        <p:nvSpPr>
          <p:cNvPr id="17" name="Shape 15"/>
          <p:cNvSpPr/>
          <p:nvPr/>
        </p:nvSpPr>
        <p:spPr>
          <a:xfrm>
            <a:off x="3279648" y="1938528"/>
            <a:ext cx="2584704" cy="54864"/>
          </a:xfrm>
          <a:prstGeom prst="rect">
            <a:avLst/>
          </a:prstGeom>
          <a:solidFill>
            <a:srgbClr val="3B2478"/>
          </a:solidFill>
          <a:ln/>
        </p:spPr>
      </p:sp>
      <p:sp>
        <p:nvSpPr>
          <p:cNvPr id="18" name="Text 16"/>
          <p:cNvSpPr/>
          <p:nvPr/>
        </p:nvSpPr>
        <p:spPr>
          <a:xfrm>
            <a:off x="3444240" y="2139696"/>
            <a:ext cx="2255520" cy="219456"/>
          </a:xfrm>
          <a:prstGeom prst="rect">
            <a:avLst/>
          </a:prstGeom>
          <a:noFill/>
          <a:ln/>
        </p:spPr>
        <p:txBody>
          <a:bodyPr wrap="square" lIns="0" tIns="0" rIns="0" bIns="0" rtlCol="0" anchor="t"/>
          <a:lstStyle/>
          <a:p>
            <a:pPr indent="0" marL="0">
              <a:buNone/>
            </a:pPr>
            <a:r>
              <a:rPr lang="en-US" sz="1100" b="1" dirty="0">
                <a:solidFill>
                  <a:srgbClr val="3B2478"/>
                </a:solidFill>
                <a:latin typeface="Arial" pitchFamily="34" charset="0"/>
                <a:ea typeface="Arial" pitchFamily="34" charset="-122"/>
                <a:cs typeface="Arial" pitchFamily="34" charset="-120"/>
              </a:rPr>
              <a:t>02  ·  Consideration</a:t>
            </a:r>
            <a:endParaRPr lang="en-US" sz="1100" dirty="0"/>
          </a:p>
        </p:txBody>
      </p:sp>
      <p:sp>
        <p:nvSpPr>
          <p:cNvPr id="19" name="Text 17"/>
          <p:cNvSpPr/>
          <p:nvPr/>
        </p:nvSpPr>
        <p:spPr>
          <a:xfrm>
            <a:off x="3444240" y="2432304"/>
            <a:ext cx="2255520" cy="27432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Bring buyers to the prints</a:t>
            </a:r>
            <a:endParaRPr lang="en-US" sz="1300" dirty="0"/>
          </a:p>
        </p:txBody>
      </p:sp>
      <p:sp>
        <p:nvSpPr>
          <p:cNvPr id="20" name="Text 18"/>
          <p:cNvSpPr/>
          <p:nvPr/>
        </p:nvSpPr>
        <p:spPr>
          <a:xfrm>
            <a:off x="3444240" y="2706624"/>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PLATFORMS</a:t>
            </a:r>
            <a:endParaRPr lang="en-US" sz="800" dirty="0"/>
          </a:p>
        </p:txBody>
      </p:sp>
      <p:sp>
        <p:nvSpPr>
          <p:cNvPr id="21" name="Text 19"/>
          <p:cNvSpPr/>
          <p:nvPr/>
        </p:nvSpPr>
        <p:spPr>
          <a:xfrm>
            <a:off x="3444240" y="2889504"/>
            <a:ext cx="2255520" cy="182880"/>
          </a:xfrm>
          <a:prstGeom prst="rect">
            <a:avLst/>
          </a:prstGeom>
          <a:noFill/>
          <a:ln/>
        </p:spPr>
        <p:txBody>
          <a:bodyPr wrap="square" lIns="0" tIns="0" rIns="0" bIns="0" rtlCol="0" anchor="t"/>
          <a:lstStyle/>
          <a:p>
            <a:pPr indent="0" marL="0">
              <a:lnSpc>
                <a:spcPts val="1233"/>
              </a:lnSpc>
              <a:buNone/>
            </a:pPr>
            <a:r>
              <a:rPr lang="en-US" sz="900" dirty="0">
                <a:solidFill>
                  <a:srgbClr val="3B2478"/>
                </a:solidFill>
                <a:latin typeface="Arial" pitchFamily="34" charset="0"/>
                <a:ea typeface="Arial" pitchFamily="34" charset="-122"/>
                <a:cs typeface="Arial" pitchFamily="34" charset="-120"/>
              </a:rPr>
              <a:t>Meta, TikTok and Google Search</a:t>
            </a:r>
            <a:endParaRPr lang="en-US" sz="900" dirty="0"/>
          </a:p>
        </p:txBody>
      </p:sp>
      <p:sp>
        <p:nvSpPr>
          <p:cNvPr id="22" name="Text 20"/>
          <p:cNvSpPr/>
          <p:nvPr/>
        </p:nvSpPr>
        <p:spPr>
          <a:xfrm>
            <a:off x="3444240" y="3145536"/>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CAMPAIGN OBJECTIVE</a:t>
            </a:r>
            <a:endParaRPr lang="en-US" sz="800" dirty="0"/>
          </a:p>
        </p:txBody>
      </p:sp>
      <p:sp>
        <p:nvSpPr>
          <p:cNvPr id="23" name="Text 21"/>
          <p:cNvSpPr/>
          <p:nvPr/>
        </p:nvSpPr>
        <p:spPr>
          <a:xfrm>
            <a:off x="3444240" y="3328416"/>
            <a:ext cx="2255520" cy="365760"/>
          </a:xfrm>
          <a:prstGeom prst="rect">
            <a:avLst/>
          </a:prstGeom>
          <a:noFill/>
          <a:ln/>
        </p:spPr>
        <p:txBody>
          <a:bodyPr wrap="square" lIns="0" tIns="0" rIns="0" bIns="0" rtlCol="0" anchor="t"/>
          <a:lstStyle/>
          <a:p>
            <a:pPr indent="0" marL="0">
              <a:lnSpc>
                <a:spcPts val="1233"/>
              </a:lnSpc>
              <a:buNone/>
            </a:pPr>
            <a:r>
              <a:rPr lang="en-US" sz="900" dirty="0">
                <a:solidFill>
                  <a:srgbClr val="3B2478"/>
                </a:solidFill>
                <a:latin typeface="Arial" pitchFamily="34" charset="0"/>
                <a:ea typeface="Arial" pitchFamily="34" charset="-122"/>
                <a:cs typeface="Arial" pitchFamily="34" charset="-120"/>
              </a:rPr>
              <a:t>Meta Traffic and Engagement. TikTok Traffic. Google Search on generic terms.</a:t>
            </a:r>
            <a:endParaRPr lang="en-US" sz="900" dirty="0"/>
          </a:p>
        </p:txBody>
      </p:sp>
      <p:sp>
        <p:nvSpPr>
          <p:cNvPr id="24" name="Text 22"/>
          <p:cNvSpPr/>
          <p:nvPr/>
        </p:nvSpPr>
        <p:spPr>
          <a:xfrm>
            <a:off x="3444240" y="3767328"/>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WE MEASURE</a:t>
            </a:r>
            <a:endParaRPr lang="en-US" sz="800" dirty="0"/>
          </a:p>
        </p:txBody>
      </p:sp>
      <p:sp>
        <p:nvSpPr>
          <p:cNvPr id="25" name="Text 23"/>
          <p:cNvSpPr/>
          <p:nvPr/>
        </p:nvSpPr>
        <p:spPr>
          <a:xfrm>
            <a:off x="3444240" y="3950208"/>
            <a:ext cx="2255520" cy="365760"/>
          </a:xfrm>
          <a:prstGeom prst="rect">
            <a:avLst/>
          </a:prstGeom>
          <a:noFill/>
          <a:ln/>
        </p:spPr>
        <p:txBody>
          <a:bodyPr wrap="square" lIns="0" tIns="0" rIns="0" bIns="0" rtlCol="0" anchor="t"/>
          <a:lstStyle/>
          <a:p>
            <a:pPr indent="0" marL="0">
              <a:lnSpc>
                <a:spcPts val="1233"/>
              </a:lnSpc>
              <a:buNone/>
            </a:pPr>
            <a:r>
              <a:rPr lang="en-US" sz="900" dirty="0">
                <a:solidFill>
                  <a:srgbClr val="3B2478"/>
                </a:solidFill>
                <a:latin typeface="Arial" pitchFamily="34" charset="0"/>
                <a:ea typeface="Arial" pitchFamily="34" charset="-122"/>
                <a:cs typeface="Arial" pitchFamily="34" charset="-120"/>
              </a:rPr>
              <a:t>Landing page views, time on site, profile visits, follows and cost per visit.</a:t>
            </a:r>
            <a:endParaRPr lang="en-US" sz="900" dirty="0"/>
          </a:p>
        </p:txBody>
      </p:sp>
      <p:sp>
        <p:nvSpPr>
          <p:cNvPr id="26" name="Shape 24"/>
          <p:cNvSpPr/>
          <p:nvPr/>
        </p:nvSpPr>
        <p:spPr>
          <a:xfrm>
            <a:off x="6047232" y="1938528"/>
            <a:ext cx="2584704" cy="2340864"/>
          </a:xfrm>
          <a:prstGeom prst="rect">
            <a:avLst/>
          </a:prstGeom>
          <a:solidFill>
            <a:srgbClr val="FDF2DF"/>
          </a:solidFill>
          <a:ln/>
        </p:spPr>
      </p:sp>
      <p:sp>
        <p:nvSpPr>
          <p:cNvPr id="27" name="Shape 25"/>
          <p:cNvSpPr/>
          <p:nvPr/>
        </p:nvSpPr>
        <p:spPr>
          <a:xfrm>
            <a:off x="6047232" y="1938528"/>
            <a:ext cx="2584704" cy="54864"/>
          </a:xfrm>
          <a:prstGeom prst="rect">
            <a:avLst/>
          </a:prstGeom>
          <a:solidFill>
            <a:srgbClr val="F2A25C"/>
          </a:solidFill>
          <a:ln/>
        </p:spPr>
      </p:sp>
      <p:sp>
        <p:nvSpPr>
          <p:cNvPr id="28" name="Text 26"/>
          <p:cNvSpPr/>
          <p:nvPr/>
        </p:nvSpPr>
        <p:spPr>
          <a:xfrm>
            <a:off x="6211824" y="2139696"/>
            <a:ext cx="2255520" cy="219456"/>
          </a:xfrm>
          <a:prstGeom prst="rect">
            <a:avLst/>
          </a:prstGeom>
          <a:noFill/>
          <a:ln/>
        </p:spPr>
        <p:txBody>
          <a:bodyPr wrap="square" lIns="0" tIns="0" rIns="0" bIns="0" rtlCol="0" anchor="t"/>
          <a:lstStyle/>
          <a:p>
            <a:pPr indent="0" marL="0">
              <a:buNone/>
            </a:pPr>
            <a:r>
              <a:rPr lang="en-US" sz="1100" b="1" dirty="0">
                <a:solidFill>
                  <a:srgbClr val="F2A25C"/>
                </a:solidFill>
                <a:latin typeface="Arial" pitchFamily="34" charset="0"/>
                <a:ea typeface="Arial" pitchFamily="34" charset="-122"/>
                <a:cs typeface="Arial" pitchFamily="34" charset="-120"/>
              </a:rPr>
              <a:t>03  ·  Conversion</a:t>
            </a:r>
            <a:endParaRPr lang="en-US" sz="1100" dirty="0"/>
          </a:p>
        </p:txBody>
      </p:sp>
      <p:sp>
        <p:nvSpPr>
          <p:cNvPr id="29" name="Text 27"/>
          <p:cNvSpPr/>
          <p:nvPr/>
        </p:nvSpPr>
        <p:spPr>
          <a:xfrm>
            <a:off x="6211824" y="2432304"/>
            <a:ext cx="2255520" cy="27432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Sell on the website</a:t>
            </a:r>
            <a:endParaRPr lang="en-US" sz="1300" dirty="0"/>
          </a:p>
        </p:txBody>
      </p:sp>
      <p:sp>
        <p:nvSpPr>
          <p:cNvPr id="30" name="Text 28"/>
          <p:cNvSpPr/>
          <p:nvPr/>
        </p:nvSpPr>
        <p:spPr>
          <a:xfrm>
            <a:off x="6211824" y="2706624"/>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PLATFORMS</a:t>
            </a:r>
            <a:endParaRPr lang="en-US" sz="800" dirty="0"/>
          </a:p>
        </p:txBody>
      </p:sp>
      <p:sp>
        <p:nvSpPr>
          <p:cNvPr id="31" name="Text 29"/>
          <p:cNvSpPr/>
          <p:nvPr/>
        </p:nvSpPr>
        <p:spPr>
          <a:xfrm>
            <a:off x="6211824" y="2889504"/>
            <a:ext cx="2255520" cy="182880"/>
          </a:xfrm>
          <a:prstGeom prst="rect">
            <a:avLst/>
          </a:prstGeom>
          <a:noFill/>
          <a:ln/>
        </p:spPr>
        <p:txBody>
          <a:bodyPr wrap="square" lIns="0" tIns="0" rIns="0" bIns="0" rtlCol="0" anchor="t"/>
          <a:lstStyle/>
          <a:p>
            <a:pPr indent="0" marL="0">
              <a:lnSpc>
                <a:spcPts val="1233"/>
              </a:lnSpc>
              <a:buNone/>
            </a:pPr>
            <a:r>
              <a:rPr lang="en-US" sz="900" dirty="0">
                <a:solidFill>
                  <a:srgbClr val="3B2478"/>
                </a:solidFill>
                <a:latin typeface="Arial" pitchFamily="34" charset="0"/>
                <a:ea typeface="Arial" pitchFamily="34" charset="-122"/>
                <a:cs typeface="Arial" pitchFamily="34" charset="-120"/>
              </a:rPr>
              <a:t>Meta, TikTok and Google Search</a:t>
            </a:r>
            <a:endParaRPr lang="en-US" sz="900" dirty="0"/>
          </a:p>
        </p:txBody>
      </p:sp>
      <p:sp>
        <p:nvSpPr>
          <p:cNvPr id="32" name="Text 30"/>
          <p:cNvSpPr/>
          <p:nvPr/>
        </p:nvSpPr>
        <p:spPr>
          <a:xfrm>
            <a:off x="6211824" y="3145536"/>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CAMPAIGN OBJECTIVE</a:t>
            </a:r>
            <a:endParaRPr lang="en-US" sz="800" dirty="0"/>
          </a:p>
        </p:txBody>
      </p:sp>
      <p:sp>
        <p:nvSpPr>
          <p:cNvPr id="33" name="Text 31"/>
          <p:cNvSpPr/>
          <p:nvPr/>
        </p:nvSpPr>
        <p:spPr>
          <a:xfrm>
            <a:off x="6211824" y="3328416"/>
            <a:ext cx="2255520" cy="365760"/>
          </a:xfrm>
          <a:prstGeom prst="rect">
            <a:avLst/>
          </a:prstGeom>
          <a:noFill/>
          <a:ln/>
        </p:spPr>
        <p:txBody>
          <a:bodyPr wrap="square" lIns="0" tIns="0" rIns="0" bIns="0" rtlCol="0" anchor="t"/>
          <a:lstStyle/>
          <a:p>
            <a:pPr indent="0" marL="0">
              <a:lnSpc>
                <a:spcPts val="1233"/>
              </a:lnSpc>
              <a:buNone/>
            </a:pPr>
            <a:r>
              <a:rPr lang="en-US" sz="900" dirty="0">
                <a:solidFill>
                  <a:srgbClr val="3B2478"/>
                </a:solidFill>
                <a:latin typeface="Arial" pitchFamily="34" charset="0"/>
                <a:ea typeface="Arial" pitchFamily="34" charset="-122"/>
                <a:cs typeface="Arial" pitchFamily="34" charset="-120"/>
              </a:rPr>
              <a:t>Meta Sales. TikTok Web conversions. Google Search on brand and buying terms.</a:t>
            </a:r>
            <a:endParaRPr lang="en-US" sz="900" dirty="0"/>
          </a:p>
        </p:txBody>
      </p:sp>
      <p:sp>
        <p:nvSpPr>
          <p:cNvPr id="34" name="Text 32"/>
          <p:cNvSpPr/>
          <p:nvPr/>
        </p:nvSpPr>
        <p:spPr>
          <a:xfrm>
            <a:off x="6211824" y="3767328"/>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WE MEASURE</a:t>
            </a:r>
            <a:endParaRPr lang="en-US" sz="800" dirty="0"/>
          </a:p>
        </p:txBody>
      </p:sp>
      <p:sp>
        <p:nvSpPr>
          <p:cNvPr id="35" name="Text 33"/>
          <p:cNvSpPr/>
          <p:nvPr/>
        </p:nvSpPr>
        <p:spPr>
          <a:xfrm>
            <a:off x="6211824" y="3950208"/>
            <a:ext cx="2255520" cy="365760"/>
          </a:xfrm>
          <a:prstGeom prst="rect">
            <a:avLst/>
          </a:prstGeom>
          <a:noFill/>
          <a:ln/>
        </p:spPr>
        <p:txBody>
          <a:bodyPr wrap="square" lIns="0" tIns="0" rIns="0" bIns="0" rtlCol="0" anchor="t"/>
          <a:lstStyle/>
          <a:p>
            <a:pPr indent="0" marL="0">
              <a:lnSpc>
                <a:spcPts val="1233"/>
              </a:lnSpc>
              <a:buNone/>
            </a:pPr>
            <a:r>
              <a:rPr lang="en-US" sz="900" dirty="0">
                <a:solidFill>
                  <a:srgbClr val="3B2478"/>
                </a:solidFill>
                <a:latin typeface="Arial" pitchFamily="34" charset="0"/>
                <a:ea typeface="Arial" pitchFamily="34" charset="-122"/>
                <a:cs typeface="Arial" pitchFamily="34" charset="-120"/>
              </a:rPr>
              <a:t>Add to carts, checkouts started, purchases, cost per purchase and return on ad spend.</a:t>
            </a:r>
            <a:endParaRPr lang="en-US" sz="900" dirty="0"/>
          </a:p>
        </p:txBody>
      </p:sp>
      <p:sp>
        <p:nvSpPr>
          <p:cNvPr id="36" name="Shape 34"/>
          <p:cNvSpPr/>
          <p:nvPr/>
        </p:nvSpPr>
        <p:spPr>
          <a:xfrm>
            <a:off x="438912" y="4434840"/>
            <a:ext cx="8266176" cy="402336"/>
          </a:xfrm>
          <a:prstGeom prst="rect">
            <a:avLst/>
          </a:prstGeom>
          <a:solidFill>
            <a:srgbClr val="3B2478"/>
          </a:solidFill>
          <a:ln/>
        </p:spPr>
      </p:sp>
      <p:sp>
        <p:nvSpPr>
          <p:cNvPr id="37" name="Text 35"/>
          <p:cNvSpPr/>
          <p:nvPr/>
        </p:nvSpPr>
        <p:spPr>
          <a:xfrm>
            <a:off x="658368" y="4453128"/>
            <a:ext cx="7827264" cy="365760"/>
          </a:xfrm>
          <a:prstGeom prst="rect">
            <a:avLst/>
          </a:prstGeom>
          <a:noFill/>
          <a:ln/>
        </p:spPr>
        <p:txBody>
          <a:bodyPr wrap="square" lIns="0" tIns="0" rIns="0" bIns="0" rtlCol="0" anchor="ctr"/>
          <a:lstStyle/>
          <a:p>
            <a:pPr indent="0" marL="0">
              <a:lnSpc>
                <a:spcPts val="1200"/>
              </a:lnSpc>
              <a:buNone/>
            </a:pPr>
            <a:r>
              <a:rPr lang="en-US" sz="950" b="1" dirty="0">
                <a:solidFill>
                  <a:srgbClr val="EEFF41"/>
                </a:solidFill>
                <a:latin typeface="Arial" pitchFamily="34" charset="0"/>
                <a:ea typeface="Arial" pitchFamily="34" charset="-122"/>
                <a:cs typeface="Arial" pitchFamily="34" charset="-120"/>
              </a:rPr>
              <a:t>On targeting: </a:t>
            </a:r>
            <a:pPr indent="0" marL="0">
              <a:lnSpc>
                <a:spcPts val="1200"/>
              </a:lnSpc>
              <a:buNone/>
            </a:pPr>
            <a:r>
              <a:rPr lang="en-US" sz="950" b="1" dirty="0">
                <a:solidFill>
                  <a:srgbClr val="FFFFFF"/>
                </a:solidFill>
                <a:latin typeface="Arial" pitchFamily="34" charset="0"/>
                <a:ea typeface="Arial" pitchFamily="34" charset="-122"/>
                <a:cs typeface="Arial" pitchFamily="34" charset="-120"/>
              </a:rPr>
              <a:t>Meta and TikTok cannot target by income in Malaysia, so we reach T20 buyers through interests, KL postcodes and lookalikes of site visitors.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02.     The year in phases</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Three months to be seen, three to be considered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and six to sell.</a:t>
            </a:r>
            <a:endParaRPr lang="en-US" sz="2500" dirty="0"/>
          </a:p>
        </p:txBody>
      </p:sp>
      <p:sp>
        <p:nvSpPr>
          <p:cNvPr id="5" name="Text 3"/>
          <p:cNvSpPr/>
          <p:nvPr/>
        </p:nvSpPr>
        <p:spPr>
          <a:xfrm>
            <a:off x="512064" y="1481328"/>
            <a:ext cx="5212080"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All three stages run every month. The phase decides which stage takes the largest share of the budget.</a:t>
            </a:r>
            <a:endParaRPr lang="en-US" sz="1100" dirty="0"/>
          </a:p>
        </p:txBody>
      </p:sp>
      <p:sp>
        <p:nvSpPr>
          <p:cNvPr id="6" name="Text 4"/>
          <p:cNvSpPr/>
          <p:nvPr/>
        </p:nvSpPr>
        <p:spPr>
          <a:xfrm>
            <a:off x="512064" y="2011680"/>
            <a:ext cx="3544214" cy="201168"/>
          </a:xfrm>
          <a:prstGeom prst="rect">
            <a:avLst/>
          </a:prstGeom>
          <a:noFill/>
          <a:ln/>
        </p:spPr>
        <p:txBody>
          <a:bodyPr wrap="square" lIns="0" tIns="0" rIns="0" bIns="0" rtlCol="0" anchor="t"/>
          <a:lstStyle/>
          <a:p>
            <a:pPr indent="0" marL="0">
              <a:buNone/>
            </a:pPr>
            <a:r>
              <a:rPr lang="en-US" sz="1050" b="1" dirty="0">
                <a:solidFill>
                  <a:srgbClr val="3B2478"/>
                </a:solidFill>
                <a:latin typeface="Arial" pitchFamily="34" charset="0"/>
                <a:ea typeface="Arial" pitchFamily="34" charset="-122"/>
                <a:cs typeface="Arial" pitchFamily="34" charset="-120"/>
              </a:rPr>
              <a:t>Months 1 to 3  ·  </a:t>
            </a:r>
            <a:pPr indent="0" marL="0">
              <a:buNone/>
            </a:pPr>
            <a:r>
              <a:rPr lang="en-US" sz="1050" b="1" dirty="0">
                <a:solidFill>
                  <a:srgbClr val="B5330F"/>
                </a:solidFill>
                <a:latin typeface="Arial" pitchFamily="34" charset="0"/>
                <a:ea typeface="Arial" pitchFamily="34" charset="-122"/>
                <a:cs typeface="Arial" pitchFamily="34" charset="-120"/>
              </a:rPr>
              <a:t>Awareness leads</a:t>
            </a:r>
            <a:endParaRPr lang="en-US" sz="1050" dirty="0"/>
          </a:p>
        </p:txBody>
      </p:sp>
      <p:sp>
        <p:nvSpPr>
          <p:cNvPr id="7" name="Text 5"/>
          <p:cNvSpPr/>
          <p:nvPr/>
        </p:nvSpPr>
        <p:spPr>
          <a:xfrm>
            <a:off x="4056278" y="2011680"/>
            <a:ext cx="1667866" cy="201168"/>
          </a:xfrm>
          <a:prstGeom prst="rect">
            <a:avLst/>
          </a:prstGeom>
          <a:noFill/>
          <a:ln/>
        </p:spPr>
        <p:txBody>
          <a:bodyPr wrap="square" lIns="0" tIns="0" rIns="0" bIns="0" rtlCol="0" anchor="t"/>
          <a:lstStyle/>
          <a:p>
            <a:pPr algn="r" indent="0" marL="0">
              <a:buNone/>
            </a:pPr>
            <a:r>
              <a:rPr lang="en-US" sz="900" b="1" dirty="0">
                <a:solidFill>
                  <a:srgbClr val="746096"/>
                </a:solidFill>
                <a:latin typeface="Arial" pitchFamily="34" charset="0"/>
                <a:ea typeface="Arial" pitchFamily="34" charset="-122"/>
                <a:cs typeface="Arial" pitchFamily="34" charset="-120"/>
              </a:rPr>
              <a:t>RM8,000 a month</a:t>
            </a:r>
            <a:endParaRPr lang="en-US" sz="900" dirty="0"/>
          </a:p>
        </p:txBody>
      </p:sp>
      <p:sp>
        <p:nvSpPr>
          <p:cNvPr id="8" name="Shape 6"/>
          <p:cNvSpPr/>
          <p:nvPr/>
        </p:nvSpPr>
        <p:spPr>
          <a:xfrm>
            <a:off x="512064" y="2258568"/>
            <a:ext cx="3127248" cy="347472"/>
          </a:xfrm>
          <a:prstGeom prst="rect">
            <a:avLst/>
          </a:prstGeom>
          <a:solidFill>
            <a:srgbClr val="B5330F"/>
          </a:solidFill>
          <a:ln/>
        </p:spPr>
      </p:sp>
      <p:sp>
        <p:nvSpPr>
          <p:cNvPr id="9" name="Text 7"/>
          <p:cNvSpPr/>
          <p:nvPr/>
        </p:nvSpPr>
        <p:spPr>
          <a:xfrm>
            <a:off x="512064" y="2258568"/>
            <a:ext cx="312724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60%</a:t>
            </a:r>
            <a:endParaRPr lang="en-US" sz="1100" dirty="0"/>
          </a:p>
        </p:txBody>
      </p:sp>
      <p:sp>
        <p:nvSpPr>
          <p:cNvPr id="10" name="Shape 8"/>
          <p:cNvSpPr/>
          <p:nvPr/>
        </p:nvSpPr>
        <p:spPr>
          <a:xfrm>
            <a:off x="3639312" y="2258568"/>
            <a:ext cx="1563624" cy="347472"/>
          </a:xfrm>
          <a:prstGeom prst="rect">
            <a:avLst/>
          </a:prstGeom>
          <a:solidFill>
            <a:srgbClr val="3B2478"/>
          </a:solidFill>
          <a:ln/>
        </p:spPr>
      </p:sp>
      <p:sp>
        <p:nvSpPr>
          <p:cNvPr id="11" name="Text 9"/>
          <p:cNvSpPr/>
          <p:nvPr/>
        </p:nvSpPr>
        <p:spPr>
          <a:xfrm>
            <a:off x="3639312" y="2258568"/>
            <a:ext cx="1563624" cy="347472"/>
          </a:xfrm>
          <a:prstGeom prst="rect">
            <a:avLst/>
          </a:prstGeom>
          <a:noFill/>
          <a:ln/>
        </p:spPr>
        <p:txBody>
          <a:bodyPr wrap="square" lIns="0" tIns="0" rIns="0" bIns="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30%</a:t>
            </a:r>
            <a:endParaRPr lang="en-US" sz="1100" dirty="0"/>
          </a:p>
        </p:txBody>
      </p:sp>
      <p:sp>
        <p:nvSpPr>
          <p:cNvPr id="12" name="Shape 10"/>
          <p:cNvSpPr/>
          <p:nvPr/>
        </p:nvSpPr>
        <p:spPr>
          <a:xfrm>
            <a:off x="5202936" y="2258568"/>
            <a:ext cx="521208" cy="347472"/>
          </a:xfrm>
          <a:prstGeom prst="rect">
            <a:avLst/>
          </a:prstGeom>
          <a:solidFill>
            <a:srgbClr val="1C120B"/>
          </a:solidFill>
          <a:ln/>
        </p:spPr>
      </p:sp>
      <p:sp>
        <p:nvSpPr>
          <p:cNvPr id="13" name="Text 11"/>
          <p:cNvSpPr/>
          <p:nvPr/>
        </p:nvSpPr>
        <p:spPr>
          <a:xfrm>
            <a:off x="5202936" y="2258568"/>
            <a:ext cx="521208" cy="347472"/>
          </a:xfrm>
          <a:prstGeom prst="rect">
            <a:avLst/>
          </a:prstGeom>
          <a:noFill/>
          <a:ln/>
        </p:spPr>
        <p:txBody>
          <a:bodyPr wrap="square" lIns="0" tIns="0" rIns="0" bIns="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10%</a:t>
            </a:r>
            <a:endParaRPr lang="en-US" sz="1100" dirty="0"/>
          </a:p>
        </p:txBody>
      </p:sp>
      <p:sp>
        <p:nvSpPr>
          <p:cNvPr id="14" name="Text 12"/>
          <p:cNvSpPr/>
          <p:nvPr/>
        </p:nvSpPr>
        <p:spPr>
          <a:xfrm>
            <a:off x="512064" y="2724912"/>
            <a:ext cx="3544214" cy="201168"/>
          </a:xfrm>
          <a:prstGeom prst="rect">
            <a:avLst/>
          </a:prstGeom>
          <a:noFill/>
          <a:ln/>
        </p:spPr>
        <p:txBody>
          <a:bodyPr wrap="square" lIns="0" tIns="0" rIns="0" bIns="0" rtlCol="0" anchor="t"/>
          <a:lstStyle/>
          <a:p>
            <a:pPr indent="0" marL="0">
              <a:buNone/>
            </a:pPr>
            <a:r>
              <a:rPr lang="en-US" sz="1050" b="1" dirty="0">
                <a:solidFill>
                  <a:srgbClr val="3B2478"/>
                </a:solidFill>
                <a:latin typeface="Arial" pitchFamily="34" charset="0"/>
                <a:ea typeface="Arial" pitchFamily="34" charset="-122"/>
                <a:cs typeface="Arial" pitchFamily="34" charset="-120"/>
              </a:rPr>
              <a:t>Months 4 to 6  ·  </a:t>
            </a:r>
            <a:pPr indent="0" marL="0">
              <a:buNone/>
            </a:pPr>
            <a:r>
              <a:rPr lang="en-US" sz="1050" b="1" dirty="0">
                <a:solidFill>
                  <a:srgbClr val="B5330F"/>
                </a:solidFill>
                <a:latin typeface="Arial" pitchFamily="34" charset="0"/>
                <a:ea typeface="Arial" pitchFamily="34" charset="-122"/>
                <a:cs typeface="Arial" pitchFamily="34" charset="-120"/>
              </a:rPr>
              <a:t>Consideration leads</a:t>
            </a:r>
            <a:endParaRPr lang="en-US" sz="1050" dirty="0"/>
          </a:p>
        </p:txBody>
      </p:sp>
      <p:sp>
        <p:nvSpPr>
          <p:cNvPr id="15" name="Text 13"/>
          <p:cNvSpPr/>
          <p:nvPr/>
        </p:nvSpPr>
        <p:spPr>
          <a:xfrm>
            <a:off x="4056278" y="2724912"/>
            <a:ext cx="1667866" cy="201168"/>
          </a:xfrm>
          <a:prstGeom prst="rect">
            <a:avLst/>
          </a:prstGeom>
          <a:noFill/>
          <a:ln/>
        </p:spPr>
        <p:txBody>
          <a:bodyPr wrap="square" lIns="0" tIns="0" rIns="0" bIns="0" rtlCol="0" anchor="t"/>
          <a:lstStyle/>
          <a:p>
            <a:pPr algn="r" indent="0" marL="0">
              <a:buNone/>
            </a:pPr>
            <a:r>
              <a:rPr lang="en-US" sz="900" b="1" dirty="0">
                <a:solidFill>
                  <a:srgbClr val="746096"/>
                </a:solidFill>
                <a:latin typeface="Arial" pitchFamily="34" charset="0"/>
                <a:ea typeface="Arial" pitchFamily="34" charset="-122"/>
                <a:cs typeface="Arial" pitchFamily="34" charset="-120"/>
              </a:rPr>
              <a:t>RM8,000 a month</a:t>
            </a:r>
            <a:endParaRPr lang="en-US" sz="900" dirty="0"/>
          </a:p>
        </p:txBody>
      </p:sp>
      <p:sp>
        <p:nvSpPr>
          <p:cNvPr id="16" name="Shape 14"/>
          <p:cNvSpPr/>
          <p:nvPr/>
        </p:nvSpPr>
        <p:spPr>
          <a:xfrm>
            <a:off x="512064" y="2971800"/>
            <a:ext cx="1563624" cy="347472"/>
          </a:xfrm>
          <a:prstGeom prst="rect">
            <a:avLst/>
          </a:prstGeom>
          <a:solidFill>
            <a:srgbClr val="B5330F"/>
          </a:solidFill>
          <a:ln/>
        </p:spPr>
      </p:sp>
      <p:sp>
        <p:nvSpPr>
          <p:cNvPr id="17" name="Text 15"/>
          <p:cNvSpPr/>
          <p:nvPr/>
        </p:nvSpPr>
        <p:spPr>
          <a:xfrm>
            <a:off x="512064" y="2971800"/>
            <a:ext cx="1563624" cy="347472"/>
          </a:xfrm>
          <a:prstGeom prst="rect">
            <a:avLst/>
          </a:prstGeom>
          <a:noFill/>
          <a:ln/>
        </p:spPr>
        <p:txBody>
          <a:bodyPr wrap="square" lIns="0" tIns="0" rIns="0" bIns="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30%</a:t>
            </a:r>
            <a:endParaRPr lang="en-US" sz="1100" dirty="0"/>
          </a:p>
        </p:txBody>
      </p:sp>
      <p:sp>
        <p:nvSpPr>
          <p:cNvPr id="18" name="Shape 16"/>
          <p:cNvSpPr/>
          <p:nvPr/>
        </p:nvSpPr>
        <p:spPr>
          <a:xfrm>
            <a:off x="2075688" y="2971800"/>
            <a:ext cx="2345436" cy="347472"/>
          </a:xfrm>
          <a:prstGeom prst="rect">
            <a:avLst/>
          </a:prstGeom>
          <a:solidFill>
            <a:srgbClr val="3B2478"/>
          </a:solidFill>
          <a:ln/>
        </p:spPr>
      </p:sp>
      <p:sp>
        <p:nvSpPr>
          <p:cNvPr id="19" name="Text 17"/>
          <p:cNvSpPr/>
          <p:nvPr/>
        </p:nvSpPr>
        <p:spPr>
          <a:xfrm>
            <a:off x="2075688" y="2971800"/>
            <a:ext cx="2345436" cy="347472"/>
          </a:xfrm>
          <a:prstGeom prst="rect">
            <a:avLst/>
          </a:prstGeom>
          <a:noFill/>
          <a:ln/>
        </p:spPr>
        <p:txBody>
          <a:bodyPr wrap="square" lIns="0" tIns="0" rIns="0" bIns="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45%</a:t>
            </a:r>
            <a:endParaRPr lang="en-US" sz="1100" dirty="0"/>
          </a:p>
        </p:txBody>
      </p:sp>
      <p:sp>
        <p:nvSpPr>
          <p:cNvPr id="20" name="Shape 18"/>
          <p:cNvSpPr/>
          <p:nvPr/>
        </p:nvSpPr>
        <p:spPr>
          <a:xfrm>
            <a:off x="4421124" y="2971800"/>
            <a:ext cx="1303020" cy="347472"/>
          </a:xfrm>
          <a:prstGeom prst="rect">
            <a:avLst/>
          </a:prstGeom>
          <a:solidFill>
            <a:srgbClr val="1C120B"/>
          </a:solidFill>
          <a:ln/>
        </p:spPr>
      </p:sp>
      <p:sp>
        <p:nvSpPr>
          <p:cNvPr id="21" name="Text 19"/>
          <p:cNvSpPr/>
          <p:nvPr/>
        </p:nvSpPr>
        <p:spPr>
          <a:xfrm>
            <a:off x="4421124" y="2971800"/>
            <a:ext cx="130302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25%</a:t>
            </a:r>
            <a:endParaRPr lang="en-US" sz="1100" dirty="0"/>
          </a:p>
        </p:txBody>
      </p:sp>
      <p:sp>
        <p:nvSpPr>
          <p:cNvPr id="22" name="Text 20"/>
          <p:cNvSpPr/>
          <p:nvPr/>
        </p:nvSpPr>
        <p:spPr>
          <a:xfrm>
            <a:off x="512064" y="3438144"/>
            <a:ext cx="3544214" cy="201168"/>
          </a:xfrm>
          <a:prstGeom prst="rect">
            <a:avLst/>
          </a:prstGeom>
          <a:noFill/>
          <a:ln/>
        </p:spPr>
        <p:txBody>
          <a:bodyPr wrap="square" lIns="0" tIns="0" rIns="0" bIns="0" rtlCol="0" anchor="t"/>
          <a:lstStyle/>
          <a:p>
            <a:pPr indent="0" marL="0">
              <a:buNone/>
            </a:pPr>
            <a:r>
              <a:rPr lang="en-US" sz="1050" b="1" dirty="0">
                <a:solidFill>
                  <a:srgbClr val="3B2478"/>
                </a:solidFill>
                <a:latin typeface="Arial" pitchFamily="34" charset="0"/>
                <a:ea typeface="Arial" pitchFamily="34" charset="-122"/>
                <a:cs typeface="Arial" pitchFamily="34" charset="-120"/>
              </a:rPr>
              <a:t>Months 7 to 12  ·  </a:t>
            </a:r>
            <a:pPr indent="0" marL="0">
              <a:buNone/>
            </a:pPr>
            <a:r>
              <a:rPr lang="en-US" sz="1050" b="1" dirty="0">
                <a:solidFill>
                  <a:srgbClr val="B5330F"/>
                </a:solidFill>
                <a:latin typeface="Arial" pitchFamily="34" charset="0"/>
                <a:ea typeface="Arial" pitchFamily="34" charset="-122"/>
                <a:cs typeface="Arial" pitchFamily="34" charset="-120"/>
              </a:rPr>
              <a:t>Conversion leads</a:t>
            </a:r>
            <a:endParaRPr lang="en-US" sz="1050" dirty="0"/>
          </a:p>
        </p:txBody>
      </p:sp>
      <p:sp>
        <p:nvSpPr>
          <p:cNvPr id="23" name="Text 21"/>
          <p:cNvSpPr/>
          <p:nvPr/>
        </p:nvSpPr>
        <p:spPr>
          <a:xfrm>
            <a:off x="4056278" y="3438144"/>
            <a:ext cx="1667866" cy="201168"/>
          </a:xfrm>
          <a:prstGeom prst="rect">
            <a:avLst/>
          </a:prstGeom>
          <a:noFill/>
          <a:ln/>
        </p:spPr>
        <p:txBody>
          <a:bodyPr wrap="square" lIns="0" tIns="0" rIns="0" bIns="0" rtlCol="0" anchor="t"/>
          <a:lstStyle/>
          <a:p>
            <a:pPr algn="r" indent="0" marL="0">
              <a:buNone/>
            </a:pPr>
            <a:r>
              <a:rPr lang="en-US" sz="900" b="1" dirty="0">
                <a:solidFill>
                  <a:srgbClr val="746096"/>
                </a:solidFill>
                <a:latin typeface="Arial" pitchFamily="34" charset="0"/>
                <a:ea typeface="Arial" pitchFamily="34" charset="-122"/>
                <a:cs typeface="Arial" pitchFamily="34" charset="-120"/>
              </a:rPr>
              <a:t>RM10,000 a month</a:t>
            </a:r>
            <a:endParaRPr lang="en-US" sz="900" dirty="0"/>
          </a:p>
        </p:txBody>
      </p:sp>
      <p:sp>
        <p:nvSpPr>
          <p:cNvPr id="24" name="Shape 22"/>
          <p:cNvSpPr/>
          <p:nvPr/>
        </p:nvSpPr>
        <p:spPr>
          <a:xfrm>
            <a:off x="512064" y="3685032"/>
            <a:ext cx="1042416" cy="347472"/>
          </a:xfrm>
          <a:prstGeom prst="rect">
            <a:avLst/>
          </a:prstGeom>
          <a:solidFill>
            <a:srgbClr val="B5330F"/>
          </a:solidFill>
          <a:ln/>
        </p:spPr>
      </p:sp>
      <p:sp>
        <p:nvSpPr>
          <p:cNvPr id="25" name="Text 23"/>
          <p:cNvSpPr/>
          <p:nvPr/>
        </p:nvSpPr>
        <p:spPr>
          <a:xfrm>
            <a:off x="512064" y="3685032"/>
            <a:ext cx="1042416" cy="347472"/>
          </a:xfrm>
          <a:prstGeom prst="rect">
            <a:avLst/>
          </a:prstGeom>
          <a:noFill/>
          <a:ln/>
        </p:spPr>
        <p:txBody>
          <a:bodyPr wrap="square" lIns="0" tIns="0" rIns="0" bIns="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20%</a:t>
            </a:r>
            <a:endParaRPr lang="en-US" sz="1100" dirty="0"/>
          </a:p>
        </p:txBody>
      </p:sp>
      <p:sp>
        <p:nvSpPr>
          <p:cNvPr id="26" name="Shape 24"/>
          <p:cNvSpPr/>
          <p:nvPr/>
        </p:nvSpPr>
        <p:spPr>
          <a:xfrm>
            <a:off x="1554480" y="3685032"/>
            <a:ext cx="1563624" cy="347472"/>
          </a:xfrm>
          <a:prstGeom prst="rect">
            <a:avLst/>
          </a:prstGeom>
          <a:solidFill>
            <a:srgbClr val="3B2478"/>
          </a:solidFill>
          <a:ln/>
        </p:spPr>
      </p:sp>
      <p:sp>
        <p:nvSpPr>
          <p:cNvPr id="27" name="Text 25"/>
          <p:cNvSpPr/>
          <p:nvPr/>
        </p:nvSpPr>
        <p:spPr>
          <a:xfrm>
            <a:off x="1554480" y="3685032"/>
            <a:ext cx="1563624" cy="347472"/>
          </a:xfrm>
          <a:prstGeom prst="rect">
            <a:avLst/>
          </a:prstGeom>
          <a:noFill/>
          <a:ln/>
        </p:spPr>
        <p:txBody>
          <a:bodyPr wrap="square" lIns="0" tIns="0" rIns="0" bIns="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30%</a:t>
            </a:r>
            <a:endParaRPr lang="en-US" sz="1100" dirty="0"/>
          </a:p>
        </p:txBody>
      </p:sp>
      <p:sp>
        <p:nvSpPr>
          <p:cNvPr id="28" name="Shape 26"/>
          <p:cNvSpPr/>
          <p:nvPr/>
        </p:nvSpPr>
        <p:spPr>
          <a:xfrm>
            <a:off x="3118104" y="3685032"/>
            <a:ext cx="2606040" cy="347472"/>
          </a:xfrm>
          <a:prstGeom prst="rect">
            <a:avLst/>
          </a:prstGeom>
          <a:solidFill>
            <a:srgbClr val="1C120B"/>
          </a:solidFill>
          <a:ln/>
        </p:spPr>
      </p:sp>
      <p:sp>
        <p:nvSpPr>
          <p:cNvPr id="29" name="Text 27"/>
          <p:cNvSpPr/>
          <p:nvPr/>
        </p:nvSpPr>
        <p:spPr>
          <a:xfrm>
            <a:off x="3118104" y="3685032"/>
            <a:ext cx="260604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Arial Black" pitchFamily="34" charset="0"/>
                <a:ea typeface="Arial Black" pitchFamily="34" charset="-122"/>
                <a:cs typeface="Arial Black" pitchFamily="34" charset="-120"/>
              </a:rPr>
              <a:t>50%</a:t>
            </a:r>
            <a:endParaRPr lang="en-US" sz="1100" dirty="0"/>
          </a:p>
        </p:txBody>
      </p:sp>
      <p:sp>
        <p:nvSpPr>
          <p:cNvPr id="30" name="Shape 28"/>
          <p:cNvSpPr/>
          <p:nvPr/>
        </p:nvSpPr>
        <p:spPr>
          <a:xfrm>
            <a:off x="512064" y="4197096"/>
            <a:ext cx="128016" cy="128016"/>
          </a:xfrm>
          <a:prstGeom prst="rect">
            <a:avLst/>
          </a:prstGeom>
          <a:solidFill>
            <a:srgbClr val="B5330F"/>
          </a:solidFill>
          <a:ln/>
        </p:spPr>
      </p:sp>
      <p:sp>
        <p:nvSpPr>
          <p:cNvPr id="31" name="Text 29"/>
          <p:cNvSpPr/>
          <p:nvPr/>
        </p:nvSpPr>
        <p:spPr>
          <a:xfrm>
            <a:off x="694944" y="4169664"/>
            <a:ext cx="1188720" cy="182880"/>
          </a:xfrm>
          <a:prstGeom prst="rect">
            <a:avLst/>
          </a:prstGeom>
          <a:noFill/>
          <a:ln/>
        </p:spPr>
        <p:txBody>
          <a:bodyPr wrap="square" lIns="0" tIns="0" rIns="0" bIns="0" rtlCol="0" anchor="t"/>
          <a:lstStyle/>
          <a:p>
            <a:pPr indent="0" marL="0">
              <a:buNone/>
            </a:pPr>
            <a:r>
              <a:rPr lang="en-US" sz="850" b="1" dirty="0">
                <a:solidFill>
                  <a:srgbClr val="3B2478"/>
                </a:solidFill>
                <a:latin typeface="Arial" pitchFamily="34" charset="0"/>
                <a:ea typeface="Arial" pitchFamily="34" charset="-122"/>
                <a:cs typeface="Arial" pitchFamily="34" charset="-120"/>
              </a:rPr>
              <a:t>Awareness</a:t>
            </a:r>
            <a:endParaRPr lang="en-US" sz="850" dirty="0"/>
          </a:p>
        </p:txBody>
      </p:sp>
      <p:sp>
        <p:nvSpPr>
          <p:cNvPr id="32" name="Shape 30"/>
          <p:cNvSpPr/>
          <p:nvPr/>
        </p:nvSpPr>
        <p:spPr>
          <a:xfrm>
            <a:off x="1837944" y="4197096"/>
            <a:ext cx="128016" cy="128016"/>
          </a:xfrm>
          <a:prstGeom prst="rect">
            <a:avLst/>
          </a:prstGeom>
          <a:solidFill>
            <a:srgbClr val="3B2478"/>
          </a:solidFill>
          <a:ln/>
        </p:spPr>
      </p:sp>
      <p:sp>
        <p:nvSpPr>
          <p:cNvPr id="33" name="Text 31"/>
          <p:cNvSpPr/>
          <p:nvPr/>
        </p:nvSpPr>
        <p:spPr>
          <a:xfrm>
            <a:off x="2020824" y="4169664"/>
            <a:ext cx="1188720" cy="182880"/>
          </a:xfrm>
          <a:prstGeom prst="rect">
            <a:avLst/>
          </a:prstGeom>
          <a:noFill/>
          <a:ln/>
        </p:spPr>
        <p:txBody>
          <a:bodyPr wrap="square" lIns="0" tIns="0" rIns="0" bIns="0" rtlCol="0" anchor="t"/>
          <a:lstStyle/>
          <a:p>
            <a:pPr indent="0" marL="0">
              <a:buNone/>
            </a:pPr>
            <a:r>
              <a:rPr lang="en-US" sz="850" b="1" dirty="0">
                <a:solidFill>
                  <a:srgbClr val="3B2478"/>
                </a:solidFill>
                <a:latin typeface="Arial" pitchFamily="34" charset="0"/>
                <a:ea typeface="Arial" pitchFamily="34" charset="-122"/>
                <a:cs typeface="Arial" pitchFamily="34" charset="-120"/>
              </a:rPr>
              <a:t>Consideration</a:t>
            </a:r>
            <a:endParaRPr lang="en-US" sz="850" dirty="0"/>
          </a:p>
        </p:txBody>
      </p:sp>
      <p:sp>
        <p:nvSpPr>
          <p:cNvPr id="34" name="Shape 32"/>
          <p:cNvSpPr/>
          <p:nvPr/>
        </p:nvSpPr>
        <p:spPr>
          <a:xfrm>
            <a:off x="3163824" y="4197096"/>
            <a:ext cx="128016" cy="128016"/>
          </a:xfrm>
          <a:prstGeom prst="rect">
            <a:avLst/>
          </a:prstGeom>
          <a:solidFill>
            <a:srgbClr val="1C120B"/>
          </a:solidFill>
          <a:ln/>
        </p:spPr>
      </p:sp>
      <p:sp>
        <p:nvSpPr>
          <p:cNvPr id="35" name="Text 33"/>
          <p:cNvSpPr/>
          <p:nvPr/>
        </p:nvSpPr>
        <p:spPr>
          <a:xfrm>
            <a:off x="3346704" y="4169664"/>
            <a:ext cx="1188720" cy="182880"/>
          </a:xfrm>
          <a:prstGeom prst="rect">
            <a:avLst/>
          </a:prstGeom>
          <a:noFill/>
          <a:ln/>
        </p:spPr>
        <p:txBody>
          <a:bodyPr wrap="square" lIns="0" tIns="0" rIns="0" bIns="0" rtlCol="0" anchor="t"/>
          <a:lstStyle/>
          <a:p>
            <a:pPr indent="0" marL="0">
              <a:buNone/>
            </a:pPr>
            <a:r>
              <a:rPr lang="en-US" sz="850" b="1" dirty="0">
                <a:solidFill>
                  <a:srgbClr val="3B2478"/>
                </a:solidFill>
                <a:latin typeface="Arial" pitchFamily="34" charset="0"/>
                <a:ea typeface="Arial" pitchFamily="34" charset="-122"/>
                <a:cs typeface="Arial" pitchFamily="34" charset="-120"/>
              </a:rPr>
              <a:t>Conversion</a:t>
            </a:r>
            <a:endParaRPr lang="en-US" sz="850" dirty="0"/>
          </a:p>
        </p:txBody>
      </p:sp>
      <p:pic>
        <p:nvPicPr>
          <p:cNvPr id="36" name="Image 0" descr="preencoded.png"/>
          <p:cNvPicPr>
            <a:picLocks noChangeAspect="1"/>
          </p:cNvPicPr>
          <p:nvPr/>
        </p:nvPicPr>
        <p:blipFill>
          <a:blip r:embed="rId1"/>
          <a:stretch>
            <a:fillRect/>
          </a:stretch>
        </p:blipFill>
        <p:spPr>
          <a:xfrm>
            <a:off x="6254496" y="1965960"/>
            <a:ext cx="2377440" cy="1836572"/>
          </a:xfrm>
          <a:prstGeom prst="rect">
            <a:avLst/>
          </a:prstGeom>
        </p:spPr>
      </p:pic>
      <p:sp>
        <p:nvSpPr>
          <p:cNvPr id="37" name="Shape 34"/>
          <p:cNvSpPr/>
          <p:nvPr/>
        </p:nvSpPr>
        <p:spPr>
          <a:xfrm>
            <a:off x="438912" y="4434840"/>
            <a:ext cx="8266176" cy="402336"/>
          </a:xfrm>
          <a:prstGeom prst="rect">
            <a:avLst/>
          </a:prstGeom>
          <a:solidFill>
            <a:srgbClr val="1C120B"/>
          </a:solidFill>
          <a:ln/>
        </p:spPr>
      </p:sp>
      <p:sp>
        <p:nvSpPr>
          <p:cNvPr id="38" name="Text 35"/>
          <p:cNvSpPr/>
          <p:nvPr/>
        </p:nvSpPr>
        <p:spPr>
          <a:xfrm>
            <a:off x="658368" y="4453128"/>
            <a:ext cx="7827264" cy="365760"/>
          </a:xfrm>
          <a:prstGeom prst="rect">
            <a:avLst/>
          </a:prstGeom>
          <a:noFill/>
          <a:ln/>
        </p:spPr>
        <p:txBody>
          <a:bodyPr wrap="square" lIns="0" tIns="0" rIns="0" bIns="0" rtlCol="0" anchor="ctr"/>
          <a:lstStyle/>
          <a:p>
            <a:pPr indent="0" marL="0">
              <a:lnSpc>
                <a:spcPts val="1200"/>
              </a:lnSpc>
              <a:buNone/>
            </a:pPr>
            <a:r>
              <a:rPr lang="en-US" sz="950" b="1" dirty="0">
                <a:solidFill>
                  <a:srgbClr val="EEFF41"/>
                </a:solidFill>
                <a:latin typeface="Arial" pitchFamily="34" charset="0"/>
                <a:ea typeface="Arial" pitchFamily="34" charset="-122"/>
                <a:cs typeface="Arial" pitchFamily="34" charset="-120"/>
              </a:rPr>
              <a:t>Why six months of conversion: </a:t>
            </a:r>
            <a:pPr indent="0" marL="0">
              <a:lnSpc>
                <a:spcPts val="1200"/>
              </a:lnSpc>
              <a:buNone/>
            </a:pPr>
            <a:r>
              <a:rPr lang="en-US" sz="950" b="1" dirty="0">
                <a:solidFill>
                  <a:srgbClr val="FFFFFF"/>
                </a:solidFill>
                <a:latin typeface="Arial" pitchFamily="34" charset="0"/>
                <a:ea typeface="Arial" pitchFamily="34" charset="-122"/>
                <a:cs typeface="Arial" pitchFamily="34" charset="-120"/>
              </a:rPr>
              <a:t>Months 7 to 12 sell to the audience that Months 1 to 6 found and warmed up.</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03.     Budget</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RM108,000 in media for the year,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with half of it on Meta.</a:t>
            </a:r>
            <a:endParaRPr lang="en-US" sz="2500" dirty="0"/>
          </a:p>
        </p:txBody>
      </p:sp>
      <p:sp>
        <p:nvSpPr>
          <p:cNvPr id="5" name="Text 3"/>
          <p:cNvSpPr/>
          <p:nvPr/>
        </p:nvSpPr>
        <p:spPr>
          <a:xfrm>
            <a:off x="512064" y="1481328"/>
            <a:ext cx="8119872"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Our recommended split by platform and funnel stage for the full twelve months. The figures cover media spend only.</a:t>
            </a:r>
            <a:endParaRPr lang="en-US" sz="1100" dirty="0"/>
          </a:p>
        </p:txBody>
      </p:sp>
      <p:pic>
        <p:nvPicPr>
          <p:cNvPr id="6" name="Image 0" descr="preencoded.png"/>
          <p:cNvPicPr>
            <a:picLocks noChangeAspect="1"/>
          </p:cNvPicPr>
          <p:nvPr/>
        </p:nvPicPr>
        <p:blipFill>
          <a:blip r:embed="rId1"/>
          <a:stretch>
            <a:fillRect/>
          </a:stretch>
        </p:blipFill>
        <p:spPr>
          <a:xfrm>
            <a:off x="603504" y="1901952"/>
            <a:ext cx="772523" cy="2377440"/>
          </a:xfrm>
          <a:prstGeom prst="rect">
            <a:avLst/>
          </a:prstGeom>
        </p:spPr>
      </p:pic>
      <p:sp>
        <p:nvSpPr>
          <p:cNvPr id="7" name="Text 4"/>
          <p:cNvSpPr/>
          <p:nvPr/>
        </p:nvSpPr>
        <p:spPr>
          <a:xfrm>
            <a:off x="1485755" y="2235400"/>
            <a:ext cx="914400" cy="182880"/>
          </a:xfrm>
          <a:prstGeom prst="rect">
            <a:avLst/>
          </a:prstGeom>
          <a:noFill/>
          <a:ln/>
        </p:spPr>
        <p:txBody>
          <a:bodyPr wrap="square" lIns="0" tIns="0" rIns="0" bIns="0" rtlCol="0" anchor="t"/>
          <a:lstStyle/>
          <a:p>
            <a:pPr indent="0" marL="0">
              <a:buNone/>
            </a:pPr>
            <a:r>
              <a:rPr lang="en-US" sz="950" b="1" dirty="0">
                <a:solidFill>
                  <a:srgbClr val="3B2478"/>
                </a:solidFill>
                <a:latin typeface="Arial" pitchFamily="34" charset="0"/>
                <a:ea typeface="Arial" pitchFamily="34" charset="-122"/>
                <a:cs typeface="Arial" pitchFamily="34" charset="-120"/>
              </a:rPr>
              <a:t>Google 20%</a:t>
            </a:r>
            <a:endParaRPr lang="en-US" sz="950" dirty="0"/>
          </a:p>
        </p:txBody>
      </p:sp>
      <p:sp>
        <p:nvSpPr>
          <p:cNvPr id="8" name="Text 5"/>
          <p:cNvSpPr/>
          <p:nvPr/>
        </p:nvSpPr>
        <p:spPr>
          <a:xfrm>
            <a:off x="1485755" y="2718227"/>
            <a:ext cx="914400" cy="182880"/>
          </a:xfrm>
          <a:prstGeom prst="rect">
            <a:avLst/>
          </a:prstGeom>
          <a:noFill/>
          <a:ln/>
        </p:spPr>
        <p:txBody>
          <a:bodyPr wrap="square" lIns="0" tIns="0" rIns="0" bIns="0" rtlCol="0" anchor="t"/>
          <a:lstStyle/>
          <a:p>
            <a:pPr indent="0" marL="0">
              <a:buNone/>
            </a:pPr>
            <a:r>
              <a:rPr lang="en-US" sz="950" b="1" dirty="0">
                <a:solidFill>
                  <a:srgbClr val="3B2478"/>
                </a:solidFill>
                <a:latin typeface="Arial" pitchFamily="34" charset="0"/>
                <a:ea typeface="Arial" pitchFamily="34" charset="-122"/>
                <a:cs typeface="Arial" pitchFamily="34" charset="-120"/>
              </a:rPr>
              <a:t>TikTok 30%</a:t>
            </a:r>
            <a:endParaRPr lang="en-US" sz="950" dirty="0"/>
          </a:p>
        </p:txBody>
      </p:sp>
      <p:sp>
        <p:nvSpPr>
          <p:cNvPr id="9" name="Text 6"/>
          <p:cNvSpPr/>
          <p:nvPr/>
        </p:nvSpPr>
        <p:spPr>
          <a:xfrm>
            <a:off x="1485755" y="3577659"/>
            <a:ext cx="914400" cy="182880"/>
          </a:xfrm>
          <a:prstGeom prst="rect">
            <a:avLst/>
          </a:prstGeom>
          <a:noFill/>
          <a:ln/>
        </p:spPr>
        <p:txBody>
          <a:bodyPr wrap="square" lIns="0" tIns="0" rIns="0" bIns="0" rtlCol="0" anchor="t"/>
          <a:lstStyle/>
          <a:p>
            <a:pPr indent="0" marL="0">
              <a:buNone/>
            </a:pPr>
            <a:r>
              <a:rPr lang="en-US" sz="950" b="1" dirty="0">
                <a:solidFill>
                  <a:srgbClr val="3B2478"/>
                </a:solidFill>
                <a:latin typeface="Arial" pitchFamily="34" charset="0"/>
                <a:ea typeface="Arial" pitchFamily="34" charset="-122"/>
                <a:cs typeface="Arial" pitchFamily="34" charset="-120"/>
              </a:rPr>
              <a:t>Meta 50%</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542032" y="1975104"/>
          <a:ext cx="6089904" cy="914400"/>
        </p:xfrm>
        <a:graphic>
          <a:graphicData uri="http://schemas.openxmlformats.org/drawingml/2006/table">
            <a:tbl>
              <a:tblPr/>
              <a:tblGrid>
                <a:gridCol w="1298448"/>
                <a:gridCol w="1069848"/>
                <a:gridCol w="1188720"/>
                <a:gridCol w="1069848"/>
                <a:gridCol w="1097280"/>
              </a:tblGrid>
              <a:tr h="310896">
                <a:tc>
                  <a:txBody>
                    <a:bodyPr/>
                    <a:lstStyle/>
                    <a:p>
                      <a:pPr indent="0" marL="0">
                        <a:buNone/>
                      </a:pPr>
                      <a:r>
                        <a:rPr lang="en-US" sz="850" b="1" dirty="0">
                          <a:solidFill>
                            <a:srgbClr val="FFFFFF"/>
                          </a:solidFill>
                          <a:latin typeface="Arial" pitchFamily="34" charset="0"/>
                          <a:ea typeface="Arial" pitchFamily="34" charset="-122"/>
                          <a:cs typeface="Arial" pitchFamily="34" charset="-120"/>
                        </a:rPr>
                        <a:t>Platform</a:t>
                      </a:r>
                      <a:endParaRPr lang="en-US" sz="85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3B2478"/>
                    </a:solidFill>
                  </a:tcPr>
                </a:tc>
                <a:tc>
                  <a:txBody>
                    <a:bodyPr/>
                    <a:lstStyle/>
                    <a:p>
                      <a:pPr algn="r" indent="0" marL="0">
                        <a:buNone/>
                      </a:pPr>
                      <a:r>
                        <a:rPr lang="en-US" sz="850" b="1" dirty="0">
                          <a:solidFill>
                            <a:srgbClr val="FFFFFF"/>
                          </a:solidFill>
                          <a:latin typeface="Arial" pitchFamily="34" charset="0"/>
                          <a:ea typeface="Arial" pitchFamily="34" charset="-122"/>
                          <a:cs typeface="Arial" pitchFamily="34" charset="-120"/>
                        </a:rPr>
                        <a:t>Awareness</a:t>
                      </a:r>
                      <a:endParaRPr lang="en-US" sz="85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3B2478"/>
                    </a:solidFill>
                  </a:tcPr>
                </a:tc>
                <a:tc>
                  <a:txBody>
                    <a:bodyPr/>
                    <a:lstStyle/>
                    <a:p>
                      <a:pPr algn="r" indent="0" marL="0">
                        <a:buNone/>
                      </a:pPr>
                      <a:r>
                        <a:rPr lang="en-US" sz="850" b="1" dirty="0">
                          <a:solidFill>
                            <a:srgbClr val="FFFFFF"/>
                          </a:solidFill>
                          <a:latin typeface="Arial" pitchFamily="34" charset="0"/>
                          <a:ea typeface="Arial" pitchFamily="34" charset="-122"/>
                          <a:cs typeface="Arial" pitchFamily="34" charset="-120"/>
                        </a:rPr>
                        <a:t>Consideration</a:t>
                      </a:r>
                      <a:endParaRPr lang="en-US" sz="85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3B2478"/>
                    </a:solidFill>
                  </a:tcPr>
                </a:tc>
                <a:tc>
                  <a:txBody>
                    <a:bodyPr/>
                    <a:lstStyle/>
                    <a:p>
                      <a:pPr algn="r" indent="0" marL="0">
                        <a:buNone/>
                      </a:pPr>
                      <a:r>
                        <a:rPr lang="en-US" sz="850" b="1" dirty="0">
                          <a:solidFill>
                            <a:srgbClr val="FFFFFF"/>
                          </a:solidFill>
                          <a:latin typeface="Arial" pitchFamily="34" charset="0"/>
                          <a:ea typeface="Arial" pitchFamily="34" charset="-122"/>
                          <a:cs typeface="Arial" pitchFamily="34" charset="-120"/>
                        </a:rPr>
                        <a:t>Conversion</a:t>
                      </a:r>
                      <a:endParaRPr lang="en-US" sz="85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3B2478"/>
                    </a:solidFill>
                  </a:tcPr>
                </a:tc>
                <a:tc>
                  <a:txBody>
                    <a:bodyPr/>
                    <a:lstStyle/>
                    <a:p>
                      <a:pPr algn="r" indent="0" marL="0">
                        <a:buNone/>
                      </a:pPr>
                      <a:r>
                        <a:rPr lang="en-US" sz="850" b="1" dirty="0">
                          <a:solidFill>
                            <a:srgbClr val="FFFFFF"/>
                          </a:solidFill>
                          <a:latin typeface="Arial" pitchFamily="34" charset="0"/>
                          <a:ea typeface="Arial" pitchFamily="34" charset="-122"/>
                          <a:cs typeface="Arial" pitchFamily="34" charset="-120"/>
                        </a:rPr>
                        <a:t>Year total</a:t>
                      </a:r>
                      <a:endParaRPr lang="en-US" sz="85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3B2478"/>
                    </a:solidFill>
                  </a:tcPr>
                </a:tc>
              </a:tr>
              <a:tr h="420624">
                <a:tc>
                  <a:txBody>
                    <a:bodyPr/>
                    <a:lstStyle/>
                    <a:p>
                      <a:pPr indent="0" marL="0">
                        <a:buNone/>
                      </a:pPr>
                      <a:r>
                        <a:rPr lang="en-US" sz="900" b="1" dirty="0">
                          <a:solidFill>
                            <a:srgbClr val="3B2478"/>
                          </a:solidFill>
                          <a:latin typeface="Arial" pitchFamily="34" charset="0"/>
                          <a:ea typeface="Arial" pitchFamily="34" charset="-122"/>
                          <a:cs typeface="Arial" pitchFamily="34" charset="-120"/>
                        </a:rPr>
                        <a:t>Meta</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algn="r" indent="0" marL="0">
                        <a:buNone/>
                      </a:pPr>
                      <a:r>
                        <a:rPr lang="en-US" sz="900" dirty="0">
                          <a:solidFill>
                            <a:srgbClr val="3B2478"/>
                          </a:solidFill>
                          <a:latin typeface="Arial" pitchFamily="34" charset="0"/>
                          <a:ea typeface="Arial" pitchFamily="34" charset="-122"/>
                          <a:cs typeface="Arial" pitchFamily="34" charset="-120"/>
                        </a:rPr>
                        <a:t>RM18,600</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algn="r" indent="0" marL="0">
                        <a:buNone/>
                      </a:pPr>
                      <a:r>
                        <a:rPr lang="en-US" sz="900" dirty="0">
                          <a:solidFill>
                            <a:srgbClr val="3B2478"/>
                          </a:solidFill>
                          <a:latin typeface="Arial" pitchFamily="34" charset="0"/>
                          <a:ea typeface="Arial" pitchFamily="34" charset="-122"/>
                          <a:cs typeface="Arial" pitchFamily="34" charset="-120"/>
                        </a:rPr>
                        <a:t>RM16,200</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algn="r" indent="0" marL="0">
                        <a:buNone/>
                      </a:pPr>
                      <a:r>
                        <a:rPr lang="en-US" sz="900" dirty="0">
                          <a:solidFill>
                            <a:srgbClr val="3B2478"/>
                          </a:solidFill>
                          <a:latin typeface="Arial" pitchFamily="34" charset="0"/>
                          <a:ea typeface="Arial" pitchFamily="34" charset="-122"/>
                          <a:cs typeface="Arial" pitchFamily="34" charset="-120"/>
                        </a:rPr>
                        <a:t>RM19,200</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algn="r" indent="0" marL="0">
                        <a:buNone/>
                      </a:pPr>
                      <a:r>
                        <a:rPr lang="en-US" sz="900" b="1" dirty="0">
                          <a:solidFill>
                            <a:srgbClr val="3B2478"/>
                          </a:solidFill>
                          <a:latin typeface="Arial" pitchFamily="34" charset="0"/>
                          <a:ea typeface="Arial" pitchFamily="34" charset="-122"/>
                          <a:cs typeface="Arial" pitchFamily="34" charset="-120"/>
                        </a:rPr>
                        <a:t>RM54,000</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r>
              <a:tr h="420624">
                <a:tc>
                  <a:txBody>
                    <a:bodyPr/>
                    <a:lstStyle/>
                    <a:p>
                      <a:pPr indent="0" marL="0">
                        <a:buNone/>
                      </a:pPr>
                      <a:r>
                        <a:rPr lang="en-US" sz="900" b="1" dirty="0">
                          <a:solidFill>
                            <a:srgbClr val="3B2478"/>
                          </a:solidFill>
                          <a:latin typeface="Arial" pitchFamily="34" charset="0"/>
                          <a:ea typeface="Arial" pitchFamily="34" charset="-122"/>
                          <a:cs typeface="Arial" pitchFamily="34" charset="-120"/>
                        </a:rPr>
                        <a:t>TikTok</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algn="r" indent="0" marL="0">
                        <a:buNone/>
                      </a:pPr>
                      <a:r>
                        <a:rPr lang="en-US" sz="900" dirty="0">
                          <a:solidFill>
                            <a:srgbClr val="3B2478"/>
                          </a:solidFill>
                          <a:latin typeface="Arial" pitchFamily="34" charset="0"/>
                          <a:ea typeface="Arial" pitchFamily="34" charset="-122"/>
                          <a:cs typeface="Arial" pitchFamily="34" charset="-120"/>
                        </a:rPr>
                        <a:t>RM15,000</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algn="r" indent="0" marL="0">
                        <a:buNone/>
                      </a:pPr>
                      <a:r>
                        <a:rPr lang="en-US" sz="900" dirty="0">
                          <a:solidFill>
                            <a:srgbClr val="3B2478"/>
                          </a:solidFill>
                          <a:latin typeface="Arial" pitchFamily="34" charset="0"/>
                          <a:ea typeface="Arial" pitchFamily="34" charset="-122"/>
                          <a:cs typeface="Arial" pitchFamily="34" charset="-120"/>
                        </a:rPr>
                        <a:t>RM10,800</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algn="r" indent="0" marL="0">
                        <a:buNone/>
                      </a:pPr>
                      <a:r>
                        <a:rPr lang="en-US" sz="900" dirty="0">
                          <a:solidFill>
                            <a:srgbClr val="3B2478"/>
                          </a:solidFill>
                          <a:latin typeface="Arial" pitchFamily="34" charset="0"/>
                          <a:ea typeface="Arial" pitchFamily="34" charset="-122"/>
                          <a:cs typeface="Arial" pitchFamily="34" charset="-120"/>
                        </a:rPr>
                        <a:t>RM6,600</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algn="r" indent="0" marL="0">
                        <a:buNone/>
                      </a:pPr>
                      <a:r>
                        <a:rPr lang="en-US" sz="900" b="1" dirty="0">
                          <a:solidFill>
                            <a:srgbClr val="3B2478"/>
                          </a:solidFill>
                          <a:latin typeface="Arial" pitchFamily="34" charset="0"/>
                          <a:ea typeface="Arial" pitchFamily="34" charset="-122"/>
                          <a:cs typeface="Arial" pitchFamily="34" charset="-120"/>
                        </a:rPr>
                        <a:t>RM32,400</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r>
              <a:tr h="420624">
                <a:tc>
                  <a:txBody>
                    <a:bodyPr/>
                    <a:lstStyle/>
                    <a:p>
                      <a:pPr indent="0" marL="0">
                        <a:buNone/>
                      </a:pPr>
                      <a:r>
                        <a:rPr lang="en-US" sz="900" b="1" dirty="0">
                          <a:solidFill>
                            <a:srgbClr val="3B2478"/>
                          </a:solidFill>
                          <a:latin typeface="Arial" pitchFamily="34" charset="0"/>
                          <a:ea typeface="Arial" pitchFamily="34" charset="-122"/>
                          <a:cs typeface="Arial" pitchFamily="34" charset="-120"/>
                        </a:rPr>
                        <a:t>Google Search</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algn="r" indent="0" marL="0">
                        <a:buNone/>
                      </a:pPr>
                      <a:r>
                        <a:rPr lang="en-US" sz="900" i="1" dirty="0">
                          <a:solidFill>
                            <a:srgbClr val="746096"/>
                          </a:solidFill>
                          <a:latin typeface="Arial" pitchFamily="34" charset="0"/>
                          <a:ea typeface="Arial" pitchFamily="34" charset="-122"/>
                          <a:cs typeface="Arial" pitchFamily="34" charset="-120"/>
                        </a:rPr>
                        <a:t>Not used</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algn="r" indent="0" marL="0">
                        <a:buNone/>
                      </a:pPr>
                      <a:r>
                        <a:rPr lang="en-US" sz="900" dirty="0">
                          <a:solidFill>
                            <a:srgbClr val="3B2478"/>
                          </a:solidFill>
                          <a:latin typeface="Arial" pitchFamily="34" charset="0"/>
                          <a:ea typeface="Arial" pitchFamily="34" charset="-122"/>
                          <a:cs typeface="Arial" pitchFamily="34" charset="-120"/>
                        </a:rPr>
                        <a:t>RM9,000</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algn="r" indent="0" marL="0">
                        <a:buNone/>
                      </a:pPr>
                      <a:r>
                        <a:rPr lang="en-US" sz="900" dirty="0">
                          <a:solidFill>
                            <a:srgbClr val="3B2478"/>
                          </a:solidFill>
                          <a:latin typeface="Arial" pitchFamily="34" charset="0"/>
                          <a:ea typeface="Arial" pitchFamily="34" charset="-122"/>
                          <a:cs typeface="Arial" pitchFamily="34" charset="-120"/>
                        </a:rPr>
                        <a:t>RM12,600</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algn="r" indent="0" marL="0">
                        <a:buNone/>
                      </a:pPr>
                      <a:r>
                        <a:rPr lang="en-US" sz="900" b="1" dirty="0">
                          <a:solidFill>
                            <a:srgbClr val="3B2478"/>
                          </a:solidFill>
                          <a:latin typeface="Arial" pitchFamily="34" charset="0"/>
                          <a:ea typeface="Arial" pitchFamily="34" charset="-122"/>
                          <a:cs typeface="Arial" pitchFamily="34" charset="-120"/>
                        </a:rPr>
                        <a:t>RM21,600</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r>
              <a:tr h="420624">
                <a:tc>
                  <a:txBody>
                    <a:bodyPr/>
                    <a:lstStyle/>
                    <a:p>
                      <a:pPr indent="0" marL="0">
                        <a:buNone/>
                      </a:pPr>
                      <a:r>
                        <a:rPr lang="en-US" sz="900" b="1" dirty="0">
                          <a:solidFill>
                            <a:srgbClr val="FFFFFF"/>
                          </a:solidFill>
                          <a:latin typeface="Arial" pitchFamily="34" charset="0"/>
                          <a:ea typeface="Arial" pitchFamily="34" charset="-122"/>
                          <a:cs typeface="Arial" pitchFamily="34" charset="-120"/>
                        </a:rPr>
                        <a:t>Total</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1C120B"/>
                    </a:solidFill>
                  </a:tcPr>
                </a:tc>
                <a:tc>
                  <a:txBody>
                    <a:bodyPr/>
                    <a:lstStyle/>
                    <a:p>
                      <a:pPr algn="r" indent="0" marL="0">
                        <a:buNone/>
                      </a:pPr>
                      <a:r>
                        <a:rPr lang="en-US" sz="900" b="1" dirty="0">
                          <a:solidFill>
                            <a:srgbClr val="FFFFFF"/>
                          </a:solidFill>
                          <a:latin typeface="Arial" pitchFamily="34" charset="0"/>
                          <a:ea typeface="Arial" pitchFamily="34" charset="-122"/>
                          <a:cs typeface="Arial" pitchFamily="34" charset="-120"/>
                        </a:rPr>
                        <a:t>RM33,600</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1C120B"/>
                    </a:solidFill>
                  </a:tcPr>
                </a:tc>
                <a:tc>
                  <a:txBody>
                    <a:bodyPr/>
                    <a:lstStyle/>
                    <a:p>
                      <a:pPr algn="r" indent="0" marL="0">
                        <a:buNone/>
                      </a:pPr>
                      <a:r>
                        <a:rPr lang="en-US" sz="900" b="1" dirty="0">
                          <a:solidFill>
                            <a:srgbClr val="FFFFFF"/>
                          </a:solidFill>
                          <a:latin typeface="Arial" pitchFamily="34" charset="0"/>
                          <a:ea typeface="Arial" pitchFamily="34" charset="-122"/>
                          <a:cs typeface="Arial" pitchFamily="34" charset="-120"/>
                        </a:rPr>
                        <a:t>RM36,000</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1C120B"/>
                    </a:solidFill>
                  </a:tcPr>
                </a:tc>
                <a:tc>
                  <a:txBody>
                    <a:bodyPr/>
                    <a:lstStyle/>
                    <a:p>
                      <a:pPr algn="r" indent="0" marL="0">
                        <a:buNone/>
                      </a:pPr>
                      <a:r>
                        <a:rPr lang="en-US" sz="900" b="1" dirty="0">
                          <a:solidFill>
                            <a:srgbClr val="FFFFFF"/>
                          </a:solidFill>
                          <a:latin typeface="Arial" pitchFamily="34" charset="0"/>
                          <a:ea typeface="Arial" pitchFamily="34" charset="-122"/>
                          <a:cs typeface="Arial" pitchFamily="34" charset="-120"/>
                        </a:rPr>
                        <a:t>RM38,400</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1C120B"/>
                    </a:solidFill>
                  </a:tcPr>
                </a:tc>
                <a:tc>
                  <a:txBody>
                    <a:bodyPr/>
                    <a:lstStyle/>
                    <a:p>
                      <a:pPr algn="r" indent="0" marL="0">
                        <a:buNone/>
                      </a:pPr>
                      <a:r>
                        <a:rPr lang="en-US" sz="900" b="1" dirty="0">
                          <a:solidFill>
                            <a:srgbClr val="EEFF41"/>
                          </a:solidFill>
                          <a:latin typeface="Arial" pitchFamily="34" charset="0"/>
                          <a:ea typeface="Arial" pitchFamily="34" charset="-122"/>
                          <a:cs typeface="Arial" pitchFamily="34" charset="-120"/>
                        </a:rPr>
                        <a:t>RM108,000</a:t>
                      </a:r>
                      <a:endParaRPr lang="en-US" sz="900" dirty="0">
                        <a:latin typeface="Arial" charset="0"/>
                        <a:ea typeface="Arial" charset="0"/>
                        <a:cs typeface="Arial" charset="0"/>
                      </a:endParaRPr>
                    </a:p>
                  </a:txBody>
                  <a:tcPr marL="109728" marR="109728" marT="36576" marB="36576"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1C120B"/>
                    </a:solidFill>
                  </a:tcPr>
                </a:tc>
              </a:tr>
            </a:tbl>
          </a:graphicData>
        </a:graphic>
      </p:graphicFrame>
      <p:sp>
        <p:nvSpPr>
          <p:cNvPr id="11" name="Text 7"/>
          <p:cNvSpPr/>
          <p:nvPr/>
        </p:nvSpPr>
        <p:spPr>
          <a:xfrm>
            <a:off x="2542032" y="4078224"/>
            <a:ext cx="6089904" cy="201168"/>
          </a:xfrm>
          <a:prstGeom prst="rect">
            <a:avLst/>
          </a:prstGeom>
          <a:noFill/>
          <a:ln/>
        </p:spPr>
        <p:txBody>
          <a:bodyPr wrap="square" lIns="0" tIns="0" rIns="0" bIns="0" rtlCol="0" anchor="t"/>
          <a:lstStyle/>
          <a:p>
            <a:pPr indent="0" marL="0">
              <a:buNone/>
            </a:pPr>
            <a:r>
              <a:rPr lang="en-US" sz="900" i="1" dirty="0">
                <a:solidFill>
                  <a:srgbClr val="746096"/>
                </a:solidFill>
                <a:latin typeface="Arial" pitchFamily="34" charset="0"/>
                <a:ea typeface="Arial" pitchFamily="34" charset="-122"/>
                <a:cs typeface="Arial" pitchFamily="34" charset="-120"/>
              </a:rPr>
              <a:t>TikTok carries more of the awareness work, and Meta and Google carry more of the selling.</a:t>
            </a:r>
            <a:endParaRPr lang="en-US" sz="900" dirty="0"/>
          </a:p>
        </p:txBody>
      </p:sp>
      <p:sp>
        <p:nvSpPr>
          <p:cNvPr id="12" name="Shape 8"/>
          <p:cNvSpPr/>
          <p:nvPr/>
        </p:nvSpPr>
        <p:spPr>
          <a:xfrm>
            <a:off x="438912" y="4434840"/>
            <a:ext cx="8266176" cy="402336"/>
          </a:xfrm>
          <a:prstGeom prst="rect">
            <a:avLst/>
          </a:prstGeom>
          <a:solidFill>
            <a:srgbClr val="B5330F"/>
          </a:solidFill>
          <a:ln/>
        </p:spPr>
      </p:sp>
      <p:sp>
        <p:nvSpPr>
          <p:cNvPr id="13" name="Text 9"/>
          <p:cNvSpPr/>
          <p:nvPr/>
        </p:nvSpPr>
        <p:spPr>
          <a:xfrm>
            <a:off x="658368" y="4453128"/>
            <a:ext cx="7827264" cy="365760"/>
          </a:xfrm>
          <a:prstGeom prst="rect">
            <a:avLst/>
          </a:prstGeom>
          <a:noFill/>
          <a:ln/>
        </p:spPr>
        <p:txBody>
          <a:bodyPr wrap="square" lIns="0" tIns="0" rIns="0" bIns="0" rtlCol="0" anchor="ctr"/>
          <a:lstStyle/>
          <a:p>
            <a:pPr indent="0" marL="0">
              <a:lnSpc>
                <a:spcPts val="1200"/>
              </a:lnSpc>
              <a:buNone/>
            </a:pPr>
            <a:r>
              <a:rPr lang="en-US" sz="950" b="1" dirty="0">
                <a:solidFill>
                  <a:srgbClr val="EEFF41"/>
                </a:solidFill>
                <a:latin typeface="Arial" pitchFamily="34" charset="0"/>
                <a:ea typeface="Arial" pitchFamily="34" charset="-122"/>
                <a:cs typeface="Arial" pitchFamily="34" charset="-120"/>
              </a:rPr>
              <a:t>Not included: </a:t>
            </a:r>
            <a:pPr indent="0" marL="0">
              <a:lnSpc>
                <a:spcPts val="1200"/>
              </a:lnSpc>
              <a:buNone/>
            </a:pPr>
            <a:r>
              <a:rPr lang="en-US" sz="950" b="1" dirty="0">
                <a:solidFill>
                  <a:srgbClr val="FFFFFF"/>
                </a:solidFill>
                <a:latin typeface="Arial" pitchFamily="34" charset="0"/>
                <a:ea typeface="Arial" pitchFamily="34" charset="-122"/>
                <a:cs typeface="Arial" pitchFamily="34" charset="-120"/>
              </a:rPr>
              <a:t>content production, KOL fees, service tax on ad spend and agency fees. These sit on top of the RM108,000.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04.     Paid content angles</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Four angles run through every ad,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and each one answers a buyer's doubt.</a:t>
            </a:r>
            <a:endParaRPr lang="en-US" sz="2500" dirty="0"/>
          </a:p>
        </p:txBody>
      </p:sp>
      <p:sp>
        <p:nvSpPr>
          <p:cNvPr id="5" name="Text 3"/>
          <p:cNvSpPr/>
          <p:nvPr/>
        </p:nvSpPr>
        <p:spPr>
          <a:xfrm>
            <a:off x="512064" y="1481328"/>
            <a:ext cx="8119872" cy="402336"/>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A buyer who has never heard of the house wants to know who made the scarf, whether it is good, why it costs RM1,200 and who it suits.</a:t>
            </a:r>
            <a:endParaRPr lang="en-US" sz="1100" dirty="0"/>
          </a:p>
        </p:txBody>
      </p:sp>
      <p:sp>
        <p:nvSpPr>
          <p:cNvPr id="6" name="Shape 4"/>
          <p:cNvSpPr/>
          <p:nvPr/>
        </p:nvSpPr>
        <p:spPr>
          <a:xfrm>
            <a:off x="512064" y="1975104"/>
            <a:ext cx="1892808" cy="2304288"/>
          </a:xfrm>
          <a:prstGeom prst="rect">
            <a:avLst/>
          </a:prstGeom>
          <a:solidFill>
            <a:srgbClr val="FDF2DF"/>
          </a:solidFill>
          <a:ln/>
        </p:spPr>
      </p:sp>
      <p:sp>
        <p:nvSpPr>
          <p:cNvPr id="7" name="Shape 5"/>
          <p:cNvSpPr/>
          <p:nvPr/>
        </p:nvSpPr>
        <p:spPr>
          <a:xfrm>
            <a:off x="512064" y="1975104"/>
            <a:ext cx="1892808" cy="54864"/>
          </a:xfrm>
          <a:prstGeom prst="rect">
            <a:avLst/>
          </a:prstGeom>
          <a:solidFill>
            <a:srgbClr val="B5330F"/>
          </a:solidFill>
          <a:ln/>
        </p:spPr>
      </p:sp>
      <p:sp>
        <p:nvSpPr>
          <p:cNvPr id="8" name="Text 6"/>
          <p:cNvSpPr/>
          <p:nvPr/>
        </p:nvSpPr>
        <p:spPr>
          <a:xfrm>
            <a:off x="676656" y="2176272"/>
            <a:ext cx="1563624" cy="219456"/>
          </a:xfrm>
          <a:prstGeom prst="rect">
            <a:avLst/>
          </a:prstGeom>
          <a:noFill/>
          <a:ln/>
        </p:spPr>
        <p:txBody>
          <a:bodyPr wrap="square" lIns="0" tIns="0" rIns="0" bIns="0" rtlCol="0" anchor="t"/>
          <a:lstStyle/>
          <a:p>
            <a:pPr indent="0" marL="0">
              <a:buNone/>
            </a:pPr>
            <a:r>
              <a:rPr lang="en-US" sz="1100" b="1" dirty="0">
                <a:solidFill>
                  <a:srgbClr val="B5330F"/>
                </a:solidFill>
                <a:latin typeface="Arial" pitchFamily="34" charset="0"/>
                <a:ea typeface="Arial" pitchFamily="34" charset="-122"/>
                <a:cs typeface="Arial" pitchFamily="34" charset="-120"/>
              </a:rPr>
              <a:t>01</a:t>
            </a:r>
            <a:endParaRPr lang="en-US" sz="1100" dirty="0"/>
          </a:p>
        </p:txBody>
      </p:sp>
      <p:sp>
        <p:nvSpPr>
          <p:cNvPr id="9" name="Text 7"/>
          <p:cNvSpPr/>
          <p:nvPr/>
        </p:nvSpPr>
        <p:spPr>
          <a:xfrm>
            <a:off x="676656" y="2468880"/>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WHO MADE THIS?</a:t>
            </a:r>
            <a:endParaRPr lang="en-US" sz="800" dirty="0"/>
          </a:p>
        </p:txBody>
      </p:sp>
      <p:sp>
        <p:nvSpPr>
          <p:cNvPr id="10" name="Text 8"/>
          <p:cNvSpPr/>
          <p:nvPr/>
        </p:nvSpPr>
        <p:spPr>
          <a:xfrm>
            <a:off x="676656" y="2688336"/>
            <a:ext cx="1563624" cy="27432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The designer</a:t>
            </a:r>
            <a:endParaRPr lang="en-US" sz="1300" dirty="0"/>
          </a:p>
        </p:txBody>
      </p:sp>
      <p:sp>
        <p:nvSpPr>
          <p:cNvPr id="11" name="Text 9"/>
          <p:cNvSpPr/>
          <p:nvPr/>
        </p:nvSpPr>
        <p:spPr>
          <a:xfrm>
            <a:off x="676656" y="2962656"/>
            <a:ext cx="1563624" cy="1188720"/>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The designer's face, the studio and the sketch behind each print. The ads show where the design work happens, which makes "designed in Malaysia" a fact the buyer can see.</a:t>
            </a:r>
            <a:endParaRPr lang="en-US" sz="950" dirty="0"/>
          </a:p>
        </p:txBody>
      </p:sp>
      <p:sp>
        <p:nvSpPr>
          <p:cNvPr id="12" name="Shape 10"/>
          <p:cNvSpPr/>
          <p:nvPr/>
        </p:nvSpPr>
        <p:spPr>
          <a:xfrm>
            <a:off x="2587752" y="1975104"/>
            <a:ext cx="1892808" cy="2304288"/>
          </a:xfrm>
          <a:prstGeom prst="rect">
            <a:avLst/>
          </a:prstGeom>
          <a:solidFill>
            <a:srgbClr val="FDF2DF"/>
          </a:solidFill>
          <a:ln/>
        </p:spPr>
      </p:sp>
      <p:sp>
        <p:nvSpPr>
          <p:cNvPr id="13" name="Shape 11"/>
          <p:cNvSpPr/>
          <p:nvPr/>
        </p:nvSpPr>
        <p:spPr>
          <a:xfrm>
            <a:off x="2587752" y="1975104"/>
            <a:ext cx="1892808" cy="54864"/>
          </a:xfrm>
          <a:prstGeom prst="rect">
            <a:avLst/>
          </a:prstGeom>
          <a:solidFill>
            <a:srgbClr val="3B2478"/>
          </a:solidFill>
          <a:ln/>
        </p:spPr>
      </p:sp>
      <p:sp>
        <p:nvSpPr>
          <p:cNvPr id="14" name="Text 12"/>
          <p:cNvSpPr/>
          <p:nvPr/>
        </p:nvSpPr>
        <p:spPr>
          <a:xfrm>
            <a:off x="2752344" y="2176272"/>
            <a:ext cx="1563624" cy="219456"/>
          </a:xfrm>
          <a:prstGeom prst="rect">
            <a:avLst/>
          </a:prstGeom>
          <a:noFill/>
          <a:ln/>
        </p:spPr>
        <p:txBody>
          <a:bodyPr wrap="square" lIns="0" tIns="0" rIns="0" bIns="0" rtlCol="0" anchor="t"/>
          <a:lstStyle/>
          <a:p>
            <a:pPr indent="0" marL="0">
              <a:buNone/>
            </a:pPr>
            <a:r>
              <a:rPr lang="en-US" sz="1100" b="1" dirty="0">
                <a:solidFill>
                  <a:srgbClr val="3B2478"/>
                </a:solidFill>
                <a:latin typeface="Arial" pitchFamily="34" charset="0"/>
                <a:ea typeface="Arial" pitchFamily="34" charset="-122"/>
                <a:cs typeface="Arial" pitchFamily="34" charset="-120"/>
              </a:rPr>
              <a:t>02</a:t>
            </a:r>
            <a:endParaRPr lang="en-US" sz="1100" dirty="0"/>
          </a:p>
        </p:txBody>
      </p:sp>
      <p:sp>
        <p:nvSpPr>
          <p:cNvPr id="15" name="Text 13"/>
          <p:cNvSpPr/>
          <p:nvPr/>
        </p:nvSpPr>
        <p:spPr>
          <a:xfrm>
            <a:off x="2752344" y="2468880"/>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IS IT GOOD?</a:t>
            </a:r>
            <a:endParaRPr lang="en-US" sz="800" dirty="0"/>
          </a:p>
        </p:txBody>
      </p:sp>
      <p:sp>
        <p:nvSpPr>
          <p:cNvPr id="16" name="Text 14"/>
          <p:cNvSpPr/>
          <p:nvPr/>
        </p:nvSpPr>
        <p:spPr>
          <a:xfrm>
            <a:off x="2752344" y="2688336"/>
            <a:ext cx="1563624" cy="27432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The detail up close</a:t>
            </a:r>
            <a:endParaRPr lang="en-US" sz="1300" dirty="0"/>
          </a:p>
        </p:txBody>
      </p:sp>
      <p:sp>
        <p:nvSpPr>
          <p:cNvPr id="17" name="Text 15"/>
          <p:cNvSpPr/>
          <p:nvPr/>
        </p:nvSpPr>
        <p:spPr>
          <a:xfrm>
            <a:off x="2752344" y="2962656"/>
            <a:ext cx="1563624" cy="1188720"/>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Macro shots of the hand-rolled hem, the momme weight on screen and both sizes in centimeters. Arzu publishes none of the three on its silk pages.</a:t>
            </a:r>
            <a:endParaRPr lang="en-US" sz="950" dirty="0"/>
          </a:p>
        </p:txBody>
      </p:sp>
      <p:sp>
        <p:nvSpPr>
          <p:cNvPr id="18" name="Shape 16"/>
          <p:cNvSpPr/>
          <p:nvPr/>
        </p:nvSpPr>
        <p:spPr>
          <a:xfrm>
            <a:off x="4663440" y="1975104"/>
            <a:ext cx="1892808" cy="2304288"/>
          </a:xfrm>
          <a:prstGeom prst="rect">
            <a:avLst/>
          </a:prstGeom>
          <a:solidFill>
            <a:srgbClr val="FDF2DF"/>
          </a:solidFill>
          <a:ln/>
        </p:spPr>
      </p:sp>
      <p:sp>
        <p:nvSpPr>
          <p:cNvPr id="19" name="Shape 17"/>
          <p:cNvSpPr/>
          <p:nvPr/>
        </p:nvSpPr>
        <p:spPr>
          <a:xfrm>
            <a:off x="4663440" y="1975104"/>
            <a:ext cx="1892808" cy="54864"/>
          </a:xfrm>
          <a:prstGeom prst="rect">
            <a:avLst/>
          </a:prstGeom>
          <a:solidFill>
            <a:srgbClr val="F2A25C"/>
          </a:solidFill>
          <a:ln/>
        </p:spPr>
      </p:sp>
      <p:sp>
        <p:nvSpPr>
          <p:cNvPr id="20" name="Text 18"/>
          <p:cNvSpPr/>
          <p:nvPr/>
        </p:nvSpPr>
        <p:spPr>
          <a:xfrm>
            <a:off x="4828032" y="2176272"/>
            <a:ext cx="1563624" cy="219456"/>
          </a:xfrm>
          <a:prstGeom prst="rect">
            <a:avLst/>
          </a:prstGeom>
          <a:noFill/>
          <a:ln/>
        </p:spPr>
        <p:txBody>
          <a:bodyPr wrap="square" lIns="0" tIns="0" rIns="0" bIns="0" rtlCol="0" anchor="t"/>
          <a:lstStyle/>
          <a:p>
            <a:pPr indent="0" marL="0">
              <a:buNone/>
            </a:pPr>
            <a:r>
              <a:rPr lang="en-US" sz="1100" b="1" dirty="0">
                <a:solidFill>
                  <a:srgbClr val="F2A25C"/>
                </a:solidFill>
                <a:latin typeface="Arial" pitchFamily="34" charset="0"/>
                <a:ea typeface="Arial" pitchFamily="34" charset="-122"/>
                <a:cs typeface="Arial" pitchFamily="34" charset="-120"/>
              </a:rPr>
              <a:t>03</a:t>
            </a:r>
            <a:endParaRPr lang="en-US" sz="1100" dirty="0"/>
          </a:p>
        </p:txBody>
      </p:sp>
      <p:sp>
        <p:nvSpPr>
          <p:cNvPr id="21" name="Text 19"/>
          <p:cNvSpPr/>
          <p:nvPr/>
        </p:nvSpPr>
        <p:spPr>
          <a:xfrm>
            <a:off x="4828032" y="2468880"/>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WHY THIS PRICE?</a:t>
            </a:r>
            <a:endParaRPr lang="en-US" sz="800" dirty="0"/>
          </a:p>
        </p:txBody>
      </p:sp>
      <p:sp>
        <p:nvSpPr>
          <p:cNvPr id="22" name="Text 20"/>
          <p:cNvSpPr/>
          <p:nvPr/>
        </p:nvSpPr>
        <p:spPr>
          <a:xfrm>
            <a:off x="4828032" y="2688336"/>
            <a:ext cx="1563624" cy="27432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Numbered pieces</a:t>
            </a:r>
            <a:endParaRPr lang="en-US" sz="1300" dirty="0"/>
          </a:p>
        </p:txBody>
      </p:sp>
      <p:sp>
        <p:nvSpPr>
          <p:cNvPr id="23" name="Text 21"/>
          <p:cNvSpPr/>
          <p:nvPr/>
        </p:nvSpPr>
        <p:spPr>
          <a:xfrm>
            <a:off x="4828032" y="2962656"/>
            <a:ext cx="1563624" cy="1188720"/>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Each print sells in a small numbered batch, and the ad shows the number. A buyer can see how many pieces of her print exist.</a:t>
            </a:r>
            <a:endParaRPr lang="en-US" sz="950" dirty="0"/>
          </a:p>
        </p:txBody>
      </p:sp>
      <p:sp>
        <p:nvSpPr>
          <p:cNvPr id="24" name="Shape 22"/>
          <p:cNvSpPr/>
          <p:nvPr/>
        </p:nvSpPr>
        <p:spPr>
          <a:xfrm>
            <a:off x="6739128" y="1975104"/>
            <a:ext cx="1892808" cy="2304288"/>
          </a:xfrm>
          <a:prstGeom prst="rect">
            <a:avLst/>
          </a:prstGeom>
          <a:solidFill>
            <a:srgbClr val="FDF2DF"/>
          </a:solidFill>
          <a:ln/>
        </p:spPr>
      </p:sp>
      <p:sp>
        <p:nvSpPr>
          <p:cNvPr id="25" name="Shape 23"/>
          <p:cNvSpPr/>
          <p:nvPr/>
        </p:nvSpPr>
        <p:spPr>
          <a:xfrm>
            <a:off x="6739128" y="1975104"/>
            <a:ext cx="1892808" cy="54864"/>
          </a:xfrm>
          <a:prstGeom prst="rect">
            <a:avLst/>
          </a:prstGeom>
          <a:solidFill>
            <a:srgbClr val="1C120B"/>
          </a:solidFill>
          <a:ln/>
        </p:spPr>
      </p:sp>
      <p:sp>
        <p:nvSpPr>
          <p:cNvPr id="26" name="Text 24"/>
          <p:cNvSpPr/>
          <p:nvPr/>
        </p:nvSpPr>
        <p:spPr>
          <a:xfrm>
            <a:off x="6903720" y="2176272"/>
            <a:ext cx="1563624" cy="219456"/>
          </a:xfrm>
          <a:prstGeom prst="rect">
            <a:avLst/>
          </a:prstGeom>
          <a:noFill/>
          <a:ln/>
        </p:spPr>
        <p:txBody>
          <a:bodyPr wrap="square" lIns="0" tIns="0" rIns="0" bIns="0" rtlCol="0" anchor="t"/>
          <a:lstStyle/>
          <a:p>
            <a:pPr indent="0" marL="0">
              <a:buNone/>
            </a:pPr>
            <a:r>
              <a:rPr lang="en-US" sz="1100" b="1" dirty="0">
                <a:solidFill>
                  <a:srgbClr val="1C120B"/>
                </a:solidFill>
                <a:latin typeface="Arial" pitchFamily="34" charset="0"/>
                <a:ea typeface="Arial" pitchFamily="34" charset="-122"/>
                <a:cs typeface="Arial" pitchFamily="34" charset="-120"/>
              </a:rPr>
              <a:t>04</a:t>
            </a:r>
            <a:endParaRPr lang="en-US" sz="1100" dirty="0"/>
          </a:p>
        </p:txBody>
      </p:sp>
      <p:sp>
        <p:nvSpPr>
          <p:cNvPr id="27" name="Text 25"/>
          <p:cNvSpPr/>
          <p:nvPr/>
        </p:nvSpPr>
        <p:spPr>
          <a:xfrm>
            <a:off x="6903720" y="2468880"/>
            <a:ext cx="1563624"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WHO IS IT FOR?</a:t>
            </a:r>
            <a:endParaRPr lang="en-US" sz="800" dirty="0"/>
          </a:p>
        </p:txBody>
      </p:sp>
      <p:sp>
        <p:nvSpPr>
          <p:cNvPr id="28" name="Text 26"/>
          <p:cNvSpPr/>
          <p:nvPr/>
        </p:nvSpPr>
        <p:spPr>
          <a:xfrm>
            <a:off x="6903720" y="2688336"/>
            <a:ext cx="1563624" cy="27432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The gift</a:t>
            </a:r>
            <a:endParaRPr lang="en-US" sz="1300" dirty="0"/>
          </a:p>
        </p:txBody>
      </p:sp>
      <p:sp>
        <p:nvSpPr>
          <p:cNvPr id="29" name="Text 27"/>
          <p:cNvSpPr/>
          <p:nvPr/>
        </p:nvSpPr>
        <p:spPr>
          <a:xfrm>
            <a:off x="6903720" y="2962656"/>
            <a:ext cx="1563624" cy="1188720"/>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Raya, weddings and farewells. The ad shows the box, the ribbon and the moment it opens, because a gift has to look expensive before anyone reads the label.</a:t>
            </a:r>
            <a:endParaRPr lang="en-US" sz="950" dirty="0"/>
          </a:p>
        </p:txBody>
      </p:sp>
      <p:sp>
        <p:nvSpPr>
          <p:cNvPr id="30" name="Shape 28"/>
          <p:cNvSpPr/>
          <p:nvPr/>
        </p:nvSpPr>
        <p:spPr>
          <a:xfrm>
            <a:off x="438912" y="4434840"/>
            <a:ext cx="8266176" cy="402336"/>
          </a:xfrm>
          <a:prstGeom prst="rect">
            <a:avLst/>
          </a:prstGeom>
          <a:solidFill>
            <a:srgbClr val="B5330F"/>
          </a:solidFill>
          <a:ln/>
        </p:spPr>
      </p:sp>
      <p:sp>
        <p:nvSpPr>
          <p:cNvPr id="31" name="Text 29"/>
          <p:cNvSpPr/>
          <p:nvPr/>
        </p:nvSpPr>
        <p:spPr>
          <a:xfrm>
            <a:off x="658368" y="4453128"/>
            <a:ext cx="7827264" cy="365760"/>
          </a:xfrm>
          <a:prstGeom prst="rect">
            <a:avLst/>
          </a:prstGeom>
          <a:noFill/>
          <a:ln/>
        </p:spPr>
        <p:txBody>
          <a:bodyPr wrap="square" lIns="0" tIns="0" rIns="0" bIns="0" rtlCol="0" anchor="ctr"/>
          <a:lstStyle/>
          <a:p>
            <a:pPr indent="0" marL="0">
              <a:lnSpc>
                <a:spcPts val="1200"/>
              </a:lnSpc>
              <a:buNone/>
            </a:pPr>
            <a:r>
              <a:rPr lang="en-US" sz="950" b="1" dirty="0">
                <a:solidFill>
                  <a:srgbClr val="EEFF41"/>
                </a:solidFill>
                <a:latin typeface="Arial" pitchFamily="34" charset="0"/>
                <a:ea typeface="Arial" pitchFamily="34" charset="-122"/>
                <a:cs typeface="Arial" pitchFamily="34" charset="-120"/>
              </a:rPr>
              <a:t>One rule for every ad: </a:t>
            </a:r>
            <a:pPr indent="0" marL="0">
              <a:lnSpc>
                <a:spcPts val="1200"/>
              </a:lnSpc>
              <a:buNone/>
            </a:pPr>
            <a:r>
              <a:rPr lang="en-US" sz="950" b="1" dirty="0">
                <a:solidFill>
                  <a:srgbClr val="FFFFFF"/>
                </a:solidFill>
                <a:latin typeface="Arial" pitchFamily="34" charset="0"/>
                <a:ea typeface="Arial" pitchFamily="34" charset="-122"/>
                <a:cs typeface="Arial" pitchFamily="34" charset="-120"/>
              </a:rPr>
              <a:t>say designed in Malaysia and never say made in Malaysia. The silk is woven in China.</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05.     Angles by platform</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The same four angles,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cut for each platform.</a:t>
            </a:r>
            <a:endParaRPr lang="en-US" sz="2500" dirty="0"/>
          </a:p>
        </p:txBody>
      </p:sp>
      <p:sp>
        <p:nvSpPr>
          <p:cNvPr id="5" name="Text 3"/>
          <p:cNvSpPr/>
          <p:nvPr/>
        </p:nvSpPr>
        <p:spPr>
          <a:xfrm>
            <a:off x="512064" y="1097280"/>
            <a:ext cx="8119872"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What each platform runs at each stage of the funnel, and the format it runs in.</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12064" y="1517904"/>
          <a:ext cx="8119872" cy="914400"/>
        </p:xfrm>
        <a:graphic>
          <a:graphicData uri="http://schemas.openxmlformats.org/drawingml/2006/table">
            <a:tbl>
              <a:tblPr/>
              <a:tblGrid>
                <a:gridCol w="1371600"/>
                <a:gridCol w="2249424"/>
                <a:gridCol w="2249424"/>
                <a:gridCol w="2249424"/>
              </a:tblGrid>
              <a:tr h="274320">
                <a:tc>
                  <a:txBody>
                    <a:bodyPr/>
                    <a:lstStyle/>
                    <a:p>
                      <a:pPr indent="0" marL="0">
                        <a:buNone/>
                      </a:pPr>
                      <a:endParaRPr lang="en-US" sz="850" dirty="0">
                        <a:latin typeface="Arial" charset="0"/>
                        <a:ea typeface="Arial" charset="0"/>
                        <a:cs typeface="Arial" charset="0"/>
                      </a:endParaRPr>
                    </a:p>
                  </a:txBody>
                  <a:tcPr marL="91440" marR="91440" marT="64008" marB="45720"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3B2478"/>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Awareness</a:t>
                      </a:r>
                      <a:endParaRPr lang="en-US" sz="850" dirty="0">
                        <a:latin typeface="Arial" charset="0"/>
                        <a:ea typeface="Arial" charset="0"/>
                        <a:cs typeface="Arial" charset="0"/>
                      </a:endParaRPr>
                    </a:p>
                  </a:txBody>
                  <a:tcPr marL="91440" marR="91440" marT="64008" marB="45720"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3B2478"/>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Consideration</a:t>
                      </a:r>
                      <a:endParaRPr lang="en-US" sz="850" dirty="0">
                        <a:latin typeface="Arial" charset="0"/>
                        <a:ea typeface="Arial" charset="0"/>
                        <a:cs typeface="Arial" charset="0"/>
                      </a:endParaRPr>
                    </a:p>
                  </a:txBody>
                  <a:tcPr marL="91440" marR="91440" marT="64008" marB="45720"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3B2478"/>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Conversion</a:t>
                      </a:r>
                      <a:endParaRPr lang="en-US" sz="850" dirty="0">
                        <a:latin typeface="Arial" charset="0"/>
                        <a:ea typeface="Arial" charset="0"/>
                        <a:cs typeface="Arial" charset="0"/>
                      </a:endParaRPr>
                    </a:p>
                  </a:txBody>
                  <a:tcPr marL="91440" marR="91440" marT="64008" marB="45720" anchor="ctr">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3B2478"/>
                    </a:solidFill>
                  </a:tcPr>
                </a:tc>
              </a:tr>
              <a:tr h="786384">
                <a:tc>
                  <a:txBody>
                    <a:bodyPr/>
                    <a:lstStyle/>
                    <a:p>
                      <a:pPr indent="0" marL="0">
                        <a:buNone/>
                      </a:pPr>
                      <a:r>
                        <a:rPr lang="en-US" sz="1000" b="1" dirty="0">
                          <a:solidFill>
                            <a:srgbClr val="3B2478"/>
                          </a:solidFill>
                          <a:latin typeface="Arial" pitchFamily="34" charset="0"/>
                          <a:ea typeface="Arial" pitchFamily="34" charset="-122"/>
                          <a:cs typeface="Arial" pitchFamily="34" charset="-120"/>
                        </a:rPr>
                        <a:t>Meta</a:t>
                      </a:r>
                      <a:endParaRPr lang="en-US" sz="900" dirty="0">
                        <a:latin typeface="Arial" charset="0"/>
                        <a:ea typeface="Arial" charset="0"/>
                        <a:cs typeface="Arial" charset="0"/>
                      </a:endParaRPr>
                    </a:p>
                    <a:p>
                      <a:pPr indent="0" marL="0">
                        <a:buNone/>
                      </a:pPr>
                      <a:r>
                        <a:rPr lang="en-US" sz="750" dirty="0">
                          <a:solidFill>
                            <a:srgbClr val="746096"/>
                          </a:solidFill>
                          <a:latin typeface="Arial" pitchFamily="34" charset="0"/>
                          <a:ea typeface="Arial" pitchFamily="34" charset="-122"/>
                          <a:cs typeface="Arial" pitchFamily="34" charset="-120"/>
                        </a:rPr>
                        <a:t>Instagram and Facebook</a:t>
                      </a:r>
                      <a:endParaRPr lang="en-US" sz="900" dirty="0">
                        <a:latin typeface="Arial" charset="0"/>
                        <a:ea typeface="Arial" charset="0"/>
                        <a:cs typeface="Arial" charset="0"/>
                      </a:endParaRPr>
                    </a:p>
                  </a:txBody>
                  <a:tcPr marL="91440" marR="91440" marT="64008" marB="45720" anchor="t">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indent="0" marL="0">
                        <a:buNone/>
                      </a:pPr>
                      <a:r>
                        <a:rPr lang="en-US" sz="850" dirty="0">
                          <a:solidFill>
                            <a:srgbClr val="3B2478"/>
                          </a:solidFill>
                          <a:latin typeface="Arial" pitchFamily="34" charset="0"/>
                          <a:ea typeface="Arial" pitchFamily="34" charset="-122"/>
                          <a:cs typeface="Arial" pitchFamily="34" charset="-120"/>
                        </a:rPr>
                        <a:t>A 15-second studio film: the designer draws the print, then the finished square moves on a model. Reels and Stories.</a:t>
                      </a:r>
                      <a:endParaRPr lang="en-US" sz="850" dirty="0">
                        <a:latin typeface="Arial" charset="0"/>
                        <a:ea typeface="Arial" charset="0"/>
                        <a:cs typeface="Arial" charset="0"/>
                      </a:endParaRPr>
                    </a:p>
                  </a:txBody>
                  <a:tcPr marL="91440" marR="91440" marT="64008" marB="45720" anchor="t">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indent="0" marL="0">
                        <a:buNone/>
                      </a:pPr>
                      <a:r>
                        <a:rPr lang="en-US" sz="850" dirty="0">
                          <a:solidFill>
                            <a:srgbClr val="3B2478"/>
                          </a:solidFill>
                          <a:latin typeface="Arial" pitchFamily="34" charset="0"/>
                          <a:ea typeface="Arial" pitchFamily="34" charset="-122"/>
                          <a:cs typeface="Arial" pitchFamily="34" charset="-120"/>
                        </a:rPr>
                        <a:t>Carousels of the detail: the hem, the momme weight and both sizes. Styling posts show three ways to wear one square.</a:t>
                      </a:r>
                      <a:endParaRPr lang="en-US" sz="850" dirty="0">
                        <a:latin typeface="Arial" charset="0"/>
                        <a:ea typeface="Arial" charset="0"/>
                        <a:cs typeface="Arial" charset="0"/>
                      </a:endParaRPr>
                    </a:p>
                  </a:txBody>
                  <a:tcPr marL="91440" marR="91440" marT="64008" marB="45720" anchor="t">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indent="0" marL="0">
                        <a:buNone/>
                      </a:pPr>
                      <a:r>
                        <a:rPr lang="en-US" sz="850" dirty="0">
                          <a:solidFill>
                            <a:srgbClr val="3B2478"/>
                          </a:solidFill>
                          <a:latin typeface="Arial" pitchFamily="34" charset="0"/>
                          <a:ea typeface="Arial" pitchFamily="34" charset="-122"/>
                          <a:cs typeface="Arial" pitchFamily="34" charset="-120"/>
                        </a:rPr>
                        <a:t>Retargeting to site visitors and video viewers: the numbered piece and the gift box, with a Shop now button to the product page.</a:t>
                      </a:r>
                      <a:endParaRPr lang="en-US" sz="850" dirty="0">
                        <a:latin typeface="Arial" charset="0"/>
                        <a:ea typeface="Arial" charset="0"/>
                        <a:cs typeface="Arial" charset="0"/>
                      </a:endParaRPr>
                    </a:p>
                  </a:txBody>
                  <a:tcPr marL="91440" marR="91440" marT="64008" marB="45720" anchor="t">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r>
              <a:tr h="786384">
                <a:tc>
                  <a:txBody>
                    <a:bodyPr/>
                    <a:lstStyle/>
                    <a:p>
                      <a:pPr indent="0" marL="0">
                        <a:buNone/>
                      </a:pPr>
                      <a:r>
                        <a:rPr lang="en-US" sz="1000" b="1" dirty="0">
                          <a:solidFill>
                            <a:srgbClr val="3B2478"/>
                          </a:solidFill>
                          <a:latin typeface="Arial" pitchFamily="34" charset="0"/>
                          <a:ea typeface="Arial" pitchFamily="34" charset="-122"/>
                          <a:cs typeface="Arial" pitchFamily="34" charset="-120"/>
                        </a:rPr>
                        <a:t>TikTok</a:t>
                      </a:r>
                      <a:endParaRPr lang="en-US" sz="900" dirty="0">
                        <a:latin typeface="Arial" charset="0"/>
                        <a:ea typeface="Arial" charset="0"/>
                        <a:cs typeface="Arial" charset="0"/>
                      </a:endParaRPr>
                    </a:p>
                    <a:p>
                      <a:pPr indent="0" marL="0">
                        <a:buNone/>
                      </a:pPr>
                      <a:r>
                        <a:rPr lang="en-US" sz="750" dirty="0">
                          <a:solidFill>
                            <a:srgbClr val="746096"/>
                          </a:solidFill>
                          <a:latin typeface="Arial" pitchFamily="34" charset="0"/>
                          <a:ea typeface="Arial" pitchFamily="34" charset="-122"/>
                          <a:cs typeface="Arial" pitchFamily="34" charset="-120"/>
                        </a:rPr>
                        <a:t>In-feed and Spark Ads</a:t>
                      </a:r>
                      <a:endParaRPr lang="en-US" sz="900" dirty="0">
                        <a:latin typeface="Arial" charset="0"/>
                        <a:ea typeface="Arial" charset="0"/>
                        <a:cs typeface="Arial" charset="0"/>
                      </a:endParaRPr>
                    </a:p>
                  </a:txBody>
                  <a:tcPr marL="91440" marR="91440" marT="64008" marB="45720" anchor="t">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indent="0" marL="0">
                        <a:buNone/>
                      </a:pPr>
                      <a:r>
                        <a:rPr lang="en-US" sz="850" dirty="0">
                          <a:solidFill>
                            <a:srgbClr val="3B2478"/>
                          </a:solidFill>
                          <a:latin typeface="Arial" pitchFamily="34" charset="0"/>
                          <a:ea typeface="Arial" pitchFamily="34" charset="-122"/>
                          <a:cs typeface="Arial" pitchFamily="34" charset="-120"/>
                        </a:rPr>
                        <a:t>Creator styling videos that tie one 90cm square five ways in 30 seconds, shot handheld with sound on.</a:t>
                      </a:r>
                      <a:endParaRPr lang="en-US" sz="850" dirty="0">
                        <a:latin typeface="Arial" charset="0"/>
                        <a:ea typeface="Arial" charset="0"/>
                        <a:cs typeface="Arial" charset="0"/>
                      </a:endParaRPr>
                    </a:p>
                  </a:txBody>
                  <a:tcPr marL="91440" marR="91440" marT="64008" marB="45720" anchor="t">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indent="0" marL="0">
                        <a:buNone/>
                      </a:pPr>
                      <a:r>
                        <a:rPr lang="en-US" sz="850" dirty="0">
                          <a:solidFill>
                            <a:srgbClr val="3B2478"/>
                          </a:solidFill>
                          <a:latin typeface="Arial" pitchFamily="34" charset="0"/>
                          <a:ea typeface="Arial" pitchFamily="34" charset="-122"/>
                          <a:cs typeface="Arial" pitchFamily="34" charset="-120"/>
                        </a:rPr>
                        <a:t>Fabric explainers: what momme means, how to spot a hand-rolled hem and why good silk costs more.</a:t>
                      </a:r>
                      <a:endParaRPr lang="en-US" sz="850" dirty="0">
                        <a:latin typeface="Arial" charset="0"/>
                        <a:ea typeface="Arial" charset="0"/>
                        <a:cs typeface="Arial" charset="0"/>
                      </a:endParaRPr>
                    </a:p>
                  </a:txBody>
                  <a:tcPr marL="91440" marR="91440" marT="64008" marB="45720" anchor="t">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indent="0" marL="0">
                        <a:buNone/>
                      </a:pPr>
                      <a:r>
                        <a:rPr lang="en-US" sz="850" dirty="0">
                          <a:solidFill>
                            <a:srgbClr val="3B2478"/>
                          </a:solidFill>
                          <a:latin typeface="Arial" pitchFamily="34" charset="0"/>
                          <a:ea typeface="Arial" pitchFamily="34" charset="-122"/>
                          <a:cs typeface="Arial" pitchFamily="34" charset="-120"/>
                        </a:rPr>
                        <a:t>Unboxing and gifting videos, shown to people who watched half of an earlier video, linking to the product page.</a:t>
                      </a:r>
                      <a:endParaRPr lang="en-US" sz="850" dirty="0">
                        <a:latin typeface="Arial" charset="0"/>
                        <a:ea typeface="Arial" charset="0"/>
                        <a:cs typeface="Arial" charset="0"/>
                      </a:endParaRPr>
                    </a:p>
                  </a:txBody>
                  <a:tcPr marL="91440" marR="91440" marT="64008" marB="45720" anchor="t">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r>
              <a:tr h="786384">
                <a:tc>
                  <a:txBody>
                    <a:bodyPr/>
                    <a:lstStyle/>
                    <a:p>
                      <a:pPr indent="0" marL="0">
                        <a:buNone/>
                      </a:pPr>
                      <a:r>
                        <a:rPr lang="en-US" sz="1000" b="1" dirty="0">
                          <a:solidFill>
                            <a:srgbClr val="3B2478"/>
                          </a:solidFill>
                          <a:latin typeface="Arial" pitchFamily="34" charset="0"/>
                          <a:ea typeface="Arial" pitchFamily="34" charset="-122"/>
                          <a:cs typeface="Arial" pitchFamily="34" charset="-120"/>
                        </a:rPr>
                        <a:t>Google Search</a:t>
                      </a:r>
                      <a:endParaRPr lang="en-US" sz="900" dirty="0">
                        <a:latin typeface="Arial" charset="0"/>
                        <a:ea typeface="Arial" charset="0"/>
                        <a:cs typeface="Arial" charset="0"/>
                      </a:endParaRPr>
                    </a:p>
                    <a:p>
                      <a:pPr indent="0" marL="0">
                        <a:buNone/>
                      </a:pPr>
                      <a:r>
                        <a:rPr lang="en-US" sz="750" dirty="0">
                          <a:solidFill>
                            <a:srgbClr val="746096"/>
                          </a:solidFill>
                          <a:latin typeface="Arial" pitchFamily="34" charset="0"/>
                          <a:ea typeface="Arial" pitchFamily="34" charset="-122"/>
                          <a:cs typeface="Arial" pitchFamily="34" charset="-120"/>
                        </a:rPr>
                        <a:t>Text ads</a:t>
                      </a:r>
                      <a:endParaRPr lang="en-US" sz="900" dirty="0">
                        <a:latin typeface="Arial" charset="0"/>
                        <a:ea typeface="Arial" charset="0"/>
                        <a:cs typeface="Arial" charset="0"/>
                      </a:endParaRPr>
                    </a:p>
                  </a:txBody>
                  <a:tcPr marL="91440" marR="91440" marT="64008" marB="45720" anchor="t">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indent="0" marL="0">
                        <a:buNone/>
                      </a:pPr>
                      <a:r>
                        <a:rPr lang="en-US" sz="850" i="1" dirty="0">
                          <a:solidFill>
                            <a:srgbClr val="746096"/>
                          </a:solidFill>
                          <a:latin typeface="Arial" pitchFamily="34" charset="0"/>
                          <a:ea typeface="Arial" pitchFamily="34" charset="-122"/>
                          <a:cs typeface="Arial" pitchFamily="34" charset="-120"/>
                        </a:rPr>
                        <a:t>Not used. People cannot search for a name they have not heard yet.</a:t>
                      </a:r>
                      <a:endParaRPr lang="en-US" sz="850" dirty="0">
                        <a:latin typeface="Arial" charset="0"/>
                        <a:ea typeface="Arial" charset="0"/>
                        <a:cs typeface="Arial" charset="0"/>
                      </a:endParaRPr>
                    </a:p>
                  </a:txBody>
                  <a:tcPr marL="91440" marR="91440" marT="64008" marB="45720" anchor="t">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indent="0" marL="0">
                        <a:buNone/>
                      </a:pPr>
                      <a:r>
                        <a:rPr lang="en-US" sz="850" dirty="0">
                          <a:solidFill>
                            <a:srgbClr val="3B2478"/>
                          </a:solidFill>
                          <a:latin typeface="Arial" pitchFamily="34" charset="0"/>
                          <a:ea typeface="Arial" pitchFamily="34" charset="-122"/>
                          <a:cs typeface="Arial" pitchFamily="34" charset="-120"/>
                        </a:rPr>
                        <a:t>Generic terms such as "silk scarf Malaysia" and "luxury scarf gift". The ads lead with size, momme and the hand-rolled hem.</a:t>
                      </a:r>
                      <a:endParaRPr lang="en-US" sz="850" dirty="0">
                        <a:latin typeface="Arial" charset="0"/>
                        <a:ea typeface="Arial" charset="0"/>
                        <a:cs typeface="Arial" charset="0"/>
                      </a:endParaRPr>
                    </a:p>
                  </a:txBody>
                  <a:tcPr marL="91440" marR="91440" marT="64008" marB="45720" anchor="t">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c>
                  <a:txBody>
                    <a:bodyPr/>
                    <a:lstStyle/>
                    <a:p>
                      <a:pPr indent="0" marL="0">
                        <a:buNone/>
                      </a:pPr>
                      <a:r>
                        <a:rPr lang="en-US" sz="850" dirty="0">
                          <a:solidFill>
                            <a:srgbClr val="3B2478"/>
                          </a:solidFill>
                          <a:latin typeface="Arial" pitchFamily="34" charset="0"/>
                          <a:ea typeface="Arial" pitchFamily="34" charset="-122"/>
                          <a:cs typeface="Arial" pitchFamily="34" charset="-120"/>
                        </a:rPr>
                        <a:t>The brand name and buying terms such as "buy silk scarf KL". The ads lead with the numbered piece and link to the product page.</a:t>
                      </a:r>
                      <a:endParaRPr lang="en-US" sz="850" dirty="0">
                        <a:latin typeface="Arial" charset="0"/>
                        <a:ea typeface="Arial" charset="0"/>
                        <a:cs typeface="Arial" charset="0"/>
                      </a:endParaRPr>
                    </a:p>
                  </a:txBody>
                  <a:tcPr marL="91440" marR="91440" marT="64008" marB="45720" anchor="t">
                    <a:lnL w="19050" cap="flat" cmpd="sng" algn="ctr">
                      <a:solidFill>
                        <a:srgbClr val="FCE5CD"/>
                      </a:solidFill>
                      <a:prstDash val="solid"/>
                      <a:round/>
                      <a:headEnd type="none" w="med" len="med"/>
                      <a:tailEnd type="none" w="med" len="med"/>
                    </a:lnL>
                    <a:lnR w="19050" cap="flat" cmpd="sng" algn="ctr">
                      <a:solidFill>
                        <a:srgbClr val="FCE5CD"/>
                      </a:solidFill>
                      <a:prstDash val="solid"/>
                      <a:round/>
                      <a:headEnd type="none" w="med" len="med"/>
                      <a:tailEnd type="none" w="med" len="med"/>
                    </a:lnR>
                    <a:lnT w="19050" cap="flat" cmpd="sng" algn="ctr">
                      <a:solidFill>
                        <a:srgbClr val="FCE5CD"/>
                      </a:solidFill>
                      <a:prstDash val="solid"/>
                      <a:round/>
                      <a:headEnd type="none" w="med" len="med"/>
                      <a:tailEnd type="none" w="med" len="med"/>
                    </a:lnT>
                    <a:lnB w="19050" cap="flat" cmpd="sng" algn="ctr">
                      <a:solidFill>
                        <a:srgbClr val="FCE5CD"/>
                      </a:solidFill>
                      <a:prstDash val="solid"/>
                      <a:round/>
                      <a:headEnd type="none" w="med" len="med"/>
                      <a:tailEnd type="none" w="med" len="med"/>
                    </a:lnB>
                    <a:solidFill>
                      <a:srgbClr val="FDF2DF"/>
                    </a:solidFill>
                  </a:tcPr>
                </a:tc>
              </a:tr>
            </a:tbl>
          </a:graphicData>
        </a:graphic>
      </p:graphicFrame>
      <p:sp>
        <p:nvSpPr>
          <p:cNvPr id="7" name="Shape 4"/>
          <p:cNvSpPr/>
          <p:nvPr/>
        </p:nvSpPr>
        <p:spPr>
          <a:xfrm>
            <a:off x="438912" y="4434840"/>
            <a:ext cx="8266176" cy="402336"/>
          </a:xfrm>
          <a:prstGeom prst="rect">
            <a:avLst/>
          </a:prstGeom>
          <a:solidFill>
            <a:srgbClr val="3B2478"/>
          </a:solidFill>
          <a:ln/>
        </p:spPr>
      </p:sp>
      <p:sp>
        <p:nvSpPr>
          <p:cNvPr id="8" name="Text 5"/>
          <p:cNvSpPr/>
          <p:nvPr/>
        </p:nvSpPr>
        <p:spPr>
          <a:xfrm>
            <a:off x="658368" y="4453128"/>
            <a:ext cx="7827264" cy="365760"/>
          </a:xfrm>
          <a:prstGeom prst="rect">
            <a:avLst/>
          </a:prstGeom>
          <a:noFill/>
          <a:ln/>
        </p:spPr>
        <p:txBody>
          <a:bodyPr wrap="square" lIns="0" tIns="0" rIns="0" bIns="0" rtlCol="0" anchor="ctr"/>
          <a:lstStyle/>
          <a:p>
            <a:pPr indent="0" marL="0">
              <a:lnSpc>
                <a:spcPts val="1200"/>
              </a:lnSpc>
              <a:buNone/>
            </a:pPr>
            <a:r>
              <a:rPr lang="en-US" sz="950" b="1" dirty="0">
                <a:solidFill>
                  <a:srgbClr val="EEFF41"/>
                </a:solidFill>
                <a:latin typeface="Arial" pitchFamily="34" charset="0"/>
                <a:ea typeface="Arial" pitchFamily="34" charset="-122"/>
                <a:cs typeface="Arial" pitchFamily="34" charset="-120"/>
              </a:rPr>
              <a:t>Spark Ads: </a:t>
            </a:r>
            <a:pPr indent="0" marL="0">
              <a:lnSpc>
                <a:spcPts val="1200"/>
              </a:lnSpc>
              <a:buNone/>
            </a:pPr>
            <a:r>
              <a:rPr lang="en-US" sz="950" b="1" dirty="0">
                <a:solidFill>
                  <a:srgbClr val="FFFFFF"/>
                </a:solidFill>
                <a:latin typeface="Arial" pitchFamily="34" charset="0"/>
                <a:ea typeface="Arial" pitchFamily="34" charset="-122"/>
                <a:cs typeface="Arial" pitchFamily="34" charset="-120"/>
              </a:rPr>
              <a:t>we boost the best organic TikTok videos as ads, so the strongest content runs twice with no new shoot.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06.     Organic content</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Organic posts follow the same funnel as the ads,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one job per post.</a:t>
            </a:r>
            <a:endParaRPr lang="en-US" sz="2500" dirty="0"/>
          </a:p>
        </p:txBody>
      </p:sp>
      <p:sp>
        <p:nvSpPr>
          <p:cNvPr id="5" name="Text 3"/>
          <p:cNvSpPr/>
          <p:nvPr/>
        </p:nvSpPr>
        <p:spPr>
          <a:xfrm>
            <a:off x="512064" y="1481328"/>
            <a:ext cx="8119872"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We recommend half the calendar for awareness. The other half moves followers toward the online store.</a:t>
            </a:r>
            <a:endParaRPr lang="en-US" sz="1100" dirty="0"/>
          </a:p>
        </p:txBody>
      </p:sp>
      <p:sp>
        <p:nvSpPr>
          <p:cNvPr id="6" name="Shape 4"/>
          <p:cNvSpPr/>
          <p:nvPr/>
        </p:nvSpPr>
        <p:spPr>
          <a:xfrm>
            <a:off x="512064" y="1938528"/>
            <a:ext cx="2584704" cy="2340864"/>
          </a:xfrm>
          <a:prstGeom prst="rect">
            <a:avLst/>
          </a:prstGeom>
          <a:solidFill>
            <a:srgbClr val="FDF2DF"/>
          </a:solidFill>
          <a:ln/>
        </p:spPr>
      </p:sp>
      <p:sp>
        <p:nvSpPr>
          <p:cNvPr id="7" name="Shape 5"/>
          <p:cNvSpPr/>
          <p:nvPr/>
        </p:nvSpPr>
        <p:spPr>
          <a:xfrm>
            <a:off x="512064" y="1938528"/>
            <a:ext cx="2584704" cy="54864"/>
          </a:xfrm>
          <a:prstGeom prst="rect">
            <a:avLst/>
          </a:prstGeom>
          <a:solidFill>
            <a:srgbClr val="B5330F"/>
          </a:solidFill>
          <a:ln/>
        </p:spPr>
      </p:sp>
      <p:sp>
        <p:nvSpPr>
          <p:cNvPr id="8" name="Text 6"/>
          <p:cNvSpPr/>
          <p:nvPr/>
        </p:nvSpPr>
        <p:spPr>
          <a:xfrm>
            <a:off x="676656" y="2139696"/>
            <a:ext cx="2255520" cy="219456"/>
          </a:xfrm>
          <a:prstGeom prst="rect">
            <a:avLst/>
          </a:prstGeom>
          <a:noFill/>
          <a:ln/>
        </p:spPr>
        <p:txBody>
          <a:bodyPr wrap="square" lIns="0" tIns="0" rIns="0" bIns="0" rtlCol="0" anchor="t"/>
          <a:lstStyle/>
          <a:p>
            <a:pPr indent="0" marL="0">
              <a:buNone/>
            </a:pPr>
            <a:r>
              <a:rPr lang="en-US" sz="1100" b="1" dirty="0">
                <a:solidFill>
                  <a:srgbClr val="B5330F"/>
                </a:solidFill>
                <a:latin typeface="Arial" pitchFamily="34" charset="0"/>
                <a:ea typeface="Arial" pitchFamily="34" charset="-122"/>
                <a:cs typeface="Arial" pitchFamily="34" charset="-120"/>
              </a:rPr>
              <a:t>Awareness  ·  50% of posts</a:t>
            </a:r>
            <a:endParaRPr lang="en-US" sz="1100" dirty="0"/>
          </a:p>
        </p:txBody>
      </p:sp>
      <p:sp>
        <p:nvSpPr>
          <p:cNvPr id="9" name="Text 7"/>
          <p:cNvSpPr/>
          <p:nvPr/>
        </p:nvSpPr>
        <p:spPr>
          <a:xfrm>
            <a:off x="676656" y="2432304"/>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WHERE THE PRINTS COME FROM</a:t>
            </a:r>
            <a:endParaRPr lang="en-US" sz="800" dirty="0"/>
          </a:p>
        </p:txBody>
      </p:sp>
      <p:sp>
        <p:nvSpPr>
          <p:cNvPr id="10" name="Text 8"/>
          <p:cNvSpPr/>
          <p:nvPr/>
        </p:nvSpPr>
        <p:spPr>
          <a:xfrm>
            <a:off x="676656" y="2615184"/>
            <a:ext cx="2255520" cy="566928"/>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Studio process, the sketch turning into a print and the Malaysian places behind each design.</a:t>
            </a:r>
            <a:endParaRPr lang="en-US" sz="950" dirty="0"/>
          </a:p>
        </p:txBody>
      </p:sp>
      <p:sp>
        <p:nvSpPr>
          <p:cNvPr id="11" name="Text 9"/>
          <p:cNvSpPr/>
          <p:nvPr/>
        </p:nvSpPr>
        <p:spPr>
          <a:xfrm>
            <a:off x="676656" y="3255264"/>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HOW TO WEAR IT</a:t>
            </a:r>
            <a:endParaRPr lang="en-US" sz="800" dirty="0"/>
          </a:p>
        </p:txBody>
      </p:sp>
      <p:sp>
        <p:nvSpPr>
          <p:cNvPr id="12" name="Text 10"/>
          <p:cNvSpPr/>
          <p:nvPr/>
        </p:nvSpPr>
        <p:spPr>
          <a:xfrm>
            <a:off x="676656" y="3438144"/>
            <a:ext cx="2255520" cy="566928"/>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Styling reels that wear one 90cm square as a hijab, a neck scarf and a bag tie.</a:t>
            </a:r>
            <a:endParaRPr lang="en-US" sz="950" dirty="0"/>
          </a:p>
        </p:txBody>
      </p:sp>
      <p:sp>
        <p:nvSpPr>
          <p:cNvPr id="13" name="Shape 11"/>
          <p:cNvSpPr/>
          <p:nvPr/>
        </p:nvSpPr>
        <p:spPr>
          <a:xfrm>
            <a:off x="3279648" y="1938528"/>
            <a:ext cx="2584704" cy="2340864"/>
          </a:xfrm>
          <a:prstGeom prst="rect">
            <a:avLst/>
          </a:prstGeom>
          <a:solidFill>
            <a:srgbClr val="FDF2DF"/>
          </a:solidFill>
          <a:ln/>
        </p:spPr>
      </p:sp>
      <p:sp>
        <p:nvSpPr>
          <p:cNvPr id="14" name="Shape 12"/>
          <p:cNvSpPr/>
          <p:nvPr/>
        </p:nvSpPr>
        <p:spPr>
          <a:xfrm>
            <a:off x="3279648" y="1938528"/>
            <a:ext cx="2584704" cy="54864"/>
          </a:xfrm>
          <a:prstGeom prst="rect">
            <a:avLst/>
          </a:prstGeom>
          <a:solidFill>
            <a:srgbClr val="3B2478"/>
          </a:solidFill>
          <a:ln/>
        </p:spPr>
      </p:sp>
      <p:sp>
        <p:nvSpPr>
          <p:cNvPr id="15" name="Text 13"/>
          <p:cNvSpPr/>
          <p:nvPr/>
        </p:nvSpPr>
        <p:spPr>
          <a:xfrm>
            <a:off x="3444240" y="2139696"/>
            <a:ext cx="2255520" cy="219456"/>
          </a:xfrm>
          <a:prstGeom prst="rect">
            <a:avLst/>
          </a:prstGeom>
          <a:noFill/>
          <a:ln/>
        </p:spPr>
        <p:txBody>
          <a:bodyPr wrap="square" lIns="0" tIns="0" rIns="0" bIns="0" rtlCol="0" anchor="t"/>
          <a:lstStyle/>
          <a:p>
            <a:pPr indent="0" marL="0">
              <a:buNone/>
            </a:pPr>
            <a:r>
              <a:rPr lang="en-US" sz="1100" b="1" dirty="0">
                <a:solidFill>
                  <a:srgbClr val="3B2478"/>
                </a:solidFill>
                <a:latin typeface="Arial" pitchFamily="34" charset="0"/>
                <a:ea typeface="Arial" pitchFamily="34" charset="-122"/>
                <a:cs typeface="Arial" pitchFamily="34" charset="-120"/>
              </a:rPr>
              <a:t>Consideration  ·  30% of posts</a:t>
            </a:r>
            <a:endParaRPr lang="en-US" sz="1100" dirty="0"/>
          </a:p>
        </p:txBody>
      </p:sp>
      <p:sp>
        <p:nvSpPr>
          <p:cNvPr id="16" name="Text 14"/>
          <p:cNvSpPr/>
          <p:nvPr/>
        </p:nvSpPr>
        <p:spPr>
          <a:xfrm>
            <a:off x="3444240" y="2432304"/>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WHY IT COSTS WHAT IT COSTS</a:t>
            </a:r>
            <a:endParaRPr lang="en-US" sz="800" dirty="0"/>
          </a:p>
        </p:txBody>
      </p:sp>
      <p:sp>
        <p:nvSpPr>
          <p:cNvPr id="17" name="Text 15"/>
          <p:cNvSpPr/>
          <p:nvPr/>
        </p:nvSpPr>
        <p:spPr>
          <a:xfrm>
            <a:off x="3444240" y="2615184"/>
            <a:ext cx="2255520" cy="566928"/>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Short lessons on momme weight, hand-rolled hems and how to care for silk.</a:t>
            </a:r>
            <a:endParaRPr lang="en-US" sz="950" dirty="0"/>
          </a:p>
        </p:txBody>
      </p:sp>
      <p:sp>
        <p:nvSpPr>
          <p:cNvPr id="18" name="Text 16"/>
          <p:cNvSpPr/>
          <p:nvPr/>
        </p:nvSpPr>
        <p:spPr>
          <a:xfrm>
            <a:off x="3444240" y="3255264"/>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WHO WEARS IT</a:t>
            </a:r>
            <a:endParaRPr lang="en-US" sz="800" dirty="0"/>
          </a:p>
        </p:txBody>
      </p:sp>
      <p:sp>
        <p:nvSpPr>
          <p:cNvPr id="19" name="Text 17"/>
          <p:cNvSpPr/>
          <p:nvPr/>
        </p:nvSpPr>
        <p:spPr>
          <a:xfrm>
            <a:off x="3444240" y="3438144"/>
            <a:ext cx="2255520" cy="566928"/>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Buyers and gift recipients in their own photos, reposted with their permission.</a:t>
            </a:r>
            <a:endParaRPr lang="en-US" sz="950" dirty="0"/>
          </a:p>
        </p:txBody>
      </p:sp>
      <p:sp>
        <p:nvSpPr>
          <p:cNvPr id="20" name="Shape 18"/>
          <p:cNvSpPr/>
          <p:nvPr/>
        </p:nvSpPr>
        <p:spPr>
          <a:xfrm>
            <a:off x="6047232" y="1938528"/>
            <a:ext cx="2584704" cy="2340864"/>
          </a:xfrm>
          <a:prstGeom prst="rect">
            <a:avLst/>
          </a:prstGeom>
          <a:solidFill>
            <a:srgbClr val="FDF2DF"/>
          </a:solidFill>
          <a:ln/>
        </p:spPr>
      </p:sp>
      <p:sp>
        <p:nvSpPr>
          <p:cNvPr id="21" name="Shape 19"/>
          <p:cNvSpPr/>
          <p:nvPr/>
        </p:nvSpPr>
        <p:spPr>
          <a:xfrm>
            <a:off x="6047232" y="1938528"/>
            <a:ext cx="2584704" cy="54864"/>
          </a:xfrm>
          <a:prstGeom prst="rect">
            <a:avLst/>
          </a:prstGeom>
          <a:solidFill>
            <a:srgbClr val="F2A25C"/>
          </a:solidFill>
          <a:ln/>
        </p:spPr>
      </p:sp>
      <p:sp>
        <p:nvSpPr>
          <p:cNvPr id="22" name="Text 20"/>
          <p:cNvSpPr/>
          <p:nvPr/>
        </p:nvSpPr>
        <p:spPr>
          <a:xfrm>
            <a:off x="6211824" y="2139696"/>
            <a:ext cx="2255520" cy="219456"/>
          </a:xfrm>
          <a:prstGeom prst="rect">
            <a:avLst/>
          </a:prstGeom>
          <a:noFill/>
          <a:ln/>
        </p:spPr>
        <p:txBody>
          <a:bodyPr wrap="square" lIns="0" tIns="0" rIns="0" bIns="0" rtlCol="0" anchor="t"/>
          <a:lstStyle/>
          <a:p>
            <a:pPr indent="0" marL="0">
              <a:buNone/>
            </a:pPr>
            <a:r>
              <a:rPr lang="en-US" sz="1100" b="1" dirty="0">
                <a:solidFill>
                  <a:srgbClr val="F2A25C"/>
                </a:solidFill>
                <a:latin typeface="Arial" pitchFamily="34" charset="0"/>
                <a:ea typeface="Arial" pitchFamily="34" charset="-122"/>
                <a:cs typeface="Arial" pitchFamily="34" charset="-120"/>
              </a:rPr>
              <a:t>Conversion  ·  20% of posts</a:t>
            </a:r>
            <a:endParaRPr lang="en-US" sz="1100" dirty="0"/>
          </a:p>
        </p:txBody>
      </p:sp>
      <p:sp>
        <p:nvSpPr>
          <p:cNvPr id="23" name="Text 21"/>
          <p:cNvSpPr/>
          <p:nvPr/>
        </p:nvSpPr>
        <p:spPr>
          <a:xfrm>
            <a:off x="6211824" y="2432304"/>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WHAT IS AVAILABLE</a:t>
            </a:r>
            <a:endParaRPr lang="en-US" sz="800" dirty="0"/>
          </a:p>
        </p:txBody>
      </p:sp>
      <p:sp>
        <p:nvSpPr>
          <p:cNvPr id="24" name="Text 22"/>
          <p:cNvSpPr/>
          <p:nvPr/>
        </p:nvSpPr>
        <p:spPr>
          <a:xfrm>
            <a:off x="6211824" y="2615184"/>
            <a:ext cx="2255520" cy="566928"/>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New print releases, the pieces left in each numbered batch and the date of the next release.</a:t>
            </a:r>
            <a:endParaRPr lang="en-US" sz="950" dirty="0"/>
          </a:p>
        </p:txBody>
      </p:sp>
      <p:sp>
        <p:nvSpPr>
          <p:cNvPr id="25" name="Text 23"/>
          <p:cNvSpPr/>
          <p:nvPr/>
        </p:nvSpPr>
        <p:spPr>
          <a:xfrm>
            <a:off x="6211824" y="3255264"/>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HOW TO BUY</a:t>
            </a:r>
            <a:endParaRPr lang="en-US" sz="800" dirty="0"/>
          </a:p>
        </p:txBody>
      </p:sp>
      <p:sp>
        <p:nvSpPr>
          <p:cNvPr id="26" name="Text 24"/>
          <p:cNvSpPr/>
          <p:nvPr/>
        </p:nvSpPr>
        <p:spPr>
          <a:xfrm>
            <a:off x="6211824" y="3438144"/>
            <a:ext cx="2255520" cy="566928"/>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Shoppable posts that link to the product page, plus gift wrapping, delivery times and the care card.</a:t>
            </a:r>
            <a:endParaRPr lang="en-US" sz="950" dirty="0"/>
          </a:p>
        </p:txBody>
      </p:sp>
      <p:sp>
        <p:nvSpPr>
          <p:cNvPr id="27" name="Shape 25"/>
          <p:cNvSpPr/>
          <p:nvPr/>
        </p:nvSpPr>
        <p:spPr>
          <a:xfrm>
            <a:off x="438912" y="4434840"/>
            <a:ext cx="8266176" cy="402336"/>
          </a:xfrm>
          <a:prstGeom prst="rect">
            <a:avLst/>
          </a:prstGeom>
          <a:solidFill>
            <a:srgbClr val="FDF2DF"/>
          </a:solidFill>
          <a:ln/>
        </p:spPr>
      </p:sp>
      <p:sp>
        <p:nvSpPr>
          <p:cNvPr id="28" name="Text 26"/>
          <p:cNvSpPr/>
          <p:nvPr/>
        </p:nvSpPr>
        <p:spPr>
          <a:xfrm>
            <a:off x="658368" y="4453128"/>
            <a:ext cx="7827264" cy="365760"/>
          </a:xfrm>
          <a:prstGeom prst="rect">
            <a:avLst/>
          </a:prstGeom>
          <a:noFill/>
          <a:ln/>
        </p:spPr>
        <p:txBody>
          <a:bodyPr wrap="square" lIns="0" tIns="0" rIns="0" bIns="0" rtlCol="0" anchor="ctr"/>
          <a:lstStyle/>
          <a:p>
            <a:pPr indent="0" marL="0">
              <a:lnSpc>
                <a:spcPts val="1200"/>
              </a:lnSpc>
              <a:buNone/>
            </a:pPr>
            <a:r>
              <a:rPr lang="en-US" sz="950" b="1" dirty="0">
                <a:solidFill>
                  <a:srgbClr val="B5330F"/>
                </a:solidFill>
                <a:latin typeface="Arial" pitchFamily="34" charset="0"/>
                <a:ea typeface="Arial" pitchFamily="34" charset="-122"/>
                <a:cs typeface="Arial" pitchFamily="34" charset="-120"/>
              </a:rPr>
              <a:t>Where paid and organic meet: </a:t>
            </a:r>
            <a:pPr indent="0" marL="0">
              <a:lnSpc>
                <a:spcPts val="1200"/>
              </a:lnSpc>
              <a:buNone/>
            </a:pPr>
            <a:r>
              <a:rPr lang="en-US" sz="950" b="1" dirty="0">
                <a:solidFill>
                  <a:srgbClr val="3B2478"/>
                </a:solidFill>
                <a:latin typeface="Arial" pitchFamily="34" charset="0"/>
                <a:ea typeface="Arial" pitchFamily="34" charset="-122"/>
                <a:cs typeface="Arial" pitchFamily="34" charset="-120"/>
              </a:rPr>
              <a:t>we turn the organic posts that perform best into paid ads, which saves on production.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07.     Organic platforms</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Instagram is the shop window.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The website is the shop.</a:t>
            </a:r>
            <a:endParaRPr lang="en-US" sz="2500" dirty="0"/>
          </a:p>
        </p:txBody>
      </p:sp>
      <p:sp>
        <p:nvSpPr>
          <p:cNvPr id="5" name="Text 3"/>
          <p:cNvSpPr/>
          <p:nvPr/>
        </p:nvSpPr>
        <p:spPr>
          <a:xfrm>
            <a:off x="512064" y="1481328"/>
            <a:ext cx="8119872" cy="402336"/>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Each platform has one role. The posting cadence below is our recommendation, and it depends on how much content COO can produce each month.</a:t>
            </a:r>
            <a:endParaRPr lang="en-US" sz="1100" dirty="0"/>
          </a:p>
        </p:txBody>
      </p:sp>
      <p:sp>
        <p:nvSpPr>
          <p:cNvPr id="6" name="Shape 4"/>
          <p:cNvSpPr/>
          <p:nvPr/>
        </p:nvSpPr>
        <p:spPr>
          <a:xfrm>
            <a:off x="512064" y="1975104"/>
            <a:ext cx="2584704" cy="2304288"/>
          </a:xfrm>
          <a:prstGeom prst="rect">
            <a:avLst/>
          </a:prstGeom>
          <a:solidFill>
            <a:srgbClr val="FDF2DF"/>
          </a:solidFill>
          <a:ln/>
        </p:spPr>
      </p:sp>
      <p:sp>
        <p:nvSpPr>
          <p:cNvPr id="7" name="Shape 5"/>
          <p:cNvSpPr/>
          <p:nvPr/>
        </p:nvSpPr>
        <p:spPr>
          <a:xfrm>
            <a:off x="512064" y="1975104"/>
            <a:ext cx="2584704" cy="54864"/>
          </a:xfrm>
          <a:prstGeom prst="rect">
            <a:avLst/>
          </a:prstGeom>
          <a:solidFill>
            <a:srgbClr val="B5330F"/>
          </a:solidFill>
          <a:ln/>
        </p:spPr>
      </p:sp>
      <p:sp>
        <p:nvSpPr>
          <p:cNvPr id="8" name="Text 6"/>
          <p:cNvSpPr/>
          <p:nvPr/>
        </p:nvSpPr>
        <p:spPr>
          <a:xfrm>
            <a:off x="676656" y="2176272"/>
            <a:ext cx="2255520" cy="384048"/>
          </a:xfrm>
          <a:prstGeom prst="rect">
            <a:avLst/>
          </a:prstGeom>
          <a:noFill/>
          <a:ln/>
        </p:spPr>
        <p:txBody>
          <a:bodyPr wrap="square" lIns="0" tIns="0" rIns="0" bIns="0" rtlCol="0" anchor="t"/>
          <a:lstStyle/>
          <a:p>
            <a:pPr indent="0" marL="0">
              <a:buNone/>
            </a:pPr>
            <a:r>
              <a:rPr lang="en-US" sz="1600" dirty="0">
                <a:solidFill>
                  <a:srgbClr val="B5330F"/>
                </a:solidFill>
                <a:latin typeface="Arial Black" pitchFamily="34" charset="0"/>
                <a:ea typeface="Arial Black" pitchFamily="34" charset="-122"/>
                <a:cs typeface="Arial Black" pitchFamily="34" charset="-120"/>
              </a:rPr>
              <a:t>4 posts a week</a:t>
            </a:r>
            <a:endParaRPr lang="en-US" sz="1600" dirty="0"/>
          </a:p>
        </p:txBody>
      </p:sp>
      <p:sp>
        <p:nvSpPr>
          <p:cNvPr id="9" name="Text 7"/>
          <p:cNvSpPr/>
          <p:nvPr/>
        </p:nvSpPr>
        <p:spPr>
          <a:xfrm>
            <a:off x="676656" y="2542032"/>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INSTAGRAM  ·  THE BRAND'S HOME</a:t>
            </a:r>
            <a:endParaRPr lang="en-US" sz="800" dirty="0"/>
          </a:p>
        </p:txBody>
      </p:sp>
      <p:sp>
        <p:nvSpPr>
          <p:cNvPr id="10" name="Text 8"/>
          <p:cNvSpPr/>
          <p:nvPr/>
        </p:nvSpPr>
        <p:spPr>
          <a:xfrm>
            <a:off x="676656" y="2761488"/>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ROLE</a:t>
            </a:r>
            <a:endParaRPr lang="en-US" sz="800" dirty="0"/>
          </a:p>
        </p:txBody>
      </p:sp>
      <p:sp>
        <p:nvSpPr>
          <p:cNvPr id="11" name="Text 9"/>
          <p:cNvSpPr/>
          <p:nvPr/>
        </p:nvSpPr>
        <p:spPr>
          <a:xfrm>
            <a:off x="676656" y="2944368"/>
            <a:ext cx="2255520" cy="566928"/>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A buyer checks here whether the house is real, through the grid, the highlights and the designer's story.</a:t>
            </a:r>
            <a:endParaRPr lang="en-US" sz="950" dirty="0"/>
          </a:p>
        </p:txBody>
      </p:sp>
      <p:sp>
        <p:nvSpPr>
          <p:cNvPr id="12" name="Text 10"/>
          <p:cNvSpPr/>
          <p:nvPr/>
        </p:nvSpPr>
        <p:spPr>
          <a:xfrm>
            <a:off x="676656" y="3584448"/>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MIX</a:t>
            </a:r>
            <a:endParaRPr lang="en-US" sz="800" dirty="0"/>
          </a:p>
        </p:txBody>
      </p:sp>
      <p:sp>
        <p:nvSpPr>
          <p:cNvPr id="13" name="Text 11"/>
          <p:cNvSpPr/>
          <p:nvPr/>
        </p:nvSpPr>
        <p:spPr>
          <a:xfrm>
            <a:off x="676656" y="3767328"/>
            <a:ext cx="2255520" cy="457200"/>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Two Reels, one carousel and one single image each week, plus Stories every day.</a:t>
            </a:r>
            <a:endParaRPr lang="en-US" sz="950" dirty="0"/>
          </a:p>
        </p:txBody>
      </p:sp>
      <p:sp>
        <p:nvSpPr>
          <p:cNvPr id="14" name="Shape 12"/>
          <p:cNvSpPr/>
          <p:nvPr/>
        </p:nvSpPr>
        <p:spPr>
          <a:xfrm>
            <a:off x="3279648" y="1975104"/>
            <a:ext cx="2584704" cy="2304288"/>
          </a:xfrm>
          <a:prstGeom prst="rect">
            <a:avLst/>
          </a:prstGeom>
          <a:solidFill>
            <a:srgbClr val="FDF2DF"/>
          </a:solidFill>
          <a:ln/>
        </p:spPr>
      </p:sp>
      <p:sp>
        <p:nvSpPr>
          <p:cNvPr id="15" name="Shape 13"/>
          <p:cNvSpPr/>
          <p:nvPr/>
        </p:nvSpPr>
        <p:spPr>
          <a:xfrm>
            <a:off x="3279648" y="1975104"/>
            <a:ext cx="2584704" cy="54864"/>
          </a:xfrm>
          <a:prstGeom prst="rect">
            <a:avLst/>
          </a:prstGeom>
          <a:solidFill>
            <a:srgbClr val="3B2478"/>
          </a:solidFill>
          <a:ln/>
        </p:spPr>
      </p:sp>
      <p:sp>
        <p:nvSpPr>
          <p:cNvPr id="16" name="Text 14"/>
          <p:cNvSpPr/>
          <p:nvPr/>
        </p:nvSpPr>
        <p:spPr>
          <a:xfrm>
            <a:off x="3444240" y="2176272"/>
            <a:ext cx="2255520" cy="384048"/>
          </a:xfrm>
          <a:prstGeom prst="rect">
            <a:avLst/>
          </a:prstGeom>
          <a:noFill/>
          <a:ln/>
        </p:spPr>
        <p:txBody>
          <a:bodyPr wrap="square" lIns="0" tIns="0" rIns="0" bIns="0" rtlCol="0" anchor="t"/>
          <a:lstStyle/>
          <a:p>
            <a:pPr indent="0" marL="0">
              <a:buNone/>
            </a:pPr>
            <a:r>
              <a:rPr lang="en-US" sz="1600" dirty="0">
                <a:solidFill>
                  <a:srgbClr val="3B2478"/>
                </a:solidFill>
                <a:latin typeface="Arial Black" pitchFamily="34" charset="0"/>
                <a:ea typeface="Arial Black" pitchFamily="34" charset="-122"/>
                <a:cs typeface="Arial Black" pitchFamily="34" charset="-120"/>
              </a:rPr>
              <a:t>3 videos a week</a:t>
            </a:r>
            <a:endParaRPr lang="en-US" sz="1600" dirty="0"/>
          </a:p>
        </p:txBody>
      </p:sp>
      <p:sp>
        <p:nvSpPr>
          <p:cNvPr id="17" name="Text 15"/>
          <p:cNvSpPr/>
          <p:nvPr/>
        </p:nvSpPr>
        <p:spPr>
          <a:xfrm>
            <a:off x="3444240" y="2542032"/>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TIKTOK  ·  DISCOVERY</a:t>
            </a:r>
            <a:endParaRPr lang="en-US" sz="800" dirty="0"/>
          </a:p>
        </p:txBody>
      </p:sp>
      <p:sp>
        <p:nvSpPr>
          <p:cNvPr id="18" name="Text 16"/>
          <p:cNvSpPr/>
          <p:nvPr/>
        </p:nvSpPr>
        <p:spPr>
          <a:xfrm>
            <a:off x="3444240" y="2761488"/>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ROLE</a:t>
            </a:r>
            <a:endParaRPr lang="en-US" sz="800" dirty="0"/>
          </a:p>
        </p:txBody>
      </p:sp>
      <p:sp>
        <p:nvSpPr>
          <p:cNvPr id="19" name="Text 17"/>
          <p:cNvSpPr/>
          <p:nvPr/>
        </p:nvSpPr>
        <p:spPr>
          <a:xfrm>
            <a:off x="3444240" y="2944368"/>
            <a:ext cx="2255520" cy="566928"/>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New buyers find the house here through styling and fabric videos.</a:t>
            </a:r>
            <a:endParaRPr lang="en-US" sz="950" dirty="0"/>
          </a:p>
        </p:txBody>
      </p:sp>
      <p:sp>
        <p:nvSpPr>
          <p:cNvPr id="20" name="Text 18"/>
          <p:cNvSpPr/>
          <p:nvPr/>
        </p:nvSpPr>
        <p:spPr>
          <a:xfrm>
            <a:off x="3444240" y="3584448"/>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MIX</a:t>
            </a:r>
            <a:endParaRPr lang="en-US" sz="800" dirty="0"/>
          </a:p>
        </p:txBody>
      </p:sp>
      <p:sp>
        <p:nvSpPr>
          <p:cNvPr id="21" name="Text 19"/>
          <p:cNvSpPr/>
          <p:nvPr/>
        </p:nvSpPr>
        <p:spPr>
          <a:xfrm>
            <a:off x="3444240" y="3767328"/>
            <a:ext cx="2255520" cy="457200"/>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Styling tutorials, studio clips and fabric explainers, all shot vertically.</a:t>
            </a:r>
            <a:endParaRPr lang="en-US" sz="950" dirty="0"/>
          </a:p>
        </p:txBody>
      </p:sp>
      <p:sp>
        <p:nvSpPr>
          <p:cNvPr id="22" name="Shape 20"/>
          <p:cNvSpPr/>
          <p:nvPr/>
        </p:nvSpPr>
        <p:spPr>
          <a:xfrm>
            <a:off x="6047232" y="1975104"/>
            <a:ext cx="2584704" cy="2304288"/>
          </a:xfrm>
          <a:prstGeom prst="rect">
            <a:avLst/>
          </a:prstGeom>
          <a:solidFill>
            <a:srgbClr val="FDF2DF"/>
          </a:solidFill>
          <a:ln/>
        </p:spPr>
      </p:sp>
      <p:sp>
        <p:nvSpPr>
          <p:cNvPr id="23" name="Shape 21"/>
          <p:cNvSpPr/>
          <p:nvPr/>
        </p:nvSpPr>
        <p:spPr>
          <a:xfrm>
            <a:off x="6047232" y="1975104"/>
            <a:ext cx="2584704" cy="54864"/>
          </a:xfrm>
          <a:prstGeom prst="rect">
            <a:avLst/>
          </a:prstGeom>
          <a:solidFill>
            <a:srgbClr val="F2A25C"/>
          </a:solidFill>
          <a:ln/>
        </p:spPr>
      </p:sp>
      <p:sp>
        <p:nvSpPr>
          <p:cNvPr id="24" name="Text 22"/>
          <p:cNvSpPr/>
          <p:nvPr/>
        </p:nvSpPr>
        <p:spPr>
          <a:xfrm>
            <a:off x="6211824" y="2176272"/>
            <a:ext cx="2255520" cy="384048"/>
          </a:xfrm>
          <a:prstGeom prst="rect">
            <a:avLst/>
          </a:prstGeom>
          <a:noFill/>
          <a:ln/>
        </p:spPr>
        <p:txBody>
          <a:bodyPr wrap="square" lIns="0" tIns="0" rIns="0" bIns="0" rtlCol="0" anchor="t"/>
          <a:lstStyle/>
          <a:p>
            <a:pPr indent="0" marL="0">
              <a:buNone/>
            </a:pPr>
            <a:r>
              <a:rPr lang="en-US" sz="1600" dirty="0">
                <a:solidFill>
                  <a:srgbClr val="F2A25C"/>
                </a:solidFill>
                <a:latin typeface="Arial Black" pitchFamily="34" charset="0"/>
                <a:ea typeface="Arial Black" pitchFamily="34" charset="-122"/>
                <a:cs typeface="Arial Black" pitchFamily="34" charset="-120"/>
              </a:rPr>
              <a:t>1 email a week</a:t>
            </a:r>
            <a:endParaRPr lang="en-US" sz="1600" dirty="0"/>
          </a:p>
        </p:txBody>
      </p:sp>
      <p:sp>
        <p:nvSpPr>
          <p:cNvPr id="25" name="Text 23"/>
          <p:cNvSpPr/>
          <p:nvPr/>
        </p:nvSpPr>
        <p:spPr>
          <a:xfrm>
            <a:off x="6211824" y="2542032"/>
            <a:ext cx="2255520" cy="182880"/>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WEBSITE AND EMAIL  ·  THE SHOP</a:t>
            </a:r>
            <a:endParaRPr lang="en-US" sz="800" dirty="0"/>
          </a:p>
        </p:txBody>
      </p:sp>
      <p:sp>
        <p:nvSpPr>
          <p:cNvPr id="26" name="Text 24"/>
          <p:cNvSpPr/>
          <p:nvPr/>
        </p:nvSpPr>
        <p:spPr>
          <a:xfrm>
            <a:off x="6211824" y="2761488"/>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ROLE</a:t>
            </a:r>
            <a:endParaRPr lang="en-US" sz="800" dirty="0"/>
          </a:p>
        </p:txBody>
      </p:sp>
      <p:sp>
        <p:nvSpPr>
          <p:cNvPr id="27" name="Text 25"/>
          <p:cNvSpPr/>
          <p:nvPr/>
        </p:nvSpPr>
        <p:spPr>
          <a:xfrm>
            <a:off x="6211824" y="2944368"/>
            <a:ext cx="2255520" cy="566928"/>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Buyers check the sizes, the momme and the hem up close, then pay at checkout.</a:t>
            </a:r>
            <a:endParaRPr lang="en-US" sz="950" dirty="0"/>
          </a:p>
        </p:txBody>
      </p:sp>
      <p:sp>
        <p:nvSpPr>
          <p:cNvPr id="28" name="Text 26"/>
          <p:cNvSpPr/>
          <p:nvPr/>
        </p:nvSpPr>
        <p:spPr>
          <a:xfrm>
            <a:off x="6211824" y="3584448"/>
            <a:ext cx="2255520" cy="164592"/>
          </a:xfrm>
          <a:prstGeom prst="rect">
            <a:avLst/>
          </a:prstGeom>
          <a:noFill/>
          <a:ln/>
        </p:spPr>
        <p:txBody>
          <a:bodyPr wrap="square" lIns="0" tIns="0" rIns="0" bIns="0" rtlCol="0" anchor="t"/>
          <a:lstStyle/>
          <a:p>
            <a:pPr indent="0" marL="0">
              <a:buNone/>
            </a:pPr>
            <a:r>
              <a:rPr lang="en-US" sz="800" b="1" spc="80" kern="0" dirty="0">
                <a:solidFill>
                  <a:srgbClr val="746096"/>
                </a:solidFill>
                <a:latin typeface="Arial" pitchFamily="34" charset="0"/>
                <a:ea typeface="Arial" pitchFamily="34" charset="-122"/>
                <a:cs typeface="Arial" pitchFamily="34" charset="-120"/>
              </a:rPr>
              <a:t>MIX</a:t>
            </a:r>
            <a:endParaRPr lang="en-US" sz="800" dirty="0"/>
          </a:p>
        </p:txBody>
      </p:sp>
      <p:sp>
        <p:nvSpPr>
          <p:cNvPr id="29" name="Text 27"/>
          <p:cNvSpPr/>
          <p:nvPr/>
        </p:nvSpPr>
        <p:spPr>
          <a:xfrm>
            <a:off x="6211824" y="3767328"/>
            <a:ext cx="2255520" cy="457200"/>
          </a:xfrm>
          <a:prstGeom prst="rect">
            <a:avLst/>
          </a:prstGeom>
          <a:noFill/>
          <a:ln/>
        </p:spPr>
        <p:txBody>
          <a:bodyPr wrap="square" lIns="0" tIns="0" rIns="0" bIns="0" rtlCol="0" anchor="t"/>
          <a:lstStyle/>
          <a:p>
            <a:pPr indent="0" marL="0">
              <a:lnSpc>
                <a:spcPts val="1302"/>
              </a:lnSpc>
              <a:buNone/>
            </a:pPr>
            <a:r>
              <a:rPr lang="en-US" sz="950" dirty="0">
                <a:solidFill>
                  <a:srgbClr val="3B2478"/>
                </a:solidFill>
                <a:latin typeface="Arial" pitchFamily="34" charset="0"/>
                <a:ea typeface="Arial" pitchFamily="34" charset="-122"/>
                <a:cs typeface="Arial" pitchFamily="34" charset="-120"/>
              </a:rPr>
              <a:t>A weekly email to subscribers with release news, sent before the Instagram post goes up.</a:t>
            </a:r>
            <a:endParaRPr lang="en-US" sz="950" dirty="0"/>
          </a:p>
        </p:txBody>
      </p:sp>
      <p:sp>
        <p:nvSpPr>
          <p:cNvPr id="30" name="Shape 28"/>
          <p:cNvSpPr/>
          <p:nvPr/>
        </p:nvSpPr>
        <p:spPr>
          <a:xfrm>
            <a:off x="438912" y="4434840"/>
            <a:ext cx="8266176" cy="402336"/>
          </a:xfrm>
          <a:prstGeom prst="rect">
            <a:avLst/>
          </a:prstGeom>
          <a:solidFill>
            <a:srgbClr val="1C120B"/>
          </a:solidFill>
          <a:ln/>
        </p:spPr>
      </p:sp>
      <p:sp>
        <p:nvSpPr>
          <p:cNvPr id="31" name="Text 29"/>
          <p:cNvSpPr/>
          <p:nvPr/>
        </p:nvSpPr>
        <p:spPr>
          <a:xfrm>
            <a:off x="658368" y="4453128"/>
            <a:ext cx="7827264" cy="365760"/>
          </a:xfrm>
          <a:prstGeom prst="rect">
            <a:avLst/>
          </a:prstGeom>
          <a:noFill/>
          <a:ln/>
        </p:spPr>
        <p:txBody>
          <a:bodyPr wrap="square" lIns="0" tIns="0" rIns="0" bIns="0" rtlCol="0" anchor="ctr"/>
          <a:lstStyle/>
          <a:p>
            <a:pPr indent="0" marL="0">
              <a:lnSpc>
                <a:spcPts val="1200"/>
              </a:lnSpc>
              <a:buNone/>
            </a:pPr>
            <a:r>
              <a:rPr lang="en-US" sz="950" b="1" dirty="0">
                <a:solidFill>
                  <a:srgbClr val="EEFF41"/>
                </a:solidFill>
                <a:latin typeface="Arial" pitchFamily="34" charset="0"/>
                <a:ea typeface="Arial" pitchFamily="34" charset="-122"/>
                <a:cs typeface="Arial" pitchFamily="34" charset="-120"/>
              </a:rPr>
              <a:t>The production brief: </a:t>
            </a:r>
            <a:pPr indent="0" marL="0">
              <a:lnSpc>
                <a:spcPts val="1200"/>
              </a:lnSpc>
              <a:buNone/>
            </a:pPr>
            <a:r>
              <a:rPr lang="en-US" sz="950" b="1" dirty="0">
                <a:solidFill>
                  <a:srgbClr val="FFFFFF"/>
                </a:solidFill>
                <a:latin typeface="Arial" pitchFamily="34" charset="0"/>
                <a:ea typeface="Arial" pitchFamily="34" charset="-122"/>
                <a:cs typeface="Arial" pitchFamily="34" charset="-120"/>
              </a:rPr>
              <a:t>about 30 organic posts a month, plus daily Stories and 8 to 10 new paid ad creatives.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08.     Timeline</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Setup takes a month.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Month 1 goes live.</a:t>
            </a:r>
            <a:endParaRPr lang="en-US" sz="2500" dirty="0"/>
          </a:p>
        </p:txBody>
      </p:sp>
      <p:sp>
        <p:nvSpPr>
          <p:cNvPr id="5" name="Text 3"/>
          <p:cNvSpPr/>
          <p:nvPr/>
        </p:nvSpPr>
        <p:spPr>
          <a:xfrm>
            <a:off x="512064" y="1097280"/>
            <a:ext cx="8119872" cy="402336"/>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The plan runs for twelve months after a four-week setup in Month 0. The budget steps up from RM8,000 to RM10,000 a month when conversion takes the lead.</a:t>
            </a:r>
            <a:endParaRPr lang="en-US" sz="1100" dirty="0"/>
          </a:p>
        </p:txBody>
      </p:sp>
      <p:sp>
        <p:nvSpPr>
          <p:cNvPr id="6" name="Shape 4"/>
          <p:cNvSpPr/>
          <p:nvPr/>
        </p:nvSpPr>
        <p:spPr>
          <a:xfrm>
            <a:off x="731520" y="2784348"/>
            <a:ext cx="7680960" cy="9144"/>
          </a:xfrm>
          <a:prstGeom prst="rect">
            <a:avLst/>
          </a:prstGeom>
          <a:solidFill>
            <a:srgbClr val="3B2478"/>
          </a:solidFill>
          <a:ln/>
        </p:spPr>
      </p:sp>
      <p:sp>
        <p:nvSpPr>
          <p:cNvPr id="7" name="Shape 5"/>
          <p:cNvSpPr/>
          <p:nvPr/>
        </p:nvSpPr>
        <p:spPr>
          <a:xfrm>
            <a:off x="658368" y="2715768"/>
            <a:ext cx="146304" cy="146304"/>
          </a:xfrm>
          <a:prstGeom prst="ellipse">
            <a:avLst/>
          </a:prstGeom>
          <a:solidFill>
            <a:srgbClr val="FFFFFF"/>
          </a:solidFill>
          <a:ln w="19050">
            <a:solidFill>
              <a:srgbClr val="B5330F"/>
            </a:solidFill>
            <a:prstDash val="solid"/>
          </a:ln>
        </p:spPr>
      </p:sp>
      <p:sp>
        <p:nvSpPr>
          <p:cNvPr id="8" name="Text 6"/>
          <p:cNvSpPr/>
          <p:nvPr/>
        </p:nvSpPr>
        <p:spPr>
          <a:xfrm>
            <a:off x="512064" y="1993392"/>
            <a:ext cx="1417320" cy="164592"/>
          </a:xfrm>
          <a:prstGeom prst="rect">
            <a:avLst/>
          </a:prstGeom>
          <a:noFill/>
          <a:ln/>
        </p:spPr>
        <p:txBody>
          <a:bodyPr wrap="square" lIns="0" tIns="0" rIns="0" bIns="0" rtlCol="0" anchor="t"/>
          <a:lstStyle/>
          <a:p>
            <a:pPr algn="l" indent="0" marL="0">
              <a:buNone/>
            </a:pPr>
            <a:r>
              <a:rPr lang="en-US" sz="900" b="1" dirty="0">
                <a:solidFill>
                  <a:srgbClr val="B5330F"/>
                </a:solidFill>
                <a:latin typeface="Arial" pitchFamily="34" charset="0"/>
                <a:ea typeface="Arial" pitchFamily="34" charset="-122"/>
                <a:cs typeface="Arial" pitchFamily="34" charset="-120"/>
              </a:rPr>
              <a:t>Month 0</a:t>
            </a:r>
            <a:endParaRPr lang="en-US" sz="900" dirty="0"/>
          </a:p>
        </p:txBody>
      </p:sp>
      <p:sp>
        <p:nvSpPr>
          <p:cNvPr id="9" name="Text 7"/>
          <p:cNvSpPr/>
          <p:nvPr/>
        </p:nvSpPr>
        <p:spPr>
          <a:xfrm>
            <a:off x="512064" y="2176272"/>
            <a:ext cx="1417320" cy="530352"/>
          </a:xfrm>
          <a:prstGeom prst="rect">
            <a:avLst/>
          </a:prstGeom>
          <a:noFill/>
          <a:ln/>
        </p:spPr>
        <p:txBody>
          <a:bodyPr wrap="square" lIns="0" tIns="0" rIns="0" bIns="0" rtlCol="0" anchor="t"/>
          <a:lstStyle/>
          <a:p>
            <a:pPr algn="l" indent="0" marL="0">
              <a:lnSpc>
                <a:spcPts val="1100"/>
              </a:lnSpc>
              <a:buNone/>
            </a:pPr>
            <a:r>
              <a:rPr lang="en-US" sz="850" dirty="0">
                <a:solidFill>
                  <a:srgbClr val="3B2478"/>
                </a:solidFill>
                <a:latin typeface="Arial" pitchFamily="34" charset="0"/>
                <a:ea typeface="Arial" pitchFamily="34" charset="-122"/>
                <a:cs typeface="Arial" pitchFamily="34" charset="-120"/>
              </a:rPr>
              <a:t>Setup: pixels, Conversions API, GA4, the online store and the first shoot.</a:t>
            </a:r>
            <a:endParaRPr lang="en-US" sz="850" dirty="0"/>
          </a:p>
        </p:txBody>
      </p:sp>
      <p:sp>
        <p:nvSpPr>
          <p:cNvPr id="10" name="Shape 8"/>
          <p:cNvSpPr/>
          <p:nvPr/>
        </p:nvSpPr>
        <p:spPr>
          <a:xfrm>
            <a:off x="1298448" y="2715768"/>
            <a:ext cx="146304" cy="146304"/>
          </a:xfrm>
          <a:prstGeom prst="ellipse">
            <a:avLst/>
          </a:prstGeom>
          <a:solidFill>
            <a:srgbClr val="B5330F"/>
          </a:solidFill>
          <a:ln w="19050">
            <a:solidFill>
              <a:srgbClr val="B5330F"/>
            </a:solidFill>
            <a:prstDash val="solid"/>
          </a:ln>
        </p:spPr>
      </p:sp>
      <p:sp>
        <p:nvSpPr>
          <p:cNvPr id="11" name="Text 9"/>
          <p:cNvSpPr/>
          <p:nvPr/>
        </p:nvSpPr>
        <p:spPr>
          <a:xfrm>
            <a:off x="662940" y="2944368"/>
            <a:ext cx="1417320" cy="164592"/>
          </a:xfrm>
          <a:prstGeom prst="rect">
            <a:avLst/>
          </a:prstGeom>
          <a:noFill/>
          <a:ln/>
        </p:spPr>
        <p:txBody>
          <a:bodyPr wrap="square" lIns="0" tIns="0" rIns="0" bIns="0" rtlCol="0" anchor="t"/>
          <a:lstStyle/>
          <a:p>
            <a:pPr algn="ctr" indent="0" marL="0">
              <a:buNone/>
            </a:pPr>
            <a:r>
              <a:rPr lang="en-US" sz="900" b="1" dirty="0">
                <a:solidFill>
                  <a:srgbClr val="B5330F"/>
                </a:solidFill>
                <a:latin typeface="Arial" pitchFamily="34" charset="0"/>
                <a:ea typeface="Arial" pitchFamily="34" charset="-122"/>
                <a:cs typeface="Arial" pitchFamily="34" charset="-120"/>
              </a:rPr>
              <a:t>Month 1</a:t>
            </a:r>
            <a:endParaRPr lang="en-US" sz="900" dirty="0"/>
          </a:p>
        </p:txBody>
      </p:sp>
      <p:sp>
        <p:nvSpPr>
          <p:cNvPr id="12" name="Text 10"/>
          <p:cNvSpPr/>
          <p:nvPr/>
        </p:nvSpPr>
        <p:spPr>
          <a:xfrm>
            <a:off x="662940" y="3127248"/>
            <a:ext cx="1417320" cy="530352"/>
          </a:xfrm>
          <a:prstGeom prst="rect">
            <a:avLst/>
          </a:prstGeom>
          <a:noFill/>
          <a:ln/>
        </p:spPr>
        <p:txBody>
          <a:bodyPr wrap="square" lIns="0" tIns="0" rIns="0" bIns="0" rtlCol="0" anchor="t"/>
          <a:lstStyle/>
          <a:p>
            <a:pPr algn="ctr" indent="0" marL="0">
              <a:lnSpc>
                <a:spcPts val="1100"/>
              </a:lnSpc>
              <a:buNone/>
            </a:pPr>
            <a:r>
              <a:rPr lang="en-US" sz="850" dirty="0">
                <a:solidFill>
                  <a:srgbClr val="3B2478"/>
                </a:solidFill>
                <a:latin typeface="Arial" pitchFamily="34" charset="0"/>
                <a:ea typeface="Arial" pitchFamily="34" charset="-122"/>
                <a:cs typeface="Arial" pitchFamily="34" charset="-120"/>
              </a:rPr>
              <a:t>Launch. The store opens and the ads go live on all three platforms.</a:t>
            </a:r>
            <a:endParaRPr lang="en-US" sz="850" dirty="0"/>
          </a:p>
        </p:txBody>
      </p:sp>
      <p:sp>
        <p:nvSpPr>
          <p:cNvPr id="13" name="Shape 11"/>
          <p:cNvSpPr/>
          <p:nvPr/>
        </p:nvSpPr>
        <p:spPr>
          <a:xfrm>
            <a:off x="2578608" y="2715768"/>
            <a:ext cx="146304" cy="146304"/>
          </a:xfrm>
          <a:prstGeom prst="ellipse">
            <a:avLst/>
          </a:prstGeom>
          <a:solidFill>
            <a:srgbClr val="FFFFFF"/>
          </a:solidFill>
          <a:ln w="19050">
            <a:solidFill>
              <a:srgbClr val="B5330F"/>
            </a:solidFill>
            <a:prstDash val="solid"/>
          </a:ln>
        </p:spPr>
      </p:sp>
      <p:sp>
        <p:nvSpPr>
          <p:cNvPr id="14" name="Text 12"/>
          <p:cNvSpPr/>
          <p:nvPr/>
        </p:nvSpPr>
        <p:spPr>
          <a:xfrm>
            <a:off x="1943100" y="1993392"/>
            <a:ext cx="1417320" cy="164592"/>
          </a:xfrm>
          <a:prstGeom prst="rect">
            <a:avLst/>
          </a:prstGeom>
          <a:noFill/>
          <a:ln/>
        </p:spPr>
        <p:txBody>
          <a:bodyPr wrap="square" lIns="0" tIns="0" rIns="0" bIns="0" rtlCol="0" anchor="t"/>
          <a:lstStyle/>
          <a:p>
            <a:pPr algn="ctr" indent="0" marL="0">
              <a:buNone/>
            </a:pPr>
            <a:r>
              <a:rPr lang="en-US" sz="900" b="1" dirty="0">
                <a:solidFill>
                  <a:srgbClr val="B5330F"/>
                </a:solidFill>
                <a:latin typeface="Arial" pitchFamily="34" charset="0"/>
                <a:ea typeface="Arial" pitchFamily="34" charset="-122"/>
                <a:cs typeface="Arial" pitchFamily="34" charset="-120"/>
              </a:rPr>
              <a:t>Month 3</a:t>
            </a:r>
            <a:endParaRPr lang="en-US" sz="900" dirty="0"/>
          </a:p>
        </p:txBody>
      </p:sp>
      <p:sp>
        <p:nvSpPr>
          <p:cNvPr id="15" name="Text 13"/>
          <p:cNvSpPr/>
          <p:nvPr/>
        </p:nvSpPr>
        <p:spPr>
          <a:xfrm>
            <a:off x="1943100" y="2176272"/>
            <a:ext cx="1417320" cy="530352"/>
          </a:xfrm>
          <a:prstGeom prst="rect">
            <a:avLst/>
          </a:prstGeom>
          <a:noFill/>
          <a:ln/>
        </p:spPr>
        <p:txBody>
          <a:bodyPr wrap="square" lIns="0" tIns="0" rIns="0" bIns="0" rtlCol="0" anchor="t"/>
          <a:lstStyle/>
          <a:p>
            <a:pPr algn="ctr" indent="0" marL="0">
              <a:lnSpc>
                <a:spcPts val="1100"/>
              </a:lnSpc>
              <a:buNone/>
            </a:pPr>
            <a:r>
              <a:rPr lang="en-US" sz="850" dirty="0">
                <a:solidFill>
                  <a:srgbClr val="3B2478"/>
                </a:solidFill>
                <a:latin typeface="Arial" pitchFamily="34" charset="0"/>
                <a:ea typeface="Arial" pitchFamily="34" charset="-122"/>
                <a:cs typeface="Arial" pitchFamily="34" charset="-120"/>
              </a:rPr>
              <a:t>First review of reach, cost per visit and the warm audience.</a:t>
            </a:r>
            <a:endParaRPr lang="en-US" sz="850" dirty="0"/>
          </a:p>
        </p:txBody>
      </p:sp>
      <p:sp>
        <p:nvSpPr>
          <p:cNvPr id="16" name="Shape 14"/>
          <p:cNvSpPr/>
          <p:nvPr/>
        </p:nvSpPr>
        <p:spPr>
          <a:xfrm>
            <a:off x="3218688" y="2715768"/>
            <a:ext cx="146304" cy="146304"/>
          </a:xfrm>
          <a:prstGeom prst="ellipse">
            <a:avLst/>
          </a:prstGeom>
          <a:solidFill>
            <a:srgbClr val="FFFFFF"/>
          </a:solidFill>
          <a:ln w="19050">
            <a:solidFill>
              <a:srgbClr val="B5330F"/>
            </a:solidFill>
            <a:prstDash val="solid"/>
          </a:ln>
        </p:spPr>
      </p:sp>
      <p:sp>
        <p:nvSpPr>
          <p:cNvPr id="17" name="Text 15"/>
          <p:cNvSpPr/>
          <p:nvPr/>
        </p:nvSpPr>
        <p:spPr>
          <a:xfrm>
            <a:off x="2583180" y="2944368"/>
            <a:ext cx="1417320" cy="164592"/>
          </a:xfrm>
          <a:prstGeom prst="rect">
            <a:avLst/>
          </a:prstGeom>
          <a:noFill/>
          <a:ln/>
        </p:spPr>
        <p:txBody>
          <a:bodyPr wrap="square" lIns="0" tIns="0" rIns="0" bIns="0" rtlCol="0" anchor="t"/>
          <a:lstStyle/>
          <a:p>
            <a:pPr algn="ctr" indent="0" marL="0">
              <a:buNone/>
            </a:pPr>
            <a:r>
              <a:rPr lang="en-US" sz="900" b="1" dirty="0">
                <a:solidFill>
                  <a:srgbClr val="B5330F"/>
                </a:solidFill>
                <a:latin typeface="Arial" pitchFamily="34" charset="0"/>
                <a:ea typeface="Arial" pitchFamily="34" charset="-122"/>
                <a:cs typeface="Arial" pitchFamily="34" charset="-120"/>
              </a:rPr>
              <a:t>Month 4</a:t>
            </a:r>
            <a:endParaRPr lang="en-US" sz="900" dirty="0"/>
          </a:p>
        </p:txBody>
      </p:sp>
      <p:sp>
        <p:nvSpPr>
          <p:cNvPr id="18" name="Text 16"/>
          <p:cNvSpPr/>
          <p:nvPr/>
        </p:nvSpPr>
        <p:spPr>
          <a:xfrm>
            <a:off x="2583180" y="3127248"/>
            <a:ext cx="1417320" cy="530352"/>
          </a:xfrm>
          <a:prstGeom prst="rect">
            <a:avLst/>
          </a:prstGeom>
          <a:noFill/>
          <a:ln/>
        </p:spPr>
        <p:txBody>
          <a:bodyPr wrap="square" lIns="0" tIns="0" rIns="0" bIns="0" rtlCol="0" anchor="t"/>
          <a:lstStyle/>
          <a:p>
            <a:pPr algn="ctr" indent="0" marL="0">
              <a:lnSpc>
                <a:spcPts val="1100"/>
              </a:lnSpc>
              <a:buNone/>
            </a:pPr>
            <a:r>
              <a:rPr lang="en-US" sz="850" dirty="0">
                <a:solidFill>
                  <a:srgbClr val="3B2478"/>
                </a:solidFill>
                <a:latin typeface="Arial" pitchFamily="34" charset="0"/>
                <a:ea typeface="Arial" pitchFamily="34" charset="-122"/>
                <a:cs typeface="Arial" pitchFamily="34" charset="-120"/>
              </a:rPr>
              <a:t>Consideration leads. Retargeting grows as the warm audience grows.</a:t>
            </a:r>
            <a:endParaRPr lang="en-US" sz="850" dirty="0"/>
          </a:p>
        </p:txBody>
      </p:sp>
      <p:sp>
        <p:nvSpPr>
          <p:cNvPr id="19" name="Shape 17"/>
          <p:cNvSpPr/>
          <p:nvPr/>
        </p:nvSpPr>
        <p:spPr>
          <a:xfrm>
            <a:off x="4498848" y="2715768"/>
            <a:ext cx="146304" cy="146304"/>
          </a:xfrm>
          <a:prstGeom prst="ellipse">
            <a:avLst/>
          </a:prstGeom>
          <a:solidFill>
            <a:srgbClr val="FFFFFF"/>
          </a:solidFill>
          <a:ln w="19050">
            <a:solidFill>
              <a:srgbClr val="B5330F"/>
            </a:solidFill>
            <a:prstDash val="solid"/>
          </a:ln>
        </p:spPr>
      </p:sp>
      <p:sp>
        <p:nvSpPr>
          <p:cNvPr id="20" name="Text 18"/>
          <p:cNvSpPr/>
          <p:nvPr/>
        </p:nvSpPr>
        <p:spPr>
          <a:xfrm>
            <a:off x="3863340" y="1993392"/>
            <a:ext cx="1417320" cy="164592"/>
          </a:xfrm>
          <a:prstGeom prst="rect">
            <a:avLst/>
          </a:prstGeom>
          <a:noFill/>
          <a:ln/>
        </p:spPr>
        <p:txBody>
          <a:bodyPr wrap="square" lIns="0" tIns="0" rIns="0" bIns="0" rtlCol="0" anchor="t"/>
          <a:lstStyle/>
          <a:p>
            <a:pPr algn="ctr" indent="0" marL="0">
              <a:buNone/>
            </a:pPr>
            <a:r>
              <a:rPr lang="en-US" sz="900" b="1" dirty="0">
                <a:solidFill>
                  <a:srgbClr val="B5330F"/>
                </a:solidFill>
                <a:latin typeface="Arial" pitchFamily="34" charset="0"/>
                <a:ea typeface="Arial" pitchFamily="34" charset="-122"/>
                <a:cs typeface="Arial" pitchFamily="34" charset="-120"/>
              </a:rPr>
              <a:t>Month 6</a:t>
            </a:r>
            <a:endParaRPr lang="en-US" sz="900" dirty="0"/>
          </a:p>
        </p:txBody>
      </p:sp>
      <p:sp>
        <p:nvSpPr>
          <p:cNvPr id="21" name="Text 19"/>
          <p:cNvSpPr/>
          <p:nvPr/>
        </p:nvSpPr>
        <p:spPr>
          <a:xfrm>
            <a:off x="3863340" y="2176272"/>
            <a:ext cx="1417320" cy="530352"/>
          </a:xfrm>
          <a:prstGeom prst="rect">
            <a:avLst/>
          </a:prstGeom>
          <a:noFill/>
          <a:ln/>
        </p:spPr>
        <p:txBody>
          <a:bodyPr wrap="square" lIns="0" tIns="0" rIns="0" bIns="0" rtlCol="0" anchor="t"/>
          <a:lstStyle/>
          <a:p>
            <a:pPr algn="ctr" indent="0" marL="0">
              <a:lnSpc>
                <a:spcPts val="1100"/>
              </a:lnSpc>
              <a:buNone/>
            </a:pPr>
            <a:r>
              <a:rPr lang="en-US" sz="850" dirty="0">
                <a:solidFill>
                  <a:srgbClr val="3B2478"/>
                </a:solidFill>
                <a:latin typeface="Arial" pitchFamily="34" charset="0"/>
                <a:ea typeface="Arial" pitchFamily="34" charset="-122"/>
                <a:cs typeface="Arial" pitchFamily="34" charset="-120"/>
              </a:rPr>
              <a:t>Second print release, emailed to subscribers first.</a:t>
            </a:r>
            <a:endParaRPr lang="en-US" sz="850" dirty="0"/>
          </a:p>
        </p:txBody>
      </p:sp>
      <p:sp>
        <p:nvSpPr>
          <p:cNvPr id="22" name="Shape 20"/>
          <p:cNvSpPr/>
          <p:nvPr/>
        </p:nvSpPr>
        <p:spPr>
          <a:xfrm>
            <a:off x="5138928" y="2715768"/>
            <a:ext cx="146304" cy="146304"/>
          </a:xfrm>
          <a:prstGeom prst="ellipse">
            <a:avLst/>
          </a:prstGeom>
          <a:solidFill>
            <a:srgbClr val="B5330F"/>
          </a:solidFill>
          <a:ln w="19050">
            <a:solidFill>
              <a:srgbClr val="B5330F"/>
            </a:solidFill>
            <a:prstDash val="solid"/>
          </a:ln>
        </p:spPr>
      </p:sp>
      <p:sp>
        <p:nvSpPr>
          <p:cNvPr id="23" name="Text 21"/>
          <p:cNvSpPr/>
          <p:nvPr/>
        </p:nvSpPr>
        <p:spPr>
          <a:xfrm>
            <a:off x="4503420" y="2944368"/>
            <a:ext cx="1417320" cy="164592"/>
          </a:xfrm>
          <a:prstGeom prst="rect">
            <a:avLst/>
          </a:prstGeom>
          <a:noFill/>
          <a:ln/>
        </p:spPr>
        <p:txBody>
          <a:bodyPr wrap="square" lIns="0" tIns="0" rIns="0" bIns="0" rtlCol="0" anchor="t"/>
          <a:lstStyle/>
          <a:p>
            <a:pPr algn="ctr" indent="0" marL="0">
              <a:buNone/>
            </a:pPr>
            <a:r>
              <a:rPr lang="en-US" sz="900" b="1" dirty="0">
                <a:solidFill>
                  <a:srgbClr val="B5330F"/>
                </a:solidFill>
                <a:latin typeface="Arial" pitchFamily="34" charset="0"/>
                <a:ea typeface="Arial" pitchFamily="34" charset="-122"/>
                <a:cs typeface="Arial" pitchFamily="34" charset="-120"/>
              </a:rPr>
              <a:t>Month 7</a:t>
            </a:r>
            <a:endParaRPr lang="en-US" sz="900" dirty="0"/>
          </a:p>
        </p:txBody>
      </p:sp>
      <p:sp>
        <p:nvSpPr>
          <p:cNvPr id="24" name="Text 22"/>
          <p:cNvSpPr/>
          <p:nvPr/>
        </p:nvSpPr>
        <p:spPr>
          <a:xfrm>
            <a:off x="4503420" y="3127248"/>
            <a:ext cx="1417320" cy="530352"/>
          </a:xfrm>
          <a:prstGeom prst="rect">
            <a:avLst/>
          </a:prstGeom>
          <a:noFill/>
          <a:ln/>
        </p:spPr>
        <p:txBody>
          <a:bodyPr wrap="square" lIns="0" tIns="0" rIns="0" bIns="0" rtlCol="0" anchor="t"/>
          <a:lstStyle/>
          <a:p>
            <a:pPr algn="ctr" indent="0" marL="0">
              <a:lnSpc>
                <a:spcPts val="1100"/>
              </a:lnSpc>
              <a:buNone/>
            </a:pPr>
            <a:r>
              <a:rPr lang="en-US" sz="850" dirty="0">
                <a:solidFill>
                  <a:srgbClr val="3B2478"/>
                </a:solidFill>
                <a:latin typeface="Arial" pitchFamily="34" charset="0"/>
                <a:ea typeface="Arial" pitchFamily="34" charset="-122"/>
                <a:cs typeface="Arial" pitchFamily="34" charset="-120"/>
              </a:rPr>
              <a:t>Conversion leads. Budget rises to RM10,000 a month.</a:t>
            </a:r>
            <a:endParaRPr lang="en-US" sz="850" dirty="0"/>
          </a:p>
        </p:txBody>
      </p:sp>
      <p:sp>
        <p:nvSpPr>
          <p:cNvPr id="25" name="Shape 23"/>
          <p:cNvSpPr/>
          <p:nvPr/>
        </p:nvSpPr>
        <p:spPr>
          <a:xfrm>
            <a:off x="6419088" y="2715768"/>
            <a:ext cx="146304" cy="146304"/>
          </a:xfrm>
          <a:prstGeom prst="ellipse">
            <a:avLst/>
          </a:prstGeom>
          <a:solidFill>
            <a:srgbClr val="FFFFFF"/>
          </a:solidFill>
          <a:ln w="19050">
            <a:solidFill>
              <a:srgbClr val="B5330F"/>
            </a:solidFill>
            <a:prstDash val="solid"/>
          </a:ln>
        </p:spPr>
      </p:sp>
      <p:sp>
        <p:nvSpPr>
          <p:cNvPr id="26" name="Text 24"/>
          <p:cNvSpPr/>
          <p:nvPr/>
        </p:nvSpPr>
        <p:spPr>
          <a:xfrm>
            <a:off x="5783580" y="1993392"/>
            <a:ext cx="1417320" cy="164592"/>
          </a:xfrm>
          <a:prstGeom prst="rect">
            <a:avLst/>
          </a:prstGeom>
          <a:noFill/>
          <a:ln/>
        </p:spPr>
        <p:txBody>
          <a:bodyPr wrap="square" lIns="0" tIns="0" rIns="0" bIns="0" rtlCol="0" anchor="t"/>
          <a:lstStyle/>
          <a:p>
            <a:pPr algn="ctr" indent="0" marL="0">
              <a:buNone/>
            </a:pPr>
            <a:r>
              <a:rPr lang="en-US" sz="900" b="1" dirty="0">
                <a:solidFill>
                  <a:srgbClr val="B5330F"/>
                </a:solidFill>
                <a:latin typeface="Arial" pitchFamily="34" charset="0"/>
                <a:ea typeface="Arial" pitchFamily="34" charset="-122"/>
                <a:cs typeface="Arial" pitchFamily="34" charset="-120"/>
              </a:rPr>
              <a:t>Month 9</a:t>
            </a:r>
            <a:endParaRPr lang="en-US" sz="900" dirty="0"/>
          </a:p>
        </p:txBody>
      </p:sp>
      <p:sp>
        <p:nvSpPr>
          <p:cNvPr id="27" name="Text 25"/>
          <p:cNvSpPr/>
          <p:nvPr/>
        </p:nvSpPr>
        <p:spPr>
          <a:xfrm>
            <a:off x="5783580" y="2176272"/>
            <a:ext cx="1417320" cy="530352"/>
          </a:xfrm>
          <a:prstGeom prst="rect">
            <a:avLst/>
          </a:prstGeom>
          <a:noFill/>
          <a:ln/>
        </p:spPr>
        <p:txBody>
          <a:bodyPr wrap="square" lIns="0" tIns="0" rIns="0" bIns="0" rtlCol="0" anchor="t"/>
          <a:lstStyle/>
          <a:p>
            <a:pPr algn="ctr" indent="0" marL="0">
              <a:lnSpc>
                <a:spcPts val="1100"/>
              </a:lnSpc>
              <a:buNone/>
            </a:pPr>
            <a:r>
              <a:rPr lang="en-US" sz="850" dirty="0">
                <a:solidFill>
                  <a:srgbClr val="3B2478"/>
                </a:solidFill>
                <a:latin typeface="Arial" pitchFamily="34" charset="0"/>
                <a:ea typeface="Arial" pitchFamily="34" charset="-122"/>
                <a:cs typeface="Arial" pitchFamily="34" charset="-120"/>
              </a:rPr>
              <a:t>Third print release.</a:t>
            </a:r>
            <a:endParaRPr lang="en-US" sz="850" dirty="0"/>
          </a:p>
        </p:txBody>
      </p:sp>
      <p:sp>
        <p:nvSpPr>
          <p:cNvPr id="28" name="Shape 26"/>
          <p:cNvSpPr/>
          <p:nvPr/>
        </p:nvSpPr>
        <p:spPr>
          <a:xfrm>
            <a:off x="8339328" y="2715768"/>
            <a:ext cx="146304" cy="146304"/>
          </a:xfrm>
          <a:prstGeom prst="ellipse">
            <a:avLst/>
          </a:prstGeom>
          <a:solidFill>
            <a:srgbClr val="FFFFFF"/>
          </a:solidFill>
          <a:ln w="19050">
            <a:solidFill>
              <a:srgbClr val="B5330F"/>
            </a:solidFill>
            <a:prstDash val="solid"/>
          </a:ln>
        </p:spPr>
      </p:sp>
      <p:sp>
        <p:nvSpPr>
          <p:cNvPr id="29" name="Text 27"/>
          <p:cNvSpPr/>
          <p:nvPr/>
        </p:nvSpPr>
        <p:spPr>
          <a:xfrm>
            <a:off x="7214616" y="2944368"/>
            <a:ext cx="1417320" cy="164592"/>
          </a:xfrm>
          <a:prstGeom prst="rect">
            <a:avLst/>
          </a:prstGeom>
          <a:noFill/>
          <a:ln/>
        </p:spPr>
        <p:txBody>
          <a:bodyPr wrap="square" lIns="0" tIns="0" rIns="0" bIns="0" rtlCol="0" anchor="t"/>
          <a:lstStyle/>
          <a:p>
            <a:pPr algn="r" indent="0" marL="0">
              <a:buNone/>
            </a:pPr>
            <a:r>
              <a:rPr lang="en-US" sz="900" b="1" dirty="0">
                <a:solidFill>
                  <a:srgbClr val="B5330F"/>
                </a:solidFill>
                <a:latin typeface="Arial" pitchFamily="34" charset="0"/>
                <a:ea typeface="Arial" pitchFamily="34" charset="-122"/>
                <a:cs typeface="Arial" pitchFamily="34" charset="-120"/>
              </a:rPr>
              <a:t>Month 12</a:t>
            </a:r>
            <a:endParaRPr lang="en-US" sz="900" dirty="0"/>
          </a:p>
        </p:txBody>
      </p:sp>
      <p:sp>
        <p:nvSpPr>
          <p:cNvPr id="30" name="Text 28"/>
          <p:cNvSpPr/>
          <p:nvPr/>
        </p:nvSpPr>
        <p:spPr>
          <a:xfrm>
            <a:off x="7214616" y="3127248"/>
            <a:ext cx="1417320" cy="530352"/>
          </a:xfrm>
          <a:prstGeom prst="rect">
            <a:avLst/>
          </a:prstGeom>
          <a:noFill/>
          <a:ln/>
        </p:spPr>
        <p:txBody>
          <a:bodyPr wrap="square" lIns="0" tIns="0" rIns="0" bIns="0" rtlCol="0" anchor="t"/>
          <a:lstStyle/>
          <a:p>
            <a:pPr algn="r" indent="0" marL="0">
              <a:lnSpc>
                <a:spcPts val="1100"/>
              </a:lnSpc>
              <a:buNone/>
            </a:pPr>
            <a:r>
              <a:rPr lang="en-US" sz="850" dirty="0">
                <a:solidFill>
                  <a:srgbClr val="3B2478"/>
                </a:solidFill>
                <a:latin typeface="Arial" pitchFamily="34" charset="0"/>
                <a:ea typeface="Arial" pitchFamily="34" charset="-122"/>
                <a:cs typeface="Arial" pitchFamily="34" charset="-120"/>
              </a:rPr>
              <a:t>Year review and the plan for year two.</a:t>
            </a:r>
            <a:endParaRPr lang="en-US" sz="850" dirty="0"/>
          </a:p>
        </p:txBody>
      </p:sp>
      <p:sp>
        <p:nvSpPr>
          <p:cNvPr id="31" name="Shape 29"/>
          <p:cNvSpPr/>
          <p:nvPr/>
        </p:nvSpPr>
        <p:spPr>
          <a:xfrm>
            <a:off x="512064" y="3785616"/>
            <a:ext cx="643128" cy="475488"/>
          </a:xfrm>
          <a:prstGeom prst="rect">
            <a:avLst/>
          </a:prstGeom>
          <a:solidFill>
            <a:srgbClr val="FDF2DF"/>
          </a:solidFill>
          <a:ln/>
        </p:spPr>
      </p:sp>
      <p:sp>
        <p:nvSpPr>
          <p:cNvPr id="32" name="Text 30"/>
          <p:cNvSpPr/>
          <p:nvPr/>
        </p:nvSpPr>
        <p:spPr>
          <a:xfrm>
            <a:off x="512064" y="3840480"/>
            <a:ext cx="643128" cy="146304"/>
          </a:xfrm>
          <a:prstGeom prst="rect">
            <a:avLst/>
          </a:prstGeom>
          <a:noFill/>
          <a:ln/>
        </p:spPr>
        <p:txBody>
          <a:bodyPr wrap="square" lIns="0" tIns="0" rIns="0" bIns="0" rtlCol="0" anchor="t"/>
          <a:lstStyle/>
          <a:p>
            <a:pPr algn="ctr" indent="0" marL="0">
              <a:buNone/>
            </a:pPr>
            <a:r>
              <a:rPr lang="en-US" sz="750" b="1" dirty="0">
                <a:solidFill>
                  <a:srgbClr val="746096"/>
                </a:solidFill>
                <a:latin typeface="Arial" pitchFamily="34" charset="0"/>
                <a:ea typeface="Arial" pitchFamily="34" charset="-122"/>
                <a:cs typeface="Arial" pitchFamily="34" charset="-120"/>
              </a:rPr>
              <a:t>M1</a:t>
            </a:r>
            <a:endParaRPr lang="en-US" sz="750" dirty="0"/>
          </a:p>
        </p:txBody>
      </p:sp>
      <p:sp>
        <p:nvSpPr>
          <p:cNvPr id="33" name="Text 31"/>
          <p:cNvSpPr/>
          <p:nvPr/>
        </p:nvSpPr>
        <p:spPr>
          <a:xfrm>
            <a:off x="512064" y="4005072"/>
            <a:ext cx="643128" cy="201168"/>
          </a:xfrm>
          <a:prstGeom prst="rect">
            <a:avLst/>
          </a:prstGeom>
          <a:noFill/>
          <a:ln/>
        </p:spPr>
        <p:txBody>
          <a:bodyPr wrap="square" lIns="0" tIns="0" rIns="0" bIns="0" rtlCol="0" anchor="t"/>
          <a:lstStyle/>
          <a:p>
            <a:pPr algn="ctr" indent="0" marL="0">
              <a:buNone/>
            </a:pPr>
            <a:r>
              <a:rPr lang="en-US" sz="1000" dirty="0">
                <a:solidFill>
                  <a:srgbClr val="3B2478"/>
                </a:solidFill>
                <a:latin typeface="Arial Black" pitchFamily="34" charset="0"/>
                <a:ea typeface="Arial Black" pitchFamily="34" charset="-122"/>
                <a:cs typeface="Arial Black" pitchFamily="34" charset="-120"/>
              </a:rPr>
              <a:t>RM8K</a:t>
            </a:r>
            <a:endParaRPr lang="en-US" sz="1000" dirty="0"/>
          </a:p>
        </p:txBody>
      </p:sp>
      <p:sp>
        <p:nvSpPr>
          <p:cNvPr id="34" name="Shape 32"/>
          <p:cNvSpPr/>
          <p:nvPr/>
        </p:nvSpPr>
        <p:spPr>
          <a:xfrm>
            <a:off x="1191768" y="3785616"/>
            <a:ext cx="643128" cy="475488"/>
          </a:xfrm>
          <a:prstGeom prst="rect">
            <a:avLst/>
          </a:prstGeom>
          <a:solidFill>
            <a:srgbClr val="FDF2DF"/>
          </a:solidFill>
          <a:ln/>
        </p:spPr>
      </p:sp>
      <p:sp>
        <p:nvSpPr>
          <p:cNvPr id="35" name="Text 33"/>
          <p:cNvSpPr/>
          <p:nvPr/>
        </p:nvSpPr>
        <p:spPr>
          <a:xfrm>
            <a:off x="1191768" y="3840480"/>
            <a:ext cx="643128" cy="146304"/>
          </a:xfrm>
          <a:prstGeom prst="rect">
            <a:avLst/>
          </a:prstGeom>
          <a:noFill/>
          <a:ln/>
        </p:spPr>
        <p:txBody>
          <a:bodyPr wrap="square" lIns="0" tIns="0" rIns="0" bIns="0" rtlCol="0" anchor="t"/>
          <a:lstStyle/>
          <a:p>
            <a:pPr algn="ctr" indent="0" marL="0">
              <a:buNone/>
            </a:pPr>
            <a:r>
              <a:rPr lang="en-US" sz="750" b="1" dirty="0">
                <a:solidFill>
                  <a:srgbClr val="746096"/>
                </a:solidFill>
                <a:latin typeface="Arial" pitchFamily="34" charset="0"/>
                <a:ea typeface="Arial" pitchFamily="34" charset="-122"/>
                <a:cs typeface="Arial" pitchFamily="34" charset="-120"/>
              </a:rPr>
              <a:t>M2</a:t>
            </a:r>
            <a:endParaRPr lang="en-US" sz="750" dirty="0"/>
          </a:p>
        </p:txBody>
      </p:sp>
      <p:sp>
        <p:nvSpPr>
          <p:cNvPr id="36" name="Text 34"/>
          <p:cNvSpPr/>
          <p:nvPr/>
        </p:nvSpPr>
        <p:spPr>
          <a:xfrm>
            <a:off x="1191768" y="4005072"/>
            <a:ext cx="643128" cy="201168"/>
          </a:xfrm>
          <a:prstGeom prst="rect">
            <a:avLst/>
          </a:prstGeom>
          <a:noFill/>
          <a:ln/>
        </p:spPr>
        <p:txBody>
          <a:bodyPr wrap="square" lIns="0" tIns="0" rIns="0" bIns="0" rtlCol="0" anchor="t"/>
          <a:lstStyle/>
          <a:p>
            <a:pPr algn="ctr" indent="0" marL="0">
              <a:buNone/>
            </a:pPr>
            <a:r>
              <a:rPr lang="en-US" sz="1000" dirty="0">
                <a:solidFill>
                  <a:srgbClr val="3B2478"/>
                </a:solidFill>
                <a:latin typeface="Arial Black" pitchFamily="34" charset="0"/>
                <a:ea typeface="Arial Black" pitchFamily="34" charset="-122"/>
                <a:cs typeface="Arial Black" pitchFamily="34" charset="-120"/>
              </a:rPr>
              <a:t>RM8K</a:t>
            </a:r>
            <a:endParaRPr lang="en-US" sz="1000" dirty="0"/>
          </a:p>
        </p:txBody>
      </p:sp>
      <p:sp>
        <p:nvSpPr>
          <p:cNvPr id="37" name="Shape 35"/>
          <p:cNvSpPr/>
          <p:nvPr/>
        </p:nvSpPr>
        <p:spPr>
          <a:xfrm>
            <a:off x="1871472" y="3785616"/>
            <a:ext cx="643128" cy="475488"/>
          </a:xfrm>
          <a:prstGeom prst="rect">
            <a:avLst/>
          </a:prstGeom>
          <a:solidFill>
            <a:srgbClr val="FDF2DF"/>
          </a:solidFill>
          <a:ln/>
        </p:spPr>
      </p:sp>
      <p:sp>
        <p:nvSpPr>
          <p:cNvPr id="38" name="Text 36"/>
          <p:cNvSpPr/>
          <p:nvPr/>
        </p:nvSpPr>
        <p:spPr>
          <a:xfrm>
            <a:off x="1871472" y="3840480"/>
            <a:ext cx="643128" cy="146304"/>
          </a:xfrm>
          <a:prstGeom prst="rect">
            <a:avLst/>
          </a:prstGeom>
          <a:noFill/>
          <a:ln/>
        </p:spPr>
        <p:txBody>
          <a:bodyPr wrap="square" lIns="0" tIns="0" rIns="0" bIns="0" rtlCol="0" anchor="t"/>
          <a:lstStyle/>
          <a:p>
            <a:pPr algn="ctr" indent="0" marL="0">
              <a:buNone/>
            </a:pPr>
            <a:r>
              <a:rPr lang="en-US" sz="750" b="1" dirty="0">
                <a:solidFill>
                  <a:srgbClr val="746096"/>
                </a:solidFill>
                <a:latin typeface="Arial" pitchFamily="34" charset="0"/>
                <a:ea typeface="Arial" pitchFamily="34" charset="-122"/>
                <a:cs typeface="Arial" pitchFamily="34" charset="-120"/>
              </a:rPr>
              <a:t>M3</a:t>
            </a:r>
            <a:endParaRPr lang="en-US" sz="750" dirty="0"/>
          </a:p>
        </p:txBody>
      </p:sp>
      <p:sp>
        <p:nvSpPr>
          <p:cNvPr id="39" name="Text 37"/>
          <p:cNvSpPr/>
          <p:nvPr/>
        </p:nvSpPr>
        <p:spPr>
          <a:xfrm>
            <a:off x="1871472" y="4005072"/>
            <a:ext cx="643128" cy="201168"/>
          </a:xfrm>
          <a:prstGeom prst="rect">
            <a:avLst/>
          </a:prstGeom>
          <a:noFill/>
          <a:ln/>
        </p:spPr>
        <p:txBody>
          <a:bodyPr wrap="square" lIns="0" tIns="0" rIns="0" bIns="0" rtlCol="0" anchor="t"/>
          <a:lstStyle/>
          <a:p>
            <a:pPr algn="ctr" indent="0" marL="0">
              <a:buNone/>
            </a:pPr>
            <a:r>
              <a:rPr lang="en-US" sz="1000" dirty="0">
                <a:solidFill>
                  <a:srgbClr val="3B2478"/>
                </a:solidFill>
                <a:latin typeface="Arial Black" pitchFamily="34" charset="0"/>
                <a:ea typeface="Arial Black" pitchFamily="34" charset="-122"/>
                <a:cs typeface="Arial Black" pitchFamily="34" charset="-120"/>
              </a:rPr>
              <a:t>RM8K</a:t>
            </a:r>
            <a:endParaRPr lang="en-US" sz="1000" dirty="0"/>
          </a:p>
        </p:txBody>
      </p:sp>
      <p:sp>
        <p:nvSpPr>
          <p:cNvPr id="40" name="Shape 38"/>
          <p:cNvSpPr/>
          <p:nvPr/>
        </p:nvSpPr>
        <p:spPr>
          <a:xfrm>
            <a:off x="2551176" y="3785616"/>
            <a:ext cx="643128" cy="475488"/>
          </a:xfrm>
          <a:prstGeom prst="rect">
            <a:avLst/>
          </a:prstGeom>
          <a:solidFill>
            <a:srgbClr val="FDF2DF"/>
          </a:solidFill>
          <a:ln/>
        </p:spPr>
      </p:sp>
      <p:sp>
        <p:nvSpPr>
          <p:cNvPr id="41" name="Text 39"/>
          <p:cNvSpPr/>
          <p:nvPr/>
        </p:nvSpPr>
        <p:spPr>
          <a:xfrm>
            <a:off x="2551176" y="3840480"/>
            <a:ext cx="643128" cy="146304"/>
          </a:xfrm>
          <a:prstGeom prst="rect">
            <a:avLst/>
          </a:prstGeom>
          <a:noFill/>
          <a:ln/>
        </p:spPr>
        <p:txBody>
          <a:bodyPr wrap="square" lIns="0" tIns="0" rIns="0" bIns="0" rtlCol="0" anchor="t"/>
          <a:lstStyle/>
          <a:p>
            <a:pPr algn="ctr" indent="0" marL="0">
              <a:buNone/>
            </a:pPr>
            <a:r>
              <a:rPr lang="en-US" sz="750" b="1" dirty="0">
                <a:solidFill>
                  <a:srgbClr val="746096"/>
                </a:solidFill>
                <a:latin typeface="Arial" pitchFamily="34" charset="0"/>
                <a:ea typeface="Arial" pitchFamily="34" charset="-122"/>
                <a:cs typeface="Arial" pitchFamily="34" charset="-120"/>
              </a:rPr>
              <a:t>M4</a:t>
            </a:r>
            <a:endParaRPr lang="en-US" sz="750" dirty="0"/>
          </a:p>
        </p:txBody>
      </p:sp>
      <p:sp>
        <p:nvSpPr>
          <p:cNvPr id="42" name="Text 40"/>
          <p:cNvSpPr/>
          <p:nvPr/>
        </p:nvSpPr>
        <p:spPr>
          <a:xfrm>
            <a:off x="2551176" y="4005072"/>
            <a:ext cx="643128" cy="201168"/>
          </a:xfrm>
          <a:prstGeom prst="rect">
            <a:avLst/>
          </a:prstGeom>
          <a:noFill/>
          <a:ln/>
        </p:spPr>
        <p:txBody>
          <a:bodyPr wrap="square" lIns="0" tIns="0" rIns="0" bIns="0" rtlCol="0" anchor="t"/>
          <a:lstStyle/>
          <a:p>
            <a:pPr algn="ctr" indent="0" marL="0">
              <a:buNone/>
            </a:pPr>
            <a:r>
              <a:rPr lang="en-US" sz="1000" dirty="0">
                <a:solidFill>
                  <a:srgbClr val="3B2478"/>
                </a:solidFill>
                <a:latin typeface="Arial Black" pitchFamily="34" charset="0"/>
                <a:ea typeface="Arial Black" pitchFamily="34" charset="-122"/>
                <a:cs typeface="Arial Black" pitchFamily="34" charset="-120"/>
              </a:rPr>
              <a:t>RM8K</a:t>
            </a:r>
            <a:endParaRPr lang="en-US" sz="1000" dirty="0"/>
          </a:p>
        </p:txBody>
      </p:sp>
      <p:sp>
        <p:nvSpPr>
          <p:cNvPr id="43" name="Shape 41"/>
          <p:cNvSpPr/>
          <p:nvPr/>
        </p:nvSpPr>
        <p:spPr>
          <a:xfrm>
            <a:off x="3230880" y="3785616"/>
            <a:ext cx="643128" cy="475488"/>
          </a:xfrm>
          <a:prstGeom prst="rect">
            <a:avLst/>
          </a:prstGeom>
          <a:solidFill>
            <a:srgbClr val="FDF2DF"/>
          </a:solidFill>
          <a:ln/>
        </p:spPr>
      </p:sp>
      <p:sp>
        <p:nvSpPr>
          <p:cNvPr id="44" name="Text 42"/>
          <p:cNvSpPr/>
          <p:nvPr/>
        </p:nvSpPr>
        <p:spPr>
          <a:xfrm>
            <a:off x="3230880" y="3840480"/>
            <a:ext cx="643128" cy="146304"/>
          </a:xfrm>
          <a:prstGeom prst="rect">
            <a:avLst/>
          </a:prstGeom>
          <a:noFill/>
          <a:ln/>
        </p:spPr>
        <p:txBody>
          <a:bodyPr wrap="square" lIns="0" tIns="0" rIns="0" bIns="0" rtlCol="0" anchor="t"/>
          <a:lstStyle/>
          <a:p>
            <a:pPr algn="ctr" indent="0" marL="0">
              <a:buNone/>
            </a:pPr>
            <a:r>
              <a:rPr lang="en-US" sz="750" b="1" dirty="0">
                <a:solidFill>
                  <a:srgbClr val="746096"/>
                </a:solidFill>
                <a:latin typeface="Arial" pitchFamily="34" charset="0"/>
                <a:ea typeface="Arial" pitchFamily="34" charset="-122"/>
                <a:cs typeface="Arial" pitchFamily="34" charset="-120"/>
              </a:rPr>
              <a:t>M5</a:t>
            </a:r>
            <a:endParaRPr lang="en-US" sz="750" dirty="0"/>
          </a:p>
        </p:txBody>
      </p:sp>
      <p:sp>
        <p:nvSpPr>
          <p:cNvPr id="45" name="Text 43"/>
          <p:cNvSpPr/>
          <p:nvPr/>
        </p:nvSpPr>
        <p:spPr>
          <a:xfrm>
            <a:off x="3230880" y="4005072"/>
            <a:ext cx="643128" cy="201168"/>
          </a:xfrm>
          <a:prstGeom prst="rect">
            <a:avLst/>
          </a:prstGeom>
          <a:noFill/>
          <a:ln/>
        </p:spPr>
        <p:txBody>
          <a:bodyPr wrap="square" lIns="0" tIns="0" rIns="0" bIns="0" rtlCol="0" anchor="t"/>
          <a:lstStyle/>
          <a:p>
            <a:pPr algn="ctr" indent="0" marL="0">
              <a:buNone/>
            </a:pPr>
            <a:r>
              <a:rPr lang="en-US" sz="1000" dirty="0">
                <a:solidFill>
                  <a:srgbClr val="3B2478"/>
                </a:solidFill>
                <a:latin typeface="Arial Black" pitchFamily="34" charset="0"/>
                <a:ea typeface="Arial Black" pitchFamily="34" charset="-122"/>
                <a:cs typeface="Arial Black" pitchFamily="34" charset="-120"/>
              </a:rPr>
              <a:t>RM8K</a:t>
            </a:r>
            <a:endParaRPr lang="en-US" sz="1000" dirty="0"/>
          </a:p>
        </p:txBody>
      </p:sp>
      <p:sp>
        <p:nvSpPr>
          <p:cNvPr id="46" name="Shape 44"/>
          <p:cNvSpPr/>
          <p:nvPr/>
        </p:nvSpPr>
        <p:spPr>
          <a:xfrm>
            <a:off x="3910584" y="3785616"/>
            <a:ext cx="643128" cy="475488"/>
          </a:xfrm>
          <a:prstGeom prst="rect">
            <a:avLst/>
          </a:prstGeom>
          <a:solidFill>
            <a:srgbClr val="FDF2DF"/>
          </a:solidFill>
          <a:ln/>
        </p:spPr>
      </p:sp>
      <p:sp>
        <p:nvSpPr>
          <p:cNvPr id="47" name="Text 45"/>
          <p:cNvSpPr/>
          <p:nvPr/>
        </p:nvSpPr>
        <p:spPr>
          <a:xfrm>
            <a:off x="3910584" y="3840480"/>
            <a:ext cx="643128" cy="146304"/>
          </a:xfrm>
          <a:prstGeom prst="rect">
            <a:avLst/>
          </a:prstGeom>
          <a:noFill/>
          <a:ln/>
        </p:spPr>
        <p:txBody>
          <a:bodyPr wrap="square" lIns="0" tIns="0" rIns="0" bIns="0" rtlCol="0" anchor="t"/>
          <a:lstStyle/>
          <a:p>
            <a:pPr algn="ctr" indent="0" marL="0">
              <a:buNone/>
            </a:pPr>
            <a:r>
              <a:rPr lang="en-US" sz="750" b="1" dirty="0">
                <a:solidFill>
                  <a:srgbClr val="746096"/>
                </a:solidFill>
                <a:latin typeface="Arial" pitchFamily="34" charset="0"/>
                <a:ea typeface="Arial" pitchFamily="34" charset="-122"/>
                <a:cs typeface="Arial" pitchFamily="34" charset="-120"/>
              </a:rPr>
              <a:t>M6</a:t>
            </a:r>
            <a:endParaRPr lang="en-US" sz="750" dirty="0"/>
          </a:p>
        </p:txBody>
      </p:sp>
      <p:sp>
        <p:nvSpPr>
          <p:cNvPr id="48" name="Text 46"/>
          <p:cNvSpPr/>
          <p:nvPr/>
        </p:nvSpPr>
        <p:spPr>
          <a:xfrm>
            <a:off x="3910584" y="4005072"/>
            <a:ext cx="643128" cy="201168"/>
          </a:xfrm>
          <a:prstGeom prst="rect">
            <a:avLst/>
          </a:prstGeom>
          <a:noFill/>
          <a:ln/>
        </p:spPr>
        <p:txBody>
          <a:bodyPr wrap="square" lIns="0" tIns="0" rIns="0" bIns="0" rtlCol="0" anchor="t"/>
          <a:lstStyle/>
          <a:p>
            <a:pPr algn="ctr" indent="0" marL="0">
              <a:buNone/>
            </a:pPr>
            <a:r>
              <a:rPr lang="en-US" sz="1000" dirty="0">
                <a:solidFill>
                  <a:srgbClr val="3B2478"/>
                </a:solidFill>
                <a:latin typeface="Arial Black" pitchFamily="34" charset="0"/>
                <a:ea typeface="Arial Black" pitchFamily="34" charset="-122"/>
                <a:cs typeface="Arial Black" pitchFamily="34" charset="-120"/>
              </a:rPr>
              <a:t>RM8K</a:t>
            </a:r>
            <a:endParaRPr lang="en-US" sz="1000" dirty="0"/>
          </a:p>
        </p:txBody>
      </p:sp>
      <p:sp>
        <p:nvSpPr>
          <p:cNvPr id="49" name="Shape 47"/>
          <p:cNvSpPr/>
          <p:nvPr/>
        </p:nvSpPr>
        <p:spPr>
          <a:xfrm>
            <a:off x="4590288" y="3785616"/>
            <a:ext cx="643128" cy="475488"/>
          </a:xfrm>
          <a:prstGeom prst="rect">
            <a:avLst/>
          </a:prstGeom>
          <a:solidFill>
            <a:srgbClr val="3B2478"/>
          </a:solidFill>
          <a:ln/>
        </p:spPr>
      </p:sp>
      <p:sp>
        <p:nvSpPr>
          <p:cNvPr id="50" name="Text 48"/>
          <p:cNvSpPr/>
          <p:nvPr/>
        </p:nvSpPr>
        <p:spPr>
          <a:xfrm>
            <a:off x="4590288" y="3840480"/>
            <a:ext cx="643128" cy="146304"/>
          </a:xfrm>
          <a:prstGeom prst="rect">
            <a:avLst/>
          </a:prstGeom>
          <a:noFill/>
          <a:ln/>
        </p:spPr>
        <p:txBody>
          <a:bodyPr wrap="square" lIns="0" tIns="0" rIns="0" bIns="0" rtlCol="0" anchor="t"/>
          <a:lstStyle/>
          <a:p>
            <a:pPr algn="ctr" indent="0" marL="0">
              <a:buNone/>
            </a:pPr>
            <a:r>
              <a:rPr lang="en-US" sz="750" b="1" dirty="0">
                <a:solidFill>
                  <a:srgbClr val="FFFFFF"/>
                </a:solidFill>
                <a:latin typeface="Arial" pitchFamily="34" charset="0"/>
                <a:ea typeface="Arial" pitchFamily="34" charset="-122"/>
                <a:cs typeface="Arial" pitchFamily="34" charset="-120"/>
              </a:rPr>
              <a:t>M7</a:t>
            </a:r>
            <a:endParaRPr lang="en-US" sz="750" dirty="0"/>
          </a:p>
        </p:txBody>
      </p:sp>
      <p:sp>
        <p:nvSpPr>
          <p:cNvPr id="51" name="Text 49"/>
          <p:cNvSpPr/>
          <p:nvPr/>
        </p:nvSpPr>
        <p:spPr>
          <a:xfrm>
            <a:off x="4590288" y="4005072"/>
            <a:ext cx="643128" cy="201168"/>
          </a:xfrm>
          <a:prstGeom prst="rect">
            <a:avLst/>
          </a:prstGeom>
          <a:noFill/>
          <a:ln/>
        </p:spPr>
        <p:txBody>
          <a:bodyPr wrap="square" lIns="0" tIns="0" rIns="0" bIns="0" rtlCol="0" anchor="t"/>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RM10K</a:t>
            </a:r>
            <a:endParaRPr lang="en-US" sz="1000" dirty="0"/>
          </a:p>
        </p:txBody>
      </p:sp>
      <p:sp>
        <p:nvSpPr>
          <p:cNvPr id="52" name="Shape 50"/>
          <p:cNvSpPr/>
          <p:nvPr/>
        </p:nvSpPr>
        <p:spPr>
          <a:xfrm>
            <a:off x="5269992" y="3785616"/>
            <a:ext cx="643128" cy="475488"/>
          </a:xfrm>
          <a:prstGeom prst="rect">
            <a:avLst/>
          </a:prstGeom>
          <a:solidFill>
            <a:srgbClr val="3B2478"/>
          </a:solidFill>
          <a:ln/>
        </p:spPr>
      </p:sp>
      <p:sp>
        <p:nvSpPr>
          <p:cNvPr id="53" name="Text 51"/>
          <p:cNvSpPr/>
          <p:nvPr/>
        </p:nvSpPr>
        <p:spPr>
          <a:xfrm>
            <a:off x="5269992" y="3840480"/>
            <a:ext cx="643128" cy="146304"/>
          </a:xfrm>
          <a:prstGeom prst="rect">
            <a:avLst/>
          </a:prstGeom>
          <a:noFill/>
          <a:ln/>
        </p:spPr>
        <p:txBody>
          <a:bodyPr wrap="square" lIns="0" tIns="0" rIns="0" bIns="0" rtlCol="0" anchor="t"/>
          <a:lstStyle/>
          <a:p>
            <a:pPr algn="ctr" indent="0" marL="0">
              <a:buNone/>
            </a:pPr>
            <a:r>
              <a:rPr lang="en-US" sz="750" b="1" dirty="0">
                <a:solidFill>
                  <a:srgbClr val="FFFFFF"/>
                </a:solidFill>
                <a:latin typeface="Arial" pitchFamily="34" charset="0"/>
                <a:ea typeface="Arial" pitchFamily="34" charset="-122"/>
                <a:cs typeface="Arial" pitchFamily="34" charset="-120"/>
              </a:rPr>
              <a:t>M8</a:t>
            </a:r>
            <a:endParaRPr lang="en-US" sz="750" dirty="0"/>
          </a:p>
        </p:txBody>
      </p:sp>
      <p:sp>
        <p:nvSpPr>
          <p:cNvPr id="54" name="Text 52"/>
          <p:cNvSpPr/>
          <p:nvPr/>
        </p:nvSpPr>
        <p:spPr>
          <a:xfrm>
            <a:off x="5269992" y="4005072"/>
            <a:ext cx="643128" cy="201168"/>
          </a:xfrm>
          <a:prstGeom prst="rect">
            <a:avLst/>
          </a:prstGeom>
          <a:noFill/>
          <a:ln/>
        </p:spPr>
        <p:txBody>
          <a:bodyPr wrap="square" lIns="0" tIns="0" rIns="0" bIns="0" rtlCol="0" anchor="t"/>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RM10K</a:t>
            </a:r>
            <a:endParaRPr lang="en-US" sz="1000" dirty="0"/>
          </a:p>
        </p:txBody>
      </p:sp>
      <p:sp>
        <p:nvSpPr>
          <p:cNvPr id="55" name="Shape 53"/>
          <p:cNvSpPr/>
          <p:nvPr/>
        </p:nvSpPr>
        <p:spPr>
          <a:xfrm>
            <a:off x="5949696" y="3785616"/>
            <a:ext cx="643128" cy="475488"/>
          </a:xfrm>
          <a:prstGeom prst="rect">
            <a:avLst/>
          </a:prstGeom>
          <a:solidFill>
            <a:srgbClr val="3B2478"/>
          </a:solidFill>
          <a:ln/>
        </p:spPr>
      </p:sp>
      <p:sp>
        <p:nvSpPr>
          <p:cNvPr id="56" name="Text 54"/>
          <p:cNvSpPr/>
          <p:nvPr/>
        </p:nvSpPr>
        <p:spPr>
          <a:xfrm>
            <a:off x="5949696" y="3840480"/>
            <a:ext cx="643128" cy="146304"/>
          </a:xfrm>
          <a:prstGeom prst="rect">
            <a:avLst/>
          </a:prstGeom>
          <a:noFill/>
          <a:ln/>
        </p:spPr>
        <p:txBody>
          <a:bodyPr wrap="square" lIns="0" tIns="0" rIns="0" bIns="0" rtlCol="0" anchor="t"/>
          <a:lstStyle/>
          <a:p>
            <a:pPr algn="ctr" indent="0" marL="0">
              <a:buNone/>
            </a:pPr>
            <a:r>
              <a:rPr lang="en-US" sz="750" b="1" dirty="0">
                <a:solidFill>
                  <a:srgbClr val="FFFFFF"/>
                </a:solidFill>
                <a:latin typeface="Arial" pitchFamily="34" charset="0"/>
                <a:ea typeface="Arial" pitchFamily="34" charset="-122"/>
                <a:cs typeface="Arial" pitchFamily="34" charset="-120"/>
              </a:rPr>
              <a:t>M9</a:t>
            </a:r>
            <a:endParaRPr lang="en-US" sz="750" dirty="0"/>
          </a:p>
        </p:txBody>
      </p:sp>
      <p:sp>
        <p:nvSpPr>
          <p:cNvPr id="57" name="Text 55"/>
          <p:cNvSpPr/>
          <p:nvPr/>
        </p:nvSpPr>
        <p:spPr>
          <a:xfrm>
            <a:off x="5949696" y="4005072"/>
            <a:ext cx="643128" cy="201168"/>
          </a:xfrm>
          <a:prstGeom prst="rect">
            <a:avLst/>
          </a:prstGeom>
          <a:noFill/>
          <a:ln/>
        </p:spPr>
        <p:txBody>
          <a:bodyPr wrap="square" lIns="0" tIns="0" rIns="0" bIns="0" rtlCol="0" anchor="t"/>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RM10K</a:t>
            </a:r>
            <a:endParaRPr lang="en-US" sz="1000" dirty="0"/>
          </a:p>
        </p:txBody>
      </p:sp>
      <p:sp>
        <p:nvSpPr>
          <p:cNvPr id="58" name="Shape 56"/>
          <p:cNvSpPr/>
          <p:nvPr/>
        </p:nvSpPr>
        <p:spPr>
          <a:xfrm>
            <a:off x="6629400" y="3785616"/>
            <a:ext cx="643128" cy="475488"/>
          </a:xfrm>
          <a:prstGeom prst="rect">
            <a:avLst/>
          </a:prstGeom>
          <a:solidFill>
            <a:srgbClr val="3B2478"/>
          </a:solidFill>
          <a:ln/>
        </p:spPr>
      </p:sp>
      <p:sp>
        <p:nvSpPr>
          <p:cNvPr id="59" name="Text 57"/>
          <p:cNvSpPr/>
          <p:nvPr/>
        </p:nvSpPr>
        <p:spPr>
          <a:xfrm>
            <a:off x="6629400" y="3840480"/>
            <a:ext cx="643128" cy="146304"/>
          </a:xfrm>
          <a:prstGeom prst="rect">
            <a:avLst/>
          </a:prstGeom>
          <a:noFill/>
          <a:ln/>
        </p:spPr>
        <p:txBody>
          <a:bodyPr wrap="square" lIns="0" tIns="0" rIns="0" bIns="0" rtlCol="0" anchor="t"/>
          <a:lstStyle/>
          <a:p>
            <a:pPr algn="ctr" indent="0" marL="0">
              <a:buNone/>
            </a:pPr>
            <a:r>
              <a:rPr lang="en-US" sz="750" b="1" dirty="0">
                <a:solidFill>
                  <a:srgbClr val="FFFFFF"/>
                </a:solidFill>
                <a:latin typeface="Arial" pitchFamily="34" charset="0"/>
                <a:ea typeface="Arial" pitchFamily="34" charset="-122"/>
                <a:cs typeface="Arial" pitchFamily="34" charset="-120"/>
              </a:rPr>
              <a:t>M10</a:t>
            </a:r>
            <a:endParaRPr lang="en-US" sz="750" dirty="0"/>
          </a:p>
        </p:txBody>
      </p:sp>
      <p:sp>
        <p:nvSpPr>
          <p:cNvPr id="60" name="Text 58"/>
          <p:cNvSpPr/>
          <p:nvPr/>
        </p:nvSpPr>
        <p:spPr>
          <a:xfrm>
            <a:off x="6629400" y="4005072"/>
            <a:ext cx="643128" cy="201168"/>
          </a:xfrm>
          <a:prstGeom prst="rect">
            <a:avLst/>
          </a:prstGeom>
          <a:noFill/>
          <a:ln/>
        </p:spPr>
        <p:txBody>
          <a:bodyPr wrap="square" lIns="0" tIns="0" rIns="0" bIns="0" rtlCol="0" anchor="t"/>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RM10K</a:t>
            </a:r>
            <a:endParaRPr lang="en-US" sz="1000" dirty="0"/>
          </a:p>
        </p:txBody>
      </p:sp>
      <p:sp>
        <p:nvSpPr>
          <p:cNvPr id="61" name="Shape 59"/>
          <p:cNvSpPr/>
          <p:nvPr/>
        </p:nvSpPr>
        <p:spPr>
          <a:xfrm>
            <a:off x="7309104" y="3785616"/>
            <a:ext cx="643128" cy="475488"/>
          </a:xfrm>
          <a:prstGeom prst="rect">
            <a:avLst/>
          </a:prstGeom>
          <a:solidFill>
            <a:srgbClr val="3B2478"/>
          </a:solidFill>
          <a:ln/>
        </p:spPr>
      </p:sp>
      <p:sp>
        <p:nvSpPr>
          <p:cNvPr id="62" name="Text 60"/>
          <p:cNvSpPr/>
          <p:nvPr/>
        </p:nvSpPr>
        <p:spPr>
          <a:xfrm>
            <a:off x="7309104" y="3840480"/>
            <a:ext cx="643128" cy="146304"/>
          </a:xfrm>
          <a:prstGeom prst="rect">
            <a:avLst/>
          </a:prstGeom>
          <a:noFill/>
          <a:ln/>
        </p:spPr>
        <p:txBody>
          <a:bodyPr wrap="square" lIns="0" tIns="0" rIns="0" bIns="0" rtlCol="0" anchor="t"/>
          <a:lstStyle/>
          <a:p>
            <a:pPr algn="ctr" indent="0" marL="0">
              <a:buNone/>
            </a:pPr>
            <a:r>
              <a:rPr lang="en-US" sz="750" b="1" dirty="0">
                <a:solidFill>
                  <a:srgbClr val="FFFFFF"/>
                </a:solidFill>
                <a:latin typeface="Arial" pitchFamily="34" charset="0"/>
                <a:ea typeface="Arial" pitchFamily="34" charset="-122"/>
                <a:cs typeface="Arial" pitchFamily="34" charset="-120"/>
              </a:rPr>
              <a:t>M11</a:t>
            </a:r>
            <a:endParaRPr lang="en-US" sz="750" dirty="0"/>
          </a:p>
        </p:txBody>
      </p:sp>
      <p:sp>
        <p:nvSpPr>
          <p:cNvPr id="63" name="Text 61"/>
          <p:cNvSpPr/>
          <p:nvPr/>
        </p:nvSpPr>
        <p:spPr>
          <a:xfrm>
            <a:off x="7309104" y="4005072"/>
            <a:ext cx="643128" cy="201168"/>
          </a:xfrm>
          <a:prstGeom prst="rect">
            <a:avLst/>
          </a:prstGeom>
          <a:noFill/>
          <a:ln/>
        </p:spPr>
        <p:txBody>
          <a:bodyPr wrap="square" lIns="0" tIns="0" rIns="0" bIns="0" rtlCol="0" anchor="t"/>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RM10K</a:t>
            </a:r>
            <a:endParaRPr lang="en-US" sz="1000" dirty="0"/>
          </a:p>
        </p:txBody>
      </p:sp>
      <p:sp>
        <p:nvSpPr>
          <p:cNvPr id="64" name="Shape 62"/>
          <p:cNvSpPr/>
          <p:nvPr/>
        </p:nvSpPr>
        <p:spPr>
          <a:xfrm>
            <a:off x="7988808" y="3785616"/>
            <a:ext cx="643128" cy="475488"/>
          </a:xfrm>
          <a:prstGeom prst="rect">
            <a:avLst/>
          </a:prstGeom>
          <a:solidFill>
            <a:srgbClr val="3B2478"/>
          </a:solidFill>
          <a:ln/>
        </p:spPr>
      </p:sp>
      <p:sp>
        <p:nvSpPr>
          <p:cNvPr id="65" name="Text 63"/>
          <p:cNvSpPr/>
          <p:nvPr/>
        </p:nvSpPr>
        <p:spPr>
          <a:xfrm>
            <a:off x="7988808" y="3840480"/>
            <a:ext cx="643128" cy="146304"/>
          </a:xfrm>
          <a:prstGeom prst="rect">
            <a:avLst/>
          </a:prstGeom>
          <a:noFill/>
          <a:ln/>
        </p:spPr>
        <p:txBody>
          <a:bodyPr wrap="square" lIns="0" tIns="0" rIns="0" bIns="0" rtlCol="0" anchor="t"/>
          <a:lstStyle/>
          <a:p>
            <a:pPr algn="ctr" indent="0" marL="0">
              <a:buNone/>
            </a:pPr>
            <a:r>
              <a:rPr lang="en-US" sz="750" b="1" dirty="0">
                <a:solidFill>
                  <a:srgbClr val="FFFFFF"/>
                </a:solidFill>
                <a:latin typeface="Arial" pitchFamily="34" charset="0"/>
                <a:ea typeface="Arial" pitchFamily="34" charset="-122"/>
                <a:cs typeface="Arial" pitchFamily="34" charset="-120"/>
              </a:rPr>
              <a:t>M12</a:t>
            </a:r>
            <a:endParaRPr lang="en-US" sz="750" dirty="0"/>
          </a:p>
        </p:txBody>
      </p:sp>
      <p:sp>
        <p:nvSpPr>
          <p:cNvPr id="66" name="Text 64"/>
          <p:cNvSpPr/>
          <p:nvPr/>
        </p:nvSpPr>
        <p:spPr>
          <a:xfrm>
            <a:off x="7988808" y="4005072"/>
            <a:ext cx="643128" cy="201168"/>
          </a:xfrm>
          <a:prstGeom prst="rect">
            <a:avLst/>
          </a:prstGeom>
          <a:noFill/>
          <a:ln/>
        </p:spPr>
        <p:txBody>
          <a:bodyPr wrap="square" lIns="0" tIns="0" rIns="0" bIns="0" rtlCol="0" anchor="t"/>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RM10K</a:t>
            </a:r>
            <a:endParaRPr lang="en-US" sz="1000" dirty="0"/>
          </a:p>
        </p:txBody>
      </p:sp>
      <p:sp>
        <p:nvSpPr>
          <p:cNvPr id="67" name="Shape 65"/>
          <p:cNvSpPr/>
          <p:nvPr/>
        </p:nvSpPr>
        <p:spPr>
          <a:xfrm>
            <a:off x="438912" y="4434840"/>
            <a:ext cx="8266176" cy="402336"/>
          </a:xfrm>
          <a:prstGeom prst="rect">
            <a:avLst/>
          </a:prstGeom>
          <a:solidFill>
            <a:srgbClr val="B5330F"/>
          </a:solidFill>
          <a:ln/>
        </p:spPr>
      </p:sp>
      <p:sp>
        <p:nvSpPr>
          <p:cNvPr id="68" name="Text 66"/>
          <p:cNvSpPr/>
          <p:nvPr/>
        </p:nvSpPr>
        <p:spPr>
          <a:xfrm>
            <a:off x="658368" y="4453128"/>
            <a:ext cx="7827264" cy="365760"/>
          </a:xfrm>
          <a:prstGeom prst="rect">
            <a:avLst/>
          </a:prstGeom>
          <a:noFill/>
          <a:ln/>
        </p:spPr>
        <p:txBody>
          <a:bodyPr wrap="square" lIns="0" tIns="0" rIns="0" bIns="0" rtlCol="0" anchor="ctr"/>
          <a:lstStyle/>
          <a:p>
            <a:pPr indent="0" marL="0">
              <a:lnSpc>
                <a:spcPts val="1200"/>
              </a:lnSpc>
              <a:buNone/>
            </a:pPr>
            <a:r>
              <a:rPr lang="en-US" sz="950" b="1" dirty="0">
                <a:solidFill>
                  <a:srgbClr val="EEFF41"/>
                </a:solidFill>
                <a:latin typeface="Arial" pitchFamily="34" charset="0"/>
                <a:ea typeface="Arial" pitchFamily="34" charset="-122"/>
                <a:cs typeface="Arial" pitchFamily="34" charset="-120"/>
              </a:rPr>
              <a:t>Raya: </a:t>
            </a:r>
            <a:pPr indent="0" marL="0">
              <a:lnSpc>
                <a:spcPts val="1200"/>
              </a:lnSpc>
              <a:buNone/>
            </a:pPr>
            <a:r>
              <a:rPr lang="en-US" sz="950" b="1" dirty="0">
                <a:solidFill>
                  <a:srgbClr val="FFFFFF"/>
                </a:solidFill>
                <a:latin typeface="Arial" pitchFamily="34" charset="0"/>
                <a:ea typeface="Arial" pitchFamily="34" charset="-122"/>
                <a:cs typeface="Arial" pitchFamily="34" charset="-120"/>
              </a:rPr>
              <a:t>once the launch date is set, we move the heaviest gifting spend into the four weeks before Hari Raya Aidilfitri.</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09.     Caveats</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What can slow this plan down,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and what we do about it.</a:t>
            </a:r>
            <a:endParaRPr lang="en-US" sz="2500" dirty="0"/>
          </a:p>
        </p:txBody>
      </p:sp>
      <p:sp>
        <p:nvSpPr>
          <p:cNvPr id="5" name="Text 3"/>
          <p:cNvSpPr/>
          <p:nvPr/>
        </p:nvSpPr>
        <p:spPr>
          <a:xfrm>
            <a:off x="512064" y="1481328"/>
            <a:ext cx="8119872"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These are the risks we see today. Each one has a fix that we can put in place before Month 1.</a:t>
            </a:r>
            <a:endParaRPr lang="en-US" sz="1100" dirty="0"/>
          </a:p>
        </p:txBody>
      </p:sp>
      <p:sp>
        <p:nvSpPr>
          <p:cNvPr id="6" name="Shape 4"/>
          <p:cNvSpPr/>
          <p:nvPr/>
        </p:nvSpPr>
        <p:spPr>
          <a:xfrm>
            <a:off x="512064" y="1920240"/>
            <a:ext cx="2584704" cy="1207008"/>
          </a:xfrm>
          <a:prstGeom prst="rect">
            <a:avLst/>
          </a:prstGeom>
          <a:solidFill>
            <a:srgbClr val="FDF2DF"/>
          </a:solidFill>
          <a:ln/>
        </p:spPr>
      </p:sp>
      <p:sp>
        <p:nvSpPr>
          <p:cNvPr id="7" name="Shape 5"/>
          <p:cNvSpPr/>
          <p:nvPr/>
        </p:nvSpPr>
        <p:spPr>
          <a:xfrm>
            <a:off x="512064" y="1920240"/>
            <a:ext cx="2584704" cy="54864"/>
          </a:xfrm>
          <a:prstGeom prst="rect">
            <a:avLst/>
          </a:prstGeom>
          <a:solidFill>
            <a:srgbClr val="B5330F"/>
          </a:solidFill>
          <a:ln/>
        </p:spPr>
      </p:sp>
      <p:sp>
        <p:nvSpPr>
          <p:cNvPr id="8" name="Text 6"/>
          <p:cNvSpPr/>
          <p:nvPr/>
        </p:nvSpPr>
        <p:spPr>
          <a:xfrm>
            <a:off x="676656" y="2121408"/>
            <a:ext cx="2255520" cy="27432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Tracking gaps</a:t>
            </a:r>
            <a:endParaRPr lang="en-US" sz="1300" dirty="0"/>
          </a:p>
        </p:txBody>
      </p:sp>
      <p:sp>
        <p:nvSpPr>
          <p:cNvPr id="9" name="Text 7"/>
          <p:cNvSpPr/>
          <p:nvPr/>
        </p:nvSpPr>
        <p:spPr>
          <a:xfrm>
            <a:off x="676656" y="2395728"/>
            <a:ext cx="2255520" cy="603504"/>
          </a:xfrm>
          <a:prstGeom prst="rect">
            <a:avLst/>
          </a:prstGeom>
          <a:noFill/>
          <a:ln/>
        </p:spPr>
        <p:txBody>
          <a:bodyPr wrap="square" lIns="0" tIns="0" rIns="0" bIns="0" rtlCol="0" anchor="t"/>
          <a:lstStyle/>
          <a:p>
            <a:pPr indent="0" marL="0">
              <a:lnSpc>
                <a:spcPts val="1206"/>
              </a:lnSpc>
              <a:buNone/>
            </a:pPr>
            <a:r>
              <a:rPr lang="en-US" sz="880" dirty="0">
                <a:solidFill>
                  <a:srgbClr val="3B2478"/>
                </a:solidFill>
                <a:latin typeface="Arial" pitchFamily="34" charset="0"/>
                <a:ea typeface="Arial" pitchFamily="34" charset="-122"/>
                <a:cs typeface="Arial" pitchFamily="34" charset="-120"/>
              </a:rPr>
              <a:t>If the pixels miss a purchase or its value, Meta and TikTok cannot learn who buys. We test every checkout step before Month 1 spends a ringgit.</a:t>
            </a:r>
            <a:endParaRPr lang="en-US" sz="880" dirty="0"/>
          </a:p>
        </p:txBody>
      </p:sp>
      <p:sp>
        <p:nvSpPr>
          <p:cNvPr id="10" name="Shape 8"/>
          <p:cNvSpPr/>
          <p:nvPr/>
        </p:nvSpPr>
        <p:spPr>
          <a:xfrm>
            <a:off x="3279648" y="1920240"/>
            <a:ext cx="2584704" cy="1207008"/>
          </a:xfrm>
          <a:prstGeom prst="rect">
            <a:avLst/>
          </a:prstGeom>
          <a:solidFill>
            <a:srgbClr val="FDF2DF"/>
          </a:solidFill>
          <a:ln/>
        </p:spPr>
      </p:sp>
      <p:sp>
        <p:nvSpPr>
          <p:cNvPr id="11" name="Shape 9"/>
          <p:cNvSpPr/>
          <p:nvPr/>
        </p:nvSpPr>
        <p:spPr>
          <a:xfrm>
            <a:off x="3279648" y="1920240"/>
            <a:ext cx="2584704" cy="54864"/>
          </a:xfrm>
          <a:prstGeom prst="rect">
            <a:avLst/>
          </a:prstGeom>
          <a:solidFill>
            <a:srgbClr val="3B2478"/>
          </a:solidFill>
          <a:ln/>
        </p:spPr>
      </p:sp>
      <p:sp>
        <p:nvSpPr>
          <p:cNvPr id="12" name="Text 10"/>
          <p:cNvSpPr/>
          <p:nvPr/>
        </p:nvSpPr>
        <p:spPr>
          <a:xfrm>
            <a:off x="3444240" y="2121408"/>
            <a:ext cx="2255520" cy="27432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A slow first quarter</a:t>
            </a:r>
            <a:endParaRPr lang="en-US" sz="1300" dirty="0"/>
          </a:p>
        </p:txBody>
      </p:sp>
      <p:sp>
        <p:nvSpPr>
          <p:cNvPr id="13" name="Text 11"/>
          <p:cNvSpPr/>
          <p:nvPr/>
        </p:nvSpPr>
        <p:spPr>
          <a:xfrm>
            <a:off x="3444240" y="2395728"/>
            <a:ext cx="2255520" cy="603504"/>
          </a:xfrm>
          <a:prstGeom prst="rect">
            <a:avLst/>
          </a:prstGeom>
          <a:noFill/>
          <a:ln/>
        </p:spPr>
        <p:txBody>
          <a:bodyPr wrap="square" lIns="0" tIns="0" rIns="0" bIns="0" rtlCol="0" anchor="t"/>
          <a:lstStyle/>
          <a:p>
            <a:pPr indent="0" marL="0">
              <a:lnSpc>
                <a:spcPts val="1206"/>
              </a:lnSpc>
              <a:buNone/>
            </a:pPr>
            <a:r>
              <a:rPr lang="en-US" sz="880" dirty="0">
                <a:solidFill>
                  <a:srgbClr val="3B2478"/>
                </a:solidFill>
                <a:latin typeface="Arial" pitchFamily="34" charset="0"/>
                <a:ea typeface="Arial" pitchFamily="34" charset="-122"/>
                <a:cs typeface="Arial" pitchFamily="34" charset="-120"/>
              </a:rPr>
              <a:t>Nobody searches for a name they have not heard. Expect few sales in Months 1 to 3 while the ads build the audience that later months sell to.</a:t>
            </a:r>
            <a:endParaRPr lang="en-US" sz="880" dirty="0"/>
          </a:p>
        </p:txBody>
      </p:sp>
      <p:sp>
        <p:nvSpPr>
          <p:cNvPr id="14" name="Shape 12"/>
          <p:cNvSpPr/>
          <p:nvPr/>
        </p:nvSpPr>
        <p:spPr>
          <a:xfrm>
            <a:off x="6047232" y="1920240"/>
            <a:ext cx="2584704" cy="1207008"/>
          </a:xfrm>
          <a:prstGeom prst="rect">
            <a:avLst/>
          </a:prstGeom>
          <a:solidFill>
            <a:srgbClr val="FDF2DF"/>
          </a:solidFill>
          <a:ln/>
        </p:spPr>
      </p:sp>
      <p:sp>
        <p:nvSpPr>
          <p:cNvPr id="15" name="Shape 13"/>
          <p:cNvSpPr/>
          <p:nvPr/>
        </p:nvSpPr>
        <p:spPr>
          <a:xfrm>
            <a:off x="6047232" y="1920240"/>
            <a:ext cx="2584704" cy="54864"/>
          </a:xfrm>
          <a:prstGeom prst="rect">
            <a:avLst/>
          </a:prstGeom>
          <a:solidFill>
            <a:srgbClr val="F2A25C"/>
          </a:solidFill>
          <a:ln/>
        </p:spPr>
      </p:sp>
      <p:sp>
        <p:nvSpPr>
          <p:cNvPr id="16" name="Text 14"/>
          <p:cNvSpPr/>
          <p:nvPr/>
        </p:nvSpPr>
        <p:spPr>
          <a:xfrm>
            <a:off x="6211824" y="2121408"/>
            <a:ext cx="2255520" cy="27432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Too few sales to learn from</a:t>
            </a:r>
            <a:endParaRPr lang="en-US" sz="1300" dirty="0"/>
          </a:p>
        </p:txBody>
      </p:sp>
      <p:sp>
        <p:nvSpPr>
          <p:cNvPr id="17" name="Text 15"/>
          <p:cNvSpPr/>
          <p:nvPr/>
        </p:nvSpPr>
        <p:spPr>
          <a:xfrm>
            <a:off x="6211824" y="2395728"/>
            <a:ext cx="2255520" cy="603504"/>
          </a:xfrm>
          <a:prstGeom prst="rect">
            <a:avLst/>
          </a:prstGeom>
          <a:noFill/>
          <a:ln/>
        </p:spPr>
        <p:txBody>
          <a:bodyPr wrap="square" lIns="0" tIns="0" rIns="0" bIns="0" rtlCol="0" anchor="t"/>
          <a:lstStyle/>
          <a:p>
            <a:pPr indent="0" marL="0">
              <a:lnSpc>
                <a:spcPts val="1206"/>
              </a:lnSpc>
              <a:buNone/>
            </a:pPr>
            <a:r>
              <a:rPr lang="en-US" sz="880" dirty="0">
                <a:solidFill>
                  <a:srgbClr val="3B2478"/>
                </a:solidFill>
                <a:latin typeface="Arial" pitchFamily="34" charset="0"/>
                <a:ea typeface="Arial" pitchFamily="34" charset="-122"/>
                <a:cs typeface="Arial" pitchFamily="34" charset="-120"/>
              </a:rPr>
              <a:t>Meta learns best from about 50 conversions a week, and a RM1,200 scarf will not reach that early. We optimize for add to cart first.</a:t>
            </a:r>
            <a:endParaRPr lang="en-US" sz="880" dirty="0"/>
          </a:p>
        </p:txBody>
      </p:sp>
      <p:sp>
        <p:nvSpPr>
          <p:cNvPr id="18" name="Shape 16"/>
          <p:cNvSpPr/>
          <p:nvPr/>
        </p:nvSpPr>
        <p:spPr>
          <a:xfrm>
            <a:off x="512064" y="3236976"/>
            <a:ext cx="2584704" cy="1207008"/>
          </a:xfrm>
          <a:prstGeom prst="rect">
            <a:avLst/>
          </a:prstGeom>
          <a:solidFill>
            <a:srgbClr val="FDF2DF"/>
          </a:solidFill>
          <a:ln/>
        </p:spPr>
      </p:sp>
      <p:sp>
        <p:nvSpPr>
          <p:cNvPr id="19" name="Shape 17"/>
          <p:cNvSpPr/>
          <p:nvPr/>
        </p:nvSpPr>
        <p:spPr>
          <a:xfrm>
            <a:off x="512064" y="3236976"/>
            <a:ext cx="2584704" cy="54864"/>
          </a:xfrm>
          <a:prstGeom prst="rect">
            <a:avLst/>
          </a:prstGeom>
          <a:solidFill>
            <a:srgbClr val="1C120B"/>
          </a:solidFill>
          <a:ln/>
        </p:spPr>
      </p:sp>
      <p:sp>
        <p:nvSpPr>
          <p:cNvPr id="20" name="Text 18"/>
          <p:cNvSpPr/>
          <p:nvPr/>
        </p:nvSpPr>
        <p:spPr>
          <a:xfrm>
            <a:off x="676656" y="3438144"/>
            <a:ext cx="2255520" cy="27432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Slow payback in year one</a:t>
            </a:r>
            <a:endParaRPr lang="en-US" sz="1300" dirty="0"/>
          </a:p>
        </p:txBody>
      </p:sp>
      <p:sp>
        <p:nvSpPr>
          <p:cNvPr id="21" name="Text 19"/>
          <p:cNvSpPr/>
          <p:nvPr/>
        </p:nvSpPr>
        <p:spPr>
          <a:xfrm>
            <a:off x="676656" y="3712464"/>
            <a:ext cx="2255520" cy="603504"/>
          </a:xfrm>
          <a:prstGeom prst="rect">
            <a:avLst/>
          </a:prstGeom>
          <a:noFill/>
          <a:ln/>
        </p:spPr>
        <p:txBody>
          <a:bodyPr wrap="square" lIns="0" tIns="0" rIns="0" bIns="0" rtlCol="0" anchor="t"/>
          <a:lstStyle/>
          <a:p>
            <a:pPr indent="0" marL="0">
              <a:lnSpc>
                <a:spcPts val="1206"/>
              </a:lnSpc>
              <a:buNone/>
            </a:pPr>
            <a:r>
              <a:rPr lang="en-US" sz="880" dirty="0">
                <a:solidFill>
                  <a:srgbClr val="3B2478"/>
                </a:solidFill>
                <a:latin typeface="Arial" pitchFamily="34" charset="0"/>
                <a:ea typeface="Arial" pitchFamily="34" charset="-122"/>
                <a:cs typeface="Arial" pitchFamily="34" charset="-120"/>
              </a:rPr>
              <a:t>RM108,000 in media equals about 90 scarves at RM1,200. Year one is unlikely to pay back its media, and the audience it builds carries year two.</a:t>
            </a:r>
            <a:endParaRPr lang="en-US" sz="880" dirty="0"/>
          </a:p>
        </p:txBody>
      </p:sp>
      <p:sp>
        <p:nvSpPr>
          <p:cNvPr id="22" name="Shape 20"/>
          <p:cNvSpPr/>
          <p:nvPr/>
        </p:nvSpPr>
        <p:spPr>
          <a:xfrm>
            <a:off x="3279648" y="3236976"/>
            <a:ext cx="2584704" cy="1207008"/>
          </a:xfrm>
          <a:prstGeom prst="rect">
            <a:avLst/>
          </a:prstGeom>
          <a:solidFill>
            <a:srgbClr val="FDF2DF"/>
          </a:solidFill>
          <a:ln/>
        </p:spPr>
      </p:sp>
      <p:sp>
        <p:nvSpPr>
          <p:cNvPr id="23" name="Shape 21"/>
          <p:cNvSpPr/>
          <p:nvPr/>
        </p:nvSpPr>
        <p:spPr>
          <a:xfrm>
            <a:off x="3279648" y="3236976"/>
            <a:ext cx="2584704" cy="54864"/>
          </a:xfrm>
          <a:prstGeom prst="rect">
            <a:avLst/>
          </a:prstGeom>
          <a:solidFill>
            <a:srgbClr val="B5330F"/>
          </a:solidFill>
          <a:ln/>
        </p:spPr>
      </p:sp>
      <p:sp>
        <p:nvSpPr>
          <p:cNvPr id="24" name="Text 22"/>
          <p:cNvSpPr/>
          <p:nvPr/>
        </p:nvSpPr>
        <p:spPr>
          <a:xfrm>
            <a:off x="3444240" y="3438144"/>
            <a:ext cx="2255520" cy="27432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Creative supply</a:t>
            </a:r>
            <a:endParaRPr lang="en-US" sz="1300" dirty="0"/>
          </a:p>
        </p:txBody>
      </p:sp>
      <p:sp>
        <p:nvSpPr>
          <p:cNvPr id="25" name="Text 23"/>
          <p:cNvSpPr/>
          <p:nvPr/>
        </p:nvSpPr>
        <p:spPr>
          <a:xfrm>
            <a:off x="3444240" y="3712464"/>
            <a:ext cx="2255520" cy="603504"/>
          </a:xfrm>
          <a:prstGeom prst="rect">
            <a:avLst/>
          </a:prstGeom>
          <a:noFill/>
          <a:ln/>
        </p:spPr>
        <p:txBody>
          <a:bodyPr wrap="square" lIns="0" tIns="0" rIns="0" bIns="0" rtlCol="0" anchor="t"/>
          <a:lstStyle/>
          <a:p>
            <a:pPr indent="0" marL="0">
              <a:lnSpc>
                <a:spcPts val="1206"/>
              </a:lnSpc>
              <a:buNone/>
            </a:pPr>
            <a:r>
              <a:rPr lang="en-US" sz="880" dirty="0">
                <a:solidFill>
                  <a:srgbClr val="3B2478"/>
                </a:solidFill>
                <a:latin typeface="Arial" pitchFamily="34" charset="0"/>
                <a:ea typeface="Arial" pitchFamily="34" charset="-122"/>
                <a:cs typeface="Arial" pitchFamily="34" charset="-120"/>
              </a:rPr>
              <a:t>The plan needs about 30 organic posts and 8 to 10 new ad creatives a month. If production falls short, ads tire faster and costs rise.</a:t>
            </a:r>
            <a:endParaRPr lang="en-US" sz="880" dirty="0"/>
          </a:p>
        </p:txBody>
      </p:sp>
      <p:sp>
        <p:nvSpPr>
          <p:cNvPr id="26" name="Shape 24"/>
          <p:cNvSpPr/>
          <p:nvPr/>
        </p:nvSpPr>
        <p:spPr>
          <a:xfrm>
            <a:off x="6047232" y="3236976"/>
            <a:ext cx="2584704" cy="1207008"/>
          </a:xfrm>
          <a:prstGeom prst="rect">
            <a:avLst/>
          </a:prstGeom>
          <a:solidFill>
            <a:srgbClr val="FDF2DF"/>
          </a:solidFill>
          <a:ln/>
        </p:spPr>
      </p:sp>
      <p:sp>
        <p:nvSpPr>
          <p:cNvPr id="27" name="Shape 25"/>
          <p:cNvSpPr/>
          <p:nvPr/>
        </p:nvSpPr>
        <p:spPr>
          <a:xfrm>
            <a:off x="6047232" y="3236976"/>
            <a:ext cx="2584704" cy="54864"/>
          </a:xfrm>
          <a:prstGeom prst="rect">
            <a:avLst/>
          </a:prstGeom>
          <a:solidFill>
            <a:srgbClr val="3B2478"/>
          </a:solidFill>
          <a:ln/>
        </p:spPr>
      </p:sp>
      <p:sp>
        <p:nvSpPr>
          <p:cNvPr id="28" name="Text 26"/>
          <p:cNvSpPr/>
          <p:nvPr/>
        </p:nvSpPr>
        <p:spPr>
          <a:xfrm>
            <a:off x="6211824" y="3438144"/>
            <a:ext cx="2255520" cy="274320"/>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A change from the research</a:t>
            </a:r>
            <a:endParaRPr lang="en-US" sz="1300" dirty="0"/>
          </a:p>
        </p:txBody>
      </p:sp>
      <p:sp>
        <p:nvSpPr>
          <p:cNvPr id="29" name="Text 27"/>
          <p:cNvSpPr/>
          <p:nvPr/>
        </p:nvSpPr>
        <p:spPr>
          <a:xfrm>
            <a:off x="6211824" y="3712464"/>
            <a:ext cx="2255520" cy="603504"/>
          </a:xfrm>
          <a:prstGeom prst="rect">
            <a:avLst/>
          </a:prstGeom>
          <a:noFill/>
          <a:ln/>
        </p:spPr>
        <p:txBody>
          <a:bodyPr wrap="square" lIns="0" tIns="0" rIns="0" bIns="0" rtlCol="0" anchor="t"/>
          <a:lstStyle/>
          <a:p>
            <a:pPr indent="0" marL="0">
              <a:lnSpc>
                <a:spcPts val="1206"/>
              </a:lnSpc>
              <a:buNone/>
            </a:pPr>
            <a:r>
              <a:rPr lang="en-US" sz="880" dirty="0">
                <a:solidFill>
                  <a:srgbClr val="3B2478"/>
                </a:solidFill>
                <a:latin typeface="Arial" pitchFamily="34" charset="0"/>
                <a:ea typeface="Arial" pitchFamily="34" charset="-122"/>
                <a:cs typeface="Arial" pitchFamily="34" charset="-120"/>
              </a:rPr>
              <a:t>Ongoing sales replace the single capped edition. If the house adds pieces to a numbered batch after release, buyers stop trusting the numbers.</a:t>
            </a:r>
            <a:endParaRPr lang="en-US" sz="8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E5CD"/>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B5330F"/>
          </a:solidFill>
          <a:ln/>
        </p:spPr>
      </p:sp>
      <p:sp>
        <p:nvSpPr>
          <p:cNvPr id="3" name="Text 1"/>
          <p:cNvSpPr/>
          <p:nvPr/>
        </p:nvSpPr>
        <p:spPr>
          <a:xfrm>
            <a:off x="512064" y="201168"/>
            <a:ext cx="8119872" cy="182880"/>
          </a:xfrm>
          <a:prstGeom prst="rect">
            <a:avLst/>
          </a:prstGeom>
          <a:noFill/>
          <a:ln/>
        </p:spPr>
        <p:txBody>
          <a:bodyPr wrap="square" lIns="0" tIns="0" rIns="0" bIns="0" rtlCol="0" anchor="t"/>
          <a:lstStyle/>
          <a:p>
            <a:pPr algn="r" indent="0" marL="0">
              <a:buNone/>
            </a:pPr>
            <a:r>
              <a:rPr lang="en-US" sz="860" dirty="0">
                <a:solidFill>
                  <a:srgbClr val="746096"/>
                </a:solidFill>
                <a:latin typeface="Century Gothic" pitchFamily="34" charset="0"/>
                <a:ea typeface="Century Gothic" pitchFamily="34" charset="-122"/>
                <a:cs typeface="Century Gothic" pitchFamily="34" charset="-120"/>
              </a:rPr>
              <a:t>10.     Next steps</a:t>
            </a:r>
            <a:endParaRPr lang="en-US" sz="860" dirty="0"/>
          </a:p>
        </p:txBody>
      </p:sp>
      <p:sp>
        <p:nvSpPr>
          <p:cNvPr id="4" name="Text 2"/>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3B2478"/>
                </a:solidFill>
                <a:latin typeface="Arial Black" pitchFamily="34" charset="0"/>
                <a:ea typeface="Arial Black" pitchFamily="34" charset="-122"/>
                <a:cs typeface="Arial Black" pitchFamily="34" charset="-120"/>
              </a:rPr>
              <a:t>Five things we need </a:t>
            </a:r>
            <a:pPr indent="0" marL="0">
              <a:lnSpc>
                <a:spcPts val="2950"/>
              </a:lnSpc>
              <a:buNone/>
            </a:pPr>
            <a:r>
              <a:rPr lang="en-US" sz="2500" dirty="0">
                <a:solidFill>
                  <a:srgbClr val="B5330F"/>
                </a:solidFill>
                <a:latin typeface="Arial Black" pitchFamily="34" charset="0"/>
                <a:ea typeface="Arial Black" pitchFamily="34" charset="-122"/>
                <a:cs typeface="Arial Black" pitchFamily="34" charset="-120"/>
              </a:rPr>
              <a:t>before Month 0 starts.</a:t>
            </a:r>
            <a:endParaRPr lang="en-US" sz="2500" dirty="0"/>
          </a:p>
        </p:txBody>
      </p:sp>
      <p:sp>
        <p:nvSpPr>
          <p:cNvPr id="5" name="Text 3"/>
          <p:cNvSpPr/>
          <p:nvPr/>
        </p:nvSpPr>
        <p:spPr>
          <a:xfrm>
            <a:off x="512064" y="1097280"/>
            <a:ext cx="8119872" cy="384048"/>
          </a:xfrm>
          <a:prstGeom prst="rect">
            <a:avLst/>
          </a:prstGeom>
          <a:noFill/>
          <a:ln/>
        </p:spPr>
        <p:txBody>
          <a:bodyPr wrap="square" lIns="0" tIns="0" rIns="0" bIns="0" rtlCol="0" anchor="t"/>
          <a:lstStyle/>
          <a:p>
            <a:pPr indent="0" marL="0">
              <a:lnSpc>
                <a:spcPts val="1500"/>
              </a:lnSpc>
              <a:buNone/>
            </a:pPr>
            <a:r>
              <a:rPr lang="en-US" sz="1100" b="1" dirty="0">
                <a:solidFill>
                  <a:srgbClr val="3B2478"/>
                </a:solidFill>
                <a:latin typeface="Arial" pitchFamily="34" charset="0"/>
                <a:ea typeface="Arial" pitchFamily="34" charset="-122"/>
                <a:cs typeface="Arial" pitchFamily="34" charset="-120"/>
              </a:rPr>
              <a:t>Some of these decide the budget and the calendar, so we need them before setup begins.</a:t>
            </a:r>
            <a:endParaRPr lang="en-US" sz="1100" dirty="0"/>
          </a:p>
        </p:txBody>
      </p:sp>
      <p:sp>
        <p:nvSpPr>
          <p:cNvPr id="6" name="Shape 4"/>
          <p:cNvSpPr/>
          <p:nvPr/>
        </p:nvSpPr>
        <p:spPr>
          <a:xfrm>
            <a:off x="512064" y="1645920"/>
            <a:ext cx="1477670" cy="2633472"/>
          </a:xfrm>
          <a:prstGeom prst="rect">
            <a:avLst/>
          </a:prstGeom>
          <a:solidFill>
            <a:srgbClr val="FDF2DF"/>
          </a:solidFill>
          <a:ln/>
        </p:spPr>
      </p:sp>
      <p:sp>
        <p:nvSpPr>
          <p:cNvPr id="7" name="Shape 5"/>
          <p:cNvSpPr/>
          <p:nvPr/>
        </p:nvSpPr>
        <p:spPr>
          <a:xfrm>
            <a:off x="512064" y="1645920"/>
            <a:ext cx="1477670" cy="54864"/>
          </a:xfrm>
          <a:prstGeom prst="rect">
            <a:avLst/>
          </a:prstGeom>
          <a:solidFill>
            <a:srgbClr val="B5330F"/>
          </a:solidFill>
          <a:ln/>
        </p:spPr>
      </p:sp>
      <p:sp>
        <p:nvSpPr>
          <p:cNvPr id="8" name="Text 6"/>
          <p:cNvSpPr/>
          <p:nvPr/>
        </p:nvSpPr>
        <p:spPr>
          <a:xfrm>
            <a:off x="676656" y="1847088"/>
            <a:ext cx="1148486" cy="219456"/>
          </a:xfrm>
          <a:prstGeom prst="rect">
            <a:avLst/>
          </a:prstGeom>
          <a:noFill/>
          <a:ln/>
        </p:spPr>
        <p:txBody>
          <a:bodyPr wrap="square" lIns="0" tIns="0" rIns="0" bIns="0" rtlCol="0" anchor="t"/>
          <a:lstStyle/>
          <a:p>
            <a:pPr indent="0" marL="0">
              <a:buNone/>
            </a:pPr>
            <a:r>
              <a:rPr lang="en-US" sz="1100" b="1" dirty="0">
                <a:solidFill>
                  <a:srgbClr val="B5330F"/>
                </a:solidFill>
                <a:latin typeface="Arial" pitchFamily="34" charset="0"/>
                <a:ea typeface="Arial" pitchFamily="34" charset="-122"/>
                <a:cs typeface="Arial" pitchFamily="34" charset="-120"/>
              </a:rPr>
              <a:t>01</a:t>
            </a:r>
            <a:endParaRPr lang="en-US" sz="1100" dirty="0"/>
          </a:p>
        </p:txBody>
      </p:sp>
      <p:sp>
        <p:nvSpPr>
          <p:cNvPr id="9" name="Text 7"/>
          <p:cNvSpPr/>
          <p:nvPr/>
        </p:nvSpPr>
        <p:spPr>
          <a:xfrm>
            <a:off x="676656" y="2139696"/>
            <a:ext cx="1148486" cy="512064"/>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Name and launch date</a:t>
            </a:r>
            <a:endParaRPr lang="en-US" sz="1300" dirty="0"/>
          </a:p>
        </p:txBody>
      </p:sp>
      <p:sp>
        <p:nvSpPr>
          <p:cNvPr id="10" name="Text 8"/>
          <p:cNvSpPr/>
          <p:nvPr/>
        </p:nvSpPr>
        <p:spPr>
          <a:xfrm>
            <a:off x="676656" y="2651760"/>
            <a:ext cx="1148486" cy="1499616"/>
          </a:xfrm>
          <a:prstGeom prst="rect">
            <a:avLst/>
          </a:prstGeom>
          <a:noFill/>
          <a:ln/>
        </p:spPr>
        <p:txBody>
          <a:bodyPr wrap="square" lIns="0" tIns="0" rIns="0" bIns="0" rtlCol="0" anchor="t"/>
          <a:lstStyle/>
          <a:p>
            <a:pPr indent="0" marL="0">
              <a:lnSpc>
                <a:spcPts val="1233"/>
              </a:lnSpc>
              <a:buNone/>
            </a:pPr>
            <a:r>
              <a:rPr lang="en-US" sz="900" dirty="0">
                <a:solidFill>
                  <a:srgbClr val="3B2478"/>
                </a:solidFill>
                <a:latin typeface="Arial" pitchFamily="34" charset="0"/>
                <a:ea typeface="Arial" pitchFamily="34" charset="-122"/>
                <a:cs typeface="Arial" pitchFamily="34" charset="-120"/>
              </a:rPr>
              <a:t>The name goes into every ad, and the launch date decides where Raya falls in the plan.</a:t>
            </a:r>
            <a:endParaRPr lang="en-US" sz="900" dirty="0"/>
          </a:p>
        </p:txBody>
      </p:sp>
      <p:sp>
        <p:nvSpPr>
          <p:cNvPr id="11" name="Shape 9"/>
          <p:cNvSpPr/>
          <p:nvPr/>
        </p:nvSpPr>
        <p:spPr>
          <a:xfrm>
            <a:off x="2172614" y="1645920"/>
            <a:ext cx="1477670" cy="2633472"/>
          </a:xfrm>
          <a:prstGeom prst="rect">
            <a:avLst/>
          </a:prstGeom>
          <a:solidFill>
            <a:srgbClr val="FDF2DF"/>
          </a:solidFill>
          <a:ln/>
        </p:spPr>
      </p:sp>
      <p:sp>
        <p:nvSpPr>
          <p:cNvPr id="12" name="Shape 10"/>
          <p:cNvSpPr/>
          <p:nvPr/>
        </p:nvSpPr>
        <p:spPr>
          <a:xfrm>
            <a:off x="2172614" y="1645920"/>
            <a:ext cx="1477670" cy="54864"/>
          </a:xfrm>
          <a:prstGeom prst="rect">
            <a:avLst/>
          </a:prstGeom>
          <a:solidFill>
            <a:srgbClr val="3B2478"/>
          </a:solidFill>
          <a:ln/>
        </p:spPr>
      </p:sp>
      <p:sp>
        <p:nvSpPr>
          <p:cNvPr id="13" name="Text 11"/>
          <p:cNvSpPr/>
          <p:nvPr/>
        </p:nvSpPr>
        <p:spPr>
          <a:xfrm>
            <a:off x="2337206" y="1847088"/>
            <a:ext cx="1148486" cy="219456"/>
          </a:xfrm>
          <a:prstGeom prst="rect">
            <a:avLst/>
          </a:prstGeom>
          <a:noFill/>
          <a:ln/>
        </p:spPr>
        <p:txBody>
          <a:bodyPr wrap="square" lIns="0" tIns="0" rIns="0" bIns="0" rtlCol="0" anchor="t"/>
          <a:lstStyle/>
          <a:p>
            <a:pPr indent="0" marL="0">
              <a:buNone/>
            </a:pPr>
            <a:r>
              <a:rPr lang="en-US" sz="1100" b="1" dirty="0">
                <a:solidFill>
                  <a:srgbClr val="3B2478"/>
                </a:solidFill>
                <a:latin typeface="Arial" pitchFamily="34" charset="0"/>
                <a:ea typeface="Arial" pitchFamily="34" charset="-122"/>
                <a:cs typeface="Arial" pitchFamily="34" charset="-120"/>
              </a:rPr>
              <a:t>02</a:t>
            </a:r>
            <a:endParaRPr lang="en-US" sz="1100" dirty="0"/>
          </a:p>
        </p:txBody>
      </p:sp>
      <p:sp>
        <p:nvSpPr>
          <p:cNvPr id="14" name="Text 12"/>
          <p:cNvSpPr/>
          <p:nvPr/>
        </p:nvSpPr>
        <p:spPr>
          <a:xfrm>
            <a:off x="2337206" y="2139696"/>
            <a:ext cx="1148486" cy="512064"/>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Unit cost and price</a:t>
            </a:r>
            <a:endParaRPr lang="en-US" sz="1300" dirty="0"/>
          </a:p>
        </p:txBody>
      </p:sp>
      <p:sp>
        <p:nvSpPr>
          <p:cNvPr id="15" name="Text 13"/>
          <p:cNvSpPr/>
          <p:nvPr/>
        </p:nvSpPr>
        <p:spPr>
          <a:xfrm>
            <a:off x="2337206" y="2651760"/>
            <a:ext cx="1148486" cy="1499616"/>
          </a:xfrm>
          <a:prstGeom prst="rect">
            <a:avLst/>
          </a:prstGeom>
          <a:noFill/>
          <a:ln/>
        </p:spPr>
        <p:txBody>
          <a:bodyPr wrap="square" lIns="0" tIns="0" rIns="0" bIns="0" rtlCol="0" anchor="t"/>
          <a:lstStyle/>
          <a:p>
            <a:pPr indent="0" marL="0">
              <a:lnSpc>
                <a:spcPts val="1233"/>
              </a:lnSpc>
              <a:buNone/>
            </a:pPr>
            <a:r>
              <a:rPr lang="en-US" sz="900" dirty="0">
                <a:solidFill>
                  <a:srgbClr val="3B2478"/>
                </a:solidFill>
                <a:latin typeface="Arial" pitchFamily="34" charset="0"/>
                <a:ea typeface="Arial" pitchFamily="34" charset="-122"/>
                <a:cs typeface="Arial" pitchFamily="34" charset="-120"/>
              </a:rPr>
              <a:t>The landed cost and the final price set the cost per sale the client can afford.</a:t>
            </a:r>
            <a:endParaRPr lang="en-US" sz="900" dirty="0"/>
          </a:p>
        </p:txBody>
      </p:sp>
      <p:sp>
        <p:nvSpPr>
          <p:cNvPr id="16" name="Shape 14"/>
          <p:cNvSpPr/>
          <p:nvPr/>
        </p:nvSpPr>
        <p:spPr>
          <a:xfrm>
            <a:off x="3833165" y="1645920"/>
            <a:ext cx="1477670" cy="2633472"/>
          </a:xfrm>
          <a:prstGeom prst="rect">
            <a:avLst/>
          </a:prstGeom>
          <a:solidFill>
            <a:srgbClr val="FDF2DF"/>
          </a:solidFill>
          <a:ln/>
        </p:spPr>
      </p:sp>
      <p:sp>
        <p:nvSpPr>
          <p:cNvPr id="17" name="Shape 15"/>
          <p:cNvSpPr/>
          <p:nvPr/>
        </p:nvSpPr>
        <p:spPr>
          <a:xfrm>
            <a:off x="3833165" y="1645920"/>
            <a:ext cx="1477670" cy="54864"/>
          </a:xfrm>
          <a:prstGeom prst="rect">
            <a:avLst/>
          </a:prstGeom>
          <a:solidFill>
            <a:srgbClr val="F2A25C"/>
          </a:solidFill>
          <a:ln/>
        </p:spPr>
      </p:sp>
      <p:sp>
        <p:nvSpPr>
          <p:cNvPr id="18" name="Text 16"/>
          <p:cNvSpPr/>
          <p:nvPr/>
        </p:nvSpPr>
        <p:spPr>
          <a:xfrm>
            <a:off x="3997757" y="1847088"/>
            <a:ext cx="1148486" cy="219456"/>
          </a:xfrm>
          <a:prstGeom prst="rect">
            <a:avLst/>
          </a:prstGeom>
          <a:noFill/>
          <a:ln/>
        </p:spPr>
        <p:txBody>
          <a:bodyPr wrap="square" lIns="0" tIns="0" rIns="0" bIns="0" rtlCol="0" anchor="t"/>
          <a:lstStyle/>
          <a:p>
            <a:pPr indent="0" marL="0">
              <a:buNone/>
            </a:pPr>
            <a:r>
              <a:rPr lang="en-US" sz="1100" b="1" dirty="0">
                <a:solidFill>
                  <a:srgbClr val="F2A25C"/>
                </a:solidFill>
                <a:latin typeface="Arial" pitchFamily="34" charset="0"/>
                <a:ea typeface="Arial" pitchFamily="34" charset="-122"/>
                <a:cs typeface="Arial" pitchFamily="34" charset="-120"/>
              </a:rPr>
              <a:t>03</a:t>
            </a:r>
            <a:endParaRPr lang="en-US" sz="1100" dirty="0"/>
          </a:p>
        </p:txBody>
      </p:sp>
      <p:sp>
        <p:nvSpPr>
          <p:cNvPr id="19" name="Text 17"/>
          <p:cNvSpPr/>
          <p:nvPr/>
        </p:nvSpPr>
        <p:spPr>
          <a:xfrm>
            <a:off x="3997757" y="2139696"/>
            <a:ext cx="1148486" cy="512064"/>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A creative commitment</a:t>
            </a:r>
            <a:endParaRPr lang="en-US" sz="1300" dirty="0"/>
          </a:p>
        </p:txBody>
      </p:sp>
      <p:sp>
        <p:nvSpPr>
          <p:cNvPr id="20" name="Text 18"/>
          <p:cNvSpPr/>
          <p:nvPr/>
        </p:nvSpPr>
        <p:spPr>
          <a:xfrm>
            <a:off x="3997757" y="2651760"/>
            <a:ext cx="1148486" cy="1499616"/>
          </a:xfrm>
          <a:prstGeom prst="rect">
            <a:avLst/>
          </a:prstGeom>
          <a:noFill/>
          <a:ln/>
        </p:spPr>
        <p:txBody>
          <a:bodyPr wrap="square" lIns="0" tIns="0" rIns="0" bIns="0" rtlCol="0" anchor="t"/>
          <a:lstStyle/>
          <a:p>
            <a:pPr indent="0" marL="0">
              <a:lnSpc>
                <a:spcPts val="1233"/>
              </a:lnSpc>
              <a:buNone/>
            </a:pPr>
            <a:r>
              <a:rPr lang="en-US" sz="900" dirty="0">
                <a:solidFill>
                  <a:srgbClr val="3B2478"/>
                </a:solidFill>
                <a:latin typeface="Arial" pitchFamily="34" charset="0"/>
                <a:ea typeface="Arial" pitchFamily="34" charset="-122"/>
                <a:cs typeface="Arial" pitchFamily="34" charset="-120"/>
              </a:rPr>
              <a:t>How many posts and ads COO can produce each month, and the date of the first shoot.</a:t>
            </a:r>
            <a:endParaRPr lang="en-US" sz="900" dirty="0"/>
          </a:p>
        </p:txBody>
      </p:sp>
      <p:sp>
        <p:nvSpPr>
          <p:cNvPr id="21" name="Shape 19"/>
          <p:cNvSpPr/>
          <p:nvPr/>
        </p:nvSpPr>
        <p:spPr>
          <a:xfrm>
            <a:off x="5493715" y="1645920"/>
            <a:ext cx="1477670" cy="2633472"/>
          </a:xfrm>
          <a:prstGeom prst="rect">
            <a:avLst/>
          </a:prstGeom>
          <a:solidFill>
            <a:srgbClr val="FDF2DF"/>
          </a:solidFill>
          <a:ln/>
        </p:spPr>
      </p:sp>
      <p:sp>
        <p:nvSpPr>
          <p:cNvPr id="22" name="Shape 20"/>
          <p:cNvSpPr/>
          <p:nvPr/>
        </p:nvSpPr>
        <p:spPr>
          <a:xfrm>
            <a:off x="5493715" y="1645920"/>
            <a:ext cx="1477670" cy="54864"/>
          </a:xfrm>
          <a:prstGeom prst="rect">
            <a:avLst/>
          </a:prstGeom>
          <a:solidFill>
            <a:srgbClr val="1C120B"/>
          </a:solidFill>
          <a:ln/>
        </p:spPr>
      </p:sp>
      <p:sp>
        <p:nvSpPr>
          <p:cNvPr id="23" name="Text 21"/>
          <p:cNvSpPr/>
          <p:nvPr/>
        </p:nvSpPr>
        <p:spPr>
          <a:xfrm>
            <a:off x="5658307" y="1847088"/>
            <a:ext cx="1148486" cy="219456"/>
          </a:xfrm>
          <a:prstGeom prst="rect">
            <a:avLst/>
          </a:prstGeom>
          <a:noFill/>
          <a:ln/>
        </p:spPr>
        <p:txBody>
          <a:bodyPr wrap="square" lIns="0" tIns="0" rIns="0" bIns="0" rtlCol="0" anchor="t"/>
          <a:lstStyle/>
          <a:p>
            <a:pPr indent="0" marL="0">
              <a:buNone/>
            </a:pPr>
            <a:r>
              <a:rPr lang="en-US" sz="1100" b="1" dirty="0">
                <a:solidFill>
                  <a:srgbClr val="1C120B"/>
                </a:solidFill>
                <a:latin typeface="Arial" pitchFamily="34" charset="0"/>
                <a:ea typeface="Arial" pitchFamily="34" charset="-122"/>
                <a:cs typeface="Arial" pitchFamily="34" charset="-120"/>
              </a:rPr>
              <a:t>04</a:t>
            </a:r>
            <a:endParaRPr lang="en-US" sz="1100" dirty="0"/>
          </a:p>
        </p:txBody>
      </p:sp>
      <p:sp>
        <p:nvSpPr>
          <p:cNvPr id="24" name="Text 22"/>
          <p:cNvSpPr/>
          <p:nvPr/>
        </p:nvSpPr>
        <p:spPr>
          <a:xfrm>
            <a:off x="5658307" y="2139696"/>
            <a:ext cx="1148486" cy="512064"/>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Account access</a:t>
            </a:r>
            <a:endParaRPr lang="en-US" sz="1300" dirty="0"/>
          </a:p>
        </p:txBody>
      </p:sp>
      <p:sp>
        <p:nvSpPr>
          <p:cNvPr id="25" name="Text 23"/>
          <p:cNvSpPr/>
          <p:nvPr/>
        </p:nvSpPr>
        <p:spPr>
          <a:xfrm>
            <a:off x="5658307" y="2651760"/>
            <a:ext cx="1148486" cy="1499616"/>
          </a:xfrm>
          <a:prstGeom prst="rect">
            <a:avLst/>
          </a:prstGeom>
          <a:noFill/>
          <a:ln/>
        </p:spPr>
        <p:txBody>
          <a:bodyPr wrap="square" lIns="0" tIns="0" rIns="0" bIns="0" rtlCol="0" anchor="t"/>
          <a:lstStyle/>
          <a:p>
            <a:pPr indent="0" marL="0">
              <a:lnSpc>
                <a:spcPts val="1233"/>
              </a:lnSpc>
              <a:buNone/>
            </a:pPr>
            <a:r>
              <a:rPr lang="en-US" sz="900" dirty="0">
                <a:solidFill>
                  <a:srgbClr val="3B2478"/>
                </a:solidFill>
                <a:latin typeface="Arial" pitchFamily="34" charset="0"/>
                <a:ea typeface="Arial" pitchFamily="34" charset="-122"/>
                <a:cs typeface="Arial" pitchFamily="34" charset="-120"/>
              </a:rPr>
              <a:t>Admin access to the Meta Business portfolio, TikTok Ads Manager, Google Ads, GA4 and the website.</a:t>
            </a:r>
            <a:endParaRPr lang="en-US" sz="900" dirty="0"/>
          </a:p>
        </p:txBody>
      </p:sp>
      <p:sp>
        <p:nvSpPr>
          <p:cNvPr id="26" name="Shape 24"/>
          <p:cNvSpPr/>
          <p:nvPr/>
        </p:nvSpPr>
        <p:spPr>
          <a:xfrm>
            <a:off x="7154266" y="1645920"/>
            <a:ext cx="1477670" cy="2633472"/>
          </a:xfrm>
          <a:prstGeom prst="rect">
            <a:avLst/>
          </a:prstGeom>
          <a:solidFill>
            <a:srgbClr val="FDF2DF"/>
          </a:solidFill>
          <a:ln/>
        </p:spPr>
      </p:sp>
      <p:sp>
        <p:nvSpPr>
          <p:cNvPr id="27" name="Shape 25"/>
          <p:cNvSpPr/>
          <p:nvPr/>
        </p:nvSpPr>
        <p:spPr>
          <a:xfrm>
            <a:off x="7154266" y="1645920"/>
            <a:ext cx="1477670" cy="54864"/>
          </a:xfrm>
          <a:prstGeom prst="rect">
            <a:avLst/>
          </a:prstGeom>
          <a:solidFill>
            <a:srgbClr val="B5330F"/>
          </a:solidFill>
          <a:ln/>
        </p:spPr>
      </p:sp>
      <p:sp>
        <p:nvSpPr>
          <p:cNvPr id="28" name="Text 26"/>
          <p:cNvSpPr/>
          <p:nvPr/>
        </p:nvSpPr>
        <p:spPr>
          <a:xfrm>
            <a:off x="7318858" y="1847088"/>
            <a:ext cx="1148486" cy="219456"/>
          </a:xfrm>
          <a:prstGeom prst="rect">
            <a:avLst/>
          </a:prstGeom>
          <a:noFill/>
          <a:ln/>
        </p:spPr>
        <p:txBody>
          <a:bodyPr wrap="square" lIns="0" tIns="0" rIns="0" bIns="0" rtlCol="0" anchor="t"/>
          <a:lstStyle/>
          <a:p>
            <a:pPr indent="0" marL="0">
              <a:buNone/>
            </a:pPr>
            <a:r>
              <a:rPr lang="en-US" sz="1100" b="1" dirty="0">
                <a:solidFill>
                  <a:srgbClr val="B5330F"/>
                </a:solidFill>
                <a:latin typeface="Arial" pitchFamily="34" charset="0"/>
                <a:ea typeface="Arial" pitchFamily="34" charset="-122"/>
                <a:cs typeface="Arial" pitchFamily="34" charset="-120"/>
              </a:rPr>
              <a:t>05</a:t>
            </a:r>
            <a:endParaRPr lang="en-US" sz="1100" dirty="0"/>
          </a:p>
        </p:txBody>
      </p:sp>
      <p:sp>
        <p:nvSpPr>
          <p:cNvPr id="29" name="Text 27"/>
          <p:cNvSpPr/>
          <p:nvPr/>
        </p:nvSpPr>
        <p:spPr>
          <a:xfrm>
            <a:off x="7318858" y="2139696"/>
            <a:ext cx="1148486" cy="512064"/>
          </a:xfrm>
          <a:prstGeom prst="rect">
            <a:avLst/>
          </a:prstGeom>
          <a:noFill/>
          <a:ln/>
        </p:spPr>
        <p:txBody>
          <a:bodyPr wrap="square" lIns="0" tIns="0" rIns="0" bIns="0" rtlCol="0" anchor="t"/>
          <a:lstStyle/>
          <a:p>
            <a:pPr indent="0" marL="0">
              <a:lnSpc>
                <a:spcPts val="1600"/>
              </a:lnSpc>
              <a:buNone/>
            </a:pPr>
            <a:r>
              <a:rPr lang="en-US" sz="1300" b="1" dirty="0">
                <a:solidFill>
                  <a:srgbClr val="3B2478"/>
                </a:solidFill>
                <a:latin typeface="Arial" pitchFamily="34" charset="0"/>
                <a:ea typeface="Arial" pitchFamily="34" charset="-122"/>
                <a:cs typeface="Arial" pitchFamily="34" charset="-120"/>
              </a:rPr>
              <a:t>A store ready to sell</a:t>
            </a:r>
            <a:endParaRPr lang="en-US" sz="1300" dirty="0"/>
          </a:p>
        </p:txBody>
      </p:sp>
      <p:sp>
        <p:nvSpPr>
          <p:cNvPr id="30" name="Text 28"/>
          <p:cNvSpPr/>
          <p:nvPr/>
        </p:nvSpPr>
        <p:spPr>
          <a:xfrm>
            <a:off x="7318858" y="2651760"/>
            <a:ext cx="1148486" cy="1499616"/>
          </a:xfrm>
          <a:prstGeom prst="rect">
            <a:avLst/>
          </a:prstGeom>
          <a:noFill/>
          <a:ln/>
        </p:spPr>
        <p:txBody>
          <a:bodyPr wrap="square" lIns="0" tIns="0" rIns="0" bIns="0" rtlCol="0" anchor="t"/>
          <a:lstStyle/>
          <a:p>
            <a:pPr indent="0" marL="0">
              <a:lnSpc>
                <a:spcPts val="1233"/>
              </a:lnSpc>
              <a:buNone/>
            </a:pPr>
            <a:r>
              <a:rPr lang="en-US" sz="900" dirty="0">
                <a:solidFill>
                  <a:srgbClr val="3B2478"/>
                </a:solidFill>
                <a:latin typeface="Arial" pitchFamily="34" charset="0"/>
                <a:ea typeface="Arial" pitchFamily="34" charset="-122"/>
                <a:cs typeface="Arial" pitchFamily="34" charset="-120"/>
              </a:rPr>
              <a:t>Product pages with sizes, momme and hem close-ups, card and FPX payment, delivery times and returns.</a:t>
            </a:r>
            <a:endParaRPr lang="en-US" sz="900" dirty="0"/>
          </a:p>
        </p:txBody>
      </p:sp>
      <p:sp>
        <p:nvSpPr>
          <p:cNvPr id="31" name="Shape 29"/>
          <p:cNvSpPr/>
          <p:nvPr/>
        </p:nvSpPr>
        <p:spPr>
          <a:xfrm>
            <a:off x="438912" y="4434840"/>
            <a:ext cx="8266176" cy="402336"/>
          </a:xfrm>
          <a:prstGeom prst="rect">
            <a:avLst/>
          </a:prstGeom>
          <a:solidFill>
            <a:srgbClr val="FDF2DF"/>
          </a:solidFill>
          <a:ln/>
        </p:spPr>
      </p:sp>
      <p:sp>
        <p:nvSpPr>
          <p:cNvPr id="32" name="Text 30"/>
          <p:cNvSpPr/>
          <p:nvPr/>
        </p:nvSpPr>
        <p:spPr>
          <a:xfrm>
            <a:off x="658368" y="4453128"/>
            <a:ext cx="7827264" cy="365760"/>
          </a:xfrm>
          <a:prstGeom prst="rect">
            <a:avLst/>
          </a:prstGeom>
          <a:noFill/>
          <a:ln/>
        </p:spPr>
        <p:txBody>
          <a:bodyPr wrap="square" lIns="0" tIns="0" rIns="0" bIns="0" rtlCol="0" anchor="ctr"/>
          <a:lstStyle/>
          <a:p>
            <a:pPr indent="0" marL="0">
              <a:lnSpc>
                <a:spcPts val="1200"/>
              </a:lnSpc>
              <a:buNone/>
            </a:pPr>
            <a:r>
              <a:rPr lang="en-US" sz="950" b="1" dirty="0">
                <a:solidFill>
                  <a:srgbClr val="3B2478"/>
                </a:solidFill>
                <a:latin typeface="Arial" pitchFamily="34" charset="0"/>
                <a:ea typeface="Arial" pitchFamily="34" charset="-122"/>
                <a:cs typeface="Arial" pitchFamily="34" charset="-120"/>
              </a:rPr>
              <a:t>Prepared by Toggle Solutions for COO. Working notes and sources sit in the speaker notes of every slide.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Toggle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new silk house, 12-month paid and organic social plan</dc:title>
  <dc:subject>Prepared for COO</dc:subject>
  <dc:creator>Toggle Solutions</dc:creator>
  <cp:lastModifiedBy>Toggle Solutions</cp:lastModifiedBy>
  <cp:revision>1</cp:revision>
  <dcterms:created xsi:type="dcterms:W3CDTF">2026-09-23T12:01:32Z</dcterms:created>
  <dcterms:modified xsi:type="dcterms:W3CDTF">2026-09-23T12:01:32Z</dcterms:modified>
</cp:coreProperties>
</file>