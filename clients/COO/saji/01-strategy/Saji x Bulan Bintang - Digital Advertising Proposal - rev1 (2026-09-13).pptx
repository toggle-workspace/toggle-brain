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Toggle supports pillars 2 and 3, the Buy and Win contest and digital amplification. COO owns the contest mechanics and the brand video.
Pitch 21 Sept 2026, submission 24 Sept, award expected 17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argument on one page. If COO shows nothing else, show this.
Entry history: 11,834 (2022), 8,464 (2023), 7,576 (2024), 4,179 (2025), 3,765 (2026). Source: RARA 2025 and RARA 2026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engagement figure of 0.04M against 51M impressions is 0.08%. The 2025 figure of 1.88M against 51.6M is 3.6%. Those two cannot be measured the same way, which is why the engagement definition is a question for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RM25 to RM175 is seven times the cost of entry. 2026 got 3,765 entries at RM25. Asking for 4,000 at RM175 is not a 6% increase in ambition, it is a much larger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the client brief slide describing the Malay housewife target, the Kak Ji mascot rationale in the RARA 2026 deck, Bulan Bintang’s RM289 price point and 14 boutiques, and COO’s note that Bulan Bintang is stronger outside the city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Low-key Raya idea comes from the client’s own WhatsApp message in the Marketing Leads group, captured on slide 6 of the blank canvas deck: "Less noise. More meaning. Less showing. More feeling. Less extravagance. More togetherness."
The tone slide sets the personality as humble, warm, genuine,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HeroMarket x Tyson and First Pride, everydayonsales.com, 1 Aug to 30 Sep 2026.
Guardian x BRAND’S x Christy Ng, 1 Sep to 31 Oct 2025.
100PLUS x SHALS "Raya Lebih Fresh Dengan 100PLUS", brandinginasia.com, 17 Jan to 15 Apr 2026.
AEON Merdeka Shop and Win, syioknya.com, 30 Jul to 31 Aug 2026.
Bulan Bintang Terrrpaling Raya Finale, verified live on bulan-bintang.com.my, RM400,000 cash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 counts are the same journey described two ways, not a modelled drop-off. Nine steps as briefed, six with the pop-up.
The real gain is not the three steps saved. It is that steps four to six in the briefed journey span days, and a receipt that has to survive days is a receipt that gets lost. In the pop-up journey the two receipts are printed minutes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Bulan Bintang runs 14 boutiques at roughly RM289 a piece, per their own site and the StoreHub profile. COO described them in the room as mid-range and stronger outside the city.
Two things to say out loud when this slide is up. First, none of the budget options in this deck carry a ringgit of pop-up build, stock or staffing cost. That sits with on-ground, not with the digital line. Second, we are claiming M40, not T20. A RM289 baju from a suburban boutique supports an M40 read. We have no evidence for T20 and are not going to assert it.
This is also the answer to slide 9. The HeroMarket lesson was that two brands work when both sit in the same basket. A counter inside the boutique is how you put them there without touching the client’s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production constraints to raise before anyone commits to this in front of the client.
A Golden Ticket cannot go inside a bottle of cooking oil. It has to sit under the cap, on a neck tag or inside the outer carton, and that is a packaging line change with its own lead time. It needs to be locked with the permit in mid December.
A randomized ticket is a second game of chance sitting alongside the weekly draw. Counsel should confirm whether both can be named in one permit under the Common Gaming Houses Act 1953, or whether the Golden Ticket needs its own.
RM50 is our proposal for the mystery gift threshold, double the entry floor. The client sets the real number, and the gift cost sits with on-ground rather than with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40 winners at RM2,900 is RM116,000, plus a RM29,000 Golden Ticket, which is RM145,000 exactly. The briefed structure was 50 winners at RM2,900, which is the same RM145,000. Nothing has been added to the client’s budget.
If the client will not give up ten winners, the alternative is to keep all 50 and ask Bulan Bintang to fund the Golden Ticket. That is the same partner conversation as card three, and it can be put as one ask rather than two.
On weekly draws: COO’s working deck proposes four draws across a 10 week window, which leaves six weeks with no winning moment. Four winners a week for ten weeks keeps a winner in every week. In 2025 the contest ran roughly 2,000 winners against 4,179 entries and held entries better than any year since, so visible winning is what keeps people entering. Confirm that 2025 figure against the source deck before quoting it, since the PDF columns are loose.
Card three is an option, not something we have costed into any budget figure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RM18 and not RM9. The rev0 model planned on 4.0%, which was the right rate for a mechanic where one purchase qualified. This proposal keeps the client’s two-purchase, two-receipt mechanic, so the planning rate halves to 2.0% as a safety margin. Every prior year of this contest asked for a single brand purchase, so there is no Saji data point for a two-receipt entry rate and nothing to borrow from the Malaysian benchmarks either.
The consequence is on the next two slides: the contest line grows from RM45,000 to RM72,000, which is what 4,000 entries costs at RM18.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RM135,000 that rev0 recommended, rebalanced. The contest line moves from RM45,000 to RM72,000 and the video lines give up RM27,000 to fund it. Entries and reach both still clear, but neither has room left, and paid views fall from 20.1M to 14.7M.
If the client will only sign one number, this is the one to sign. If they want the views target defended on paid alone, that is Option 2.
Line detail: contest Meta RM36,000 and TikTok RM36,000, video TikTok RM30,000, video Meta RM12,000, Spark RM9,000, YouTube RM12,000.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contest line does not grow between the two options, because RM72,000 is already what 4,000 entries costs at RM18 and buying past the target would buy entries the prize pool cannot reward. Every extra ringgit goes to views and reach.
Line detail: contest Meta RM36,000 and TikTok RM36,000, video TikTok RM40,000, video Meta RM18,000, Spark RM12,000, YouTube RM18,000. Blended CPM RM4.36.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TikTok carries the majority in both options, 56% and 55%, because a view costs least there and a contest session costs RM0.30 against Meta’s RM0.45. Meta holds 36% and 34%. Google takes 9% and 11%.
Contest conversion is split evenly between Meta and TikTok in both options, so neither platform is trusted with the whole entry target before we have live data.
Google carries no contest budget by design. YouTube cannot optimize toward a receipt upload the way Meta and TikTok can, so it works the brand film and leaves entries to the other two.
Reconciliation: 48,000 + 75,000 + 12,000 = 135,000. 54,000 + 88,000 + 18,000 = 160,000.
None of these figures include pop-up build, stock, staffing, the mystery gift or the Golden Ticket packaging change. Those sit with on-ground and with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30/70 split was set against Bulan Bintang’s suburban skew before the pop-up was on the table. Now that the boutiques carry the mechanic, the split should be set against the real store list, which we do not have. That is a question for the client on slide 28.
The boutique radius layer is a targeting layer inside the same two campaigns, not a third campaign and not extra budget. It runs store-traffic creative to people within reach of a pop-up, while the broad layer keeps working the rest of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working page ships alongside this deck as tersaji-raya-2027-contest-landing-page-rev1.html. It is responsive, verified at 360, 390 and 1000 pixels, and carries the client’s briefed mechanic with the pop-up as the entry route.
Two things on the page are not finished and should not be shown as if they are. The entry count, winner count and named winners are placeholder data and must read from the live database before launch. The form validates and shows a thank-you state, but the submit handler still needs wiring to a real endpoint with receipt storage and the Meta and TikTok conversion events that the whole media argument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pop-up locator is the revenue driving element for Bulan Bintang. It puts all 14 boutiques in front of every visitor, including the ones who arrived from a Saji ad and had no plan to visit a store.
Benchmarks: Woobox and KickoffLabs on giveaway landing page conversion and first viewport composition; embedded versus popup form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dates the client’s own slides disagree on: the campaign house slide says the launch event is 25 January, the project timeline slide says 28 January. We have planned on 25 January and flagged it.
The contest runs 24 days before the brand film exists, which is why contest creative has to carry weeks 1 to 3 on its own.
Mid December now carries three locks, not one: the permit, the Golden Ticket packaging change and the Bulan Bintang floor space agreement. The packaging line has the longest lead time of the three, so it sets the date. Pop-up build, stock and staffing have to be done before 1 February, because the contest ads go live that day and they point people at a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024128"/>
            <a:ext cx="5486400" cy="292608"/>
          </a:xfrm>
          <a:prstGeom prst="rect">
            <a:avLst/>
          </a:prstGeom>
          <a:noFill/>
          <a:ln/>
        </p:spPr>
        <p:txBody>
          <a:bodyPr wrap="square" lIns="0" tIns="0" rIns="0" bIns="0" rtlCol="0" anchor="t"/>
          <a:lstStyle/>
          <a:p>
            <a:pPr indent="0" marL="0">
              <a:buNone/>
            </a:pPr>
            <a:r>
              <a:rPr lang="en-US" sz="1400" b="1" dirty="0">
                <a:solidFill>
                  <a:srgbClr val="F5EC2E"/>
                </a:solidFill>
                <a:latin typeface="Century Gothic" pitchFamily="34" charset="0"/>
                <a:ea typeface="Century Gothic" pitchFamily="34" charset="-122"/>
                <a:cs typeface="Century Gothic" pitchFamily="34" charset="-120"/>
              </a:rPr>
              <a:t>Ramadan Raya 2027</a:t>
            </a:r>
            <a:endParaRPr lang="en-US" sz="1400" dirty="0"/>
          </a:p>
        </p:txBody>
      </p:sp>
      <p:sp>
        <p:nvSpPr>
          <p:cNvPr id="4" name="Text 2"/>
          <p:cNvSpPr/>
          <p:nvPr/>
        </p:nvSpPr>
        <p:spPr>
          <a:xfrm>
            <a:off x="640080" y="1572768"/>
            <a:ext cx="731520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entury Gothic" pitchFamily="34" charset="0"/>
                <a:ea typeface="Century Gothic" pitchFamily="34" charset="-122"/>
                <a:cs typeface="Century Gothic" pitchFamily="34" charset="-120"/>
              </a:rPr>
              <a:t>Digital Advertising Proposal</a:t>
            </a:r>
            <a:endParaRPr lang="en-US" sz="4000" dirty="0"/>
          </a:p>
        </p:txBody>
      </p:sp>
      <p:sp>
        <p:nvSpPr>
          <p:cNvPr id="5" name="Text 3"/>
          <p:cNvSpPr/>
          <p:nvPr/>
        </p:nvSpPr>
        <p:spPr>
          <a:xfrm>
            <a:off x="640080" y="2743200"/>
            <a:ext cx="6400800" cy="457200"/>
          </a:xfrm>
          <a:prstGeom prst="rect">
            <a:avLst/>
          </a:prstGeom>
          <a:noFill/>
          <a:ln/>
        </p:spPr>
        <p:txBody>
          <a:bodyPr wrap="square" lIns="0" tIns="0" rIns="0" bIns="0" rtlCol="0" anchor="t"/>
          <a:lstStyle/>
          <a:p>
            <a:pPr indent="0" marL="0">
              <a:buNone/>
            </a:pPr>
            <a:r>
              <a:rPr lang="en-US" sz="2100" dirty="0">
                <a:solidFill>
                  <a:srgbClr val="F8C84A"/>
                </a:solidFill>
                <a:latin typeface="Century Gothic" pitchFamily="34" charset="0"/>
                <a:ea typeface="Century Gothic" pitchFamily="34" charset="-122"/>
                <a:cs typeface="Century Gothic" pitchFamily="34" charset="-120"/>
              </a:rPr>
              <a:t>Saji  x  Bulan Bintang</a:t>
            </a:r>
            <a:endParaRPr lang="en-US" sz="2100" dirty="0"/>
          </a:p>
        </p:txBody>
      </p:sp>
      <p:sp>
        <p:nvSpPr>
          <p:cNvPr id="6" name="Text 4"/>
          <p:cNvSpPr/>
          <p:nvPr/>
        </p:nvSpPr>
        <p:spPr>
          <a:xfrm>
            <a:off x="640080" y="3310128"/>
            <a:ext cx="5852160" cy="731520"/>
          </a:xfrm>
          <a:prstGeom prst="rect">
            <a:avLst/>
          </a:prstGeom>
          <a:noFill/>
          <a:ln/>
        </p:spPr>
        <p:txBody>
          <a:bodyPr wrap="square" lIns="0" tIns="0" rIns="0" bIns="0" rtlCol="0" anchor="t"/>
          <a:lstStyle/>
          <a:p>
            <a:pPr indent="0" marL="0">
              <a:lnSpc>
                <a:spcPts val="1800"/>
              </a:lnSpc>
              <a:buNone/>
            </a:pPr>
            <a:r>
              <a:rPr lang="en-US" sz="1200" dirty="0">
                <a:solidFill>
                  <a:srgbClr val="B8CFBE"/>
                </a:solidFill>
                <a:latin typeface="Century Gothic" pitchFamily="34" charset="0"/>
                <a:ea typeface="Century Gothic" pitchFamily="34" charset="-122"/>
                <a:cs typeface="Century Gothic" pitchFamily="34" charset="-120"/>
              </a:rPr>
              <a:t>Turning the Buy and Win contest into a measurable conversion campaign, and funding the brand video separately from it.</a:t>
            </a:r>
            <a:endParaRPr lang="en-US" sz="1200" dirty="0"/>
          </a:p>
        </p:txBody>
      </p:sp>
      <p:sp>
        <p:nvSpPr>
          <p:cNvPr id="7" name="Text 5"/>
          <p:cNvSpPr/>
          <p:nvPr/>
        </p:nvSpPr>
        <p:spPr>
          <a:xfrm>
            <a:off x="640080" y="4462272"/>
            <a:ext cx="7863840" cy="274320"/>
          </a:xfrm>
          <a:prstGeom prst="rect">
            <a:avLst/>
          </a:prstGeom>
          <a:noFill/>
          <a:ln/>
        </p:spPr>
        <p:txBody>
          <a:bodyPr wrap="square" lIns="0" tIns="0" rIns="0" bIns="0" rtlCol="0" anchor="t"/>
          <a:lstStyle/>
          <a:p>
            <a:pPr indent="0" marL="0">
              <a:buNone/>
            </a:pPr>
            <a:r>
              <a:rPr lang="en-US" sz="950" dirty="0">
                <a:solidFill>
                  <a:srgbClr val="FFFFFF"/>
                </a:solidFill>
                <a:latin typeface="Century Gothic" pitchFamily="34" charset="0"/>
                <a:ea typeface="Century Gothic" pitchFamily="34" charset="-122"/>
                <a:cs typeface="Century Gothic" pitchFamily="34" charset="-120"/>
              </a:rPr>
              <a:t>Prepared by Toggle Solutions for COO  ·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68680"/>
          </a:xfrm>
          <a:prstGeom prst="rect">
            <a:avLst/>
          </a:prstGeom>
          <a:noFill/>
          <a:ln/>
        </p:spPr>
        <p:txBody>
          <a:bodyPr wrap="square" lIns="0" tIns="0" rIns="0" bIns="0" rtlCol="0" anchor="t"/>
          <a:lstStyle/>
          <a:p>
            <a:pPr indent="0" marL="0">
              <a:lnSpc>
                <a:spcPts val="2950"/>
              </a:lnSpc>
              <a:buNone/>
            </a:pPr>
            <a:r>
              <a:rPr lang="en-US" sz="2500" dirty="0">
                <a:solidFill>
                  <a:srgbClr val="006838"/>
                </a:solidFill>
                <a:latin typeface="Arial Black" pitchFamily="34" charset="0"/>
                <a:ea typeface="Arial Black" pitchFamily="34" charset="-122"/>
                <a:cs typeface="Arial Black" pitchFamily="34" charset="-120"/>
              </a:rPr>
              <a:t>Five years of falling entries. </a:t>
            </a:r>
            <a:pPr indent="0" marL="0">
              <a:lnSpc>
                <a:spcPts val="2950"/>
              </a:lnSpc>
              <a:buNone/>
            </a:pPr>
            <a:r>
              <a:rPr lang="en-US" sz="2500" dirty="0">
                <a:solidFill>
                  <a:srgbClr val="C5192B"/>
                </a:solidFill>
                <a:latin typeface="Arial Black" pitchFamily="34" charset="0"/>
                <a:ea typeface="Arial Black" pitchFamily="34" charset="-122"/>
                <a:cs typeface="Arial Black" pitchFamily="34" charset="-120"/>
              </a:rPr>
              <a:t>One fixable cause.</a:t>
            </a:r>
            <a:endParaRPr lang="en-US" sz="2500" dirty="0"/>
          </a:p>
        </p:txBody>
      </p:sp>
      <p:sp>
        <p:nvSpPr>
          <p:cNvPr id="4" name="Text 2"/>
          <p:cNvSpPr/>
          <p:nvPr/>
        </p:nvSpPr>
        <p:spPr>
          <a:xfrm>
            <a:off x="512064" y="1481328"/>
            <a:ext cx="7795077" cy="42062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Saji has bought more media every year and collected fewer contest entries every year. The 2027 brief asks for more entries again, while raising the price of entry from RM25 to RM175. This is what we would do about it.</a:t>
            </a:r>
            <a:endParaRPr lang="en-US" sz="1100" dirty="0"/>
          </a:p>
        </p:txBody>
      </p:sp>
      <p:sp>
        <p:nvSpPr>
          <p:cNvPr id="5" name="Shape 3"/>
          <p:cNvSpPr/>
          <p:nvPr/>
        </p:nvSpPr>
        <p:spPr>
          <a:xfrm>
            <a:off x="512064" y="1975104"/>
            <a:ext cx="1892808" cy="2340864"/>
          </a:xfrm>
          <a:prstGeom prst="rect">
            <a:avLst/>
          </a:prstGeom>
          <a:solidFill>
            <a:srgbClr val="E9F3DD"/>
          </a:solidFill>
          <a:ln/>
        </p:spPr>
      </p:sp>
      <p:sp>
        <p:nvSpPr>
          <p:cNvPr id="6" name="Shape 4"/>
          <p:cNvSpPr/>
          <p:nvPr/>
        </p:nvSpPr>
        <p:spPr>
          <a:xfrm>
            <a:off x="512064" y="1975104"/>
            <a:ext cx="1892808" cy="54864"/>
          </a:xfrm>
          <a:prstGeom prst="rect">
            <a:avLst/>
          </a:prstGeom>
          <a:solidFill>
            <a:srgbClr val="C5192B"/>
          </a:solidFill>
          <a:ln/>
        </p:spPr>
      </p:sp>
      <p:sp>
        <p:nvSpPr>
          <p:cNvPr id="7" name="Text 5"/>
          <p:cNvSpPr/>
          <p:nvPr/>
        </p:nvSpPr>
        <p:spPr>
          <a:xfrm>
            <a:off x="676656" y="2157984"/>
            <a:ext cx="1563624"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PROBLEM</a:t>
            </a:r>
            <a:endParaRPr lang="en-US" sz="800" dirty="0"/>
          </a:p>
        </p:txBody>
      </p:sp>
      <p:sp>
        <p:nvSpPr>
          <p:cNvPr id="9" name="Text 7"/>
          <p:cNvSpPr/>
          <p:nvPr/>
        </p:nvSpPr>
        <p:spPr>
          <a:xfrm>
            <a:off x="676656"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Views up, entries down</a:t>
            </a:r>
            <a:endParaRPr lang="en-US" sz="1200" dirty="0"/>
          </a:p>
        </p:txBody>
      </p:sp>
      <p:sp>
        <p:nvSpPr>
          <p:cNvPr id="10" name="Text 8"/>
          <p:cNvSpPr/>
          <p:nvPr/>
        </p:nvSpPr>
        <p:spPr>
          <a:xfrm>
            <a:off x="676656"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2026 delivered 38.82M views, 3.5 times 2025, and the lowest entry count on record at 3,765. Media was bought against impressions, and impressions is what it returned.</a:t>
            </a:r>
            <a:endParaRPr lang="en-US" sz="900" dirty="0"/>
          </a:p>
        </p:txBody>
      </p:sp>
      <p:sp>
        <p:nvSpPr>
          <p:cNvPr id="11" name="Shape 9"/>
          <p:cNvSpPr/>
          <p:nvPr/>
        </p:nvSpPr>
        <p:spPr>
          <a:xfrm>
            <a:off x="2587752" y="1975104"/>
            <a:ext cx="1892808" cy="2340864"/>
          </a:xfrm>
          <a:prstGeom prst="rect">
            <a:avLst/>
          </a:prstGeom>
          <a:solidFill>
            <a:srgbClr val="E9F3DD"/>
          </a:solidFill>
          <a:ln/>
        </p:spPr>
      </p:sp>
      <p:sp>
        <p:nvSpPr>
          <p:cNvPr id="12" name="Shape 10"/>
          <p:cNvSpPr/>
          <p:nvPr/>
        </p:nvSpPr>
        <p:spPr>
          <a:xfrm>
            <a:off x="2587752" y="1975104"/>
            <a:ext cx="1892808" cy="54864"/>
          </a:xfrm>
          <a:prstGeom prst="rect">
            <a:avLst/>
          </a:prstGeom>
          <a:solidFill>
            <a:srgbClr val="006838"/>
          </a:solidFill>
          <a:ln/>
        </p:spPr>
      </p:sp>
      <p:sp>
        <p:nvSpPr>
          <p:cNvPr id="13" name="Text 11"/>
          <p:cNvSpPr/>
          <p:nvPr/>
        </p:nvSpPr>
        <p:spPr>
          <a:xfrm>
            <a:off x="2752344" y="2157984"/>
            <a:ext cx="1563624"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2752344"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MECHANIC</a:t>
            </a:r>
            <a:endParaRPr lang="en-US" sz="800" dirty="0"/>
          </a:p>
        </p:txBody>
      </p:sp>
      <p:sp>
        <p:nvSpPr>
          <p:cNvPr id="15" name="Text 13"/>
          <p:cNvSpPr/>
          <p:nvPr/>
        </p:nvSpPr>
        <p:spPr>
          <a:xfrm>
            <a:off x="2752344"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Keep the rules, move the shop</a:t>
            </a:r>
            <a:endParaRPr lang="en-US" sz="1200" dirty="0"/>
          </a:p>
        </p:txBody>
      </p:sp>
      <p:sp>
        <p:nvSpPr>
          <p:cNvPr id="16" name="Text 14"/>
          <p:cNvSpPr/>
          <p:nvPr/>
        </p:nvSpPr>
        <p:spPr>
          <a:xfrm>
            <a:off x="2752344"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The mechanic stays exactly as briefed. A Saji pop-up inside every Bulan Bintang boutique collapses two trips into one, so the RM175 survives and the friction does not.</a:t>
            </a:r>
            <a:endParaRPr lang="en-US" sz="900" dirty="0"/>
          </a:p>
        </p:txBody>
      </p:sp>
      <p:sp>
        <p:nvSpPr>
          <p:cNvPr id="17" name="Shape 15"/>
          <p:cNvSpPr/>
          <p:nvPr/>
        </p:nvSpPr>
        <p:spPr>
          <a:xfrm>
            <a:off x="4663440" y="1975104"/>
            <a:ext cx="1892808" cy="2340864"/>
          </a:xfrm>
          <a:prstGeom prst="rect">
            <a:avLst/>
          </a:prstGeom>
          <a:solidFill>
            <a:srgbClr val="E9F3DD"/>
          </a:solidFill>
          <a:ln/>
        </p:spPr>
      </p:sp>
      <p:sp>
        <p:nvSpPr>
          <p:cNvPr id="18" name="Shape 16"/>
          <p:cNvSpPr/>
          <p:nvPr/>
        </p:nvSpPr>
        <p:spPr>
          <a:xfrm>
            <a:off x="4663440" y="1975104"/>
            <a:ext cx="1892808" cy="54864"/>
          </a:xfrm>
          <a:prstGeom prst="rect">
            <a:avLst/>
          </a:prstGeom>
          <a:solidFill>
            <a:srgbClr val="E8912C"/>
          </a:solidFill>
          <a:ln/>
        </p:spPr>
      </p:sp>
      <p:sp>
        <p:nvSpPr>
          <p:cNvPr id="19" name="Text 17"/>
          <p:cNvSpPr/>
          <p:nvPr/>
        </p:nvSpPr>
        <p:spPr>
          <a:xfrm>
            <a:off x="4828032" y="2157984"/>
            <a:ext cx="1563624"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4828032"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STRUCTURE</a:t>
            </a:r>
            <a:endParaRPr lang="en-US" sz="800" dirty="0"/>
          </a:p>
        </p:txBody>
      </p:sp>
      <p:sp>
        <p:nvSpPr>
          <p:cNvPr id="21" name="Text 19"/>
          <p:cNvSpPr/>
          <p:nvPr/>
        </p:nvSpPr>
        <p:spPr>
          <a:xfrm>
            <a:off x="4828032"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Two engines, funded apart</a:t>
            </a:r>
            <a:endParaRPr lang="en-US" sz="1200" dirty="0"/>
          </a:p>
        </p:txBody>
      </p:sp>
      <p:sp>
        <p:nvSpPr>
          <p:cNvPr id="22" name="Text 20"/>
          <p:cNvSpPr/>
          <p:nvPr/>
        </p:nvSpPr>
        <p:spPr>
          <a:xfrm>
            <a:off x="4828032"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A contest conversion engine on a landing page with a pixel, and a brand video engine on TikTok, Meta and YouTube. Different budgets, measured separately.</a:t>
            </a:r>
            <a:endParaRPr lang="en-US" sz="900" dirty="0"/>
          </a:p>
        </p:txBody>
      </p:sp>
      <p:sp>
        <p:nvSpPr>
          <p:cNvPr id="23" name="Shape 21"/>
          <p:cNvSpPr/>
          <p:nvPr/>
        </p:nvSpPr>
        <p:spPr>
          <a:xfrm>
            <a:off x="6739128" y="1975104"/>
            <a:ext cx="1892808" cy="2340864"/>
          </a:xfrm>
          <a:prstGeom prst="rect">
            <a:avLst/>
          </a:prstGeom>
          <a:solidFill>
            <a:srgbClr val="E9F3DD"/>
          </a:solidFill>
          <a:ln/>
        </p:spPr>
      </p:sp>
      <p:sp>
        <p:nvSpPr>
          <p:cNvPr id="24" name="Shape 22"/>
          <p:cNvSpPr/>
          <p:nvPr/>
        </p:nvSpPr>
        <p:spPr>
          <a:xfrm>
            <a:off x="6739128" y="1975104"/>
            <a:ext cx="1892808" cy="54864"/>
          </a:xfrm>
          <a:prstGeom prst="rect">
            <a:avLst/>
          </a:prstGeom>
          <a:solidFill>
            <a:srgbClr val="052B18"/>
          </a:solidFill>
          <a:ln/>
        </p:spPr>
      </p:sp>
      <p:sp>
        <p:nvSpPr>
          <p:cNvPr id="25" name="Text 23"/>
          <p:cNvSpPr/>
          <p:nvPr/>
        </p:nvSpPr>
        <p:spPr>
          <a:xfrm>
            <a:off x="6903720" y="2157984"/>
            <a:ext cx="1563624" cy="219456"/>
          </a:xfrm>
          <a:prstGeom prst="rect">
            <a:avLst/>
          </a:prstGeom>
          <a:noFill/>
          <a:ln/>
        </p:spPr>
        <p:txBody>
          <a:bodyPr wrap="none" lIns="0" tIns="0" rIns="0" bIns="0" rtlCol="0" anchor="t"/>
          <a:lstStyle/>
          <a:p>
            <a:pPr indent="0" marL="0">
              <a:buNone/>
            </a:pPr>
            <a:r>
              <a:rPr lang="en-US" sz="1100" b="1" dirty="0">
                <a:solidFill>
                  <a:srgbClr val="052B18"/>
                </a:solidFill>
                <a:latin typeface="Arial" pitchFamily="34" charset="0"/>
                <a:ea typeface="Arial" pitchFamily="34" charset="-122"/>
                <a:cs typeface="Arial" pitchFamily="34" charset="-120"/>
              </a:rPr>
              <a:t>04</a:t>
            </a:r>
            <a:endParaRPr lang="en-US" sz="1100" dirty="0"/>
          </a:p>
        </p:txBody>
      </p:sp>
      <p:sp>
        <p:nvSpPr>
          <p:cNvPr id="26" name="Text 24"/>
          <p:cNvSpPr/>
          <p:nvPr/>
        </p:nvSpPr>
        <p:spPr>
          <a:xfrm>
            <a:off x="6903720" y="2432304"/>
            <a:ext cx="1563624"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BUDGET</a:t>
            </a:r>
            <a:endParaRPr lang="en-US" sz="800" dirty="0"/>
          </a:p>
        </p:txBody>
      </p:sp>
      <p:sp>
        <p:nvSpPr>
          <p:cNvPr id="27" name="Text 25"/>
          <p:cNvSpPr/>
          <p:nvPr/>
        </p:nvSpPr>
        <p:spPr>
          <a:xfrm>
            <a:off x="6903720" y="2642616"/>
            <a:ext cx="1563624"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RM135,000 or RM160,000</a:t>
            </a:r>
            <a:endParaRPr lang="en-US" sz="1200" dirty="0"/>
          </a:p>
        </p:txBody>
      </p:sp>
      <p:sp>
        <p:nvSpPr>
          <p:cNvPr id="28" name="Text 26"/>
          <p:cNvSpPr/>
          <p:nvPr/>
        </p:nvSpPr>
        <p:spPr>
          <a:xfrm>
            <a:off x="6903720" y="3136392"/>
            <a:ext cx="1563624" cy="1033272"/>
          </a:xfrm>
          <a:prstGeom prst="rect">
            <a:avLst/>
          </a:prstGeom>
          <a:noFill/>
          <a:ln/>
        </p:spPr>
        <p:txBody>
          <a:bodyPr wrap="square" lIns="0" tIns="0" rIns="0" bIns="0" rtlCol="0" anchor="t"/>
          <a:lstStyle/>
          <a:p>
            <a:pPr indent="0" marL="0">
              <a:lnSpc>
                <a:spcPts val="1250"/>
              </a:lnSpc>
              <a:buNone/>
            </a:pPr>
            <a:r>
              <a:rPr lang="en-US" sz="900" dirty="0">
                <a:solidFill>
                  <a:srgbClr val="006838"/>
                </a:solidFill>
                <a:latin typeface="Arial" pitchFamily="34" charset="0"/>
                <a:ea typeface="Arial" pitchFamily="34" charset="-122"/>
                <a:cs typeface="Arial" pitchFamily="34" charset="-120"/>
              </a:rPr>
              <a:t>Both planned at a conservative RM18 per entry. RM135,000 clears entries and reach with nothing to spare. RM160,000 clears all three KPIs on paid alone. Neither counts non paid contribution.</a:t>
            </a:r>
            <a:endParaRPr lang="en-US" sz="900" dirty="0"/>
          </a:p>
        </p:txBody>
      </p:sp>
      <p:sp>
        <p:nvSpPr>
          <p:cNvPr id="29" name="Shape 27"/>
          <p:cNvSpPr/>
          <p:nvPr/>
        </p:nvSpPr>
        <p:spPr>
          <a:xfrm>
            <a:off x="438912" y="4443984"/>
            <a:ext cx="8266176" cy="402336"/>
          </a:xfrm>
          <a:prstGeom prst="rect">
            <a:avLst/>
          </a:prstGeom>
          <a:solidFill>
            <a:srgbClr val="052B18"/>
          </a:solidFill>
          <a:ln/>
        </p:spPr>
      </p:sp>
      <p:sp>
        <p:nvSpPr>
          <p:cNvPr id="30" name="Text 2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ask: </a:t>
            </a:r>
            <a:pPr indent="0" marL="0">
              <a:buNone/>
            </a:pPr>
            <a:r>
              <a:rPr lang="en-US" sz="950" b="1" dirty="0">
                <a:solidFill>
                  <a:srgbClr val="FFFFFF"/>
                </a:solidFill>
                <a:latin typeface="Arial" pitchFamily="34" charset="0"/>
                <a:ea typeface="Arial" pitchFamily="34" charset="-122"/>
                <a:cs typeface="Arial" pitchFamily="34" charset="-120"/>
              </a:rPr>
              <a:t>a landing page instead of a QR code in the ad. Without it no platform can optimize toward an entry, which is exactly why 2026 bought views and not entries.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More reach every year.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Fewer entries every year.</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last column is the one that matters. It is how many contest entries each million people reached actually produced, and it has fallen by 90% since 2022.</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12064" y="1938528"/>
          <a:ext cx="8119872" cy="914400"/>
        </p:xfrm>
        <a:graphic>
          <a:graphicData uri="http://schemas.openxmlformats.org/drawingml/2006/table">
            <a:tbl>
              <a:tblPr/>
              <a:tblGrid>
                <a:gridCol w="658368"/>
                <a:gridCol w="1280160"/>
                <a:gridCol w="1060704"/>
                <a:gridCol w="1060704"/>
                <a:gridCol w="1316736"/>
                <a:gridCol w="1005840"/>
                <a:gridCol w="173736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IMPRESSIONS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VIEWS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ENGAGEMENT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 PER 1M REACHED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2022</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15.06M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3.40M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4.46M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0.94M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11,834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2,653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40.03M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13.81M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15.61M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17.35M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8,464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542</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50.40M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10.43M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15.66M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6.85M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7,576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484</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51.60M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11.21M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20.12M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1.88M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4,179</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208</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2026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51.00M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38.82M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13.80M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0.04M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3,765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b="1" dirty="0">
                          <a:solidFill>
                            <a:srgbClr val="C5192B"/>
                          </a:solidFill>
                          <a:latin typeface="Arial" pitchFamily="34" charset="0"/>
                          <a:ea typeface="Arial" pitchFamily="34" charset="-122"/>
                          <a:cs typeface="Arial" pitchFamily="34" charset="-120"/>
                        </a:rPr>
                        <a:t>273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bl>
          </a:graphicData>
        </a:graphic>
      </p:graphicFrame>
      <p:sp>
        <p:nvSpPr>
          <p:cNvPr id="6" name="Text 3"/>
          <p:cNvSpPr/>
          <p:nvPr/>
        </p:nvSpPr>
        <p:spPr>
          <a:xfrm>
            <a:off x="512064" y="3913632"/>
            <a:ext cx="8119872" cy="457200"/>
          </a:xfrm>
          <a:prstGeom prst="rect">
            <a:avLst/>
          </a:prstGeom>
          <a:noFill/>
          <a:ln/>
        </p:spPr>
        <p:txBody>
          <a:bodyPr wrap="square" lIns="0" tIns="0" rIns="0" bIns="0" rtlCol="0" anchor="t"/>
          <a:lstStyle/>
          <a:p>
            <a:pPr indent="0" marL="0">
              <a:lnSpc>
                <a:spcPts val="1400"/>
              </a:lnSpc>
              <a:buNone/>
            </a:pPr>
            <a:r>
              <a:rPr lang="en-US" sz="1000" b="1" dirty="0">
                <a:solidFill>
                  <a:srgbClr val="006838"/>
                </a:solidFill>
                <a:latin typeface="Arial" pitchFamily="34" charset="0"/>
                <a:ea typeface="Arial" pitchFamily="34" charset="-122"/>
                <a:cs typeface="Arial" pitchFamily="34" charset="-120"/>
              </a:rPr>
              <a:t>Hold 2026’s rate of 273 and it takes 14.7 million reached to land 4,000 entries. The brief asks for 15 million reach, so the brief is internally consistent, but only while entry friction stays where it was.</a:t>
            </a:r>
            <a:endParaRPr lang="en-US" sz="100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Source: </a:t>
            </a:r>
            <a:pPr indent="0" marL="0">
              <a:buNone/>
            </a:pPr>
            <a:r>
              <a:rPr lang="en-US" sz="950" b="1" dirty="0">
                <a:solidFill>
                  <a:srgbClr val="FFFFFF"/>
                </a:solidFill>
                <a:latin typeface="Arial" pitchFamily="34" charset="0"/>
                <a:ea typeface="Arial" pitchFamily="34" charset="-122"/>
                <a:cs typeface="Arial" pitchFamily="34" charset="-120"/>
              </a:rPr>
              <a:t>RARA 2025 deck (per platform actuals and the weekly entry table) and RARA 2026 deck (the 2022 to 2026 performance series).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AEC"/>
        </a:solidFill>
      </p:bgPr>
    </p:bg>
    <p:spTree>
      <p:nvGrpSpPr>
        <p:cNvPr id="1" name=""/>
        <p:cNvGrpSpPr/>
        <p:nvPr/>
      </p:nvGrpSpPr>
      <p:grpSpPr>
        <a:xfrm>
          <a:off x="0" y="0"/>
          <a:ext cx="0" cy="0"/>
          <a:chOff x="0" y="0"/>
          <a:chExt cx="0" cy="0"/>
        </a:xfrm>
      </p:grpSpPr>
      <p:sp>
        <p:nvSpPr>
          <p:cNvPr id="2" name="Text 0"/>
          <p:cNvSpPr/>
          <p:nvPr/>
        </p:nvSpPr>
        <p:spPr>
          <a:xfrm>
            <a:off x="512064" y="1325880"/>
            <a:ext cx="8119872" cy="411480"/>
          </a:xfrm>
          <a:prstGeom prst="rect">
            <a:avLst/>
          </a:prstGeom>
          <a:noFill/>
          <a:ln/>
        </p:spPr>
        <p:txBody>
          <a:bodyPr wrap="square" lIns="0" tIns="0" rIns="0" bIns="0" rtlCol="0" anchor="t"/>
          <a:lstStyle/>
          <a:p>
            <a:pPr indent="0" marL="0">
              <a:buNone/>
            </a:pPr>
            <a:r>
              <a:rPr lang="en-US" sz="2200" dirty="0">
                <a:solidFill>
                  <a:srgbClr val="006838"/>
                </a:solidFill>
                <a:latin typeface="Century Gothic" pitchFamily="34" charset="0"/>
                <a:ea typeface="Century Gothic" pitchFamily="34" charset="-122"/>
                <a:cs typeface="Century Gothic" pitchFamily="34" charset="-120"/>
              </a:rPr>
              <a:t>The tension in the 2027 brief</a:t>
            </a:r>
            <a:endParaRPr lang="en-US" sz="2200" dirty="0"/>
          </a:p>
        </p:txBody>
      </p:sp>
      <p:sp>
        <p:nvSpPr>
          <p:cNvPr id="3" name="Text 1"/>
          <p:cNvSpPr/>
          <p:nvPr/>
        </p:nvSpPr>
        <p:spPr>
          <a:xfrm>
            <a:off x="512064" y="1874520"/>
            <a:ext cx="7470282" cy="2286000"/>
          </a:xfrm>
          <a:prstGeom prst="rect">
            <a:avLst/>
          </a:prstGeom>
          <a:noFill/>
          <a:ln/>
        </p:spPr>
        <p:txBody>
          <a:bodyPr wrap="square" lIns="0" tIns="0" rIns="0" bIns="0" rtlCol="0" anchor="t"/>
          <a:lstStyle/>
          <a:p>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The brief asks for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6% more entries than 2026</a:t>
            </a:r>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 while raising the price of entry from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RM25 in one receipt</a:t>
            </a:r>
            <a:pPr indent="0" marL="0">
              <a:lnSpc>
                <a:spcPts val="3200"/>
              </a:lnSpc>
              <a:buNone/>
            </a:pPr>
            <a:r>
              <a:rPr lang="en-US" sz="2200" b="1" dirty="0">
                <a:solidFill>
                  <a:srgbClr val="006838"/>
                </a:solidFill>
                <a:latin typeface="Century Gothic" pitchFamily="34" charset="0"/>
                <a:ea typeface="Century Gothic" pitchFamily="34" charset="-122"/>
                <a:cs typeface="Century Gothic" pitchFamily="34" charset="-120"/>
              </a:rPr>
              <a:t> to </a:t>
            </a:r>
            <a:pPr indent="0" marL="0">
              <a:lnSpc>
                <a:spcPts val="3200"/>
              </a:lnSpc>
              <a:buNone/>
            </a:pPr>
            <a:r>
              <a:rPr lang="en-US" sz="2200" b="1" dirty="0">
                <a:solidFill>
                  <a:srgbClr val="006838"/>
                </a:solidFill>
                <a:highlight>
                  <a:srgbClr val="F5EC2E"/>
                </a:highlight>
                <a:latin typeface="Century Gothic" pitchFamily="34" charset="0"/>
                <a:ea typeface="Century Gothic" pitchFamily="34" charset="-122"/>
                <a:cs typeface="Century Gothic" pitchFamily="34" charset="-120"/>
              </a:rPr>
              <a:t>RM175 across two brands, two shops and two trips.</a:t>
            </a:r>
            <a:pPr indent="0" marL="0">
              <a:lnSpc>
                <a:spcPts val="3200"/>
              </a:lnSpc>
              <a:buNone/>
            </a:pPr>
            <a:endParaRPr lang="en-US" sz="2200" dirty="0"/>
          </a:p>
          <a:p>
            <a:pPr indent="0" marL="0">
              <a:lnSpc>
                <a:spcPts val="3200"/>
              </a:lnSpc>
              <a:buNone/>
            </a:pPr>
            <a:endParaRPr lang="en-US" sz="2200" dirty="0"/>
          </a:p>
          <a:p>
            <a:pPr indent="0" marL="0">
              <a:lnSpc>
                <a:spcPts val="3200"/>
              </a:lnSpc>
              <a:buNone/>
            </a:pPr>
            <a:r>
              <a:rPr lang="en-US" sz="2200" dirty="0">
                <a:solidFill>
                  <a:srgbClr val="006838"/>
                </a:solidFill>
                <a:latin typeface="Century Gothic" pitchFamily="34" charset="0"/>
                <a:ea typeface="Century Gothic" pitchFamily="34" charset="-122"/>
                <a:cs typeface="Century Gothic" pitchFamily="34" charset="-120"/>
              </a:rPr>
              <a:t>No media budget fixes that on its own.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A view is not an entry.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Stop funding them together.</a:t>
            </a:r>
            <a:endParaRPr lang="en-US" sz="2400" dirty="0"/>
          </a:p>
        </p:txBody>
      </p:sp>
      <p:sp>
        <p:nvSpPr>
          <p:cNvPr id="4" name="Text 2"/>
          <p:cNvSpPr/>
          <p:nvPr/>
        </p:nvSpPr>
        <p:spPr>
          <a:xfrm>
            <a:off x="512064" y="1298448"/>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brief carries two objectives that compete for the same budget. Split them into two engines with their own money, their own creative and their own measurement, and neither can quietly eat the other.</a:t>
            </a:r>
            <a:endParaRPr lang="en-US" sz="1100" dirty="0"/>
          </a:p>
        </p:txBody>
      </p:sp>
      <p:sp>
        <p:nvSpPr>
          <p:cNvPr id="5" name="Shape 3"/>
          <p:cNvSpPr/>
          <p:nvPr/>
        </p:nvSpPr>
        <p:spPr>
          <a:xfrm>
            <a:off x="512064" y="1737360"/>
            <a:ext cx="3675888" cy="2633472"/>
          </a:xfrm>
          <a:prstGeom prst="rect">
            <a:avLst/>
          </a:prstGeom>
          <a:solidFill>
            <a:srgbClr val="C5192B"/>
          </a:solidFill>
          <a:ln/>
        </p:spPr>
      </p:sp>
      <p:sp>
        <p:nvSpPr>
          <p:cNvPr id="6" name="Text 4"/>
          <p:cNvSpPr/>
          <p:nvPr/>
        </p:nvSpPr>
        <p:spPr>
          <a:xfrm>
            <a:off x="768096" y="1920240"/>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7" name="Text 5"/>
          <p:cNvSpPr/>
          <p:nvPr/>
        </p:nvSpPr>
        <p:spPr>
          <a:xfrm>
            <a:off x="768096" y="2267712"/>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Contest conversion engine</a:t>
            </a:r>
            <a:endParaRPr lang="en-US" sz="1350" dirty="0"/>
          </a:p>
        </p:txBody>
      </p:sp>
      <p:sp>
        <p:nvSpPr>
          <p:cNvPr id="8" name="Text 6"/>
          <p:cNvSpPr/>
          <p:nvPr/>
        </p:nvSpPr>
        <p:spPr>
          <a:xfrm>
            <a:off x="768096" y="2706624"/>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OBJECTIVE</a:t>
            </a:r>
            <a:endParaRPr lang="en-US" sz="750" dirty="0"/>
          </a:p>
        </p:txBody>
      </p:sp>
      <p:sp>
        <p:nvSpPr>
          <p:cNvPr id="9" name="Text 7"/>
          <p:cNvSpPr/>
          <p:nvPr/>
        </p:nvSpPr>
        <p:spPr>
          <a:xfrm>
            <a:off x="768096" y="2880360"/>
            <a:ext cx="3163824" cy="34747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Conversions, optimized to a completed entry on the landing page.</a:t>
            </a:r>
            <a:endParaRPr lang="en-US" sz="950" dirty="0"/>
          </a:p>
        </p:txBody>
      </p:sp>
      <p:sp>
        <p:nvSpPr>
          <p:cNvPr id="10" name="Text 8"/>
          <p:cNvSpPr/>
          <p:nvPr/>
        </p:nvSpPr>
        <p:spPr>
          <a:xfrm>
            <a:off x="768096" y="328269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PLATFORMS</a:t>
            </a:r>
            <a:endParaRPr lang="en-US" sz="750" dirty="0"/>
          </a:p>
        </p:txBody>
      </p:sp>
      <p:sp>
        <p:nvSpPr>
          <p:cNvPr id="11" name="Text 9"/>
          <p:cNvSpPr/>
          <p:nvPr/>
        </p:nvSpPr>
        <p:spPr>
          <a:xfrm>
            <a:off x="768096" y="345643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Meta and TikTok only.</a:t>
            </a:r>
            <a:endParaRPr lang="en-US" sz="950" dirty="0"/>
          </a:p>
        </p:txBody>
      </p:sp>
      <p:sp>
        <p:nvSpPr>
          <p:cNvPr id="12" name="Text 10"/>
          <p:cNvSpPr/>
          <p:nvPr/>
        </p:nvSpPr>
        <p:spPr>
          <a:xfrm>
            <a:off x="768096" y="369417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MEASURED ON</a:t>
            </a:r>
            <a:endParaRPr lang="en-US" sz="750" dirty="0"/>
          </a:p>
        </p:txBody>
      </p:sp>
      <p:sp>
        <p:nvSpPr>
          <p:cNvPr id="13" name="Text 11"/>
          <p:cNvSpPr/>
          <p:nvPr/>
        </p:nvSpPr>
        <p:spPr>
          <a:xfrm>
            <a:off x="768096" y="386791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Entries and cost per entry, reported daily.</a:t>
            </a:r>
            <a:endParaRPr lang="en-US" sz="950" dirty="0"/>
          </a:p>
        </p:txBody>
      </p:sp>
      <p:sp>
        <p:nvSpPr>
          <p:cNvPr id="14" name="Shape 12"/>
          <p:cNvSpPr/>
          <p:nvPr/>
        </p:nvSpPr>
        <p:spPr>
          <a:xfrm>
            <a:off x="4956048" y="1737360"/>
            <a:ext cx="3675888" cy="2633472"/>
          </a:xfrm>
          <a:prstGeom prst="rect">
            <a:avLst/>
          </a:prstGeom>
          <a:solidFill>
            <a:srgbClr val="006838"/>
          </a:solidFill>
          <a:ln/>
        </p:spPr>
      </p:sp>
      <p:sp>
        <p:nvSpPr>
          <p:cNvPr id="15" name="Text 13"/>
          <p:cNvSpPr/>
          <p:nvPr/>
        </p:nvSpPr>
        <p:spPr>
          <a:xfrm>
            <a:off x="5212080" y="1920240"/>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6" name="Text 14"/>
          <p:cNvSpPr/>
          <p:nvPr/>
        </p:nvSpPr>
        <p:spPr>
          <a:xfrm>
            <a:off x="5212080" y="2267712"/>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Brand video engine</a:t>
            </a:r>
            <a:endParaRPr lang="en-US" sz="1350" dirty="0"/>
          </a:p>
        </p:txBody>
      </p:sp>
      <p:sp>
        <p:nvSpPr>
          <p:cNvPr id="17" name="Text 15"/>
          <p:cNvSpPr/>
          <p:nvPr/>
        </p:nvSpPr>
        <p:spPr>
          <a:xfrm>
            <a:off x="5212080" y="2706624"/>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OBJECTIVE</a:t>
            </a:r>
            <a:endParaRPr lang="en-US" sz="750" dirty="0"/>
          </a:p>
        </p:txBody>
      </p:sp>
      <p:sp>
        <p:nvSpPr>
          <p:cNvPr id="18" name="Text 16"/>
          <p:cNvSpPr/>
          <p:nvPr/>
        </p:nvSpPr>
        <p:spPr>
          <a:xfrm>
            <a:off x="5212080" y="2880360"/>
            <a:ext cx="3163824" cy="347472"/>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Video views and reach on the Raya brand film.</a:t>
            </a:r>
            <a:endParaRPr lang="en-US" sz="950" dirty="0"/>
          </a:p>
        </p:txBody>
      </p:sp>
      <p:sp>
        <p:nvSpPr>
          <p:cNvPr id="19" name="Text 17"/>
          <p:cNvSpPr/>
          <p:nvPr/>
        </p:nvSpPr>
        <p:spPr>
          <a:xfrm>
            <a:off x="5212080" y="328269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PLATFORMS</a:t>
            </a:r>
            <a:endParaRPr lang="en-US" sz="750" dirty="0"/>
          </a:p>
        </p:txBody>
      </p:sp>
      <p:sp>
        <p:nvSpPr>
          <p:cNvPr id="20" name="Text 18"/>
          <p:cNvSpPr/>
          <p:nvPr/>
        </p:nvSpPr>
        <p:spPr>
          <a:xfrm>
            <a:off x="5212080" y="345643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TikTok, Meta and YouTube.</a:t>
            </a:r>
            <a:endParaRPr lang="en-US" sz="950" dirty="0"/>
          </a:p>
        </p:txBody>
      </p:sp>
      <p:sp>
        <p:nvSpPr>
          <p:cNvPr id="21" name="Text 19"/>
          <p:cNvSpPr/>
          <p:nvPr/>
        </p:nvSpPr>
        <p:spPr>
          <a:xfrm>
            <a:off x="5212080" y="3694176"/>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MEASURED ON</a:t>
            </a:r>
            <a:endParaRPr lang="en-US" sz="750" dirty="0"/>
          </a:p>
        </p:txBody>
      </p:sp>
      <p:sp>
        <p:nvSpPr>
          <p:cNvPr id="22" name="Text 20"/>
          <p:cNvSpPr/>
          <p:nvPr/>
        </p:nvSpPr>
        <p:spPr>
          <a:xfrm>
            <a:off x="5212080" y="3867912"/>
            <a:ext cx="3163824" cy="182880"/>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Views, reach, engagement rate and recall.</a:t>
            </a:r>
            <a:endParaRPr lang="en-US" sz="950" dirty="0"/>
          </a:p>
        </p:txBody>
      </p:sp>
      <p:sp>
        <p:nvSpPr>
          <p:cNvPr id="23" name="Text 21"/>
          <p:cNvSpPr/>
          <p:nvPr/>
        </p:nvSpPr>
        <p:spPr>
          <a:xfrm>
            <a:off x="4370832" y="2834640"/>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24" name="Shape 22"/>
          <p:cNvSpPr/>
          <p:nvPr/>
        </p:nvSpPr>
        <p:spPr>
          <a:xfrm>
            <a:off x="438912" y="4443984"/>
            <a:ext cx="8266176" cy="402336"/>
          </a:xfrm>
          <a:prstGeom prst="rect">
            <a:avLst/>
          </a:prstGeom>
          <a:solidFill>
            <a:srgbClr val="052B18"/>
          </a:solidFill>
          <a:ln/>
        </p:spPr>
      </p:sp>
      <p:sp>
        <p:nvSpPr>
          <p:cNvPr id="25" name="Text 2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it matters: </a:t>
            </a:r>
            <a:pPr indent="0" marL="0">
              <a:buNone/>
            </a:pPr>
            <a:r>
              <a:rPr lang="en-US" sz="950" b="1" dirty="0">
                <a:solidFill>
                  <a:srgbClr val="FFFFFF"/>
                </a:solidFill>
                <a:latin typeface="Arial" pitchFamily="34" charset="0"/>
                <a:ea typeface="Arial" pitchFamily="34" charset="-122"/>
                <a:cs typeface="Arial" pitchFamily="34" charset="-120"/>
              </a:rPr>
              <a:t>in 2026 one budget chased both, the cheap outcome won, and the campaign finished with record views and record low entries.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Three audiences.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The pop-up reorders them.</a:t>
            </a:r>
            <a:endParaRPr lang="en-US" sz="24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Built from the brief’s own targeting language, the Kak Ji rationale, and Bulan Bintang’s mid range price point and suburban skew.</a:t>
            </a:r>
            <a:endParaRPr lang="en-US" sz="1100" dirty="0"/>
          </a:p>
        </p:txBody>
      </p:sp>
      <p:sp>
        <p:nvSpPr>
          <p:cNvPr id="5" name="Shape 3"/>
          <p:cNvSpPr/>
          <p:nvPr/>
        </p:nvSpPr>
        <p:spPr>
          <a:xfrm>
            <a:off x="512064" y="1755648"/>
            <a:ext cx="2584704" cy="2633472"/>
          </a:xfrm>
          <a:prstGeom prst="rect">
            <a:avLst/>
          </a:prstGeom>
          <a:solidFill>
            <a:srgbClr val="E9F3DD"/>
          </a:solidFill>
          <a:ln/>
        </p:spPr>
      </p:sp>
      <p:sp>
        <p:nvSpPr>
          <p:cNvPr id="6" name="Shape 4"/>
          <p:cNvSpPr/>
          <p:nvPr/>
        </p:nvSpPr>
        <p:spPr>
          <a:xfrm>
            <a:off x="512064" y="1755648"/>
            <a:ext cx="2584704" cy="54864"/>
          </a:xfrm>
          <a:prstGeom prst="rect">
            <a:avLst/>
          </a:prstGeom>
          <a:solidFill>
            <a:srgbClr val="C5192B"/>
          </a:solidFill>
          <a:ln/>
        </p:spPr>
      </p:sp>
      <p:sp>
        <p:nvSpPr>
          <p:cNvPr id="7" name="Text 5"/>
          <p:cNvSpPr/>
          <p:nvPr/>
        </p:nvSpPr>
        <p:spPr>
          <a:xfrm>
            <a:off x="676656"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CONTEST ENGINE, CORE</a:t>
            </a:r>
            <a:endParaRPr lang="en-US" sz="800" dirty="0"/>
          </a:p>
        </p:txBody>
      </p:sp>
      <p:sp>
        <p:nvSpPr>
          <p:cNvPr id="8" name="Text 6"/>
          <p:cNvSpPr/>
          <p:nvPr/>
        </p:nvSpPr>
        <p:spPr>
          <a:xfrm>
            <a:off x="676656"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Raya Household CFO</a:t>
            </a:r>
            <a:endParaRPr lang="en-US" sz="1250" dirty="0"/>
          </a:p>
        </p:txBody>
      </p:sp>
      <p:sp>
        <p:nvSpPr>
          <p:cNvPr id="9" name="Text 7"/>
          <p:cNvSpPr/>
          <p:nvPr/>
        </p:nvSpPr>
        <p:spPr>
          <a:xfrm>
            <a:off x="676656"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10" name="Text 8"/>
          <p:cNvSpPr/>
          <p:nvPr/>
        </p:nvSpPr>
        <p:spPr>
          <a:xfrm>
            <a:off x="676656" y="2816352"/>
            <a:ext cx="2255520" cy="62179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woman, 30 to 45, married with school age children, suburban or small town outside KL and Selangor, household income RM3,000 to RM6,000.</a:t>
            </a:r>
            <a:endParaRPr lang="en-US" sz="850" dirty="0"/>
          </a:p>
        </p:txBody>
      </p:sp>
      <p:sp>
        <p:nvSpPr>
          <p:cNvPr id="11" name="Text 9"/>
          <p:cNvSpPr/>
          <p:nvPr/>
        </p:nvSpPr>
        <p:spPr>
          <a:xfrm>
            <a:off x="676656" y="3493008"/>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WHY SHE MATTERS</a:t>
            </a:r>
            <a:endParaRPr lang="en-US" sz="750" dirty="0"/>
          </a:p>
        </p:txBody>
      </p:sp>
      <p:sp>
        <p:nvSpPr>
          <p:cNvPr id="12" name="Text 10"/>
          <p:cNvSpPr/>
          <p:nvPr/>
        </p:nvSpPr>
        <p:spPr>
          <a:xfrm>
            <a:off x="676656" y="3666744"/>
            <a:ext cx="2255520" cy="539496"/>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does the Ramadan grocery run and buys the family’s baju raya, so she already makes both purchases. Getting her through a boutique door is the one job the contest media has to do.</a:t>
            </a:r>
            <a:endParaRPr lang="en-US" sz="850" dirty="0"/>
          </a:p>
        </p:txBody>
      </p:sp>
      <p:sp>
        <p:nvSpPr>
          <p:cNvPr id="13" name="Shape 11"/>
          <p:cNvSpPr/>
          <p:nvPr/>
        </p:nvSpPr>
        <p:spPr>
          <a:xfrm>
            <a:off x="3279648" y="1755648"/>
            <a:ext cx="2584704" cy="2633472"/>
          </a:xfrm>
          <a:prstGeom prst="rect">
            <a:avLst/>
          </a:prstGeom>
          <a:solidFill>
            <a:srgbClr val="E9F3DD"/>
          </a:solidFill>
          <a:ln/>
        </p:spPr>
      </p:sp>
      <p:sp>
        <p:nvSpPr>
          <p:cNvPr id="14" name="Shape 12"/>
          <p:cNvSpPr/>
          <p:nvPr/>
        </p:nvSpPr>
        <p:spPr>
          <a:xfrm>
            <a:off x="3279648" y="1755648"/>
            <a:ext cx="2584704" cy="54864"/>
          </a:xfrm>
          <a:prstGeom prst="rect">
            <a:avLst/>
          </a:prstGeom>
          <a:solidFill>
            <a:srgbClr val="006838"/>
          </a:solidFill>
          <a:ln/>
        </p:spPr>
      </p:sp>
      <p:sp>
        <p:nvSpPr>
          <p:cNvPr id="15" name="Text 13"/>
          <p:cNvSpPr/>
          <p:nvPr/>
        </p:nvSpPr>
        <p:spPr>
          <a:xfrm>
            <a:off x="3444240"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ENGAGEMENT AND SHARES</a:t>
            </a:r>
            <a:endParaRPr lang="en-US" sz="800" dirty="0"/>
          </a:p>
        </p:txBody>
      </p:sp>
      <p:sp>
        <p:nvSpPr>
          <p:cNvPr id="16" name="Text 14"/>
          <p:cNvSpPr/>
          <p:nvPr/>
        </p:nvSpPr>
        <p:spPr>
          <a:xfrm>
            <a:off x="3444240"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Young Raya Stylist</a:t>
            </a:r>
            <a:endParaRPr lang="en-US" sz="1250" dirty="0"/>
          </a:p>
        </p:txBody>
      </p:sp>
      <p:sp>
        <p:nvSpPr>
          <p:cNvPr id="17" name="Text 15"/>
          <p:cNvSpPr/>
          <p:nvPr/>
        </p:nvSpPr>
        <p:spPr>
          <a:xfrm>
            <a:off x="3444240"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18" name="Text 16"/>
          <p:cNvSpPr/>
          <p:nvPr/>
        </p:nvSpPr>
        <p:spPr>
          <a:xfrm>
            <a:off x="3444240" y="2816352"/>
            <a:ext cx="2255520" cy="56692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18 to 29, single or newly married, urban and suburban, lives on TikTok and Reels. Bulan Bintang’s core buyer at the RM289 price point.</a:t>
            </a:r>
            <a:endParaRPr lang="en-US" sz="850" dirty="0"/>
          </a:p>
        </p:txBody>
      </p:sp>
      <p:sp>
        <p:nvSpPr>
          <p:cNvPr id="19" name="Text 17"/>
          <p:cNvSpPr/>
          <p:nvPr/>
        </p:nvSpPr>
        <p:spPr>
          <a:xfrm>
            <a:off x="3444240" y="3438144"/>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WHY SHE MATTERS</a:t>
            </a:r>
            <a:endParaRPr lang="en-US" sz="750" dirty="0"/>
          </a:p>
        </p:txBody>
      </p:sp>
      <p:sp>
        <p:nvSpPr>
          <p:cNvPr id="20" name="Text 18"/>
          <p:cNvSpPr/>
          <p:nvPr/>
        </p:nvSpPr>
        <p:spPr>
          <a:xfrm>
            <a:off x="3444240" y="3611880"/>
            <a:ext cx="2255520" cy="594360"/>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carries the 3% engagement KPI and the share loop. She is already walking into Bulan Bintang, so the pop-up turns her into the easiest entrant of the three.</a:t>
            </a:r>
            <a:endParaRPr lang="en-US" sz="850" dirty="0"/>
          </a:p>
        </p:txBody>
      </p:sp>
      <p:sp>
        <p:nvSpPr>
          <p:cNvPr id="21" name="Shape 19"/>
          <p:cNvSpPr/>
          <p:nvPr/>
        </p:nvSpPr>
        <p:spPr>
          <a:xfrm>
            <a:off x="6047232" y="1755648"/>
            <a:ext cx="2584704" cy="2633472"/>
          </a:xfrm>
          <a:prstGeom prst="rect">
            <a:avLst/>
          </a:prstGeom>
          <a:solidFill>
            <a:srgbClr val="E9F3DD"/>
          </a:solidFill>
          <a:ln/>
        </p:spPr>
      </p:sp>
      <p:sp>
        <p:nvSpPr>
          <p:cNvPr id="22" name="Shape 20"/>
          <p:cNvSpPr/>
          <p:nvPr/>
        </p:nvSpPr>
        <p:spPr>
          <a:xfrm>
            <a:off x="6047232" y="1755648"/>
            <a:ext cx="2584704" cy="54864"/>
          </a:xfrm>
          <a:prstGeom prst="rect">
            <a:avLst/>
          </a:prstGeom>
          <a:solidFill>
            <a:srgbClr val="E8912C"/>
          </a:solidFill>
          <a:ln/>
        </p:spPr>
      </p:sp>
      <p:sp>
        <p:nvSpPr>
          <p:cNvPr id="23" name="Text 21"/>
          <p:cNvSpPr/>
          <p:nvPr/>
        </p:nvSpPr>
        <p:spPr>
          <a:xfrm>
            <a:off x="6211824"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HIGHEST VALUE ENTRANT</a:t>
            </a:r>
            <a:endParaRPr lang="en-US" sz="800" dirty="0"/>
          </a:p>
        </p:txBody>
      </p:sp>
      <p:sp>
        <p:nvSpPr>
          <p:cNvPr id="24" name="Text 22"/>
          <p:cNvSpPr/>
          <p:nvPr/>
        </p:nvSpPr>
        <p:spPr>
          <a:xfrm>
            <a:off x="6211824" y="2148840"/>
            <a:ext cx="2255520" cy="457200"/>
          </a:xfrm>
          <a:prstGeom prst="rect">
            <a:avLst/>
          </a:prstGeom>
          <a:noFill/>
          <a:ln/>
        </p:spPr>
        <p:txBody>
          <a:bodyPr wrap="square" lIns="0" tIns="0" rIns="0" bIns="0" rtlCol="0" anchor="t"/>
          <a:lstStyle/>
          <a:p>
            <a:pPr indent="0" marL="0">
              <a:lnSpc>
                <a:spcPts val="1550"/>
              </a:lnSpc>
              <a:buNone/>
            </a:pPr>
            <a:r>
              <a:rPr lang="en-US" sz="1250" b="1" dirty="0">
                <a:solidFill>
                  <a:srgbClr val="006838"/>
                </a:solidFill>
                <a:latin typeface="Arial" pitchFamily="34" charset="0"/>
                <a:ea typeface="Arial" pitchFamily="34" charset="-122"/>
                <a:cs typeface="Arial" pitchFamily="34" charset="-120"/>
              </a:rPr>
              <a:t>The Balik Kampung Provider</a:t>
            </a:r>
            <a:endParaRPr lang="en-US" sz="1250" dirty="0"/>
          </a:p>
        </p:txBody>
      </p:sp>
      <p:sp>
        <p:nvSpPr>
          <p:cNvPr id="25" name="Text 23"/>
          <p:cNvSpPr/>
          <p:nvPr/>
        </p:nvSpPr>
        <p:spPr>
          <a:xfrm>
            <a:off x="6211824" y="264261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WHO</a:t>
            </a:r>
            <a:endParaRPr lang="en-US" sz="750" dirty="0"/>
          </a:p>
        </p:txBody>
      </p:sp>
      <p:sp>
        <p:nvSpPr>
          <p:cNvPr id="26" name="Text 24"/>
          <p:cNvSpPr/>
          <p:nvPr/>
        </p:nvSpPr>
        <p:spPr>
          <a:xfrm>
            <a:off x="6211824" y="2816352"/>
            <a:ext cx="2255520" cy="62179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Malay man, 28 to 45, working in KL or Johor, drives home for Raya and buys for parents and children. YouTube and Facebook more than TikTok.</a:t>
            </a:r>
            <a:endParaRPr lang="en-US" sz="850" dirty="0"/>
          </a:p>
        </p:txBody>
      </p:sp>
      <p:sp>
        <p:nvSpPr>
          <p:cNvPr id="27" name="Text 25"/>
          <p:cNvSpPr/>
          <p:nvPr/>
        </p:nvSpPr>
        <p:spPr>
          <a:xfrm>
            <a:off x="6211824" y="3493008"/>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WHY HE MATTERS</a:t>
            </a:r>
            <a:endParaRPr lang="en-US" sz="750" dirty="0"/>
          </a:p>
        </p:txBody>
      </p:sp>
      <p:sp>
        <p:nvSpPr>
          <p:cNvPr id="28" name="Text 26"/>
          <p:cNvSpPr/>
          <p:nvPr/>
        </p:nvSpPr>
        <p:spPr>
          <a:xfrm>
            <a:off x="6211824" y="3666744"/>
            <a:ext cx="2255520" cy="539496"/>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He buys groceries and baju in one trip in the 10 days before Raya. The pop-up makes that trip a single stop instead of two.</a:t>
            </a:r>
            <a:endParaRPr lang="en-US" sz="850" dirty="0"/>
          </a:p>
        </p:txBody>
      </p:sp>
      <p:sp>
        <p:nvSpPr>
          <p:cNvPr id="29" name="Shape 27"/>
          <p:cNvSpPr/>
          <p:nvPr/>
        </p:nvSpPr>
        <p:spPr>
          <a:xfrm>
            <a:off x="438912" y="4443984"/>
            <a:ext cx="8266176" cy="402336"/>
          </a:xfrm>
          <a:prstGeom prst="rect">
            <a:avLst/>
          </a:prstGeom>
          <a:solidFill>
            <a:srgbClr val="052B18"/>
          </a:solidFill>
          <a:ln/>
        </p:spPr>
      </p:sp>
      <p:sp>
        <p:nvSpPr>
          <p:cNvPr id="30" name="Text 2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consequence: </a:t>
            </a:r>
            <a:pPr indent="0" marL="0">
              <a:buNone/>
            </a:pPr>
            <a:r>
              <a:rPr lang="en-US" sz="950" b="1" dirty="0">
                <a:solidFill>
                  <a:srgbClr val="FFFFFF"/>
                </a:solidFill>
                <a:latin typeface="Arial" pitchFamily="34" charset="0"/>
                <a:ea typeface="Arial" pitchFamily="34" charset="-122"/>
                <a:cs typeface="Arial" pitchFamily="34" charset="-120"/>
              </a:rPr>
              <a:t>the pop-up moves the boutique visitor to the front of the queue, so contest media now buys store traffic as well as page traffic.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One idea,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three ways in.</a:t>
            </a:r>
            <a:endParaRPr lang="en-US" sz="24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All three sit under the client’s own Low-key Raya idea: less noise, more meaning. Saji is the companion, not the hero. Bahasa Malaysia first, and Kak Ji fronts the contest work.</a:t>
            </a:r>
            <a:endParaRPr lang="en-US" sz="1100" dirty="0"/>
          </a:p>
        </p:txBody>
      </p:sp>
      <p:sp>
        <p:nvSpPr>
          <p:cNvPr id="5" name="Shape 3"/>
          <p:cNvSpPr/>
          <p:nvPr/>
        </p:nvSpPr>
        <p:spPr>
          <a:xfrm>
            <a:off x="512064" y="1755648"/>
            <a:ext cx="2584704" cy="2633472"/>
          </a:xfrm>
          <a:prstGeom prst="rect">
            <a:avLst/>
          </a:prstGeom>
          <a:solidFill>
            <a:srgbClr val="E9F3DD"/>
          </a:solidFill>
          <a:ln/>
        </p:spPr>
      </p:sp>
      <p:sp>
        <p:nvSpPr>
          <p:cNvPr id="6" name="Shape 4"/>
          <p:cNvSpPr/>
          <p:nvPr/>
        </p:nvSpPr>
        <p:spPr>
          <a:xfrm>
            <a:off x="512064" y="1755648"/>
            <a:ext cx="2584704" cy="54864"/>
          </a:xfrm>
          <a:prstGeom prst="rect">
            <a:avLst/>
          </a:prstGeom>
          <a:solidFill>
            <a:srgbClr val="C5192B"/>
          </a:solidFill>
          <a:ln/>
        </p:spPr>
      </p:sp>
      <p:sp>
        <p:nvSpPr>
          <p:cNvPr id="7" name="Text 5"/>
          <p:cNvSpPr/>
          <p:nvPr/>
        </p:nvSpPr>
        <p:spPr>
          <a:xfrm>
            <a:off x="676656"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RAYA HOUSEHOLD CFO</a:t>
            </a:r>
            <a:endParaRPr lang="en-US" sz="800" dirty="0"/>
          </a:p>
        </p:txBody>
      </p:sp>
      <p:sp>
        <p:nvSpPr>
          <p:cNvPr id="8" name="Text 6"/>
          <p:cNvSpPr/>
          <p:nvPr/>
        </p:nvSpPr>
        <p:spPr>
          <a:xfrm>
            <a:off x="676656"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9" name="Text 7"/>
          <p:cNvSpPr/>
          <p:nvPr/>
        </p:nvSpPr>
        <p:spPr>
          <a:xfrm>
            <a:off x="676656"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absorbs the rising cost of Raya, and everyone eats without noticing who cooked.</a:t>
            </a:r>
            <a:endParaRPr lang="en-US" sz="850" dirty="0"/>
          </a:p>
        </p:txBody>
      </p:sp>
      <p:sp>
        <p:nvSpPr>
          <p:cNvPr id="10" name="Text 8"/>
          <p:cNvSpPr/>
          <p:nvPr/>
        </p:nvSpPr>
        <p:spPr>
          <a:xfrm>
            <a:off x="676656"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11" name="Text 9"/>
          <p:cNvSpPr/>
          <p:nvPr/>
        </p:nvSpPr>
        <p:spPr>
          <a:xfrm>
            <a:off x="676656"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"Barang Raya dah beli. Kali ni, biar Saji pula yang belanja."</a:t>
            </a:r>
            <a:endParaRPr lang="en-US" sz="850" dirty="0"/>
          </a:p>
        </p:txBody>
      </p:sp>
      <p:sp>
        <p:nvSpPr>
          <p:cNvPr id="12" name="Text 10"/>
          <p:cNvSpPr/>
          <p:nvPr/>
        </p:nvSpPr>
        <p:spPr>
          <a:xfrm>
            <a:off x="676656"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13" name="Text 11"/>
          <p:cNvSpPr/>
          <p:nvPr/>
        </p:nvSpPr>
        <p:spPr>
          <a:xfrm>
            <a:off x="676656"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RM500 duit raya and a year of Saji. She stops buying cooking oil in 2027.</a:t>
            </a:r>
            <a:endParaRPr lang="en-US" sz="850" dirty="0"/>
          </a:p>
        </p:txBody>
      </p:sp>
      <p:sp>
        <p:nvSpPr>
          <p:cNvPr id="14" name="Text 12"/>
          <p:cNvSpPr/>
          <p:nvPr/>
        </p:nvSpPr>
        <p:spPr>
          <a:xfrm>
            <a:off x="676656"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15" name="Text 13"/>
          <p:cNvSpPr/>
          <p:nvPr/>
        </p:nvSpPr>
        <p:spPr>
          <a:xfrm>
            <a:off x="676656"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Facebook and TikTok, 70% outside KL and Selangor, weighted to the boutique towns.</a:t>
            </a:r>
            <a:endParaRPr lang="en-US" sz="850" dirty="0"/>
          </a:p>
        </p:txBody>
      </p:sp>
      <p:sp>
        <p:nvSpPr>
          <p:cNvPr id="16" name="Shape 14"/>
          <p:cNvSpPr/>
          <p:nvPr/>
        </p:nvSpPr>
        <p:spPr>
          <a:xfrm>
            <a:off x="3279648" y="1755648"/>
            <a:ext cx="2584704" cy="2633472"/>
          </a:xfrm>
          <a:prstGeom prst="rect">
            <a:avLst/>
          </a:prstGeom>
          <a:solidFill>
            <a:srgbClr val="E9F3DD"/>
          </a:solidFill>
          <a:ln/>
        </p:spPr>
      </p:sp>
      <p:sp>
        <p:nvSpPr>
          <p:cNvPr id="17" name="Shape 15"/>
          <p:cNvSpPr/>
          <p:nvPr/>
        </p:nvSpPr>
        <p:spPr>
          <a:xfrm>
            <a:off x="3279648" y="1755648"/>
            <a:ext cx="2584704" cy="54864"/>
          </a:xfrm>
          <a:prstGeom prst="rect">
            <a:avLst/>
          </a:prstGeom>
          <a:solidFill>
            <a:srgbClr val="006838"/>
          </a:solidFill>
          <a:ln/>
        </p:spPr>
      </p:sp>
      <p:sp>
        <p:nvSpPr>
          <p:cNvPr id="18" name="Text 16"/>
          <p:cNvSpPr/>
          <p:nvPr/>
        </p:nvSpPr>
        <p:spPr>
          <a:xfrm>
            <a:off x="3444240"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YOUNG RAYA STYLIST</a:t>
            </a:r>
            <a:endParaRPr lang="en-US" sz="800" dirty="0"/>
          </a:p>
        </p:txBody>
      </p:sp>
      <p:sp>
        <p:nvSpPr>
          <p:cNvPr id="19" name="Text 17"/>
          <p:cNvSpPr/>
          <p:nvPr/>
        </p:nvSpPr>
        <p:spPr>
          <a:xfrm>
            <a:off x="3444240"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20" name="Text 18"/>
          <p:cNvSpPr/>
          <p:nvPr/>
        </p:nvSpPr>
        <p:spPr>
          <a:xfrm>
            <a:off x="3444240"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She wants Raya to look good without pretending it is more than it is.</a:t>
            </a:r>
            <a:endParaRPr lang="en-US" sz="850" dirty="0"/>
          </a:p>
        </p:txBody>
      </p:sp>
      <p:sp>
        <p:nvSpPr>
          <p:cNvPr id="21" name="Text 19"/>
          <p:cNvSpPr/>
          <p:nvPr/>
        </p:nvSpPr>
        <p:spPr>
          <a:xfrm>
            <a:off x="3444240"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22" name="Text 20"/>
          <p:cNvSpPr/>
          <p:nvPr/>
        </p:nvSpPr>
        <p:spPr>
          <a:xfrm>
            <a:off x="3444240"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"Beli baju, ambil Saji. Semua dalam satu kedai."</a:t>
            </a:r>
            <a:endParaRPr lang="en-US" sz="850" dirty="0"/>
          </a:p>
        </p:txBody>
      </p:sp>
      <p:sp>
        <p:nvSpPr>
          <p:cNvPr id="23" name="Text 21"/>
          <p:cNvSpPr/>
          <p:nvPr/>
        </p:nvSpPr>
        <p:spPr>
          <a:xfrm>
            <a:off x="3444240"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24" name="Text 22"/>
          <p:cNvSpPr/>
          <p:nvPr/>
        </p:nvSpPr>
        <p:spPr>
          <a:xfrm>
            <a:off x="3444240"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The Saji counter sits inside the boutique, so both receipts happen in one visit.</a:t>
            </a:r>
            <a:endParaRPr lang="en-US" sz="850" dirty="0"/>
          </a:p>
        </p:txBody>
      </p:sp>
      <p:sp>
        <p:nvSpPr>
          <p:cNvPr id="25" name="Text 23"/>
          <p:cNvSpPr/>
          <p:nvPr/>
        </p:nvSpPr>
        <p:spPr>
          <a:xfrm>
            <a:off x="3444240"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26" name="Text 24"/>
          <p:cNvSpPr/>
          <p:nvPr/>
        </p:nvSpPr>
        <p:spPr>
          <a:xfrm>
            <a:off x="3444240"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TikTok and Reels, Spark Ads on KOL content. Baju to table, limited edition tudung.</a:t>
            </a:r>
            <a:endParaRPr lang="en-US" sz="850" dirty="0"/>
          </a:p>
        </p:txBody>
      </p:sp>
      <p:sp>
        <p:nvSpPr>
          <p:cNvPr id="27" name="Shape 25"/>
          <p:cNvSpPr/>
          <p:nvPr/>
        </p:nvSpPr>
        <p:spPr>
          <a:xfrm>
            <a:off x="6047232" y="1755648"/>
            <a:ext cx="2584704" cy="2633472"/>
          </a:xfrm>
          <a:prstGeom prst="rect">
            <a:avLst/>
          </a:prstGeom>
          <a:solidFill>
            <a:srgbClr val="E9F3DD"/>
          </a:solidFill>
          <a:ln/>
        </p:spPr>
      </p:sp>
      <p:sp>
        <p:nvSpPr>
          <p:cNvPr id="28" name="Shape 26"/>
          <p:cNvSpPr/>
          <p:nvPr/>
        </p:nvSpPr>
        <p:spPr>
          <a:xfrm>
            <a:off x="6047232" y="1755648"/>
            <a:ext cx="2584704" cy="54864"/>
          </a:xfrm>
          <a:prstGeom prst="rect">
            <a:avLst/>
          </a:prstGeom>
          <a:solidFill>
            <a:srgbClr val="E8912C"/>
          </a:solidFill>
          <a:ln/>
        </p:spPr>
      </p:sp>
      <p:sp>
        <p:nvSpPr>
          <p:cNvPr id="29" name="Text 27"/>
          <p:cNvSpPr/>
          <p:nvPr/>
        </p:nvSpPr>
        <p:spPr>
          <a:xfrm>
            <a:off x="6211824" y="1938528"/>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BALIK KAMPUNG PROVIDER</a:t>
            </a:r>
            <a:endParaRPr lang="en-US" sz="800" dirty="0"/>
          </a:p>
        </p:txBody>
      </p:sp>
      <p:sp>
        <p:nvSpPr>
          <p:cNvPr id="30" name="Text 28"/>
          <p:cNvSpPr/>
          <p:nvPr/>
        </p:nvSpPr>
        <p:spPr>
          <a:xfrm>
            <a:off x="6211824" y="2148840"/>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TENSION</a:t>
            </a:r>
            <a:endParaRPr lang="en-US" sz="750" dirty="0"/>
          </a:p>
        </p:txBody>
      </p:sp>
      <p:sp>
        <p:nvSpPr>
          <p:cNvPr id="31" name="Text 29"/>
          <p:cNvSpPr/>
          <p:nvPr/>
        </p:nvSpPr>
        <p:spPr>
          <a:xfrm>
            <a:off x="6211824" y="2322576"/>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He shows love by providing, and he wants the drive home to count.</a:t>
            </a:r>
            <a:endParaRPr lang="en-US" sz="850" dirty="0"/>
          </a:p>
        </p:txBody>
      </p:sp>
      <p:sp>
        <p:nvSpPr>
          <p:cNvPr id="32" name="Text 30"/>
          <p:cNvSpPr/>
          <p:nvPr/>
        </p:nvSpPr>
        <p:spPr>
          <a:xfrm>
            <a:off x="6211824" y="2670048"/>
            <a:ext cx="2255520" cy="164592"/>
          </a:xfrm>
          <a:prstGeom prst="rect">
            <a:avLst/>
          </a:prstGeom>
          <a:noFill/>
          <a:ln/>
        </p:spPr>
        <p:txBody>
          <a:bodyPr wrap="square" lIns="0" tIns="0" rIns="0" bIns="0" rtlCol="0" anchor="t"/>
          <a:lstStyle/>
          <a:p>
            <a:pPr indent="0" marL="0">
              <a:buNone/>
            </a:pPr>
            <a:r>
              <a:rPr lang="en-US" sz="750" b="1" spc="70" kern="0" dirty="0">
                <a:solidFill>
                  <a:srgbClr val="C5192B"/>
                </a:solidFill>
                <a:latin typeface="Arial" pitchFamily="34" charset="0"/>
                <a:ea typeface="Arial" pitchFamily="34" charset="-122"/>
                <a:cs typeface="Arial" pitchFamily="34" charset="-120"/>
              </a:rPr>
              <a:t>THE LINE</a:t>
            </a:r>
            <a:endParaRPr lang="en-US" sz="750" dirty="0"/>
          </a:p>
        </p:txBody>
      </p:sp>
      <p:sp>
        <p:nvSpPr>
          <p:cNvPr id="33" name="Text 31"/>
          <p:cNvSpPr/>
          <p:nvPr/>
        </p:nvSpPr>
        <p:spPr>
          <a:xfrm>
            <a:off x="6211824" y="2843784"/>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"Bawa balik lebih daripada barang."</a:t>
            </a:r>
            <a:endParaRPr lang="en-US" sz="850" dirty="0"/>
          </a:p>
        </p:txBody>
      </p:sp>
      <p:sp>
        <p:nvSpPr>
          <p:cNvPr id="34" name="Text 32"/>
          <p:cNvSpPr/>
          <p:nvPr/>
        </p:nvSpPr>
        <p:spPr>
          <a:xfrm>
            <a:off x="6211824" y="3191256"/>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PROOF</a:t>
            </a:r>
            <a:endParaRPr lang="en-US" sz="750" dirty="0"/>
          </a:p>
        </p:txBody>
      </p:sp>
      <p:sp>
        <p:nvSpPr>
          <p:cNvPr id="35" name="Text 33"/>
          <p:cNvSpPr/>
          <p:nvPr/>
        </p:nvSpPr>
        <p:spPr>
          <a:xfrm>
            <a:off x="6211824" y="3364992"/>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The prize covers the table and the family’s baju, which is what he drives home with.</a:t>
            </a:r>
            <a:endParaRPr lang="en-US" sz="850" dirty="0"/>
          </a:p>
        </p:txBody>
      </p:sp>
      <p:sp>
        <p:nvSpPr>
          <p:cNvPr id="36" name="Text 34"/>
          <p:cNvSpPr/>
          <p:nvPr/>
        </p:nvSpPr>
        <p:spPr>
          <a:xfrm>
            <a:off x="6211824" y="3712464"/>
            <a:ext cx="2255520" cy="164592"/>
          </a:xfrm>
          <a:prstGeom prst="rect">
            <a:avLst/>
          </a:prstGeom>
          <a:noFill/>
          <a:ln/>
        </p:spPr>
        <p:txBody>
          <a:bodyPr wrap="square" lIns="0" tIns="0" rIns="0" bIns="0" rtlCol="0" anchor="t"/>
          <a:lstStyle/>
          <a:p>
            <a:pPr indent="0" marL="0">
              <a:buNone/>
            </a:pPr>
            <a:r>
              <a:rPr lang="en-US" sz="750" b="1" spc="70" kern="0" dirty="0">
                <a:solidFill>
                  <a:srgbClr val="6E8A76"/>
                </a:solidFill>
                <a:latin typeface="Arial" pitchFamily="34" charset="0"/>
                <a:ea typeface="Arial" pitchFamily="34" charset="-122"/>
                <a:cs typeface="Arial" pitchFamily="34" charset="-120"/>
              </a:rPr>
              <a:t>WHERE AND HOW</a:t>
            </a:r>
            <a:endParaRPr lang="en-US" sz="750" dirty="0"/>
          </a:p>
        </p:txBody>
      </p:sp>
      <p:sp>
        <p:nvSpPr>
          <p:cNvPr id="37" name="Text 35"/>
          <p:cNvSpPr/>
          <p:nvPr/>
        </p:nvSpPr>
        <p:spPr>
          <a:xfrm>
            <a:off x="6211824" y="3886200"/>
            <a:ext cx="2255520" cy="292608"/>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YouTube around the film, Facebook, TikTok in the last two weeks. Overlay from 1 Mar.</a:t>
            </a:r>
            <a:endParaRPr lang="en-US" sz="850" dirty="0"/>
          </a:p>
        </p:txBody>
      </p:sp>
      <p:sp>
        <p:nvSpPr>
          <p:cNvPr id="38" name="Shape 36"/>
          <p:cNvSpPr/>
          <p:nvPr/>
        </p:nvSpPr>
        <p:spPr>
          <a:xfrm>
            <a:off x="438912" y="4443984"/>
            <a:ext cx="8266176" cy="402336"/>
          </a:xfrm>
          <a:prstGeom prst="rect">
            <a:avLst/>
          </a:prstGeom>
          <a:solidFill>
            <a:srgbClr val="052B18"/>
          </a:solidFill>
          <a:ln/>
        </p:spPr>
      </p:sp>
      <p:sp>
        <p:nvSpPr>
          <p:cNvPr id="39" name="Text 37"/>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we do not say: </a:t>
            </a:r>
            <a:pPr indent="0" marL="0">
              <a:buNone/>
            </a:pPr>
            <a:r>
              <a:rPr lang="en-US" sz="950" b="1" dirty="0">
                <a:solidFill>
                  <a:srgbClr val="FFFFFF"/>
                </a:solidFill>
                <a:latin typeface="Arial" pitchFamily="34" charset="0"/>
                <a:ea typeface="Arial" pitchFamily="34" charset="-122"/>
                <a:cs typeface="Arial" pitchFamily="34" charset="-120"/>
              </a:rPr>
              <a:t>no extravagance, no loud flexing, no borrowed grief from world events, and never that Saji is the hero of the story.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01.</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The mechanic</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What Malaysia already does with two brand contests, where the friction actually sits, and the three things we would change about the experience rather than the rules.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Nobody in Malaysia asks for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two receipts from two shops.</a:t>
            </a:r>
            <a:endParaRPr lang="en-US" sz="23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Five live examples. Every one of them either puts both brands in a single receipt at a single retailer, or makes the partner brand the prize rather than a second purchase.</a:t>
            </a:r>
            <a:endParaRPr lang="en-US" sz="1100" dirty="0"/>
          </a:p>
        </p:txBody>
      </p:sp>
      <p:sp>
        <p:nvSpPr>
          <p:cNvPr id="5" name="Shape 3"/>
          <p:cNvSpPr/>
          <p:nvPr/>
        </p:nvSpPr>
        <p:spPr>
          <a:xfrm>
            <a:off x="512064" y="1847088"/>
            <a:ext cx="1528877" cy="2487168"/>
          </a:xfrm>
          <a:prstGeom prst="rect">
            <a:avLst/>
          </a:prstGeom>
          <a:solidFill>
            <a:srgbClr val="E9F3DD"/>
          </a:solidFill>
          <a:ln/>
        </p:spPr>
      </p:sp>
      <p:sp>
        <p:nvSpPr>
          <p:cNvPr id="6" name="Shape 4"/>
          <p:cNvSpPr/>
          <p:nvPr/>
        </p:nvSpPr>
        <p:spPr>
          <a:xfrm>
            <a:off x="512064" y="1847088"/>
            <a:ext cx="1528877" cy="54864"/>
          </a:xfrm>
          <a:prstGeom prst="rect">
            <a:avLst/>
          </a:prstGeom>
          <a:solidFill>
            <a:srgbClr val="C5192B"/>
          </a:solidFill>
          <a:ln/>
        </p:spPr>
      </p:sp>
      <p:sp>
        <p:nvSpPr>
          <p:cNvPr id="7" name="Text 5"/>
          <p:cNvSpPr/>
          <p:nvPr/>
        </p:nvSpPr>
        <p:spPr>
          <a:xfrm>
            <a:off x="640080"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HEROMARKET, AUG 2026</a:t>
            </a:r>
            <a:endParaRPr lang="en-US" sz="800" dirty="0"/>
          </a:p>
        </p:txBody>
      </p:sp>
      <p:sp>
        <p:nvSpPr>
          <p:cNvPr id="8" name="Text 6"/>
          <p:cNvSpPr/>
          <p:nvPr/>
        </p:nvSpPr>
        <p:spPr>
          <a:xfrm>
            <a:off x="640080"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Tyson and First Pride</a:t>
            </a:r>
            <a:endParaRPr lang="en-US" sz="1050" dirty="0"/>
          </a:p>
        </p:txBody>
      </p:sp>
      <p:sp>
        <p:nvSpPr>
          <p:cNvPr id="9" name="Text 7"/>
          <p:cNvSpPr/>
          <p:nvPr/>
        </p:nvSpPr>
        <p:spPr>
          <a:xfrm>
            <a:off x="640080"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Two brands, one receipt, one store. Buy any two packs of either brand in a single receipt.</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two brands works when both sit in the same basket.</a:t>
            </a:r>
            <a:endParaRPr lang="en-US" sz="800" dirty="0"/>
          </a:p>
        </p:txBody>
      </p:sp>
      <p:sp>
        <p:nvSpPr>
          <p:cNvPr id="10" name="Shape 8"/>
          <p:cNvSpPr/>
          <p:nvPr/>
        </p:nvSpPr>
        <p:spPr>
          <a:xfrm>
            <a:off x="2159813" y="1847088"/>
            <a:ext cx="1528877" cy="2487168"/>
          </a:xfrm>
          <a:prstGeom prst="rect">
            <a:avLst/>
          </a:prstGeom>
          <a:solidFill>
            <a:srgbClr val="E9F3DD"/>
          </a:solidFill>
          <a:ln/>
        </p:spPr>
      </p:sp>
      <p:sp>
        <p:nvSpPr>
          <p:cNvPr id="11" name="Shape 9"/>
          <p:cNvSpPr/>
          <p:nvPr/>
        </p:nvSpPr>
        <p:spPr>
          <a:xfrm>
            <a:off x="2159813" y="1847088"/>
            <a:ext cx="1528877" cy="54864"/>
          </a:xfrm>
          <a:prstGeom prst="rect">
            <a:avLst/>
          </a:prstGeom>
          <a:solidFill>
            <a:srgbClr val="006838"/>
          </a:solidFill>
          <a:ln/>
        </p:spPr>
      </p:sp>
      <p:sp>
        <p:nvSpPr>
          <p:cNvPr id="12" name="Text 10"/>
          <p:cNvSpPr/>
          <p:nvPr/>
        </p:nvSpPr>
        <p:spPr>
          <a:xfrm>
            <a:off x="2287829"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GUARDIAN, SEP 2025</a:t>
            </a:r>
            <a:endParaRPr lang="en-US" sz="800" dirty="0"/>
          </a:p>
        </p:txBody>
      </p:sp>
      <p:sp>
        <p:nvSpPr>
          <p:cNvPr id="13" name="Text 11"/>
          <p:cNvSpPr/>
          <p:nvPr/>
        </p:nvSpPr>
        <p:spPr>
          <a:xfrm>
            <a:off x="2287829"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BRAND’S x Christy Ng</a:t>
            </a:r>
            <a:endParaRPr lang="en-US" sz="1050" dirty="0"/>
          </a:p>
        </p:txBody>
      </p:sp>
      <p:sp>
        <p:nvSpPr>
          <p:cNvPr id="14" name="Text 12"/>
          <p:cNvSpPr/>
          <p:nvPr/>
        </p:nvSpPr>
        <p:spPr>
          <a:xfrm>
            <a:off x="2287829"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Spend RM100 on BRAND’S, win a Christy Ng bag. 20 winners.</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the partner brand can be the prize instead of a second purchase.</a:t>
            </a:r>
            <a:endParaRPr lang="en-US" sz="800" dirty="0"/>
          </a:p>
        </p:txBody>
      </p:sp>
      <p:sp>
        <p:nvSpPr>
          <p:cNvPr id="15" name="Shape 13"/>
          <p:cNvSpPr/>
          <p:nvPr/>
        </p:nvSpPr>
        <p:spPr>
          <a:xfrm>
            <a:off x="3807562" y="1847088"/>
            <a:ext cx="1528877" cy="2487168"/>
          </a:xfrm>
          <a:prstGeom prst="rect">
            <a:avLst/>
          </a:prstGeom>
          <a:solidFill>
            <a:srgbClr val="E9F3DD"/>
          </a:solidFill>
          <a:ln/>
        </p:spPr>
      </p:sp>
      <p:sp>
        <p:nvSpPr>
          <p:cNvPr id="16" name="Shape 14"/>
          <p:cNvSpPr/>
          <p:nvPr/>
        </p:nvSpPr>
        <p:spPr>
          <a:xfrm>
            <a:off x="3807562" y="1847088"/>
            <a:ext cx="1528877" cy="54864"/>
          </a:xfrm>
          <a:prstGeom prst="rect">
            <a:avLst/>
          </a:prstGeom>
          <a:solidFill>
            <a:srgbClr val="E8912C"/>
          </a:solidFill>
          <a:ln/>
        </p:spPr>
      </p:sp>
      <p:sp>
        <p:nvSpPr>
          <p:cNvPr id="17" name="Text 15"/>
          <p:cNvSpPr/>
          <p:nvPr/>
        </p:nvSpPr>
        <p:spPr>
          <a:xfrm>
            <a:off x="3935578"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RAYA 2026</a:t>
            </a:r>
            <a:endParaRPr lang="en-US" sz="800" dirty="0"/>
          </a:p>
        </p:txBody>
      </p:sp>
      <p:sp>
        <p:nvSpPr>
          <p:cNvPr id="18" name="Text 16"/>
          <p:cNvSpPr/>
          <p:nvPr/>
        </p:nvSpPr>
        <p:spPr>
          <a:xfrm>
            <a:off x="3935578"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100PLUS x SHALS</a:t>
            </a:r>
            <a:endParaRPr lang="en-US" sz="1050" dirty="0"/>
          </a:p>
        </p:txBody>
      </p:sp>
      <p:sp>
        <p:nvSpPr>
          <p:cNvPr id="19" name="Text 17"/>
          <p:cNvSpPr/>
          <p:nvPr/>
        </p:nvSpPr>
        <p:spPr>
          <a:xfrm>
            <a:off x="3935578"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A limited edition baju raya by a Malaysian label, awarded to top spenders in TikTok Live.</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FMCG and fashion works when the baju is the reward.</a:t>
            </a:r>
            <a:endParaRPr lang="en-US" sz="800" dirty="0"/>
          </a:p>
        </p:txBody>
      </p:sp>
      <p:sp>
        <p:nvSpPr>
          <p:cNvPr id="20" name="Shape 18"/>
          <p:cNvSpPr/>
          <p:nvPr/>
        </p:nvSpPr>
        <p:spPr>
          <a:xfrm>
            <a:off x="5455310" y="1847088"/>
            <a:ext cx="1528877" cy="2487168"/>
          </a:xfrm>
          <a:prstGeom prst="rect">
            <a:avLst/>
          </a:prstGeom>
          <a:solidFill>
            <a:srgbClr val="E9F3DD"/>
          </a:solidFill>
          <a:ln/>
        </p:spPr>
      </p:sp>
      <p:sp>
        <p:nvSpPr>
          <p:cNvPr id="21" name="Shape 19"/>
          <p:cNvSpPr/>
          <p:nvPr/>
        </p:nvSpPr>
        <p:spPr>
          <a:xfrm>
            <a:off x="5455310" y="1847088"/>
            <a:ext cx="1528877" cy="54864"/>
          </a:xfrm>
          <a:prstGeom prst="rect">
            <a:avLst/>
          </a:prstGeom>
          <a:solidFill>
            <a:srgbClr val="052B18"/>
          </a:solidFill>
          <a:ln/>
        </p:spPr>
      </p:sp>
      <p:sp>
        <p:nvSpPr>
          <p:cNvPr id="22" name="Text 20"/>
          <p:cNvSpPr/>
          <p:nvPr/>
        </p:nvSpPr>
        <p:spPr>
          <a:xfrm>
            <a:off x="5583326" y="2029968"/>
            <a:ext cx="1272845"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AEON, AUG 2026</a:t>
            </a:r>
            <a:endParaRPr lang="en-US" sz="800" dirty="0"/>
          </a:p>
        </p:txBody>
      </p:sp>
      <p:sp>
        <p:nvSpPr>
          <p:cNvPr id="23" name="Text 21"/>
          <p:cNvSpPr/>
          <p:nvPr/>
        </p:nvSpPr>
        <p:spPr>
          <a:xfrm>
            <a:off x="5583326"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Merdeka Shop and Win</a:t>
            </a:r>
            <a:endParaRPr lang="en-US" sz="1050" dirty="0"/>
          </a:p>
        </p:txBody>
      </p:sp>
      <p:sp>
        <p:nvSpPr>
          <p:cNvPr id="24" name="Text 22"/>
          <p:cNvSpPr/>
          <p:nvPr/>
        </p:nvSpPr>
        <p:spPr>
          <a:xfrm>
            <a:off x="5583326"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RM80 single receipt, scan the QR at checkout, 69 prizes over four weekly draws.</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the QR lives at the till, and weekly draws hold a long window.</a:t>
            </a:r>
            <a:endParaRPr lang="en-US" sz="800" dirty="0"/>
          </a:p>
        </p:txBody>
      </p:sp>
      <p:sp>
        <p:nvSpPr>
          <p:cNvPr id="25" name="Shape 23"/>
          <p:cNvSpPr/>
          <p:nvPr/>
        </p:nvSpPr>
        <p:spPr>
          <a:xfrm>
            <a:off x="7103059" y="1847088"/>
            <a:ext cx="1528877" cy="2487168"/>
          </a:xfrm>
          <a:prstGeom prst="rect">
            <a:avLst/>
          </a:prstGeom>
          <a:solidFill>
            <a:srgbClr val="E9F3DD"/>
          </a:solidFill>
          <a:ln/>
        </p:spPr>
      </p:sp>
      <p:sp>
        <p:nvSpPr>
          <p:cNvPr id="26" name="Shape 24"/>
          <p:cNvSpPr/>
          <p:nvPr/>
        </p:nvSpPr>
        <p:spPr>
          <a:xfrm>
            <a:off x="7103059" y="1847088"/>
            <a:ext cx="1528877" cy="54864"/>
          </a:xfrm>
          <a:prstGeom prst="rect">
            <a:avLst/>
          </a:prstGeom>
          <a:solidFill>
            <a:srgbClr val="00A651"/>
          </a:solidFill>
          <a:ln/>
        </p:spPr>
      </p:sp>
      <p:sp>
        <p:nvSpPr>
          <p:cNvPr id="27" name="Text 25"/>
          <p:cNvSpPr/>
          <p:nvPr/>
        </p:nvSpPr>
        <p:spPr>
          <a:xfrm>
            <a:off x="7231075" y="2029968"/>
            <a:ext cx="1272845"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RUNNING RIGHT NOW</a:t>
            </a:r>
            <a:endParaRPr lang="en-US" sz="800" dirty="0"/>
          </a:p>
        </p:txBody>
      </p:sp>
      <p:sp>
        <p:nvSpPr>
          <p:cNvPr id="28" name="Text 26"/>
          <p:cNvSpPr/>
          <p:nvPr/>
        </p:nvSpPr>
        <p:spPr>
          <a:xfrm>
            <a:off x="7231075" y="2240280"/>
            <a:ext cx="1272845" cy="457200"/>
          </a:xfrm>
          <a:prstGeom prst="rect">
            <a:avLst/>
          </a:prstGeom>
          <a:noFill/>
          <a:ln/>
        </p:spPr>
        <p:txBody>
          <a:bodyPr wrap="square" lIns="0" tIns="0" rIns="0" bIns="0" rtlCol="0" anchor="t"/>
          <a:lstStyle/>
          <a:p>
            <a:pPr indent="0" marL="0">
              <a:lnSpc>
                <a:spcPts val="1350"/>
              </a:lnSpc>
              <a:buNone/>
            </a:pPr>
            <a:r>
              <a:rPr lang="en-US" sz="1050" b="1" dirty="0">
                <a:solidFill>
                  <a:srgbClr val="006838"/>
                </a:solidFill>
                <a:latin typeface="Arial" pitchFamily="34" charset="0"/>
                <a:ea typeface="Arial" pitchFamily="34" charset="-122"/>
                <a:cs typeface="Arial" pitchFamily="34" charset="-120"/>
              </a:rPr>
              <a:t>Bulan Bintang, our partner</a:t>
            </a:r>
            <a:endParaRPr lang="en-US" sz="1050" dirty="0"/>
          </a:p>
        </p:txBody>
      </p:sp>
      <p:sp>
        <p:nvSpPr>
          <p:cNvPr id="29" name="Text 27"/>
          <p:cNvSpPr/>
          <p:nvPr/>
        </p:nvSpPr>
        <p:spPr>
          <a:xfrm>
            <a:off x="7231075" y="2734056"/>
            <a:ext cx="1272845" cy="1453896"/>
          </a:xfrm>
          <a:prstGeom prst="rect">
            <a:avLst/>
          </a:prstGeom>
          <a:noFill/>
          <a:ln/>
        </p:spPr>
        <p:txBody>
          <a:bodyPr wrap="square" lIns="0" tIns="0" rIns="0" bIns="0" rtlCol="0" anchor="t"/>
          <a:lstStyle/>
          <a:p>
            <a:pPr indent="0" marL="0">
              <a:lnSpc>
                <a:spcPts val="1150"/>
              </a:lnSpc>
              <a:buNone/>
            </a:pPr>
            <a:r>
              <a:rPr lang="en-US" sz="800" dirty="0">
                <a:solidFill>
                  <a:srgbClr val="006838"/>
                </a:solidFill>
                <a:latin typeface="Arial" pitchFamily="34" charset="0"/>
                <a:ea typeface="Arial" pitchFamily="34" charset="-122"/>
                <a:cs typeface="Arial" pitchFamily="34" charset="-120"/>
              </a:rPr>
              <a:t>They run their own QR scan contest with a RM400,000 cash pool.</a:t>
            </a:r>
            <a:endParaRPr lang="en-US" sz="800" dirty="0"/>
          </a:p>
          <a:p>
            <a:pPr indent="0" marL="0">
              <a:lnSpc>
                <a:spcPts val="1150"/>
              </a:lnSpc>
              <a:buNone/>
            </a:pPr>
            <a:endParaRPr lang="en-US" sz="800" dirty="0"/>
          </a:p>
          <a:p>
            <a:pPr indent="0" marL="0">
              <a:lnSpc>
                <a:spcPts val="1150"/>
              </a:lnSpc>
              <a:buNone/>
            </a:pPr>
            <a:r>
              <a:rPr lang="en-US" sz="800" dirty="0">
                <a:solidFill>
                  <a:srgbClr val="006838"/>
                </a:solidFill>
                <a:latin typeface="Arial" pitchFamily="34" charset="0"/>
                <a:ea typeface="Arial" pitchFamily="34" charset="-122"/>
                <a:cs typeface="Arial" pitchFamily="34" charset="-120"/>
              </a:rPr>
              <a:t>LESSON: our RM145,000 two brand contest would sit next to a bigger, simpler one.</a:t>
            </a:r>
            <a:endParaRPr lang="en-US" sz="800" dirty="0"/>
          </a:p>
        </p:txBody>
      </p:sp>
      <p:sp>
        <p:nvSpPr>
          <p:cNvPr id="30" name="Shape 28"/>
          <p:cNvSpPr/>
          <p:nvPr/>
        </p:nvSpPr>
        <p:spPr>
          <a:xfrm>
            <a:off x="438912" y="4443984"/>
            <a:ext cx="8266176" cy="402336"/>
          </a:xfrm>
          <a:prstGeom prst="rect">
            <a:avLst/>
          </a:prstGeom>
          <a:solidFill>
            <a:srgbClr val="C5192B"/>
          </a:solidFill>
          <a:ln/>
        </p:spPr>
      </p:sp>
      <p:sp>
        <p:nvSpPr>
          <p:cNvPr id="31" name="Text 29"/>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finding: </a:t>
            </a:r>
            <a:pPr indent="0" marL="0">
              <a:buNone/>
            </a:pPr>
            <a:r>
              <a:rPr lang="en-US" sz="950" b="1" dirty="0">
                <a:solidFill>
                  <a:srgbClr val="FFFFFF"/>
                </a:solidFill>
                <a:latin typeface="Arial" pitchFamily="34" charset="0"/>
                <a:ea typeface="Arial" pitchFamily="34" charset="-122"/>
                <a:cs typeface="Arial" pitchFamily="34" charset="-120"/>
              </a:rPr>
              <a:t>we could not find a single Malaysian contest that required purchases from two separate brands at two separate retailers for one entry. That absence is the warning.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30352"/>
            <a:ext cx="8119872" cy="45720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Nine steps across two trips,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or six in one shop.</a:t>
            </a:r>
            <a:endParaRPr lang="en-US" sz="2400" dirty="0"/>
          </a:p>
        </p:txBody>
      </p:sp>
      <p:sp>
        <p:nvSpPr>
          <p:cNvPr id="4" name="Text 2"/>
          <p:cNvSpPr/>
          <p:nvPr/>
        </p:nvSpPr>
        <p:spPr>
          <a:xfrm>
            <a:off x="512064" y="1078992"/>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mechanic stays exactly as the client wrote it: RM25 of Saji, RM150 of Bulan Bintang, two receipts. What we change is where the shopper is standing when she buys them.</a:t>
            </a:r>
            <a:endParaRPr lang="en-US" sz="1100" dirty="0"/>
          </a:p>
        </p:txBody>
      </p:sp>
      <p:sp>
        <p:nvSpPr>
          <p:cNvPr id="5" name="Shape 3"/>
          <p:cNvSpPr/>
          <p:nvPr/>
        </p:nvSpPr>
        <p:spPr>
          <a:xfrm>
            <a:off x="512064" y="1572768"/>
            <a:ext cx="3675888" cy="2798064"/>
          </a:xfrm>
          <a:prstGeom prst="rect">
            <a:avLst/>
          </a:prstGeom>
          <a:solidFill>
            <a:srgbClr val="C5192B"/>
          </a:solidFill>
          <a:ln/>
        </p:spPr>
      </p:sp>
      <p:sp>
        <p:nvSpPr>
          <p:cNvPr id="6" name="Text 4"/>
          <p:cNvSpPr/>
          <p:nvPr/>
        </p:nvSpPr>
        <p:spPr>
          <a:xfrm>
            <a:off x="768096" y="1755648"/>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AS BRIEFED</a:t>
            </a:r>
            <a:endParaRPr lang="en-US" sz="1400" dirty="0"/>
          </a:p>
        </p:txBody>
      </p:sp>
      <p:sp>
        <p:nvSpPr>
          <p:cNvPr id="7" name="Text 5"/>
          <p:cNvSpPr/>
          <p:nvPr/>
        </p:nvSpPr>
        <p:spPr>
          <a:xfrm>
            <a:off x="768096" y="2103120"/>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Two shops, two trips, receipts days apart</a:t>
            </a:r>
            <a:endParaRPr lang="en-US" sz="1350" dirty="0"/>
          </a:p>
        </p:txBody>
      </p:sp>
      <p:sp>
        <p:nvSpPr>
          <p:cNvPr id="8" name="Text 6"/>
          <p:cNvSpPr/>
          <p:nvPr/>
        </p:nvSpPr>
        <p:spPr>
          <a:xfrm>
            <a:off x="768096" y="2542032"/>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9" name="Text 7"/>
          <p:cNvSpPr/>
          <p:nvPr/>
        </p:nvSpPr>
        <p:spPr>
          <a:xfrm>
            <a:off x="768096" y="2715768"/>
            <a:ext cx="3163824" cy="15727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Sees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Works out that two brands are needed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Buys RM25 of Saji at the grocer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Keeps receipt one, for days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Travels to a Bulan Bintang boutique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6. Buys RM150 of baju</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7. Finds the entry route again</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8. Uploads two receipts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9. Submits</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Steps four to six take days.</a:t>
            </a:r>
            <a:endParaRPr lang="en-US" sz="850" dirty="0"/>
          </a:p>
        </p:txBody>
      </p:sp>
      <p:sp>
        <p:nvSpPr>
          <p:cNvPr id="10" name="Shape 8"/>
          <p:cNvSpPr/>
          <p:nvPr/>
        </p:nvSpPr>
        <p:spPr>
          <a:xfrm>
            <a:off x="4956048" y="1572768"/>
            <a:ext cx="3675888" cy="2798064"/>
          </a:xfrm>
          <a:prstGeom prst="rect">
            <a:avLst/>
          </a:prstGeom>
          <a:solidFill>
            <a:srgbClr val="006838"/>
          </a:solidFill>
          <a:ln/>
        </p:spPr>
      </p:sp>
      <p:sp>
        <p:nvSpPr>
          <p:cNvPr id="11" name="Text 9"/>
          <p:cNvSpPr/>
          <p:nvPr/>
        </p:nvSpPr>
        <p:spPr>
          <a:xfrm>
            <a:off x="5212080" y="1755648"/>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WITH THE POP-UP</a:t>
            </a:r>
            <a:endParaRPr lang="en-US" sz="1400" dirty="0"/>
          </a:p>
        </p:txBody>
      </p:sp>
      <p:sp>
        <p:nvSpPr>
          <p:cNvPr id="12" name="Text 10"/>
          <p:cNvSpPr/>
          <p:nvPr/>
        </p:nvSpPr>
        <p:spPr>
          <a:xfrm>
            <a:off x="5212080" y="2103120"/>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One shop, one trip, receipts minutes apart</a:t>
            </a:r>
            <a:endParaRPr lang="en-US" sz="1350" dirty="0"/>
          </a:p>
        </p:txBody>
      </p:sp>
      <p:sp>
        <p:nvSpPr>
          <p:cNvPr id="13" name="Text 11"/>
          <p:cNvSpPr/>
          <p:nvPr/>
        </p:nvSpPr>
        <p:spPr>
          <a:xfrm>
            <a:off x="5212080" y="2542032"/>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14" name="Text 12"/>
          <p:cNvSpPr/>
          <p:nvPr/>
        </p:nvSpPr>
        <p:spPr>
          <a:xfrm>
            <a:off x="5212080" y="2715768"/>
            <a:ext cx="3163824" cy="15727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Sees the ad, or the poster at the boutique door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Buys RM150 of baju at Bulan Bintang</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Buys RM25 of Saji at the counter behind her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Scans the counter QR, or taps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Uploads both receipts, taken minutes apart</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6. Submits</a:t>
            </a:r>
            <a:endParaRPr lang="en-US" sz="850" dirty="0"/>
          </a:p>
          <a:p>
            <a:pPr indent="0" marL="0">
              <a:lnSpc>
                <a:spcPts val="1100"/>
              </a:lnSpc>
              <a:buNone/>
            </a:pP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The RM175 threshold is untouched. The two trips become one afternoon, and no receipt has to survive a week in a handbag.</a:t>
            </a:r>
            <a:endParaRPr lang="en-US" sz="850" dirty="0"/>
          </a:p>
        </p:txBody>
      </p:sp>
      <p:sp>
        <p:nvSpPr>
          <p:cNvPr id="15" name="Text 13"/>
          <p:cNvSpPr/>
          <p:nvPr/>
        </p:nvSpPr>
        <p:spPr>
          <a:xfrm>
            <a:off x="4370832" y="2752344"/>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16" name="Shape 14"/>
          <p:cNvSpPr/>
          <p:nvPr/>
        </p:nvSpPr>
        <p:spPr>
          <a:xfrm>
            <a:off x="438912" y="4443984"/>
            <a:ext cx="8266176" cy="402336"/>
          </a:xfrm>
          <a:prstGeom prst="rect">
            <a:avLst/>
          </a:prstGeom>
          <a:solidFill>
            <a:srgbClr val="052B18"/>
          </a:solidFill>
          <a:ln/>
        </p:spPr>
      </p:sp>
      <p:sp>
        <p:nvSpPr>
          <p:cNvPr id="17" name="Text 1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honest trade: </a:t>
            </a:r>
            <a:pPr indent="0" marL="0">
              <a:buNone/>
            </a:pPr>
            <a:r>
              <a:rPr lang="en-US" sz="950" b="1" dirty="0">
                <a:solidFill>
                  <a:srgbClr val="FFFFFF"/>
                </a:solidFill>
                <a:latin typeface="Arial" pitchFamily="34" charset="0"/>
                <a:ea typeface="Arial" pitchFamily="34" charset="-122"/>
                <a:cs typeface="Arial" pitchFamily="34" charset="-120"/>
              </a:rPr>
              <a:t>this fixes the journey for anyone already heading to a boutique, and it hands the media a new job, which is putting 14 shopfronts in front of the right people.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Put a Saji counter inside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every Bulan Bintang store.</a:t>
            </a:r>
            <a:endParaRPr lang="en-US" sz="23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One counter, 14 boutiques, 10 weeks. It puts both qualifying purchases within a few steps of each other, and it puts Saji in front of a shopper who has just spent RM289 on a baju.</a:t>
            </a:r>
            <a:endParaRPr lang="en-US" sz="1100" dirty="0"/>
          </a:p>
        </p:txBody>
      </p:sp>
      <p:sp>
        <p:nvSpPr>
          <p:cNvPr id="5" name="Shape 3"/>
          <p:cNvSpPr/>
          <p:nvPr/>
        </p:nvSpPr>
        <p:spPr>
          <a:xfrm>
            <a:off x="512064" y="1901952"/>
            <a:ext cx="2584704" cy="2286000"/>
          </a:xfrm>
          <a:prstGeom prst="rect">
            <a:avLst/>
          </a:prstGeom>
          <a:solidFill>
            <a:srgbClr val="E9F3DD"/>
          </a:solidFill>
          <a:ln/>
        </p:spPr>
      </p:sp>
      <p:sp>
        <p:nvSpPr>
          <p:cNvPr id="6" name="Shape 4"/>
          <p:cNvSpPr/>
          <p:nvPr/>
        </p:nvSpPr>
        <p:spPr>
          <a:xfrm>
            <a:off x="512064" y="1901952"/>
            <a:ext cx="2584704" cy="54864"/>
          </a:xfrm>
          <a:prstGeom prst="rect">
            <a:avLst/>
          </a:prstGeom>
          <a:solidFill>
            <a:srgbClr val="C5192B"/>
          </a:solidFill>
          <a:ln/>
        </p:spPr>
      </p:sp>
      <p:sp>
        <p:nvSpPr>
          <p:cNvPr id="7" name="Text 5"/>
          <p:cNvSpPr/>
          <p:nvPr/>
        </p:nvSpPr>
        <p:spPr>
          <a:xfrm>
            <a:off x="676656" y="2084832"/>
            <a:ext cx="2255520" cy="384048"/>
          </a:xfrm>
          <a:prstGeom prst="rect">
            <a:avLst/>
          </a:prstGeom>
          <a:noFill/>
          <a:ln/>
        </p:spPr>
        <p:txBody>
          <a:bodyPr wrap="none" lIns="0" tIns="0" rIns="0" bIns="0" rtlCol="0" anchor="t"/>
          <a:lstStyle/>
          <a:p>
            <a:pPr indent="0" marL="0">
              <a:buNone/>
            </a:pPr>
            <a:r>
              <a:rPr lang="en-US" sz="1500" dirty="0">
                <a:solidFill>
                  <a:srgbClr val="C5192B"/>
                </a:solidFill>
                <a:latin typeface="Arial Black" pitchFamily="34" charset="0"/>
                <a:ea typeface="Arial Black" pitchFamily="34" charset="-122"/>
                <a:cs typeface="Arial Black" pitchFamily="34" charset="-120"/>
              </a:rPr>
              <a:t>Access</a:t>
            </a:r>
            <a:endParaRPr lang="en-US" sz="15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FRICTION ANSWER</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Both receipts in one visit</a:t>
            </a:r>
            <a:endParaRPr lang="en-US" sz="1200" dirty="0"/>
          </a:p>
        </p:txBody>
      </p:sp>
      <p:sp>
        <p:nvSpPr>
          <p:cNvPr id="10" name="Text 8"/>
          <p:cNvSpPr/>
          <p:nvPr/>
        </p:nvSpPr>
        <p:spPr>
          <a:xfrm>
            <a:off x="676656"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She buys her baju, turns around, and buys her Saji at the counter behind her. The client’s RM175 threshold survives intact, and the two receipts are minutes apart instead of days.</a:t>
            </a:r>
            <a:endParaRPr lang="en-US" sz="950" dirty="0"/>
          </a:p>
        </p:txBody>
      </p:sp>
      <p:sp>
        <p:nvSpPr>
          <p:cNvPr id="11" name="Shape 9"/>
          <p:cNvSpPr/>
          <p:nvPr/>
        </p:nvSpPr>
        <p:spPr>
          <a:xfrm>
            <a:off x="3279648" y="1901952"/>
            <a:ext cx="2584704" cy="2286000"/>
          </a:xfrm>
          <a:prstGeom prst="rect">
            <a:avLst/>
          </a:prstGeom>
          <a:solidFill>
            <a:srgbClr val="E9F3DD"/>
          </a:solidFill>
          <a:ln/>
        </p:spPr>
      </p:sp>
      <p:sp>
        <p:nvSpPr>
          <p:cNvPr id="12" name="Shape 10"/>
          <p:cNvSpPr/>
          <p:nvPr/>
        </p:nvSpPr>
        <p:spPr>
          <a:xfrm>
            <a:off x="3279648" y="1901952"/>
            <a:ext cx="2584704" cy="54864"/>
          </a:xfrm>
          <a:prstGeom prst="rect">
            <a:avLst/>
          </a:prstGeom>
          <a:solidFill>
            <a:srgbClr val="006838"/>
          </a:solidFill>
          <a:ln/>
        </p:spPr>
      </p:sp>
      <p:sp>
        <p:nvSpPr>
          <p:cNvPr id="13" name="Text 11"/>
          <p:cNvSpPr/>
          <p:nvPr/>
        </p:nvSpPr>
        <p:spPr>
          <a:xfrm>
            <a:off x="3444240" y="2084832"/>
            <a:ext cx="2255520" cy="384048"/>
          </a:xfrm>
          <a:prstGeom prst="rect">
            <a:avLst/>
          </a:prstGeom>
          <a:noFill/>
          <a:ln/>
        </p:spPr>
        <p:txBody>
          <a:bodyPr wrap="none" lIns="0" tIns="0" rIns="0" bIns="0" rtlCol="0" anchor="t"/>
          <a:lstStyle/>
          <a:p>
            <a:pPr indent="0" marL="0">
              <a:buNone/>
            </a:pPr>
            <a:r>
              <a:rPr lang="en-US" sz="1500" dirty="0">
                <a:solidFill>
                  <a:srgbClr val="006838"/>
                </a:solidFill>
                <a:latin typeface="Arial Black" pitchFamily="34" charset="0"/>
                <a:ea typeface="Arial Black" pitchFamily="34" charset="-122"/>
                <a:cs typeface="Arial Black" pitchFamily="34" charset="-120"/>
              </a:rPr>
              <a:t>Exclusive</a:t>
            </a:r>
            <a:endParaRPr lang="en-US" sz="15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THE REASON TO GO</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Three things you can only get here</a:t>
            </a:r>
            <a:endParaRPr lang="en-US" sz="1200" dirty="0"/>
          </a:p>
        </p:txBody>
      </p:sp>
      <p:sp>
        <p:nvSpPr>
          <p:cNvPr id="16" name="Text 14"/>
          <p:cNvSpPr/>
          <p:nvPr/>
        </p:nvSpPr>
        <p:spPr>
          <a:xfrm>
            <a:off x="3444240"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mystery gift, the campaign pack and the Golden Ticket exist only in stock sold at the pop-ups. Walking into a boutique becomes the advantage rather than the obstacle.</a:t>
            </a:r>
            <a:endParaRPr lang="en-US" sz="950" dirty="0"/>
          </a:p>
        </p:txBody>
      </p:sp>
      <p:sp>
        <p:nvSpPr>
          <p:cNvPr id="17" name="Shape 15"/>
          <p:cNvSpPr/>
          <p:nvPr/>
        </p:nvSpPr>
        <p:spPr>
          <a:xfrm>
            <a:off x="6047232" y="1901952"/>
            <a:ext cx="2584704" cy="2286000"/>
          </a:xfrm>
          <a:prstGeom prst="rect">
            <a:avLst/>
          </a:prstGeom>
          <a:solidFill>
            <a:srgbClr val="E9F3DD"/>
          </a:solidFill>
          <a:ln/>
        </p:spPr>
      </p:sp>
      <p:sp>
        <p:nvSpPr>
          <p:cNvPr id="18" name="Shape 16"/>
          <p:cNvSpPr/>
          <p:nvPr/>
        </p:nvSpPr>
        <p:spPr>
          <a:xfrm>
            <a:off x="6047232" y="1901952"/>
            <a:ext cx="2584704" cy="54864"/>
          </a:xfrm>
          <a:prstGeom prst="rect">
            <a:avLst/>
          </a:prstGeom>
          <a:solidFill>
            <a:srgbClr val="E8912C"/>
          </a:solidFill>
          <a:ln/>
        </p:spPr>
      </p:sp>
      <p:sp>
        <p:nvSpPr>
          <p:cNvPr id="19" name="Text 17"/>
          <p:cNvSpPr/>
          <p:nvPr/>
        </p:nvSpPr>
        <p:spPr>
          <a:xfrm>
            <a:off x="6211824" y="2084832"/>
            <a:ext cx="2255520" cy="384048"/>
          </a:xfrm>
          <a:prstGeom prst="rect">
            <a:avLst/>
          </a:prstGeom>
          <a:noFill/>
          <a:ln/>
        </p:spPr>
        <p:txBody>
          <a:bodyPr wrap="none" lIns="0" tIns="0" rIns="0" bIns="0" rtlCol="0" anchor="t"/>
          <a:lstStyle/>
          <a:p>
            <a:pPr indent="0" marL="0">
              <a:buNone/>
            </a:pPr>
            <a:r>
              <a:rPr lang="en-US" sz="1500" dirty="0">
                <a:solidFill>
                  <a:srgbClr val="E8912C"/>
                </a:solidFill>
                <a:latin typeface="Arial Black" pitchFamily="34" charset="0"/>
                <a:ea typeface="Arial Black" pitchFamily="34" charset="-122"/>
                <a:cs typeface="Arial Black" pitchFamily="34" charset="-120"/>
              </a:rPr>
              <a:t>Data</a:t>
            </a:r>
            <a:endParaRPr lang="en-US" sz="15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WHAT SAJI KEEPS AFTERWARDS</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First-party proof of an M40 basket</a:t>
            </a:r>
            <a:endParaRPr lang="en-US" sz="1200" dirty="0"/>
          </a:p>
        </p:txBody>
      </p:sp>
      <p:sp>
        <p:nvSpPr>
          <p:cNvPr id="22" name="Text 20"/>
          <p:cNvSpPr/>
          <p:nvPr/>
        </p:nvSpPr>
        <p:spPr>
          <a:xfrm>
            <a:off x="6211824"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Saji is read as a B40 brand. Every pop-up receipt pairs RM25 of Saji with RM150 or more of apparel, which is basket evidence Saji does not hold anywhere today.</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this needs from the partner: </a:t>
            </a:r>
            <a:pPr indent="0" marL="0">
              <a:buNone/>
            </a:pPr>
            <a:r>
              <a:rPr lang="en-US" sz="950" b="1" dirty="0">
                <a:solidFill>
                  <a:srgbClr val="FFFFFF"/>
                </a:solidFill>
                <a:latin typeface="Arial" pitchFamily="34" charset="0"/>
                <a:ea typeface="Arial" pitchFamily="34" charset="-122"/>
                <a:cs typeface="Arial" pitchFamily="34" charset="-120"/>
              </a:rPr>
              <a:t>floor space for a Saji counter in all 14 boutiques for 10 weeks. Everything in this section rests on that one yes.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Three reasons to walk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into the pop-up.</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A counter on its own is a convenience. These three make it somewhere worth going, and all three are gated to stock bought at the pop-ups.</a:t>
            </a:r>
            <a:endParaRPr lang="en-US" sz="1100" dirty="0"/>
          </a:p>
        </p:txBody>
      </p:sp>
      <p:sp>
        <p:nvSpPr>
          <p:cNvPr id="5" name="Shape 3"/>
          <p:cNvSpPr/>
          <p:nvPr/>
        </p:nvSpPr>
        <p:spPr>
          <a:xfrm>
            <a:off x="512064" y="1901952"/>
            <a:ext cx="2584704" cy="2286000"/>
          </a:xfrm>
          <a:prstGeom prst="rect">
            <a:avLst/>
          </a:prstGeom>
          <a:solidFill>
            <a:srgbClr val="E9F3DD"/>
          </a:solidFill>
          <a:ln/>
        </p:spPr>
      </p:sp>
      <p:sp>
        <p:nvSpPr>
          <p:cNvPr id="6" name="Shape 4"/>
          <p:cNvSpPr/>
          <p:nvPr/>
        </p:nvSpPr>
        <p:spPr>
          <a:xfrm>
            <a:off x="512064" y="1901952"/>
            <a:ext cx="2584704" cy="54864"/>
          </a:xfrm>
          <a:prstGeom prst="rect">
            <a:avLst/>
          </a:prstGeom>
          <a:solidFill>
            <a:srgbClr val="C5192B"/>
          </a:solidFill>
          <a:ln/>
        </p:spPr>
      </p:sp>
      <p:sp>
        <p:nvSpPr>
          <p:cNvPr id="7" name="Text 5"/>
          <p:cNvSpPr/>
          <p:nvPr/>
        </p:nvSpPr>
        <p:spPr>
          <a:xfrm>
            <a:off x="676656" y="2084832"/>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RM50</a:t>
            </a:r>
            <a:endParaRPr lang="en-US" sz="17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MYSTERY GIFT</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Spend above the entry floor</a:t>
            </a:r>
            <a:endParaRPr lang="en-US" sz="1200" dirty="0"/>
          </a:p>
        </p:txBody>
      </p:sp>
      <p:sp>
        <p:nvSpPr>
          <p:cNvPr id="10" name="Text 8"/>
          <p:cNvSpPr/>
          <p:nvPr/>
        </p:nvSpPr>
        <p:spPr>
          <a:xfrm>
            <a:off x="676656"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Double the RM25 threshold at the counter and a wrapped mystery gift goes in the bag. It lifts basket value on the spot and gives the staff something to say. The client sets the threshold.</a:t>
            </a:r>
            <a:endParaRPr lang="en-US" sz="950" dirty="0"/>
          </a:p>
        </p:txBody>
      </p:sp>
      <p:sp>
        <p:nvSpPr>
          <p:cNvPr id="11" name="Shape 9"/>
          <p:cNvSpPr/>
          <p:nvPr/>
        </p:nvSpPr>
        <p:spPr>
          <a:xfrm>
            <a:off x="3279648" y="1901952"/>
            <a:ext cx="2584704" cy="2286000"/>
          </a:xfrm>
          <a:prstGeom prst="rect">
            <a:avLst/>
          </a:prstGeom>
          <a:solidFill>
            <a:srgbClr val="E9F3DD"/>
          </a:solidFill>
          <a:ln/>
        </p:spPr>
      </p:sp>
      <p:sp>
        <p:nvSpPr>
          <p:cNvPr id="12" name="Shape 10"/>
          <p:cNvSpPr/>
          <p:nvPr/>
        </p:nvSpPr>
        <p:spPr>
          <a:xfrm>
            <a:off x="3279648" y="1901952"/>
            <a:ext cx="2584704" cy="54864"/>
          </a:xfrm>
          <a:prstGeom prst="rect">
            <a:avLst/>
          </a:prstGeom>
          <a:solidFill>
            <a:srgbClr val="006838"/>
          </a:solidFill>
          <a:ln/>
        </p:spPr>
      </p:sp>
      <p:sp>
        <p:nvSpPr>
          <p:cNvPr id="13" name="Text 11"/>
          <p:cNvSpPr/>
          <p:nvPr/>
        </p:nvSpPr>
        <p:spPr>
          <a:xfrm>
            <a:off x="3444240" y="2084832"/>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Limited</a:t>
            </a:r>
            <a:endParaRPr lang="en-US" sz="17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CAMPAIGN PACKAGING</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Saji x Bulan Bintang, on the pack</a:t>
            </a:r>
            <a:endParaRPr lang="en-US" sz="1200" dirty="0"/>
          </a:p>
        </p:txBody>
      </p:sp>
      <p:sp>
        <p:nvSpPr>
          <p:cNvPr id="16" name="Text 14"/>
          <p:cNvSpPr/>
          <p:nvPr/>
        </p:nvSpPr>
        <p:spPr>
          <a:xfrm>
            <a:off x="3444240"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campaign pack sold only through the pop-ups. It is the collaboration made physical, it photographs well, and it is the thing shoppers post without being asked to.</a:t>
            </a:r>
            <a:endParaRPr lang="en-US" sz="950" dirty="0"/>
          </a:p>
        </p:txBody>
      </p:sp>
      <p:sp>
        <p:nvSpPr>
          <p:cNvPr id="17" name="Shape 15"/>
          <p:cNvSpPr/>
          <p:nvPr/>
        </p:nvSpPr>
        <p:spPr>
          <a:xfrm>
            <a:off x="6047232" y="1901952"/>
            <a:ext cx="2584704" cy="2286000"/>
          </a:xfrm>
          <a:prstGeom prst="rect">
            <a:avLst/>
          </a:prstGeom>
          <a:solidFill>
            <a:srgbClr val="E9F3DD"/>
          </a:solidFill>
          <a:ln/>
        </p:spPr>
      </p:sp>
      <p:sp>
        <p:nvSpPr>
          <p:cNvPr id="18" name="Shape 16"/>
          <p:cNvSpPr/>
          <p:nvPr/>
        </p:nvSpPr>
        <p:spPr>
          <a:xfrm>
            <a:off x="6047232" y="1901952"/>
            <a:ext cx="2584704" cy="54864"/>
          </a:xfrm>
          <a:prstGeom prst="rect">
            <a:avLst/>
          </a:prstGeom>
          <a:solidFill>
            <a:srgbClr val="E8912C"/>
          </a:solidFill>
          <a:ln/>
        </p:spPr>
      </p:sp>
      <p:sp>
        <p:nvSpPr>
          <p:cNvPr id="19" name="Text 17"/>
          <p:cNvSpPr/>
          <p:nvPr/>
        </p:nvSpPr>
        <p:spPr>
          <a:xfrm>
            <a:off x="6211824" y="2084832"/>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Golden</a:t>
            </a:r>
            <a:endParaRPr lang="en-US" sz="17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THE GOLDEN TICKET</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Randomized, and only here</a:t>
            </a:r>
            <a:endParaRPr lang="en-US" sz="1200" dirty="0"/>
          </a:p>
        </p:txBody>
      </p:sp>
      <p:sp>
        <p:nvSpPr>
          <p:cNvPr id="22" name="Text 20"/>
          <p:cNvSpPr/>
          <p:nvPr/>
        </p:nvSpPr>
        <p:spPr>
          <a:xfrm>
            <a:off x="6211824" y="3209544"/>
            <a:ext cx="2255520" cy="832104"/>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ticket hidden at random in pop-up stock wins the RM29,000 grand prize outright. One shopper walks out of a boutique holding it, and that is the story this contest has been missing.</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all three are pop-up only: </a:t>
            </a:r>
            <a:pPr indent="0" marL="0">
              <a:buNone/>
            </a:pPr>
            <a:r>
              <a:rPr lang="en-US" sz="950" b="1" dirty="0">
                <a:solidFill>
                  <a:srgbClr val="FFFFFF"/>
                </a:solidFill>
                <a:latin typeface="Arial" pitchFamily="34" charset="0"/>
                <a:ea typeface="Arial" pitchFamily="34" charset="-122"/>
                <a:cs typeface="Arial" pitchFamily="34" charset="-120"/>
              </a:rPr>
              <a:t>exclusivity is what makes a shopper choose the boutique over the grocer, which is the whole job of the counter.</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RM145,000, unchanged.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Split to make a headline.</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client budgeted RM145,000 and that total does not move by a ringgit. What moves is the shape: 40 weekly winners, plus one Golden Ticket worth ten of them, so the contest finally has a prize people repeat to each other.</a:t>
            </a:r>
            <a:endParaRPr lang="en-US" sz="1100" dirty="0"/>
          </a:p>
        </p:txBody>
      </p:sp>
      <p:sp>
        <p:nvSpPr>
          <p:cNvPr id="5" name="Shape 3"/>
          <p:cNvSpPr/>
          <p:nvPr/>
        </p:nvSpPr>
        <p:spPr>
          <a:xfrm>
            <a:off x="512064" y="2011680"/>
            <a:ext cx="2584704" cy="2249424"/>
          </a:xfrm>
          <a:prstGeom prst="rect">
            <a:avLst/>
          </a:prstGeom>
          <a:solidFill>
            <a:srgbClr val="E9F3DD"/>
          </a:solidFill>
          <a:ln/>
        </p:spPr>
      </p:sp>
      <p:sp>
        <p:nvSpPr>
          <p:cNvPr id="6" name="Shape 4"/>
          <p:cNvSpPr/>
          <p:nvPr/>
        </p:nvSpPr>
        <p:spPr>
          <a:xfrm>
            <a:off x="512064" y="2011680"/>
            <a:ext cx="2584704" cy="54864"/>
          </a:xfrm>
          <a:prstGeom prst="rect">
            <a:avLst/>
          </a:prstGeom>
          <a:solidFill>
            <a:srgbClr val="C5192B"/>
          </a:solidFill>
          <a:ln/>
        </p:spPr>
      </p:sp>
      <p:sp>
        <p:nvSpPr>
          <p:cNvPr id="7" name="Text 5"/>
          <p:cNvSpPr/>
          <p:nvPr/>
        </p:nvSpPr>
        <p:spPr>
          <a:xfrm>
            <a:off x="676656" y="2194560"/>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RM116,000</a:t>
            </a:r>
            <a:endParaRPr lang="en-US" sz="1700" dirty="0"/>
          </a:p>
        </p:txBody>
      </p:sp>
      <p:sp>
        <p:nvSpPr>
          <p:cNvPr id="8" name="Text 6"/>
          <p:cNvSpPr/>
          <p:nvPr/>
        </p:nvSpPr>
        <p:spPr>
          <a:xfrm>
            <a:off x="676656" y="261518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40 WEEKLY WINNERS</a:t>
            </a:r>
            <a:endParaRPr lang="en-US" sz="800" dirty="0"/>
          </a:p>
        </p:txBody>
      </p:sp>
      <p:sp>
        <p:nvSpPr>
          <p:cNvPr id="9" name="Text 7"/>
          <p:cNvSpPr/>
          <p:nvPr/>
        </p:nvSpPr>
        <p:spPr>
          <a:xfrm>
            <a:off x="676656"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Four a week, ten weeks</a:t>
            </a:r>
            <a:endParaRPr lang="en-US" sz="1200" dirty="0"/>
          </a:p>
        </p:txBody>
      </p:sp>
      <p:sp>
        <p:nvSpPr>
          <p:cNvPr id="10" name="Text 8"/>
          <p:cNvSpPr/>
          <p:nvPr/>
        </p:nvSpPr>
        <p:spPr>
          <a:xfrm>
            <a:off x="676656"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RM2,900 each: RM500 duit raya in cash plus RM2,400 of Saji products for a year. Ten weekly draws, so no week of the contest passes without a visible winner.</a:t>
            </a:r>
            <a:endParaRPr lang="en-US" sz="950" dirty="0"/>
          </a:p>
        </p:txBody>
      </p:sp>
      <p:sp>
        <p:nvSpPr>
          <p:cNvPr id="11" name="Shape 9"/>
          <p:cNvSpPr/>
          <p:nvPr/>
        </p:nvSpPr>
        <p:spPr>
          <a:xfrm>
            <a:off x="3279648" y="2011680"/>
            <a:ext cx="2584704" cy="2249424"/>
          </a:xfrm>
          <a:prstGeom prst="rect">
            <a:avLst/>
          </a:prstGeom>
          <a:solidFill>
            <a:srgbClr val="E9F3DD"/>
          </a:solidFill>
          <a:ln/>
        </p:spPr>
      </p:sp>
      <p:sp>
        <p:nvSpPr>
          <p:cNvPr id="12" name="Shape 10"/>
          <p:cNvSpPr/>
          <p:nvPr/>
        </p:nvSpPr>
        <p:spPr>
          <a:xfrm>
            <a:off x="3279648" y="2011680"/>
            <a:ext cx="2584704" cy="54864"/>
          </a:xfrm>
          <a:prstGeom prst="rect">
            <a:avLst/>
          </a:prstGeom>
          <a:solidFill>
            <a:srgbClr val="006838"/>
          </a:solidFill>
          <a:ln/>
        </p:spPr>
      </p:sp>
      <p:sp>
        <p:nvSpPr>
          <p:cNvPr id="13" name="Text 11"/>
          <p:cNvSpPr/>
          <p:nvPr/>
        </p:nvSpPr>
        <p:spPr>
          <a:xfrm>
            <a:off x="3444240" y="2194560"/>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RM29,000</a:t>
            </a:r>
            <a:endParaRPr lang="en-US" sz="1700" dirty="0"/>
          </a:p>
        </p:txBody>
      </p:sp>
      <p:sp>
        <p:nvSpPr>
          <p:cNvPr id="14" name="Text 12"/>
          <p:cNvSpPr/>
          <p:nvPr/>
        </p:nvSpPr>
        <p:spPr>
          <a:xfrm>
            <a:off x="3444240" y="261518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ONE GOLDEN TICKET</a:t>
            </a:r>
            <a:endParaRPr lang="en-US" sz="800" dirty="0"/>
          </a:p>
        </p:txBody>
      </p:sp>
      <p:sp>
        <p:nvSpPr>
          <p:cNvPr id="15" name="Text 13"/>
          <p:cNvSpPr/>
          <p:nvPr/>
        </p:nvSpPr>
        <p:spPr>
          <a:xfrm>
            <a:off x="3444240"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Ten weekly prizes in one packet</a:t>
            </a:r>
            <a:endParaRPr lang="en-US" sz="1200" dirty="0"/>
          </a:p>
        </p:txBody>
      </p:sp>
      <p:sp>
        <p:nvSpPr>
          <p:cNvPr id="16" name="Text 14"/>
          <p:cNvSpPr/>
          <p:nvPr/>
        </p:nvSpPr>
        <p:spPr>
          <a:xfrm>
            <a:off x="3444240"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Found at random in stock bought at a pop-up. It is worth exactly ten of the weekly prizes, which is a line the creative can use without exaggerating anything.</a:t>
            </a:r>
            <a:endParaRPr lang="en-US" sz="950" dirty="0"/>
          </a:p>
        </p:txBody>
      </p:sp>
      <p:sp>
        <p:nvSpPr>
          <p:cNvPr id="17" name="Shape 15"/>
          <p:cNvSpPr/>
          <p:nvPr/>
        </p:nvSpPr>
        <p:spPr>
          <a:xfrm>
            <a:off x="6047232" y="2011680"/>
            <a:ext cx="2584704" cy="2249424"/>
          </a:xfrm>
          <a:prstGeom prst="rect">
            <a:avLst/>
          </a:prstGeom>
          <a:solidFill>
            <a:srgbClr val="E9F3DD"/>
          </a:solidFill>
          <a:ln/>
        </p:spPr>
      </p:sp>
      <p:sp>
        <p:nvSpPr>
          <p:cNvPr id="18" name="Shape 16"/>
          <p:cNvSpPr/>
          <p:nvPr/>
        </p:nvSpPr>
        <p:spPr>
          <a:xfrm>
            <a:off x="6047232" y="2011680"/>
            <a:ext cx="2584704" cy="54864"/>
          </a:xfrm>
          <a:prstGeom prst="rect">
            <a:avLst/>
          </a:prstGeom>
          <a:solidFill>
            <a:srgbClr val="E8912C"/>
          </a:solidFill>
          <a:ln/>
        </p:spPr>
      </p:sp>
      <p:sp>
        <p:nvSpPr>
          <p:cNvPr id="19" name="Text 17"/>
          <p:cNvSpPr/>
          <p:nvPr/>
        </p:nvSpPr>
        <p:spPr>
          <a:xfrm>
            <a:off x="6211824" y="2194560"/>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 RM600</a:t>
            </a:r>
            <a:endParaRPr lang="en-US" sz="1700" dirty="0"/>
          </a:p>
        </p:txBody>
      </p:sp>
      <p:sp>
        <p:nvSpPr>
          <p:cNvPr id="20" name="Text 18"/>
          <p:cNvSpPr/>
          <p:nvPr/>
        </p:nvSpPr>
        <p:spPr>
          <a:xfrm>
            <a:off x="6211824" y="2615184"/>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OPTIONAL, PARTNER FUNDED</a:t>
            </a:r>
            <a:endParaRPr lang="en-US" sz="800" dirty="0"/>
          </a:p>
        </p:txBody>
      </p:sp>
      <p:sp>
        <p:nvSpPr>
          <p:cNvPr id="21" name="Text 19"/>
          <p:cNvSpPr/>
          <p:nvPr/>
        </p:nvSpPr>
        <p:spPr>
          <a:xfrm>
            <a:off x="6211824" y="282549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If Bulan Bintang co-funds</a:t>
            </a:r>
            <a:endParaRPr lang="en-US" sz="1200" dirty="0"/>
          </a:p>
        </p:txBody>
      </p:sp>
      <p:sp>
        <p:nvSpPr>
          <p:cNvPr id="22" name="Text 20"/>
          <p:cNvSpPr/>
          <p:nvPr/>
        </p:nvSpPr>
        <p:spPr>
          <a:xfrm>
            <a:off x="6211824" y="331927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family baju set on each weekly prize takes it to RM3,500 a winner, with Saji’s RM145,000 untouched. The partner is in the mechanic, the pop-up and the Golden Ticket, but not in the prize.</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one trade: </a:t>
            </a:r>
            <a:pPr indent="0" marL="0">
              <a:buNone/>
            </a:pPr>
            <a:r>
              <a:rPr lang="en-US" sz="950" b="1" dirty="0">
                <a:solidFill>
                  <a:srgbClr val="FFFFFF"/>
                </a:solidFill>
                <a:latin typeface="Arial" pitchFamily="34" charset="0"/>
                <a:ea typeface="Arial" pitchFamily="34" charset="-122"/>
                <a:cs typeface="Arial" pitchFamily="34" charset="-120"/>
              </a:rPr>
              <a:t>the winner count moves from 50 to 40 to fund the Golden Ticket. Saji spends the same RM145,000 either way.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02.</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The media plan</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What we are planning on, what RM135,000 buys, what RM160,000 buys, and why an entry is now priced at RM18 instead of RM9.</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Every number we plan on,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and where it came from.</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Half of this is derived from Saji’s own 2025 per platform delivery. Half is our planning assumption, because neither past deck contains a single spend figure. You should know which is which before you defend it.</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12064" y="1865376"/>
          <a:ext cx="8119872" cy="914400"/>
        </p:xfrm>
        <a:graphic>
          <a:graphicData uri="http://schemas.openxmlformats.org/drawingml/2006/table">
            <a:tbl>
              <a:tblPr/>
              <a:tblGrid>
                <a:gridCol w="713232"/>
                <a:gridCol w="786384"/>
                <a:gridCol w="1170432"/>
                <a:gridCol w="768096"/>
                <a:gridCol w="548640"/>
                <a:gridCol w="786384"/>
                <a:gridCol w="1152144"/>
                <a:gridCol w="2194560"/>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PLATFORM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OBJECTIVE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CPM</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FREQ</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VIEW RATE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PER VIEW / CPC</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SOURCE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Contest</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Meta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Conversions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RM22.00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CPC RM0.45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CPM assumed, CTR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Contest</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Conversions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RM15.00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n/a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CPC RM0.30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CPM assumed, CTR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Video views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RM2.20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1.9</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70%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RM0.0031</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Freq and VTR 2025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Meta</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Reels 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RM3.50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55%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RM0.0064</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Freq 2025, rest 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Video</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YouTube</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In-stream, Shorts</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RM3.80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1.7</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32%</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RM0.0119</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83464">
                <a:tc>
                  <a:txBody>
                    <a:bodyPr/>
                    <a:lstStyle/>
                    <a:p>
                      <a:pPr indent="0" marL="0">
                        <a:buNone/>
                      </a:pPr>
                      <a:r>
                        <a:rPr lang="en-US" sz="850" b="1" dirty="0">
                          <a:solidFill>
                            <a:srgbClr val="006838"/>
                          </a:solidFill>
                          <a:latin typeface="Arial" pitchFamily="34" charset="0"/>
                          <a:ea typeface="Arial" pitchFamily="34" charset="-122"/>
                          <a:cs typeface="Arial" pitchFamily="34" charset="-120"/>
                        </a:rPr>
                        <a:t>Engage</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TikTok</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Spark Ads on KOL</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RM2.60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1.8</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65%</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006838"/>
                          </a:solidFill>
                          <a:latin typeface="Arial" pitchFamily="34" charset="0"/>
                          <a:ea typeface="Arial" pitchFamily="34" charset="-122"/>
                          <a:cs typeface="Arial" pitchFamily="34" charset="-120"/>
                        </a:rPr>
                        <a:t>RM0.0040</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50" dirty="0">
                          <a:solidFill>
                            <a:srgbClr val="C5192B"/>
                          </a:solidFill>
                          <a:latin typeface="Arial" pitchFamily="34" charset="0"/>
                          <a:ea typeface="Arial" pitchFamily="34" charset="-122"/>
                          <a:cs typeface="Arial" pitchFamily="34" charset="-120"/>
                        </a:rPr>
                        <a:t>Assumed</a:t>
                      </a:r>
                      <a:endParaRPr lang="en-US" sz="8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822192"/>
            <a:ext cx="8119872" cy="512064"/>
          </a:xfrm>
          <a:prstGeom prst="rect">
            <a:avLst/>
          </a:prstGeom>
          <a:noFill/>
          <a:ln/>
        </p:spPr>
        <p:txBody>
          <a:bodyPr wrap="square" lIns="0" tIns="0" rIns="0" bIns="0" rtlCol="0" anchor="t"/>
          <a:lstStyle/>
          <a:p>
            <a:pPr indent="0" marL="0">
              <a:lnSpc>
                <a:spcPts val="1150"/>
              </a:lnSpc>
              <a:buNone/>
            </a:pPr>
            <a:r>
              <a:rPr lang="en-US" sz="850" dirty="0">
                <a:solidFill>
                  <a:srgbClr val="6E8A76"/>
                </a:solidFill>
                <a:latin typeface="Arial" pitchFamily="34" charset="0"/>
                <a:ea typeface="Arial" pitchFamily="34" charset="-122"/>
                <a:cs typeface="Arial" pitchFamily="34" charset="-120"/>
              </a:rPr>
              <a:t>Derived from the 2025 deck: Meta frequency 1.86 (26.37M impressions over 14.17M reach), TikTok 1.93. View rates TikTok 63%, Meta 8.8%, Google 12.5%. CTR Meta 0.13%, TikTok 10.6%, Google 0.26%. Meta’s low observed view rate reflects a mostly static reach buy, so the 55% Reels figure is a different buy rather than a contradiction.</a:t>
            </a:r>
            <a:endParaRPr lang="en-US" sz="8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answer fixes this: </a:t>
            </a:r>
            <a:pPr indent="0" marL="0">
              <a:buNone/>
            </a:pPr>
            <a:r>
              <a:rPr lang="en-US" sz="950" b="1" dirty="0">
                <a:solidFill>
                  <a:srgbClr val="FFFFFF"/>
                </a:solidFill>
                <a:latin typeface="Arial" pitchFamily="34" charset="0"/>
                <a:ea typeface="Arial" pitchFamily="34" charset="-122"/>
                <a:cs typeface="Arial" pitchFamily="34" charset="-120"/>
              </a:rPr>
              <a:t>tell us what the 2026 campaign actually spent by platform, and most of that source column turns from assumption into fact.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We will not pretend to know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the conversion rate.</a:t>
            </a:r>
            <a:endParaRPr lang="en-US" sz="2300" dirty="0"/>
          </a:p>
        </p:txBody>
      </p:sp>
      <p:sp>
        <p:nvSpPr>
          <p:cNvPr id="4" name="Text 2"/>
          <p:cNvSpPr/>
          <p:nvPr/>
        </p:nvSpPr>
        <p:spPr>
          <a:xfrm>
            <a:off x="512064" y="1426464"/>
            <a:ext cx="7795077" cy="54864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In 2025 Meta delivered 34,400 link clicks against 4,179 entries, so 12.1% is the ceiling if Meta carried the digital route. Count TikTok’s 1.22M clicks and it drops to 0.33%. We plan on 2.0%, because 2027 is the first year that asks for two purchases and two receipts, and every year before it asked for one.</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 y="2212848"/>
          <a:ext cx="8119872" cy="914400"/>
        </p:xfrm>
        <a:graphic>
          <a:graphicData uri="http://schemas.openxmlformats.org/drawingml/2006/table">
            <a:tbl>
              <a:tblPr/>
              <a:tblGrid>
                <a:gridCol w="2103120"/>
                <a:gridCol w="1645920"/>
                <a:gridCol w="1554480"/>
                <a:gridCol w="281635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LANDING PAGE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ENTRIES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COST PER ENTRY</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READ</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1.5%</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3,000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RM24.00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Deeper friction than we have planned for</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2.0%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4,000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b="1" dirty="0">
                          <a:solidFill>
                            <a:srgbClr val="006838"/>
                          </a:solidFill>
                          <a:latin typeface="Arial" pitchFamily="34" charset="0"/>
                          <a:ea typeface="Arial" pitchFamily="34" charset="-122"/>
                          <a:cs typeface="Arial" pitchFamily="34" charset="-120"/>
                        </a:rPr>
                        <a:t>RM18.00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What we plan on</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3.0%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6,000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RM12.00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If the pop-up does its job</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29184">
                <a:tc>
                  <a:txBody>
                    <a:bodyPr/>
                    <a:lstStyle/>
                    <a:p>
                      <a:pPr indent="0" marL="0">
                        <a:buNone/>
                      </a:pPr>
                      <a:r>
                        <a:rPr lang="en-US" sz="950" b="1" dirty="0">
                          <a:solidFill>
                            <a:srgbClr val="006838"/>
                          </a:solidFill>
                          <a:latin typeface="Arial" pitchFamily="34" charset="0"/>
                          <a:ea typeface="Arial" pitchFamily="34" charset="-122"/>
                          <a:cs typeface="Arial" pitchFamily="34" charset="-120"/>
                        </a:rPr>
                        <a:t>4.0%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8,000 entries</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RM9.00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The single-brand rate. Not what 2027 asks for.</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822192"/>
            <a:ext cx="8119872" cy="530352"/>
          </a:xfrm>
          <a:prstGeom prst="rect">
            <a:avLst/>
          </a:prstGeom>
          <a:noFill/>
          <a:ln/>
        </p:spPr>
        <p:txBody>
          <a:bodyPr wrap="square" lIns="0" tIns="0" rIns="0" bIns="0" rtlCol="0" anchor="t"/>
          <a:lstStyle/>
          <a:p>
            <a:pPr indent="0" marL="0">
              <a:lnSpc>
                <a:spcPts val="1300"/>
              </a:lnSpc>
              <a:buNone/>
            </a:pPr>
            <a:r>
              <a:rPr lang="en-US" sz="950" b="1" dirty="0">
                <a:solidFill>
                  <a:srgbClr val="006838"/>
                </a:solidFill>
                <a:latin typeface="Arial" pitchFamily="34" charset="0"/>
                <a:ea typeface="Arial" pitchFamily="34" charset="-122"/>
                <a:cs typeface="Arial" pitchFamily="34" charset="-120"/>
              </a:rPr>
              <a:t>Both budget options buy the same 200,000 contest sessions, so entries turn on conversion alone. RM18 is deliberately cautious: it sits below the 2.5% stress case we modelled before the pop-up existed, and the pop-up is what should pull the real number above it. Cost per entry is against the contest line, not the total budget.</a:t>
            </a:r>
            <a:endParaRPr lang="en-US" sz="95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The page pays for itself here: </a:t>
            </a:r>
            <a:pPr indent="0" marL="0">
              <a:buNone/>
            </a:pPr>
            <a:r>
              <a:rPr lang="en-US" sz="950" b="1" dirty="0">
                <a:solidFill>
                  <a:srgbClr val="FFFFFF"/>
                </a:solidFill>
                <a:latin typeface="Arial" pitchFamily="34" charset="0"/>
                <a:ea typeface="Arial" pitchFamily="34" charset="-122"/>
                <a:cs typeface="Arial" pitchFamily="34" charset="-120"/>
              </a:rPr>
              <a:t>the landing page is what turns this from a guess into a number we manage down week by week.</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Option 1: RM135,000.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Recommended.</a:t>
            </a:r>
            <a:endParaRPr lang="en-US" sz="24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Google gets RM12,000, Meta and TikTok share RM123,000. At RM18 an entry the contest line has to carry RM72,000, which is where the majority of the money now sits.</a:t>
            </a:r>
            <a:endParaRPr lang="en-US" sz="1100" dirty="0"/>
          </a:p>
        </p:txBody>
      </p:sp>
      <p:sp>
        <p:nvSpPr>
          <p:cNvPr id="5" name="Shape 3"/>
          <p:cNvSpPr/>
          <p:nvPr/>
        </p:nvSpPr>
        <p:spPr>
          <a:xfrm>
            <a:off x="512064" y="1938528"/>
            <a:ext cx="4303532" cy="475488"/>
          </a:xfrm>
          <a:prstGeom prst="rect">
            <a:avLst/>
          </a:prstGeom>
          <a:solidFill>
            <a:srgbClr val="C5192B"/>
          </a:solidFill>
          <a:ln/>
        </p:spPr>
      </p:sp>
      <p:sp>
        <p:nvSpPr>
          <p:cNvPr id="6" name="Text 4"/>
          <p:cNvSpPr/>
          <p:nvPr/>
        </p:nvSpPr>
        <p:spPr>
          <a:xfrm>
            <a:off x="512064" y="1938528"/>
            <a:ext cx="4303532"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53%</a:t>
            </a:r>
            <a:endParaRPr lang="en-US" sz="1300" dirty="0"/>
          </a:p>
        </p:txBody>
      </p:sp>
      <p:sp>
        <p:nvSpPr>
          <p:cNvPr id="7" name="Text 5"/>
          <p:cNvSpPr/>
          <p:nvPr/>
        </p:nvSpPr>
        <p:spPr>
          <a:xfrm>
            <a:off x="512064" y="2487168"/>
            <a:ext cx="4303532"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Contest conversion</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RM72,000</a:t>
            </a:r>
            <a:endParaRPr lang="en-US" sz="900" dirty="0"/>
          </a:p>
        </p:txBody>
      </p:sp>
      <p:sp>
        <p:nvSpPr>
          <p:cNvPr id="8" name="Shape 6"/>
          <p:cNvSpPr/>
          <p:nvPr/>
        </p:nvSpPr>
        <p:spPr>
          <a:xfrm>
            <a:off x="4815596" y="1938528"/>
            <a:ext cx="3247949" cy="475488"/>
          </a:xfrm>
          <a:prstGeom prst="rect">
            <a:avLst/>
          </a:prstGeom>
          <a:solidFill>
            <a:srgbClr val="006838"/>
          </a:solidFill>
          <a:ln/>
        </p:spPr>
      </p:sp>
      <p:sp>
        <p:nvSpPr>
          <p:cNvPr id="9" name="Text 7"/>
          <p:cNvSpPr/>
          <p:nvPr/>
        </p:nvSpPr>
        <p:spPr>
          <a:xfrm>
            <a:off x="4815596" y="1938528"/>
            <a:ext cx="3247949"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40%</a:t>
            </a:r>
            <a:endParaRPr lang="en-US" sz="1300" dirty="0"/>
          </a:p>
        </p:txBody>
      </p:sp>
      <p:sp>
        <p:nvSpPr>
          <p:cNvPr id="10" name="Text 8"/>
          <p:cNvSpPr/>
          <p:nvPr/>
        </p:nvSpPr>
        <p:spPr>
          <a:xfrm>
            <a:off x="4815596" y="2487168"/>
            <a:ext cx="3247949"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Video and reach</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RM54,000</a:t>
            </a:r>
            <a:endParaRPr lang="en-US" sz="900" dirty="0"/>
          </a:p>
        </p:txBody>
      </p:sp>
      <p:sp>
        <p:nvSpPr>
          <p:cNvPr id="11" name="Shape 9"/>
          <p:cNvSpPr/>
          <p:nvPr/>
        </p:nvSpPr>
        <p:spPr>
          <a:xfrm>
            <a:off x="8063545" y="1938528"/>
            <a:ext cx="568391" cy="475488"/>
          </a:xfrm>
          <a:prstGeom prst="rect">
            <a:avLst/>
          </a:prstGeom>
          <a:solidFill>
            <a:srgbClr val="052B18"/>
          </a:solidFill>
          <a:ln/>
        </p:spPr>
      </p:sp>
      <p:sp>
        <p:nvSpPr>
          <p:cNvPr id="12" name="Text 10"/>
          <p:cNvSpPr/>
          <p:nvPr/>
        </p:nvSpPr>
        <p:spPr>
          <a:xfrm>
            <a:off x="8063545" y="1938528"/>
            <a:ext cx="568391"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7%</a:t>
            </a:r>
            <a:endParaRPr lang="en-US" sz="1300" dirty="0"/>
          </a:p>
        </p:txBody>
      </p:sp>
      <p:sp>
        <p:nvSpPr>
          <p:cNvPr id="13" name="Text 11"/>
          <p:cNvSpPr/>
          <p:nvPr/>
        </p:nvSpPr>
        <p:spPr>
          <a:xfrm>
            <a:off x="8063545" y="2487168"/>
            <a:ext cx="568391"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Engagement, Spark</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RM9,000</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12064" y="2907792"/>
          <a:ext cx="8119872" cy="914400"/>
        </p:xfrm>
        <a:graphic>
          <a:graphicData uri="http://schemas.openxmlformats.org/drawingml/2006/table">
            <a:tbl>
              <a:tblPr/>
              <a:tblGrid>
                <a:gridCol w="2194560"/>
                <a:gridCol w="2377440"/>
                <a:gridCol w="354787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DELIVERS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AGAINST THE BRIEF</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VERDICT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4,000 entries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Exactly on target at RM18. No cushion.</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15.1M reach</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15M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C5192B"/>
                          </a:solidFill>
                          <a:latin typeface="Arial" pitchFamily="34" charset="0"/>
                          <a:ea typeface="Arial" pitchFamily="34" charset="-122"/>
                          <a:cs typeface="Arial" pitchFamily="34" charset="-120"/>
                        </a:rPr>
                        <a:t>Clears it by 0.7%. No cushion there either.</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14.7M paid views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40M campaign wide</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KOL and organic carry more of this than in 2026</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27.7M impressions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No target set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RM4.87 blended CPM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15" name="Shape 12"/>
          <p:cNvSpPr/>
          <p:nvPr/>
        </p:nvSpPr>
        <p:spPr>
          <a:xfrm>
            <a:off x="438912" y="4443984"/>
            <a:ext cx="8266176" cy="402336"/>
          </a:xfrm>
          <a:prstGeom prst="rect">
            <a:avLst/>
          </a:prstGeom>
          <a:solidFill>
            <a:srgbClr val="052B18"/>
          </a:solidFill>
          <a:ln/>
        </p:spPr>
      </p:sp>
      <p:sp>
        <p:nvSpPr>
          <p:cNvPr id="16" name="Text 1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Cost per entry: </a:t>
            </a:r>
            <a:pPr indent="0" marL="0">
              <a:buNone/>
            </a:pPr>
            <a:r>
              <a:rPr lang="en-US" sz="950" b="1" dirty="0">
                <a:solidFill>
                  <a:srgbClr val="FFFFFF"/>
                </a:solidFill>
                <a:latin typeface="Arial" pitchFamily="34" charset="0"/>
                <a:ea typeface="Arial" pitchFamily="34" charset="-122"/>
                <a:cs typeface="Arial" pitchFamily="34" charset="-120"/>
              </a:rPr>
              <a:t>RM18.00 against the contest line, RM33.75 against the full budget. The team assumed RM22.50 before the two-receipt friction was priced in.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Option 2: RM160,000.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All three KPIs on paid alone.</a:t>
            </a:r>
            <a:endParaRPr lang="en-US" sz="2300" dirty="0"/>
          </a:p>
        </p:txBody>
      </p:sp>
      <p:sp>
        <p:nvSpPr>
          <p:cNvPr id="4" name="Text 2"/>
          <p:cNvSpPr/>
          <p:nvPr/>
        </p:nvSpPr>
        <p:spPr>
          <a:xfrm>
            <a:off x="512064" y="1426464"/>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same RM72,000 contest line, with RM25,000 more behind video and reach. This is what it costs to hold entries, clear reach with room, and still put a real share of the 40M views target on paid media.</a:t>
            </a:r>
            <a:endParaRPr lang="en-US" sz="1100" dirty="0"/>
          </a:p>
        </p:txBody>
      </p:sp>
      <p:sp>
        <p:nvSpPr>
          <p:cNvPr id="5" name="Shape 3"/>
          <p:cNvSpPr/>
          <p:nvPr/>
        </p:nvSpPr>
        <p:spPr>
          <a:xfrm>
            <a:off x="512064" y="1938528"/>
            <a:ext cx="3653942" cy="475488"/>
          </a:xfrm>
          <a:prstGeom prst="rect">
            <a:avLst/>
          </a:prstGeom>
          <a:solidFill>
            <a:srgbClr val="C5192B"/>
          </a:solidFill>
          <a:ln/>
        </p:spPr>
      </p:sp>
      <p:sp>
        <p:nvSpPr>
          <p:cNvPr id="6" name="Text 4"/>
          <p:cNvSpPr/>
          <p:nvPr/>
        </p:nvSpPr>
        <p:spPr>
          <a:xfrm>
            <a:off x="512064" y="1938528"/>
            <a:ext cx="3653942"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45%</a:t>
            </a:r>
            <a:endParaRPr lang="en-US" sz="1300" dirty="0"/>
          </a:p>
        </p:txBody>
      </p:sp>
      <p:sp>
        <p:nvSpPr>
          <p:cNvPr id="7" name="Text 5"/>
          <p:cNvSpPr/>
          <p:nvPr/>
        </p:nvSpPr>
        <p:spPr>
          <a:xfrm>
            <a:off x="512064" y="2487168"/>
            <a:ext cx="3653942"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Contest conversion</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RM72,000</a:t>
            </a:r>
            <a:endParaRPr lang="en-US" sz="900" dirty="0"/>
          </a:p>
        </p:txBody>
      </p:sp>
      <p:sp>
        <p:nvSpPr>
          <p:cNvPr id="8" name="Shape 6"/>
          <p:cNvSpPr/>
          <p:nvPr/>
        </p:nvSpPr>
        <p:spPr>
          <a:xfrm>
            <a:off x="4166006" y="1938528"/>
            <a:ext cx="3816340" cy="475488"/>
          </a:xfrm>
          <a:prstGeom prst="rect">
            <a:avLst/>
          </a:prstGeom>
          <a:solidFill>
            <a:srgbClr val="006838"/>
          </a:solidFill>
          <a:ln/>
        </p:spPr>
      </p:sp>
      <p:sp>
        <p:nvSpPr>
          <p:cNvPr id="9" name="Text 7"/>
          <p:cNvSpPr/>
          <p:nvPr/>
        </p:nvSpPr>
        <p:spPr>
          <a:xfrm>
            <a:off x="4166006" y="1938528"/>
            <a:ext cx="3816340"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47%</a:t>
            </a:r>
            <a:endParaRPr lang="en-US" sz="1300" dirty="0"/>
          </a:p>
        </p:txBody>
      </p:sp>
      <p:sp>
        <p:nvSpPr>
          <p:cNvPr id="10" name="Text 8"/>
          <p:cNvSpPr/>
          <p:nvPr/>
        </p:nvSpPr>
        <p:spPr>
          <a:xfrm>
            <a:off x="4166006" y="2487168"/>
            <a:ext cx="3816340"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Video and reach</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RM76,000</a:t>
            </a:r>
            <a:endParaRPr lang="en-US" sz="900" dirty="0"/>
          </a:p>
        </p:txBody>
      </p:sp>
      <p:sp>
        <p:nvSpPr>
          <p:cNvPr id="11" name="Shape 9"/>
          <p:cNvSpPr/>
          <p:nvPr/>
        </p:nvSpPr>
        <p:spPr>
          <a:xfrm>
            <a:off x="7982346" y="1938528"/>
            <a:ext cx="649590" cy="475488"/>
          </a:xfrm>
          <a:prstGeom prst="rect">
            <a:avLst/>
          </a:prstGeom>
          <a:solidFill>
            <a:srgbClr val="052B18"/>
          </a:solidFill>
          <a:ln/>
        </p:spPr>
      </p:sp>
      <p:sp>
        <p:nvSpPr>
          <p:cNvPr id="12" name="Text 10"/>
          <p:cNvSpPr/>
          <p:nvPr/>
        </p:nvSpPr>
        <p:spPr>
          <a:xfrm>
            <a:off x="7982346" y="1938528"/>
            <a:ext cx="649590" cy="475488"/>
          </a:xfrm>
          <a:prstGeom prst="rect">
            <a:avLst/>
          </a:prstGeom>
          <a:noFill/>
          <a:ln/>
        </p:spPr>
        <p:txBody>
          <a:bodyPr wrap="non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8%</a:t>
            </a:r>
            <a:endParaRPr lang="en-US" sz="1300" dirty="0"/>
          </a:p>
        </p:txBody>
      </p:sp>
      <p:sp>
        <p:nvSpPr>
          <p:cNvPr id="13" name="Text 11"/>
          <p:cNvSpPr/>
          <p:nvPr/>
        </p:nvSpPr>
        <p:spPr>
          <a:xfrm>
            <a:off x="7982346" y="2487168"/>
            <a:ext cx="649590" cy="365760"/>
          </a:xfrm>
          <a:prstGeom prst="rect">
            <a:avLst/>
          </a:prstGeom>
          <a:noFill/>
          <a:ln/>
        </p:spPr>
        <p:txBody>
          <a:bodyPr wrap="square" lIns="0" tIns="0" rIns="0" bIns="0" rtlCol="0" anchor="t"/>
          <a:lstStyle/>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Engagement, Spark</a:t>
            </a:r>
            <a:endParaRPr lang="en-US" sz="900" dirty="0"/>
          </a:p>
          <a:p>
            <a:pPr algn="ctr" indent="0" marL="0">
              <a:lnSpc>
                <a:spcPts val="1200"/>
              </a:lnSpc>
              <a:buNone/>
            </a:pPr>
            <a:r>
              <a:rPr lang="en-US" sz="900" b="1" dirty="0">
                <a:solidFill>
                  <a:srgbClr val="006838"/>
                </a:solidFill>
                <a:latin typeface="Arial" pitchFamily="34" charset="0"/>
                <a:ea typeface="Arial" pitchFamily="34" charset="-122"/>
                <a:cs typeface="Arial" pitchFamily="34" charset="-120"/>
              </a:rPr>
              <a:t>RM12,000</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12064" y="2907792"/>
          <a:ext cx="8119872" cy="914400"/>
        </p:xfrm>
        <a:graphic>
          <a:graphicData uri="http://schemas.openxmlformats.org/drawingml/2006/table">
            <a:tbl>
              <a:tblPr/>
              <a:tblGrid>
                <a:gridCol w="2194560"/>
                <a:gridCol w="2377440"/>
                <a:gridCol w="3547872"/>
              </a:tblGrid>
              <a:tr h="237744">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DELIVERS</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AGAINST THE BRIEF</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VERDICT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4,000 entries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4,000</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Same RM72,000 contest line as Option 1</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20.0M reach</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15M</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Clears it by 33%</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20.1M paid views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Target 40M campaign wide</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Half from paid, KOL and organic close the gap</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301752">
                <a:tc>
                  <a:txBody>
                    <a:bodyPr/>
                    <a:lstStyle/>
                    <a:p>
                      <a:pPr indent="0" marL="0">
                        <a:buNone/>
                      </a:pPr>
                      <a:r>
                        <a:rPr lang="en-US" sz="1150" dirty="0">
                          <a:solidFill>
                            <a:srgbClr val="006838"/>
                          </a:solidFill>
                          <a:latin typeface="Arial Black" pitchFamily="34" charset="0"/>
                          <a:ea typeface="Arial Black" pitchFamily="34" charset="-122"/>
                          <a:cs typeface="Arial Black" pitchFamily="34" charset="-120"/>
                        </a:rPr>
                        <a:t>36.7M impressions</a:t>
                      </a:r>
                      <a:endParaRPr lang="en-US" sz="1150" dirty="0">
                        <a:latin typeface="Arial Black" charset="0"/>
                        <a:ea typeface="Arial Black" charset="0"/>
                        <a:cs typeface="Arial Black"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No target set</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50" dirty="0">
                          <a:solidFill>
                            <a:srgbClr val="006838"/>
                          </a:solidFill>
                          <a:latin typeface="Arial" pitchFamily="34" charset="0"/>
                          <a:ea typeface="Arial" pitchFamily="34" charset="-122"/>
                          <a:cs typeface="Arial" pitchFamily="34" charset="-120"/>
                        </a:rPr>
                        <a:t>Engagement 2.3% on impressions, 4.2% on reach</a:t>
                      </a:r>
                      <a:endParaRPr lang="en-US" sz="95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15" name="Shape 12"/>
          <p:cNvSpPr/>
          <p:nvPr/>
        </p:nvSpPr>
        <p:spPr>
          <a:xfrm>
            <a:off x="438912" y="4443984"/>
            <a:ext cx="8266176" cy="402336"/>
          </a:xfrm>
          <a:prstGeom prst="rect">
            <a:avLst/>
          </a:prstGeom>
          <a:solidFill>
            <a:srgbClr val="052B18"/>
          </a:solidFill>
          <a:ln/>
        </p:spPr>
      </p:sp>
      <p:sp>
        <p:nvSpPr>
          <p:cNvPr id="16" name="Text 1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the extra RM25,000 buys: </a:t>
            </a:r>
            <a:pPr indent="0" marL="0">
              <a:buNone/>
            </a:pPr>
            <a:r>
              <a:rPr lang="en-US" sz="950" b="1" dirty="0">
                <a:solidFill>
                  <a:srgbClr val="FFFFFF"/>
                </a:solidFill>
                <a:latin typeface="Arial" pitchFamily="34" charset="0"/>
                <a:ea typeface="Arial" pitchFamily="34" charset="-122"/>
                <a:cs typeface="Arial" pitchFamily="34" charset="-120"/>
              </a:rPr>
              <a:t>4.9M more reach and 5.4M more paid views. That is the price of planning an entry at RM18 instead of RM9.</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64008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Side by side.</a:t>
            </a:r>
            <a:endParaRPr lang="en-US" sz="2400" dirty="0"/>
          </a:p>
        </p:txBody>
      </p:sp>
      <p:sp>
        <p:nvSpPr>
          <p:cNvPr id="4" name="Text 2"/>
          <p:cNvSpPr/>
          <p:nvPr/>
        </p:nvSpPr>
        <p:spPr>
          <a:xfrm>
            <a:off x="512064" y="1280160"/>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honest read on both. RM135,000 clears entries and reach with nothing to spare. RM160,000 clears them with room and puts half the views target on paid.</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12064" y="1682496"/>
          <a:ext cx="8119872" cy="914400"/>
        </p:xfrm>
        <a:graphic>
          <a:graphicData uri="http://schemas.openxmlformats.org/drawingml/2006/table">
            <a:tbl>
              <a:tblPr/>
              <a:tblGrid>
                <a:gridCol w="1700784"/>
                <a:gridCol w="1627632"/>
                <a:gridCol w="1591056"/>
                <a:gridCol w="1591056"/>
                <a:gridCol w="1609344"/>
              </a:tblGrid>
              <a:tr h="237744">
                <a:tc>
                  <a:txBody>
                    <a:bodyPr/>
                    <a:lstStyle/>
                    <a:p>
                      <a:pPr indent="0" marL="0">
                        <a:buNone/>
                      </a:pP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BRIEF TARGET</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RM135,000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RM160,000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2026 ACTUAL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Contest entries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4,000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3,765</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Paid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15M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15.1M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b="1" dirty="0">
                          <a:solidFill>
                            <a:srgbClr val="006838"/>
                          </a:solidFill>
                          <a:latin typeface="Arial" pitchFamily="34" charset="0"/>
                          <a:ea typeface="Arial" pitchFamily="34" charset="-122"/>
                          <a:cs typeface="Arial" pitchFamily="34" charset="-120"/>
                        </a:rPr>
                        <a:t>20.0M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13.8M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Video views, paid</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40M campaign wide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14.7M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20.1M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38.8M campaign wide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Impressions</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Not set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27.7M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36.7M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51.0M</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Engagement rate</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3%</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2.3% impr / 4.2%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2.3% impr / 4.2% reach</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0.08% impr</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92608">
                <a:tc>
                  <a:txBody>
                    <a:bodyPr/>
                    <a:lstStyle/>
                    <a:p>
                      <a:pPr indent="0" marL="0">
                        <a:buNone/>
                      </a:pPr>
                      <a:r>
                        <a:rPr lang="en-US" sz="900" b="1" dirty="0">
                          <a:solidFill>
                            <a:srgbClr val="006838"/>
                          </a:solidFill>
                          <a:latin typeface="Arial" pitchFamily="34" charset="0"/>
                          <a:ea typeface="Arial" pitchFamily="34" charset="-122"/>
                          <a:cs typeface="Arial" pitchFamily="34" charset="-120"/>
                        </a:rPr>
                        <a:t>Cost per entry</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Not set</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RM18.00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RM18.00</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900" dirty="0">
                          <a:solidFill>
                            <a:srgbClr val="006838"/>
                          </a:solidFill>
                          <a:latin typeface="Arial" pitchFamily="34" charset="0"/>
                          <a:ea typeface="Arial" pitchFamily="34" charset="-122"/>
                          <a:cs typeface="Arial" pitchFamily="34" charset="-120"/>
                        </a:rPr>
                        <a:t>Unknown</a:t>
                      </a:r>
                      <a:endParaRPr lang="en-US" sz="9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6" name="Text 3"/>
          <p:cNvSpPr/>
          <p:nvPr/>
        </p:nvSpPr>
        <p:spPr>
          <a:xfrm>
            <a:off x="512064" y="3749040"/>
            <a:ext cx="8119872" cy="621792"/>
          </a:xfrm>
          <a:prstGeom prst="rect">
            <a:avLst/>
          </a:prstGeom>
          <a:noFill/>
          <a:ln/>
        </p:spPr>
        <p:txBody>
          <a:bodyPr wrap="square" lIns="0" tIns="0" rIns="0" bIns="0" rtlCol="0" anchor="t"/>
          <a:lstStyle/>
          <a:p>
            <a:pPr indent="0" marL="0">
              <a:lnSpc>
                <a:spcPts val="1150"/>
              </a:lnSpc>
              <a:buNone/>
            </a:pPr>
            <a:r>
              <a:rPr lang="en-US" sz="900" b="1" dirty="0">
                <a:solidFill>
                  <a:srgbClr val="006838"/>
                </a:solidFill>
                <a:latin typeface="Arial" pitchFamily="34" charset="0"/>
                <a:ea typeface="Arial" pitchFamily="34" charset="-122"/>
                <a:cs typeface="Arial" pitchFamily="34" charset="-120"/>
              </a:rPr>
              <a:t>The RM90,000 discussed on 11 September is gone from this table. Priced at RM18 an entry it returns 2,083 entries against a 4,000 target and 11.4M reach against 15M, so it clears neither. Both forecasts above are paid media only, excluding KOL and organic views, both brands’ owned channels, entries walked in from the sampling and roadshow days, POSM and on pack QR codes, the Sampul Raya, and earned media.</a:t>
            </a:r>
            <a:endParaRPr lang="en-US" sz="900" dirty="0"/>
          </a:p>
        </p:txBody>
      </p:sp>
      <p:sp>
        <p:nvSpPr>
          <p:cNvPr id="7" name="Shape 4"/>
          <p:cNvSpPr/>
          <p:nvPr/>
        </p:nvSpPr>
        <p:spPr>
          <a:xfrm>
            <a:off x="438912" y="4443984"/>
            <a:ext cx="8266176" cy="402336"/>
          </a:xfrm>
          <a:prstGeom prst="rect">
            <a:avLst/>
          </a:prstGeom>
          <a:solidFill>
            <a:srgbClr val="052B18"/>
          </a:solidFill>
          <a:ln/>
        </p:spPr>
      </p:sp>
      <p:sp>
        <p:nvSpPr>
          <p:cNvPr id="8" name="Text 5"/>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Read this line first: </a:t>
            </a:r>
            <a:pPr indent="0" marL="0">
              <a:buNone/>
            </a:pPr>
            <a:r>
              <a:rPr lang="en-US" sz="950" b="1" dirty="0">
                <a:solidFill>
                  <a:srgbClr val="FFFFFF"/>
                </a:solidFill>
                <a:latin typeface="Arial" pitchFamily="34" charset="0"/>
                <a:ea typeface="Arial" pitchFamily="34" charset="-122"/>
                <a:cs typeface="Arial" pitchFamily="34" charset="-120"/>
              </a:rPr>
              <a:t>paid is the floor, not the ceiling. Everything the campaign earns for free sits on top of these numbers.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30352"/>
            <a:ext cx="8119872" cy="45720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Where every ringgit goes,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by platform.</a:t>
            </a:r>
            <a:endParaRPr lang="en-US" sz="2400" dirty="0"/>
          </a:p>
        </p:txBody>
      </p:sp>
      <p:sp>
        <p:nvSpPr>
          <p:cNvPr id="4" name="Text 2"/>
          <p:cNvSpPr/>
          <p:nvPr/>
        </p:nvSpPr>
        <p:spPr>
          <a:xfrm>
            <a:off x="512064" y="1078992"/>
            <a:ext cx="7795077" cy="402336"/>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The same three lines split across Meta, TikTok and Google in both options. Contest conversion is identical in the two, because RM72,000 is what 4,000 entries costs at RM18. Engagement runs entirely on TikTok Spark Ads, because that is where the KOL content lives.</a:t>
            </a:r>
            <a:endParaRPr lang="en-US" sz="1100" dirty="0"/>
          </a:p>
        </p:txBody>
      </p:sp>
      <p:sp>
        <p:nvSpPr>
          <p:cNvPr id="5" name="Text 3"/>
          <p:cNvSpPr/>
          <p:nvPr/>
        </p:nvSpPr>
        <p:spPr>
          <a:xfrm>
            <a:off x="512064" y="1901952"/>
            <a:ext cx="3922776" cy="182880"/>
          </a:xfrm>
          <a:prstGeom prst="rect">
            <a:avLst/>
          </a:prstGeom>
          <a:noFill/>
          <a:ln/>
        </p:spPr>
        <p:txBody>
          <a:bodyPr wrap="square" lIns="0" tIns="0" rIns="0" bIns="0" rtlCol="0" anchor="t"/>
          <a:lstStyle/>
          <a:p>
            <a:pPr indent="0" marL="0">
              <a:buNone/>
            </a:pPr>
            <a:r>
              <a:rPr lang="en-US" sz="850" b="1" spc="90" kern="0" dirty="0">
                <a:solidFill>
                  <a:srgbClr val="C5192B"/>
                </a:solidFill>
                <a:latin typeface="Arial" pitchFamily="34" charset="0"/>
                <a:ea typeface="Arial" pitchFamily="34" charset="-122"/>
                <a:cs typeface="Arial" pitchFamily="34" charset="-120"/>
              </a:rPr>
              <a:t>OPTION 1 · RM135,000 · RECOMMENDED</a:t>
            </a:r>
            <a:endParaRPr lang="en-US" sz="850" dirty="0"/>
          </a:p>
        </p:txBody>
      </p:sp>
      <p:sp>
        <p:nvSpPr>
          <p:cNvPr id="6" name="Text 4"/>
          <p:cNvSpPr/>
          <p:nvPr/>
        </p:nvSpPr>
        <p:spPr>
          <a:xfrm>
            <a:off x="4709160" y="1901952"/>
            <a:ext cx="3922776" cy="182880"/>
          </a:xfrm>
          <a:prstGeom prst="rect">
            <a:avLst/>
          </a:prstGeom>
          <a:noFill/>
          <a:ln/>
        </p:spPr>
        <p:txBody>
          <a:bodyPr wrap="square" lIns="0" tIns="0" rIns="0" bIns="0" rtlCol="0" anchor="t"/>
          <a:lstStyle/>
          <a:p>
            <a:pPr indent="0" marL="0">
              <a:buNone/>
            </a:pPr>
            <a:r>
              <a:rPr lang="en-US" sz="850" b="1" spc="90" kern="0" dirty="0">
                <a:solidFill>
                  <a:srgbClr val="6E8A76"/>
                </a:solidFill>
                <a:latin typeface="Arial" pitchFamily="34" charset="0"/>
                <a:ea typeface="Arial" pitchFamily="34" charset="-122"/>
                <a:cs typeface="Arial" pitchFamily="34" charset="-120"/>
              </a:rPr>
              <a:t>OPTION 2 · RM160,000</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12064" y="2139696"/>
          <a:ext cx="3922776" cy="914400"/>
        </p:xfrm>
        <a:graphic>
          <a:graphicData uri="http://schemas.openxmlformats.org/drawingml/2006/table">
            <a:tbl>
              <a:tblPr/>
              <a:tblGrid>
                <a:gridCol w="1179576"/>
                <a:gridCol w="658368"/>
                <a:gridCol w="694944"/>
                <a:gridCol w="676656"/>
                <a:gridCol w="713232"/>
              </a:tblGrid>
              <a:tr h="219456">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META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TIKTOK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GOOGLE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Contest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36,000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36,000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72,000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Video and 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30,000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54,000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Engagement, Spark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9,000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9,000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48,000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75,000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C5192B"/>
                          </a:solidFill>
                          <a:latin typeface="Arial" pitchFamily="34" charset="0"/>
                          <a:ea typeface="Arial" pitchFamily="34" charset="-122"/>
                          <a:cs typeface="Arial" pitchFamily="34" charset="-120"/>
                        </a:rPr>
                        <a:t>135,000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4709160" y="2139696"/>
          <a:ext cx="3922776" cy="914400"/>
        </p:xfrm>
        <a:graphic>
          <a:graphicData uri="http://schemas.openxmlformats.org/drawingml/2006/table">
            <a:tbl>
              <a:tblPr/>
              <a:tblGrid>
                <a:gridCol w="1179576"/>
                <a:gridCol w="658368"/>
                <a:gridCol w="694944"/>
                <a:gridCol w="676656"/>
                <a:gridCol w="713232"/>
              </a:tblGrid>
              <a:tr h="219456">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LINE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META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TIKTOK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GOOGLE</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c>
                  <a:txBody>
                    <a:bodyPr/>
                    <a:lstStyle/>
                    <a:p>
                      <a:pPr indent="0" marL="0">
                        <a:buNone/>
                      </a:pPr>
                      <a:r>
                        <a:rPr lang="en-US" sz="800" b="1" spc="60" kern="0" dirty="0">
                          <a:solidFill>
                            <a:srgbClr val="FFFFFF"/>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006838"/>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Contest conversion</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36,000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36,000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72,000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Video and reach</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40,000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76,000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Engagement, Spark</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dirty="0">
                          <a:solidFill>
                            <a:srgbClr val="006838"/>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12,000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E9F3DD"/>
                    </a:solidFill>
                  </a:tcPr>
                </a:tc>
              </a:tr>
              <a:tr h="265176">
                <a:tc>
                  <a:txBody>
                    <a:bodyPr/>
                    <a:lstStyle/>
                    <a:p>
                      <a:pPr indent="0" marL="0">
                        <a:buNone/>
                      </a:pPr>
                      <a:r>
                        <a:rPr lang="en-US" sz="800" b="1" dirty="0">
                          <a:solidFill>
                            <a:srgbClr val="006838"/>
                          </a:solidFill>
                          <a:latin typeface="Arial" pitchFamily="34" charset="0"/>
                          <a:ea typeface="Arial" pitchFamily="34" charset="-122"/>
                          <a:cs typeface="Arial" pitchFamily="34" charset="-120"/>
                        </a:rPr>
                        <a:t>TOTAL</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54,000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88,000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006838"/>
                          </a:solidFill>
                          <a:latin typeface="Arial" pitchFamily="34" charset="0"/>
                          <a:ea typeface="Arial" pitchFamily="34" charset="-122"/>
                          <a:cs typeface="Arial" pitchFamily="34" charset="-120"/>
                        </a:rPr>
                        <a:t>18,000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c>
                  <a:txBody>
                    <a:bodyPr/>
                    <a:lstStyle/>
                    <a:p>
                      <a:pPr indent="0" marL="0">
                        <a:buNone/>
                      </a:pPr>
                      <a:r>
                        <a:rPr lang="en-US" sz="800" b="1" dirty="0">
                          <a:solidFill>
                            <a:srgbClr val="C5192B"/>
                          </a:solidFill>
                          <a:latin typeface="Arial" pitchFamily="34" charset="0"/>
                          <a:ea typeface="Arial" pitchFamily="34" charset="-122"/>
                          <a:cs typeface="Arial" pitchFamily="34" charset="-120"/>
                        </a:rPr>
                        <a:t>160,000</a:t>
                      </a:r>
                      <a:endParaRPr lang="en-US" sz="800" dirty="0">
                        <a:latin typeface="Arial" charset="0"/>
                        <a:ea typeface="Arial" charset="0"/>
                        <a:cs typeface="Arial" charset="0"/>
                      </a:endParaRPr>
                    </a:p>
                  </a:txBody>
                  <a:tcPr marL="63500" marR="63500" marT="38100" marB="38100" anchor="ctr">
                    <a:lnL w="12700" cap="flat" cmpd="sng" algn="ctr">
                      <a:solidFill>
                        <a:srgbClr val="F6FAEC"/>
                      </a:solidFill>
                      <a:prstDash val="solid"/>
                      <a:round/>
                      <a:headEnd type="none" w="med" len="med"/>
                      <a:tailEnd type="none" w="med" len="med"/>
                    </a:lnL>
                    <a:lnR w="12700" cap="flat" cmpd="sng" algn="ctr">
                      <a:solidFill>
                        <a:srgbClr val="F6FAEC"/>
                      </a:solidFill>
                      <a:prstDash val="solid"/>
                      <a:round/>
                      <a:headEnd type="none" w="med" len="med"/>
                      <a:tailEnd type="none" w="med" len="med"/>
                    </a:lnR>
                    <a:lnT w="12700" cap="flat" cmpd="sng" algn="ctr">
                      <a:solidFill>
                        <a:srgbClr val="F6FAEC"/>
                      </a:solidFill>
                      <a:prstDash val="solid"/>
                      <a:round/>
                      <a:headEnd type="none" w="med" len="med"/>
                      <a:tailEnd type="none" w="med" len="med"/>
                    </a:lnT>
                    <a:lnB w="12700" cap="flat" cmpd="sng" algn="ctr">
                      <a:solidFill>
                        <a:srgbClr val="F6FAEC"/>
                      </a:solidFill>
                      <a:prstDash val="solid"/>
                      <a:round/>
                      <a:headEnd type="none" w="med" len="med"/>
                      <a:tailEnd type="none" w="med" len="med"/>
                    </a:lnB>
                    <a:solidFill>
                      <a:srgbClr val="F6FAEC"/>
                    </a:solidFill>
                  </a:tcPr>
                </a:tc>
              </a:tr>
            </a:tbl>
          </a:graphicData>
        </a:graphic>
      </p:graphicFrame>
      <p:sp>
        <p:nvSpPr>
          <p:cNvPr id="9" name="Shape 5"/>
          <p:cNvSpPr/>
          <p:nvPr/>
        </p:nvSpPr>
        <p:spPr>
          <a:xfrm>
            <a:off x="512064" y="3602736"/>
            <a:ext cx="2584704" cy="566928"/>
          </a:xfrm>
          <a:prstGeom prst="rect">
            <a:avLst/>
          </a:prstGeom>
          <a:solidFill>
            <a:srgbClr val="E9F3DD"/>
          </a:solidFill>
          <a:ln/>
        </p:spPr>
      </p:sp>
      <p:sp>
        <p:nvSpPr>
          <p:cNvPr id="10" name="Shape 6"/>
          <p:cNvSpPr/>
          <p:nvPr/>
        </p:nvSpPr>
        <p:spPr>
          <a:xfrm>
            <a:off x="512064" y="3602736"/>
            <a:ext cx="45720" cy="566928"/>
          </a:xfrm>
          <a:prstGeom prst="rect">
            <a:avLst/>
          </a:prstGeom>
          <a:solidFill>
            <a:srgbClr val="006838"/>
          </a:solidFill>
          <a:ln/>
        </p:spPr>
      </p:sp>
      <p:sp>
        <p:nvSpPr>
          <p:cNvPr id="11" name="Text 7"/>
          <p:cNvSpPr/>
          <p:nvPr/>
        </p:nvSpPr>
        <p:spPr>
          <a:xfrm>
            <a:off x="658368" y="3685032"/>
            <a:ext cx="2292096" cy="182880"/>
          </a:xfrm>
          <a:prstGeom prst="rect">
            <a:avLst/>
          </a:prstGeom>
          <a:noFill/>
          <a:ln/>
        </p:spPr>
        <p:txBody>
          <a:bodyPr wrap="square" lIns="0" tIns="0" rIns="0" bIns="0" rtlCol="0" anchor="t"/>
          <a:lstStyle/>
          <a:p>
            <a:pPr indent="0" marL="0">
              <a:buNone/>
            </a:pPr>
            <a:r>
              <a:rPr lang="en-US" sz="900" b="1" dirty="0">
                <a:solidFill>
                  <a:srgbClr val="006838"/>
                </a:solidFill>
                <a:latin typeface="Arial" pitchFamily="34" charset="0"/>
                <a:ea typeface="Arial" pitchFamily="34" charset="-122"/>
                <a:cs typeface="Arial" pitchFamily="34" charset="-120"/>
              </a:rPr>
              <a:t>Meta</a:t>
            </a:r>
            <a:endParaRPr lang="en-US" sz="900" dirty="0"/>
          </a:p>
        </p:txBody>
      </p:sp>
      <p:sp>
        <p:nvSpPr>
          <p:cNvPr id="12" name="Text 8"/>
          <p:cNvSpPr/>
          <p:nvPr/>
        </p:nvSpPr>
        <p:spPr>
          <a:xfrm>
            <a:off x="658368" y="3886200"/>
            <a:ext cx="2292096" cy="201168"/>
          </a:xfrm>
          <a:prstGeom prst="rect">
            <a:avLst/>
          </a:prstGeom>
          <a:noFill/>
          <a:ln/>
        </p:spPr>
        <p:txBody>
          <a:bodyPr wrap="square" lIns="0" tIns="0" rIns="0" bIns="0" rtlCol="0" anchor="t"/>
          <a:lstStyle/>
          <a:p>
            <a:pPr indent="0" marL="0">
              <a:buNone/>
            </a:pPr>
            <a:r>
              <a:rPr lang="en-US" sz="850" dirty="0">
                <a:solidFill>
                  <a:srgbClr val="6E8A76"/>
                </a:solidFill>
                <a:latin typeface="Arial" pitchFamily="34" charset="0"/>
                <a:ea typeface="Arial" pitchFamily="34" charset="-122"/>
                <a:cs typeface="Arial" pitchFamily="34" charset="-120"/>
              </a:rPr>
              <a:t>36% of RM135,000  ·  34% of RM160,000</a:t>
            </a:r>
            <a:endParaRPr lang="en-US" sz="850" dirty="0"/>
          </a:p>
        </p:txBody>
      </p:sp>
      <p:sp>
        <p:nvSpPr>
          <p:cNvPr id="13" name="Shape 9"/>
          <p:cNvSpPr/>
          <p:nvPr/>
        </p:nvSpPr>
        <p:spPr>
          <a:xfrm>
            <a:off x="3279648" y="3602736"/>
            <a:ext cx="2584704" cy="566928"/>
          </a:xfrm>
          <a:prstGeom prst="rect">
            <a:avLst/>
          </a:prstGeom>
          <a:solidFill>
            <a:srgbClr val="E9F3DD"/>
          </a:solidFill>
          <a:ln/>
        </p:spPr>
      </p:sp>
      <p:sp>
        <p:nvSpPr>
          <p:cNvPr id="14" name="Shape 10"/>
          <p:cNvSpPr/>
          <p:nvPr/>
        </p:nvSpPr>
        <p:spPr>
          <a:xfrm>
            <a:off x="3279648" y="3602736"/>
            <a:ext cx="45720" cy="566928"/>
          </a:xfrm>
          <a:prstGeom prst="rect">
            <a:avLst/>
          </a:prstGeom>
          <a:solidFill>
            <a:srgbClr val="C5192B"/>
          </a:solidFill>
          <a:ln/>
        </p:spPr>
      </p:sp>
      <p:sp>
        <p:nvSpPr>
          <p:cNvPr id="15" name="Text 11"/>
          <p:cNvSpPr/>
          <p:nvPr/>
        </p:nvSpPr>
        <p:spPr>
          <a:xfrm>
            <a:off x="3425952" y="3685032"/>
            <a:ext cx="2292096" cy="182880"/>
          </a:xfrm>
          <a:prstGeom prst="rect">
            <a:avLst/>
          </a:prstGeom>
          <a:noFill/>
          <a:ln/>
        </p:spPr>
        <p:txBody>
          <a:bodyPr wrap="square" lIns="0" tIns="0" rIns="0" bIns="0" rtlCol="0" anchor="t"/>
          <a:lstStyle/>
          <a:p>
            <a:pPr indent="0" marL="0">
              <a:buNone/>
            </a:pPr>
            <a:r>
              <a:rPr lang="en-US" sz="900" b="1" dirty="0">
                <a:solidFill>
                  <a:srgbClr val="006838"/>
                </a:solidFill>
                <a:latin typeface="Arial" pitchFamily="34" charset="0"/>
                <a:ea typeface="Arial" pitchFamily="34" charset="-122"/>
                <a:cs typeface="Arial" pitchFamily="34" charset="-120"/>
              </a:rPr>
              <a:t>TikTok</a:t>
            </a:r>
            <a:endParaRPr lang="en-US" sz="900" dirty="0"/>
          </a:p>
        </p:txBody>
      </p:sp>
      <p:sp>
        <p:nvSpPr>
          <p:cNvPr id="16" name="Text 12"/>
          <p:cNvSpPr/>
          <p:nvPr/>
        </p:nvSpPr>
        <p:spPr>
          <a:xfrm>
            <a:off x="3425952" y="3886200"/>
            <a:ext cx="2292096" cy="201168"/>
          </a:xfrm>
          <a:prstGeom prst="rect">
            <a:avLst/>
          </a:prstGeom>
          <a:noFill/>
          <a:ln/>
        </p:spPr>
        <p:txBody>
          <a:bodyPr wrap="square" lIns="0" tIns="0" rIns="0" bIns="0" rtlCol="0" anchor="t"/>
          <a:lstStyle/>
          <a:p>
            <a:pPr indent="0" marL="0">
              <a:buNone/>
            </a:pPr>
            <a:r>
              <a:rPr lang="en-US" sz="850" dirty="0">
                <a:solidFill>
                  <a:srgbClr val="6E8A76"/>
                </a:solidFill>
                <a:latin typeface="Arial" pitchFamily="34" charset="0"/>
                <a:ea typeface="Arial" pitchFamily="34" charset="-122"/>
                <a:cs typeface="Arial" pitchFamily="34" charset="-120"/>
              </a:rPr>
              <a:t>56% of RM135,000  ·  55% of RM160,000</a:t>
            </a:r>
            <a:endParaRPr lang="en-US" sz="850" dirty="0"/>
          </a:p>
        </p:txBody>
      </p:sp>
      <p:sp>
        <p:nvSpPr>
          <p:cNvPr id="17" name="Shape 13"/>
          <p:cNvSpPr/>
          <p:nvPr/>
        </p:nvSpPr>
        <p:spPr>
          <a:xfrm>
            <a:off x="6047232" y="3602736"/>
            <a:ext cx="2584704" cy="566928"/>
          </a:xfrm>
          <a:prstGeom prst="rect">
            <a:avLst/>
          </a:prstGeom>
          <a:solidFill>
            <a:srgbClr val="E9F3DD"/>
          </a:solidFill>
          <a:ln/>
        </p:spPr>
      </p:sp>
      <p:sp>
        <p:nvSpPr>
          <p:cNvPr id="18" name="Shape 14"/>
          <p:cNvSpPr/>
          <p:nvPr/>
        </p:nvSpPr>
        <p:spPr>
          <a:xfrm>
            <a:off x="6047232" y="3602736"/>
            <a:ext cx="45720" cy="566928"/>
          </a:xfrm>
          <a:prstGeom prst="rect">
            <a:avLst/>
          </a:prstGeom>
          <a:solidFill>
            <a:srgbClr val="E8912C"/>
          </a:solidFill>
          <a:ln/>
        </p:spPr>
      </p:sp>
      <p:sp>
        <p:nvSpPr>
          <p:cNvPr id="19" name="Text 15"/>
          <p:cNvSpPr/>
          <p:nvPr/>
        </p:nvSpPr>
        <p:spPr>
          <a:xfrm>
            <a:off x="6193536" y="3685032"/>
            <a:ext cx="2292096" cy="182880"/>
          </a:xfrm>
          <a:prstGeom prst="rect">
            <a:avLst/>
          </a:prstGeom>
          <a:noFill/>
          <a:ln/>
        </p:spPr>
        <p:txBody>
          <a:bodyPr wrap="square" lIns="0" tIns="0" rIns="0" bIns="0" rtlCol="0" anchor="t"/>
          <a:lstStyle/>
          <a:p>
            <a:pPr indent="0" marL="0">
              <a:buNone/>
            </a:pPr>
            <a:r>
              <a:rPr lang="en-US" sz="900" b="1" dirty="0">
                <a:solidFill>
                  <a:srgbClr val="006838"/>
                </a:solidFill>
                <a:latin typeface="Arial" pitchFamily="34" charset="0"/>
                <a:ea typeface="Arial" pitchFamily="34" charset="-122"/>
                <a:cs typeface="Arial" pitchFamily="34" charset="-120"/>
              </a:rPr>
              <a:t>Google, YouTube</a:t>
            </a:r>
            <a:endParaRPr lang="en-US" sz="900" dirty="0"/>
          </a:p>
        </p:txBody>
      </p:sp>
      <p:sp>
        <p:nvSpPr>
          <p:cNvPr id="20" name="Text 16"/>
          <p:cNvSpPr/>
          <p:nvPr/>
        </p:nvSpPr>
        <p:spPr>
          <a:xfrm>
            <a:off x="6193536" y="3886200"/>
            <a:ext cx="2292096" cy="201168"/>
          </a:xfrm>
          <a:prstGeom prst="rect">
            <a:avLst/>
          </a:prstGeom>
          <a:noFill/>
          <a:ln/>
        </p:spPr>
        <p:txBody>
          <a:bodyPr wrap="square" lIns="0" tIns="0" rIns="0" bIns="0" rtlCol="0" anchor="t"/>
          <a:lstStyle/>
          <a:p>
            <a:pPr indent="0" marL="0">
              <a:buNone/>
            </a:pPr>
            <a:r>
              <a:rPr lang="en-US" sz="850" dirty="0">
                <a:solidFill>
                  <a:srgbClr val="6E8A76"/>
                </a:solidFill>
                <a:latin typeface="Arial" pitchFamily="34" charset="0"/>
                <a:ea typeface="Arial" pitchFamily="34" charset="-122"/>
                <a:cs typeface="Arial" pitchFamily="34" charset="-120"/>
              </a:rPr>
              <a:t>9% of RM135,000  ·  11% of RM160,000</a:t>
            </a:r>
            <a:endParaRPr lang="en-US" sz="850" dirty="0"/>
          </a:p>
        </p:txBody>
      </p:sp>
      <p:sp>
        <p:nvSpPr>
          <p:cNvPr id="21" name="Shape 17"/>
          <p:cNvSpPr/>
          <p:nvPr/>
        </p:nvSpPr>
        <p:spPr>
          <a:xfrm>
            <a:off x="438912" y="4443984"/>
            <a:ext cx="8266176" cy="402336"/>
          </a:xfrm>
          <a:prstGeom prst="rect">
            <a:avLst/>
          </a:prstGeom>
          <a:solidFill>
            <a:srgbClr val="C5192B"/>
          </a:solidFill>
          <a:ln/>
        </p:spPr>
      </p:sp>
      <p:sp>
        <p:nvSpPr>
          <p:cNvPr id="22" name="Text 18"/>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Please note: </a:t>
            </a:r>
            <a:pPr indent="0" marL="0">
              <a:buNone/>
            </a:pPr>
            <a:r>
              <a:rPr lang="en-US" sz="950" b="1" dirty="0">
                <a:solidFill>
                  <a:srgbClr val="FFFFFF"/>
                </a:solidFill>
                <a:latin typeface="Arial" pitchFamily="34" charset="0"/>
                <a:ea typeface="Arial" pitchFamily="34" charset="-122"/>
                <a:cs typeface="Arial" pitchFamily="34" charset="-120"/>
              </a:rPr>
              <a:t>these are initial plans. The split moves once the campaign is live, because we optimize against real time cost per entry and cost per view rather than against this table.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832"/>
              </a:lnSpc>
              <a:buNone/>
            </a:pPr>
            <a:r>
              <a:rPr lang="en-US" sz="2400" dirty="0">
                <a:solidFill>
                  <a:srgbClr val="006838"/>
                </a:solidFill>
                <a:latin typeface="Arial Black" pitchFamily="34" charset="0"/>
                <a:ea typeface="Arial Black" pitchFamily="34" charset="-122"/>
                <a:cs typeface="Arial Black" pitchFamily="34" charset="-120"/>
              </a:rPr>
              <a:t>Each platform has </a:t>
            </a:r>
            <a:pPr indent="0" marL="0">
              <a:lnSpc>
                <a:spcPts val="2832"/>
              </a:lnSpc>
              <a:buNone/>
            </a:pPr>
            <a:r>
              <a:rPr lang="en-US" sz="2400" dirty="0">
                <a:solidFill>
                  <a:srgbClr val="C5192B"/>
                </a:solidFill>
                <a:latin typeface="Arial Black" pitchFamily="34" charset="0"/>
                <a:ea typeface="Arial Black" pitchFamily="34" charset="-122"/>
                <a:cs typeface="Arial Black" pitchFamily="34" charset="-120"/>
              </a:rPr>
              <a:t>one job.</a:t>
            </a:r>
            <a:endParaRPr lang="en-US" sz="2400" dirty="0"/>
          </a:p>
        </p:txBody>
      </p:sp>
      <p:sp>
        <p:nvSpPr>
          <p:cNvPr id="4" name="Text 2"/>
          <p:cNvSpPr/>
          <p:nvPr/>
        </p:nvSpPr>
        <p:spPr>
          <a:xfrm>
            <a:off x="512064" y="1426464"/>
            <a:ext cx="7795077" cy="365760"/>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Taken straight from what each one actually delivered for Saji in 2025, rather than from a generic channel plan.</a:t>
            </a:r>
            <a:endParaRPr lang="en-US" sz="1100" dirty="0"/>
          </a:p>
        </p:txBody>
      </p:sp>
      <p:sp>
        <p:nvSpPr>
          <p:cNvPr id="5" name="Shape 3"/>
          <p:cNvSpPr/>
          <p:nvPr/>
        </p:nvSpPr>
        <p:spPr>
          <a:xfrm>
            <a:off x="512064" y="1810512"/>
            <a:ext cx="2584704" cy="2139696"/>
          </a:xfrm>
          <a:prstGeom prst="rect">
            <a:avLst/>
          </a:prstGeom>
          <a:solidFill>
            <a:srgbClr val="E9F3DD"/>
          </a:solidFill>
          <a:ln/>
        </p:spPr>
      </p:sp>
      <p:sp>
        <p:nvSpPr>
          <p:cNvPr id="6" name="Shape 4"/>
          <p:cNvSpPr/>
          <p:nvPr/>
        </p:nvSpPr>
        <p:spPr>
          <a:xfrm>
            <a:off x="512064" y="1810512"/>
            <a:ext cx="2584704" cy="54864"/>
          </a:xfrm>
          <a:prstGeom prst="rect">
            <a:avLst/>
          </a:prstGeom>
          <a:solidFill>
            <a:srgbClr val="C5192B"/>
          </a:solidFill>
          <a:ln/>
        </p:spPr>
      </p:sp>
      <p:sp>
        <p:nvSpPr>
          <p:cNvPr id="7" name="Text 5"/>
          <p:cNvSpPr/>
          <p:nvPr/>
        </p:nvSpPr>
        <p:spPr>
          <a:xfrm>
            <a:off x="676656" y="1993392"/>
            <a:ext cx="2255520" cy="384048"/>
          </a:xfrm>
          <a:prstGeom prst="rect">
            <a:avLst/>
          </a:prstGeom>
          <a:noFill/>
          <a:ln/>
        </p:spPr>
        <p:txBody>
          <a:bodyPr wrap="none" lIns="0" tIns="0" rIns="0" bIns="0" rtlCol="0" anchor="t"/>
          <a:lstStyle/>
          <a:p>
            <a:pPr indent="0" marL="0">
              <a:buNone/>
            </a:pPr>
            <a:r>
              <a:rPr lang="en-US" sz="1700" dirty="0">
                <a:solidFill>
                  <a:srgbClr val="C5192B"/>
                </a:solidFill>
                <a:latin typeface="Arial Black" pitchFamily="34" charset="0"/>
                <a:ea typeface="Arial Black" pitchFamily="34" charset="-122"/>
                <a:cs typeface="Arial Black" pitchFamily="34" charset="-120"/>
              </a:rPr>
              <a:t>TikTok</a:t>
            </a:r>
            <a:endParaRPr lang="en-US" sz="1700" dirty="0"/>
          </a:p>
        </p:txBody>
      </p:sp>
      <p:sp>
        <p:nvSpPr>
          <p:cNvPr id="8" name="Text 6"/>
          <p:cNvSpPr/>
          <p:nvPr/>
        </p:nvSpPr>
        <p:spPr>
          <a:xfrm>
            <a:off x="676656"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VIEWS AND ENGAGEMENT</a:t>
            </a:r>
            <a:endParaRPr lang="en-US" sz="800" dirty="0"/>
          </a:p>
        </p:txBody>
      </p:sp>
      <p:sp>
        <p:nvSpPr>
          <p:cNvPr id="9" name="Text 7"/>
          <p:cNvSpPr/>
          <p:nvPr/>
        </p:nvSpPr>
        <p:spPr>
          <a:xfrm>
            <a:off x="676656"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The cheapest view in the market</a:t>
            </a:r>
            <a:endParaRPr lang="en-US" sz="1200" dirty="0"/>
          </a:p>
        </p:txBody>
      </p:sp>
      <p:sp>
        <p:nvSpPr>
          <p:cNvPr id="10" name="Text 8"/>
          <p:cNvSpPr/>
          <p:nvPr/>
        </p:nvSpPr>
        <p:spPr>
          <a:xfrm>
            <a:off x="676656"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In 2025 TikTok turned 11.5M impressions into 7.26M views, a 63% view rate, six times cheaper per view than YouTube. It carries the view KPI and the Spark Ads on KOL content.</a:t>
            </a:r>
            <a:endParaRPr lang="en-US" sz="950" dirty="0"/>
          </a:p>
        </p:txBody>
      </p:sp>
      <p:sp>
        <p:nvSpPr>
          <p:cNvPr id="11" name="Shape 9"/>
          <p:cNvSpPr/>
          <p:nvPr/>
        </p:nvSpPr>
        <p:spPr>
          <a:xfrm>
            <a:off x="3279648" y="1810512"/>
            <a:ext cx="2584704" cy="2139696"/>
          </a:xfrm>
          <a:prstGeom prst="rect">
            <a:avLst/>
          </a:prstGeom>
          <a:solidFill>
            <a:srgbClr val="E9F3DD"/>
          </a:solidFill>
          <a:ln/>
        </p:spPr>
      </p:sp>
      <p:sp>
        <p:nvSpPr>
          <p:cNvPr id="12" name="Shape 10"/>
          <p:cNvSpPr/>
          <p:nvPr/>
        </p:nvSpPr>
        <p:spPr>
          <a:xfrm>
            <a:off x="3279648" y="1810512"/>
            <a:ext cx="2584704" cy="54864"/>
          </a:xfrm>
          <a:prstGeom prst="rect">
            <a:avLst/>
          </a:prstGeom>
          <a:solidFill>
            <a:srgbClr val="006838"/>
          </a:solidFill>
          <a:ln/>
        </p:spPr>
      </p:sp>
      <p:sp>
        <p:nvSpPr>
          <p:cNvPr id="13" name="Text 11"/>
          <p:cNvSpPr/>
          <p:nvPr/>
        </p:nvSpPr>
        <p:spPr>
          <a:xfrm>
            <a:off x="3444240" y="1993392"/>
            <a:ext cx="2255520" cy="384048"/>
          </a:xfrm>
          <a:prstGeom prst="rect">
            <a:avLst/>
          </a:prstGeom>
          <a:noFill/>
          <a:ln/>
        </p:spPr>
        <p:txBody>
          <a:bodyPr wrap="none" lIns="0" tIns="0" rIns="0" bIns="0" rtlCol="0" anchor="t"/>
          <a:lstStyle/>
          <a:p>
            <a:pPr indent="0" marL="0">
              <a:buNone/>
            </a:pPr>
            <a:r>
              <a:rPr lang="en-US" sz="1700" dirty="0">
                <a:solidFill>
                  <a:srgbClr val="006838"/>
                </a:solidFill>
                <a:latin typeface="Arial Black" pitchFamily="34" charset="0"/>
                <a:ea typeface="Arial Black" pitchFamily="34" charset="-122"/>
                <a:cs typeface="Arial Black" pitchFamily="34" charset="-120"/>
              </a:rPr>
              <a:t>Meta</a:t>
            </a:r>
            <a:endParaRPr lang="en-US" sz="1700" dirty="0"/>
          </a:p>
        </p:txBody>
      </p:sp>
      <p:sp>
        <p:nvSpPr>
          <p:cNvPr id="14" name="Text 12"/>
          <p:cNvSpPr/>
          <p:nvPr/>
        </p:nvSpPr>
        <p:spPr>
          <a:xfrm>
            <a:off x="3444240"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REACH AND CONVERSION</a:t>
            </a:r>
            <a:endParaRPr lang="en-US" sz="800" dirty="0"/>
          </a:p>
        </p:txBody>
      </p:sp>
      <p:sp>
        <p:nvSpPr>
          <p:cNvPr id="15" name="Text 13"/>
          <p:cNvSpPr/>
          <p:nvPr/>
        </p:nvSpPr>
        <p:spPr>
          <a:xfrm>
            <a:off x="3444240"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Where the Household CFO lives</a:t>
            </a:r>
            <a:endParaRPr lang="en-US" sz="1200" dirty="0"/>
          </a:p>
        </p:txBody>
      </p:sp>
      <p:sp>
        <p:nvSpPr>
          <p:cNvPr id="16" name="Text 14"/>
          <p:cNvSpPr/>
          <p:nvPr/>
        </p:nvSpPr>
        <p:spPr>
          <a:xfrm>
            <a:off x="3444240"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In 2025 Meta delivered 14.17M reach on its own. It carries the reach KPI and the higher intent half of the contest conversion buy, with Advantage+ and a real pixel.</a:t>
            </a:r>
            <a:endParaRPr lang="en-US" sz="950" dirty="0"/>
          </a:p>
        </p:txBody>
      </p:sp>
      <p:sp>
        <p:nvSpPr>
          <p:cNvPr id="17" name="Shape 15"/>
          <p:cNvSpPr/>
          <p:nvPr/>
        </p:nvSpPr>
        <p:spPr>
          <a:xfrm>
            <a:off x="6047232" y="1810512"/>
            <a:ext cx="2584704" cy="2139696"/>
          </a:xfrm>
          <a:prstGeom prst="rect">
            <a:avLst/>
          </a:prstGeom>
          <a:solidFill>
            <a:srgbClr val="E9F3DD"/>
          </a:solidFill>
          <a:ln/>
        </p:spPr>
      </p:sp>
      <p:sp>
        <p:nvSpPr>
          <p:cNvPr id="18" name="Shape 16"/>
          <p:cNvSpPr/>
          <p:nvPr/>
        </p:nvSpPr>
        <p:spPr>
          <a:xfrm>
            <a:off x="6047232" y="1810512"/>
            <a:ext cx="2584704" cy="54864"/>
          </a:xfrm>
          <a:prstGeom prst="rect">
            <a:avLst/>
          </a:prstGeom>
          <a:solidFill>
            <a:srgbClr val="E8912C"/>
          </a:solidFill>
          <a:ln/>
        </p:spPr>
      </p:sp>
      <p:sp>
        <p:nvSpPr>
          <p:cNvPr id="19" name="Text 17"/>
          <p:cNvSpPr/>
          <p:nvPr/>
        </p:nvSpPr>
        <p:spPr>
          <a:xfrm>
            <a:off x="6211824" y="1993392"/>
            <a:ext cx="2255520" cy="384048"/>
          </a:xfrm>
          <a:prstGeom prst="rect">
            <a:avLst/>
          </a:prstGeom>
          <a:noFill/>
          <a:ln/>
        </p:spPr>
        <p:txBody>
          <a:bodyPr wrap="none" lIns="0" tIns="0" rIns="0" bIns="0" rtlCol="0" anchor="t"/>
          <a:lstStyle/>
          <a:p>
            <a:pPr indent="0" marL="0">
              <a:buNone/>
            </a:pPr>
            <a:r>
              <a:rPr lang="en-US" sz="1700" dirty="0">
                <a:solidFill>
                  <a:srgbClr val="E8912C"/>
                </a:solidFill>
                <a:latin typeface="Arial Black" pitchFamily="34" charset="0"/>
                <a:ea typeface="Arial Black" pitchFamily="34" charset="-122"/>
                <a:cs typeface="Arial Black" pitchFamily="34" charset="-120"/>
              </a:rPr>
              <a:t>YouTube</a:t>
            </a:r>
            <a:endParaRPr lang="en-US" sz="1700" dirty="0"/>
          </a:p>
        </p:txBody>
      </p:sp>
      <p:sp>
        <p:nvSpPr>
          <p:cNvPr id="20" name="Text 18"/>
          <p:cNvSpPr/>
          <p:nvPr/>
        </p:nvSpPr>
        <p:spPr>
          <a:xfrm>
            <a:off x="6211824" y="241401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THE BRAND FILM</a:t>
            </a:r>
            <a:endParaRPr lang="en-US" sz="800" dirty="0"/>
          </a:p>
        </p:txBody>
      </p:sp>
      <p:sp>
        <p:nvSpPr>
          <p:cNvPr id="21" name="Text 19"/>
          <p:cNvSpPr/>
          <p:nvPr/>
        </p:nvSpPr>
        <p:spPr>
          <a:xfrm>
            <a:off x="6211824" y="262432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Premium environment, priced like it</a:t>
            </a:r>
            <a:endParaRPr lang="en-US" sz="1200" dirty="0"/>
          </a:p>
        </p:txBody>
      </p:sp>
      <p:sp>
        <p:nvSpPr>
          <p:cNvPr id="22" name="Text 20"/>
          <p:cNvSpPr/>
          <p:nvPr/>
        </p:nvSpPr>
        <p:spPr>
          <a:xfrm>
            <a:off x="6211824" y="3118104"/>
            <a:ext cx="2255520" cy="685800"/>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At roughly RM0.012 per view it is four times TikTok. It earns its place for the 6 minute film and for recall among the Balik Kampung Provider, not for volume.</a:t>
            </a:r>
            <a:endParaRPr lang="en-US" sz="950" dirty="0"/>
          </a:p>
        </p:txBody>
      </p:sp>
      <p:sp>
        <p:nvSpPr>
          <p:cNvPr id="23" name="Text 21"/>
          <p:cNvSpPr/>
          <p:nvPr/>
        </p:nvSpPr>
        <p:spPr>
          <a:xfrm>
            <a:off x="512064" y="4041648"/>
            <a:ext cx="8119872" cy="365760"/>
          </a:xfrm>
          <a:prstGeom prst="rect">
            <a:avLst/>
          </a:prstGeom>
          <a:noFill/>
          <a:ln/>
        </p:spPr>
        <p:txBody>
          <a:bodyPr wrap="square" lIns="0" tIns="0" rIns="0" bIns="0" rtlCol="0" anchor="t"/>
          <a:lstStyle/>
          <a:p>
            <a:pPr indent="0" marL="0">
              <a:lnSpc>
                <a:spcPts val="1350"/>
              </a:lnSpc>
              <a:buNone/>
            </a:pPr>
            <a:r>
              <a:rPr lang="en-US" sz="1000" b="1" dirty="0">
                <a:solidFill>
                  <a:srgbClr val="006838"/>
                </a:solidFill>
                <a:latin typeface="Arial" pitchFamily="34" charset="0"/>
                <a:ea typeface="Arial" pitchFamily="34" charset="-122"/>
                <a:cs typeface="Arial" pitchFamily="34" charset="-120"/>
              </a:rPr>
              <a:t>Geo: the contest runs as TWO separate campaigns so budget cannot leak to the cheapest inventory. KL and Selangor take 30%, the other states 70%, matching Bulan Bintang’s suburban skew. Inside each, a radius layer around the 14 boutiques carries the pop-up message. The brand video runs national.</a:t>
            </a:r>
            <a:endParaRPr lang="en-US" sz="1000" dirty="0"/>
          </a:p>
        </p:txBody>
      </p:sp>
      <p:sp>
        <p:nvSpPr>
          <p:cNvPr id="24" name="Shape 22"/>
          <p:cNvSpPr/>
          <p:nvPr/>
        </p:nvSpPr>
        <p:spPr>
          <a:xfrm>
            <a:off x="438912" y="4443984"/>
            <a:ext cx="8266176" cy="402336"/>
          </a:xfrm>
          <a:prstGeom prst="rect">
            <a:avLst/>
          </a:prstGeom>
          <a:solidFill>
            <a:srgbClr val="052B18"/>
          </a:solidFill>
          <a:ln/>
        </p:spPr>
      </p:sp>
      <p:sp>
        <p:nvSpPr>
          <p:cNvPr id="25" name="Text 23"/>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Why two campaigns and not two ad sets: </a:t>
            </a:r>
            <a:pPr indent="0" marL="0">
              <a:buNone/>
            </a:pPr>
            <a:r>
              <a:rPr lang="en-US" sz="950" b="1" dirty="0">
                <a:solidFill>
                  <a:srgbClr val="FFFFFF"/>
                </a:solidFill>
                <a:latin typeface="Arial" pitchFamily="34" charset="0"/>
                <a:ea typeface="Arial" pitchFamily="34" charset="-122"/>
                <a:cs typeface="Arial" pitchFamily="34" charset="-120"/>
              </a:rPr>
              <a:t>inside one campaign the algorithm spends where conversions are cheapest, which is KL, and the outer states quietly starve.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2B18"/>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C5192B"/>
          </a:solidFill>
          <a:ln/>
        </p:spPr>
      </p:sp>
      <p:sp>
        <p:nvSpPr>
          <p:cNvPr id="3" name="Text 1"/>
          <p:cNvSpPr/>
          <p:nvPr/>
        </p:nvSpPr>
        <p:spPr>
          <a:xfrm>
            <a:off x="640080" y="1554480"/>
            <a:ext cx="3657600" cy="365760"/>
          </a:xfrm>
          <a:prstGeom prst="rect">
            <a:avLst/>
          </a:prstGeom>
          <a:noFill/>
          <a:ln/>
        </p:spPr>
        <p:txBody>
          <a:bodyPr wrap="square" lIns="0" tIns="0" rIns="0" bIns="0" rtlCol="0" anchor="t"/>
          <a:lstStyle/>
          <a:p>
            <a:pPr indent="0" marL="0">
              <a:buNone/>
            </a:pPr>
            <a:r>
              <a:rPr lang="en-US" sz="2100" b="1" dirty="0">
                <a:solidFill>
                  <a:srgbClr val="FFFFFF"/>
                </a:solidFill>
                <a:latin typeface="Century Gothic" pitchFamily="34" charset="0"/>
                <a:ea typeface="Century Gothic" pitchFamily="34" charset="-122"/>
                <a:cs typeface="Century Gothic" pitchFamily="34" charset="-120"/>
              </a:rPr>
              <a:t>03.</a:t>
            </a:r>
            <a:endParaRPr lang="en-US" sz="2100" dirty="0"/>
          </a:p>
        </p:txBody>
      </p:sp>
      <p:sp>
        <p:nvSpPr>
          <p:cNvPr id="4" name="Text 2"/>
          <p:cNvSpPr/>
          <p:nvPr/>
        </p:nvSpPr>
        <p:spPr>
          <a:xfrm>
            <a:off x="640080" y="2194560"/>
            <a:ext cx="6949440" cy="731520"/>
          </a:xfrm>
          <a:prstGeom prst="rect">
            <a:avLst/>
          </a:prstGeom>
          <a:noFill/>
          <a:ln/>
        </p:spPr>
        <p:txBody>
          <a:bodyPr wrap="square" lIns="0" tIns="0" rIns="0" bIns="0" rtlCol="0" anchor="t"/>
          <a:lstStyle/>
          <a:p>
            <a:pPr indent="0" marL="0">
              <a:buNone/>
            </a:pPr>
            <a:r>
              <a:rPr lang="en-US" sz="3800" b="1" dirty="0">
                <a:solidFill>
                  <a:srgbClr val="FFFFFF"/>
                </a:solidFill>
                <a:latin typeface="Century Gothic" pitchFamily="34" charset="0"/>
                <a:ea typeface="Century Gothic" pitchFamily="34" charset="-122"/>
                <a:cs typeface="Century Gothic" pitchFamily="34" charset="-120"/>
              </a:rPr>
              <a:t>How people actually enter</a:t>
            </a:r>
            <a:endParaRPr lang="en-US" sz="3800" dirty="0"/>
          </a:p>
        </p:txBody>
      </p:sp>
      <p:sp>
        <p:nvSpPr>
          <p:cNvPr id="5" name="Text 3"/>
          <p:cNvSpPr/>
          <p:nvPr/>
        </p:nvSpPr>
        <p:spPr>
          <a:xfrm>
            <a:off x="640080" y="3063240"/>
            <a:ext cx="5669280" cy="822960"/>
          </a:xfrm>
          <a:prstGeom prst="rect">
            <a:avLst/>
          </a:prstGeom>
          <a:noFill/>
          <a:ln/>
        </p:spPr>
        <p:txBody>
          <a:bodyPr wrap="square" lIns="0" tIns="0" rIns="0" bIns="0" rtlCol="0" anchor="t"/>
          <a:lstStyle/>
          <a:p>
            <a:pPr indent="0" marL="0">
              <a:lnSpc>
                <a:spcPts val="2200"/>
              </a:lnSpc>
              <a:buNone/>
            </a:pPr>
            <a:r>
              <a:rPr lang="en-US" sz="1500" dirty="0">
                <a:solidFill>
                  <a:srgbClr val="F8C84A"/>
                </a:solidFill>
                <a:latin typeface="Century Gothic" pitchFamily="34" charset="0"/>
                <a:ea typeface="Century Gothic" pitchFamily="34" charset="-122"/>
                <a:cs typeface="Century Gothic" pitchFamily="34" charset="-120"/>
              </a:rPr>
              <a:t>Why a QR code in a mobile ad cannot work, where QR codes still belong, and what the landing page has to do.</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596"/>
              </a:lnSpc>
              <a:buNone/>
            </a:pPr>
            <a:r>
              <a:rPr lang="en-US" sz="2200" dirty="0">
                <a:solidFill>
                  <a:srgbClr val="006838"/>
                </a:solidFill>
                <a:latin typeface="Arial Black" pitchFamily="34" charset="0"/>
                <a:ea typeface="Arial Black" pitchFamily="34" charset="-122"/>
                <a:cs typeface="Arial Black" pitchFamily="34" charset="-120"/>
              </a:rPr>
              <a:t>You cannot scan a QR code with </a:t>
            </a:r>
            <a:pPr indent="0" marL="0">
              <a:lnSpc>
                <a:spcPts val="2596"/>
              </a:lnSpc>
              <a:buNone/>
            </a:pPr>
            <a:r>
              <a:rPr lang="en-US" sz="2200" dirty="0">
                <a:solidFill>
                  <a:srgbClr val="C5192B"/>
                </a:solidFill>
                <a:latin typeface="Arial Black" pitchFamily="34" charset="0"/>
                <a:ea typeface="Arial Black" pitchFamily="34" charset="-122"/>
                <a:cs typeface="Arial Black" pitchFamily="34" charset="-120"/>
              </a:rPr>
              <a:t>the phone that is showing it.</a:t>
            </a:r>
            <a:endParaRPr lang="en-US" sz="22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Over 90% of Meta and TikTok impressions in Malaysia are mobile in feed. A QR code in that ad asks the viewer to go and find a second device.</a:t>
            </a:r>
            <a:endParaRPr lang="en-US" sz="1100" dirty="0"/>
          </a:p>
        </p:txBody>
      </p:sp>
      <p:sp>
        <p:nvSpPr>
          <p:cNvPr id="5" name="Shape 3"/>
          <p:cNvSpPr/>
          <p:nvPr/>
        </p:nvSpPr>
        <p:spPr>
          <a:xfrm>
            <a:off x="512064" y="1700784"/>
            <a:ext cx="3675888" cy="2670048"/>
          </a:xfrm>
          <a:prstGeom prst="rect">
            <a:avLst/>
          </a:prstGeom>
          <a:solidFill>
            <a:srgbClr val="C5192B"/>
          </a:solidFill>
          <a:ln/>
        </p:spPr>
      </p:sp>
      <p:sp>
        <p:nvSpPr>
          <p:cNvPr id="6" name="Text 4"/>
          <p:cNvSpPr/>
          <p:nvPr/>
        </p:nvSpPr>
        <p:spPr>
          <a:xfrm>
            <a:off x="768096" y="1883664"/>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QR CODE IN THE AD</a:t>
            </a:r>
            <a:endParaRPr lang="en-US" sz="1400" dirty="0"/>
          </a:p>
        </p:txBody>
      </p:sp>
      <p:sp>
        <p:nvSpPr>
          <p:cNvPr id="7" name="Text 5"/>
          <p:cNvSpPr/>
          <p:nvPr/>
        </p:nvSpPr>
        <p:spPr>
          <a:xfrm>
            <a:off x="768096" y="2231136"/>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Five steps, and most of them fail</a:t>
            </a:r>
            <a:endParaRPr lang="en-US" sz="1350" dirty="0"/>
          </a:p>
        </p:txBody>
      </p:sp>
      <p:sp>
        <p:nvSpPr>
          <p:cNvPr id="8" name="Text 6"/>
          <p:cNvSpPr/>
          <p:nvPr/>
        </p:nvSpPr>
        <p:spPr>
          <a:xfrm>
            <a:off x="768096" y="2670048"/>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9" name="Text 7"/>
          <p:cNvSpPr/>
          <p:nvPr/>
        </p:nvSpPr>
        <p:spPr>
          <a:xfrm>
            <a:off x="768096" y="2843784"/>
            <a:ext cx="3163824" cy="713232"/>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Scrolling TikTok on her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Sees a QR code in the ad</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Cannot scan it with that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Screenshots it, or finds another device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Opens a scanner that reads from the gallery</a:t>
            </a:r>
            <a:endParaRPr lang="en-US" sz="850" dirty="0"/>
          </a:p>
        </p:txBody>
      </p:sp>
      <p:sp>
        <p:nvSpPr>
          <p:cNvPr id="10" name="Text 8"/>
          <p:cNvSpPr/>
          <p:nvPr/>
        </p:nvSpPr>
        <p:spPr>
          <a:xfrm>
            <a:off x="768096" y="3611880"/>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WHAT WE GET BACK</a:t>
            </a:r>
            <a:endParaRPr lang="en-US" sz="750" dirty="0"/>
          </a:p>
        </p:txBody>
      </p:sp>
      <p:sp>
        <p:nvSpPr>
          <p:cNvPr id="11" name="Text 9"/>
          <p:cNvSpPr/>
          <p:nvPr/>
        </p:nvSpPr>
        <p:spPr>
          <a:xfrm>
            <a:off x="768096" y="3785616"/>
            <a:ext cx="3163824" cy="6583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No click. No pixel. No conversion event. No retargeting pool. No cost per entry. The platforms never learn who converts, so they keep serving people who never enter.</a:t>
            </a:r>
            <a:endParaRPr lang="en-US" sz="850" dirty="0"/>
          </a:p>
        </p:txBody>
      </p:sp>
      <p:sp>
        <p:nvSpPr>
          <p:cNvPr id="12" name="Shape 10"/>
          <p:cNvSpPr/>
          <p:nvPr/>
        </p:nvSpPr>
        <p:spPr>
          <a:xfrm>
            <a:off x="4956048" y="1700784"/>
            <a:ext cx="3675888" cy="2670048"/>
          </a:xfrm>
          <a:prstGeom prst="rect">
            <a:avLst/>
          </a:prstGeom>
          <a:solidFill>
            <a:srgbClr val="006838"/>
          </a:solidFill>
          <a:ln/>
        </p:spPr>
      </p:sp>
      <p:sp>
        <p:nvSpPr>
          <p:cNvPr id="13" name="Text 11"/>
          <p:cNvSpPr/>
          <p:nvPr/>
        </p:nvSpPr>
        <p:spPr>
          <a:xfrm>
            <a:off x="5212080" y="1883664"/>
            <a:ext cx="3163824" cy="274320"/>
          </a:xfrm>
          <a:prstGeom prst="rect">
            <a:avLst/>
          </a:prstGeom>
          <a:noFill/>
          <a:ln/>
        </p:spPr>
        <p:txBody>
          <a:bodyPr wrap="square" lIns="0" tIns="0" rIns="0" bIns="0" rtlCol="0" anchor="t"/>
          <a:lstStyle/>
          <a:p>
            <a:pPr indent="0" marL="0">
              <a:buNone/>
            </a:pPr>
            <a:r>
              <a:rPr lang="en-US" sz="1400" dirty="0">
                <a:solidFill>
                  <a:srgbClr val="FFFFFF"/>
                </a:solidFill>
                <a:latin typeface="Arial Black" pitchFamily="34" charset="0"/>
                <a:ea typeface="Arial Black" pitchFamily="34" charset="-122"/>
                <a:cs typeface="Arial Black" pitchFamily="34" charset="-120"/>
              </a:rPr>
              <a:t>LANDING PAGE</a:t>
            </a:r>
            <a:endParaRPr lang="en-US" sz="1400" dirty="0"/>
          </a:p>
        </p:txBody>
      </p:sp>
      <p:sp>
        <p:nvSpPr>
          <p:cNvPr id="14" name="Text 12"/>
          <p:cNvSpPr/>
          <p:nvPr/>
        </p:nvSpPr>
        <p:spPr>
          <a:xfrm>
            <a:off x="5212080" y="2231136"/>
            <a:ext cx="3163824" cy="384048"/>
          </a:xfrm>
          <a:prstGeom prst="rect">
            <a:avLst/>
          </a:prstGeom>
          <a:noFill/>
          <a:ln/>
        </p:spPr>
        <p:txBody>
          <a:bodyPr wrap="square" lIns="0" tIns="0" rIns="0" bIns="0" rtlCol="0" anchor="t"/>
          <a:lstStyle/>
          <a:p>
            <a:pPr indent="0" marL="0">
              <a:lnSpc>
                <a:spcPts val="1700"/>
              </a:lnSpc>
              <a:buNone/>
            </a:pPr>
            <a:r>
              <a:rPr lang="en-US" sz="1350" b="1" dirty="0">
                <a:solidFill>
                  <a:srgbClr val="FFFFFF"/>
                </a:solidFill>
                <a:latin typeface="Arial" pitchFamily="34" charset="0"/>
                <a:ea typeface="Arial" pitchFamily="34" charset="-122"/>
                <a:cs typeface="Arial" pitchFamily="34" charset="-120"/>
              </a:rPr>
              <a:t>One tap, and it reports back</a:t>
            </a:r>
            <a:endParaRPr lang="en-US" sz="1350" dirty="0"/>
          </a:p>
        </p:txBody>
      </p:sp>
      <p:sp>
        <p:nvSpPr>
          <p:cNvPr id="15" name="Text 13"/>
          <p:cNvSpPr/>
          <p:nvPr/>
        </p:nvSpPr>
        <p:spPr>
          <a:xfrm>
            <a:off x="5212080" y="2670048"/>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THE JOURNEY</a:t>
            </a:r>
            <a:endParaRPr lang="en-US" sz="750" dirty="0"/>
          </a:p>
        </p:txBody>
      </p:sp>
      <p:sp>
        <p:nvSpPr>
          <p:cNvPr id="16" name="Text 14"/>
          <p:cNvSpPr/>
          <p:nvPr/>
        </p:nvSpPr>
        <p:spPr>
          <a:xfrm>
            <a:off x="5212080" y="2843784"/>
            <a:ext cx="3163824" cy="713232"/>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1. Scrolling TikTok on her phone</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2. Sees the ad, taps Sertai Sekarang</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3. Lands on the page in the in-app browser</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4. Uploads the receipt and submits</a:t>
            </a:r>
            <a:endParaRPr lang="en-US" sz="850" dirty="0"/>
          </a:p>
          <a:p>
            <a:pPr indent="0" marL="0">
              <a:lnSpc>
                <a:spcPts val="1100"/>
              </a:lnSpc>
              <a:buNone/>
            </a:pPr>
            <a:r>
              <a:rPr lang="en-US" sz="850" dirty="0">
                <a:solidFill>
                  <a:srgbClr val="FFFFFF"/>
                </a:solidFill>
                <a:latin typeface="Arial" pitchFamily="34" charset="0"/>
                <a:ea typeface="Arial" pitchFamily="34" charset="-122"/>
                <a:cs typeface="Arial" pitchFamily="34" charset="-120"/>
              </a:rPr>
              <a:t>5. Thank you page asks for the share</a:t>
            </a:r>
            <a:endParaRPr lang="en-US" sz="850" dirty="0"/>
          </a:p>
        </p:txBody>
      </p:sp>
      <p:sp>
        <p:nvSpPr>
          <p:cNvPr id="17" name="Text 15"/>
          <p:cNvSpPr/>
          <p:nvPr/>
        </p:nvSpPr>
        <p:spPr>
          <a:xfrm>
            <a:off x="5212080" y="3611880"/>
            <a:ext cx="3163824" cy="164592"/>
          </a:xfrm>
          <a:prstGeom prst="rect">
            <a:avLst/>
          </a:prstGeom>
          <a:noFill/>
          <a:ln/>
        </p:spPr>
        <p:txBody>
          <a:bodyPr wrap="square" lIns="0" tIns="0" rIns="0" bIns="0" rtlCol="0" anchor="t"/>
          <a:lstStyle/>
          <a:p>
            <a:pPr indent="0" marL="0">
              <a:buNone/>
            </a:pPr>
            <a:r>
              <a:rPr lang="en-US" sz="750" b="1" spc="70" kern="0" dirty="0">
                <a:solidFill>
                  <a:srgbClr val="F5EC2E"/>
                </a:solidFill>
                <a:latin typeface="Arial" pitchFamily="34" charset="0"/>
                <a:ea typeface="Arial" pitchFamily="34" charset="-122"/>
                <a:cs typeface="Arial" pitchFamily="34" charset="-120"/>
              </a:rPr>
              <a:t>WHAT WE GET BACK</a:t>
            </a:r>
            <a:endParaRPr lang="en-US" sz="750" dirty="0"/>
          </a:p>
        </p:txBody>
      </p:sp>
      <p:sp>
        <p:nvSpPr>
          <p:cNvPr id="18" name="Text 16"/>
          <p:cNvSpPr/>
          <p:nvPr/>
        </p:nvSpPr>
        <p:spPr>
          <a:xfrm>
            <a:off x="5212080" y="3785616"/>
            <a:ext cx="3163824" cy="658368"/>
          </a:xfrm>
          <a:prstGeom prst="rect">
            <a:avLst/>
          </a:prstGeom>
          <a:noFill/>
          <a:ln/>
        </p:spPr>
        <p:txBody>
          <a:bodyPr wrap="square" lIns="0" tIns="0" rIns="0" bIns="0" rtlCol="0" anchor="t"/>
          <a:lstStyle/>
          <a:p>
            <a:pPr indent="0" marL="0">
              <a:lnSpc>
                <a:spcPts val="1100"/>
              </a:lnSpc>
              <a:buNone/>
            </a:pPr>
            <a:r>
              <a:rPr lang="en-US" sz="850" dirty="0">
                <a:solidFill>
                  <a:srgbClr val="FFFFFF"/>
                </a:solidFill>
                <a:latin typeface="Arial" pitchFamily="34" charset="0"/>
                <a:ea typeface="Arial" pitchFamily="34" charset="-122"/>
                <a:cs typeface="Arial" pitchFamily="34" charset="-120"/>
              </a:rPr>
              <a:t>Click recorded, pixel fires, the conversion event trains the algorithm, a retargeting pool builds, and we can chase the people who started but never finished.</a:t>
            </a:r>
            <a:endParaRPr lang="en-US" sz="850" dirty="0"/>
          </a:p>
        </p:txBody>
      </p:sp>
      <p:sp>
        <p:nvSpPr>
          <p:cNvPr id="19" name="Text 17"/>
          <p:cNvSpPr/>
          <p:nvPr/>
        </p:nvSpPr>
        <p:spPr>
          <a:xfrm>
            <a:off x="4370832" y="2816352"/>
            <a:ext cx="402336" cy="438912"/>
          </a:xfrm>
          <a:prstGeom prst="rect">
            <a:avLst/>
          </a:prstGeom>
          <a:noFill/>
          <a:ln/>
        </p:spPr>
        <p:txBody>
          <a:bodyPr wrap="square" lIns="0" tIns="0" rIns="0" bIns="0" rtlCol="0" anchor="ctr"/>
          <a:lstStyle/>
          <a:p>
            <a:pPr algn="ctr" indent="0" marL="0">
              <a:buNone/>
            </a:pPr>
            <a:r>
              <a:rPr lang="en-US" sz="2400" dirty="0">
                <a:solidFill>
                  <a:srgbClr val="006838"/>
                </a:solidFill>
                <a:latin typeface="Arial Black" pitchFamily="34" charset="0"/>
                <a:ea typeface="Arial Black" pitchFamily="34" charset="-122"/>
                <a:cs typeface="Arial Black" pitchFamily="34" charset="-120"/>
              </a:rPr>
              <a:t>+</a:t>
            </a:r>
            <a:endParaRPr lang="en-US" sz="2400" dirty="0"/>
          </a:p>
        </p:txBody>
      </p:sp>
      <p:sp>
        <p:nvSpPr>
          <p:cNvPr id="20" name="Shape 18"/>
          <p:cNvSpPr/>
          <p:nvPr/>
        </p:nvSpPr>
        <p:spPr>
          <a:xfrm>
            <a:off x="438912" y="4443984"/>
            <a:ext cx="8266176" cy="402336"/>
          </a:xfrm>
          <a:prstGeom prst="rect">
            <a:avLst/>
          </a:prstGeom>
          <a:solidFill>
            <a:srgbClr val="052B18"/>
          </a:solidFill>
          <a:ln/>
        </p:spPr>
      </p:sp>
      <p:sp>
        <p:nvSpPr>
          <p:cNvPr id="21" name="Text 19"/>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This is the whole reason 2026 bought views: </a:t>
            </a:r>
            <a:pPr indent="0" marL="0">
              <a:buNone/>
            </a:pPr>
            <a:r>
              <a:rPr lang="en-US" sz="950" b="1" dirty="0">
                <a:solidFill>
                  <a:srgbClr val="FFFFFF"/>
                </a:solidFill>
                <a:latin typeface="Arial" pitchFamily="34" charset="0"/>
                <a:ea typeface="Arial" pitchFamily="34" charset="-122"/>
                <a:cs typeface="Arial" pitchFamily="34" charset="-120"/>
              </a:rPr>
              <a:t>entries arrived by WhatsApp, which Meta and TikTok cannot see, so they optimized toward the only thing they could measure.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QR codes belong at the till,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not in the feed.</a:t>
            </a:r>
            <a:endParaRPr lang="en-US" sz="2300" dirty="0"/>
          </a:p>
        </p:txBody>
      </p:sp>
      <p:sp>
        <p:nvSpPr>
          <p:cNvPr id="4" name="Text 2"/>
          <p:cNvSpPr/>
          <p:nvPr/>
        </p:nvSpPr>
        <p:spPr>
          <a:xfrm>
            <a:off x="512064" y="1426464"/>
            <a:ext cx="7795077" cy="42062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Everywhere a shopper is looking at a physical surface, a QR code is the fastest route in. Every code points at the same landing page with its own tracking tag, so we can report which touchpoint actually produced entries. This is the AEON model.</a:t>
            </a:r>
            <a:endParaRPr lang="en-US" sz="1100" dirty="0"/>
          </a:p>
        </p:txBody>
      </p:sp>
      <p:sp>
        <p:nvSpPr>
          <p:cNvPr id="5" name="Shape 3"/>
          <p:cNvSpPr/>
          <p:nvPr/>
        </p:nvSpPr>
        <p:spPr>
          <a:xfrm>
            <a:off x="512064" y="2048256"/>
            <a:ext cx="2584704" cy="2212848"/>
          </a:xfrm>
          <a:prstGeom prst="rect">
            <a:avLst/>
          </a:prstGeom>
          <a:solidFill>
            <a:srgbClr val="E9F3DD"/>
          </a:solidFill>
          <a:ln/>
        </p:spPr>
      </p:sp>
      <p:sp>
        <p:nvSpPr>
          <p:cNvPr id="6" name="Shape 4"/>
          <p:cNvSpPr/>
          <p:nvPr/>
        </p:nvSpPr>
        <p:spPr>
          <a:xfrm>
            <a:off x="512064" y="2048256"/>
            <a:ext cx="2584704" cy="54864"/>
          </a:xfrm>
          <a:prstGeom prst="rect">
            <a:avLst/>
          </a:prstGeom>
          <a:solidFill>
            <a:srgbClr val="C5192B"/>
          </a:solidFill>
          <a:ln/>
        </p:spPr>
      </p:sp>
      <p:sp>
        <p:nvSpPr>
          <p:cNvPr id="7" name="Text 5"/>
          <p:cNvSpPr/>
          <p:nvPr/>
        </p:nvSpPr>
        <p:spPr>
          <a:xfrm>
            <a:off x="676656" y="2231136"/>
            <a:ext cx="2255520"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IN STORE</a:t>
            </a:r>
            <a:endParaRPr lang="en-US" sz="800" dirty="0"/>
          </a:p>
        </p:txBody>
      </p:sp>
      <p:sp>
        <p:nvSpPr>
          <p:cNvPr id="9" name="Text 7"/>
          <p:cNvSpPr/>
          <p:nvPr/>
        </p:nvSpPr>
        <p:spPr>
          <a:xfrm>
            <a:off x="676656"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On the shelf and on the pack</a:t>
            </a:r>
            <a:endParaRPr lang="en-US" sz="1200" dirty="0"/>
          </a:p>
        </p:txBody>
      </p:sp>
      <p:sp>
        <p:nvSpPr>
          <p:cNvPr id="10" name="Text 8"/>
          <p:cNvSpPr/>
          <p:nvPr/>
        </p:nvSpPr>
        <p:spPr>
          <a:xfrm>
            <a:off x="676656"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Shelf talkers, neck tags, A-boards, block displays, posters and on pack stickers. The 2025 campaign already printed 10,000 shelf talkers, 7,000 posters and 40,000 neck tags.</a:t>
            </a:r>
            <a:endParaRPr lang="en-US" sz="950" dirty="0"/>
          </a:p>
        </p:txBody>
      </p:sp>
      <p:sp>
        <p:nvSpPr>
          <p:cNvPr id="11" name="Shape 9"/>
          <p:cNvSpPr/>
          <p:nvPr/>
        </p:nvSpPr>
        <p:spPr>
          <a:xfrm>
            <a:off x="3279648" y="2048256"/>
            <a:ext cx="2584704" cy="2212848"/>
          </a:xfrm>
          <a:prstGeom prst="rect">
            <a:avLst/>
          </a:prstGeom>
          <a:solidFill>
            <a:srgbClr val="E9F3DD"/>
          </a:solidFill>
          <a:ln/>
        </p:spPr>
      </p:sp>
      <p:sp>
        <p:nvSpPr>
          <p:cNvPr id="12" name="Shape 10"/>
          <p:cNvSpPr/>
          <p:nvPr/>
        </p:nvSpPr>
        <p:spPr>
          <a:xfrm>
            <a:off x="3279648" y="2048256"/>
            <a:ext cx="2584704" cy="54864"/>
          </a:xfrm>
          <a:prstGeom prst="rect">
            <a:avLst/>
          </a:prstGeom>
          <a:solidFill>
            <a:srgbClr val="006838"/>
          </a:solidFill>
          <a:ln/>
        </p:spPr>
      </p:sp>
      <p:sp>
        <p:nvSpPr>
          <p:cNvPr id="13" name="Text 11"/>
          <p:cNvSpPr/>
          <p:nvPr/>
        </p:nvSpPr>
        <p:spPr>
          <a:xfrm>
            <a:off x="3444240" y="2231136"/>
            <a:ext cx="2255520"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PARTNER SURFACES</a:t>
            </a:r>
            <a:endParaRPr lang="en-US" sz="800" dirty="0"/>
          </a:p>
        </p:txBody>
      </p:sp>
      <p:sp>
        <p:nvSpPr>
          <p:cNvPr id="15" name="Text 13"/>
          <p:cNvSpPr/>
          <p:nvPr/>
        </p:nvSpPr>
        <p:spPr>
          <a:xfrm>
            <a:off x="3444240"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Inside Bulan Bintang</a:t>
            </a:r>
            <a:endParaRPr lang="en-US" sz="1200" dirty="0"/>
          </a:p>
        </p:txBody>
      </p:sp>
      <p:sp>
        <p:nvSpPr>
          <p:cNvPr id="16" name="Text 14"/>
          <p:cNvSpPr/>
          <p:nvPr/>
        </p:nvSpPr>
        <p:spPr>
          <a:xfrm>
            <a:off x="3444240"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Boutique counters across all 14 stores, and an insert in the baju raya packaging. The 150,000 Saji sample packs going into Bulan Bintang purchases each carry a code.</a:t>
            </a:r>
            <a:endParaRPr lang="en-US" sz="950" dirty="0"/>
          </a:p>
        </p:txBody>
      </p:sp>
      <p:sp>
        <p:nvSpPr>
          <p:cNvPr id="17" name="Shape 15"/>
          <p:cNvSpPr/>
          <p:nvPr/>
        </p:nvSpPr>
        <p:spPr>
          <a:xfrm>
            <a:off x="6047232" y="2048256"/>
            <a:ext cx="2584704" cy="2212848"/>
          </a:xfrm>
          <a:prstGeom prst="rect">
            <a:avLst/>
          </a:prstGeom>
          <a:solidFill>
            <a:srgbClr val="E9F3DD"/>
          </a:solidFill>
          <a:ln/>
        </p:spPr>
      </p:sp>
      <p:sp>
        <p:nvSpPr>
          <p:cNvPr id="18" name="Shape 16"/>
          <p:cNvSpPr/>
          <p:nvPr/>
        </p:nvSpPr>
        <p:spPr>
          <a:xfrm>
            <a:off x="6047232" y="2048256"/>
            <a:ext cx="2584704" cy="54864"/>
          </a:xfrm>
          <a:prstGeom prst="rect">
            <a:avLst/>
          </a:prstGeom>
          <a:solidFill>
            <a:srgbClr val="E8912C"/>
          </a:solidFill>
          <a:ln/>
        </p:spPr>
      </p:sp>
      <p:sp>
        <p:nvSpPr>
          <p:cNvPr id="19" name="Text 17"/>
          <p:cNvSpPr/>
          <p:nvPr/>
        </p:nvSpPr>
        <p:spPr>
          <a:xfrm>
            <a:off x="6211824" y="2231136"/>
            <a:ext cx="2255520"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211824" y="2505456"/>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EVENTS AND ACTIVATION</a:t>
            </a:r>
            <a:endParaRPr lang="en-US" sz="800" dirty="0"/>
          </a:p>
        </p:txBody>
      </p:sp>
      <p:sp>
        <p:nvSpPr>
          <p:cNvPr id="21" name="Text 19"/>
          <p:cNvSpPr/>
          <p:nvPr/>
        </p:nvSpPr>
        <p:spPr>
          <a:xfrm>
            <a:off x="6211824" y="2715768"/>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Where people are already standing</a:t>
            </a:r>
            <a:endParaRPr lang="en-US" sz="1200" dirty="0"/>
          </a:p>
        </p:txBody>
      </p:sp>
      <p:sp>
        <p:nvSpPr>
          <p:cNvPr id="22" name="Text 20"/>
          <p:cNvSpPr/>
          <p:nvPr/>
        </p:nvSpPr>
        <p:spPr>
          <a:xfrm>
            <a:off x="6211824" y="3209544"/>
            <a:ext cx="2255520" cy="905256"/>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launch at Wisma FGV, 320 sampling days across 120 outlets, 96 roadshow days across 32 outlets, and the Sampul Raya itself.</a:t>
            </a:r>
            <a:endParaRPr lang="en-US" sz="950" dirty="0"/>
          </a:p>
        </p:txBody>
      </p:sp>
      <p:sp>
        <p:nvSpPr>
          <p:cNvPr id="23" name="Shape 21"/>
          <p:cNvSpPr/>
          <p:nvPr/>
        </p:nvSpPr>
        <p:spPr>
          <a:xfrm>
            <a:off x="438912" y="4443984"/>
            <a:ext cx="8266176" cy="402336"/>
          </a:xfrm>
          <a:prstGeom prst="rect">
            <a:avLst/>
          </a:prstGeom>
          <a:solidFill>
            <a:srgbClr val="052B18"/>
          </a:solidFill>
          <a:ln/>
        </p:spPr>
      </p:sp>
      <p:sp>
        <p:nvSpPr>
          <p:cNvPr id="24" name="Text 22"/>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One page, many doors: </a:t>
            </a:r>
            <a:pPr indent="0" marL="0">
              <a:buNone/>
            </a:pPr>
            <a:r>
              <a:rPr lang="en-US" sz="950" b="1" dirty="0">
                <a:solidFill>
                  <a:srgbClr val="FFFFFF"/>
                </a:solidFill>
                <a:latin typeface="Arial" pitchFamily="34" charset="0"/>
                <a:ea typeface="Arial" pitchFamily="34" charset="-122"/>
                <a:cs typeface="Arial" pitchFamily="34" charset="-120"/>
              </a:rPr>
              <a:t>every QR and every ad lands on the same page, so entries from paid, in store, partner and on ground are all counted in one place.</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77724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The page does the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explaining.</a:t>
            </a:r>
            <a:endParaRPr lang="en-US" sz="2300" dirty="0"/>
          </a:p>
        </p:txBody>
      </p:sp>
      <p:pic>
        <p:nvPicPr>
          <p:cNvPr id="4" name="Image 0" descr="C:\Users\Jordan\Desktop\Claude Code\toggle-brain\clients\COO\saji\01-strategy\_build\landing-rev1.png">    </p:cNvPr>
          <p:cNvPicPr>
            <a:picLocks noChangeAspect="1"/>
          </p:cNvPicPr>
          <p:nvPr/>
        </p:nvPicPr>
        <p:blipFill>
          <a:blip r:embed="rId1"/>
          <a:stretch>
            <a:fillRect/>
          </a:stretch>
        </p:blipFill>
        <p:spPr>
          <a:xfrm>
            <a:off x="512064" y="1316736"/>
            <a:ext cx="3017520" cy="3017520"/>
          </a:xfrm>
          <a:prstGeom prst="rect">
            <a:avLst/>
          </a:prstGeom>
        </p:spPr>
      </p:pic>
      <p:sp>
        <p:nvSpPr>
          <p:cNvPr id="5" name="Text 2"/>
          <p:cNvSpPr/>
          <p:nvPr/>
        </p:nvSpPr>
        <p:spPr>
          <a:xfrm>
            <a:off x="3840480" y="1335024"/>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THE MECHANIC, IN ONE SCREEN</a:t>
            </a:r>
            <a:endParaRPr lang="en-US" sz="800" dirty="0"/>
          </a:p>
        </p:txBody>
      </p:sp>
      <p:sp>
        <p:nvSpPr>
          <p:cNvPr id="6" name="Text 3"/>
          <p:cNvSpPr/>
          <p:nvPr/>
        </p:nvSpPr>
        <p:spPr>
          <a:xfrm>
            <a:off x="3840480" y="1508760"/>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three step checklist: buy Bulan Bintang, buy Saji at the pop-up counter, upload both receipts. Both purchases are required and the page says so, so nobody submits half an entry and wonders why it failed.</a:t>
            </a:r>
            <a:endParaRPr lang="en-US" sz="950" dirty="0"/>
          </a:p>
        </p:txBody>
      </p:sp>
      <p:sp>
        <p:nvSpPr>
          <p:cNvPr id="7" name="Text 4"/>
          <p:cNvSpPr/>
          <p:nvPr/>
        </p:nvSpPr>
        <p:spPr>
          <a:xfrm>
            <a:off x="3840480" y="2093976"/>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THE POP-UP LOCATOR</a:t>
            </a:r>
            <a:endParaRPr lang="en-US" sz="800" dirty="0"/>
          </a:p>
        </p:txBody>
      </p:sp>
      <p:sp>
        <p:nvSpPr>
          <p:cNvPr id="8" name="Text 5"/>
          <p:cNvSpPr/>
          <p:nvPr/>
        </p:nvSpPr>
        <p:spPr>
          <a:xfrm>
            <a:off x="3840480" y="2267712"/>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14 boutiques carrying a Saji counter sit directly under the form, because walking into one is now the entry route. Save and finish later holds a half done entry for the shopper who has one receipt so far.</a:t>
            </a:r>
            <a:endParaRPr lang="en-US" sz="950" dirty="0"/>
          </a:p>
        </p:txBody>
      </p:sp>
      <p:sp>
        <p:nvSpPr>
          <p:cNvPr id="9" name="Text 6"/>
          <p:cNvSpPr/>
          <p:nvPr/>
        </p:nvSpPr>
        <p:spPr>
          <a:xfrm>
            <a:off x="3840480" y="2852928"/>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BUILT FOR A PHONE ON 4G</a:t>
            </a:r>
            <a:endParaRPr lang="en-US" sz="800" dirty="0"/>
          </a:p>
        </p:txBody>
      </p:sp>
      <p:sp>
        <p:nvSpPr>
          <p:cNvPr id="10" name="Text 7"/>
          <p:cNvSpPr/>
          <p:nvPr/>
        </p:nvSpPr>
        <p:spPr>
          <a:xfrm>
            <a:off x="3840480" y="3026664"/>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Under two seconds to load, no app, no login, no account. Bahasa Malaysia first with an English toggle. Receipt files validated on upload for type, size and date inside the contest window.</a:t>
            </a:r>
            <a:endParaRPr lang="en-US" sz="950" dirty="0"/>
          </a:p>
        </p:txBody>
      </p:sp>
      <p:sp>
        <p:nvSpPr>
          <p:cNvPr id="11" name="Text 8"/>
          <p:cNvSpPr/>
          <p:nvPr/>
        </p:nvSpPr>
        <p:spPr>
          <a:xfrm>
            <a:off x="3840480" y="3611880"/>
            <a:ext cx="4791456" cy="173736"/>
          </a:xfrm>
          <a:prstGeom prst="rect">
            <a:avLst/>
          </a:prstGeom>
          <a:noFill/>
          <a:ln/>
        </p:spPr>
        <p:txBody>
          <a:bodyPr wrap="square" lIns="0" tIns="0" rIns="0" bIns="0" rtlCol="0" anchor="t"/>
          <a:lstStyle/>
          <a:p>
            <a:pPr indent="0" marL="0">
              <a:buNone/>
            </a:pPr>
            <a:r>
              <a:rPr lang="en-US" sz="800" b="1" spc="70" kern="0" dirty="0">
                <a:solidFill>
                  <a:srgbClr val="C5192B"/>
                </a:solidFill>
                <a:latin typeface="Arial" pitchFamily="34" charset="0"/>
                <a:ea typeface="Arial" pitchFamily="34" charset="-122"/>
                <a:cs typeface="Arial" pitchFamily="34" charset="-120"/>
              </a:rPr>
              <a:t>LEGAL WHERE IT HAS TO BE</a:t>
            </a:r>
            <a:endParaRPr lang="en-US" sz="800" dirty="0"/>
          </a:p>
        </p:txBody>
      </p:sp>
      <p:sp>
        <p:nvSpPr>
          <p:cNvPr id="12" name="Text 9"/>
          <p:cNvSpPr/>
          <p:nvPr/>
        </p:nvSpPr>
        <p:spPr>
          <a:xfrm>
            <a:off x="3840480" y="3785616"/>
            <a:ext cx="4791456" cy="5669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PDPA consent checkbox, a link to the full terms, and the organizer named. The full mechanics, including the Golden Ticket, sit in a collapsed accordion below the form, disclosed but out of the entry flow.</a:t>
            </a:r>
            <a:endParaRPr lang="en-US" sz="950" dirty="0"/>
          </a:p>
        </p:txBody>
      </p:sp>
      <p:sp>
        <p:nvSpPr>
          <p:cNvPr id="13" name="Shape 10"/>
          <p:cNvSpPr/>
          <p:nvPr/>
        </p:nvSpPr>
        <p:spPr>
          <a:xfrm>
            <a:off x="438912" y="4443984"/>
            <a:ext cx="8266176" cy="402336"/>
          </a:xfrm>
          <a:prstGeom prst="rect">
            <a:avLst/>
          </a:prstGeom>
          <a:solidFill>
            <a:srgbClr val="052B18"/>
          </a:solidFill>
          <a:ln/>
        </p:spPr>
      </p:sp>
      <p:sp>
        <p:nvSpPr>
          <p:cNvPr id="14" name="Text 11"/>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Built and attached: </a:t>
            </a:r>
            <a:pPr indent="0" marL="0">
              <a:buNone/>
            </a:pPr>
            <a:r>
              <a:rPr lang="en-US" sz="950" b="1" dirty="0">
                <a:solidFill>
                  <a:srgbClr val="FFFFFF"/>
                </a:solidFill>
                <a:latin typeface="Arial" pitchFamily="34" charset="0"/>
                <a:ea typeface="Arial" pitchFamily="34" charset="-122"/>
                <a:cs typeface="Arial" pitchFamily="34" charset="-120"/>
              </a:rPr>
              <a:t>a working HTML page ships with this proposal, so the client can see the real thing rather than a picture of it.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Nine things on the page that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exist only to convert.</a:t>
            </a:r>
            <a:endParaRPr lang="en-US" sz="2300" dirty="0"/>
          </a:p>
        </p:txBody>
      </p:sp>
      <p:sp>
        <p:nvSpPr>
          <p:cNvPr id="4" name="Text 2"/>
          <p:cNvSpPr/>
          <p:nvPr/>
        </p:nvSpPr>
        <p:spPr>
          <a:xfrm>
            <a:off x="512064" y="1371600"/>
            <a:ext cx="7795077" cy="329184"/>
          </a:xfrm>
          <a:prstGeom prst="rect">
            <a:avLst/>
          </a:prstGeom>
          <a:noFill/>
          <a:ln/>
        </p:spPr>
        <p:txBody>
          <a:bodyPr wrap="square" lIns="0" tIns="0" rIns="0" bIns="0" rtlCol="0" anchor="t"/>
          <a:lstStyle/>
          <a:p>
            <a:pPr indent="0" marL="0">
              <a:lnSpc>
                <a:spcPts val="1500"/>
              </a:lnSpc>
              <a:buNone/>
            </a:pPr>
            <a:r>
              <a:rPr lang="en-US" sz="1100" b="1" dirty="0">
                <a:solidFill>
                  <a:srgbClr val="006838"/>
                </a:solidFill>
                <a:latin typeface="Arial" pitchFamily="34" charset="0"/>
                <a:ea typeface="Arial" pitchFamily="34" charset="-122"/>
                <a:cs typeface="Arial" pitchFamily="34" charset="-120"/>
              </a:rPr>
              <a:t>Every element here exists to move someone from "I have two receipts" to "I have entered". These are the parts that carry the 2% conversion the plan is built on.</a:t>
            </a:r>
            <a:endParaRPr lang="en-US" sz="1100" dirty="0"/>
          </a:p>
        </p:txBody>
      </p:sp>
      <p:sp>
        <p:nvSpPr>
          <p:cNvPr id="5" name="Shape 3"/>
          <p:cNvSpPr/>
          <p:nvPr/>
        </p:nvSpPr>
        <p:spPr>
          <a:xfrm>
            <a:off x="512064" y="1792224"/>
            <a:ext cx="2584704" cy="2103120"/>
          </a:xfrm>
          <a:prstGeom prst="rect">
            <a:avLst/>
          </a:prstGeom>
          <a:solidFill>
            <a:srgbClr val="E9F3DD"/>
          </a:solidFill>
          <a:ln/>
        </p:spPr>
      </p:sp>
      <p:sp>
        <p:nvSpPr>
          <p:cNvPr id="6" name="Shape 4"/>
          <p:cNvSpPr/>
          <p:nvPr/>
        </p:nvSpPr>
        <p:spPr>
          <a:xfrm>
            <a:off x="512064" y="1792224"/>
            <a:ext cx="2584704" cy="54864"/>
          </a:xfrm>
          <a:prstGeom prst="rect">
            <a:avLst/>
          </a:prstGeom>
          <a:solidFill>
            <a:srgbClr val="C5192B"/>
          </a:solidFill>
          <a:ln/>
        </p:spPr>
      </p:sp>
      <p:sp>
        <p:nvSpPr>
          <p:cNvPr id="7" name="Text 5"/>
          <p:cNvSpPr/>
          <p:nvPr/>
        </p:nvSpPr>
        <p:spPr>
          <a:xfrm>
            <a:off x="676656" y="1975104"/>
            <a:ext cx="2255520" cy="219456"/>
          </a:xfrm>
          <a:prstGeom prst="rect">
            <a:avLst/>
          </a:prstGeom>
          <a:noFill/>
          <a:ln/>
        </p:spPr>
        <p:txBody>
          <a:bodyPr wrap="none" lIns="0" tIns="0" rIns="0" bIns="0" rtlCol="0" anchor="t"/>
          <a:lstStyle/>
          <a:p>
            <a:pPr indent="0" marL="0">
              <a:buNone/>
            </a:pPr>
            <a:r>
              <a:rPr lang="en-US" sz="1100" b="1" dirty="0">
                <a:solidFill>
                  <a:srgbClr val="C5192B"/>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76656" y="224942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ABOVE THE FOLD</a:t>
            </a:r>
            <a:endParaRPr lang="en-US" sz="800" dirty="0"/>
          </a:p>
        </p:txBody>
      </p:sp>
      <p:sp>
        <p:nvSpPr>
          <p:cNvPr id="9" name="Text 7"/>
          <p:cNvSpPr/>
          <p:nvPr/>
        </p:nvSpPr>
        <p:spPr>
          <a:xfrm>
            <a:off x="676656"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Prize, winners, form</a:t>
            </a:r>
            <a:endParaRPr lang="en-US" sz="1200" dirty="0"/>
          </a:p>
        </p:txBody>
      </p:sp>
      <p:sp>
        <p:nvSpPr>
          <p:cNvPr id="10" name="Text 8"/>
          <p:cNvSpPr/>
          <p:nvPr/>
        </p:nvSpPr>
        <p:spPr>
          <a:xfrm>
            <a:off x="676656"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The prize, a headline naming what you win, and the winner count, all before any scrolling. The form is embedded inline rather than behind a popup.</a:t>
            </a:r>
            <a:endParaRPr lang="en-US" sz="950" dirty="0"/>
          </a:p>
        </p:txBody>
      </p:sp>
      <p:sp>
        <p:nvSpPr>
          <p:cNvPr id="11" name="Shape 9"/>
          <p:cNvSpPr/>
          <p:nvPr/>
        </p:nvSpPr>
        <p:spPr>
          <a:xfrm>
            <a:off x="3279648" y="1792224"/>
            <a:ext cx="2584704" cy="2103120"/>
          </a:xfrm>
          <a:prstGeom prst="rect">
            <a:avLst/>
          </a:prstGeom>
          <a:solidFill>
            <a:srgbClr val="E9F3DD"/>
          </a:solidFill>
          <a:ln/>
        </p:spPr>
      </p:sp>
      <p:sp>
        <p:nvSpPr>
          <p:cNvPr id="12" name="Shape 10"/>
          <p:cNvSpPr/>
          <p:nvPr/>
        </p:nvSpPr>
        <p:spPr>
          <a:xfrm>
            <a:off x="3279648" y="1792224"/>
            <a:ext cx="2584704" cy="54864"/>
          </a:xfrm>
          <a:prstGeom prst="rect">
            <a:avLst/>
          </a:prstGeom>
          <a:solidFill>
            <a:srgbClr val="006838"/>
          </a:solidFill>
          <a:ln/>
        </p:spPr>
      </p:sp>
      <p:sp>
        <p:nvSpPr>
          <p:cNvPr id="13" name="Text 11"/>
          <p:cNvSpPr/>
          <p:nvPr/>
        </p:nvSpPr>
        <p:spPr>
          <a:xfrm>
            <a:off x="3444240" y="1975104"/>
            <a:ext cx="2255520" cy="219456"/>
          </a:xfrm>
          <a:prstGeom prst="rect">
            <a:avLst/>
          </a:prstGeom>
          <a:noFill/>
          <a:ln/>
        </p:spPr>
        <p:txBody>
          <a:bodyPr wrap="none" lIns="0" tIns="0" rIns="0" bIns="0" rtlCol="0" anchor="t"/>
          <a:lstStyle/>
          <a:p>
            <a:pPr indent="0" marL="0">
              <a:buNone/>
            </a:pPr>
            <a:r>
              <a:rPr lang="en-US" sz="1100" b="1" dirty="0">
                <a:solidFill>
                  <a:srgbClr val="006838"/>
                </a:solidFill>
                <a:latin typeface="Arial" pitchFamily="34" charset="0"/>
                <a:ea typeface="Arial" pitchFamily="34" charset="-122"/>
                <a:cs typeface="Arial" pitchFamily="34" charset="-120"/>
              </a:rPr>
              <a:t>02</a:t>
            </a:r>
            <a:endParaRPr lang="en-US" sz="1100" dirty="0"/>
          </a:p>
        </p:txBody>
      </p:sp>
      <p:sp>
        <p:nvSpPr>
          <p:cNvPr id="14" name="Text 12"/>
          <p:cNvSpPr/>
          <p:nvPr/>
        </p:nvSpPr>
        <p:spPr>
          <a:xfrm>
            <a:off x="3444240" y="2249424"/>
            <a:ext cx="2255520" cy="182880"/>
          </a:xfrm>
          <a:prstGeom prst="rect">
            <a:avLst/>
          </a:prstGeom>
          <a:noFill/>
          <a:ln/>
        </p:spPr>
        <p:txBody>
          <a:bodyPr wrap="square" lIns="0" tIns="0" rIns="0" bIns="0" rtlCol="0" anchor="t"/>
          <a:lstStyle/>
          <a:p>
            <a:pPr indent="0" marL="0">
              <a:buNone/>
            </a:pPr>
            <a:r>
              <a:rPr lang="en-US" sz="800" b="1" spc="80" kern="0" dirty="0">
                <a:solidFill>
                  <a:srgbClr val="C5192B"/>
                </a:solidFill>
                <a:latin typeface="Arial" pitchFamily="34" charset="0"/>
                <a:ea typeface="Arial" pitchFamily="34" charset="-122"/>
                <a:cs typeface="Arial" pitchFamily="34" charset="-120"/>
              </a:rPr>
              <a:t>SOCIAL PROOF</a:t>
            </a:r>
            <a:endParaRPr lang="en-US" sz="800" dirty="0"/>
          </a:p>
        </p:txBody>
      </p:sp>
      <p:sp>
        <p:nvSpPr>
          <p:cNvPr id="15" name="Text 13"/>
          <p:cNvSpPr/>
          <p:nvPr/>
        </p:nvSpPr>
        <p:spPr>
          <a:xfrm>
            <a:off x="3444240"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Proof that people win</a:t>
            </a:r>
            <a:endParaRPr lang="en-US" sz="1200" dirty="0"/>
          </a:p>
        </p:txBody>
      </p:sp>
      <p:sp>
        <p:nvSpPr>
          <p:cNvPr id="16" name="Text 14"/>
          <p:cNvSpPr/>
          <p:nvPr/>
        </p:nvSpPr>
        <p:spPr>
          <a:xfrm>
            <a:off x="3444240"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live entry counter and a weekly winner wall with real names and towns. It answers the problem COO named: "probably impossible for me to win".</a:t>
            </a:r>
            <a:endParaRPr lang="en-US" sz="950" dirty="0"/>
          </a:p>
        </p:txBody>
      </p:sp>
      <p:sp>
        <p:nvSpPr>
          <p:cNvPr id="17" name="Shape 15"/>
          <p:cNvSpPr/>
          <p:nvPr/>
        </p:nvSpPr>
        <p:spPr>
          <a:xfrm>
            <a:off x="6047232" y="1792224"/>
            <a:ext cx="2584704" cy="2103120"/>
          </a:xfrm>
          <a:prstGeom prst="rect">
            <a:avLst/>
          </a:prstGeom>
          <a:solidFill>
            <a:srgbClr val="E9F3DD"/>
          </a:solidFill>
          <a:ln/>
        </p:spPr>
      </p:sp>
      <p:sp>
        <p:nvSpPr>
          <p:cNvPr id="18" name="Shape 16"/>
          <p:cNvSpPr/>
          <p:nvPr/>
        </p:nvSpPr>
        <p:spPr>
          <a:xfrm>
            <a:off x="6047232" y="1792224"/>
            <a:ext cx="2584704" cy="54864"/>
          </a:xfrm>
          <a:prstGeom prst="rect">
            <a:avLst/>
          </a:prstGeom>
          <a:solidFill>
            <a:srgbClr val="E8912C"/>
          </a:solidFill>
          <a:ln/>
        </p:spPr>
      </p:sp>
      <p:sp>
        <p:nvSpPr>
          <p:cNvPr id="19" name="Text 17"/>
          <p:cNvSpPr/>
          <p:nvPr/>
        </p:nvSpPr>
        <p:spPr>
          <a:xfrm>
            <a:off x="6211824" y="1975104"/>
            <a:ext cx="2255520" cy="219456"/>
          </a:xfrm>
          <a:prstGeom prst="rect">
            <a:avLst/>
          </a:prstGeom>
          <a:noFill/>
          <a:ln/>
        </p:spPr>
        <p:txBody>
          <a:bodyPr wrap="none" lIns="0" tIns="0" rIns="0" bIns="0" rtlCol="0" anchor="t"/>
          <a:lstStyle/>
          <a:p>
            <a:pPr indent="0" marL="0">
              <a:buNone/>
            </a:pPr>
            <a:r>
              <a:rPr lang="en-US" sz="1100" b="1" dirty="0">
                <a:solidFill>
                  <a:srgbClr val="E8912C"/>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6211824" y="224942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URGENCY AND RETURN</a:t>
            </a:r>
            <a:endParaRPr lang="en-US" sz="800" dirty="0"/>
          </a:p>
        </p:txBody>
      </p:sp>
      <p:sp>
        <p:nvSpPr>
          <p:cNvPr id="21" name="Text 19"/>
          <p:cNvSpPr/>
          <p:nvPr/>
        </p:nvSpPr>
        <p:spPr>
          <a:xfrm>
            <a:off x="6211824" y="2459736"/>
            <a:ext cx="2255520" cy="457200"/>
          </a:xfrm>
          <a:prstGeom prst="rect">
            <a:avLst/>
          </a:prstGeom>
          <a:noFill/>
          <a:ln/>
        </p:spPr>
        <p:txBody>
          <a:bodyPr wrap="square" lIns="0" tIns="0" rIns="0" bIns="0" rtlCol="0" anchor="t"/>
          <a:lstStyle/>
          <a:p>
            <a:pPr indent="0" marL="0">
              <a:lnSpc>
                <a:spcPts val="1500"/>
              </a:lnSpc>
              <a:buNone/>
            </a:pPr>
            <a:r>
              <a:rPr lang="en-US" sz="1200" b="1" dirty="0">
                <a:solidFill>
                  <a:srgbClr val="006838"/>
                </a:solidFill>
                <a:latin typeface="Arial" pitchFamily="34" charset="0"/>
                <a:ea typeface="Arial" pitchFamily="34" charset="-122"/>
                <a:cs typeface="Arial" pitchFamily="34" charset="-120"/>
              </a:rPr>
              <a:t>A countdown, and a reason to return</a:t>
            </a:r>
            <a:endParaRPr lang="en-US" sz="1200" dirty="0"/>
          </a:p>
        </p:txBody>
      </p:sp>
      <p:sp>
        <p:nvSpPr>
          <p:cNvPr id="22" name="Text 20"/>
          <p:cNvSpPr/>
          <p:nvPr/>
        </p:nvSpPr>
        <p:spPr>
          <a:xfrm>
            <a:off x="6211824" y="2953512"/>
            <a:ext cx="2255520" cy="795528"/>
          </a:xfrm>
          <a:prstGeom prst="rect">
            <a:avLst/>
          </a:prstGeom>
          <a:noFill/>
          <a:ln/>
        </p:spPr>
        <p:txBody>
          <a:bodyPr wrap="square" lIns="0" tIns="0" rIns="0" bIns="0" rtlCol="0" anchor="t"/>
          <a:lstStyle/>
          <a:p>
            <a:pPr indent="0" marL="0">
              <a:lnSpc>
                <a:spcPts val="1300"/>
              </a:lnSpc>
              <a:buNone/>
            </a:pPr>
            <a:r>
              <a:rPr lang="en-US" sz="950" dirty="0">
                <a:solidFill>
                  <a:srgbClr val="006838"/>
                </a:solidFill>
                <a:latin typeface="Arial" pitchFamily="34" charset="0"/>
                <a:ea typeface="Arial" pitchFamily="34" charset="-122"/>
                <a:cs typeface="Arial" pitchFamily="34" charset="-120"/>
              </a:rPr>
              <a:t>A live countdown to the Friday draw. The thank you page is the highest intent moment we get, so that is where we ask for the share and the referral.</a:t>
            </a:r>
            <a:endParaRPr lang="en-US" sz="950" dirty="0"/>
          </a:p>
        </p:txBody>
      </p:sp>
      <p:sp>
        <p:nvSpPr>
          <p:cNvPr id="23" name="Text 21"/>
          <p:cNvSpPr/>
          <p:nvPr/>
        </p:nvSpPr>
        <p:spPr>
          <a:xfrm>
            <a:off x="512064" y="4023360"/>
            <a:ext cx="8119872" cy="384048"/>
          </a:xfrm>
          <a:prstGeom prst="rect">
            <a:avLst/>
          </a:prstGeom>
          <a:noFill/>
          <a:ln/>
        </p:spPr>
        <p:txBody>
          <a:bodyPr wrap="square" lIns="0" tIns="0" rIns="0" bIns="0" rtlCol="0" anchor="t"/>
          <a:lstStyle/>
          <a:p>
            <a:pPr indent="0" marL="0">
              <a:lnSpc>
                <a:spcPts val="1250"/>
              </a:lnSpc>
              <a:buNone/>
            </a:pPr>
            <a:r>
              <a:rPr lang="en-US" sz="950" b="1" dirty="0">
                <a:solidFill>
                  <a:srgbClr val="006838"/>
                </a:solidFill>
                <a:latin typeface="Arial" pitchFamily="34" charset="0"/>
                <a:ea typeface="Arial" pitchFamily="34" charset="-122"/>
                <a:cs typeface="Arial" pitchFamily="34" charset="-120"/>
              </a:rPr>
              <a:t>Also on the page: three form fields only, returning entrants recognized so weeks two to ten take three taps instead of eight, the pop-up locator doubling as Bulan Bintang’s store finder, a Golden Ticket explainer that tells people to check the pack, and a WhatsApp fallback so the 2026 habit is kept rather than broken.</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77724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From award to close,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and what runs when.</a:t>
            </a:r>
            <a:endParaRPr lang="en-US" sz="2300" dirty="0"/>
          </a:p>
        </p:txBody>
      </p:sp>
      <p:sp>
        <p:nvSpPr>
          <p:cNvPr id="4" name="Shape 2"/>
          <p:cNvSpPr/>
          <p:nvPr/>
        </p:nvSpPr>
        <p:spPr>
          <a:xfrm>
            <a:off x="832104" y="2029968"/>
            <a:ext cx="7479792" cy="0"/>
          </a:xfrm>
          <a:prstGeom prst="line">
            <a:avLst/>
          </a:prstGeom>
          <a:noFill/>
          <a:ln w="12700">
            <a:solidFill>
              <a:srgbClr val="006838"/>
            </a:solidFill>
            <a:prstDash val="solid"/>
          </a:ln>
        </p:spPr>
      </p:sp>
      <p:sp>
        <p:nvSpPr>
          <p:cNvPr id="5" name="Shape 3"/>
          <p:cNvSpPr/>
          <p:nvPr/>
        </p:nvSpPr>
        <p:spPr>
          <a:xfrm>
            <a:off x="763524" y="1961388"/>
            <a:ext cx="137160" cy="137160"/>
          </a:xfrm>
          <a:prstGeom prst="ellipse">
            <a:avLst/>
          </a:prstGeom>
          <a:solidFill>
            <a:srgbClr val="F6FAEC"/>
          </a:solidFill>
          <a:ln w="25400">
            <a:solidFill>
              <a:srgbClr val="C5192B"/>
            </a:solidFill>
            <a:prstDash val="solid"/>
          </a:ln>
        </p:spPr>
      </p:sp>
      <p:sp>
        <p:nvSpPr>
          <p:cNvPr id="6" name="Text 4"/>
          <p:cNvSpPr/>
          <p:nvPr/>
        </p:nvSpPr>
        <p:spPr>
          <a:xfrm>
            <a:off x="265176"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17 Oct</a:t>
            </a:r>
            <a:endParaRPr lang="en-US" sz="950" dirty="0"/>
          </a:p>
        </p:txBody>
      </p:sp>
      <p:sp>
        <p:nvSpPr>
          <p:cNvPr id="7" name="Text 5"/>
          <p:cNvSpPr/>
          <p:nvPr/>
        </p:nvSpPr>
        <p:spPr>
          <a:xfrm>
            <a:off x="265176"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Project award</a:t>
            </a:r>
            <a:endParaRPr lang="en-US" sz="850" dirty="0"/>
          </a:p>
        </p:txBody>
      </p:sp>
      <p:sp>
        <p:nvSpPr>
          <p:cNvPr id="8" name="Shape 6"/>
          <p:cNvSpPr/>
          <p:nvPr/>
        </p:nvSpPr>
        <p:spPr>
          <a:xfrm>
            <a:off x="2010156" y="1961388"/>
            <a:ext cx="137160" cy="137160"/>
          </a:xfrm>
          <a:prstGeom prst="ellipse">
            <a:avLst/>
          </a:prstGeom>
          <a:solidFill>
            <a:srgbClr val="C5192B"/>
          </a:solidFill>
          <a:ln w="25400">
            <a:solidFill>
              <a:srgbClr val="C5192B"/>
            </a:solidFill>
            <a:prstDash val="solid"/>
          </a:ln>
        </p:spPr>
      </p:sp>
      <p:sp>
        <p:nvSpPr>
          <p:cNvPr id="9" name="Text 7"/>
          <p:cNvSpPr/>
          <p:nvPr/>
        </p:nvSpPr>
        <p:spPr>
          <a:xfrm>
            <a:off x="1511808"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Mid Dec</a:t>
            </a:r>
            <a:endParaRPr lang="en-US" sz="950" dirty="0"/>
          </a:p>
        </p:txBody>
      </p:sp>
      <p:sp>
        <p:nvSpPr>
          <p:cNvPr id="10" name="Text 8"/>
          <p:cNvSpPr/>
          <p:nvPr/>
        </p:nvSpPr>
        <p:spPr>
          <a:xfrm>
            <a:off x="1511808"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Permit and packaging locked</a:t>
            </a:r>
            <a:endParaRPr lang="en-US" sz="850" dirty="0"/>
          </a:p>
        </p:txBody>
      </p:sp>
      <p:sp>
        <p:nvSpPr>
          <p:cNvPr id="11" name="Shape 9"/>
          <p:cNvSpPr/>
          <p:nvPr/>
        </p:nvSpPr>
        <p:spPr>
          <a:xfrm>
            <a:off x="3256788" y="1961388"/>
            <a:ext cx="137160" cy="137160"/>
          </a:xfrm>
          <a:prstGeom prst="ellipse">
            <a:avLst/>
          </a:prstGeom>
          <a:solidFill>
            <a:srgbClr val="F6FAEC"/>
          </a:solidFill>
          <a:ln w="25400">
            <a:solidFill>
              <a:srgbClr val="C5192B"/>
            </a:solidFill>
            <a:prstDash val="solid"/>
          </a:ln>
        </p:spPr>
      </p:sp>
      <p:sp>
        <p:nvSpPr>
          <p:cNvPr id="12" name="Text 10"/>
          <p:cNvSpPr/>
          <p:nvPr/>
        </p:nvSpPr>
        <p:spPr>
          <a:xfrm>
            <a:off x="2758440"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15 Jan</a:t>
            </a:r>
            <a:endParaRPr lang="en-US" sz="950" dirty="0"/>
          </a:p>
        </p:txBody>
      </p:sp>
      <p:sp>
        <p:nvSpPr>
          <p:cNvPr id="13" name="Text 11"/>
          <p:cNvSpPr/>
          <p:nvPr/>
        </p:nvSpPr>
        <p:spPr>
          <a:xfrm>
            <a:off x="2758440"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Page live, pop-ups built</a:t>
            </a:r>
            <a:endParaRPr lang="en-US" sz="850" dirty="0"/>
          </a:p>
        </p:txBody>
      </p:sp>
      <p:sp>
        <p:nvSpPr>
          <p:cNvPr id="14" name="Shape 12"/>
          <p:cNvSpPr/>
          <p:nvPr/>
        </p:nvSpPr>
        <p:spPr>
          <a:xfrm>
            <a:off x="4503420" y="1961388"/>
            <a:ext cx="137160" cy="137160"/>
          </a:xfrm>
          <a:prstGeom prst="ellipse">
            <a:avLst/>
          </a:prstGeom>
          <a:solidFill>
            <a:srgbClr val="C5192B"/>
          </a:solidFill>
          <a:ln w="25400">
            <a:solidFill>
              <a:srgbClr val="C5192B"/>
            </a:solidFill>
            <a:prstDash val="solid"/>
          </a:ln>
        </p:spPr>
      </p:sp>
      <p:sp>
        <p:nvSpPr>
          <p:cNvPr id="15" name="Text 13"/>
          <p:cNvSpPr/>
          <p:nvPr/>
        </p:nvSpPr>
        <p:spPr>
          <a:xfrm>
            <a:off x="4005072"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25 Jan</a:t>
            </a:r>
            <a:endParaRPr lang="en-US" sz="950" dirty="0"/>
          </a:p>
        </p:txBody>
      </p:sp>
      <p:sp>
        <p:nvSpPr>
          <p:cNvPr id="16" name="Text 14"/>
          <p:cNvSpPr/>
          <p:nvPr/>
        </p:nvSpPr>
        <p:spPr>
          <a:xfrm>
            <a:off x="4005072"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Campaign launch event</a:t>
            </a:r>
            <a:endParaRPr lang="en-US" sz="850" dirty="0"/>
          </a:p>
        </p:txBody>
      </p:sp>
      <p:sp>
        <p:nvSpPr>
          <p:cNvPr id="17" name="Shape 15"/>
          <p:cNvSpPr/>
          <p:nvPr/>
        </p:nvSpPr>
        <p:spPr>
          <a:xfrm>
            <a:off x="5750052" y="1961388"/>
            <a:ext cx="137160" cy="137160"/>
          </a:xfrm>
          <a:prstGeom prst="ellipse">
            <a:avLst/>
          </a:prstGeom>
          <a:solidFill>
            <a:srgbClr val="C5192B"/>
          </a:solidFill>
          <a:ln w="25400">
            <a:solidFill>
              <a:srgbClr val="C5192B"/>
            </a:solidFill>
            <a:prstDash val="solid"/>
          </a:ln>
        </p:spPr>
      </p:sp>
      <p:sp>
        <p:nvSpPr>
          <p:cNvPr id="18" name="Text 16"/>
          <p:cNvSpPr/>
          <p:nvPr/>
        </p:nvSpPr>
        <p:spPr>
          <a:xfrm>
            <a:off x="5251704"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1 Feb</a:t>
            </a:r>
            <a:endParaRPr lang="en-US" sz="950" dirty="0"/>
          </a:p>
        </p:txBody>
      </p:sp>
      <p:sp>
        <p:nvSpPr>
          <p:cNvPr id="19" name="Text 17"/>
          <p:cNvSpPr/>
          <p:nvPr/>
        </p:nvSpPr>
        <p:spPr>
          <a:xfrm>
            <a:off x="5251704"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Contest ads live</a:t>
            </a:r>
            <a:endParaRPr lang="en-US" sz="850" dirty="0"/>
          </a:p>
        </p:txBody>
      </p:sp>
      <p:sp>
        <p:nvSpPr>
          <p:cNvPr id="20" name="Shape 18"/>
          <p:cNvSpPr/>
          <p:nvPr/>
        </p:nvSpPr>
        <p:spPr>
          <a:xfrm>
            <a:off x="6996684" y="1961388"/>
            <a:ext cx="137160" cy="137160"/>
          </a:xfrm>
          <a:prstGeom prst="ellipse">
            <a:avLst/>
          </a:prstGeom>
          <a:solidFill>
            <a:srgbClr val="C5192B"/>
          </a:solidFill>
          <a:ln w="25400">
            <a:solidFill>
              <a:srgbClr val="C5192B"/>
            </a:solidFill>
            <a:prstDash val="solid"/>
          </a:ln>
        </p:spPr>
      </p:sp>
      <p:sp>
        <p:nvSpPr>
          <p:cNvPr id="21" name="Text 19"/>
          <p:cNvSpPr/>
          <p:nvPr/>
        </p:nvSpPr>
        <p:spPr>
          <a:xfrm>
            <a:off x="6498336" y="2212848"/>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24 Feb</a:t>
            </a:r>
            <a:endParaRPr lang="en-US" sz="950" dirty="0"/>
          </a:p>
        </p:txBody>
      </p:sp>
      <p:sp>
        <p:nvSpPr>
          <p:cNvPr id="22" name="Text 20"/>
          <p:cNvSpPr/>
          <p:nvPr/>
        </p:nvSpPr>
        <p:spPr>
          <a:xfrm>
            <a:off x="6498336" y="2414016"/>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Brand video launch</a:t>
            </a:r>
            <a:endParaRPr lang="en-US" sz="850" dirty="0"/>
          </a:p>
        </p:txBody>
      </p:sp>
      <p:sp>
        <p:nvSpPr>
          <p:cNvPr id="23" name="Shape 21"/>
          <p:cNvSpPr/>
          <p:nvPr/>
        </p:nvSpPr>
        <p:spPr>
          <a:xfrm>
            <a:off x="8243316" y="1961388"/>
            <a:ext cx="137160" cy="137160"/>
          </a:xfrm>
          <a:prstGeom prst="ellipse">
            <a:avLst/>
          </a:prstGeom>
          <a:solidFill>
            <a:srgbClr val="F6FAEC"/>
          </a:solidFill>
          <a:ln w="25400">
            <a:solidFill>
              <a:srgbClr val="C5192B"/>
            </a:solidFill>
            <a:prstDash val="solid"/>
          </a:ln>
        </p:spPr>
      </p:sp>
      <p:sp>
        <p:nvSpPr>
          <p:cNvPr id="24" name="Text 22"/>
          <p:cNvSpPr/>
          <p:nvPr/>
        </p:nvSpPr>
        <p:spPr>
          <a:xfrm>
            <a:off x="7744968" y="1188720"/>
            <a:ext cx="1133856" cy="201168"/>
          </a:xfrm>
          <a:prstGeom prst="rect">
            <a:avLst/>
          </a:prstGeom>
          <a:noFill/>
          <a:ln/>
        </p:spPr>
        <p:txBody>
          <a:bodyPr wrap="square" lIns="0" tIns="0" rIns="0" bIns="0" rtlCol="0" anchor="t"/>
          <a:lstStyle/>
          <a:p>
            <a:pPr algn="ctr" indent="0" marL="0">
              <a:buNone/>
            </a:pPr>
            <a:r>
              <a:rPr lang="en-US" sz="950" b="1" dirty="0">
                <a:solidFill>
                  <a:srgbClr val="C5192B"/>
                </a:solidFill>
                <a:latin typeface="Arial" pitchFamily="34" charset="0"/>
                <a:ea typeface="Arial" pitchFamily="34" charset="-122"/>
                <a:cs typeface="Arial" pitchFamily="34" charset="-120"/>
              </a:rPr>
              <a:t>5 Apr</a:t>
            </a:r>
            <a:endParaRPr lang="en-US" sz="950" dirty="0"/>
          </a:p>
        </p:txBody>
      </p:sp>
      <p:sp>
        <p:nvSpPr>
          <p:cNvPr id="25" name="Text 23"/>
          <p:cNvSpPr/>
          <p:nvPr/>
        </p:nvSpPr>
        <p:spPr>
          <a:xfrm>
            <a:off x="7744968" y="1389888"/>
            <a:ext cx="1133856" cy="457200"/>
          </a:xfrm>
          <a:prstGeom prst="rect">
            <a:avLst/>
          </a:prstGeom>
          <a:noFill/>
          <a:ln/>
        </p:spPr>
        <p:txBody>
          <a:bodyPr wrap="square" lIns="0" tIns="0" rIns="0" bIns="0" rtlCol="0" anchor="t"/>
          <a:lstStyle/>
          <a:p>
            <a:pPr algn="ctr" indent="0" marL="0">
              <a:lnSpc>
                <a:spcPts val="1100"/>
              </a:lnSpc>
              <a:buNone/>
            </a:pPr>
            <a:r>
              <a:rPr lang="en-US" sz="850" dirty="0">
                <a:solidFill>
                  <a:srgbClr val="006838"/>
                </a:solidFill>
                <a:latin typeface="Arial" pitchFamily="34" charset="0"/>
                <a:ea typeface="Arial" pitchFamily="34" charset="-122"/>
                <a:cs typeface="Arial" pitchFamily="34" charset="-120"/>
              </a:rPr>
              <a:t>Contest closes</a:t>
            </a:r>
            <a:endParaRPr lang="en-US" sz="850" dirty="0"/>
          </a:p>
        </p:txBody>
      </p:sp>
      <p:sp>
        <p:nvSpPr>
          <p:cNvPr id="26" name="Shape 24"/>
          <p:cNvSpPr/>
          <p:nvPr/>
        </p:nvSpPr>
        <p:spPr>
          <a:xfrm>
            <a:off x="512064" y="3072384"/>
            <a:ext cx="2584704" cy="1243584"/>
          </a:xfrm>
          <a:prstGeom prst="rect">
            <a:avLst/>
          </a:prstGeom>
          <a:solidFill>
            <a:srgbClr val="E9F3DD"/>
          </a:solidFill>
          <a:ln/>
        </p:spPr>
      </p:sp>
      <p:sp>
        <p:nvSpPr>
          <p:cNvPr id="27" name="Shape 25"/>
          <p:cNvSpPr/>
          <p:nvPr/>
        </p:nvSpPr>
        <p:spPr>
          <a:xfrm>
            <a:off x="512064" y="3072384"/>
            <a:ext cx="2584704" cy="54864"/>
          </a:xfrm>
          <a:prstGeom prst="rect">
            <a:avLst/>
          </a:prstGeom>
          <a:solidFill>
            <a:srgbClr val="C5192B"/>
          </a:solidFill>
          <a:ln/>
        </p:spPr>
      </p:sp>
      <p:sp>
        <p:nvSpPr>
          <p:cNvPr id="28" name="Text 26"/>
          <p:cNvSpPr/>
          <p:nvPr/>
        </p:nvSpPr>
        <p:spPr>
          <a:xfrm>
            <a:off x="676656"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1 TO 3</a:t>
            </a:r>
            <a:endParaRPr lang="en-US" sz="800" dirty="0"/>
          </a:p>
        </p:txBody>
      </p:sp>
      <p:sp>
        <p:nvSpPr>
          <p:cNvPr id="29" name="Text 27"/>
          <p:cNvSpPr/>
          <p:nvPr/>
        </p:nvSpPr>
        <p:spPr>
          <a:xfrm>
            <a:off x="676656"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1 to 23 Feb</a:t>
            </a:r>
            <a:endParaRPr lang="en-US" sz="1150" dirty="0"/>
          </a:p>
        </p:txBody>
      </p:sp>
      <p:sp>
        <p:nvSpPr>
          <p:cNvPr id="30" name="Text 28"/>
          <p:cNvSpPr/>
          <p:nvPr/>
        </p:nvSpPr>
        <p:spPr>
          <a:xfrm>
            <a:off x="676656"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Contest engine alone, with no film yet. Chinese New Year on 6 Feb, so hold bid caps and cut weight about 30% for three days. Ramadan opens 8 Feb and the contest ramps. First winners announced 19 Feb.</a:t>
            </a:r>
            <a:endParaRPr lang="en-US" sz="850" dirty="0"/>
          </a:p>
        </p:txBody>
      </p:sp>
      <p:sp>
        <p:nvSpPr>
          <p:cNvPr id="31" name="Shape 29"/>
          <p:cNvSpPr/>
          <p:nvPr/>
        </p:nvSpPr>
        <p:spPr>
          <a:xfrm>
            <a:off x="3279648" y="3072384"/>
            <a:ext cx="2584704" cy="1243584"/>
          </a:xfrm>
          <a:prstGeom prst="rect">
            <a:avLst/>
          </a:prstGeom>
          <a:solidFill>
            <a:srgbClr val="E9F3DD"/>
          </a:solidFill>
          <a:ln/>
        </p:spPr>
      </p:sp>
      <p:sp>
        <p:nvSpPr>
          <p:cNvPr id="32" name="Shape 30"/>
          <p:cNvSpPr/>
          <p:nvPr/>
        </p:nvSpPr>
        <p:spPr>
          <a:xfrm>
            <a:off x="3279648" y="3072384"/>
            <a:ext cx="2584704" cy="54864"/>
          </a:xfrm>
          <a:prstGeom prst="rect">
            <a:avLst/>
          </a:prstGeom>
          <a:solidFill>
            <a:srgbClr val="006838"/>
          </a:solidFill>
          <a:ln/>
        </p:spPr>
      </p:sp>
      <p:sp>
        <p:nvSpPr>
          <p:cNvPr id="33" name="Text 31"/>
          <p:cNvSpPr/>
          <p:nvPr/>
        </p:nvSpPr>
        <p:spPr>
          <a:xfrm>
            <a:off x="3444240"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4 TO 6</a:t>
            </a:r>
            <a:endParaRPr lang="en-US" sz="800" dirty="0"/>
          </a:p>
        </p:txBody>
      </p:sp>
      <p:sp>
        <p:nvSpPr>
          <p:cNvPr id="34" name="Text 32"/>
          <p:cNvSpPr/>
          <p:nvPr/>
        </p:nvSpPr>
        <p:spPr>
          <a:xfrm>
            <a:off x="3444240"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24 Feb to 9 Mar</a:t>
            </a:r>
            <a:endParaRPr lang="en-US" sz="1150" dirty="0"/>
          </a:p>
        </p:txBody>
      </p:sp>
      <p:sp>
        <p:nvSpPr>
          <p:cNvPr id="35" name="Text 33"/>
          <p:cNvSpPr/>
          <p:nvPr/>
        </p:nvSpPr>
        <p:spPr>
          <a:xfrm>
            <a:off x="3444240"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Teasers on 17 and 22 Feb, film launches 24 Feb. Both engines at full weight. Retarget video viewers into the contest, which will be the highest converting audience the campaign has.</a:t>
            </a:r>
            <a:endParaRPr lang="en-US" sz="850" dirty="0"/>
          </a:p>
        </p:txBody>
      </p:sp>
      <p:sp>
        <p:nvSpPr>
          <p:cNvPr id="36" name="Shape 34"/>
          <p:cNvSpPr/>
          <p:nvPr/>
        </p:nvSpPr>
        <p:spPr>
          <a:xfrm>
            <a:off x="6047232" y="3072384"/>
            <a:ext cx="2584704" cy="1243584"/>
          </a:xfrm>
          <a:prstGeom prst="rect">
            <a:avLst/>
          </a:prstGeom>
          <a:solidFill>
            <a:srgbClr val="E9F3DD"/>
          </a:solidFill>
          <a:ln/>
        </p:spPr>
      </p:sp>
      <p:sp>
        <p:nvSpPr>
          <p:cNvPr id="37" name="Shape 35"/>
          <p:cNvSpPr/>
          <p:nvPr/>
        </p:nvSpPr>
        <p:spPr>
          <a:xfrm>
            <a:off x="6047232" y="3072384"/>
            <a:ext cx="2584704" cy="54864"/>
          </a:xfrm>
          <a:prstGeom prst="rect">
            <a:avLst/>
          </a:prstGeom>
          <a:solidFill>
            <a:srgbClr val="E8912C"/>
          </a:solidFill>
          <a:ln/>
        </p:spPr>
      </p:sp>
      <p:sp>
        <p:nvSpPr>
          <p:cNvPr id="38" name="Text 36"/>
          <p:cNvSpPr/>
          <p:nvPr/>
        </p:nvSpPr>
        <p:spPr>
          <a:xfrm>
            <a:off x="6211824" y="3255264"/>
            <a:ext cx="2255520" cy="182880"/>
          </a:xfrm>
          <a:prstGeom prst="rect">
            <a:avLst/>
          </a:prstGeom>
          <a:noFill/>
          <a:ln/>
        </p:spPr>
        <p:txBody>
          <a:bodyPr wrap="square" lIns="0" tIns="0" rIns="0" bIns="0" rtlCol="0" anchor="t"/>
          <a:lstStyle/>
          <a:p>
            <a:pPr indent="0" marL="0">
              <a:buNone/>
            </a:pPr>
            <a:r>
              <a:rPr lang="en-US" sz="800" b="1" spc="80" kern="0" dirty="0">
                <a:solidFill>
                  <a:srgbClr val="6E8A76"/>
                </a:solidFill>
                <a:latin typeface="Arial" pitchFamily="34" charset="0"/>
                <a:ea typeface="Arial" pitchFamily="34" charset="-122"/>
                <a:cs typeface="Arial" pitchFamily="34" charset="-120"/>
              </a:rPr>
              <a:t>WEEKS 7 TO 10</a:t>
            </a:r>
            <a:endParaRPr lang="en-US" sz="800" dirty="0"/>
          </a:p>
        </p:txBody>
      </p:sp>
      <p:sp>
        <p:nvSpPr>
          <p:cNvPr id="39" name="Text 37"/>
          <p:cNvSpPr/>
          <p:nvPr/>
        </p:nvSpPr>
        <p:spPr>
          <a:xfrm>
            <a:off x="6211824" y="3465576"/>
            <a:ext cx="2255520" cy="457200"/>
          </a:xfrm>
          <a:prstGeom prst="rect">
            <a:avLst/>
          </a:prstGeom>
          <a:noFill/>
          <a:ln/>
        </p:spPr>
        <p:txBody>
          <a:bodyPr wrap="square" lIns="0" tIns="0" rIns="0" bIns="0" rtlCol="0" anchor="t"/>
          <a:lstStyle/>
          <a:p>
            <a:pPr indent="0" marL="0">
              <a:lnSpc>
                <a:spcPts val="1450"/>
              </a:lnSpc>
              <a:buNone/>
            </a:pPr>
            <a:r>
              <a:rPr lang="en-US" sz="1150" b="1" dirty="0">
                <a:solidFill>
                  <a:srgbClr val="006838"/>
                </a:solidFill>
                <a:latin typeface="Arial" pitchFamily="34" charset="0"/>
                <a:ea typeface="Arial" pitchFamily="34" charset="-122"/>
                <a:cs typeface="Arial" pitchFamily="34" charset="-120"/>
              </a:rPr>
              <a:t>10 Mar to 5 Apr</a:t>
            </a:r>
            <a:endParaRPr lang="en-US" sz="1150" dirty="0"/>
          </a:p>
        </p:txBody>
      </p:sp>
      <p:sp>
        <p:nvSpPr>
          <p:cNvPr id="40" name="Text 38"/>
          <p:cNvSpPr/>
          <p:nvPr/>
        </p:nvSpPr>
        <p:spPr>
          <a:xfrm>
            <a:off x="6211824" y="3959352"/>
            <a:ext cx="2255520" cy="210312"/>
          </a:xfrm>
          <a:prstGeom prst="rect">
            <a:avLst/>
          </a:prstGeom>
          <a:noFill/>
          <a:ln/>
        </p:spPr>
        <p:txBody>
          <a:bodyPr wrap="square" lIns="0" tIns="0" rIns="0" bIns="0" rtlCol="0" anchor="t"/>
          <a:lstStyle/>
          <a:p>
            <a:pPr indent="0" marL="0">
              <a:lnSpc>
                <a:spcPts val="1200"/>
              </a:lnSpc>
              <a:buNone/>
            </a:pPr>
            <a:r>
              <a:rPr lang="en-US" sz="850" dirty="0">
                <a:solidFill>
                  <a:srgbClr val="006838"/>
                </a:solidFill>
                <a:latin typeface="Arial" pitchFamily="34" charset="0"/>
                <a:ea typeface="Arial" pitchFamily="34" charset="-122"/>
                <a:cs typeface="Arial" pitchFamily="34" charset="-120"/>
              </a:rPr>
              <a:t>Raya on 10 Mar, so pull contest spend for three days and let the film carry emotional reach. Balik kampung and open house through Syawal. Last chance creative from 29 Mar. Report by 17 Apr.</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AEC"/>
        </a:solidFill>
      </p:bgPr>
    </p:bg>
    <p:spTree>
      <p:nvGrpSpPr>
        <p:cNvPr id="1" name=""/>
        <p:cNvGrpSpPr/>
        <p:nvPr/>
      </p:nvGrpSpPr>
      <p:grpSpPr>
        <a:xfrm>
          <a:off x="0" y="0"/>
          <a:ext cx="0" cy="0"/>
          <a:chOff x="0" y="0"/>
          <a:chExt cx="0" cy="0"/>
        </a:xfrm>
      </p:grpSpPr>
      <p:sp>
        <p:nvSpPr>
          <p:cNvPr id="2" name="Shape 0"/>
          <p:cNvSpPr/>
          <p:nvPr/>
        </p:nvSpPr>
        <p:spPr>
          <a:xfrm>
            <a:off x="512064" y="365760"/>
            <a:ext cx="219456" cy="73152"/>
          </a:xfrm>
          <a:prstGeom prst="rect">
            <a:avLst/>
          </a:prstGeom>
          <a:solidFill>
            <a:srgbClr val="C5192B"/>
          </a:solidFill>
          <a:ln/>
        </p:spPr>
      </p:sp>
      <p:sp>
        <p:nvSpPr>
          <p:cNvPr id="3" name="Text 1"/>
          <p:cNvSpPr/>
          <p:nvPr/>
        </p:nvSpPr>
        <p:spPr>
          <a:xfrm>
            <a:off x="512064" y="566928"/>
            <a:ext cx="8119872" cy="822960"/>
          </a:xfrm>
          <a:prstGeom prst="rect">
            <a:avLst/>
          </a:prstGeom>
          <a:noFill/>
          <a:ln/>
        </p:spPr>
        <p:txBody>
          <a:bodyPr wrap="square" lIns="0" tIns="0" rIns="0" bIns="0" rtlCol="0" anchor="t"/>
          <a:lstStyle/>
          <a:p>
            <a:pPr indent="0" marL="0">
              <a:lnSpc>
                <a:spcPts val="2714"/>
              </a:lnSpc>
              <a:buNone/>
            </a:pPr>
            <a:r>
              <a:rPr lang="en-US" sz="2300" dirty="0">
                <a:solidFill>
                  <a:srgbClr val="006838"/>
                </a:solidFill>
                <a:latin typeface="Arial Black" pitchFamily="34" charset="0"/>
                <a:ea typeface="Arial Black" pitchFamily="34" charset="-122"/>
                <a:cs typeface="Arial Black" pitchFamily="34" charset="-120"/>
              </a:rPr>
              <a:t>What we are not sure of, and </a:t>
            </a:r>
            <a:pPr indent="0" marL="0">
              <a:lnSpc>
                <a:spcPts val="2714"/>
              </a:lnSpc>
              <a:buNone/>
            </a:pPr>
            <a:r>
              <a:rPr lang="en-US" sz="2300" dirty="0">
                <a:solidFill>
                  <a:srgbClr val="C5192B"/>
                </a:solidFill>
                <a:latin typeface="Arial Black" pitchFamily="34" charset="0"/>
                <a:ea typeface="Arial Black" pitchFamily="34" charset="-122"/>
                <a:cs typeface="Arial Black" pitchFamily="34" charset="-120"/>
              </a:rPr>
              <a:t>what we need from you.</a:t>
            </a:r>
            <a:endParaRPr lang="en-US" sz="2300" dirty="0"/>
          </a:p>
        </p:txBody>
      </p:sp>
      <p:sp>
        <p:nvSpPr>
          <p:cNvPr id="4" name="Shape 2"/>
          <p:cNvSpPr/>
          <p:nvPr/>
        </p:nvSpPr>
        <p:spPr>
          <a:xfrm>
            <a:off x="512064" y="1371600"/>
            <a:ext cx="3968496" cy="2962656"/>
          </a:xfrm>
          <a:prstGeom prst="rect">
            <a:avLst/>
          </a:prstGeom>
          <a:solidFill>
            <a:srgbClr val="E9F3DD"/>
          </a:solidFill>
          <a:ln/>
        </p:spPr>
      </p:sp>
      <p:sp>
        <p:nvSpPr>
          <p:cNvPr id="5" name="Shape 3"/>
          <p:cNvSpPr/>
          <p:nvPr/>
        </p:nvSpPr>
        <p:spPr>
          <a:xfrm>
            <a:off x="512064" y="1371600"/>
            <a:ext cx="3968496" cy="54864"/>
          </a:xfrm>
          <a:prstGeom prst="rect">
            <a:avLst/>
          </a:prstGeom>
          <a:solidFill>
            <a:srgbClr val="C5192B"/>
          </a:solidFill>
          <a:ln/>
        </p:spPr>
      </p:sp>
      <p:sp>
        <p:nvSpPr>
          <p:cNvPr id="6" name="Text 4"/>
          <p:cNvSpPr/>
          <p:nvPr/>
        </p:nvSpPr>
        <p:spPr>
          <a:xfrm>
            <a:off x="676656" y="1536192"/>
            <a:ext cx="3639312" cy="182880"/>
          </a:xfrm>
          <a:prstGeom prst="rect">
            <a:avLst/>
          </a:prstGeom>
          <a:noFill/>
          <a:ln/>
        </p:spPr>
        <p:txBody>
          <a:bodyPr wrap="square" lIns="0" tIns="0" rIns="0" bIns="0" rtlCol="0" anchor="t"/>
          <a:lstStyle/>
          <a:p>
            <a:pPr indent="0" marL="0">
              <a:buNone/>
            </a:pPr>
            <a:r>
              <a:rPr lang="en-US" sz="850" b="1" spc="80" kern="0" dirty="0">
                <a:solidFill>
                  <a:srgbClr val="C5192B"/>
                </a:solidFill>
                <a:latin typeface="Arial" pitchFamily="34" charset="0"/>
                <a:ea typeface="Arial" pitchFamily="34" charset="-122"/>
                <a:cs typeface="Arial" pitchFamily="34" charset="-120"/>
              </a:rPr>
              <a:t>CAVEATS</a:t>
            </a:r>
            <a:endParaRPr lang="en-US" sz="850" dirty="0"/>
          </a:p>
        </p:txBody>
      </p:sp>
      <p:sp>
        <p:nvSpPr>
          <p:cNvPr id="7" name="Text 5"/>
          <p:cNvSpPr/>
          <p:nvPr/>
        </p:nvSpPr>
        <p:spPr>
          <a:xfrm>
            <a:off x="676656" y="1773936"/>
            <a:ext cx="3639312" cy="2487168"/>
          </a:xfrm>
          <a:prstGeom prst="rect">
            <a:avLst/>
          </a:prstGeom>
          <a:noFill/>
          <a:ln/>
        </p:spPr>
        <p:txBody>
          <a:bodyPr wrap="square" lIns="0" tIns="0" rIns="0" bIns="0" rtlCol="0" anchor="t"/>
          <a:lstStyle/>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Is the 40M views KPI paid only or campaign wide? We assumed campaign wide. Paid only roughly doubles the budget.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What counts as a view, and is engagement measured on impressions or on reach? The same campaign reads 2.3% or 4.2%.</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We do not know the 2026 spend, so every CPM here stays an assumption until you share it.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The pop-up rests on Bulan Bintang agreeing to host a Saji counter in all 14 boutiques. That yes is not ours to give.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No budget option here includes pop-up build, stock or staffing. That cost sits with on-ground, not with this line.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 Golden Ticket cannot go inside a bottle of oil. A neck tag, under-cap or carton insert adds packaging lead time.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The weekly draw and the Golden Ticket are two games of chance and likely need naming in one permit. Allow three to four weeks.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Bulan Bintang runs its own RM400,000 QR contest, and your own slides disagree on the launch date and the winner count.</a:t>
            </a:r>
            <a:endParaRPr lang="en-US" sz="850" dirty="0"/>
          </a:p>
        </p:txBody>
      </p:sp>
      <p:sp>
        <p:nvSpPr>
          <p:cNvPr id="8" name="Shape 6"/>
          <p:cNvSpPr/>
          <p:nvPr/>
        </p:nvSpPr>
        <p:spPr>
          <a:xfrm>
            <a:off x="4663440" y="1371600"/>
            <a:ext cx="3968496" cy="2962656"/>
          </a:xfrm>
          <a:prstGeom prst="rect">
            <a:avLst/>
          </a:prstGeom>
          <a:solidFill>
            <a:srgbClr val="E9F3DD"/>
          </a:solidFill>
          <a:ln/>
        </p:spPr>
      </p:sp>
      <p:sp>
        <p:nvSpPr>
          <p:cNvPr id="9" name="Shape 7"/>
          <p:cNvSpPr/>
          <p:nvPr/>
        </p:nvSpPr>
        <p:spPr>
          <a:xfrm>
            <a:off x="4663440" y="1371600"/>
            <a:ext cx="3968496" cy="54864"/>
          </a:xfrm>
          <a:prstGeom prst="rect">
            <a:avLst/>
          </a:prstGeom>
          <a:solidFill>
            <a:srgbClr val="006838"/>
          </a:solidFill>
          <a:ln/>
        </p:spPr>
      </p:sp>
      <p:sp>
        <p:nvSpPr>
          <p:cNvPr id="10" name="Text 8"/>
          <p:cNvSpPr/>
          <p:nvPr/>
        </p:nvSpPr>
        <p:spPr>
          <a:xfrm>
            <a:off x="4828032" y="1536192"/>
            <a:ext cx="3639312" cy="182880"/>
          </a:xfrm>
          <a:prstGeom prst="rect">
            <a:avLst/>
          </a:prstGeom>
          <a:noFill/>
          <a:ln/>
        </p:spPr>
        <p:txBody>
          <a:bodyPr wrap="square" lIns="0" tIns="0" rIns="0" bIns="0" rtlCol="0" anchor="t"/>
          <a:lstStyle/>
          <a:p>
            <a:pPr indent="0" marL="0">
              <a:buNone/>
            </a:pPr>
            <a:r>
              <a:rPr lang="en-US" sz="850" b="1" spc="80" kern="0" dirty="0">
                <a:solidFill>
                  <a:srgbClr val="006838"/>
                </a:solidFill>
                <a:latin typeface="Arial" pitchFamily="34" charset="0"/>
                <a:ea typeface="Arial" pitchFamily="34" charset="-122"/>
                <a:cs typeface="Arial" pitchFamily="34" charset="-120"/>
              </a:rPr>
              <a:t>QUESTIONS FOR THE CLIENT</a:t>
            </a:r>
            <a:endParaRPr lang="en-US" sz="850" dirty="0"/>
          </a:p>
        </p:txBody>
      </p:sp>
      <p:sp>
        <p:nvSpPr>
          <p:cNvPr id="11" name="Text 9"/>
          <p:cNvSpPr/>
          <p:nvPr/>
        </p:nvSpPr>
        <p:spPr>
          <a:xfrm>
            <a:off x="4828032" y="1773936"/>
            <a:ext cx="3639312" cy="2487168"/>
          </a:xfrm>
          <a:prstGeom prst="rect">
            <a:avLst/>
          </a:prstGeom>
          <a:noFill/>
          <a:ln/>
        </p:spPr>
        <p:txBody>
          <a:bodyPr wrap="square" lIns="0" tIns="0" rIns="0" bIns="0" rtlCol="0" anchor="t"/>
          <a:lstStyle/>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Are the three KPIs for paid media alone, or for the whole campaign including KOL and organic?</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What did the 2026 campaign spend on digital, by platform?</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Will Bulan Bintang host a Saji counter in all 14 boutiques, and on what commercial terms?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Where are the 14 boutiques? The 30/70 geo split should be set against the real store list.</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Who owns the landing page, domain, hosting and entry database, and who is the PDPA data controller?</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Will Bulan Bintang co fund the RM600 baju component of the weekly prize?</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Do we get Meta and TikTok pixel access on Saji properties, plus lists for lookalikes?</a:t>
            </a:r>
            <a:endParaRPr lang="en-US" sz="850" dirty="0"/>
          </a:p>
          <a:p>
            <a:pPr marL="152400" indent="-152400">
              <a:lnSpc>
                <a:spcPts val="1150"/>
              </a:lnSpc>
              <a:spcAft>
                <a:spcPts val="300"/>
              </a:spcAft>
              <a:buSzPct val="100000"/>
              <a:buChar char="•"/>
            </a:pPr>
            <a:r>
              <a:rPr lang="en-US" sz="850" dirty="0">
                <a:solidFill>
                  <a:srgbClr val="006838"/>
                </a:solidFill>
                <a:latin typeface="Arial" pitchFamily="34" charset="0"/>
                <a:ea typeface="Arial" pitchFamily="34" charset="-122"/>
                <a:cs typeface="Arial" pitchFamily="34" charset="-120"/>
              </a:rPr>
              <a:t>Which Saji SKUs count toward the RM25 threshold, and which ones carry the Golden Ticket?</a:t>
            </a:r>
            <a:endParaRPr lang="en-US" sz="850" dirty="0"/>
          </a:p>
        </p:txBody>
      </p:sp>
      <p:sp>
        <p:nvSpPr>
          <p:cNvPr id="12" name="Shape 10"/>
          <p:cNvSpPr/>
          <p:nvPr/>
        </p:nvSpPr>
        <p:spPr>
          <a:xfrm>
            <a:off x="438912" y="4443984"/>
            <a:ext cx="8266176" cy="402336"/>
          </a:xfrm>
          <a:prstGeom prst="rect">
            <a:avLst/>
          </a:prstGeom>
          <a:solidFill>
            <a:srgbClr val="052B18"/>
          </a:solidFill>
          <a:ln/>
        </p:spPr>
      </p:sp>
      <p:sp>
        <p:nvSpPr>
          <p:cNvPr id="13" name="Text 11"/>
          <p:cNvSpPr/>
          <p:nvPr/>
        </p:nvSpPr>
        <p:spPr>
          <a:xfrm>
            <a:off x="658368" y="4462272"/>
            <a:ext cx="7827264" cy="365760"/>
          </a:xfrm>
          <a:prstGeom prst="rect">
            <a:avLst/>
          </a:prstGeom>
          <a:noFill/>
          <a:ln/>
        </p:spPr>
        <p:txBody>
          <a:bodyPr wrap="square" lIns="0" tIns="0" rIns="0" bIns="0" rtlCol="0" anchor="ctr"/>
          <a:lstStyle/>
          <a:p>
            <a:pPr indent="0" marL="0">
              <a:buNone/>
            </a:pPr>
            <a:r>
              <a:rPr lang="en-US" sz="950" b="1" dirty="0">
                <a:solidFill>
                  <a:srgbClr val="F5EC2E"/>
                </a:solidFill>
                <a:latin typeface="Arial" pitchFamily="34" charset="0"/>
                <a:ea typeface="Arial" pitchFamily="34" charset="-122"/>
                <a:cs typeface="Arial" pitchFamily="34" charset="-120"/>
              </a:rPr>
              <a:t>What we need to start: </a:t>
            </a:r>
            <a:pPr indent="0" marL="0">
              <a:buNone/>
            </a:pPr>
            <a:r>
              <a:rPr lang="en-US" sz="950" b="1" dirty="0">
                <a:solidFill>
                  <a:srgbClr val="FFFFFF"/>
                </a:solidFill>
                <a:latin typeface="Arial" pitchFamily="34" charset="0"/>
                <a:ea typeface="Arial" pitchFamily="34" charset="-122"/>
                <a:cs typeface="Arial" pitchFamily="34" charset="-120"/>
              </a:rPr>
              <a:t>the Bulan Bintang yes on the pop-up, platform access, and a yes or no on the landing page. Everything else we can work around.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Toggle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Saji x Bulan Bintang - Digital Advertising Proposal - rev1 (2026-09-13)</dc:title>
  <dc:subject>Prepared for COO</dc:subject>
  <dc:creator>Toggle Solutions</dc:creator>
  <cp:lastModifiedBy>Toggle Solutions</cp:lastModifiedBy>
  <cp:revision>1</cp:revision>
  <dcterms:created xsi:type="dcterms:W3CDTF">2026-09-15T02:54:11Z</dcterms:created>
  <dcterms:modified xsi:type="dcterms:W3CDTF">2026-09-15T02:54:11Z</dcterms:modified>
</cp:coreProperties>
</file>