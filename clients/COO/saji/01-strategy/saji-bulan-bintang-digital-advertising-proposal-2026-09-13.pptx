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Toggle supports pillars 2 and 3, the Buy and Win contest and digital amplification. COO owns the contest mechanics and the brand video.
Pitch 21 Sept 2026, submission 24 Sept, award expected 17 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on one page. If COO shows nothing else, show this.
Entry history: 11,834 (2022), 8,464 (2023), 7,576 (2024), 4,179 (2025), 3,765 (2026). Source: RARA 2025 and RARA 2026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engagement figure of 0.04M against 51M impressions is 0.08%. The 2025 figure of 1.88M against 51.6M is 3.6%. Those two cannot be measured the same way, which is why the engagement definition is a question for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RM25 to RM175 is seven times the cost of entry. 2026 got 3,765 entries at RM25. Asking for 4,000 at RM175 is not a 6% increase in ambition, it is a much larger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client brief slide describing the Malay housewife target, the Kak Ji mascot rationale in the RARA 2026 deck, Bulan Bintang’s RM289 price point and 14 boutiques, and COO’s note that Bulan Bintang is stronger outside the city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Low-key Raya idea comes from the client’s own WhatsApp message in the Marketing Leads group, captured on slide 6 of the blank canvas deck: "Less noise. More meaning. Less showing. More feeling. Less extravagance. More togetherness."
The tone slide sets the personality as humble, warm, genuine,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HeroMarket x Tyson and First Pride, everydayonsales.com, 1 Aug to 30 Sep 2026.
Guardian x BRAND’S x Christy Ng, 1 Sep to 31 Oct 2025.
100PLUS x SHALS "Raya Lebih Fresh Dengan 100PLUS", brandinginasia.com, 17 Jan to 15 Apr 2026.
AEON Merdeka Shop and Win, syioknya.com, 30 Jul to 31 Aug 2026.
Bulan Bintang Terrrpaling Raya Finale, verified live on bulan-bintang.com.my, RM400,000 cash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weighted entry model is the HeroMarket pattern adapted to two retailers. It preserves both revenue thresholds, removes the lockout, and gives Bulan Bintang a stronger pull than a mandate, because a 5x multiplier plus exclusive grand prize eligibility is a better offer than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three is an option, not a recommendation we have costed into anything. Every budget figure elsewhere in this deck, and the landing page, uses the briefed RM145,000.
The observation behind card three still stands: this is billed as a collaboration contest and the collaborator currently contributes nothing to the prize. Bulan Bintang appears in the mechanic, in the 5x multiplier and in the where to buy block, but not in what a winner receives.
On weekly draws: the 2025 weekly table in the RARA 2025 deck reads 4,179 participants against 2,000 winners. Worth confirming against the source before quoting it in the room, since the PDF column alignment is loose. COO’s working deck proposes four draws, which would leave six of the ten weeks with no winning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mix barely moves between the two options: Meta holds at 31%, TikTok goes from 52% to 54%, Google from 17% to 15%. Almost all the extra budget in Option 2 lands in TikTok video, because that is where a view costs least.
Contest conversion is split evenly between Meta and TikTok in both options, so neither platform is trusted with the whole entry target before we have live data.
Google carries no contest budget by design. YouTube cannot optimize toward a receipt upload the way Meta and TikTok can, so it works the brand film and leaves entries to the other two.
Reconciliation: 28,000 + 47,000 + 15,000 = 90,000. 42,500 + 72,500 + 20,000 = 135,000.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page is delivered alongside this deck as TerSaji Raya 2027 - Contest Landing Page.html. It is responsive, verified at 360, 390 and 900 pixels, and carries the recommended weighted entry mechanic rather than the briefed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where to buy block is the revenue driving element for Bulan Bintang. It puts their store finder and e-commerce link in front of every entrant, including the ones who entered with a Saji receipt only and now have a reason to add the second purchase for 5x entries.
Benchmarks: Woobox and KickoffLabs on giveaway landing page conversion and first viewport composition; embedded versus popup form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dates the client’s own slides disagree on: the campaign house slide says the launch event is 25 January, the project timeline slide says 28 January. We have planned on 25 January and flagged it.
The contest runs 24 days before the brand film exists, which is why contest creative has to carry weeks 1 to 3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024128"/>
            <a:ext cx="5486400" cy="292608"/>
          </a:xfrm>
          <a:prstGeom prst="rect">
            <a:avLst/>
          </a:prstGeom>
          <a:noFill/>
          <a:ln/>
        </p:spPr>
        <p:txBody>
          <a:bodyPr wrap="square" lIns="0" tIns="0" rIns="0" bIns="0" rtlCol="0" anchor="t"/>
          <a:lstStyle/>
          <a:p>
            <a:pPr indent="0" marL="0">
              <a:buNone/>
            </a:pPr>
            <a:r>
              <a:rPr lang="en-US" sz="1400" b="1" dirty="0">
                <a:solidFill>
                  <a:srgbClr val="F5EC2E"/>
                </a:solidFill>
                <a:latin typeface="Century Gothic" pitchFamily="34" charset="0"/>
                <a:ea typeface="Century Gothic" pitchFamily="34" charset="-122"/>
                <a:cs typeface="Century Gothic" pitchFamily="34" charset="-120"/>
              </a:rPr>
              <a:t>Ramadan Raya 2027</a:t>
            </a:r>
            <a:endParaRPr lang="en-US" sz="1400" dirty="0"/>
          </a:p>
        </p:txBody>
      </p:sp>
      <p:sp>
        <p:nvSpPr>
          <p:cNvPr id="4" name="Text 2"/>
          <p:cNvSpPr/>
          <p:nvPr/>
        </p:nvSpPr>
        <p:spPr>
          <a:xfrm>
            <a:off x="640080" y="1572768"/>
            <a:ext cx="7315200" cy="137160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Century Gothic" pitchFamily="34" charset="0"/>
                <a:ea typeface="Century Gothic" pitchFamily="34" charset="-122"/>
                <a:cs typeface="Century Gothic" pitchFamily="34" charset="-120"/>
              </a:rPr>
              <a:t>Digital Advertising Proposal</a:t>
            </a:r>
            <a:endParaRPr lang="en-US" sz="4000" dirty="0"/>
          </a:p>
        </p:txBody>
      </p:sp>
      <p:sp>
        <p:nvSpPr>
          <p:cNvPr id="5" name="Text 3"/>
          <p:cNvSpPr/>
          <p:nvPr/>
        </p:nvSpPr>
        <p:spPr>
          <a:xfrm>
            <a:off x="640080" y="2743200"/>
            <a:ext cx="6400800" cy="457200"/>
          </a:xfrm>
          <a:prstGeom prst="rect">
            <a:avLst/>
          </a:prstGeom>
          <a:noFill/>
          <a:ln/>
        </p:spPr>
        <p:txBody>
          <a:bodyPr wrap="square" lIns="0" tIns="0" rIns="0" bIns="0" rtlCol="0" anchor="t"/>
          <a:lstStyle/>
          <a:p>
            <a:pPr indent="0" marL="0">
              <a:buNone/>
            </a:pPr>
            <a:r>
              <a:rPr lang="en-US" sz="2100" dirty="0">
                <a:solidFill>
                  <a:srgbClr val="F8C84A"/>
                </a:solidFill>
                <a:latin typeface="Century Gothic" pitchFamily="34" charset="0"/>
                <a:ea typeface="Century Gothic" pitchFamily="34" charset="-122"/>
                <a:cs typeface="Century Gothic" pitchFamily="34" charset="-120"/>
              </a:rPr>
              <a:t>Saji  x  Bulan Bintang</a:t>
            </a:r>
            <a:endParaRPr lang="en-US" sz="2100" dirty="0"/>
          </a:p>
        </p:txBody>
      </p:sp>
      <p:sp>
        <p:nvSpPr>
          <p:cNvPr id="6" name="Text 4"/>
          <p:cNvSpPr/>
          <p:nvPr/>
        </p:nvSpPr>
        <p:spPr>
          <a:xfrm>
            <a:off x="640080" y="3310128"/>
            <a:ext cx="5852160" cy="731520"/>
          </a:xfrm>
          <a:prstGeom prst="rect">
            <a:avLst/>
          </a:prstGeom>
          <a:noFill/>
          <a:ln/>
        </p:spPr>
        <p:txBody>
          <a:bodyPr wrap="square" lIns="0" tIns="0" rIns="0" bIns="0" rtlCol="0" anchor="t"/>
          <a:lstStyle/>
          <a:p>
            <a:pPr indent="0" marL="0">
              <a:lnSpc>
                <a:spcPts val="1800"/>
              </a:lnSpc>
              <a:buNone/>
            </a:pPr>
            <a:r>
              <a:rPr lang="en-US" sz="1200" dirty="0">
                <a:solidFill>
                  <a:srgbClr val="B8CFBE"/>
                </a:solidFill>
                <a:latin typeface="Century Gothic" pitchFamily="34" charset="0"/>
                <a:ea typeface="Century Gothic" pitchFamily="34" charset="-122"/>
                <a:cs typeface="Century Gothic" pitchFamily="34" charset="-120"/>
              </a:rPr>
              <a:t>Turning the Buy and Win contest into a measurable conversion campaign, and funding the brand video separately from it.</a:t>
            </a:r>
            <a:endParaRPr lang="en-US" sz="1200" dirty="0"/>
          </a:p>
        </p:txBody>
      </p:sp>
      <p:sp>
        <p:nvSpPr>
          <p:cNvPr id="7" name="Text 5"/>
          <p:cNvSpPr/>
          <p:nvPr/>
        </p:nvSpPr>
        <p:spPr>
          <a:xfrm>
            <a:off x="640080" y="4462272"/>
            <a:ext cx="7863840" cy="274320"/>
          </a:xfrm>
          <a:prstGeom prst="rect">
            <a:avLst/>
          </a:prstGeom>
          <a:noFill/>
          <a:ln/>
        </p:spPr>
        <p:txBody>
          <a:bodyPr wrap="square" lIns="0" tIns="0" rIns="0" bIns="0" rtlCol="0" anchor="t"/>
          <a:lstStyle/>
          <a:p>
            <a:pPr indent="0" marL="0">
              <a:buNone/>
            </a:pPr>
            <a:r>
              <a:rPr lang="en-US" sz="950" dirty="0">
                <a:solidFill>
                  <a:srgbClr val="FFFFFF"/>
                </a:solidFill>
                <a:latin typeface="Century Gothic" pitchFamily="34" charset="0"/>
                <a:ea typeface="Century Gothic" pitchFamily="34" charset="-122"/>
                <a:cs typeface="Century Gothic" pitchFamily="34" charset="-120"/>
              </a:rPr>
              <a:t>Prepared by Toggle Solutions for COO  ·  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006838"/>
                </a:solidFill>
                <a:latin typeface="Arial Black" pitchFamily="34" charset="0"/>
                <a:ea typeface="Arial Black" pitchFamily="34" charset="-122"/>
                <a:cs typeface="Arial Black" pitchFamily="34" charset="-120"/>
              </a:rPr>
              <a:t>Five years of falling entries. </a:t>
            </a:r>
            <a:pPr indent="0" marL="0">
              <a:lnSpc>
                <a:spcPts val="2950"/>
              </a:lnSpc>
              <a:buNone/>
            </a:pPr>
            <a:r>
              <a:rPr lang="en-US" sz="2500" dirty="0">
                <a:solidFill>
                  <a:srgbClr val="C5192B"/>
                </a:solidFill>
                <a:latin typeface="Arial Black" pitchFamily="34" charset="0"/>
                <a:ea typeface="Arial Black" pitchFamily="34" charset="-122"/>
                <a:cs typeface="Arial Black" pitchFamily="34" charset="-120"/>
              </a:rPr>
              <a:t>One fixable cause.</a:t>
            </a:r>
            <a:endParaRPr lang="en-US" sz="2500" dirty="0"/>
          </a:p>
        </p:txBody>
      </p:sp>
      <p:sp>
        <p:nvSpPr>
          <p:cNvPr id="4" name="Text 2"/>
          <p:cNvSpPr/>
          <p:nvPr/>
        </p:nvSpPr>
        <p:spPr>
          <a:xfrm>
            <a:off x="512064" y="1481328"/>
            <a:ext cx="7795077" cy="42062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Saji has bought more media every year and collected fewer contest entries every year. The 2027 brief asks for more entries again, while raising the price of entry from RM25 to RM175. This is what we would do about it.</a:t>
            </a:r>
            <a:endParaRPr lang="en-US" sz="1100" dirty="0"/>
          </a:p>
        </p:txBody>
      </p:sp>
      <p:sp>
        <p:nvSpPr>
          <p:cNvPr id="5" name="Shape 3"/>
          <p:cNvSpPr/>
          <p:nvPr/>
        </p:nvSpPr>
        <p:spPr>
          <a:xfrm>
            <a:off x="512064" y="1975104"/>
            <a:ext cx="1892808" cy="2340864"/>
          </a:xfrm>
          <a:prstGeom prst="rect">
            <a:avLst/>
          </a:prstGeom>
          <a:solidFill>
            <a:srgbClr val="E9F3DD"/>
          </a:solidFill>
          <a:ln/>
        </p:spPr>
      </p:sp>
      <p:sp>
        <p:nvSpPr>
          <p:cNvPr id="6" name="Shape 4"/>
          <p:cNvSpPr/>
          <p:nvPr/>
        </p:nvSpPr>
        <p:spPr>
          <a:xfrm>
            <a:off x="512064" y="1975104"/>
            <a:ext cx="1892808" cy="54864"/>
          </a:xfrm>
          <a:prstGeom prst="rect">
            <a:avLst/>
          </a:prstGeom>
          <a:solidFill>
            <a:srgbClr val="C5192B"/>
          </a:solidFill>
          <a:ln/>
        </p:spPr>
      </p:sp>
      <p:sp>
        <p:nvSpPr>
          <p:cNvPr id="7" name="Text 5"/>
          <p:cNvSpPr/>
          <p:nvPr/>
        </p:nvSpPr>
        <p:spPr>
          <a:xfrm>
            <a:off x="676656" y="2157984"/>
            <a:ext cx="1563624"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PROBLEM</a:t>
            </a:r>
            <a:endParaRPr lang="en-US" sz="800" dirty="0"/>
          </a:p>
        </p:txBody>
      </p:sp>
      <p:sp>
        <p:nvSpPr>
          <p:cNvPr id="9" name="Text 7"/>
          <p:cNvSpPr/>
          <p:nvPr/>
        </p:nvSpPr>
        <p:spPr>
          <a:xfrm>
            <a:off x="676656"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Views up, entries down</a:t>
            </a:r>
            <a:endParaRPr lang="en-US" sz="1200" dirty="0"/>
          </a:p>
        </p:txBody>
      </p:sp>
      <p:sp>
        <p:nvSpPr>
          <p:cNvPr id="10" name="Text 8"/>
          <p:cNvSpPr/>
          <p:nvPr/>
        </p:nvSpPr>
        <p:spPr>
          <a:xfrm>
            <a:off x="676656"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2026 delivered 38.82M views, 3.5 times 2025, and the lowest entry count on record at 3,765. Media was bought against impressions, and impressions is what it returned.</a:t>
            </a:r>
            <a:endParaRPr lang="en-US" sz="900" dirty="0"/>
          </a:p>
        </p:txBody>
      </p:sp>
      <p:sp>
        <p:nvSpPr>
          <p:cNvPr id="11" name="Shape 9"/>
          <p:cNvSpPr/>
          <p:nvPr/>
        </p:nvSpPr>
        <p:spPr>
          <a:xfrm>
            <a:off x="2587752" y="1975104"/>
            <a:ext cx="1892808" cy="2340864"/>
          </a:xfrm>
          <a:prstGeom prst="rect">
            <a:avLst/>
          </a:prstGeom>
          <a:solidFill>
            <a:srgbClr val="E9F3DD"/>
          </a:solidFill>
          <a:ln/>
        </p:spPr>
      </p:sp>
      <p:sp>
        <p:nvSpPr>
          <p:cNvPr id="12" name="Shape 10"/>
          <p:cNvSpPr/>
          <p:nvPr/>
        </p:nvSpPr>
        <p:spPr>
          <a:xfrm>
            <a:off x="2587752" y="1975104"/>
            <a:ext cx="1892808" cy="54864"/>
          </a:xfrm>
          <a:prstGeom prst="rect">
            <a:avLst/>
          </a:prstGeom>
          <a:solidFill>
            <a:srgbClr val="006838"/>
          </a:solidFill>
          <a:ln/>
        </p:spPr>
      </p:sp>
      <p:sp>
        <p:nvSpPr>
          <p:cNvPr id="13" name="Text 11"/>
          <p:cNvSpPr/>
          <p:nvPr/>
        </p:nvSpPr>
        <p:spPr>
          <a:xfrm>
            <a:off x="2752344" y="2157984"/>
            <a:ext cx="1563624"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2752344"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MECHANIC</a:t>
            </a:r>
            <a:endParaRPr lang="en-US" sz="800" dirty="0"/>
          </a:p>
        </p:txBody>
      </p:sp>
      <p:sp>
        <p:nvSpPr>
          <p:cNvPr id="15" name="Text 13"/>
          <p:cNvSpPr/>
          <p:nvPr/>
        </p:nvSpPr>
        <p:spPr>
          <a:xfrm>
            <a:off x="2752344"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RM175 is the real risk</a:t>
            </a:r>
            <a:endParaRPr lang="en-US" sz="1200" dirty="0"/>
          </a:p>
        </p:txBody>
      </p:sp>
      <p:sp>
        <p:nvSpPr>
          <p:cNvPr id="16" name="Text 14"/>
          <p:cNvSpPr/>
          <p:nvPr/>
        </p:nvSpPr>
        <p:spPr>
          <a:xfrm>
            <a:off x="2752344"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We recommend one purchase qualifies, and both brands earn five entries plus the only route to the grand prize. Nobody is locked out, and the cross purchase keeps its pull.</a:t>
            </a:r>
            <a:endParaRPr lang="en-US" sz="900" dirty="0"/>
          </a:p>
        </p:txBody>
      </p:sp>
      <p:sp>
        <p:nvSpPr>
          <p:cNvPr id="17" name="Shape 15"/>
          <p:cNvSpPr/>
          <p:nvPr/>
        </p:nvSpPr>
        <p:spPr>
          <a:xfrm>
            <a:off x="4663440" y="1975104"/>
            <a:ext cx="1892808" cy="2340864"/>
          </a:xfrm>
          <a:prstGeom prst="rect">
            <a:avLst/>
          </a:prstGeom>
          <a:solidFill>
            <a:srgbClr val="E9F3DD"/>
          </a:solidFill>
          <a:ln/>
        </p:spPr>
      </p:sp>
      <p:sp>
        <p:nvSpPr>
          <p:cNvPr id="18" name="Shape 16"/>
          <p:cNvSpPr/>
          <p:nvPr/>
        </p:nvSpPr>
        <p:spPr>
          <a:xfrm>
            <a:off x="4663440" y="1975104"/>
            <a:ext cx="1892808" cy="54864"/>
          </a:xfrm>
          <a:prstGeom prst="rect">
            <a:avLst/>
          </a:prstGeom>
          <a:solidFill>
            <a:srgbClr val="E8912C"/>
          </a:solidFill>
          <a:ln/>
        </p:spPr>
      </p:sp>
      <p:sp>
        <p:nvSpPr>
          <p:cNvPr id="19" name="Text 17"/>
          <p:cNvSpPr/>
          <p:nvPr/>
        </p:nvSpPr>
        <p:spPr>
          <a:xfrm>
            <a:off x="4828032" y="2157984"/>
            <a:ext cx="1563624"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4828032"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STRUCTURE</a:t>
            </a:r>
            <a:endParaRPr lang="en-US" sz="800" dirty="0"/>
          </a:p>
        </p:txBody>
      </p:sp>
      <p:sp>
        <p:nvSpPr>
          <p:cNvPr id="21" name="Text 19"/>
          <p:cNvSpPr/>
          <p:nvPr/>
        </p:nvSpPr>
        <p:spPr>
          <a:xfrm>
            <a:off x="4828032"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Two engines, funded apart</a:t>
            </a:r>
            <a:endParaRPr lang="en-US" sz="1200" dirty="0"/>
          </a:p>
        </p:txBody>
      </p:sp>
      <p:sp>
        <p:nvSpPr>
          <p:cNvPr id="22" name="Text 20"/>
          <p:cNvSpPr/>
          <p:nvPr/>
        </p:nvSpPr>
        <p:spPr>
          <a:xfrm>
            <a:off x="4828032"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A contest conversion engine on a landing page with a pixel, and a brand video engine on TikTok, Meta and YouTube. Different budgets, measured separately.</a:t>
            </a:r>
            <a:endParaRPr lang="en-US" sz="900" dirty="0"/>
          </a:p>
        </p:txBody>
      </p:sp>
      <p:sp>
        <p:nvSpPr>
          <p:cNvPr id="23" name="Shape 21"/>
          <p:cNvSpPr/>
          <p:nvPr/>
        </p:nvSpPr>
        <p:spPr>
          <a:xfrm>
            <a:off x="6739128" y="1975104"/>
            <a:ext cx="1892808" cy="2340864"/>
          </a:xfrm>
          <a:prstGeom prst="rect">
            <a:avLst/>
          </a:prstGeom>
          <a:solidFill>
            <a:srgbClr val="E9F3DD"/>
          </a:solidFill>
          <a:ln/>
        </p:spPr>
      </p:sp>
      <p:sp>
        <p:nvSpPr>
          <p:cNvPr id="24" name="Shape 22"/>
          <p:cNvSpPr/>
          <p:nvPr/>
        </p:nvSpPr>
        <p:spPr>
          <a:xfrm>
            <a:off x="6739128" y="1975104"/>
            <a:ext cx="1892808" cy="54864"/>
          </a:xfrm>
          <a:prstGeom prst="rect">
            <a:avLst/>
          </a:prstGeom>
          <a:solidFill>
            <a:srgbClr val="052B18"/>
          </a:solidFill>
          <a:ln/>
        </p:spPr>
      </p:sp>
      <p:sp>
        <p:nvSpPr>
          <p:cNvPr id="25" name="Text 23"/>
          <p:cNvSpPr/>
          <p:nvPr/>
        </p:nvSpPr>
        <p:spPr>
          <a:xfrm>
            <a:off x="6903720" y="2157984"/>
            <a:ext cx="1563624" cy="219456"/>
          </a:xfrm>
          <a:prstGeom prst="rect">
            <a:avLst/>
          </a:prstGeom>
          <a:noFill/>
          <a:ln/>
        </p:spPr>
        <p:txBody>
          <a:bodyPr wrap="none" lIns="0" tIns="0" rIns="0" bIns="0" rtlCol="0" anchor="t"/>
          <a:lstStyle/>
          <a:p>
            <a:pPr indent="0" marL="0">
              <a:buNone/>
            </a:pPr>
            <a:r>
              <a:rPr lang="en-US" sz="1100" b="1" dirty="0">
                <a:solidFill>
                  <a:srgbClr val="052B18"/>
                </a:solidFill>
                <a:latin typeface="Arial" pitchFamily="34" charset="0"/>
                <a:ea typeface="Arial" pitchFamily="34" charset="-122"/>
                <a:cs typeface="Arial" pitchFamily="34" charset="-120"/>
              </a:rPr>
              <a:t>04</a:t>
            </a:r>
            <a:endParaRPr lang="en-US" sz="1100" dirty="0"/>
          </a:p>
        </p:txBody>
      </p:sp>
      <p:sp>
        <p:nvSpPr>
          <p:cNvPr id="26" name="Text 24"/>
          <p:cNvSpPr/>
          <p:nvPr/>
        </p:nvSpPr>
        <p:spPr>
          <a:xfrm>
            <a:off x="6903720"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BUDGET</a:t>
            </a:r>
            <a:endParaRPr lang="en-US" sz="800" dirty="0"/>
          </a:p>
        </p:txBody>
      </p:sp>
      <p:sp>
        <p:nvSpPr>
          <p:cNvPr id="27" name="Text 25"/>
          <p:cNvSpPr/>
          <p:nvPr/>
        </p:nvSpPr>
        <p:spPr>
          <a:xfrm>
            <a:off x="6903720"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RM90,000 or RM135,000</a:t>
            </a:r>
            <a:endParaRPr lang="en-US" sz="1200" dirty="0"/>
          </a:p>
        </p:txBody>
      </p:sp>
      <p:sp>
        <p:nvSpPr>
          <p:cNvPr id="28" name="Text 26"/>
          <p:cNvSpPr/>
          <p:nvPr/>
        </p:nvSpPr>
        <p:spPr>
          <a:xfrm>
            <a:off x="6903720"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RM90,000 hits the entry target only if the mechanic changes, and misses reach by 23%. RM135,000 clears both with room. Neither counts non paid contribution.</a:t>
            </a:r>
            <a:endParaRPr lang="en-US" sz="900" dirty="0"/>
          </a:p>
        </p:txBody>
      </p:sp>
      <p:sp>
        <p:nvSpPr>
          <p:cNvPr id="29" name="Shape 27"/>
          <p:cNvSpPr/>
          <p:nvPr/>
        </p:nvSpPr>
        <p:spPr>
          <a:xfrm>
            <a:off x="438912" y="4443984"/>
            <a:ext cx="8266176" cy="402336"/>
          </a:xfrm>
          <a:prstGeom prst="rect">
            <a:avLst/>
          </a:prstGeom>
          <a:solidFill>
            <a:srgbClr val="052B18"/>
          </a:solidFill>
          <a:ln/>
        </p:spPr>
      </p:sp>
      <p:sp>
        <p:nvSpPr>
          <p:cNvPr id="30" name="Text 2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ask: </a:t>
            </a:r>
            <a:pPr indent="0" marL="0">
              <a:buNone/>
            </a:pPr>
            <a:r>
              <a:rPr lang="en-US" sz="950" b="1" dirty="0">
                <a:solidFill>
                  <a:srgbClr val="FFFFFF"/>
                </a:solidFill>
                <a:latin typeface="Arial" pitchFamily="34" charset="0"/>
                <a:ea typeface="Arial" pitchFamily="34" charset="-122"/>
                <a:cs typeface="Arial" pitchFamily="34" charset="-120"/>
              </a:rPr>
              <a:t>a landing page instead of a QR code in the ad. Without it no platform can optimize toward an entry, which is exactly why 2026 bought views and not entries.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More reach every year.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Fewer entries every year.</a:t>
            </a:r>
            <a:endParaRPr lang="en-US" sz="24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last column is the one that matters. It is how many contest entries each million people reached actually produced, and it has fallen by 90% since 2022.</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12064" y="1938528"/>
          <a:ext cx="8119872" cy="914400"/>
        </p:xfrm>
        <a:graphic>
          <a:graphicData uri="http://schemas.openxmlformats.org/drawingml/2006/table">
            <a:tbl>
              <a:tblPr/>
              <a:tblGrid>
                <a:gridCol w="658368"/>
                <a:gridCol w="1280160"/>
                <a:gridCol w="1060704"/>
                <a:gridCol w="1060704"/>
                <a:gridCol w="1316736"/>
                <a:gridCol w="1005840"/>
                <a:gridCol w="1737360"/>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IMPRESSIONS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VIEWS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REACH</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ENGAGEMENT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ENTRIES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ENTRIES PER 1M REACHED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2022</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15.06M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3.40M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4.46M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0.94M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11,834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2,653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40.03M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13.81M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15.61M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17.35M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8,464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542</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50.40M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10.43M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15.66M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6.85M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7,576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484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51.60M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11.21M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20.12M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1.88M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4,179</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208</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51.00M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38.82M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13.80M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0.04M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3,765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C5192B"/>
                          </a:solidFill>
                          <a:latin typeface="Arial" pitchFamily="34" charset="0"/>
                          <a:ea typeface="Arial" pitchFamily="34" charset="-122"/>
                          <a:cs typeface="Arial" pitchFamily="34" charset="-120"/>
                        </a:rPr>
                        <a:t>273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bl>
          </a:graphicData>
        </a:graphic>
      </p:graphicFrame>
      <p:sp>
        <p:nvSpPr>
          <p:cNvPr id="6" name="Text 3"/>
          <p:cNvSpPr/>
          <p:nvPr/>
        </p:nvSpPr>
        <p:spPr>
          <a:xfrm>
            <a:off x="512064" y="3913632"/>
            <a:ext cx="8119872" cy="457200"/>
          </a:xfrm>
          <a:prstGeom prst="rect">
            <a:avLst/>
          </a:prstGeom>
          <a:noFill/>
          <a:ln/>
        </p:spPr>
        <p:txBody>
          <a:bodyPr wrap="square" lIns="0" tIns="0" rIns="0" bIns="0" rtlCol="0" anchor="t"/>
          <a:lstStyle/>
          <a:p>
            <a:pPr indent="0" marL="0">
              <a:lnSpc>
                <a:spcPts val="1400"/>
              </a:lnSpc>
              <a:buNone/>
            </a:pPr>
            <a:r>
              <a:rPr lang="en-US" sz="1000" b="1" dirty="0">
                <a:solidFill>
                  <a:srgbClr val="006838"/>
                </a:solidFill>
                <a:latin typeface="Arial" pitchFamily="34" charset="0"/>
                <a:ea typeface="Arial" pitchFamily="34" charset="-122"/>
                <a:cs typeface="Arial" pitchFamily="34" charset="-120"/>
              </a:rPr>
              <a:t>Hold 2026’s rate of 273 and it takes 14.7 million reached to land 4,000 entries. The brief asks for 15 million reach, so the brief is internally consistent, but only while entry friction stays where it was.</a:t>
            </a:r>
            <a:endParaRPr lang="en-US" sz="100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Source: </a:t>
            </a:r>
            <a:pPr indent="0" marL="0">
              <a:buNone/>
            </a:pPr>
            <a:r>
              <a:rPr lang="en-US" sz="950" b="1" dirty="0">
                <a:solidFill>
                  <a:srgbClr val="FFFFFF"/>
                </a:solidFill>
                <a:latin typeface="Arial" pitchFamily="34" charset="0"/>
                <a:ea typeface="Arial" pitchFamily="34" charset="-122"/>
                <a:cs typeface="Arial" pitchFamily="34" charset="-120"/>
              </a:rPr>
              <a:t>RARA 2025 deck (per platform actuals and the weekly entry table) and RARA 2026 deck (the 2022 to 2026 performance series).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EC"/>
        </a:solidFill>
      </p:bgPr>
    </p:bg>
    <p:spTree>
      <p:nvGrpSpPr>
        <p:cNvPr id="1" name=""/>
        <p:cNvGrpSpPr/>
        <p:nvPr/>
      </p:nvGrpSpPr>
      <p:grpSpPr>
        <a:xfrm>
          <a:off x="0" y="0"/>
          <a:ext cx="0" cy="0"/>
          <a:chOff x="0" y="0"/>
          <a:chExt cx="0" cy="0"/>
        </a:xfrm>
      </p:grpSpPr>
      <p:sp>
        <p:nvSpPr>
          <p:cNvPr id="2" name="Text 0"/>
          <p:cNvSpPr/>
          <p:nvPr/>
        </p:nvSpPr>
        <p:spPr>
          <a:xfrm>
            <a:off x="512064" y="1325880"/>
            <a:ext cx="8119872" cy="411480"/>
          </a:xfrm>
          <a:prstGeom prst="rect">
            <a:avLst/>
          </a:prstGeom>
          <a:noFill/>
          <a:ln/>
        </p:spPr>
        <p:txBody>
          <a:bodyPr wrap="square" lIns="0" tIns="0" rIns="0" bIns="0" rtlCol="0" anchor="t"/>
          <a:lstStyle/>
          <a:p>
            <a:pPr indent="0" marL="0">
              <a:buNone/>
            </a:pPr>
            <a:r>
              <a:rPr lang="en-US" sz="2200" dirty="0">
                <a:solidFill>
                  <a:srgbClr val="006838"/>
                </a:solidFill>
                <a:latin typeface="Century Gothic" pitchFamily="34" charset="0"/>
                <a:ea typeface="Century Gothic" pitchFamily="34" charset="-122"/>
                <a:cs typeface="Century Gothic" pitchFamily="34" charset="-120"/>
              </a:rPr>
              <a:t>The tension in the 2027 brief</a:t>
            </a:r>
            <a:endParaRPr lang="en-US" sz="2200" dirty="0"/>
          </a:p>
        </p:txBody>
      </p:sp>
      <p:sp>
        <p:nvSpPr>
          <p:cNvPr id="3" name="Text 1"/>
          <p:cNvSpPr/>
          <p:nvPr/>
        </p:nvSpPr>
        <p:spPr>
          <a:xfrm>
            <a:off x="512064" y="1874520"/>
            <a:ext cx="7470282" cy="2286000"/>
          </a:xfrm>
          <a:prstGeom prst="rect">
            <a:avLst/>
          </a:prstGeom>
          <a:noFill/>
          <a:ln/>
        </p:spPr>
        <p:txBody>
          <a:bodyPr wrap="square" lIns="0" tIns="0" rIns="0" bIns="0" rtlCol="0" anchor="t"/>
          <a:lstStyle/>
          <a:p>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The brief asks for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6% more entries than 2026</a:t>
            </a:r>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 while raising the price of entry from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RM25 in one receipt</a:t>
            </a:r>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 to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RM175 across two brands, two shops and two trips.</a:t>
            </a:r>
            <a:pPr indent="0" marL="0">
              <a:lnSpc>
                <a:spcPts val="3200"/>
              </a:lnSpc>
              <a:buNone/>
            </a:pPr>
            <a:endParaRPr lang="en-US" sz="2200" dirty="0"/>
          </a:p>
          <a:p>
            <a:pPr indent="0" marL="0">
              <a:lnSpc>
                <a:spcPts val="3200"/>
              </a:lnSpc>
              <a:buNone/>
            </a:pPr>
            <a:endParaRPr lang="en-US" sz="2200" dirty="0"/>
          </a:p>
          <a:p>
            <a:pPr indent="0" marL="0">
              <a:lnSpc>
                <a:spcPts val="3200"/>
              </a:lnSpc>
              <a:buNone/>
            </a:pPr>
            <a:r>
              <a:rPr lang="en-US" sz="2200" dirty="0">
                <a:solidFill>
                  <a:srgbClr val="006838"/>
                </a:solidFill>
                <a:latin typeface="Century Gothic" pitchFamily="34" charset="0"/>
                <a:ea typeface="Century Gothic" pitchFamily="34" charset="-122"/>
                <a:cs typeface="Century Gothic" pitchFamily="34" charset="-120"/>
              </a:rPr>
              <a:t>No media budget fixes that on its own.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A view is not an entry.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Stop funding them together.</a:t>
            </a:r>
            <a:endParaRPr lang="en-US" sz="2400" dirty="0"/>
          </a:p>
        </p:txBody>
      </p:sp>
      <p:sp>
        <p:nvSpPr>
          <p:cNvPr id="4" name="Text 2"/>
          <p:cNvSpPr/>
          <p:nvPr/>
        </p:nvSpPr>
        <p:spPr>
          <a:xfrm>
            <a:off x="512064" y="1298448"/>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brief carries two objectives that compete for the same budget. Split them into two engines with their own money, their own creative and their own measurement, and neither can quietly eat the other.</a:t>
            </a:r>
            <a:endParaRPr lang="en-US" sz="1100" dirty="0"/>
          </a:p>
        </p:txBody>
      </p:sp>
      <p:sp>
        <p:nvSpPr>
          <p:cNvPr id="5" name="Shape 3"/>
          <p:cNvSpPr/>
          <p:nvPr/>
        </p:nvSpPr>
        <p:spPr>
          <a:xfrm>
            <a:off x="512064" y="1737360"/>
            <a:ext cx="3675888" cy="2633472"/>
          </a:xfrm>
          <a:prstGeom prst="rect">
            <a:avLst/>
          </a:prstGeom>
          <a:solidFill>
            <a:srgbClr val="C5192B"/>
          </a:solidFill>
          <a:ln/>
        </p:spPr>
      </p:sp>
      <p:sp>
        <p:nvSpPr>
          <p:cNvPr id="6" name="Text 4"/>
          <p:cNvSpPr/>
          <p:nvPr/>
        </p:nvSpPr>
        <p:spPr>
          <a:xfrm>
            <a:off x="768096" y="1920240"/>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01</a:t>
            </a:r>
            <a:endParaRPr lang="en-US" sz="1400" dirty="0"/>
          </a:p>
        </p:txBody>
      </p:sp>
      <p:sp>
        <p:nvSpPr>
          <p:cNvPr id="7" name="Text 5"/>
          <p:cNvSpPr/>
          <p:nvPr/>
        </p:nvSpPr>
        <p:spPr>
          <a:xfrm>
            <a:off x="768096" y="2267712"/>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Contest conversion engine</a:t>
            </a:r>
            <a:endParaRPr lang="en-US" sz="1350" dirty="0"/>
          </a:p>
        </p:txBody>
      </p:sp>
      <p:sp>
        <p:nvSpPr>
          <p:cNvPr id="8" name="Text 6"/>
          <p:cNvSpPr/>
          <p:nvPr/>
        </p:nvSpPr>
        <p:spPr>
          <a:xfrm>
            <a:off x="768096" y="2706624"/>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OBJECTIVE</a:t>
            </a:r>
            <a:endParaRPr lang="en-US" sz="750" dirty="0"/>
          </a:p>
        </p:txBody>
      </p:sp>
      <p:sp>
        <p:nvSpPr>
          <p:cNvPr id="9" name="Text 7"/>
          <p:cNvSpPr/>
          <p:nvPr/>
        </p:nvSpPr>
        <p:spPr>
          <a:xfrm>
            <a:off x="768096" y="2880360"/>
            <a:ext cx="3163824" cy="34747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Conversions, optimized to a completed entry on the landing page.</a:t>
            </a:r>
            <a:endParaRPr lang="en-US" sz="950" dirty="0"/>
          </a:p>
        </p:txBody>
      </p:sp>
      <p:sp>
        <p:nvSpPr>
          <p:cNvPr id="10" name="Text 8"/>
          <p:cNvSpPr/>
          <p:nvPr/>
        </p:nvSpPr>
        <p:spPr>
          <a:xfrm>
            <a:off x="768096" y="328269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PLATFORMS</a:t>
            </a:r>
            <a:endParaRPr lang="en-US" sz="750" dirty="0"/>
          </a:p>
        </p:txBody>
      </p:sp>
      <p:sp>
        <p:nvSpPr>
          <p:cNvPr id="11" name="Text 9"/>
          <p:cNvSpPr/>
          <p:nvPr/>
        </p:nvSpPr>
        <p:spPr>
          <a:xfrm>
            <a:off x="768096" y="345643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Meta and TikTok only.</a:t>
            </a:r>
            <a:endParaRPr lang="en-US" sz="950" dirty="0"/>
          </a:p>
        </p:txBody>
      </p:sp>
      <p:sp>
        <p:nvSpPr>
          <p:cNvPr id="12" name="Text 10"/>
          <p:cNvSpPr/>
          <p:nvPr/>
        </p:nvSpPr>
        <p:spPr>
          <a:xfrm>
            <a:off x="768096" y="369417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MEASURED ON</a:t>
            </a:r>
            <a:endParaRPr lang="en-US" sz="750" dirty="0"/>
          </a:p>
        </p:txBody>
      </p:sp>
      <p:sp>
        <p:nvSpPr>
          <p:cNvPr id="13" name="Text 11"/>
          <p:cNvSpPr/>
          <p:nvPr/>
        </p:nvSpPr>
        <p:spPr>
          <a:xfrm>
            <a:off x="768096" y="386791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Entries and cost per entry, reported daily.</a:t>
            </a:r>
            <a:endParaRPr lang="en-US" sz="950" dirty="0"/>
          </a:p>
        </p:txBody>
      </p:sp>
      <p:sp>
        <p:nvSpPr>
          <p:cNvPr id="14" name="Shape 12"/>
          <p:cNvSpPr/>
          <p:nvPr/>
        </p:nvSpPr>
        <p:spPr>
          <a:xfrm>
            <a:off x="4956048" y="1737360"/>
            <a:ext cx="3675888" cy="2633472"/>
          </a:xfrm>
          <a:prstGeom prst="rect">
            <a:avLst/>
          </a:prstGeom>
          <a:solidFill>
            <a:srgbClr val="006838"/>
          </a:solidFill>
          <a:ln/>
        </p:spPr>
      </p:sp>
      <p:sp>
        <p:nvSpPr>
          <p:cNvPr id="15" name="Text 13"/>
          <p:cNvSpPr/>
          <p:nvPr/>
        </p:nvSpPr>
        <p:spPr>
          <a:xfrm>
            <a:off x="5212080" y="1920240"/>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02</a:t>
            </a:r>
            <a:endParaRPr lang="en-US" sz="1400" dirty="0"/>
          </a:p>
        </p:txBody>
      </p:sp>
      <p:sp>
        <p:nvSpPr>
          <p:cNvPr id="16" name="Text 14"/>
          <p:cNvSpPr/>
          <p:nvPr/>
        </p:nvSpPr>
        <p:spPr>
          <a:xfrm>
            <a:off x="5212080" y="2267712"/>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Brand video engine</a:t>
            </a:r>
            <a:endParaRPr lang="en-US" sz="1350" dirty="0"/>
          </a:p>
        </p:txBody>
      </p:sp>
      <p:sp>
        <p:nvSpPr>
          <p:cNvPr id="17" name="Text 15"/>
          <p:cNvSpPr/>
          <p:nvPr/>
        </p:nvSpPr>
        <p:spPr>
          <a:xfrm>
            <a:off x="5212080" y="2706624"/>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OBJECTIVE</a:t>
            </a:r>
            <a:endParaRPr lang="en-US" sz="750" dirty="0"/>
          </a:p>
        </p:txBody>
      </p:sp>
      <p:sp>
        <p:nvSpPr>
          <p:cNvPr id="18" name="Text 16"/>
          <p:cNvSpPr/>
          <p:nvPr/>
        </p:nvSpPr>
        <p:spPr>
          <a:xfrm>
            <a:off x="5212080" y="2880360"/>
            <a:ext cx="3163824" cy="34747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Video views and reach on the Raya brand film.</a:t>
            </a:r>
            <a:endParaRPr lang="en-US" sz="950" dirty="0"/>
          </a:p>
        </p:txBody>
      </p:sp>
      <p:sp>
        <p:nvSpPr>
          <p:cNvPr id="19" name="Text 17"/>
          <p:cNvSpPr/>
          <p:nvPr/>
        </p:nvSpPr>
        <p:spPr>
          <a:xfrm>
            <a:off x="5212080" y="328269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PLATFORMS</a:t>
            </a:r>
            <a:endParaRPr lang="en-US" sz="750" dirty="0"/>
          </a:p>
        </p:txBody>
      </p:sp>
      <p:sp>
        <p:nvSpPr>
          <p:cNvPr id="20" name="Text 18"/>
          <p:cNvSpPr/>
          <p:nvPr/>
        </p:nvSpPr>
        <p:spPr>
          <a:xfrm>
            <a:off x="5212080" y="345643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TikTok, Meta and YouTube.</a:t>
            </a:r>
            <a:endParaRPr lang="en-US" sz="950" dirty="0"/>
          </a:p>
        </p:txBody>
      </p:sp>
      <p:sp>
        <p:nvSpPr>
          <p:cNvPr id="21" name="Text 19"/>
          <p:cNvSpPr/>
          <p:nvPr/>
        </p:nvSpPr>
        <p:spPr>
          <a:xfrm>
            <a:off x="5212080" y="369417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MEASURED ON</a:t>
            </a:r>
            <a:endParaRPr lang="en-US" sz="750" dirty="0"/>
          </a:p>
        </p:txBody>
      </p:sp>
      <p:sp>
        <p:nvSpPr>
          <p:cNvPr id="22" name="Text 20"/>
          <p:cNvSpPr/>
          <p:nvPr/>
        </p:nvSpPr>
        <p:spPr>
          <a:xfrm>
            <a:off x="5212080" y="386791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Views, reach, engagement rate and recall.</a:t>
            </a:r>
            <a:endParaRPr lang="en-US" sz="950" dirty="0"/>
          </a:p>
        </p:txBody>
      </p:sp>
      <p:sp>
        <p:nvSpPr>
          <p:cNvPr id="23" name="Text 21"/>
          <p:cNvSpPr/>
          <p:nvPr/>
        </p:nvSpPr>
        <p:spPr>
          <a:xfrm>
            <a:off x="4370832" y="2834640"/>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24" name="Shape 22"/>
          <p:cNvSpPr/>
          <p:nvPr/>
        </p:nvSpPr>
        <p:spPr>
          <a:xfrm>
            <a:off x="438912" y="4443984"/>
            <a:ext cx="8266176" cy="402336"/>
          </a:xfrm>
          <a:prstGeom prst="rect">
            <a:avLst/>
          </a:prstGeom>
          <a:solidFill>
            <a:srgbClr val="052B18"/>
          </a:solidFill>
          <a:ln/>
        </p:spPr>
      </p:sp>
      <p:sp>
        <p:nvSpPr>
          <p:cNvPr id="25" name="Text 2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it matters: </a:t>
            </a:r>
            <a:pPr indent="0" marL="0">
              <a:buNone/>
            </a:pPr>
            <a:r>
              <a:rPr lang="en-US" sz="950" b="1" dirty="0">
                <a:solidFill>
                  <a:srgbClr val="FFFFFF"/>
                </a:solidFill>
                <a:latin typeface="Arial" pitchFamily="34" charset="0"/>
                <a:ea typeface="Arial" pitchFamily="34" charset="-122"/>
                <a:cs typeface="Arial" pitchFamily="34" charset="-120"/>
              </a:rPr>
              <a:t>in 2026 one budget chased both, the cheap outcome won, and the campaign finished with record views and record low entries.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Three audiences.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Only one can enter unaided.</a:t>
            </a:r>
            <a:endParaRPr lang="en-US" sz="24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Built from the brief’s own targeting language, the Kak Ji rationale, and Bulan Bintang’s mid range price point and suburban skew.</a:t>
            </a:r>
            <a:endParaRPr lang="en-US" sz="1100" dirty="0"/>
          </a:p>
        </p:txBody>
      </p:sp>
      <p:sp>
        <p:nvSpPr>
          <p:cNvPr id="5" name="Shape 3"/>
          <p:cNvSpPr/>
          <p:nvPr/>
        </p:nvSpPr>
        <p:spPr>
          <a:xfrm>
            <a:off x="512064" y="1755648"/>
            <a:ext cx="2584704" cy="2633472"/>
          </a:xfrm>
          <a:prstGeom prst="rect">
            <a:avLst/>
          </a:prstGeom>
          <a:solidFill>
            <a:srgbClr val="E9F3DD"/>
          </a:solidFill>
          <a:ln/>
        </p:spPr>
      </p:sp>
      <p:sp>
        <p:nvSpPr>
          <p:cNvPr id="6" name="Shape 4"/>
          <p:cNvSpPr/>
          <p:nvPr/>
        </p:nvSpPr>
        <p:spPr>
          <a:xfrm>
            <a:off x="512064" y="1755648"/>
            <a:ext cx="2584704" cy="54864"/>
          </a:xfrm>
          <a:prstGeom prst="rect">
            <a:avLst/>
          </a:prstGeom>
          <a:solidFill>
            <a:srgbClr val="C5192B"/>
          </a:solidFill>
          <a:ln/>
        </p:spPr>
      </p:sp>
      <p:sp>
        <p:nvSpPr>
          <p:cNvPr id="7" name="Text 5"/>
          <p:cNvSpPr/>
          <p:nvPr/>
        </p:nvSpPr>
        <p:spPr>
          <a:xfrm>
            <a:off x="676656"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CONTEST ENGINE, CORE</a:t>
            </a:r>
            <a:endParaRPr lang="en-US" sz="800" dirty="0"/>
          </a:p>
        </p:txBody>
      </p:sp>
      <p:sp>
        <p:nvSpPr>
          <p:cNvPr id="8" name="Text 6"/>
          <p:cNvSpPr/>
          <p:nvPr/>
        </p:nvSpPr>
        <p:spPr>
          <a:xfrm>
            <a:off x="676656"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Raya Household CFO</a:t>
            </a:r>
            <a:endParaRPr lang="en-US" sz="1250" dirty="0"/>
          </a:p>
        </p:txBody>
      </p:sp>
      <p:sp>
        <p:nvSpPr>
          <p:cNvPr id="9" name="Text 7"/>
          <p:cNvSpPr/>
          <p:nvPr/>
        </p:nvSpPr>
        <p:spPr>
          <a:xfrm>
            <a:off x="676656"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10" name="Text 8"/>
          <p:cNvSpPr/>
          <p:nvPr/>
        </p:nvSpPr>
        <p:spPr>
          <a:xfrm>
            <a:off x="676656" y="2816352"/>
            <a:ext cx="2255520" cy="62179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woman, 30 to 45, married with school age children, suburban or small town outside KL and Selangor, household income RM3,000 to RM6,000.</a:t>
            </a:r>
            <a:endParaRPr lang="en-US" sz="850" dirty="0"/>
          </a:p>
        </p:txBody>
      </p:sp>
      <p:sp>
        <p:nvSpPr>
          <p:cNvPr id="11" name="Text 9"/>
          <p:cNvSpPr/>
          <p:nvPr/>
        </p:nvSpPr>
        <p:spPr>
          <a:xfrm>
            <a:off x="676656" y="3493008"/>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WHY SHE MATTERS</a:t>
            </a:r>
            <a:endParaRPr lang="en-US" sz="750" dirty="0"/>
          </a:p>
        </p:txBody>
      </p:sp>
      <p:sp>
        <p:nvSpPr>
          <p:cNvPr id="12" name="Text 10"/>
          <p:cNvSpPr/>
          <p:nvPr/>
        </p:nvSpPr>
        <p:spPr>
          <a:xfrm>
            <a:off x="676656" y="3666744"/>
            <a:ext cx="2255520" cy="539496"/>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does the Ramadan grocery run and buys the family’s baju raya, so she is the only one of the three who makes both qualifying purchases on her own.</a:t>
            </a:r>
            <a:endParaRPr lang="en-US" sz="850" dirty="0"/>
          </a:p>
        </p:txBody>
      </p:sp>
      <p:sp>
        <p:nvSpPr>
          <p:cNvPr id="13" name="Shape 11"/>
          <p:cNvSpPr/>
          <p:nvPr/>
        </p:nvSpPr>
        <p:spPr>
          <a:xfrm>
            <a:off x="3279648" y="1755648"/>
            <a:ext cx="2584704" cy="2633472"/>
          </a:xfrm>
          <a:prstGeom prst="rect">
            <a:avLst/>
          </a:prstGeom>
          <a:solidFill>
            <a:srgbClr val="E9F3DD"/>
          </a:solidFill>
          <a:ln/>
        </p:spPr>
      </p:sp>
      <p:sp>
        <p:nvSpPr>
          <p:cNvPr id="14" name="Shape 12"/>
          <p:cNvSpPr/>
          <p:nvPr/>
        </p:nvSpPr>
        <p:spPr>
          <a:xfrm>
            <a:off x="3279648" y="1755648"/>
            <a:ext cx="2584704" cy="54864"/>
          </a:xfrm>
          <a:prstGeom prst="rect">
            <a:avLst/>
          </a:prstGeom>
          <a:solidFill>
            <a:srgbClr val="006838"/>
          </a:solidFill>
          <a:ln/>
        </p:spPr>
      </p:sp>
      <p:sp>
        <p:nvSpPr>
          <p:cNvPr id="15" name="Text 13"/>
          <p:cNvSpPr/>
          <p:nvPr/>
        </p:nvSpPr>
        <p:spPr>
          <a:xfrm>
            <a:off x="3444240"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ENGAGEMENT AND SHARES</a:t>
            </a:r>
            <a:endParaRPr lang="en-US" sz="800" dirty="0"/>
          </a:p>
        </p:txBody>
      </p:sp>
      <p:sp>
        <p:nvSpPr>
          <p:cNvPr id="16" name="Text 14"/>
          <p:cNvSpPr/>
          <p:nvPr/>
        </p:nvSpPr>
        <p:spPr>
          <a:xfrm>
            <a:off x="3444240"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Young Raya Stylist</a:t>
            </a:r>
            <a:endParaRPr lang="en-US" sz="1250" dirty="0"/>
          </a:p>
        </p:txBody>
      </p:sp>
      <p:sp>
        <p:nvSpPr>
          <p:cNvPr id="17" name="Text 15"/>
          <p:cNvSpPr/>
          <p:nvPr/>
        </p:nvSpPr>
        <p:spPr>
          <a:xfrm>
            <a:off x="3444240"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18" name="Text 16"/>
          <p:cNvSpPr/>
          <p:nvPr/>
        </p:nvSpPr>
        <p:spPr>
          <a:xfrm>
            <a:off x="3444240" y="2816352"/>
            <a:ext cx="2255520" cy="56692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18 to 29, single or newly married, urban and suburban, lives on TikTok and Reels. Bulan Bintang’s core buyer at the RM289 price point.</a:t>
            </a:r>
            <a:endParaRPr lang="en-US" sz="850" dirty="0"/>
          </a:p>
        </p:txBody>
      </p:sp>
      <p:sp>
        <p:nvSpPr>
          <p:cNvPr id="19" name="Text 17"/>
          <p:cNvSpPr/>
          <p:nvPr/>
        </p:nvSpPr>
        <p:spPr>
          <a:xfrm>
            <a:off x="3444240" y="3438144"/>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WHY SHE MATTERS</a:t>
            </a:r>
            <a:endParaRPr lang="en-US" sz="750" dirty="0"/>
          </a:p>
        </p:txBody>
      </p:sp>
      <p:sp>
        <p:nvSpPr>
          <p:cNvPr id="20" name="Text 18"/>
          <p:cNvSpPr/>
          <p:nvPr/>
        </p:nvSpPr>
        <p:spPr>
          <a:xfrm>
            <a:off x="3444240" y="3611880"/>
            <a:ext cx="2255520" cy="594360"/>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carries the 3% engagement KPI and the share loop, but she rarely does the grocery shop, so the briefed mechanic shuts her out completely.</a:t>
            </a:r>
            <a:endParaRPr lang="en-US" sz="850" dirty="0"/>
          </a:p>
        </p:txBody>
      </p:sp>
      <p:sp>
        <p:nvSpPr>
          <p:cNvPr id="21" name="Shape 19"/>
          <p:cNvSpPr/>
          <p:nvPr/>
        </p:nvSpPr>
        <p:spPr>
          <a:xfrm>
            <a:off x="6047232" y="1755648"/>
            <a:ext cx="2584704" cy="2633472"/>
          </a:xfrm>
          <a:prstGeom prst="rect">
            <a:avLst/>
          </a:prstGeom>
          <a:solidFill>
            <a:srgbClr val="E9F3DD"/>
          </a:solidFill>
          <a:ln/>
        </p:spPr>
      </p:sp>
      <p:sp>
        <p:nvSpPr>
          <p:cNvPr id="22" name="Shape 20"/>
          <p:cNvSpPr/>
          <p:nvPr/>
        </p:nvSpPr>
        <p:spPr>
          <a:xfrm>
            <a:off x="6047232" y="1755648"/>
            <a:ext cx="2584704" cy="54864"/>
          </a:xfrm>
          <a:prstGeom prst="rect">
            <a:avLst/>
          </a:prstGeom>
          <a:solidFill>
            <a:srgbClr val="E8912C"/>
          </a:solidFill>
          <a:ln/>
        </p:spPr>
      </p:sp>
      <p:sp>
        <p:nvSpPr>
          <p:cNvPr id="23" name="Text 21"/>
          <p:cNvSpPr/>
          <p:nvPr/>
        </p:nvSpPr>
        <p:spPr>
          <a:xfrm>
            <a:off x="6211824"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HIGHEST VALUE ENTRANT</a:t>
            </a:r>
            <a:endParaRPr lang="en-US" sz="800" dirty="0"/>
          </a:p>
        </p:txBody>
      </p:sp>
      <p:sp>
        <p:nvSpPr>
          <p:cNvPr id="24" name="Text 22"/>
          <p:cNvSpPr/>
          <p:nvPr/>
        </p:nvSpPr>
        <p:spPr>
          <a:xfrm>
            <a:off x="6211824"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Balik Kampung Provider</a:t>
            </a:r>
            <a:endParaRPr lang="en-US" sz="1250" dirty="0"/>
          </a:p>
        </p:txBody>
      </p:sp>
      <p:sp>
        <p:nvSpPr>
          <p:cNvPr id="25" name="Text 23"/>
          <p:cNvSpPr/>
          <p:nvPr/>
        </p:nvSpPr>
        <p:spPr>
          <a:xfrm>
            <a:off x="6211824"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26" name="Text 24"/>
          <p:cNvSpPr/>
          <p:nvPr/>
        </p:nvSpPr>
        <p:spPr>
          <a:xfrm>
            <a:off x="6211824" y="2816352"/>
            <a:ext cx="2255520" cy="62179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man, 28 to 45, working in KL or Johor, drives home for Raya and buys for parents and children. YouTube and Facebook more than TikTok.</a:t>
            </a:r>
            <a:endParaRPr lang="en-US" sz="850" dirty="0"/>
          </a:p>
        </p:txBody>
      </p:sp>
      <p:sp>
        <p:nvSpPr>
          <p:cNvPr id="27" name="Text 25"/>
          <p:cNvSpPr/>
          <p:nvPr/>
        </p:nvSpPr>
        <p:spPr>
          <a:xfrm>
            <a:off x="6211824" y="3493008"/>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WHY HE MATTERS</a:t>
            </a:r>
            <a:endParaRPr lang="en-US" sz="750" dirty="0"/>
          </a:p>
        </p:txBody>
      </p:sp>
      <p:sp>
        <p:nvSpPr>
          <p:cNvPr id="28" name="Text 26"/>
          <p:cNvSpPr/>
          <p:nvPr/>
        </p:nvSpPr>
        <p:spPr>
          <a:xfrm>
            <a:off x="6211824" y="3666744"/>
            <a:ext cx="2255520" cy="539496"/>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He buys groceries and baju in one trip in the 10 days before Raya, which is the only moment the two brand purchase happens naturally.</a:t>
            </a:r>
            <a:endParaRPr lang="en-US" sz="850" dirty="0"/>
          </a:p>
        </p:txBody>
      </p:sp>
      <p:sp>
        <p:nvSpPr>
          <p:cNvPr id="29" name="Shape 27"/>
          <p:cNvSpPr/>
          <p:nvPr/>
        </p:nvSpPr>
        <p:spPr>
          <a:xfrm>
            <a:off x="438912" y="4443984"/>
            <a:ext cx="8266176" cy="402336"/>
          </a:xfrm>
          <a:prstGeom prst="rect">
            <a:avLst/>
          </a:prstGeom>
          <a:solidFill>
            <a:srgbClr val="052B18"/>
          </a:solidFill>
          <a:ln/>
        </p:spPr>
      </p:sp>
      <p:sp>
        <p:nvSpPr>
          <p:cNvPr id="30" name="Text 2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consequence: </a:t>
            </a:r>
            <a:pPr indent="0" marL="0">
              <a:buNone/>
            </a:pPr>
            <a:r>
              <a:rPr lang="en-US" sz="950" b="1" dirty="0">
                <a:solidFill>
                  <a:srgbClr val="FFFFFF"/>
                </a:solidFill>
                <a:latin typeface="Arial" pitchFamily="34" charset="0"/>
                <a:ea typeface="Arial" pitchFamily="34" charset="-122"/>
                <a:cs typeface="Arial" pitchFamily="34" charset="-120"/>
              </a:rPr>
              <a:t>the contest audience is narrower than the brand video audience, which is why the two engines need different targeting and separate budgets.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One idea,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three ways in.</a:t>
            </a:r>
            <a:endParaRPr lang="en-US" sz="24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All three sit under the client’s own Low-key Raya idea: less noise, more meaning. Saji is the companion, not the hero. Bahasa Malaysia first, and Kak Ji fronts the contest work.</a:t>
            </a:r>
            <a:endParaRPr lang="en-US" sz="1100" dirty="0"/>
          </a:p>
        </p:txBody>
      </p:sp>
      <p:sp>
        <p:nvSpPr>
          <p:cNvPr id="5" name="Shape 3"/>
          <p:cNvSpPr/>
          <p:nvPr/>
        </p:nvSpPr>
        <p:spPr>
          <a:xfrm>
            <a:off x="512064" y="1755648"/>
            <a:ext cx="2584704" cy="2633472"/>
          </a:xfrm>
          <a:prstGeom prst="rect">
            <a:avLst/>
          </a:prstGeom>
          <a:solidFill>
            <a:srgbClr val="E9F3DD"/>
          </a:solidFill>
          <a:ln/>
        </p:spPr>
      </p:sp>
      <p:sp>
        <p:nvSpPr>
          <p:cNvPr id="6" name="Shape 4"/>
          <p:cNvSpPr/>
          <p:nvPr/>
        </p:nvSpPr>
        <p:spPr>
          <a:xfrm>
            <a:off x="512064" y="1755648"/>
            <a:ext cx="2584704" cy="54864"/>
          </a:xfrm>
          <a:prstGeom prst="rect">
            <a:avLst/>
          </a:prstGeom>
          <a:solidFill>
            <a:srgbClr val="C5192B"/>
          </a:solidFill>
          <a:ln/>
        </p:spPr>
      </p:sp>
      <p:sp>
        <p:nvSpPr>
          <p:cNvPr id="7" name="Text 5"/>
          <p:cNvSpPr/>
          <p:nvPr/>
        </p:nvSpPr>
        <p:spPr>
          <a:xfrm>
            <a:off x="676656"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RAYA HOUSEHOLD CFO</a:t>
            </a:r>
            <a:endParaRPr lang="en-US" sz="800" dirty="0"/>
          </a:p>
        </p:txBody>
      </p:sp>
      <p:sp>
        <p:nvSpPr>
          <p:cNvPr id="8" name="Text 6"/>
          <p:cNvSpPr/>
          <p:nvPr/>
        </p:nvSpPr>
        <p:spPr>
          <a:xfrm>
            <a:off x="676656"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9" name="Text 7"/>
          <p:cNvSpPr/>
          <p:nvPr/>
        </p:nvSpPr>
        <p:spPr>
          <a:xfrm>
            <a:off x="676656"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absorbs the rising cost of Raya, and everyone eats without noticing who cooked.</a:t>
            </a:r>
            <a:endParaRPr lang="en-US" sz="850" dirty="0"/>
          </a:p>
        </p:txBody>
      </p:sp>
      <p:sp>
        <p:nvSpPr>
          <p:cNvPr id="10" name="Text 8"/>
          <p:cNvSpPr/>
          <p:nvPr/>
        </p:nvSpPr>
        <p:spPr>
          <a:xfrm>
            <a:off x="676656"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11" name="Text 9"/>
          <p:cNvSpPr/>
          <p:nvPr/>
        </p:nvSpPr>
        <p:spPr>
          <a:xfrm>
            <a:off x="676656"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"Barang Raya dah beli. Kali ni, biar Saji pula yang belanja."</a:t>
            </a:r>
            <a:endParaRPr lang="en-US" sz="850" dirty="0"/>
          </a:p>
        </p:txBody>
      </p:sp>
      <p:sp>
        <p:nvSpPr>
          <p:cNvPr id="12" name="Text 10"/>
          <p:cNvSpPr/>
          <p:nvPr/>
        </p:nvSpPr>
        <p:spPr>
          <a:xfrm>
            <a:off x="676656"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13" name="Text 11"/>
          <p:cNvSpPr/>
          <p:nvPr/>
        </p:nvSpPr>
        <p:spPr>
          <a:xfrm>
            <a:off x="676656"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RM500 duit raya and a year of Saji. She stops buying cooking oil in 2027.</a:t>
            </a:r>
            <a:endParaRPr lang="en-US" sz="850" dirty="0"/>
          </a:p>
        </p:txBody>
      </p:sp>
      <p:sp>
        <p:nvSpPr>
          <p:cNvPr id="14" name="Text 12"/>
          <p:cNvSpPr/>
          <p:nvPr/>
        </p:nvSpPr>
        <p:spPr>
          <a:xfrm>
            <a:off x="676656"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15" name="Text 13"/>
          <p:cNvSpPr/>
          <p:nvPr/>
        </p:nvSpPr>
        <p:spPr>
          <a:xfrm>
            <a:off x="676656"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Facebook and TikTok, 70% outside KL and Selangor. Kak Ji led, 9:16, 15 seconds.</a:t>
            </a:r>
            <a:endParaRPr lang="en-US" sz="850" dirty="0"/>
          </a:p>
        </p:txBody>
      </p:sp>
      <p:sp>
        <p:nvSpPr>
          <p:cNvPr id="16" name="Shape 14"/>
          <p:cNvSpPr/>
          <p:nvPr/>
        </p:nvSpPr>
        <p:spPr>
          <a:xfrm>
            <a:off x="3279648" y="1755648"/>
            <a:ext cx="2584704" cy="2633472"/>
          </a:xfrm>
          <a:prstGeom prst="rect">
            <a:avLst/>
          </a:prstGeom>
          <a:solidFill>
            <a:srgbClr val="E9F3DD"/>
          </a:solidFill>
          <a:ln/>
        </p:spPr>
      </p:sp>
      <p:sp>
        <p:nvSpPr>
          <p:cNvPr id="17" name="Shape 15"/>
          <p:cNvSpPr/>
          <p:nvPr/>
        </p:nvSpPr>
        <p:spPr>
          <a:xfrm>
            <a:off x="3279648" y="1755648"/>
            <a:ext cx="2584704" cy="54864"/>
          </a:xfrm>
          <a:prstGeom prst="rect">
            <a:avLst/>
          </a:prstGeom>
          <a:solidFill>
            <a:srgbClr val="006838"/>
          </a:solidFill>
          <a:ln/>
        </p:spPr>
      </p:sp>
      <p:sp>
        <p:nvSpPr>
          <p:cNvPr id="18" name="Text 16"/>
          <p:cNvSpPr/>
          <p:nvPr/>
        </p:nvSpPr>
        <p:spPr>
          <a:xfrm>
            <a:off x="3444240"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YOUNG RAYA STYLIST</a:t>
            </a:r>
            <a:endParaRPr lang="en-US" sz="800" dirty="0"/>
          </a:p>
        </p:txBody>
      </p:sp>
      <p:sp>
        <p:nvSpPr>
          <p:cNvPr id="19" name="Text 17"/>
          <p:cNvSpPr/>
          <p:nvPr/>
        </p:nvSpPr>
        <p:spPr>
          <a:xfrm>
            <a:off x="3444240"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20" name="Text 18"/>
          <p:cNvSpPr/>
          <p:nvPr/>
        </p:nvSpPr>
        <p:spPr>
          <a:xfrm>
            <a:off x="3444240"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wants Raya to look good without pretending it is more than it is.</a:t>
            </a:r>
            <a:endParaRPr lang="en-US" sz="850" dirty="0"/>
          </a:p>
        </p:txBody>
      </p:sp>
      <p:sp>
        <p:nvSpPr>
          <p:cNvPr id="21" name="Text 19"/>
          <p:cNvSpPr/>
          <p:nvPr/>
        </p:nvSpPr>
        <p:spPr>
          <a:xfrm>
            <a:off x="3444240"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22" name="Text 20"/>
          <p:cNvSpPr/>
          <p:nvPr/>
        </p:nvSpPr>
        <p:spPr>
          <a:xfrm>
            <a:off x="3444240"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"Satu resit je. Peluang dah ada."</a:t>
            </a:r>
            <a:endParaRPr lang="en-US" sz="850" dirty="0"/>
          </a:p>
        </p:txBody>
      </p:sp>
      <p:sp>
        <p:nvSpPr>
          <p:cNvPr id="23" name="Text 21"/>
          <p:cNvSpPr/>
          <p:nvPr/>
        </p:nvSpPr>
        <p:spPr>
          <a:xfrm>
            <a:off x="3444240"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24" name="Text 22"/>
          <p:cNvSpPr/>
          <p:nvPr/>
        </p:nvSpPr>
        <p:spPr>
          <a:xfrm>
            <a:off x="3444240"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One purchase qualifies, and the entry takes under a minute on her phone.</a:t>
            </a:r>
            <a:endParaRPr lang="en-US" sz="850" dirty="0"/>
          </a:p>
        </p:txBody>
      </p:sp>
      <p:sp>
        <p:nvSpPr>
          <p:cNvPr id="25" name="Text 23"/>
          <p:cNvSpPr/>
          <p:nvPr/>
        </p:nvSpPr>
        <p:spPr>
          <a:xfrm>
            <a:off x="3444240"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26" name="Text 24"/>
          <p:cNvSpPr/>
          <p:nvPr/>
        </p:nvSpPr>
        <p:spPr>
          <a:xfrm>
            <a:off x="3444240"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TikTok and Reels, Spark Ads on KOL content. Baju to table, limited edition tudung.</a:t>
            </a:r>
            <a:endParaRPr lang="en-US" sz="850" dirty="0"/>
          </a:p>
        </p:txBody>
      </p:sp>
      <p:sp>
        <p:nvSpPr>
          <p:cNvPr id="27" name="Shape 25"/>
          <p:cNvSpPr/>
          <p:nvPr/>
        </p:nvSpPr>
        <p:spPr>
          <a:xfrm>
            <a:off x="6047232" y="1755648"/>
            <a:ext cx="2584704" cy="2633472"/>
          </a:xfrm>
          <a:prstGeom prst="rect">
            <a:avLst/>
          </a:prstGeom>
          <a:solidFill>
            <a:srgbClr val="E9F3DD"/>
          </a:solidFill>
          <a:ln/>
        </p:spPr>
      </p:sp>
      <p:sp>
        <p:nvSpPr>
          <p:cNvPr id="28" name="Shape 26"/>
          <p:cNvSpPr/>
          <p:nvPr/>
        </p:nvSpPr>
        <p:spPr>
          <a:xfrm>
            <a:off x="6047232" y="1755648"/>
            <a:ext cx="2584704" cy="54864"/>
          </a:xfrm>
          <a:prstGeom prst="rect">
            <a:avLst/>
          </a:prstGeom>
          <a:solidFill>
            <a:srgbClr val="E8912C"/>
          </a:solidFill>
          <a:ln/>
        </p:spPr>
      </p:sp>
      <p:sp>
        <p:nvSpPr>
          <p:cNvPr id="29" name="Text 27"/>
          <p:cNvSpPr/>
          <p:nvPr/>
        </p:nvSpPr>
        <p:spPr>
          <a:xfrm>
            <a:off x="6211824"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BALIK KAMPUNG PROVIDER</a:t>
            </a:r>
            <a:endParaRPr lang="en-US" sz="800" dirty="0"/>
          </a:p>
        </p:txBody>
      </p:sp>
      <p:sp>
        <p:nvSpPr>
          <p:cNvPr id="30" name="Text 28"/>
          <p:cNvSpPr/>
          <p:nvPr/>
        </p:nvSpPr>
        <p:spPr>
          <a:xfrm>
            <a:off x="6211824"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31" name="Text 29"/>
          <p:cNvSpPr/>
          <p:nvPr/>
        </p:nvSpPr>
        <p:spPr>
          <a:xfrm>
            <a:off x="6211824"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He shows love by providing, and he wants the drive home to count.</a:t>
            </a:r>
            <a:endParaRPr lang="en-US" sz="850" dirty="0"/>
          </a:p>
        </p:txBody>
      </p:sp>
      <p:sp>
        <p:nvSpPr>
          <p:cNvPr id="32" name="Text 30"/>
          <p:cNvSpPr/>
          <p:nvPr/>
        </p:nvSpPr>
        <p:spPr>
          <a:xfrm>
            <a:off x="6211824"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33" name="Text 31"/>
          <p:cNvSpPr/>
          <p:nvPr/>
        </p:nvSpPr>
        <p:spPr>
          <a:xfrm>
            <a:off x="6211824"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"Bawa balik lebih daripada barang."</a:t>
            </a:r>
            <a:endParaRPr lang="en-US" sz="850" dirty="0"/>
          </a:p>
        </p:txBody>
      </p:sp>
      <p:sp>
        <p:nvSpPr>
          <p:cNvPr id="34" name="Text 32"/>
          <p:cNvSpPr/>
          <p:nvPr/>
        </p:nvSpPr>
        <p:spPr>
          <a:xfrm>
            <a:off x="6211824"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35" name="Text 33"/>
          <p:cNvSpPr/>
          <p:nvPr/>
        </p:nvSpPr>
        <p:spPr>
          <a:xfrm>
            <a:off x="6211824"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The prize covers the table and the family’s baju, which is what he drives home with.</a:t>
            </a:r>
            <a:endParaRPr lang="en-US" sz="850" dirty="0"/>
          </a:p>
        </p:txBody>
      </p:sp>
      <p:sp>
        <p:nvSpPr>
          <p:cNvPr id="36" name="Text 34"/>
          <p:cNvSpPr/>
          <p:nvPr/>
        </p:nvSpPr>
        <p:spPr>
          <a:xfrm>
            <a:off x="6211824"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37" name="Text 35"/>
          <p:cNvSpPr/>
          <p:nvPr/>
        </p:nvSpPr>
        <p:spPr>
          <a:xfrm>
            <a:off x="6211824"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YouTube around the film, Facebook, TikTok in the last two weeks. Overlay from 1 Mar.</a:t>
            </a:r>
            <a:endParaRPr lang="en-US" sz="850" dirty="0"/>
          </a:p>
        </p:txBody>
      </p:sp>
      <p:sp>
        <p:nvSpPr>
          <p:cNvPr id="38" name="Shape 36"/>
          <p:cNvSpPr/>
          <p:nvPr/>
        </p:nvSpPr>
        <p:spPr>
          <a:xfrm>
            <a:off x="438912" y="4443984"/>
            <a:ext cx="8266176" cy="402336"/>
          </a:xfrm>
          <a:prstGeom prst="rect">
            <a:avLst/>
          </a:prstGeom>
          <a:solidFill>
            <a:srgbClr val="052B18"/>
          </a:solidFill>
          <a:ln/>
        </p:spPr>
      </p:sp>
      <p:sp>
        <p:nvSpPr>
          <p:cNvPr id="39" name="Text 37"/>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we do not say: </a:t>
            </a:r>
            <a:pPr indent="0" marL="0">
              <a:buNone/>
            </a:pPr>
            <a:r>
              <a:rPr lang="en-US" sz="950" b="1" dirty="0">
                <a:solidFill>
                  <a:srgbClr val="FFFFFF"/>
                </a:solidFill>
                <a:latin typeface="Arial" pitchFamily="34" charset="0"/>
                <a:ea typeface="Arial" pitchFamily="34" charset="-122"/>
                <a:cs typeface="Arial" pitchFamily="34" charset="-120"/>
              </a:rPr>
              <a:t>no extravagance, no loud flexing, no borrowed grief from world events, and never that Saji is the hero of the story.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01.</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The mechanic</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What Malaysia already does with two brand contests, and the two options we would put in front of the client.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Nobody in Malaysia asks for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two receipts from two shops.</a:t>
            </a:r>
            <a:endParaRPr lang="en-US" sz="23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Five live examples. Every one of them either puts both brands in a single receipt at a single retailer, or makes the partner brand the prize rather than a second purchase.</a:t>
            </a:r>
            <a:endParaRPr lang="en-US" sz="1100" dirty="0"/>
          </a:p>
        </p:txBody>
      </p:sp>
      <p:sp>
        <p:nvSpPr>
          <p:cNvPr id="5" name="Shape 3"/>
          <p:cNvSpPr/>
          <p:nvPr/>
        </p:nvSpPr>
        <p:spPr>
          <a:xfrm>
            <a:off x="512064" y="1847088"/>
            <a:ext cx="1528877" cy="2487168"/>
          </a:xfrm>
          <a:prstGeom prst="rect">
            <a:avLst/>
          </a:prstGeom>
          <a:solidFill>
            <a:srgbClr val="E9F3DD"/>
          </a:solidFill>
          <a:ln/>
        </p:spPr>
      </p:sp>
      <p:sp>
        <p:nvSpPr>
          <p:cNvPr id="6" name="Shape 4"/>
          <p:cNvSpPr/>
          <p:nvPr/>
        </p:nvSpPr>
        <p:spPr>
          <a:xfrm>
            <a:off x="512064" y="1847088"/>
            <a:ext cx="1528877" cy="54864"/>
          </a:xfrm>
          <a:prstGeom prst="rect">
            <a:avLst/>
          </a:prstGeom>
          <a:solidFill>
            <a:srgbClr val="C5192B"/>
          </a:solidFill>
          <a:ln/>
        </p:spPr>
      </p:sp>
      <p:sp>
        <p:nvSpPr>
          <p:cNvPr id="7" name="Text 5"/>
          <p:cNvSpPr/>
          <p:nvPr/>
        </p:nvSpPr>
        <p:spPr>
          <a:xfrm>
            <a:off x="640080"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HEROMARKET, AUG 2026</a:t>
            </a:r>
            <a:endParaRPr lang="en-US" sz="800" dirty="0"/>
          </a:p>
        </p:txBody>
      </p:sp>
      <p:sp>
        <p:nvSpPr>
          <p:cNvPr id="8" name="Text 6"/>
          <p:cNvSpPr/>
          <p:nvPr/>
        </p:nvSpPr>
        <p:spPr>
          <a:xfrm>
            <a:off x="640080"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Tyson and First Pride</a:t>
            </a:r>
            <a:endParaRPr lang="en-US" sz="1050" dirty="0"/>
          </a:p>
        </p:txBody>
      </p:sp>
      <p:sp>
        <p:nvSpPr>
          <p:cNvPr id="9" name="Text 7"/>
          <p:cNvSpPr/>
          <p:nvPr/>
        </p:nvSpPr>
        <p:spPr>
          <a:xfrm>
            <a:off x="640080"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Two brands, one receipt, one store. Buy any two packs of either brand in a single receipt.</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two brands works when both sit in the same basket.</a:t>
            </a:r>
            <a:endParaRPr lang="en-US" sz="800" dirty="0"/>
          </a:p>
        </p:txBody>
      </p:sp>
      <p:sp>
        <p:nvSpPr>
          <p:cNvPr id="10" name="Shape 8"/>
          <p:cNvSpPr/>
          <p:nvPr/>
        </p:nvSpPr>
        <p:spPr>
          <a:xfrm>
            <a:off x="2159813" y="1847088"/>
            <a:ext cx="1528877" cy="2487168"/>
          </a:xfrm>
          <a:prstGeom prst="rect">
            <a:avLst/>
          </a:prstGeom>
          <a:solidFill>
            <a:srgbClr val="E9F3DD"/>
          </a:solidFill>
          <a:ln/>
        </p:spPr>
      </p:sp>
      <p:sp>
        <p:nvSpPr>
          <p:cNvPr id="11" name="Shape 9"/>
          <p:cNvSpPr/>
          <p:nvPr/>
        </p:nvSpPr>
        <p:spPr>
          <a:xfrm>
            <a:off x="2159813" y="1847088"/>
            <a:ext cx="1528877" cy="54864"/>
          </a:xfrm>
          <a:prstGeom prst="rect">
            <a:avLst/>
          </a:prstGeom>
          <a:solidFill>
            <a:srgbClr val="006838"/>
          </a:solidFill>
          <a:ln/>
        </p:spPr>
      </p:sp>
      <p:sp>
        <p:nvSpPr>
          <p:cNvPr id="12" name="Text 10"/>
          <p:cNvSpPr/>
          <p:nvPr/>
        </p:nvSpPr>
        <p:spPr>
          <a:xfrm>
            <a:off x="2287829"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GUARDIAN, SEP 2025</a:t>
            </a:r>
            <a:endParaRPr lang="en-US" sz="800" dirty="0"/>
          </a:p>
        </p:txBody>
      </p:sp>
      <p:sp>
        <p:nvSpPr>
          <p:cNvPr id="13" name="Text 11"/>
          <p:cNvSpPr/>
          <p:nvPr/>
        </p:nvSpPr>
        <p:spPr>
          <a:xfrm>
            <a:off x="2287829"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BRAND’S x Christy Ng</a:t>
            </a:r>
            <a:endParaRPr lang="en-US" sz="1050" dirty="0"/>
          </a:p>
        </p:txBody>
      </p:sp>
      <p:sp>
        <p:nvSpPr>
          <p:cNvPr id="14" name="Text 12"/>
          <p:cNvSpPr/>
          <p:nvPr/>
        </p:nvSpPr>
        <p:spPr>
          <a:xfrm>
            <a:off x="2287829"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Spend RM100 on BRAND’S, win a Christy Ng bag. 20 winners.</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the partner brand can be the prize instead of a second purchase.</a:t>
            </a:r>
            <a:endParaRPr lang="en-US" sz="800" dirty="0"/>
          </a:p>
        </p:txBody>
      </p:sp>
      <p:sp>
        <p:nvSpPr>
          <p:cNvPr id="15" name="Shape 13"/>
          <p:cNvSpPr/>
          <p:nvPr/>
        </p:nvSpPr>
        <p:spPr>
          <a:xfrm>
            <a:off x="3807562" y="1847088"/>
            <a:ext cx="1528877" cy="2487168"/>
          </a:xfrm>
          <a:prstGeom prst="rect">
            <a:avLst/>
          </a:prstGeom>
          <a:solidFill>
            <a:srgbClr val="E9F3DD"/>
          </a:solidFill>
          <a:ln/>
        </p:spPr>
      </p:sp>
      <p:sp>
        <p:nvSpPr>
          <p:cNvPr id="16" name="Shape 14"/>
          <p:cNvSpPr/>
          <p:nvPr/>
        </p:nvSpPr>
        <p:spPr>
          <a:xfrm>
            <a:off x="3807562" y="1847088"/>
            <a:ext cx="1528877" cy="54864"/>
          </a:xfrm>
          <a:prstGeom prst="rect">
            <a:avLst/>
          </a:prstGeom>
          <a:solidFill>
            <a:srgbClr val="E8912C"/>
          </a:solidFill>
          <a:ln/>
        </p:spPr>
      </p:sp>
      <p:sp>
        <p:nvSpPr>
          <p:cNvPr id="17" name="Text 15"/>
          <p:cNvSpPr/>
          <p:nvPr/>
        </p:nvSpPr>
        <p:spPr>
          <a:xfrm>
            <a:off x="3935578"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RAYA 2026</a:t>
            </a:r>
            <a:endParaRPr lang="en-US" sz="800" dirty="0"/>
          </a:p>
        </p:txBody>
      </p:sp>
      <p:sp>
        <p:nvSpPr>
          <p:cNvPr id="18" name="Text 16"/>
          <p:cNvSpPr/>
          <p:nvPr/>
        </p:nvSpPr>
        <p:spPr>
          <a:xfrm>
            <a:off x="3935578"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100PLUS x SHALS</a:t>
            </a:r>
            <a:endParaRPr lang="en-US" sz="1050" dirty="0"/>
          </a:p>
        </p:txBody>
      </p:sp>
      <p:sp>
        <p:nvSpPr>
          <p:cNvPr id="19" name="Text 17"/>
          <p:cNvSpPr/>
          <p:nvPr/>
        </p:nvSpPr>
        <p:spPr>
          <a:xfrm>
            <a:off x="3935578"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A limited edition baju raya by a Malaysian label, awarded to top spenders in TikTok Live.</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FMCG and fashion works when the baju is the reward.</a:t>
            </a:r>
            <a:endParaRPr lang="en-US" sz="800" dirty="0"/>
          </a:p>
        </p:txBody>
      </p:sp>
      <p:sp>
        <p:nvSpPr>
          <p:cNvPr id="20" name="Shape 18"/>
          <p:cNvSpPr/>
          <p:nvPr/>
        </p:nvSpPr>
        <p:spPr>
          <a:xfrm>
            <a:off x="5455310" y="1847088"/>
            <a:ext cx="1528877" cy="2487168"/>
          </a:xfrm>
          <a:prstGeom prst="rect">
            <a:avLst/>
          </a:prstGeom>
          <a:solidFill>
            <a:srgbClr val="E9F3DD"/>
          </a:solidFill>
          <a:ln/>
        </p:spPr>
      </p:sp>
      <p:sp>
        <p:nvSpPr>
          <p:cNvPr id="21" name="Shape 19"/>
          <p:cNvSpPr/>
          <p:nvPr/>
        </p:nvSpPr>
        <p:spPr>
          <a:xfrm>
            <a:off x="5455310" y="1847088"/>
            <a:ext cx="1528877" cy="54864"/>
          </a:xfrm>
          <a:prstGeom prst="rect">
            <a:avLst/>
          </a:prstGeom>
          <a:solidFill>
            <a:srgbClr val="052B18"/>
          </a:solidFill>
          <a:ln/>
        </p:spPr>
      </p:sp>
      <p:sp>
        <p:nvSpPr>
          <p:cNvPr id="22" name="Text 20"/>
          <p:cNvSpPr/>
          <p:nvPr/>
        </p:nvSpPr>
        <p:spPr>
          <a:xfrm>
            <a:off x="5583326"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AEON, AUG 2026</a:t>
            </a:r>
            <a:endParaRPr lang="en-US" sz="800" dirty="0"/>
          </a:p>
        </p:txBody>
      </p:sp>
      <p:sp>
        <p:nvSpPr>
          <p:cNvPr id="23" name="Text 21"/>
          <p:cNvSpPr/>
          <p:nvPr/>
        </p:nvSpPr>
        <p:spPr>
          <a:xfrm>
            <a:off x="5583326"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Merdeka Shop and Win</a:t>
            </a:r>
            <a:endParaRPr lang="en-US" sz="1050" dirty="0"/>
          </a:p>
        </p:txBody>
      </p:sp>
      <p:sp>
        <p:nvSpPr>
          <p:cNvPr id="24" name="Text 22"/>
          <p:cNvSpPr/>
          <p:nvPr/>
        </p:nvSpPr>
        <p:spPr>
          <a:xfrm>
            <a:off x="5583326"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RM80 single receipt, scan the QR at checkout, 69 prizes over four weekly draws.</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the QR lives at the till, and weekly draws hold a long window.</a:t>
            </a:r>
            <a:endParaRPr lang="en-US" sz="800" dirty="0"/>
          </a:p>
        </p:txBody>
      </p:sp>
      <p:sp>
        <p:nvSpPr>
          <p:cNvPr id="25" name="Shape 23"/>
          <p:cNvSpPr/>
          <p:nvPr/>
        </p:nvSpPr>
        <p:spPr>
          <a:xfrm>
            <a:off x="7103059" y="1847088"/>
            <a:ext cx="1528877" cy="2487168"/>
          </a:xfrm>
          <a:prstGeom prst="rect">
            <a:avLst/>
          </a:prstGeom>
          <a:solidFill>
            <a:srgbClr val="E9F3DD"/>
          </a:solidFill>
          <a:ln/>
        </p:spPr>
      </p:sp>
      <p:sp>
        <p:nvSpPr>
          <p:cNvPr id="26" name="Shape 24"/>
          <p:cNvSpPr/>
          <p:nvPr/>
        </p:nvSpPr>
        <p:spPr>
          <a:xfrm>
            <a:off x="7103059" y="1847088"/>
            <a:ext cx="1528877" cy="54864"/>
          </a:xfrm>
          <a:prstGeom prst="rect">
            <a:avLst/>
          </a:prstGeom>
          <a:solidFill>
            <a:srgbClr val="00A651"/>
          </a:solidFill>
          <a:ln/>
        </p:spPr>
      </p:sp>
      <p:sp>
        <p:nvSpPr>
          <p:cNvPr id="27" name="Text 25"/>
          <p:cNvSpPr/>
          <p:nvPr/>
        </p:nvSpPr>
        <p:spPr>
          <a:xfrm>
            <a:off x="7231075" y="2029968"/>
            <a:ext cx="1272845"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RUNNING RIGHT NOW</a:t>
            </a:r>
            <a:endParaRPr lang="en-US" sz="800" dirty="0"/>
          </a:p>
        </p:txBody>
      </p:sp>
      <p:sp>
        <p:nvSpPr>
          <p:cNvPr id="28" name="Text 26"/>
          <p:cNvSpPr/>
          <p:nvPr/>
        </p:nvSpPr>
        <p:spPr>
          <a:xfrm>
            <a:off x="7231075"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Bulan Bintang, our partner</a:t>
            </a:r>
            <a:endParaRPr lang="en-US" sz="1050" dirty="0"/>
          </a:p>
        </p:txBody>
      </p:sp>
      <p:sp>
        <p:nvSpPr>
          <p:cNvPr id="29" name="Text 27"/>
          <p:cNvSpPr/>
          <p:nvPr/>
        </p:nvSpPr>
        <p:spPr>
          <a:xfrm>
            <a:off x="7231075"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They run their own QR scan contest with a RM400,000 cash pool.</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our RM145,000 two brand contest would sit next to a bigger, simpler one.</a:t>
            </a:r>
            <a:endParaRPr lang="en-US" sz="800" dirty="0"/>
          </a:p>
        </p:txBody>
      </p:sp>
      <p:sp>
        <p:nvSpPr>
          <p:cNvPr id="30" name="Shape 28"/>
          <p:cNvSpPr/>
          <p:nvPr/>
        </p:nvSpPr>
        <p:spPr>
          <a:xfrm>
            <a:off x="438912" y="4443984"/>
            <a:ext cx="8266176" cy="402336"/>
          </a:xfrm>
          <a:prstGeom prst="rect">
            <a:avLst/>
          </a:prstGeom>
          <a:solidFill>
            <a:srgbClr val="C5192B"/>
          </a:solidFill>
          <a:ln/>
        </p:spPr>
      </p:sp>
      <p:sp>
        <p:nvSpPr>
          <p:cNvPr id="31" name="Text 29"/>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finding: </a:t>
            </a:r>
            <a:pPr indent="0" marL="0">
              <a:buNone/>
            </a:pPr>
            <a:r>
              <a:rPr lang="en-US" sz="950" b="1" dirty="0">
                <a:solidFill>
                  <a:srgbClr val="FFFFFF"/>
                </a:solidFill>
                <a:latin typeface="Arial" pitchFamily="34" charset="0"/>
                <a:ea typeface="Arial" pitchFamily="34" charset="-122"/>
                <a:cs typeface="Arial" pitchFamily="34" charset="-120"/>
              </a:rPr>
              <a:t>we could not find a single Malaysian contest that required purchases from two separate brands at two separate retailers for one entry. That absence is the warning.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30352"/>
            <a:ext cx="8119872" cy="45720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Nine steps, or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five.</a:t>
            </a:r>
            <a:endParaRPr lang="en-US" sz="2400" dirty="0"/>
          </a:p>
        </p:txBody>
      </p:sp>
      <p:sp>
        <p:nvSpPr>
          <p:cNvPr id="4" name="Text 2"/>
          <p:cNvSpPr/>
          <p:nvPr/>
        </p:nvSpPr>
        <p:spPr>
          <a:xfrm>
            <a:off x="512064" y="1078992"/>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same shopper, the same ad, two different mechanics. Every step is a place to lose her, and steps four to six take days.</a:t>
            </a:r>
            <a:endParaRPr lang="en-US" sz="1100" dirty="0"/>
          </a:p>
        </p:txBody>
      </p:sp>
      <p:sp>
        <p:nvSpPr>
          <p:cNvPr id="5" name="Shape 3"/>
          <p:cNvSpPr/>
          <p:nvPr/>
        </p:nvSpPr>
        <p:spPr>
          <a:xfrm>
            <a:off x="512064" y="1572768"/>
            <a:ext cx="3675888" cy="2798064"/>
          </a:xfrm>
          <a:prstGeom prst="rect">
            <a:avLst/>
          </a:prstGeom>
          <a:solidFill>
            <a:srgbClr val="C5192B"/>
          </a:solidFill>
          <a:ln/>
        </p:spPr>
      </p:sp>
      <p:sp>
        <p:nvSpPr>
          <p:cNvPr id="6" name="Text 4"/>
          <p:cNvSpPr/>
          <p:nvPr/>
        </p:nvSpPr>
        <p:spPr>
          <a:xfrm>
            <a:off x="768096" y="1755648"/>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AS BRIEFED</a:t>
            </a:r>
            <a:endParaRPr lang="en-US" sz="1400" dirty="0"/>
          </a:p>
        </p:txBody>
      </p:sp>
      <p:sp>
        <p:nvSpPr>
          <p:cNvPr id="7" name="Text 5"/>
          <p:cNvSpPr/>
          <p:nvPr/>
        </p:nvSpPr>
        <p:spPr>
          <a:xfrm>
            <a:off x="768096" y="2103120"/>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RM175, two retailers, two trips</a:t>
            </a:r>
            <a:endParaRPr lang="en-US" sz="1350" dirty="0"/>
          </a:p>
        </p:txBody>
      </p:sp>
      <p:sp>
        <p:nvSpPr>
          <p:cNvPr id="8" name="Text 6"/>
          <p:cNvSpPr/>
          <p:nvPr/>
        </p:nvSpPr>
        <p:spPr>
          <a:xfrm>
            <a:off x="768096" y="2542032"/>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9" name="Text 7"/>
          <p:cNvSpPr/>
          <p:nvPr/>
        </p:nvSpPr>
        <p:spPr>
          <a:xfrm>
            <a:off x="768096" y="2715768"/>
            <a:ext cx="3163824" cy="15727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Sees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Works out that two brands are needed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Buys RM25 of Saji at the grocer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Keeps receipt one, for days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Travels to a Bulan Bintang boutique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6. Buys RM150 of baju</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7. Finds the entry route again</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8. Uploads two receipts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9. Submits</a:t>
            </a:r>
            <a:endParaRPr lang="en-US" sz="850" dirty="0"/>
          </a:p>
          <a:p>
            <a:pPr indent="0" marL="0">
              <a:lnSpc>
                <a:spcPts val="1100"/>
              </a:lnSpc>
              <a:buNone/>
            </a:pP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Locks out the Young Raya Stylist.</a:t>
            </a:r>
            <a:endParaRPr lang="en-US" sz="850" dirty="0"/>
          </a:p>
        </p:txBody>
      </p:sp>
      <p:sp>
        <p:nvSpPr>
          <p:cNvPr id="10" name="Shape 8"/>
          <p:cNvSpPr/>
          <p:nvPr/>
        </p:nvSpPr>
        <p:spPr>
          <a:xfrm>
            <a:off x="4956048" y="1572768"/>
            <a:ext cx="3675888" cy="2798064"/>
          </a:xfrm>
          <a:prstGeom prst="rect">
            <a:avLst/>
          </a:prstGeom>
          <a:solidFill>
            <a:srgbClr val="006838"/>
          </a:solidFill>
          <a:ln/>
        </p:spPr>
      </p:sp>
      <p:sp>
        <p:nvSpPr>
          <p:cNvPr id="11" name="Text 9"/>
          <p:cNvSpPr/>
          <p:nvPr/>
        </p:nvSpPr>
        <p:spPr>
          <a:xfrm>
            <a:off x="5212080" y="1755648"/>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RECOMMENDED</a:t>
            </a:r>
            <a:endParaRPr lang="en-US" sz="1400" dirty="0"/>
          </a:p>
        </p:txBody>
      </p:sp>
      <p:sp>
        <p:nvSpPr>
          <p:cNvPr id="12" name="Text 10"/>
          <p:cNvSpPr/>
          <p:nvPr/>
        </p:nvSpPr>
        <p:spPr>
          <a:xfrm>
            <a:off x="5212080" y="2103120"/>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RM25, one retailer, one trip</a:t>
            </a:r>
            <a:endParaRPr lang="en-US" sz="1350" dirty="0"/>
          </a:p>
        </p:txBody>
      </p:sp>
      <p:sp>
        <p:nvSpPr>
          <p:cNvPr id="13" name="Text 11"/>
          <p:cNvSpPr/>
          <p:nvPr/>
        </p:nvSpPr>
        <p:spPr>
          <a:xfrm>
            <a:off x="5212080" y="2542032"/>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14" name="Text 12"/>
          <p:cNvSpPr/>
          <p:nvPr/>
        </p:nvSpPr>
        <p:spPr>
          <a:xfrm>
            <a:off x="5212080" y="2715768"/>
            <a:ext cx="3163824" cy="15727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Sees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Buys RM25 of Saji, which she was doing anyway</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Taps the ad and lands on the page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Uploads one receipt</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Submits</a:t>
            </a:r>
            <a:endParaRPr lang="en-US" sz="850" dirty="0"/>
          </a:p>
          <a:p>
            <a:pPr indent="0" marL="0">
              <a:lnSpc>
                <a:spcPts val="1100"/>
              </a:lnSpc>
              <a:buNone/>
            </a:pP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Optional: adds a Bulan Bintang receipt later for five entries and the grand prize tier.</a:t>
            </a:r>
            <a:endParaRPr lang="en-US" sz="850" dirty="0"/>
          </a:p>
          <a:p>
            <a:pPr indent="0" marL="0">
              <a:lnSpc>
                <a:spcPts val="1100"/>
              </a:lnSpc>
              <a:buNone/>
            </a:pP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Nobody is locked out. All three audiences can enter.</a:t>
            </a:r>
            <a:endParaRPr lang="en-US" sz="850" dirty="0"/>
          </a:p>
        </p:txBody>
      </p:sp>
      <p:sp>
        <p:nvSpPr>
          <p:cNvPr id="15" name="Text 13"/>
          <p:cNvSpPr/>
          <p:nvPr/>
        </p:nvSpPr>
        <p:spPr>
          <a:xfrm>
            <a:off x="4370832" y="2752344"/>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16" name="Shape 14"/>
          <p:cNvSpPr/>
          <p:nvPr/>
        </p:nvSpPr>
        <p:spPr>
          <a:xfrm>
            <a:off x="438912" y="4443984"/>
            <a:ext cx="8266176" cy="402336"/>
          </a:xfrm>
          <a:prstGeom prst="rect">
            <a:avLst/>
          </a:prstGeom>
          <a:solidFill>
            <a:srgbClr val="052B18"/>
          </a:solidFill>
          <a:ln/>
        </p:spPr>
      </p:sp>
      <p:sp>
        <p:nvSpPr>
          <p:cNvPr id="17" name="Text 1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point: </a:t>
            </a:r>
            <a:pPr indent="0" marL="0">
              <a:buNone/>
            </a:pPr>
            <a:r>
              <a:rPr lang="en-US" sz="950" b="1" dirty="0">
                <a:solidFill>
                  <a:srgbClr val="FFFFFF"/>
                </a:solidFill>
                <a:latin typeface="Arial" pitchFamily="34" charset="0"/>
                <a:ea typeface="Arial" pitchFamily="34" charset="-122"/>
                <a:cs typeface="Arial" pitchFamily="34" charset="-120"/>
              </a:rPr>
              <a:t>the second brand should be the reason to come back, not the barrier to getting in.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64008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Three options to put to the client.</a:t>
            </a:r>
            <a:endParaRPr lang="en-US" sz="2400" dirty="0"/>
          </a:p>
        </p:txBody>
      </p:sp>
      <p:sp>
        <p:nvSpPr>
          <p:cNvPr id="4" name="Text 2"/>
          <p:cNvSpPr/>
          <p:nvPr/>
        </p:nvSpPr>
        <p:spPr>
          <a:xfrm>
            <a:off x="512064" y="1280160"/>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Option A is the brief as written. We recommend B, with C as the fallback if the client wants the cross purchase guaranteed rather than incentivized.</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12064" y="1773936"/>
          <a:ext cx="8119872" cy="914400"/>
        </p:xfrm>
        <a:graphic>
          <a:graphicData uri="http://schemas.openxmlformats.org/drawingml/2006/table">
            <a:tbl>
              <a:tblPr/>
              <a:tblGrid>
                <a:gridCol w="1481328"/>
                <a:gridCol w="1938528"/>
                <a:gridCol w="2578608"/>
                <a:gridCol w="2121408"/>
              </a:tblGrid>
              <a:tr h="237744">
                <a:tc>
                  <a:txBody>
                    <a:bodyPr/>
                    <a:lstStyle/>
                    <a:p>
                      <a:pPr indent="0" marL="0">
                        <a:buNone/>
                      </a:pP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A · AS BRIEFED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B · WEIGHTED ENTRIES (RECOMMENDED)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C · VOUCHER CHAIN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Entry cost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RM175, both brands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RM25 or RM150, either brand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RM25 or RM150, either brand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Retailers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Steps to enter</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C5192B"/>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Who can enter</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C5192B"/>
                          </a:solidFill>
                          <a:latin typeface="Arial" pitchFamily="34" charset="0"/>
                          <a:ea typeface="Arial" pitchFamily="34" charset="-122"/>
                          <a:cs typeface="Arial" pitchFamily="34" charset="-120"/>
                        </a:rPr>
                        <a:t>One audience of three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All three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All three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Saji revenue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Capped by Bulan Bintang buyers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Every entrant buys, 5x pulls the rest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Every baju buyer gets sampled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Bulan Bintang revenue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Guaranteed RM150 per entry</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5x entries plus grand prize tier is the pull</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Voucher drives the boutique trip</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Tracking</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Two receipts to verify</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One or two, weighted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Unique code, cleanest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900" b="1" dirty="0">
                          <a:solidFill>
                            <a:srgbClr val="006838"/>
                          </a:solidFill>
                          <a:latin typeface="Arial" pitchFamily="34" charset="0"/>
                          <a:ea typeface="Arial" pitchFamily="34" charset="-122"/>
                          <a:cs typeface="Arial" pitchFamily="34" charset="-120"/>
                        </a:rPr>
                        <a:t>Malaysian precedent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C5192B"/>
                          </a:solidFill>
                          <a:latin typeface="Arial" pitchFamily="34" charset="0"/>
                          <a:ea typeface="Arial" pitchFamily="34" charset="-122"/>
                          <a:cs typeface="Arial" pitchFamily="34" charset="-120"/>
                        </a:rPr>
                        <a:t>None found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HeroMarket model</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BRAND’S and 100PLUS model</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Shape 3"/>
          <p:cNvSpPr/>
          <p:nvPr/>
        </p:nvSpPr>
        <p:spPr>
          <a:xfrm>
            <a:off x="438912" y="4443984"/>
            <a:ext cx="8266176" cy="402336"/>
          </a:xfrm>
          <a:prstGeom prst="rect">
            <a:avLst/>
          </a:prstGeom>
          <a:solidFill>
            <a:srgbClr val="052B18"/>
          </a:solidFill>
          <a:ln/>
        </p:spPr>
      </p:sp>
      <p:sp>
        <p:nvSpPr>
          <p:cNvPr id="7" name="Text 4"/>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Both B and C </a:t>
            </a:r>
            <a:pPr indent="0" marL="0">
              <a:buNone/>
            </a:pPr>
            <a:r>
              <a:rPr lang="en-US" sz="950" b="1" dirty="0">
                <a:solidFill>
                  <a:srgbClr val="FFFFFF"/>
                </a:solidFill>
                <a:latin typeface="Arial" pitchFamily="34" charset="0"/>
                <a:ea typeface="Arial" pitchFamily="34" charset="-122"/>
                <a:cs typeface="Arial" pitchFamily="34" charset="-120"/>
              </a:rPr>
              <a:t>keep the RM25 and RM150 thresholds intact where they apply, so the client’s commercial targets survive the change.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Satu beli, satu peluang.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Dua beli, lima peluang.</a:t>
            </a:r>
            <a:endParaRPr lang="en-US" sz="24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One line a shopper understands at the shelf, and it does the commercial work of the briefed mechanic without the barrier.</a:t>
            </a:r>
            <a:endParaRPr lang="en-US" sz="1100" dirty="0"/>
          </a:p>
        </p:txBody>
      </p:sp>
      <p:sp>
        <p:nvSpPr>
          <p:cNvPr id="5" name="Shape 3"/>
          <p:cNvSpPr/>
          <p:nvPr/>
        </p:nvSpPr>
        <p:spPr>
          <a:xfrm>
            <a:off x="512064" y="1901952"/>
            <a:ext cx="2584704" cy="2286000"/>
          </a:xfrm>
          <a:prstGeom prst="rect">
            <a:avLst/>
          </a:prstGeom>
          <a:solidFill>
            <a:srgbClr val="E9F3DD"/>
          </a:solidFill>
          <a:ln/>
        </p:spPr>
      </p:sp>
      <p:sp>
        <p:nvSpPr>
          <p:cNvPr id="6" name="Shape 4"/>
          <p:cNvSpPr/>
          <p:nvPr/>
        </p:nvSpPr>
        <p:spPr>
          <a:xfrm>
            <a:off x="512064" y="1901952"/>
            <a:ext cx="2584704" cy="54864"/>
          </a:xfrm>
          <a:prstGeom prst="rect">
            <a:avLst/>
          </a:prstGeom>
          <a:solidFill>
            <a:srgbClr val="C5192B"/>
          </a:solidFill>
          <a:ln/>
        </p:spPr>
      </p:sp>
      <p:sp>
        <p:nvSpPr>
          <p:cNvPr id="7" name="Text 5"/>
          <p:cNvSpPr/>
          <p:nvPr/>
        </p:nvSpPr>
        <p:spPr>
          <a:xfrm>
            <a:off x="676656" y="2084832"/>
            <a:ext cx="2255520" cy="384048"/>
          </a:xfrm>
          <a:prstGeom prst="rect">
            <a:avLst/>
          </a:prstGeom>
          <a:noFill/>
          <a:ln/>
        </p:spPr>
        <p:txBody>
          <a:bodyPr wrap="none" lIns="0" tIns="0" rIns="0" bIns="0" rtlCol="0" anchor="t"/>
          <a:lstStyle/>
          <a:p>
            <a:pPr indent="0" marL="0">
              <a:buNone/>
            </a:pPr>
            <a:r>
              <a:rPr lang="en-US" sz="1900" dirty="0">
                <a:solidFill>
                  <a:srgbClr val="C5192B"/>
                </a:solidFill>
                <a:latin typeface="Arial Black" pitchFamily="34" charset="0"/>
                <a:ea typeface="Arial Black" pitchFamily="34" charset="-122"/>
                <a:cs typeface="Arial Black" pitchFamily="34" charset="-120"/>
              </a:rPr>
              <a:t>1x</a:t>
            </a:r>
            <a:endParaRPr lang="en-US" sz="19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SAJI ONLY</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RM25 of Saji in one receipt</a:t>
            </a:r>
            <a:endParaRPr lang="en-US" sz="1200" dirty="0"/>
          </a:p>
        </p:txBody>
      </p:sp>
      <p:sp>
        <p:nvSpPr>
          <p:cNvPr id="10" name="Text 8"/>
          <p:cNvSpPr/>
          <p:nvPr/>
        </p:nvSpPr>
        <p:spPr>
          <a:xfrm>
            <a:off x="676656"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One entry into the weekly draw. This is the volume route, and it is what the Raya Household CFO was going to buy anyway.</a:t>
            </a:r>
            <a:endParaRPr lang="en-US" sz="950" dirty="0"/>
          </a:p>
        </p:txBody>
      </p:sp>
      <p:sp>
        <p:nvSpPr>
          <p:cNvPr id="11" name="Shape 9"/>
          <p:cNvSpPr/>
          <p:nvPr/>
        </p:nvSpPr>
        <p:spPr>
          <a:xfrm>
            <a:off x="3279648" y="1901952"/>
            <a:ext cx="2584704" cy="2286000"/>
          </a:xfrm>
          <a:prstGeom prst="rect">
            <a:avLst/>
          </a:prstGeom>
          <a:solidFill>
            <a:srgbClr val="E9F3DD"/>
          </a:solidFill>
          <a:ln/>
        </p:spPr>
      </p:sp>
      <p:sp>
        <p:nvSpPr>
          <p:cNvPr id="12" name="Shape 10"/>
          <p:cNvSpPr/>
          <p:nvPr/>
        </p:nvSpPr>
        <p:spPr>
          <a:xfrm>
            <a:off x="3279648" y="1901952"/>
            <a:ext cx="2584704" cy="54864"/>
          </a:xfrm>
          <a:prstGeom prst="rect">
            <a:avLst/>
          </a:prstGeom>
          <a:solidFill>
            <a:srgbClr val="006838"/>
          </a:solidFill>
          <a:ln/>
        </p:spPr>
      </p:sp>
      <p:sp>
        <p:nvSpPr>
          <p:cNvPr id="13" name="Text 11"/>
          <p:cNvSpPr/>
          <p:nvPr/>
        </p:nvSpPr>
        <p:spPr>
          <a:xfrm>
            <a:off x="3444240" y="2084832"/>
            <a:ext cx="2255520" cy="384048"/>
          </a:xfrm>
          <a:prstGeom prst="rect">
            <a:avLst/>
          </a:prstGeom>
          <a:noFill/>
          <a:ln/>
        </p:spPr>
        <p:txBody>
          <a:bodyPr wrap="none" lIns="0" tIns="0" rIns="0" bIns="0" rtlCol="0" anchor="t"/>
          <a:lstStyle/>
          <a:p>
            <a:pPr indent="0" marL="0">
              <a:buNone/>
            </a:pPr>
            <a:r>
              <a:rPr lang="en-US" sz="1900" dirty="0">
                <a:solidFill>
                  <a:srgbClr val="006838"/>
                </a:solidFill>
                <a:latin typeface="Arial Black" pitchFamily="34" charset="0"/>
                <a:ea typeface="Arial Black" pitchFamily="34" charset="-122"/>
                <a:cs typeface="Arial Black" pitchFamily="34" charset="-120"/>
              </a:rPr>
              <a:t>1x</a:t>
            </a:r>
            <a:endParaRPr lang="en-US" sz="19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BULAN BINTANG ONLY</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RM150 of Bulan Bintang</a:t>
            </a:r>
            <a:endParaRPr lang="en-US" sz="1200" dirty="0"/>
          </a:p>
        </p:txBody>
      </p:sp>
      <p:sp>
        <p:nvSpPr>
          <p:cNvPr id="16" name="Text 14"/>
          <p:cNvSpPr/>
          <p:nvPr/>
        </p:nvSpPr>
        <p:spPr>
          <a:xfrm>
            <a:off x="3444240"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One entry into the weekly draw. This is what opens the contest to the Young Raya Stylist, who the briefed mechanic shuts out.</a:t>
            </a:r>
            <a:endParaRPr lang="en-US" sz="950" dirty="0"/>
          </a:p>
        </p:txBody>
      </p:sp>
      <p:sp>
        <p:nvSpPr>
          <p:cNvPr id="17" name="Shape 15"/>
          <p:cNvSpPr/>
          <p:nvPr/>
        </p:nvSpPr>
        <p:spPr>
          <a:xfrm>
            <a:off x="6047232" y="1901952"/>
            <a:ext cx="2584704" cy="2286000"/>
          </a:xfrm>
          <a:prstGeom prst="rect">
            <a:avLst/>
          </a:prstGeom>
          <a:solidFill>
            <a:srgbClr val="E9F3DD"/>
          </a:solidFill>
          <a:ln/>
        </p:spPr>
      </p:sp>
      <p:sp>
        <p:nvSpPr>
          <p:cNvPr id="18" name="Shape 16"/>
          <p:cNvSpPr/>
          <p:nvPr/>
        </p:nvSpPr>
        <p:spPr>
          <a:xfrm>
            <a:off x="6047232" y="1901952"/>
            <a:ext cx="2584704" cy="54864"/>
          </a:xfrm>
          <a:prstGeom prst="rect">
            <a:avLst/>
          </a:prstGeom>
          <a:solidFill>
            <a:srgbClr val="E8912C"/>
          </a:solidFill>
          <a:ln/>
        </p:spPr>
      </p:sp>
      <p:sp>
        <p:nvSpPr>
          <p:cNvPr id="19" name="Text 17"/>
          <p:cNvSpPr/>
          <p:nvPr/>
        </p:nvSpPr>
        <p:spPr>
          <a:xfrm>
            <a:off x="6211824" y="2084832"/>
            <a:ext cx="2255520" cy="384048"/>
          </a:xfrm>
          <a:prstGeom prst="rect">
            <a:avLst/>
          </a:prstGeom>
          <a:noFill/>
          <a:ln/>
        </p:spPr>
        <p:txBody>
          <a:bodyPr wrap="none" lIns="0" tIns="0" rIns="0" bIns="0" rtlCol="0" anchor="t"/>
          <a:lstStyle/>
          <a:p>
            <a:pPr indent="0" marL="0">
              <a:buNone/>
            </a:pPr>
            <a:r>
              <a:rPr lang="en-US" sz="1900" dirty="0">
                <a:solidFill>
                  <a:srgbClr val="E8912C"/>
                </a:solidFill>
                <a:latin typeface="Arial Black" pitchFamily="34" charset="0"/>
                <a:ea typeface="Arial Black" pitchFamily="34" charset="-122"/>
                <a:cs typeface="Arial Black" pitchFamily="34" charset="-120"/>
              </a:rPr>
              <a:t>5x</a:t>
            </a:r>
            <a:endParaRPr lang="en-US" sz="19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BOTH BRANDS</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Both receipts, any date in the window</a:t>
            </a:r>
            <a:endParaRPr lang="en-US" sz="1200" dirty="0"/>
          </a:p>
        </p:txBody>
      </p:sp>
      <p:sp>
        <p:nvSpPr>
          <p:cNvPr id="22" name="Text 20"/>
          <p:cNvSpPr/>
          <p:nvPr/>
        </p:nvSpPr>
        <p:spPr>
          <a:xfrm>
            <a:off x="6211824"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Five entries, and the only route into the grand prize tier. The cross purchase is now a reward the shopper chooses, not a toll she pays.</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In English: </a:t>
            </a:r>
            <a:pPr indent="0" marL="0">
              <a:buNone/>
            </a:pPr>
            <a:r>
              <a:rPr lang="en-US" sz="950" b="1" dirty="0">
                <a:solidFill>
                  <a:srgbClr val="FFFFFF"/>
                </a:solidFill>
                <a:latin typeface="Arial" pitchFamily="34" charset="0"/>
                <a:ea typeface="Arial" pitchFamily="34" charset="-122"/>
                <a:cs typeface="Arial" pitchFamily="34" charset="-120"/>
              </a:rPr>
              <a:t>buy either brand to be in the draw. Buy both and you get five entries plus the only shot at the grand prize.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The prize as briefed.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One option worth asking for.</a:t>
            </a:r>
            <a:endParaRPr lang="en-US" sz="23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We have not moved the client’s number. RM145,000 across 50 winners is exactly as briefed, and the landing page is built on it. The third card is a question for the client and the partner, not a change we have made to their budget.</a:t>
            </a:r>
            <a:endParaRPr lang="en-US" sz="1100" dirty="0"/>
          </a:p>
        </p:txBody>
      </p:sp>
      <p:sp>
        <p:nvSpPr>
          <p:cNvPr id="5" name="Shape 3"/>
          <p:cNvSpPr/>
          <p:nvPr/>
        </p:nvSpPr>
        <p:spPr>
          <a:xfrm>
            <a:off x="512064" y="2011680"/>
            <a:ext cx="2584704" cy="2249424"/>
          </a:xfrm>
          <a:prstGeom prst="rect">
            <a:avLst/>
          </a:prstGeom>
          <a:solidFill>
            <a:srgbClr val="E9F3DD"/>
          </a:solidFill>
          <a:ln/>
        </p:spPr>
      </p:sp>
      <p:sp>
        <p:nvSpPr>
          <p:cNvPr id="6" name="Shape 4"/>
          <p:cNvSpPr/>
          <p:nvPr/>
        </p:nvSpPr>
        <p:spPr>
          <a:xfrm>
            <a:off x="512064" y="2011680"/>
            <a:ext cx="2584704" cy="54864"/>
          </a:xfrm>
          <a:prstGeom prst="rect">
            <a:avLst/>
          </a:prstGeom>
          <a:solidFill>
            <a:srgbClr val="C5192B"/>
          </a:solidFill>
          <a:ln/>
        </p:spPr>
      </p:sp>
      <p:sp>
        <p:nvSpPr>
          <p:cNvPr id="7" name="Text 5"/>
          <p:cNvSpPr/>
          <p:nvPr/>
        </p:nvSpPr>
        <p:spPr>
          <a:xfrm>
            <a:off x="676656" y="2194560"/>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RM145,000</a:t>
            </a:r>
            <a:endParaRPr lang="en-US" sz="1700" dirty="0"/>
          </a:p>
        </p:txBody>
      </p:sp>
      <p:sp>
        <p:nvSpPr>
          <p:cNvPr id="8" name="Text 6"/>
          <p:cNvSpPr/>
          <p:nvPr/>
        </p:nvSpPr>
        <p:spPr>
          <a:xfrm>
            <a:off x="676656" y="261518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AS BRIEFED, UNCHANGED</a:t>
            </a:r>
            <a:endParaRPr lang="en-US" sz="800" dirty="0"/>
          </a:p>
        </p:txBody>
      </p:sp>
      <p:sp>
        <p:nvSpPr>
          <p:cNvPr id="9" name="Text 7"/>
          <p:cNvSpPr/>
          <p:nvPr/>
        </p:nvSpPr>
        <p:spPr>
          <a:xfrm>
            <a:off x="676656"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The prize the client budgeted</a:t>
            </a:r>
            <a:endParaRPr lang="en-US" sz="1200" dirty="0"/>
          </a:p>
        </p:txBody>
      </p:sp>
      <p:sp>
        <p:nvSpPr>
          <p:cNvPr id="10" name="Text 8"/>
          <p:cNvSpPr/>
          <p:nvPr/>
        </p:nvSpPr>
        <p:spPr>
          <a:xfrm>
            <a:off x="676656"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RM2,900 per winner across 50 winners. RM500 duit raya in cash, plus RM2,400 of Saji products for a year. This is the client’s own number and we have left it alone.</a:t>
            </a:r>
            <a:endParaRPr lang="en-US" sz="950" dirty="0"/>
          </a:p>
        </p:txBody>
      </p:sp>
      <p:sp>
        <p:nvSpPr>
          <p:cNvPr id="11" name="Shape 9"/>
          <p:cNvSpPr/>
          <p:nvPr/>
        </p:nvSpPr>
        <p:spPr>
          <a:xfrm>
            <a:off x="3279648" y="2011680"/>
            <a:ext cx="2584704" cy="2249424"/>
          </a:xfrm>
          <a:prstGeom prst="rect">
            <a:avLst/>
          </a:prstGeom>
          <a:solidFill>
            <a:srgbClr val="E9F3DD"/>
          </a:solidFill>
          <a:ln/>
        </p:spPr>
      </p:sp>
      <p:sp>
        <p:nvSpPr>
          <p:cNvPr id="12" name="Shape 10"/>
          <p:cNvSpPr/>
          <p:nvPr/>
        </p:nvSpPr>
        <p:spPr>
          <a:xfrm>
            <a:off x="3279648" y="2011680"/>
            <a:ext cx="2584704" cy="54864"/>
          </a:xfrm>
          <a:prstGeom prst="rect">
            <a:avLst/>
          </a:prstGeom>
          <a:solidFill>
            <a:srgbClr val="006838"/>
          </a:solidFill>
          <a:ln/>
        </p:spPr>
      </p:sp>
      <p:sp>
        <p:nvSpPr>
          <p:cNvPr id="13" name="Text 11"/>
          <p:cNvSpPr/>
          <p:nvPr/>
        </p:nvSpPr>
        <p:spPr>
          <a:xfrm>
            <a:off x="3444240" y="2194560"/>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5 a week</a:t>
            </a:r>
            <a:endParaRPr lang="en-US" sz="1700" dirty="0"/>
          </a:p>
        </p:txBody>
      </p:sp>
      <p:sp>
        <p:nvSpPr>
          <p:cNvPr id="14" name="Text 12"/>
          <p:cNvSpPr/>
          <p:nvPr/>
        </p:nvSpPr>
        <p:spPr>
          <a:xfrm>
            <a:off x="3444240" y="261518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WINNER STRUCTURE</a:t>
            </a:r>
            <a:endParaRPr lang="en-US" sz="800" dirty="0"/>
          </a:p>
        </p:txBody>
      </p:sp>
      <p:sp>
        <p:nvSpPr>
          <p:cNvPr id="15" name="Text 13"/>
          <p:cNvSpPr/>
          <p:nvPr/>
        </p:nvSpPr>
        <p:spPr>
          <a:xfrm>
            <a:off x="3444240"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Ten weekly draws, fifty winners</a:t>
            </a:r>
            <a:endParaRPr lang="en-US" sz="1200" dirty="0"/>
          </a:p>
        </p:txBody>
      </p:sp>
      <p:sp>
        <p:nvSpPr>
          <p:cNvPr id="16" name="Text 14"/>
          <p:cNvSpPr/>
          <p:nvPr/>
        </p:nvSpPr>
        <p:spPr>
          <a:xfrm>
            <a:off x="3444240"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Five grand winners every Friday across the 10 week window, so no week passes without a visible winner. 2025 ran 10 weekly announcements and held entries better than any year since.</a:t>
            </a:r>
            <a:endParaRPr lang="en-US" sz="950" dirty="0"/>
          </a:p>
        </p:txBody>
      </p:sp>
      <p:sp>
        <p:nvSpPr>
          <p:cNvPr id="17" name="Shape 15"/>
          <p:cNvSpPr/>
          <p:nvPr/>
        </p:nvSpPr>
        <p:spPr>
          <a:xfrm>
            <a:off x="6047232" y="2011680"/>
            <a:ext cx="2584704" cy="2249424"/>
          </a:xfrm>
          <a:prstGeom prst="rect">
            <a:avLst/>
          </a:prstGeom>
          <a:solidFill>
            <a:srgbClr val="E9F3DD"/>
          </a:solidFill>
          <a:ln/>
        </p:spPr>
      </p:sp>
      <p:sp>
        <p:nvSpPr>
          <p:cNvPr id="18" name="Shape 16"/>
          <p:cNvSpPr/>
          <p:nvPr/>
        </p:nvSpPr>
        <p:spPr>
          <a:xfrm>
            <a:off x="6047232" y="2011680"/>
            <a:ext cx="2584704" cy="54864"/>
          </a:xfrm>
          <a:prstGeom prst="rect">
            <a:avLst/>
          </a:prstGeom>
          <a:solidFill>
            <a:srgbClr val="E8912C"/>
          </a:solidFill>
          <a:ln/>
        </p:spPr>
      </p:sp>
      <p:sp>
        <p:nvSpPr>
          <p:cNvPr id="19" name="Text 17"/>
          <p:cNvSpPr/>
          <p:nvPr/>
        </p:nvSpPr>
        <p:spPr>
          <a:xfrm>
            <a:off x="6211824" y="2194560"/>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 RM600</a:t>
            </a:r>
            <a:endParaRPr lang="en-US" sz="1700" dirty="0"/>
          </a:p>
        </p:txBody>
      </p:sp>
      <p:sp>
        <p:nvSpPr>
          <p:cNvPr id="20" name="Text 18"/>
          <p:cNvSpPr/>
          <p:nvPr/>
        </p:nvSpPr>
        <p:spPr>
          <a:xfrm>
            <a:off x="6211824" y="2615184"/>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OPTIONAL, PARTNER FUNDED</a:t>
            </a:r>
            <a:endParaRPr lang="en-US" sz="800" dirty="0"/>
          </a:p>
        </p:txBody>
      </p:sp>
      <p:sp>
        <p:nvSpPr>
          <p:cNvPr id="21" name="Text 19"/>
          <p:cNvSpPr/>
          <p:nvPr/>
        </p:nvSpPr>
        <p:spPr>
          <a:xfrm>
            <a:off x="6211824"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If Bulan Bintang co-funds</a:t>
            </a:r>
            <a:endParaRPr lang="en-US" sz="1200" dirty="0"/>
          </a:p>
        </p:txBody>
      </p:sp>
      <p:sp>
        <p:nvSpPr>
          <p:cNvPr id="22" name="Text 20"/>
          <p:cNvSpPr/>
          <p:nvPr/>
        </p:nvSpPr>
        <p:spPr>
          <a:xfrm>
            <a:off x="6211824"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family baju set on each prize takes it to RM3,500 per winner and RM175,000, with Saji’s RM145,000 untouched. Worth asking, because the partner is in the mechanic but not in the prize.</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ask, not the assumption: </a:t>
            </a:r>
            <a:pPr indent="0" marL="0">
              <a:buNone/>
            </a:pPr>
            <a:r>
              <a:rPr lang="en-US" sz="950" b="1" dirty="0">
                <a:solidFill>
                  <a:srgbClr val="FFFFFF"/>
                </a:solidFill>
                <a:latin typeface="Arial" pitchFamily="34" charset="0"/>
                <a:ea typeface="Arial" pitchFamily="34" charset="-122"/>
                <a:cs typeface="Arial" pitchFamily="34" charset="-120"/>
              </a:rPr>
              <a:t>Saji funds RM145,000 either way. The only question is whether Bulan Bintang wants to put RM30,000 and 50 families in their clothes behind a contest that already carries their name.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02.</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The media plan</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What we are planning on, what RM90,000 buys, what RM135,000 buys, and where each one lands against the brief.</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Every number we plan on,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and where it came from.</a:t>
            </a:r>
            <a:endParaRPr lang="en-US" sz="23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Half of this is derived from Saji’s own 2025 per platform delivery. Half is our planning assumption, because neither past deck contains a single spend figure. You should know which is which before you defend it.</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12064" y="1865376"/>
          <a:ext cx="8119872" cy="914400"/>
        </p:xfrm>
        <a:graphic>
          <a:graphicData uri="http://schemas.openxmlformats.org/drawingml/2006/table">
            <a:tbl>
              <a:tblPr/>
              <a:tblGrid>
                <a:gridCol w="713232"/>
                <a:gridCol w="786384"/>
                <a:gridCol w="1170432"/>
                <a:gridCol w="768096"/>
                <a:gridCol w="548640"/>
                <a:gridCol w="786384"/>
                <a:gridCol w="1152144"/>
                <a:gridCol w="2194560"/>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PLATFORM</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OBJECTIVE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CPM</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FREQ</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VIEW RATE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PER VIEW / CPC</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Contest</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Meta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Conversions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RM22.00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CPC RM0.45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CPM assumed, CTR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Contest</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Conversions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RM15.00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CPC RM0.30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CPM assumed, CTR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Video views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RM2.20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70%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RM0.0031</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Freq and VTR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Meta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Reels 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RM3.50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55%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RM0.0064</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Freq 2025, rest 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YouTube</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In-stream, Shorts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RM3.80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32%</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RM0.0119</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Engage</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Spark Ads on KOL</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RM2.60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RM0.0040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822192"/>
            <a:ext cx="8119872" cy="512064"/>
          </a:xfrm>
          <a:prstGeom prst="rect">
            <a:avLst/>
          </a:prstGeom>
          <a:noFill/>
          <a:ln/>
        </p:spPr>
        <p:txBody>
          <a:bodyPr wrap="square" lIns="0" tIns="0" rIns="0" bIns="0" rtlCol="0" anchor="t"/>
          <a:lstStyle/>
          <a:p>
            <a:pPr indent="0" marL="0">
              <a:lnSpc>
                <a:spcPts val="1150"/>
              </a:lnSpc>
              <a:buNone/>
            </a:pPr>
            <a:r>
              <a:rPr lang="en-US" sz="850" dirty="0">
                <a:solidFill>
                  <a:srgbClr val="6E8A76"/>
                </a:solidFill>
                <a:latin typeface="Arial" pitchFamily="34" charset="0"/>
                <a:ea typeface="Arial" pitchFamily="34" charset="-122"/>
                <a:cs typeface="Arial" pitchFamily="34" charset="-120"/>
              </a:rPr>
              <a:t>Derived from the 2025 deck: Meta frequency 1.86 (26.37M impressions over 14.17M reach), TikTok 1.93. View rates TikTok 63%, Meta 8.8%, Google 12.5%. CTR Meta 0.13%, TikTok 10.6%, Google 0.26%. Meta’s low observed view rate reflects a mostly static reach buy, so the 55% Reels figure is a different buy rather than a contradiction.</a:t>
            </a:r>
            <a:endParaRPr lang="en-US" sz="85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answer fixes this: </a:t>
            </a:r>
            <a:pPr indent="0" marL="0">
              <a:buNone/>
            </a:pPr>
            <a:r>
              <a:rPr lang="en-US" sz="950" b="1" dirty="0">
                <a:solidFill>
                  <a:srgbClr val="FFFFFF"/>
                </a:solidFill>
                <a:latin typeface="Arial" pitchFamily="34" charset="0"/>
                <a:ea typeface="Arial" pitchFamily="34" charset="-122"/>
                <a:cs typeface="Arial" pitchFamily="34" charset="-120"/>
              </a:rPr>
              <a:t>tell us what the 2026 campaign actually spent by platform, and most of that source column turns from assumption into fact.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We will not pretend to know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the conversion rate.</a:t>
            </a:r>
            <a:endParaRPr lang="en-US" sz="2300" dirty="0"/>
          </a:p>
        </p:txBody>
      </p:sp>
      <p:sp>
        <p:nvSpPr>
          <p:cNvPr id="4" name="Text 2"/>
          <p:cNvSpPr/>
          <p:nvPr/>
        </p:nvSpPr>
        <p:spPr>
          <a:xfrm>
            <a:off x="512064" y="1426464"/>
            <a:ext cx="7795077" cy="54864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In 2025 Meta delivered 34,400 link clicks against 4,179 entries, so 12.1% is the ceiling if Meta carried the digital route. Count TikTok’s 1.22M clicks and it drops to 0.33%, but TikTok counts taps that are not link clicks. The band is that wide because there has never been a landing page to measure against.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2064" y="2286000"/>
          <a:ext cx="8119872" cy="914400"/>
        </p:xfrm>
        <a:graphic>
          <a:graphicData uri="http://schemas.openxmlformats.org/drawingml/2006/table">
            <a:tbl>
              <a:tblPr/>
              <a:tblGrid>
                <a:gridCol w="1920240"/>
                <a:gridCol w="1536192"/>
                <a:gridCol w="1572768"/>
                <a:gridCol w="1261872"/>
                <a:gridCol w="1828800"/>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LANDING PAGE CONVERSION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RM90,000 PLAN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RM135,000 PLAN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COST PER ENTRY</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READ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65760">
                <a:tc>
                  <a:txBody>
                    <a:bodyPr/>
                    <a:lstStyle/>
                    <a:p>
                      <a:pPr indent="0" marL="0">
                        <a:buNone/>
                      </a:pPr>
                      <a:r>
                        <a:rPr lang="en-US" sz="950" b="1" dirty="0">
                          <a:solidFill>
                            <a:srgbClr val="006838"/>
                          </a:solidFill>
                          <a:latin typeface="Arial" pitchFamily="34" charset="0"/>
                          <a:ea typeface="Arial" pitchFamily="34" charset="-122"/>
                          <a:cs typeface="Arial" pitchFamily="34" charset="-120"/>
                        </a:rPr>
                        <a:t>2.5%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2,604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3,125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RM14.40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Friction stress case, not a forecast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65760">
                <a:tc>
                  <a:txBody>
                    <a:bodyPr/>
                    <a:lstStyle/>
                    <a:p>
                      <a:pPr indent="0" marL="0">
                        <a:buNone/>
                      </a:pPr>
                      <a:r>
                        <a:rPr lang="en-US" sz="950" b="1" dirty="0">
                          <a:solidFill>
                            <a:srgbClr val="006838"/>
                          </a:solidFill>
                          <a:latin typeface="Arial" pitchFamily="34" charset="0"/>
                          <a:ea typeface="Arial" pitchFamily="34" charset="-122"/>
                          <a:cs typeface="Arial" pitchFamily="34" charset="-120"/>
                        </a:rPr>
                        <a:t>4.0%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4,167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5,000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RM9.00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What we plan on</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65760">
                <a:tc>
                  <a:txBody>
                    <a:bodyPr/>
                    <a:lstStyle/>
                    <a:p>
                      <a:pPr indent="0" marL="0">
                        <a:buNone/>
                      </a:pPr>
                      <a:r>
                        <a:rPr lang="en-US" sz="950" b="1" dirty="0">
                          <a:solidFill>
                            <a:srgbClr val="006838"/>
                          </a:solidFill>
                          <a:latin typeface="Arial" pitchFamily="34" charset="0"/>
                          <a:ea typeface="Arial" pitchFamily="34" charset="-122"/>
                          <a:cs typeface="Arial" pitchFamily="34" charset="-120"/>
                        </a:rPr>
                        <a:t>6.0%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6,250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7,500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RM6.00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Upside if the mechanic lands well</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bl>
          </a:graphicData>
        </a:graphic>
      </p:graphicFrame>
      <p:sp>
        <p:nvSpPr>
          <p:cNvPr id="6" name="Text 3"/>
          <p:cNvSpPr/>
          <p:nvPr/>
        </p:nvSpPr>
        <p:spPr>
          <a:xfrm>
            <a:off x="512064" y="3767328"/>
            <a:ext cx="8119872" cy="566928"/>
          </a:xfrm>
          <a:prstGeom prst="rect">
            <a:avLst/>
          </a:prstGeom>
          <a:noFill/>
          <a:ln/>
        </p:spPr>
        <p:txBody>
          <a:bodyPr wrap="square" lIns="0" tIns="0" rIns="0" bIns="0" rtlCol="0" anchor="t"/>
          <a:lstStyle/>
          <a:p>
            <a:pPr indent="0" marL="0">
              <a:lnSpc>
                <a:spcPts val="1300"/>
              </a:lnSpc>
              <a:buNone/>
            </a:pPr>
            <a:r>
              <a:rPr lang="en-US" sz="950" b="1" dirty="0">
                <a:solidFill>
                  <a:srgbClr val="006838"/>
                </a:solidFill>
                <a:latin typeface="Arial" pitchFamily="34" charset="0"/>
                <a:ea typeface="Arial" pitchFamily="34" charset="-122"/>
                <a:cs typeface="Arial" pitchFamily="34" charset="-120"/>
              </a:rPr>
              <a:t>The 2.5% row is what a third of conversion lost to friction looks like, and it is the row the briefed mechanic points at. We found no Malaysian contest requiring two brands at two retailers, so there is no observed rate to borrow. Cost per entry is against the contest line, not the total budget.</a:t>
            </a:r>
            <a:endParaRPr lang="en-US" sz="95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page pays for itself here: </a:t>
            </a:r>
            <a:pPr indent="0" marL="0">
              <a:buNone/>
            </a:pPr>
            <a:r>
              <a:rPr lang="en-US" sz="950" b="1" dirty="0">
                <a:solidFill>
                  <a:srgbClr val="FFFFFF"/>
                </a:solidFill>
                <a:latin typeface="Arial" pitchFamily="34" charset="0"/>
                <a:ea typeface="Arial" pitchFamily="34" charset="-122"/>
                <a:cs typeface="Arial" pitchFamily="34" charset="-120"/>
              </a:rPr>
              <a:t>the landing page is what turns this from a guess into a number we manage down week by week.</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Option 1: RM90,000.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Entries yes, reach no.</a:t>
            </a:r>
            <a:endParaRPr lang="en-US" sz="24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internal estimate. Google gets RM15,000, Meta and TikTok share RM75,000. The contest line takes half, because entries are the scarce outcome at this budget.</a:t>
            </a:r>
            <a:endParaRPr lang="en-US" sz="1100" dirty="0"/>
          </a:p>
        </p:txBody>
      </p:sp>
      <p:sp>
        <p:nvSpPr>
          <p:cNvPr id="5" name="Shape 3"/>
          <p:cNvSpPr/>
          <p:nvPr/>
        </p:nvSpPr>
        <p:spPr>
          <a:xfrm>
            <a:off x="512064" y="1938528"/>
            <a:ext cx="4059936" cy="475488"/>
          </a:xfrm>
          <a:prstGeom prst="rect">
            <a:avLst/>
          </a:prstGeom>
          <a:solidFill>
            <a:srgbClr val="C5192B"/>
          </a:solidFill>
          <a:ln/>
        </p:spPr>
      </p:sp>
      <p:sp>
        <p:nvSpPr>
          <p:cNvPr id="6" name="Text 4"/>
          <p:cNvSpPr/>
          <p:nvPr/>
        </p:nvSpPr>
        <p:spPr>
          <a:xfrm>
            <a:off x="512064" y="1938528"/>
            <a:ext cx="4059936"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50%</a:t>
            </a:r>
            <a:endParaRPr lang="en-US" sz="1300" dirty="0"/>
          </a:p>
        </p:txBody>
      </p:sp>
      <p:sp>
        <p:nvSpPr>
          <p:cNvPr id="7" name="Text 5"/>
          <p:cNvSpPr/>
          <p:nvPr/>
        </p:nvSpPr>
        <p:spPr>
          <a:xfrm>
            <a:off x="512064" y="2487168"/>
            <a:ext cx="4059936"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Contest conversion</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RM37,500</a:t>
            </a:r>
            <a:endParaRPr lang="en-US" sz="900" dirty="0"/>
          </a:p>
        </p:txBody>
      </p:sp>
      <p:sp>
        <p:nvSpPr>
          <p:cNvPr id="8" name="Shape 6"/>
          <p:cNvSpPr/>
          <p:nvPr/>
        </p:nvSpPr>
        <p:spPr>
          <a:xfrm>
            <a:off x="4572000" y="1938528"/>
            <a:ext cx="2841955" cy="475488"/>
          </a:xfrm>
          <a:prstGeom prst="rect">
            <a:avLst/>
          </a:prstGeom>
          <a:solidFill>
            <a:srgbClr val="006838"/>
          </a:solidFill>
          <a:ln/>
        </p:spPr>
      </p:sp>
      <p:sp>
        <p:nvSpPr>
          <p:cNvPr id="9" name="Text 7"/>
          <p:cNvSpPr/>
          <p:nvPr/>
        </p:nvSpPr>
        <p:spPr>
          <a:xfrm>
            <a:off x="4572000" y="1938528"/>
            <a:ext cx="2841955"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35%</a:t>
            </a:r>
            <a:endParaRPr lang="en-US" sz="1300" dirty="0"/>
          </a:p>
        </p:txBody>
      </p:sp>
      <p:sp>
        <p:nvSpPr>
          <p:cNvPr id="10" name="Text 8"/>
          <p:cNvSpPr/>
          <p:nvPr/>
        </p:nvSpPr>
        <p:spPr>
          <a:xfrm>
            <a:off x="4572000" y="2487168"/>
            <a:ext cx="2841955"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Video and reach</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RM26,250</a:t>
            </a:r>
            <a:endParaRPr lang="en-US" sz="900" dirty="0"/>
          </a:p>
        </p:txBody>
      </p:sp>
      <p:sp>
        <p:nvSpPr>
          <p:cNvPr id="11" name="Shape 9"/>
          <p:cNvSpPr/>
          <p:nvPr/>
        </p:nvSpPr>
        <p:spPr>
          <a:xfrm>
            <a:off x="7413955" y="1938528"/>
            <a:ext cx="1217981" cy="475488"/>
          </a:xfrm>
          <a:prstGeom prst="rect">
            <a:avLst/>
          </a:prstGeom>
          <a:solidFill>
            <a:srgbClr val="052B18"/>
          </a:solidFill>
          <a:ln/>
        </p:spPr>
      </p:sp>
      <p:sp>
        <p:nvSpPr>
          <p:cNvPr id="12" name="Text 10"/>
          <p:cNvSpPr/>
          <p:nvPr/>
        </p:nvSpPr>
        <p:spPr>
          <a:xfrm>
            <a:off x="7413955" y="1938528"/>
            <a:ext cx="1217981"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15%</a:t>
            </a:r>
            <a:endParaRPr lang="en-US" sz="1300" dirty="0"/>
          </a:p>
        </p:txBody>
      </p:sp>
      <p:sp>
        <p:nvSpPr>
          <p:cNvPr id="13" name="Text 11"/>
          <p:cNvSpPr/>
          <p:nvPr/>
        </p:nvSpPr>
        <p:spPr>
          <a:xfrm>
            <a:off x="7413955" y="2487168"/>
            <a:ext cx="1217981"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Engagement, Spark</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RM11,250</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12064" y="2907792"/>
          <a:ext cx="8119872" cy="914400"/>
        </p:xfrm>
        <a:graphic>
          <a:graphicData uri="http://schemas.openxmlformats.org/drawingml/2006/table">
            <a:tbl>
              <a:tblPr/>
              <a:tblGrid>
                <a:gridCol w="2194560"/>
                <a:gridCol w="2377440"/>
                <a:gridCol w="3547872"/>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DELIVERS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AGAINST THE BRIEF</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VERDICT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4,167 entries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Only if the mechanic changes. 2,604 if it does not.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11.6M reach</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15M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Misses by 23%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11.0M paid views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40M campaign wide</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Paid share only, KOL and organic carry the rest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20.8M impressions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No target set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RM4.33 blended CPM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15" name="Shape 12"/>
          <p:cNvSpPr/>
          <p:nvPr/>
        </p:nvSpPr>
        <p:spPr>
          <a:xfrm>
            <a:off x="438912" y="4443984"/>
            <a:ext cx="8266176" cy="402336"/>
          </a:xfrm>
          <a:prstGeom prst="rect">
            <a:avLst/>
          </a:prstGeom>
          <a:solidFill>
            <a:srgbClr val="052B18"/>
          </a:solidFill>
          <a:ln/>
        </p:spPr>
      </p:sp>
      <p:sp>
        <p:nvSpPr>
          <p:cNvPr id="16" name="Text 1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Cost per entry: </a:t>
            </a:r>
            <a:pPr indent="0" marL="0">
              <a:buNone/>
            </a:pPr>
            <a:r>
              <a:rPr lang="en-US" sz="950" b="1" dirty="0">
                <a:solidFill>
                  <a:srgbClr val="FFFFFF"/>
                </a:solidFill>
                <a:latin typeface="Arial" pitchFamily="34" charset="0"/>
                <a:ea typeface="Arial" pitchFamily="34" charset="-122"/>
                <a:cs typeface="Arial" pitchFamily="34" charset="-120"/>
              </a:rPr>
              <a:t>RM9.00 against the contest line, RM21.60 against the full budget, close to the RM22.50 the team already assumed.</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Option 2: RM135,000.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Recommended.</a:t>
            </a:r>
            <a:endParaRPr lang="en-US" sz="24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Google gets RM20,000, Meta and TikTok share RM115,000. The contest line saturates around RM45,000, because you can only convert people who will actually buy, so every extra ringgit goes to views and reach instead.</a:t>
            </a:r>
            <a:endParaRPr lang="en-US" sz="1100" dirty="0"/>
          </a:p>
        </p:txBody>
      </p:sp>
      <p:sp>
        <p:nvSpPr>
          <p:cNvPr id="5" name="Shape 3"/>
          <p:cNvSpPr/>
          <p:nvPr/>
        </p:nvSpPr>
        <p:spPr>
          <a:xfrm>
            <a:off x="512064" y="1938528"/>
            <a:ext cx="3166750" cy="475488"/>
          </a:xfrm>
          <a:prstGeom prst="rect">
            <a:avLst/>
          </a:prstGeom>
          <a:solidFill>
            <a:srgbClr val="C5192B"/>
          </a:solidFill>
          <a:ln/>
        </p:spPr>
      </p:sp>
      <p:sp>
        <p:nvSpPr>
          <p:cNvPr id="6" name="Text 4"/>
          <p:cNvSpPr/>
          <p:nvPr/>
        </p:nvSpPr>
        <p:spPr>
          <a:xfrm>
            <a:off x="512064" y="1938528"/>
            <a:ext cx="3166750"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39%</a:t>
            </a:r>
            <a:endParaRPr lang="en-US" sz="1300" dirty="0"/>
          </a:p>
        </p:txBody>
      </p:sp>
      <p:sp>
        <p:nvSpPr>
          <p:cNvPr id="7" name="Text 5"/>
          <p:cNvSpPr/>
          <p:nvPr/>
        </p:nvSpPr>
        <p:spPr>
          <a:xfrm>
            <a:off x="512064" y="2487168"/>
            <a:ext cx="3166750"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Contest conversion</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RM45,000</a:t>
            </a:r>
            <a:endParaRPr lang="en-US" sz="900" dirty="0"/>
          </a:p>
        </p:txBody>
      </p:sp>
      <p:sp>
        <p:nvSpPr>
          <p:cNvPr id="8" name="Shape 6"/>
          <p:cNvSpPr/>
          <p:nvPr/>
        </p:nvSpPr>
        <p:spPr>
          <a:xfrm>
            <a:off x="3678814" y="1938528"/>
            <a:ext cx="4059936" cy="475488"/>
          </a:xfrm>
          <a:prstGeom prst="rect">
            <a:avLst/>
          </a:prstGeom>
          <a:solidFill>
            <a:srgbClr val="006838"/>
          </a:solidFill>
          <a:ln/>
        </p:spPr>
      </p:sp>
      <p:sp>
        <p:nvSpPr>
          <p:cNvPr id="9" name="Text 7"/>
          <p:cNvSpPr/>
          <p:nvPr/>
        </p:nvSpPr>
        <p:spPr>
          <a:xfrm>
            <a:off x="3678814" y="1938528"/>
            <a:ext cx="4059936"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50%</a:t>
            </a:r>
            <a:endParaRPr lang="en-US" sz="1300" dirty="0"/>
          </a:p>
        </p:txBody>
      </p:sp>
      <p:sp>
        <p:nvSpPr>
          <p:cNvPr id="10" name="Text 8"/>
          <p:cNvSpPr/>
          <p:nvPr/>
        </p:nvSpPr>
        <p:spPr>
          <a:xfrm>
            <a:off x="3678814" y="2487168"/>
            <a:ext cx="4059936"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Video and reach</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RM58,000</a:t>
            </a:r>
            <a:endParaRPr lang="en-US" sz="900" dirty="0"/>
          </a:p>
        </p:txBody>
      </p:sp>
      <p:sp>
        <p:nvSpPr>
          <p:cNvPr id="11" name="Shape 9"/>
          <p:cNvSpPr/>
          <p:nvPr/>
        </p:nvSpPr>
        <p:spPr>
          <a:xfrm>
            <a:off x="7738750" y="1938528"/>
            <a:ext cx="893186" cy="475488"/>
          </a:xfrm>
          <a:prstGeom prst="rect">
            <a:avLst/>
          </a:prstGeom>
          <a:solidFill>
            <a:srgbClr val="052B18"/>
          </a:solidFill>
          <a:ln/>
        </p:spPr>
      </p:sp>
      <p:sp>
        <p:nvSpPr>
          <p:cNvPr id="12" name="Text 10"/>
          <p:cNvSpPr/>
          <p:nvPr/>
        </p:nvSpPr>
        <p:spPr>
          <a:xfrm>
            <a:off x="7738750" y="1938528"/>
            <a:ext cx="893186"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11%</a:t>
            </a:r>
            <a:endParaRPr lang="en-US" sz="1300" dirty="0"/>
          </a:p>
        </p:txBody>
      </p:sp>
      <p:sp>
        <p:nvSpPr>
          <p:cNvPr id="13" name="Text 11"/>
          <p:cNvSpPr/>
          <p:nvPr/>
        </p:nvSpPr>
        <p:spPr>
          <a:xfrm>
            <a:off x="7738750" y="2487168"/>
            <a:ext cx="893186"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Engagement, Spark</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RM12,000</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12064" y="2907792"/>
          <a:ext cx="8119872" cy="914400"/>
        </p:xfrm>
        <a:graphic>
          <a:graphicData uri="http://schemas.openxmlformats.org/drawingml/2006/table">
            <a:tbl>
              <a:tblPr/>
              <a:tblGrid>
                <a:gridCol w="2194560"/>
                <a:gridCol w="2377440"/>
                <a:gridCol w="3547872"/>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DELIVERS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AGAINST THE BRIEF</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VERDICT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5,000 entries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Clears it with 25% cushion against friction risk</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19.5M reach</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15M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Clears it by 30%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20.1M paid views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40M campaign wide</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Half from paid, KOL and organic close the gap</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35.4M impressions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No target set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Engagement 2.3% on impressions, 4.2% on reach</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15" name="Shape 12"/>
          <p:cNvSpPr/>
          <p:nvPr/>
        </p:nvSpPr>
        <p:spPr>
          <a:xfrm>
            <a:off x="438912" y="4443984"/>
            <a:ext cx="8266176" cy="402336"/>
          </a:xfrm>
          <a:prstGeom prst="rect">
            <a:avLst/>
          </a:prstGeom>
          <a:solidFill>
            <a:srgbClr val="052B18"/>
          </a:solidFill>
          <a:ln/>
        </p:spPr>
      </p:sp>
      <p:sp>
        <p:nvSpPr>
          <p:cNvPr id="16" name="Text 1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the split moves: </a:t>
            </a:r>
            <a:pPr indent="0" marL="0">
              <a:buNone/>
            </a:pPr>
            <a:r>
              <a:rPr lang="en-US" sz="950" b="1" dirty="0">
                <a:solidFill>
                  <a:srgbClr val="FFFFFF"/>
                </a:solidFill>
                <a:latin typeface="Arial" pitchFamily="34" charset="0"/>
                <a:ea typeface="Arial" pitchFamily="34" charset="-122"/>
                <a:cs typeface="Arial" pitchFamily="34" charset="-120"/>
              </a:rPr>
              <a:t>at RM90,000 the contest needs half the money. At RM135,000 it does not, and forcing it there would buy entries we cannot convert.</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64008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Side by side.</a:t>
            </a:r>
            <a:endParaRPr lang="en-US" sz="2400" dirty="0"/>
          </a:p>
        </p:txBody>
      </p:sp>
      <p:sp>
        <p:nvSpPr>
          <p:cNvPr id="4" name="Text 2"/>
          <p:cNvSpPr/>
          <p:nvPr/>
        </p:nvSpPr>
        <p:spPr>
          <a:xfrm>
            <a:off x="512064" y="1280160"/>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honest read on both. RM90,000 delivers a contest and a thin video campaign. RM135,000 delivers both properly.</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12064" y="1682496"/>
          <a:ext cx="8119872" cy="914400"/>
        </p:xfrm>
        <a:graphic>
          <a:graphicData uri="http://schemas.openxmlformats.org/drawingml/2006/table">
            <a:tbl>
              <a:tblPr/>
              <a:tblGrid>
                <a:gridCol w="1700784"/>
                <a:gridCol w="1627632"/>
                <a:gridCol w="1591056"/>
                <a:gridCol w="1591056"/>
                <a:gridCol w="1609344"/>
              </a:tblGrid>
              <a:tr h="237744">
                <a:tc>
                  <a:txBody>
                    <a:bodyPr/>
                    <a:lstStyle/>
                    <a:p>
                      <a:pPr indent="0" marL="0">
                        <a:buNone/>
                      </a:pP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BRIEF TARGET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RM90,000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RM135,000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2026 ACTUAL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Contest entries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4,000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4,167</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5,000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3,765</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Paid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15M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C5192B"/>
                          </a:solidFill>
                          <a:latin typeface="Arial" pitchFamily="34" charset="0"/>
                          <a:ea typeface="Arial" pitchFamily="34" charset="-122"/>
                          <a:cs typeface="Arial" pitchFamily="34" charset="-120"/>
                        </a:rPr>
                        <a:t>11.6M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19.5M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13.8M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Video views, paid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40M campaign wide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11.0M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20.1M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38.8M campaign wide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Impressions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Not set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20.8M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35.4M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51.0M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Engagement rate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2.5% impr / 4.5%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2.3% impr / 4.2%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0.08% impr</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Cost per entry</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Not set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RM9.00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RM9.00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Unknown</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840480"/>
            <a:ext cx="8119872" cy="512064"/>
          </a:xfrm>
          <a:prstGeom prst="rect">
            <a:avLst/>
          </a:prstGeom>
          <a:noFill/>
          <a:ln/>
        </p:spPr>
        <p:txBody>
          <a:bodyPr wrap="square" lIns="0" tIns="0" rIns="0" bIns="0" rtlCol="0" anchor="t"/>
          <a:lstStyle/>
          <a:p>
            <a:pPr indent="0" marL="0">
              <a:lnSpc>
                <a:spcPts val="1300"/>
              </a:lnSpc>
              <a:buNone/>
            </a:pPr>
            <a:r>
              <a:rPr lang="en-US" sz="950" b="1" dirty="0">
                <a:solidFill>
                  <a:srgbClr val="006838"/>
                </a:solidFill>
                <a:latin typeface="Arial" pitchFamily="34" charset="0"/>
                <a:ea typeface="Arial" pitchFamily="34" charset="-122"/>
                <a:cs typeface="Arial" pitchFamily="34" charset="-120"/>
              </a:rPr>
              <a:t>These forecasts are paid media only. They exclude KOL and organic views from the 30 influencers, both brands’ owned channels, entries walked in from 320 sampling days across 120 outlets and 96 roadshow days across 32 outlets, POSM and on pack QR codes, the Sampul Raya, and earned media. Actual outcomes should land above these numbers.</a:t>
            </a:r>
            <a:endParaRPr lang="en-US" sz="95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Read this line first: </a:t>
            </a:r>
            <a:pPr indent="0" marL="0">
              <a:buNone/>
            </a:pPr>
            <a:r>
              <a:rPr lang="en-US" sz="950" b="1" dirty="0">
                <a:solidFill>
                  <a:srgbClr val="FFFFFF"/>
                </a:solidFill>
                <a:latin typeface="Arial" pitchFamily="34" charset="0"/>
                <a:ea typeface="Arial" pitchFamily="34" charset="-122"/>
                <a:cs typeface="Arial" pitchFamily="34" charset="-120"/>
              </a:rPr>
              <a:t>paid is the floor, not the ceiling. Everything the campaign earns for free sits on top of these numbers.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30352"/>
            <a:ext cx="8119872" cy="45720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Where every ringgit goes,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by platform.</a:t>
            </a:r>
            <a:endParaRPr lang="en-US" sz="2400" dirty="0"/>
          </a:p>
        </p:txBody>
      </p:sp>
      <p:sp>
        <p:nvSpPr>
          <p:cNvPr id="4" name="Text 2"/>
          <p:cNvSpPr/>
          <p:nvPr/>
        </p:nvSpPr>
        <p:spPr>
          <a:xfrm>
            <a:off x="512064" y="1078992"/>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same three lines split across Meta, TikTok and Google in both options. Engagement runs entirely on TikTok Spark Ads, because that is where the KOL content lives. Meta engagement comes as a by-product of the Reels video line rather than being bought separately.</a:t>
            </a:r>
            <a:endParaRPr lang="en-US" sz="1100" dirty="0"/>
          </a:p>
        </p:txBody>
      </p:sp>
      <p:sp>
        <p:nvSpPr>
          <p:cNvPr id="5" name="Text 3"/>
          <p:cNvSpPr/>
          <p:nvPr/>
        </p:nvSpPr>
        <p:spPr>
          <a:xfrm>
            <a:off x="512064" y="1901952"/>
            <a:ext cx="3922776" cy="182880"/>
          </a:xfrm>
          <a:prstGeom prst="rect">
            <a:avLst/>
          </a:prstGeom>
          <a:noFill/>
          <a:ln/>
        </p:spPr>
        <p:txBody>
          <a:bodyPr wrap="square" lIns="0" tIns="0" rIns="0" bIns="0" rtlCol="0" anchor="t"/>
          <a:lstStyle/>
          <a:p>
            <a:pPr indent="0" marL="0">
              <a:buNone/>
            </a:pPr>
            <a:r>
              <a:rPr lang="en-US" sz="850" b="1" spc="90" kern="0" dirty="0">
                <a:solidFill>
                  <a:srgbClr val="6E8A76"/>
                </a:solidFill>
                <a:latin typeface="Arial" pitchFamily="34" charset="0"/>
                <a:ea typeface="Arial" pitchFamily="34" charset="-122"/>
                <a:cs typeface="Arial" pitchFamily="34" charset="-120"/>
              </a:rPr>
              <a:t>OPTION 1 · RM90,000</a:t>
            </a:r>
            <a:endParaRPr lang="en-US" sz="850" dirty="0"/>
          </a:p>
        </p:txBody>
      </p:sp>
      <p:sp>
        <p:nvSpPr>
          <p:cNvPr id="6" name="Text 4"/>
          <p:cNvSpPr/>
          <p:nvPr/>
        </p:nvSpPr>
        <p:spPr>
          <a:xfrm>
            <a:off x="4709160" y="1901952"/>
            <a:ext cx="3922776" cy="182880"/>
          </a:xfrm>
          <a:prstGeom prst="rect">
            <a:avLst/>
          </a:prstGeom>
          <a:noFill/>
          <a:ln/>
        </p:spPr>
        <p:txBody>
          <a:bodyPr wrap="square" lIns="0" tIns="0" rIns="0" bIns="0" rtlCol="0" anchor="t"/>
          <a:lstStyle/>
          <a:p>
            <a:pPr indent="0" marL="0">
              <a:buNone/>
            </a:pPr>
            <a:r>
              <a:rPr lang="en-US" sz="850" b="1" spc="90" kern="0" dirty="0">
                <a:solidFill>
                  <a:srgbClr val="C5192B"/>
                </a:solidFill>
                <a:latin typeface="Arial" pitchFamily="34" charset="0"/>
                <a:ea typeface="Arial" pitchFamily="34" charset="-122"/>
                <a:cs typeface="Arial" pitchFamily="34" charset="-120"/>
              </a:rPr>
              <a:t>OPTION 2 · RM135,000 · RECOMMENDED</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12064" y="2139696"/>
          <a:ext cx="3922776" cy="914400"/>
        </p:xfrm>
        <a:graphic>
          <a:graphicData uri="http://schemas.openxmlformats.org/drawingml/2006/table">
            <a:tbl>
              <a:tblPr/>
              <a:tblGrid>
                <a:gridCol w="1179576"/>
                <a:gridCol w="658368"/>
                <a:gridCol w="694944"/>
                <a:gridCol w="676656"/>
                <a:gridCol w="713232"/>
              </a:tblGrid>
              <a:tr h="219456">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META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TIKTOK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GOOGLE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Contest conversion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18,750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18,750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37,500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Video and reach</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9,250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17,000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41,250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Engagement, Spark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11,250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11,250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28,000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47,000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15,000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C5192B"/>
                          </a:solidFill>
                          <a:latin typeface="Arial" pitchFamily="34" charset="0"/>
                          <a:ea typeface="Arial" pitchFamily="34" charset="-122"/>
                          <a:cs typeface="Arial" pitchFamily="34" charset="-120"/>
                        </a:rPr>
                        <a:t>90,000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4709160" y="2139696"/>
          <a:ext cx="3922776" cy="914400"/>
        </p:xfrm>
        <a:graphic>
          <a:graphicData uri="http://schemas.openxmlformats.org/drawingml/2006/table">
            <a:tbl>
              <a:tblPr/>
              <a:tblGrid>
                <a:gridCol w="1179576"/>
                <a:gridCol w="658368"/>
                <a:gridCol w="694944"/>
                <a:gridCol w="676656"/>
                <a:gridCol w="713232"/>
              </a:tblGrid>
              <a:tr h="219456">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META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TIKTOK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GOOGLE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Contest conversion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22,500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22,500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45,000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Video and reach</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20,000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38,000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20,000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78,000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Engagement, Spark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12,000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42,500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72,500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20,000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C5192B"/>
                          </a:solidFill>
                          <a:latin typeface="Arial" pitchFamily="34" charset="0"/>
                          <a:ea typeface="Arial" pitchFamily="34" charset="-122"/>
                          <a:cs typeface="Arial" pitchFamily="34" charset="-120"/>
                        </a:rPr>
                        <a:t>135,000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9" name="Shape 5"/>
          <p:cNvSpPr/>
          <p:nvPr/>
        </p:nvSpPr>
        <p:spPr>
          <a:xfrm>
            <a:off x="512064" y="3602736"/>
            <a:ext cx="2584704" cy="566928"/>
          </a:xfrm>
          <a:prstGeom prst="rect">
            <a:avLst/>
          </a:prstGeom>
          <a:solidFill>
            <a:srgbClr val="E9F3DD"/>
          </a:solidFill>
          <a:ln/>
        </p:spPr>
      </p:sp>
      <p:sp>
        <p:nvSpPr>
          <p:cNvPr id="10" name="Shape 6"/>
          <p:cNvSpPr/>
          <p:nvPr/>
        </p:nvSpPr>
        <p:spPr>
          <a:xfrm>
            <a:off x="512064" y="3602736"/>
            <a:ext cx="45720" cy="566928"/>
          </a:xfrm>
          <a:prstGeom prst="rect">
            <a:avLst/>
          </a:prstGeom>
          <a:solidFill>
            <a:srgbClr val="006838"/>
          </a:solidFill>
          <a:ln/>
        </p:spPr>
      </p:sp>
      <p:sp>
        <p:nvSpPr>
          <p:cNvPr id="11" name="Text 7"/>
          <p:cNvSpPr/>
          <p:nvPr/>
        </p:nvSpPr>
        <p:spPr>
          <a:xfrm>
            <a:off x="658368" y="3685032"/>
            <a:ext cx="2292096" cy="182880"/>
          </a:xfrm>
          <a:prstGeom prst="rect">
            <a:avLst/>
          </a:prstGeom>
          <a:noFill/>
          <a:ln/>
        </p:spPr>
        <p:txBody>
          <a:bodyPr wrap="square" lIns="0" tIns="0" rIns="0" bIns="0" rtlCol="0" anchor="t"/>
          <a:lstStyle/>
          <a:p>
            <a:pPr indent="0" marL="0">
              <a:buNone/>
            </a:pPr>
            <a:r>
              <a:rPr lang="en-US" sz="900" b="1" dirty="0">
                <a:solidFill>
                  <a:srgbClr val="006838"/>
                </a:solidFill>
                <a:latin typeface="Arial" pitchFamily="34" charset="0"/>
                <a:ea typeface="Arial" pitchFamily="34" charset="-122"/>
                <a:cs typeface="Arial" pitchFamily="34" charset="-120"/>
              </a:rPr>
              <a:t>Meta</a:t>
            </a:r>
            <a:endParaRPr lang="en-US" sz="900" dirty="0"/>
          </a:p>
        </p:txBody>
      </p:sp>
      <p:sp>
        <p:nvSpPr>
          <p:cNvPr id="12" name="Text 8"/>
          <p:cNvSpPr/>
          <p:nvPr/>
        </p:nvSpPr>
        <p:spPr>
          <a:xfrm>
            <a:off x="658368" y="3886200"/>
            <a:ext cx="2292096" cy="201168"/>
          </a:xfrm>
          <a:prstGeom prst="rect">
            <a:avLst/>
          </a:prstGeom>
          <a:noFill/>
          <a:ln/>
        </p:spPr>
        <p:txBody>
          <a:bodyPr wrap="square" lIns="0" tIns="0" rIns="0" bIns="0" rtlCol="0" anchor="t"/>
          <a:lstStyle/>
          <a:p>
            <a:pPr indent="0" marL="0">
              <a:buNone/>
            </a:pPr>
            <a:r>
              <a:rPr lang="en-US" sz="850" dirty="0">
                <a:solidFill>
                  <a:srgbClr val="6E8A76"/>
                </a:solidFill>
                <a:latin typeface="Arial" pitchFamily="34" charset="0"/>
                <a:ea typeface="Arial" pitchFamily="34" charset="-122"/>
                <a:cs typeface="Arial" pitchFamily="34" charset="-120"/>
              </a:rPr>
              <a:t>31% of RM90,000  ·  31% of RM135,000</a:t>
            </a:r>
            <a:endParaRPr lang="en-US" sz="850" dirty="0"/>
          </a:p>
        </p:txBody>
      </p:sp>
      <p:sp>
        <p:nvSpPr>
          <p:cNvPr id="13" name="Shape 9"/>
          <p:cNvSpPr/>
          <p:nvPr/>
        </p:nvSpPr>
        <p:spPr>
          <a:xfrm>
            <a:off x="3279648" y="3602736"/>
            <a:ext cx="2584704" cy="566928"/>
          </a:xfrm>
          <a:prstGeom prst="rect">
            <a:avLst/>
          </a:prstGeom>
          <a:solidFill>
            <a:srgbClr val="E9F3DD"/>
          </a:solidFill>
          <a:ln/>
        </p:spPr>
      </p:sp>
      <p:sp>
        <p:nvSpPr>
          <p:cNvPr id="14" name="Shape 10"/>
          <p:cNvSpPr/>
          <p:nvPr/>
        </p:nvSpPr>
        <p:spPr>
          <a:xfrm>
            <a:off x="3279648" y="3602736"/>
            <a:ext cx="45720" cy="566928"/>
          </a:xfrm>
          <a:prstGeom prst="rect">
            <a:avLst/>
          </a:prstGeom>
          <a:solidFill>
            <a:srgbClr val="C5192B"/>
          </a:solidFill>
          <a:ln/>
        </p:spPr>
      </p:sp>
      <p:sp>
        <p:nvSpPr>
          <p:cNvPr id="15" name="Text 11"/>
          <p:cNvSpPr/>
          <p:nvPr/>
        </p:nvSpPr>
        <p:spPr>
          <a:xfrm>
            <a:off x="3425952" y="3685032"/>
            <a:ext cx="2292096" cy="182880"/>
          </a:xfrm>
          <a:prstGeom prst="rect">
            <a:avLst/>
          </a:prstGeom>
          <a:noFill/>
          <a:ln/>
        </p:spPr>
        <p:txBody>
          <a:bodyPr wrap="square" lIns="0" tIns="0" rIns="0" bIns="0" rtlCol="0" anchor="t"/>
          <a:lstStyle/>
          <a:p>
            <a:pPr indent="0" marL="0">
              <a:buNone/>
            </a:pPr>
            <a:r>
              <a:rPr lang="en-US" sz="900" b="1" dirty="0">
                <a:solidFill>
                  <a:srgbClr val="006838"/>
                </a:solidFill>
                <a:latin typeface="Arial" pitchFamily="34" charset="0"/>
                <a:ea typeface="Arial" pitchFamily="34" charset="-122"/>
                <a:cs typeface="Arial" pitchFamily="34" charset="-120"/>
              </a:rPr>
              <a:t>TikTok</a:t>
            </a:r>
            <a:endParaRPr lang="en-US" sz="900" dirty="0"/>
          </a:p>
        </p:txBody>
      </p:sp>
      <p:sp>
        <p:nvSpPr>
          <p:cNvPr id="16" name="Text 12"/>
          <p:cNvSpPr/>
          <p:nvPr/>
        </p:nvSpPr>
        <p:spPr>
          <a:xfrm>
            <a:off x="3425952" y="3886200"/>
            <a:ext cx="2292096" cy="201168"/>
          </a:xfrm>
          <a:prstGeom prst="rect">
            <a:avLst/>
          </a:prstGeom>
          <a:noFill/>
          <a:ln/>
        </p:spPr>
        <p:txBody>
          <a:bodyPr wrap="square" lIns="0" tIns="0" rIns="0" bIns="0" rtlCol="0" anchor="t"/>
          <a:lstStyle/>
          <a:p>
            <a:pPr indent="0" marL="0">
              <a:buNone/>
            </a:pPr>
            <a:r>
              <a:rPr lang="en-US" sz="850" dirty="0">
                <a:solidFill>
                  <a:srgbClr val="6E8A76"/>
                </a:solidFill>
                <a:latin typeface="Arial" pitchFamily="34" charset="0"/>
                <a:ea typeface="Arial" pitchFamily="34" charset="-122"/>
                <a:cs typeface="Arial" pitchFamily="34" charset="-120"/>
              </a:rPr>
              <a:t>52% of RM90,000  ·  54% of RM135,000</a:t>
            </a:r>
            <a:endParaRPr lang="en-US" sz="850" dirty="0"/>
          </a:p>
        </p:txBody>
      </p:sp>
      <p:sp>
        <p:nvSpPr>
          <p:cNvPr id="17" name="Shape 13"/>
          <p:cNvSpPr/>
          <p:nvPr/>
        </p:nvSpPr>
        <p:spPr>
          <a:xfrm>
            <a:off x="6047232" y="3602736"/>
            <a:ext cx="2584704" cy="566928"/>
          </a:xfrm>
          <a:prstGeom prst="rect">
            <a:avLst/>
          </a:prstGeom>
          <a:solidFill>
            <a:srgbClr val="E9F3DD"/>
          </a:solidFill>
          <a:ln/>
        </p:spPr>
      </p:sp>
      <p:sp>
        <p:nvSpPr>
          <p:cNvPr id="18" name="Shape 14"/>
          <p:cNvSpPr/>
          <p:nvPr/>
        </p:nvSpPr>
        <p:spPr>
          <a:xfrm>
            <a:off x="6047232" y="3602736"/>
            <a:ext cx="45720" cy="566928"/>
          </a:xfrm>
          <a:prstGeom prst="rect">
            <a:avLst/>
          </a:prstGeom>
          <a:solidFill>
            <a:srgbClr val="E8912C"/>
          </a:solidFill>
          <a:ln/>
        </p:spPr>
      </p:sp>
      <p:sp>
        <p:nvSpPr>
          <p:cNvPr id="19" name="Text 15"/>
          <p:cNvSpPr/>
          <p:nvPr/>
        </p:nvSpPr>
        <p:spPr>
          <a:xfrm>
            <a:off x="6193536" y="3685032"/>
            <a:ext cx="2292096" cy="182880"/>
          </a:xfrm>
          <a:prstGeom prst="rect">
            <a:avLst/>
          </a:prstGeom>
          <a:noFill/>
          <a:ln/>
        </p:spPr>
        <p:txBody>
          <a:bodyPr wrap="square" lIns="0" tIns="0" rIns="0" bIns="0" rtlCol="0" anchor="t"/>
          <a:lstStyle/>
          <a:p>
            <a:pPr indent="0" marL="0">
              <a:buNone/>
            </a:pPr>
            <a:r>
              <a:rPr lang="en-US" sz="900" b="1" dirty="0">
                <a:solidFill>
                  <a:srgbClr val="006838"/>
                </a:solidFill>
                <a:latin typeface="Arial" pitchFamily="34" charset="0"/>
                <a:ea typeface="Arial" pitchFamily="34" charset="-122"/>
                <a:cs typeface="Arial" pitchFamily="34" charset="-120"/>
              </a:rPr>
              <a:t>Google, YouTube</a:t>
            </a:r>
            <a:endParaRPr lang="en-US" sz="900" dirty="0"/>
          </a:p>
        </p:txBody>
      </p:sp>
      <p:sp>
        <p:nvSpPr>
          <p:cNvPr id="20" name="Text 16"/>
          <p:cNvSpPr/>
          <p:nvPr/>
        </p:nvSpPr>
        <p:spPr>
          <a:xfrm>
            <a:off x="6193536" y="3886200"/>
            <a:ext cx="2292096" cy="201168"/>
          </a:xfrm>
          <a:prstGeom prst="rect">
            <a:avLst/>
          </a:prstGeom>
          <a:noFill/>
          <a:ln/>
        </p:spPr>
        <p:txBody>
          <a:bodyPr wrap="square" lIns="0" tIns="0" rIns="0" bIns="0" rtlCol="0" anchor="t"/>
          <a:lstStyle/>
          <a:p>
            <a:pPr indent="0" marL="0">
              <a:buNone/>
            </a:pPr>
            <a:r>
              <a:rPr lang="en-US" sz="850" dirty="0">
                <a:solidFill>
                  <a:srgbClr val="6E8A76"/>
                </a:solidFill>
                <a:latin typeface="Arial" pitchFamily="34" charset="0"/>
                <a:ea typeface="Arial" pitchFamily="34" charset="-122"/>
                <a:cs typeface="Arial" pitchFamily="34" charset="-120"/>
              </a:rPr>
              <a:t>17% of RM90,000  ·  15% of RM135,000</a:t>
            </a:r>
            <a:endParaRPr lang="en-US" sz="850" dirty="0"/>
          </a:p>
        </p:txBody>
      </p:sp>
      <p:sp>
        <p:nvSpPr>
          <p:cNvPr id="21" name="Shape 17"/>
          <p:cNvSpPr/>
          <p:nvPr/>
        </p:nvSpPr>
        <p:spPr>
          <a:xfrm>
            <a:off x="438912" y="4443984"/>
            <a:ext cx="8266176" cy="402336"/>
          </a:xfrm>
          <a:prstGeom prst="rect">
            <a:avLst/>
          </a:prstGeom>
          <a:solidFill>
            <a:srgbClr val="C5192B"/>
          </a:solidFill>
          <a:ln/>
        </p:spPr>
      </p:sp>
      <p:sp>
        <p:nvSpPr>
          <p:cNvPr id="22" name="Text 1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Please note: </a:t>
            </a:r>
            <a:pPr indent="0" marL="0">
              <a:buNone/>
            </a:pPr>
            <a:r>
              <a:rPr lang="en-US" sz="950" b="1" dirty="0">
                <a:solidFill>
                  <a:srgbClr val="FFFFFF"/>
                </a:solidFill>
                <a:latin typeface="Arial" pitchFamily="34" charset="0"/>
                <a:ea typeface="Arial" pitchFamily="34" charset="-122"/>
                <a:cs typeface="Arial" pitchFamily="34" charset="-120"/>
              </a:rPr>
              <a:t>these are initial plans. The split moves once the campaign is live, because we optimize against real time cost per entry and cost per view rather than against this table.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Each platform has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one job.</a:t>
            </a:r>
            <a:endParaRPr lang="en-US" sz="24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Taken straight from what each one actually delivered for Saji in 2025, rather than from a generic channel plan.</a:t>
            </a:r>
            <a:endParaRPr lang="en-US" sz="1100" dirty="0"/>
          </a:p>
        </p:txBody>
      </p:sp>
      <p:sp>
        <p:nvSpPr>
          <p:cNvPr id="5" name="Shape 3"/>
          <p:cNvSpPr/>
          <p:nvPr/>
        </p:nvSpPr>
        <p:spPr>
          <a:xfrm>
            <a:off x="512064" y="1810512"/>
            <a:ext cx="2584704" cy="2139696"/>
          </a:xfrm>
          <a:prstGeom prst="rect">
            <a:avLst/>
          </a:prstGeom>
          <a:solidFill>
            <a:srgbClr val="E9F3DD"/>
          </a:solidFill>
          <a:ln/>
        </p:spPr>
      </p:sp>
      <p:sp>
        <p:nvSpPr>
          <p:cNvPr id="6" name="Shape 4"/>
          <p:cNvSpPr/>
          <p:nvPr/>
        </p:nvSpPr>
        <p:spPr>
          <a:xfrm>
            <a:off x="512064" y="1810512"/>
            <a:ext cx="2584704" cy="54864"/>
          </a:xfrm>
          <a:prstGeom prst="rect">
            <a:avLst/>
          </a:prstGeom>
          <a:solidFill>
            <a:srgbClr val="C5192B"/>
          </a:solidFill>
          <a:ln/>
        </p:spPr>
      </p:sp>
      <p:sp>
        <p:nvSpPr>
          <p:cNvPr id="7" name="Text 5"/>
          <p:cNvSpPr/>
          <p:nvPr/>
        </p:nvSpPr>
        <p:spPr>
          <a:xfrm>
            <a:off x="676656" y="1993392"/>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TikTok</a:t>
            </a:r>
            <a:endParaRPr lang="en-US" sz="1700" dirty="0"/>
          </a:p>
        </p:txBody>
      </p:sp>
      <p:sp>
        <p:nvSpPr>
          <p:cNvPr id="8" name="Text 6"/>
          <p:cNvSpPr/>
          <p:nvPr/>
        </p:nvSpPr>
        <p:spPr>
          <a:xfrm>
            <a:off x="676656"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VIEWS AND ENGAGEMENT</a:t>
            </a:r>
            <a:endParaRPr lang="en-US" sz="800" dirty="0"/>
          </a:p>
        </p:txBody>
      </p:sp>
      <p:sp>
        <p:nvSpPr>
          <p:cNvPr id="9" name="Text 7"/>
          <p:cNvSpPr/>
          <p:nvPr/>
        </p:nvSpPr>
        <p:spPr>
          <a:xfrm>
            <a:off x="676656"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The cheapest view in the market</a:t>
            </a:r>
            <a:endParaRPr lang="en-US" sz="1200" dirty="0"/>
          </a:p>
        </p:txBody>
      </p:sp>
      <p:sp>
        <p:nvSpPr>
          <p:cNvPr id="10" name="Text 8"/>
          <p:cNvSpPr/>
          <p:nvPr/>
        </p:nvSpPr>
        <p:spPr>
          <a:xfrm>
            <a:off x="676656"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In 2025 TikTok turned 11.5M impressions into 7.26M views, a 63% view rate, six times cheaper per view than YouTube. It carries the view KPI and the Spark Ads on KOL content.</a:t>
            </a:r>
            <a:endParaRPr lang="en-US" sz="950" dirty="0"/>
          </a:p>
        </p:txBody>
      </p:sp>
      <p:sp>
        <p:nvSpPr>
          <p:cNvPr id="11" name="Shape 9"/>
          <p:cNvSpPr/>
          <p:nvPr/>
        </p:nvSpPr>
        <p:spPr>
          <a:xfrm>
            <a:off x="3279648" y="1810512"/>
            <a:ext cx="2584704" cy="2139696"/>
          </a:xfrm>
          <a:prstGeom prst="rect">
            <a:avLst/>
          </a:prstGeom>
          <a:solidFill>
            <a:srgbClr val="E9F3DD"/>
          </a:solidFill>
          <a:ln/>
        </p:spPr>
      </p:sp>
      <p:sp>
        <p:nvSpPr>
          <p:cNvPr id="12" name="Shape 10"/>
          <p:cNvSpPr/>
          <p:nvPr/>
        </p:nvSpPr>
        <p:spPr>
          <a:xfrm>
            <a:off x="3279648" y="1810512"/>
            <a:ext cx="2584704" cy="54864"/>
          </a:xfrm>
          <a:prstGeom prst="rect">
            <a:avLst/>
          </a:prstGeom>
          <a:solidFill>
            <a:srgbClr val="006838"/>
          </a:solidFill>
          <a:ln/>
        </p:spPr>
      </p:sp>
      <p:sp>
        <p:nvSpPr>
          <p:cNvPr id="13" name="Text 11"/>
          <p:cNvSpPr/>
          <p:nvPr/>
        </p:nvSpPr>
        <p:spPr>
          <a:xfrm>
            <a:off x="3444240" y="1993392"/>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Meta</a:t>
            </a:r>
            <a:endParaRPr lang="en-US" sz="1700" dirty="0"/>
          </a:p>
        </p:txBody>
      </p:sp>
      <p:sp>
        <p:nvSpPr>
          <p:cNvPr id="14" name="Text 12"/>
          <p:cNvSpPr/>
          <p:nvPr/>
        </p:nvSpPr>
        <p:spPr>
          <a:xfrm>
            <a:off x="3444240"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REACH AND CONVERSION</a:t>
            </a:r>
            <a:endParaRPr lang="en-US" sz="800" dirty="0"/>
          </a:p>
        </p:txBody>
      </p:sp>
      <p:sp>
        <p:nvSpPr>
          <p:cNvPr id="15" name="Text 13"/>
          <p:cNvSpPr/>
          <p:nvPr/>
        </p:nvSpPr>
        <p:spPr>
          <a:xfrm>
            <a:off x="3444240"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Where the Household CFO lives</a:t>
            </a:r>
            <a:endParaRPr lang="en-US" sz="1200" dirty="0"/>
          </a:p>
        </p:txBody>
      </p:sp>
      <p:sp>
        <p:nvSpPr>
          <p:cNvPr id="16" name="Text 14"/>
          <p:cNvSpPr/>
          <p:nvPr/>
        </p:nvSpPr>
        <p:spPr>
          <a:xfrm>
            <a:off x="3444240"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In 2025 Meta delivered 14.17M reach on its own. It carries the reach KPI and the higher intent half of the contest conversion buy, with Advantage+ and a real pixel.</a:t>
            </a:r>
            <a:endParaRPr lang="en-US" sz="950" dirty="0"/>
          </a:p>
        </p:txBody>
      </p:sp>
      <p:sp>
        <p:nvSpPr>
          <p:cNvPr id="17" name="Shape 15"/>
          <p:cNvSpPr/>
          <p:nvPr/>
        </p:nvSpPr>
        <p:spPr>
          <a:xfrm>
            <a:off x="6047232" y="1810512"/>
            <a:ext cx="2584704" cy="2139696"/>
          </a:xfrm>
          <a:prstGeom prst="rect">
            <a:avLst/>
          </a:prstGeom>
          <a:solidFill>
            <a:srgbClr val="E9F3DD"/>
          </a:solidFill>
          <a:ln/>
        </p:spPr>
      </p:sp>
      <p:sp>
        <p:nvSpPr>
          <p:cNvPr id="18" name="Shape 16"/>
          <p:cNvSpPr/>
          <p:nvPr/>
        </p:nvSpPr>
        <p:spPr>
          <a:xfrm>
            <a:off x="6047232" y="1810512"/>
            <a:ext cx="2584704" cy="54864"/>
          </a:xfrm>
          <a:prstGeom prst="rect">
            <a:avLst/>
          </a:prstGeom>
          <a:solidFill>
            <a:srgbClr val="E8912C"/>
          </a:solidFill>
          <a:ln/>
        </p:spPr>
      </p:sp>
      <p:sp>
        <p:nvSpPr>
          <p:cNvPr id="19" name="Text 17"/>
          <p:cNvSpPr/>
          <p:nvPr/>
        </p:nvSpPr>
        <p:spPr>
          <a:xfrm>
            <a:off x="6211824" y="1993392"/>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YouTube</a:t>
            </a:r>
            <a:endParaRPr lang="en-US" sz="1700" dirty="0"/>
          </a:p>
        </p:txBody>
      </p:sp>
      <p:sp>
        <p:nvSpPr>
          <p:cNvPr id="20" name="Text 18"/>
          <p:cNvSpPr/>
          <p:nvPr/>
        </p:nvSpPr>
        <p:spPr>
          <a:xfrm>
            <a:off x="6211824"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BRAND FILM</a:t>
            </a:r>
            <a:endParaRPr lang="en-US" sz="800" dirty="0"/>
          </a:p>
        </p:txBody>
      </p:sp>
      <p:sp>
        <p:nvSpPr>
          <p:cNvPr id="21" name="Text 19"/>
          <p:cNvSpPr/>
          <p:nvPr/>
        </p:nvSpPr>
        <p:spPr>
          <a:xfrm>
            <a:off x="6211824"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Premium environment, priced like it</a:t>
            </a:r>
            <a:endParaRPr lang="en-US" sz="1200" dirty="0"/>
          </a:p>
        </p:txBody>
      </p:sp>
      <p:sp>
        <p:nvSpPr>
          <p:cNvPr id="22" name="Text 20"/>
          <p:cNvSpPr/>
          <p:nvPr/>
        </p:nvSpPr>
        <p:spPr>
          <a:xfrm>
            <a:off x="6211824"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At roughly RM0.012 per view it is four times TikTok. It earns its place for the 6 minute film and for recall among the Balik Kampung Provider, not for volume.</a:t>
            </a:r>
            <a:endParaRPr lang="en-US" sz="950" dirty="0"/>
          </a:p>
        </p:txBody>
      </p:sp>
      <p:sp>
        <p:nvSpPr>
          <p:cNvPr id="23" name="Text 21"/>
          <p:cNvSpPr/>
          <p:nvPr/>
        </p:nvSpPr>
        <p:spPr>
          <a:xfrm>
            <a:off x="512064" y="4041648"/>
            <a:ext cx="8119872" cy="365760"/>
          </a:xfrm>
          <a:prstGeom prst="rect">
            <a:avLst/>
          </a:prstGeom>
          <a:noFill/>
          <a:ln/>
        </p:spPr>
        <p:txBody>
          <a:bodyPr wrap="square" lIns="0" tIns="0" rIns="0" bIns="0" rtlCol="0" anchor="t"/>
          <a:lstStyle/>
          <a:p>
            <a:pPr indent="0" marL="0">
              <a:lnSpc>
                <a:spcPts val="1350"/>
              </a:lnSpc>
              <a:buNone/>
            </a:pPr>
            <a:r>
              <a:rPr lang="en-US" sz="1000" b="1" dirty="0">
                <a:solidFill>
                  <a:srgbClr val="006838"/>
                </a:solidFill>
                <a:latin typeface="Arial" pitchFamily="34" charset="0"/>
                <a:ea typeface="Arial" pitchFamily="34" charset="-122"/>
                <a:cs typeface="Arial" pitchFamily="34" charset="-120"/>
              </a:rPr>
              <a:t>Geo: the contest runs as TWO separate campaigns so budget cannot leak to the cheapest inventory. KL and Selangor take 30%, the other states 70%, matching Bulan Bintang’s suburban skew. The brand video runs national.</a:t>
            </a:r>
            <a:endParaRPr lang="en-US" sz="1000" dirty="0"/>
          </a:p>
        </p:txBody>
      </p:sp>
      <p:sp>
        <p:nvSpPr>
          <p:cNvPr id="24" name="Shape 22"/>
          <p:cNvSpPr/>
          <p:nvPr/>
        </p:nvSpPr>
        <p:spPr>
          <a:xfrm>
            <a:off x="438912" y="4443984"/>
            <a:ext cx="8266176" cy="402336"/>
          </a:xfrm>
          <a:prstGeom prst="rect">
            <a:avLst/>
          </a:prstGeom>
          <a:solidFill>
            <a:srgbClr val="052B18"/>
          </a:solidFill>
          <a:ln/>
        </p:spPr>
      </p:sp>
      <p:sp>
        <p:nvSpPr>
          <p:cNvPr id="25" name="Text 2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two campaigns and not two ad sets: </a:t>
            </a:r>
            <a:pPr indent="0" marL="0">
              <a:buNone/>
            </a:pPr>
            <a:r>
              <a:rPr lang="en-US" sz="950" b="1" dirty="0">
                <a:solidFill>
                  <a:srgbClr val="FFFFFF"/>
                </a:solidFill>
                <a:latin typeface="Arial" pitchFamily="34" charset="0"/>
                <a:ea typeface="Arial" pitchFamily="34" charset="-122"/>
                <a:cs typeface="Arial" pitchFamily="34" charset="-120"/>
              </a:rPr>
              <a:t>inside one campaign the algorithm spends where conversions are cheapest, which is KL, and the outer states quietly starve.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03.</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How people actually enter</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Why a QR code in a mobile ad cannot work, where QR codes still belong, and what the landing page has to do.</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596"/>
              </a:lnSpc>
              <a:buNone/>
            </a:pPr>
            <a:r>
              <a:rPr lang="en-US" sz="2200" dirty="0">
                <a:solidFill>
                  <a:srgbClr val="006838"/>
                </a:solidFill>
                <a:latin typeface="Arial Black" pitchFamily="34" charset="0"/>
                <a:ea typeface="Arial Black" pitchFamily="34" charset="-122"/>
                <a:cs typeface="Arial Black" pitchFamily="34" charset="-120"/>
              </a:rPr>
              <a:t>You cannot scan a QR code with </a:t>
            </a:r>
            <a:pPr indent="0" marL="0">
              <a:lnSpc>
                <a:spcPts val="2596"/>
              </a:lnSpc>
              <a:buNone/>
            </a:pPr>
            <a:r>
              <a:rPr lang="en-US" sz="2200" dirty="0">
                <a:solidFill>
                  <a:srgbClr val="C5192B"/>
                </a:solidFill>
                <a:latin typeface="Arial Black" pitchFamily="34" charset="0"/>
                <a:ea typeface="Arial Black" pitchFamily="34" charset="-122"/>
                <a:cs typeface="Arial Black" pitchFamily="34" charset="-120"/>
              </a:rPr>
              <a:t>the phone that is showing it.</a:t>
            </a:r>
            <a:endParaRPr lang="en-US" sz="22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Over 90% of Meta and TikTok impressions in Malaysia are mobile in feed. A QR code in that ad asks the viewer to go and find a second device.</a:t>
            </a:r>
            <a:endParaRPr lang="en-US" sz="1100" dirty="0"/>
          </a:p>
        </p:txBody>
      </p:sp>
      <p:sp>
        <p:nvSpPr>
          <p:cNvPr id="5" name="Shape 3"/>
          <p:cNvSpPr/>
          <p:nvPr/>
        </p:nvSpPr>
        <p:spPr>
          <a:xfrm>
            <a:off x="512064" y="1700784"/>
            <a:ext cx="3675888" cy="2670048"/>
          </a:xfrm>
          <a:prstGeom prst="rect">
            <a:avLst/>
          </a:prstGeom>
          <a:solidFill>
            <a:srgbClr val="C5192B"/>
          </a:solidFill>
          <a:ln/>
        </p:spPr>
      </p:sp>
      <p:sp>
        <p:nvSpPr>
          <p:cNvPr id="6" name="Text 4"/>
          <p:cNvSpPr/>
          <p:nvPr/>
        </p:nvSpPr>
        <p:spPr>
          <a:xfrm>
            <a:off x="768096" y="1883664"/>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QR CODE IN THE AD</a:t>
            </a:r>
            <a:endParaRPr lang="en-US" sz="1400" dirty="0"/>
          </a:p>
        </p:txBody>
      </p:sp>
      <p:sp>
        <p:nvSpPr>
          <p:cNvPr id="7" name="Text 5"/>
          <p:cNvSpPr/>
          <p:nvPr/>
        </p:nvSpPr>
        <p:spPr>
          <a:xfrm>
            <a:off x="768096" y="2231136"/>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Five steps, and most of them fail</a:t>
            </a:r>
            <a:endParaRPr lang="en-US" sz="1350" dirty="0"/>
          </a:p>
        </p:txBody>
      </p:sp>
      <p:sp>
        <p:nvSpPr>
          <p:cNvPr id="8" name="Text 6"/>
          <p:cNvSpPr/>
          <p:nvPr/>
        </p:nvSpPr>
        <p:spPr>
          <a:xfrm>
            <a:off x="768096" y="2670048"/>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9" name="Text 7"/>
          <p:cNvSpPr/>
          <p:nvPr/>
        </p:nvSpPr>
        <p:spPr>
          <a:xfrm>
            <a:off x="768096" y="2843784"/>
            <a:ext cx="3163824" cy="713232"/>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Scrolling TikTok on her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Sees a QR code in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Cannot scan it with that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Screenshots it, or finds another device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Opens a scanner that reads from the gallery</a:t>
            </a:r>
            <a:endParaRPr lang="en-US" sz="850" dirty="0"/>
          </a:p>
        </p:txBody>
      </p:sp>
      <p:sp>
        <p:nvSpPr>
          <p:cNvPr id="10" name="Text 8"/>
          <p:cNvSpPr/>
          <p:nvPr/>
        </p:nvSpPr>
        <p:spPr>
          <a:xfrm>
            <a:off x="768096" y="3611880"/>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WHAT WE GET BACK</a:t>
            </a:r>
            <a:endParaRPr lang="en-US" sz="750" dirty="0"/>
          </a:p>
        </p:txBody>
      </p:sp>
      <p:sp>
        <p:nvSpPr>
          <p:cNvPr id="11" name="Text 9"/>
          <p:cNvSpPr/>
          <p:nvPr/>
        </p:nvSpPr>
        <p:spPr>
          <a:xfrm>
            <a:off x="768096" y="3785616"/>
            <a:ext cx="3163824" cy="6583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No click. No pixel. No conversion event. No retargeting pool. No cost per entry. The platforms never learn who converts, so they keep serving people who never enter.</a:t>
            </a:r>
            <a:endParaRPr lang="en-US" sz="850" dirty="0"/>
          </a:p>
        </p:txBody>
      </p:sp>
      <p:sp>
        <p:nvSpPr>
          <p:cNvPr id="12" name="Shape 10"/>
          <p:cNvSpPr/>
          <p:nvPr/>
        </p:nvSpPr>
        <p:spPr>
          <a:xfrm>
            <a:off x="4956048" y="1700784"/>
            <a:ext cx="3675888" cy="2670048"/>
          </a:xfrm>
          <a:prstGeom prst="rect">
            <a:avLst/>
          </a:prstGeom>
          <a:solidFill>
            <a:srgbClr val="006838"/>
          </a:solidFill>
          <a:ln/>
        </p:spPr>
      </p:sp>
      <p:sp>
        <p:nvSpPr>
          <p:cNvPr id="13" name="Text 11"/>
          <p:cNvSpPr/>
          <p:nvPr/>
        </p:nvSpPr>
        <p:spPr>
          <a:xfrm>
            <a:off x="5212080" y="1883664"/>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LANDING PAGE</a:t>
            </a:r>
            <a:endParaRPr lang="en-US" sz="1400" dirty="0"/>
          </a:p>
        </p:txBody>
      </p:sp>
      <p:sp>
        <p:nvSpPr>
          <p:cNvPr id="14" name="Text 12"/>
          <p:cNvSpPr/>
          <p:nvPr/>
        </p:nvSpPr>
        <p:spPr>
          <a:xfrm>
            <a:off x="5212080" y="2231136"/>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One tap, and it reports back</a:t>
            </a:r>
            <a:endParaRPr lang="en-US" sz="1350" dirty="0"/>
          </a:p>
        </p:txBody>
      </p:sp>
      <p:sp>
        <p:nvSpPr>
          <p:cNvPr id="15" name="Text 13"/>
          <p:cNvSpPr/>
          <p:nvPr/>
        </p:nvSpPr>
        <p:spPr>
          <a:xfrm>
            <a:off x="5212080" y="2670048"/>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16" name="Text 14"/>
          <p:cNvSpPr/>
          <p:nvPr/>
        </p:nvSpPr>
        <p:spPr>
          <a:xfrm>
            <a:off x="5212080" y="2843784"/>
            <a:ext cx="3163824" cy="713232"/>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Scrolling TikTok on her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Sees the ad, taps Sertai Sekarang</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Lands on the page in the in-app browser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Uploads the receipt and submits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Thank you page asks for the share</a:t>
            </a:r>
            <a:endParaRPr lang="en-US" sz="850" dirty="0"/>
          </a:p>
        </p:txBody>
      </p:sp>
      <p:sp>
        <p:nvSpPr>
          <p:cNvPr id="17" name="Text 15"/>
          <p:cNvSpPr/>
          <p:nvPr/>
        </p:nvSpPr>
        <p:spPr>
          <a:xfrm>
            <a:off x="5212080" y="3611880"/>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WHAT WE GET BACK</a:t>
            </a:r>
            <a:endParaRPr lang="en-US" sz="750" dirty="0"/>
          </a:p>
        </p:txBody>
      </p:sp>
      <p:sp>
        <p:nvSpPr>
          <p:cNvPr id="18" name="Text 16"/>
          <p:cNvSpPr/>
          <p:nvPr/>
        </p:nvSpPr>
        <p:spPr>
          <a:xfrm>
            <a:off x="5212080" y="3785616"/>
            <a:ext cx="3163824" cy="6583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Click recorded, pixel fires, the conversion event trains the algorithm, a retargeting pool builds, and we can chase the people who started but never finished.</a:t>
            </a:r>
            <a:endParaRPr lang="en-US" sz="850" dirty="0"/>
          </a:p>
        </p:txBody>
      </p:sp>
      <p:sp>
        <p:nvSpPr>
          <p:cNvPr id="19" name="Text 17"/>
          <p:cNvSpPr/>
          <p:nvPr/>
        </p:nvSpPr>
        <p:spPr>
          <a:xfrm>
            <a:off x="4370832" y="2816352"/>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20" name="Shape 18"/>
          <p:cNvSpPr/>
          <p:nvPr/>
        </p:nvSpPr>
        <p:spPr>
          <a:xfrm>
            <a:off x="438912" y="4443984"/>
            <a:ext cx="8266176" cy="402336"/>
          </a:xfrm>
          <a:prstGeom prst="rect">
            <a:avLst/>
          </a:prstGeom>
          <a:solidFill>
            <a:srgbClr val="052B18"/>
          </a:solidFill>
          <a:ln/>
        </p:spPr>
      </p:sp>
      <p:sp>
        <p:nvSpPr>
          <p:cNvPr id="21" name="Text 19"/>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This is the whole reason 2026 bought views: </a:t>
            </a:r>
            <a:pPr indent="0" marL="0">
              <a:buNone/>
            </a:pPr>
            <a:r>
              <a:rPr lang="en-US" sz="950" b="1" dirty="0">
                <a:solidFill>
                  <a:srgbClr val="FFFFFF"/>
                </a:solidFill>
                <a:latin typeface="Arial" pitchFamily="34" charset="0"/>
                <a:ea typeface="Arial" pitchFamily="34" charset="-122"/>
                <a:cs typeface="Arial" pitchFamily="34" charset="-120"/>
              </a:rPr>
              <a:t>entries arrived by WhatsApp, which Meta and TikTok cannot see, so they optimized toward the only thing they could measure.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QR codes belong at the till,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not in the feed.</a:t>
            </a:r>
            <a:endParaRPr lang="en-US" sz="2300" dirty="0"/>
          </a:p>
        </p:txBody>
      </p:sp>
      <p:sp>
        <p:nvSpPr>
          <p:cNvPr id="4" name="Text 2"/>
          <p:cNvSpPr/>
          <p:nvPr/>
        </p:nvSpPr>
        <p:spPr>
          <a:xfrm>
            <a:off x="512064" y="1426464"/>
            <a:ext cx="7795077" cy="42062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Everywhere a shopper is looking at a physical surface, a QR code is the fastest route in. Every code points at the same landing page with its own tracking tag, so we can report which touchpoint actually produced entries. This is the AEON model.</a:t>
            </a:r>
            <a:endParaRPr lang="en-US" sz="1100" dirty="0"/>
          </a:p>
        </p:txBody>
      </p:sp>
      <p:sp>
        <p:nvSpPr>
          <p:cNvPr id="5" name="Shape 3"/>
          <p:cNvSpPr/>
          <p:nvPr/>
        </p:nvSpPr>
        <p:spPr>
          <a:xfrm>
            <a:off x="512064" y="2048256"/>
            <a:ext cx="2584704" cy="2212848"/>
          </a:xfrm>
          <a:prstGeom prst="rect">
            <a:avLst/>
          </a:prstGeom>
          <a:solidFill>
            <a:srgbClr val="E9F3DD"/>
          </a:solidFill>
          <a:ln/>
        </p:spPr>
      </p:sp>
      <p:sp>
        <p:nvSpPr>
          <p:cNvPr id="6" name="Shape 4"/>
          <p:cNvSpPr/>
          <p:nvPr/>
        </p:nvSpPr>
        <p:spPr>
          <a:xfrm>
            <a:off x="512064" y="2048256"/>
            <a:ext cx="2584704" cy="54864"/>
          </a:xfrm>
          <a:prstGeom prst="rect">
            <a:avLst/>
          </a:prstGeom>
          <a:solidFill>
            <a:srgbClr val="C5192B"/>
          </a:solidFill>
          <a:ln/>
        </p:spPr>
      </p:sp>
      <p:sp>
        <p:nvSpPr>
          <p:cNvPr id="7" name="Text 5"/>
          <p:cNvSpPr/>
          <p:nvPr/>
        </p:nvSpPr>
        <p:spPr>
          <a:xfrm>
            <a:off x="676656" y="2231136"/>
            <a:ext cx="2255520"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IN STORE</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On the shelf and on the pack</a:t>
            </a:r>
            <a:endParaRPr lang="en-US" sz="1200" dirty="0"/>
          </a:p>
        </p:txBody>
      </p:sp>
      <p:sp>
        <p:nvSpPr>
          <p:cNvPr id="10" name="Text 8"/>
          <p:cNvSpPr/>
          <p:nvPr/>
        </p:nvSpPr>
        <p:spPr>
          <a:xfrm>
            <a:off x="676656"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Shelf talkers, neck tags, A-boards, block displays, posters and on pack stickers. The 2025 campaign already printed 10,000 shelf talkers, 7,000 posters and 40,000 neck tags.</a:t>
            </a:r>
            <a:endParaRPr lang="en-US" sz="950" dirty="0"/>
          </a:p>
        </p:txBody>
      </p:sp>
      <p:sp>
        <p:nvSpPr>
          <p:cNvPr id="11" name="Shape 9"/>
          <p:cNvSpPr/>
          <p:nvPr/>
        </p:nvSpPr>
        <p:spPr>
          <a:xfrm>
            <a:off x="3279648" y="2048256"/>
            <a:ext cx="2584704" cy="2212848"/>
          </a:xfrm>
          <a:prstGeom prst="rect">
            <a:avLst/>
          </a:prstGeom>
          <a:solidFill>
            <a:srgbClr val="E9F3DD"/>
          </a:solidFill>
          <a:ln/>
        </p:spPr>
      </p:sp>
      <p:sp>
        <p:nvSpPr>
          <p:cNvPr id="12" name="Shape 10"/>
          <p:cNvSpPr/>
          <p:nvPr/>
        </p:nvSpPr>
        <p:spPr>
          <a:xfrm>
            <a:off x="3279648" y="2048256"/>
            <a:ext cx="2584704" cy="54864"/>
          </a:xfrm>
          <a:prstGeom prst="rect">
            <a:avLst/>
          </a:prstGeom>
          <a:solidFill>
            <a:srgbClr val="006838"/>
          </a:solidFill>
          <a:ln/>
        </p:spPr>
      </p:sp>
      <p:sp>
        <p:nvSpPr>
          <p:cNvPr id="13" name="Text 11"/>
          <p:cNvSpPr/>
          <p:nvPr/>
        </p:nvSpPr>
        <p:spPr>
          <a:xfrm>
            <a:off x="3444240" y="2231136"/>
            <a:ext cx="2255520"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PARTNER SURFACES</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Inside Bulan Bintang</a:t>
            </a:r>
            <a:endParaRPr lang="en-US" sz="1200" dirty="0"/>
          </a:p>
        </p:txBody>
      </p:sp>
      <p:sp>
        <p:nvSpPr>
          <p:cNvPr id="16" name="Text 14"/>
          <p:cNvSpPr/>
          <p:nvPr/>
        </p:nvSpPr>
        <p:spPr>
          <a:xfrm>
            <a:off x="3444240"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Boutique counters across all 14 stores, and an insert in the baju raya packaging. The 150,000 Saji sample packs going into Bulan Bintang purchases each carry a code.</a:t>
            </a:r>
            <a:endParaRPr lang="en-US" sz="950" dirty="0"/>
          </a:p>
        </p:txBody>
      </p:sp>
      <p:sp>
        <p:nvSpPr>
          <p:cNvPr id="17" name="Shape 15"/>
          <p:cNvSpPr/>
          <p:nvPr/>
        </p:nvSpPr>
        <p:spPr>
          <a:xfrm>
            <a:off x="6047232" y="2048256"/>
            <a:ext cx="2584704" cy="2212848"/>
          </a:xfrm>
          <a:prstGeom prst="rect">
            <a:avLst/>
          </a:prstGeom>
          <a:solidFill>
            <a:srgbClr val="E9F3DD"/>
          </a:solidFill>
          <a:ln/>
        </p:spPr>
      </p:sp>
      <p:sp>
        <p:nvSpPr>
          <p:cNvPr id="18" name="Shape 16"/>
          <p:cNvSpPr/>
          <p:nvPr/>
        </p:nvSpPr>
        <p:spPr>
          <a:xfrm>
            <a:off x="6047232" y="2048256"/>
            <a:ext cx="2584704" cy="54864"/>
          </a:xfrm>
          <a:prstGeom prst="rect">
            <a:avLst/>
          </a:prstGeom>
          <a:solidFill>
            <a:srgbClr val="E8912C"/>
          </a:solidFill>
          <a:ln/>
        </p:spPr>
      </p:sp>
      <p:sp>
        <p:nvSpPr>
          <p:cNvPr id="19" name="Text 17"/>
          <p:cNvSpPr/>
          <p:nvPr/>
        </p:nvSpPr>
        <p:spPr>
          <a:xfrm>
            <a:off x="6211824" y="2231136"/>
            <a:ext cx="2255520"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EVENTS AND ACTIVATION</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Where people are already standing</a:t>
            </a:r>
            <a:endParaRPr lang="en-US" sz="1200" dirty="0"/>
          </a:p>
        </p:txBody>
      </p:sp>
      <p:sp>
        <p:nvSpPr>
          <p:cNvPr id="22" name="Text 20"/>
          <p:cNvSpPr/>
          <p:nvPr/>
        </p:nvSpPr>
        <p:spPr>
          <a:xfrm>
            <a:off x="6211824"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launch at Wisma FGV, 320 sampling days across 120 outlets, 96 roadshow days across 32 outlets, and the Sampul Raya itself.</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page, many doors: </a:t>
            </a:r>
            <a:pPr indent="0" marL="0">
              <a:buNone/>
            </a:pPr>
            <a:r>
              <a:rPr lang="en-US" sz="950" b="1" dirty="0">
                <a:solidFill>
                  <a:srgbClr val="FFFFFF"/>
                </a:solidFill>
                <a:latin typeface="Arial" pitchFamily="34" charset="0"/>
                <a:ea typeface="Arial" pitchFamily="34" charset="-122"/>
                <a:cs typeface="Arial" pitchFamily="34" charset="-120"/>
              </a:rPr>
              <a:t>every QR and every ad lands on the same page, so entries from paid, in store, partner and on ground are all counted in one place.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77724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The page does the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explaining.</a:t>
            </a:r>
            <a:endParaRPr lang="en-US" sz="2300" dirty="0"/>
          </a:p>
        </p:txBody>
      </p:sp>
      <p:pic>
        <p:nvPicPr>
          <p:cNvPr id="4" name="Image 0" descr="C:\Users\Jordan\AppData\Local\Temp\claude\C--Users-Jordan-Desktop-Claude-Code-toggle-brain\43aba2a5-b574-460d-a673-b218452cfdf5\scratchpad\saji\landing.png"/>
          <p:cNvPicPr>
            <a:picLocks noChangeAspect="1"/>
          </p:cNvPicPr>
          <p:nvPr/>
        </p:nvPicPr>
        <p:blipFill>
          <a:blip r:embed="rId1"/>
          <a:stretch>
            <a:fillRect/>
          </a:stretch>
        </p:blipFill>
        <p:spPr>
          <a:xfrm>
            <a:off x="512064" y="1316736"/>
            <a:ext cx="3017520" cy="3017520"/>
          </a:xfrm>
          <a:prstGeom prst="rect">
            <a:avLst/>
          </a:prstGeom>
        </p:spPr>
      </p:pic>
      <p:sp>
        <p:nvSpPr>
          <p:cNvPr id="5" name="Text 2"/>
          <p:cNvSpPr/>
          <p:nvPr/>
        </p:nvSpPr>
        <p:spPr>
          <a:xfrm>
            <a:off x="3840480" y="1335024"/>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THE MECHANIC, IN ONE SCREEN</a:t>
            </a:r>
            <a:endParaRPr lang="en-US" sz="800" dirty="0"/>
          </a:p>
        </p:txBody>
      </p:sp>
      <p:sp>
        <p:nvSpPr>
          <p:cNvPr id="6" name="Text 3"/>
          <p:cNvSpPr/>
          <p:nvPr/>
        </p:nvSpPr>
        <p:spPr>
          <a:xfrm>
            <a:off x="3840480" y="1508760"/>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three step checklist with two tick states. Step one is done, step two is marked optional with a 5x badge, step three is the upload. A visitor knows whether she qualifies in about five seconds.</a:t>
            </a:r>
            <a:endParaRPr lang="en-US" sz="950" dirty="0"/>
          </a:p>
        </p:txBody>
      </p:sp>
      <p:sp>
        <p:nvSpPr>
          <p:cNvPr id="7" name="Text 4"/>
          <p:cNvSpPr/>
          <p:nvPr/>
        </p:nvSpPr>
        <p:spPr>
          <a:xfrm>
            <a:off x="3840480" y="2093976"/>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TWO RECEIPT SLOTS, ONE OPTIONAL</a:t>
            </a:r>
            <a:endParaRPr lang="en-US" sz="800" dirty="0"/>
          </a:p>
        </p:txBody>
      </p:sp>
      <p:sp>
        <p:nvSpPr>
          <p:cNvPr id="8" name="Text 5"/>
          <p:cNvSpPr/>
          <p:nvPr/>
        </p:nvSpPr>
        <p:spPr>
          <a:xfrm>
            <a:off x="3840480" y="2267712"/>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Saji receipt is required and the Bulan Bintang receipt is a bonus, which is the mechanic made visible. Save and finish later holds a half done entry for the shopper who only has one receipt so far.</a:t>
            </a:r>
            <a:endParaRPr lang="en-US" sz="950" dirty="0"/>
          </a:p>
        </p:txBody>
      </p:sp>
      <p:sp>
        <p:nvSpPr>
          <p:cNvPr id="9" name="Text 6"/>
          <p:cNvSpPr/>
          <p:nvPr/>
        </p:nvSpPr>
        <p:spPr>
          <a:xfrm>
            <a:off x="3840480" y="2852928"/>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BUILT FOR A PHONE ON 4G</a:t>
            </a:r>
            <a:endParaRPr lang="en-US" sz="800" dirty="0"/>
          </a:p>
        </p:txBody>
      </p:sp>
      <p:sp>
        <p:nvSpPr>
          <p:cNvPr id="10" name="Text 7"/>
          <p:cNvSpPr/>
          <p:nvPr/>
        </p:nvSpPr>
        <p:spPr>
          <a:xfrm>
            <a:off x="3840480" y="3026664"/>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Under two seconds to load, no app, no login, no account. Bahasa Malaysia first with an English toggle. Receipt files validated on upload for type, size and date inside the contest window.</a:t>
            </a:r>
            <a:endParaRPr lang="en-US" sz="950" dirty="0"/>
          </a:p>
        </p:txBody>
      </p:sp>
      <p:sp>
        <p:nvSpPr>
          <p:cNvPr id="11" name="Text 8"/>
          <p:cNvSpPr/>
          <p:nvPr/>
        </p:nvSpPr>
        <p:spPr>
          <a:xfrm>
            <a:off x="3840480" y="3611880"/>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LEGAL WHERE IT HAS TO BE</a:t>
            </a:r>
            <a:endParaRPr lang="en-US" sz="800" dirty="0"/>
          </a:p>
        </p:txBody>
      </p:sp>
      <p:sp>
        <p:nvSpPr>
          <p:cNvPr id="12" name="Text 9"/>
          <p:cNvSpPr/>
          <p:nvPr/>
        </p:nvSpPr>
        <p:spPr>
          <a:xfrm>
            <a:off x="3840480" y="3785616"/>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PDPA consent checkbox, a link to the full terms, and the organizer named. The full mechanics sit in a collapsed accordion below the form, disclosed but out of the entry flow.</a:t>
            </a:r>
            <a:endParaRPr lang="en-US" sz="950" dirty="0"/>
          </a:p>
        </p:txBody>
      </p:sp>
      <p:sp>
        <p:nvSpPr>
          <p:cNvPr id="13" name="Shape 10"/>
          <p:cNvSpPr/>
          <p:nvPr/>
        </p:nvSpPr>
        <p:spPr>
          <a:xfrm>
            <a:off x="438912" y="4443984"/>
            <a:ext cx="8266176" cy="402336"/>
          </a:xfrm>
          <a:prstGeom prst="rect">
            <a:avLst/>
          </a:prstGeom>
          <a:solidFill>
            <a:srgbClr val="052B18"/>
          </a:solidFill>
          <a:ln/>
        </p:spPr>
      </p:sp>
      <p:sp>
        <p:nvSpPr>
          <p:cNvPr id="14" name="Text 11"/>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Built and attached: </a:t>
            </a:r>
            <a:pPr indent="0" marL="0">
              <a:buNone/>
            </a:pPr>
            <a:r>
              <a:rPr lang="en-US" sz="950" b="1" dirty="0">
                <a:solidFill>
                  <a:srgbClr val="FFFFFF"/>
                </a:solidFill>
                <a:latin typeface="Arial" pitchFamily="34" charset="0"/>
                <a:ea typeface="Arial" pitchFamily="34" charset="-122"/>
                <a:cs typeface="Arial" pitchFamily="34" charset="-120"/>
              </a:rPr>
              <a:t>a working HTML page ships with this proposal, so the client can see the real thing rather than a picture of it.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Nine things on the page that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exist only to convert.</a:t>
            </a:r>
            <a:endParaRPr lang="en-US" sz="23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Every element here exists to move someone from "I have a receipt" to "I have entered". These are the parts that carry the 4% conversion the plan is built on.</a:t>
            </a:r>
            <a:endParaRPr lang="en-US" sz="1100" dirty="0"/>
          </a:p>
        </p:txBody>
      </p:sp>
      <p:sp>
        <p:nvSpPr>
          <p:cNvPr id="5" name="Shape 3"/>
          <p:cNvSpPr/>
          <p:nvPr/>
        </p:nvSpPr>
        <p:spPr>
          <a:xfrm>
            <a:off x="512064" y="1792224"/>
            <a:ext cx="2584704" cy="2103120"/>
          </a:xfrm>
          <a:prstGeom prst="rect">
            <a:avLst/>
          </a:prstGeom>
          <a:solidFill>
            <a:srgbClr val="E9F3DD"/>
          </a:solidFill>
          <a:ln/>
        </p:spPr>
      </p:sp>
      <p:sp>
        <p:nvSpPr>
          <p:cNvPr id="6" name="Shape 4"/>
          <p:cNvSpPr/>
          <p:nvPr/>
        </p:nvSpPr>
        <p:spPr>
          <a:xfrm>
            <a:off x="512064" y="1792224"/>
            <a:ext cx="2584704" cy="54864"/>
          </a:xfrm>
          <a:prstGeom prst="rect">
            <a:avLst/>
          </a:prstGeom>
          <a:solidFill>
            <a:srgbClr val="C5192B"/>
          </a:solidFill>
          <a:ln/>
        </p:spPr>
      </p:sp>
      <p:sp>
        <p:nvSpPr>
          <p:cNvPr id="7" name="Text 5"/>
          <p:cNvSpPr/>
          <p:nvPr/>
        </p:nvSpPr>
        <p:spPr>
          <a:xfrm>
            <a:off x="676656" y="1975104"/>
            <a:ext cx="2255520"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24942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ABOVE THE FOLD</a:t>
            </a:r>
            <a:endParaRPr lang="en-US" sz="800" dirty="0"/>
          </a:p>
        </p:txBody>
      </p:sp>
      <p:sp>
        <p:nvSpPr>
          <p:cNvPr id="9" name="Text 7"/>
          <p:cNvSpPr/>
          <p:nvPr/>
        </p:nvSpPr>
        <p:spPr>
          <a:xfrm>
            <a:off x="676656"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Prize, winners, form</a:t>
            </a:r>
            <a:endParaRPr lang="en-US" sz="1200" dirty="0"/>
          </a:p>
        </p:txBody>
      </p:sp>
      <p:sp>
        <p:nvSpPr>
          <p:cNvPr id="10" name="Text 8"/>
          <p:cNvSpPr/>
          <p:nvPr/>
        </p:nvSpPr>
        <p:spPr>
          <a:xfrm>
            <a:off x="676656"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prize, a headline naming what you win, and the winner count, all before any scrolling. The form is embedded inline rather than behind a popup.</a:t>
            </a:r>
            <a:endParaRPr lang="en-US" sz="950" dirty="0"/>
          </a:p>
        </p:txBody>
      </p:sp>
      <p:sp>
        <p:nvSpPr>
          <p:cNvPr id="11" name="Shape 9"/>
          <p:cNvSpPr/>
          <p:nvPr/>
        </p:nvSpPr>
        <p:spPr>
          <a:xfrm>
            <a:off x="3279648" y="1792224"/>
            <a:ext cx="2584704" cy="2103120"/>
          </a:xfrm>
          <a:prstGeom prst="rect">
            <a:avLst/>
          </a:prstGeom>
          <a:solidFill>
            <a:srgbClr val="E9F3DD"/>
          </a:solidFill>
          <a:ln/>
        </p:spPr>
      </p:sp>
      <p:sp>
        <p:nvSpPr>
          <p:cNvPr id="12" name="Shape 10"/>
          <p:cNvSpPr/>
          <p:nvPr/>
        </p:nvSpPr>
        <p:spPr>
          <a:xfrm>
            <a:off x="3279648" y="1792224"/>
            <a:ext cx="2584704" cy="54864"/>
          </a:xfrm>
          <a:prstGeom prst="rect">
            <a:avLst/>
          </a:prstGeom>
          <a:solidFill>
            <a:srgbClr val="006838"/>
          </a:solidFill>
          <a:ln/>
        </p:spPr>
      </p:sp>
      <p:sp>
        <p:nvSpPr>
          <p:cNvPr id="13" name="Text 11"/>
          <p:cNvSpPr/>
          <p:nvPr/>
        </p:nvSpPr>
        <p:spPr>
          <a:xfrm>
            <a:off x="3444240" y="1975104"/>
            <a:ext cx="2255520"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249424"/>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SOCIAL PROOF</a:t>
            </a:r>
            <a:endParaRPr lang="en-US" sz="800" dirty="0"/>
          </a:p>
        </p:txBody>
      </p:sp>
      <p:sp>
        <p:nvSpPr>
          <p:cNvPr id="15" name="Text 13"/>
          <p:cNvSpPr/>
          <p:nvPr/>
        </p:nvSpPr>
        <p:spPr>
          <a:xfrm>
            <a:off x="3444240"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Proof that people win</a:t>
            </a:r>
            <a:endParaRPr lang="en-US" sz="1200" dirty="0"/>
          </a:p>
        </p:txBody>
      </p:sp>
      <p:sp>
        <p:nvSpPr>
          <p:cNvPr id="16" name="Text 14"/>
          <p:cNvSpPr/>
          <p:nvPr/>
        </p:nvSpPr>
        <p:spPr>
          <a:xfrm>
            <a:off x="3444240"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live entry counter and a weekly winner wall with real names and towns. It answers the problem COO named: "probably impossible for me to win".</a:t>
            </a:r>
            <a:endParaRPr lang="en-US" sz="950" dirty="0"/>
          </a:p>
        </p:txBody>
      </p:sp>
      <p:sp>
        <p:nvSpPr>
          <p:cNvPr id="17" name="Shape 15"/>
          <p:cNvSpPr/>
          <p:nvPr/>
        </p:nvSpPr>
        <p:spPr>
          <a:xfrm>
            <a:off x="6047232" y="1792224"/>
            <a:ext cx="2584704" cy="2103120"/>
          </a:xfrm>
          <a:prstGeom prst="rect">
            <a:avLst/>
          </a:prstGeom>
          <a:solidFill>
            <a:srgbClr val="E9F3DD"/>
          </a:solidFill>
          <a:ln/>
        </p:spPr>
      </p:sp>
      <p:sp>
        <p:nvSpPr>
          <p:cNvPr id="18" name="Shape 16"/>
          <p:cNvSpPr/>
          <p:nvPr/>
        </p:nvSpPr>
        <p:spPr>
          <a:xfrm>
            <a:off x="6047232" y="1792224"/>
            <a:ext cx="2584704" cy="54864"/>
          </a:xfrm>
          <a:prstGeom prst="rect">
            <a:avLst/>
          </a:prstGeom>
          <a:solidFill>
            <a:srgbClr val="E8912C"/>
          </a:solidFill>
          <a:ln/>
        </p:spPr>
      </p:sp>
      <p:sp>
        <p:nvSpPr>
          <p:cNvPr id="19" name="Text 17"/>
          <p:cNvSpPr/>
          <p:nvPr/>
        </p:nvSpPr>
        <p:spPr>
          <a:xfrm>
            <a:off x="6211824" y="1975104"/>
            <a:ext cx="2255520"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6211824" y="224942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URGENCY AND RETURN</a:t>
            </a:r>
            <a:endParaRPr lang="en-US" sz="800" dirty="0"/>
          </a:p>
        </p:txBody>
      </p:sp>
      <p:sp>
        <p:nvSpPr>
          <p:cNvPr id="21" name="Text 19"/>
          <p:cNvSpPr/>
          <p:nvPr/>
        </p:nvSpPr>
        <p:spPr>
          <a:xfrm>
            <a:off x="6211824"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A countdown, and a reason to return</a:t>
            </a:r>
            <a:endParaRPr lang="en-US" sz="1200" dirty="0"/>
          </a:p>
        </p:txBody>
      </p:sp>
      <p:sp>
        <p:nvSpPr>
          <p:cNvPr id="22" name="Text 20"/>
          <p:cNvSpPr/>
          <p:nvPr/>
        </p:nvSpPr>
        <p:spPr>
          <a:xfrm>
            <a:off x="6211824"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live countdown to the Friday draw. The thank you page is the highest intent moment we get, so that is where we ask for the share and the referral.</a:t>
            </a:r>
            <a:endParaRPr lang="en-US" sz="950" dirty="0"/>
          </a:p>
        </p:txBody>
      </p:sp>
      <p:sp>
        <p:nvSpPr>
          <p:cNvPr id="23" name="Text 21"/>
          <p:cNvSpPr/>
          <p:nvPr/>
        </p:nvSpPr>
        <p:spPr>
          <a:xfrm>
            <a:off x="512064" y="4023360"/>
            <a:ext cx="8119872" cy="384048"/>
          </a:xfrm>
          <a:prstGeom prst="rect">
            <a:avLst/>
          </a:prstGeom>
          <a:noFill/>
          <a:ln/>
        </p:spPr>
        <p:txBody>
          <a:bodyPr wrap="square" lIns="0" tIns="0" rIns="0" bIns="0" rtlCol="0" anchor="t"/>
          <a:lstStyle/>
          <a:p>
            <a:pPr indent="0" marL="0">
              <a:lnSpc>
                <a:spcPts val="1250"/>
              </a:lnSpc>
              <a:buNone/>
            </a:pPr>
            <a:r>
              <a:rPr lang="en-US" sz="950" b="1" dirty="0">
                <a:solidFill>
                  <a:srgbClr val="006838"/>
                </a:solidFill>
                <a:latin typeface="Arial" pitchFamily="34" charset="0"/>
                <a:ea typeface="Arial" pitchFamily="34" charset="-122"/>
                <a:cs typeface="Arial" pitchFamily="34" charset="-120"/>
              </a:rPr>
              <a:t>Also on the page: three form fields only, returning entrants recognized so weeks two to ten take three taps instead of eight, a where to buy block carrying Bulan Bintang’s boutique finder and online store alongside Saji’s retailers, and a WhatsApp fallback so the 2026 habit is kept rather than broken.</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77724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From award to close,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and what runs when.</a:t>
            </a:r>
            <a:endParaRPr lang="en-US" sz="2300" dirty="0"/>
          </a:p>
        </p:txBody>
      </p:sp>
      <p:sp>
        <p:nvSpPr>
          <p:cNvPr id="4" name="Shape 2"/>
          <p:cNvSpPr/>
          <p:nvPr/>
        </p:nvSpPr>
        <p:spPr>
          <a:xfrm>
            <a:off x="832104" y="2029968"/>
            <a:ext cx="7479792" cy="0"/>
          </a:xfrm>
          <a:prstGeom prst="line">
            <a:avLst/>
          </a:prstGeom>
          <a:noFill/>
          <a:ln w="12700">
            <a:solidFill>
              <a:srgbClr val="006838"/>
            </a:solidFill>
            <a:prstDash val="solid"/>
          </a:ln>
        </p:spPr>
      </p:sp>
      <p:sp>
        <p:nvSpPr>
          <p:cNvPr id="5" name="Shape 3"/>
          <p:cNvSpPr/>
          <p:nvPr/>
        </p:nvSpPr>
        <p:spPr>
          <a:xfrm>
            <a:off x="763524" y="1961388"/>
            <a:ext cx="137160" cy="137160"/>
          </a:xfrm>
          <a:prstGeom prst="ellipse">
            <a:avLst/>
          </a:prstGeom>
          <a:solidFill>
            <a:srgbClr val="F6FAEC"/>
          </a:solidFill>
          <a:ln w="25400">
            <a:solidFill>
              <a:srgbClr val="C5192B"/>
            </a:solidFill>
            <a:prstDash val="solid"/>
          </a:ln>
        </p:spPr>
      </p:sp>
      <p:sp>
        <p:nvSpPr>
          <p:cNvPr id="6" name="Text 4"/>
          <p:cNvSpPr/>
          <p:nvPr/>
        </p:nvSpPr>
        <p:spPr>
          <a:xfrm>
            <a:off x="265176"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17 Oct</a:t>
            </a:r>
            <a:endParaRPr lang="en-US" sz="950" dirty="0"/>
          </a:p>
        </p:txBody>
      </p:sp>
      <p:sp>
        <p:nvSpPr>
          <p:cNvPr id="7" name="Text 5"/>
          <p:cNvSpPr/>
          <p:nvPr/>
        </p:nvSpPr>
        <p:spPr>
          <a:xfrm>
            <a:off x="265176"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Project award</a:t>
            </a:r>
            <a:endParaRPr lang="en-US" sz="850" dirty="0"/>
          </a:p>
        </p:txBody>
      </p:sp>
      <p:sp>
        <p:nvSpPr>
          <p:cNvPr id="8" name="Shape 6"/>
          <p:cNvSpPr/>
          <p:nvPr/>
        </p:nvSpPr>
        <p:spPr>
          <a:xfrm>
            <a:off x="2010156" y="1961388"/>
            <a:ext cx="137160" cy="137160"/>
          </a:xfrm>
          <a:prstGeom prst="ellipse">
            <a:avLst/>
          </a:prstGeom>
          <a:solidFill>
            <a:srgbClr val="C5192B"/>
          </a:solidFill>
          <a:ln w="25400">
            <a:solidFill>
              <a:srgbClr val="C5192B"/>
            </a:solidFill>
            <a:prstDash val="solid"/>
          </a:ln>
        </p:spPr>
      </p:sp>
      <p:sp>
        <p:nvSpPr>
          <p:cNvPr id="9" name="Text 7"/>
          <p:cNvSpPr/>
          <p:nvPr/>
        </p:nvSpPr>
        <p:spPr>
          <a:xfrm>
            <a:off x="1511808"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Mid Dec</a:t>
            </a:r>
            <a:endParaRPr lang="en-US" sz="950" dirty="0"/>
          </a:p>
        </p:txBody>
      </p:sp>
      <p:sp>
        <p:nvSpPr>
          <p:cNvPr id="10" name="Text 8"/>
          <p:cNvSpPr/>
          <p:nvPr/>
        </p:nvSpPr>
        <p:spPr>
          <a:xfrm>
            <a:off x="1511808"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Mechanic and permit locked</a:t>
            </a:r>
            <a:endParaRPr lang="en-US" sz="850" dirty="0"/>
          </a:p>
        </p:txBody>
      </p:sp>
      <p:sp>
        <p:nvSpPr>
          <p:cNvPr id="11" name="Shape 9"/>
          <p:cNvSpPr/>
          <p:nvPr/>
        </p:nvSpPr>
        <p:spPr>
          <a:xfrm>
            <a:off x="3256788" y="1961388"/>
            <a:ext cx="137160" cy="137160"/>
          </a:xfrm>
          <a:prstGeom prst="ellipse">
            <a:avLst/>
          </a:prstGeom>
          <a:solidFill>
            <a:srgbClr val="F6FAEC"/>
          </a:solidFill>
          <a:ln w="25400">
            <a:solidFill>
              <a:srgbClr val="C5192B"/>
            </a:solidFill>
            <a:prstDash val="solid"/>
          </a:ln>
        </p:spPr>
      </p:sp>
      <p:sp>
        <p:nvSpPr>
          <p:cNvPr id="12" name="Text 10"/>
          <p:cNvSpPr/>
          <p:nvPr/>
        </p:nvSpPr>
        <p:spPr>
          <a:xfrm>
            <a:off x="2758440"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15 Jan</a:t>
            </a:r>
            <a:endParaRPr lang="en-US" sz="950" dirty="0"/>
          </a:p>
        </p:txBody>
      </p:sp>
      <p:sp>
        <p:nvSpPr>
          <p:cNvPr id="13" name="Text 11"/>
          <p:cNvSpPr/>
          <p:nvPr/>
        </p:nvSpPr>
        <p:spPr>
          <a:xfrm>
            <a:off x="2758440"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Page live, tracking tested</a:t>
            </a:r>
            <a:endParaRPr lang="en-US" sz="850" dirty="0"/>
          </a:p>
        </p:txBody>
      </p:sp>
      <p:sp>
        <p:nvSpPr>
          <p:cNvPr id="14" name="Shape 12"/>
          <p:cNvSpPr/>
          <p:nvPr/>
        </p:nvSpPr>
        <p:spPr>
          <a:xfrm>
            <a:off x="4503420" y="1961388"/>
            <a:ext cx="137160" cy="137160"/>
          </a:xfrm>
          <a:prstGeom prst="ellipse">
            <a:avLst/>
          </a:prstGeom>
          <a:solidFill>
            <a:srgbClr val="C5192B"/>
          </a:solidFill>
          <a:ln w="25400">
            <a:solidFill>
              <a:srgbClr val="C5192B"/>
            </a:solidFill>
            <a:prstDash val="solid"/>
          </a:ln>
        </p:spPr>
      </p:sp>
      <p:sp>
        <p:nvSpPr>
          <p:cNvPr id="15" name="Text 13"/>
          <p:cNvSpPr/>
          <p:nvPr/>
        </p:nvSpPr>
        <p:spPr>
          <a:xfrm>
            <a:off x="4005072"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25 Jan</a:t>
            </a:r>
            <a:endParaRPr lang="en-US" sz="950" dirty="0"/>
          </a:p>
        </p:txBody>
      </p:sp>
      <p:sp>
        <p:nvSpPr>
          <p:cNvPr id="16" name="Text 14"/>
          <p:cNvSpPr/>
          <p:nvPr/>
        </p:nvSpPr>
        <p:spPr>
          <a:xfrm>
            <a:off x="4005072"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Campaign launch event</a:t>
            </a:r>
            <a:endParaRPr lang="en-US" sz="850" dirty="0"/>
          </a:p>
        </p:txBody>
      </p:sp>
      <p:sp>
        <p:nvSpPr>
          <p:cNvPr id="17" name="Shape 15"/>
          <p:cNvSpPr/>
          <p:nvPr/>
        </p:nvSpPr>
        <p:spPr>
          <a:xfrm>
            <a:off x="5750052" y="1961388"/>
            <a:ext cx="137160" cy="137160"/>
          </a:xfrm>
          <a:prstGeom prst="ellipse">
            <a:avLst/>
          </a:prstGeom>
          <a:solidFill>
            <a:srgbClr val="C5192B"/>
          </a:solidFill>
          <a:ln w="25400">
            <a:solidFill>
              <a:srgbClr val="C5192B"/>
            </a:solidFill>
            <a:prstDash val="solid"/>
          </a:ln>
        </p:spPr>
      </p:sp>
      <p:sp>
        <p:nvSpPr>
          <p:cNvPr id="18" name="Text 16"/>
          <p:cNvSpPr/>
          <p:nvPr/>
        </p:nvSpPr>
        <p:spPr>
          <a:xfrm>
            <a:off x="5251704"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 Feb</a:t>
            </a:r>
            <a:endParaRPr lang="en-US" sz="950" dirty="0"/>
          </a:p>
        </p:txBody>
      </p:sp>
      <p:sp>
        <p:nvSpPr>
          <p:cNvPr id="19" name="Text 17"/>
          <p:cNvSpPr/>
          <p:nvPr/>
        </p:nvSpPr>
        <p:spPr>
          <a:xfrm>
            <a:off x="5251704"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Contest ads live</a:t>
            </a:r>
            <a:endParaRPr lang="en-US" sz="850" dirty="0"/>
          </a:p>
        </p:txBody>
      </p:sp>
      <p:sp>
        <p:nvSpPr>
          <p:cNvPr id="20" name="Shape 18"/>
          <p:cNvSpPr/>
          <p:nvPr/>
        </p:nvSpPr>
        <p:spPr>
          <a:xfrm>
            <a:off x="6996684" y="1961388"/>
            <a:ext cx="137160" cy="137160"/>
          </a:xfrm>
          <a:prstGeom prst="ellipse">
            <a:avLst/>
          </a:prstGeom>
          <a:solidFill>
            <a:srgbClr val="C5192B"/>
          </a:solidFill>
          <a:ln w="25400">
            <a:solidFill>
              <a:srgbClr val="C5192B"/>
            </a:solidFill>
            <a:prstDash val="solid"/>
          </a:ln>
        </p:spPr>
      </p:sp>
      <p:sp>
        <p:nvSpPr>
          <p:cNvPr id="21" name="Text 19"/>
          <p:cNvSpPr/>
          <p:nvPr/>
        </p:nvSpPr>
        <p:spPr>
          <a:xfrm>
            <a:off x="6498336"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24 Feb</a:t>
            </a:r>
            <a:endParaRPr lang="en-US" sz="950" dirty="0"/>
          </a:p>
        </p:txBody>
      </p:sp>
      <p:sp>
        <p:nvSpPr>
          <p:cNvPr id="22" name="Text 20"/>
          <p:cNvSpPr/>
          <p:nvPr/>
        </p:nvSpPr>
        <p:spPr>
          <a:xfrm>
            <a:off x="6498336"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Brand video launch</a:t>
            </a:r>
            <a:endParaRPr lang="en-US" sz="850" dirty="0"/>
          </a:p>
        </p:txBody>
      </p:sp>
      <p:sp>
        <p:nvSpPr>
          <p:cNvPr id="23" name="Shape 21"/>
          <p:cNvSpPr/>
          <p:nvPr/>
        </p:nvSpPr>
        <p:spPr>
          <a:xfrm>
            <a:off x="8243316" y="1961388"/>
            <a:ext cx="137160" cy="137160"/>
          </a:xfrm>
          <a:prstGeom prst="ellipse">
            <a:avLst/>
          </a:prstGeom>
          <a:solidFill>
            <a:srgbClr val="F6FAEC"/>
          </a:solidFill>
          <a:ln w="25400">
            <a:solidFill>
              <a:srgbClr val="C5192B"/>
            </a:solidFill>
            <a:prstDash val="solid"/>
          </a:ln>
        </p:spPr>
      </p:sp>
      <p:sp>
        <p:nvSpPr>
          <p:cNvPr id="24" name="Text 22"/>
          <p:cNvSpPr/>
          <p:nvPr/>
        </p:nvSpPr>
        <p:spPr>
          <a:xfrm>
            <a:off x="7744968"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5 Apr</a:t>
            </a:r>
            <a:endParaRPr lang="en-US" sz="950" dirty="0"/>
          </a:p>
        </p:txBody>
      </p:sp>
      <p:sp>
        <p:nvSpPr>
          <p:cNvPr id="25" name="Text 23"/>
          <p:cNvSpPr/>
          <p:nvPr/>
        </p:nvSpPr>
        <p:spPr>
          <a:xfrm>
            <a:off x="7744968"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Contest closes</a:t>
            </a:r>
            <a:endParaRPr lang="en-US" sz="850" dirty="0"/>
          </a:p>
        </p:txBody>
      </p:sp>
      <p:sp>
        <p:nvSpPr>
          <p:cNvPr id="26" name="Shape 24"/>
          <p:cNvSpPr/>
          <p:nvPr/>
        </p:nvSpPr>
        <p:spPr>
          <a:xfrm>
            <a:off x="512064" y="3072384"/>
            <a:ext cx="2584704" cy="1243584"/>
          </a:xfrm>
          <a:prstGeom prst="rect">
            <a:avLst/>
          </a:prstGeom>
          <a:solidFill>
            <a:srgbClr val="E9F3DD"/>
          </a:solidFill>
          <a:ln/>
        </p:spPr>
      </p:sp>
      <p:sp>
        <p:nvSpPr>
          <p:cNvPr id="27" name="Shape 25"/>
          <p:cNvSpPr/>
          <p:nvPr/>
        </p:nvSpPr>
        <p:spPr>
          <a:xfrm>
            <a:off x="512064" y="3072384"/>
            <a:ext cx="2584704" cy="54864"/>
          </a:xfrm>
          <a:prstGeom prst="rect">
            <a:avLst/>
          </a:prstGeom>
          <a:solidFill>
            <a:srgbClr val="C5192B"/>
          </a:solidFill>
          <a:ln/>
        </p:spPr>
      </p:sp>
      <p:sp>
        <p:nvSpPr>
          <p:cNvPr id="28" name="Text 26"/>
          <p:cNvSpPr/>
          <p:nvPr/>
        </p:nvSpPr>
        <p:spPr>
          <a:xfrm>
            <a:off x="676656"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1 TO 3</a:t>
            </a:r>
            <a:endParaRPr lang="en-US" sz="800" dirty="0"/>
          </a:p>
        </p:txBody>
      </p:sp>
      <p:sp>
        <p:nvSpPr>
          <p:cNvPr id="29" name="Text 27"/>
          <p:cNvSpPr/>
          <p:nvPr/>
        </p:nvSpPr>
        <p:spPr>
          <a:xfrm>
            <a:off x="676656"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1 to 23 Feb</a:t>
            </a:r>
            <a:endParaRPr lang="en-US" sz="1150" dirty="0"/>
          </a:p>
        </p:txBody>
      </p:sp>
      <p:sp>
        <p:nvSpPr>
          <p:cNvPr id="30" name="Text 28"/>
          <p:cNvSpPr/>
          <p:nvPr/>
        </p:nvSpPr>
        <p:spPr>
          <a:xfrm>
            <a:off x="676656"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Contest engine alone, with no film yet. Chinese New Year on 6 Feb, so hold bid caps and cut weight about 30% for three days. Ramadan opens 8 Feb and the contest ramps. First winners announced 19 Feb.</a:t>
            </a:r>
            <a:endParaRPr lang="en-US" sz="850" dirty="0"/>
          </a:p>
        </p:txBody>
      </p:sp>
      <p:sp>
        <p:nvSpPr>
          <p:cNvPr id="31" name="Shape 29"/>
          <p:cNvSpPr/>
          <p:nvPr/>
        </p:nvSpPr>
        <p:spPr>
          <a:xfrm>
            <a:off x="3279648" y="3072384"/>
            <a:ext cx="2584704" cy="1243584"/>
          </a:xfrm>
          <a:prstGeom prst="rect">
            <a:avLst/>
          </a:prstGeom>
          <a:solidFill>
            <a:srgbClr val="E9F3DD"/>
          </a:solidFill>
          <a:ln/>
        </p:spPr>
      </p:sp>
      <p:sp>
        <p:nvSpPr>
          <p:cNvPr id="32" name="Shape 30"/>
          <p:cNvSpPr/>
          <p:nvPr/>
        </p:nvSpPr>
        <p:spPr>
          <a:xfrm>
            <a:off x="3279648" y="3072384"/>
            <a:ext cx="2584704" cy="54864"/>
          </a:xfrm>
          <a:prstGeom prst="rect">
            <a:avLst/>
          </a:prstGeom>
          <a:solidFill>
            <a:srgbClr val="006838"/>
          </a:solidFill>
          <a:ln/>
        </p:spPr>
      </p:sp>
      <p:sp>
        <p:nvSpPr>
          <p:cNvPr id="33" name="Text 31"/>
          <p:cNvSpPr/>
          <p:nvPr/>
        </p:nvSpPr>
        <p:spPr>
          <a:xfrm>
            <a:off x="3444240"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4 TO 6</a:t>
            </a:r>
            <a:endParaRPr lang="en-US" sz="800" dirty="0"/>
          </a:p>
        </p:txBody>
      </p:sp>
      <p:sp>
        <p:nvSpPr>
          <p:cNvPr id="34" name="Text 32"/>
          <p:cNvSpPr/>
          <p:nvPr/>
        </p:nvSpPr>
        <p:spPr>
          <a:xfrm>
            <a:off x="3444240"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24 Feb to 9 Mar</a:t>
            </a:r>
            <a:endParaRPr lang="en-US" sz="1150" dirty="0"/>
          </a:p>
        </p:txBody>
      </p:sp>
      <p:sp>
        <p:nvSpPr>
          <p:cNvPr id="35" name="Text 33"/>
          <p:cNvSpPr/>
          <p:nvPr/>
        </p:nvSpPr>
        <p:spPr>
          <a:xfrm>
            <a:off x="3444240"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Teasers on 17 and 22 Feb, film launches 24 Feb. Both engines at full weight. Retarget video viewers into the contest, which will be the highest converting audience the campaign has.</a:t>
            </a:r>
            <a:endParaRPr lang="en-US" sz="850" dirty="0"/>
          </a:p>
        </p:txBody>
      </p:sp>
      <p:sp>
        <p:nvSpPr>
          <p:cNvPr id="36" name="Shape 34"/>
          <p:cNvSpPr/>
          <p:nvPr/>
        </p:nvSpPr>
        <p:spPr>
          <a:xfrm>
            <a:off x="6047232" y="3072384"/>
            <a:ext cx="2584704" cy="1243584"/>
          </a:xfrm>
          <a:prstGeom prst="rect">
            <a:avLst/>
          </a:prstGeom>
          <a:solidFill>
            <a:srgbClr val="E9F3DD"/>
          </a:solidFill>
          <a:ln/>
        </p:spPr>
      </p:sp>
      <p:sp>
        <p:nvSpPr>
          <p:cNvPr id="37" name="Shape 35"/>
          <p:cNvSpPr/>
          <p:nvPr/>
        </p:nvSpPr>
        <p:spPr>
          <a:xfrm>
            <a:off x="6047232" y="3072384"/>
            <a:ext cx="2584704" cy="54864"/>
          </a:xfrm>
          <a:prstGeom prst="rect">
            <a:avLst/>
          </a:prstGeom>
          <a:solidFill>
            <a:srgbClr val="E8912C"/>
          </a:solidFill>
          <a:ln/>
        </p:spPr>
      </p:sp>
      <p:sp>
        <p:nvSpPr>
          <p:cNvPr id="38" name="Text 36"/>
          <p:cNvSpPr/>
          <p:nvPr/>
        </p:nvSpPr>
        <p:spPr>
          <a:xfrm>
            <a:off x="6211824"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7 TO 10</a:t>
            </a:r>
            <a:endParaRPr lang="en-US" sz="800" dirty="0"/>
          </a:p>
        </p:txBody>
      </p:sp>
      <p:sp>
        <p:nvSpPr>
          <p:cNvPr id="39" name="Text 37"/>
          <p:cNvSpPr/>
          <p:nvPr/>
        </p:nvSpPr>
        <p:spPr>
          <a:xfrm>
            <a:off x="6211824"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10 Mar to 5 Apr</a:t>
            </a:r>
            <a:endParaRPr lang="en-US" sz="1150" dirty="0"/>
          </a:p>
        </p:txBody>
      </p:sp>
      <p:sp>
        <p:nvSpPr>
          <p:cNvPr id="40" name="Text 38"/>
          <p:cNvSpPr/>
          <p:nvPr/>
        </p:nvSpPr>
        <p:spPr>
          <a:xfrm>
            <a:off x="6211824"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Raya on 10 Mar, so pull contest spend for three days and let the film carry emotional reach. Balik kampung and open house through Syawal. Last chance creative from 29 Mar. Report by 17 Apr.</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What we are not sure of, and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what we need from you.</a:t>
            </a:r>
            <a:endParaRPr lang="en-US" sz="2300" dirty="0"/>
          </a:p>
        </p:txBody>
      </p:sp>
      <p:sp>
        <p:nvSpPr>
          <p:cNvPr id="4" name="Shape 2"/>
          <p:cNvSpPr/>
          <p:nvPr/>
        </p:nvSpPr>
        <p:spPr>
          <a:xfrm>
            <a:off x="512064" y="1371600"/>
            <a:ext cx="3968496" cy="2962656"/>
          </a:xfrm>
          <a:prstGeom prst="rect">
            <a:avLst/>
          </a:prstGeom>
          <a:solidFill>
            <a:srgbClr val="E9F3DD"/>
          </a:solidFill>
          <a:ln/>
        </p:spPr>
      </p:sp>
      <p:sp>
        <p:nvSpPr>
          <p:cNvPr id="5" name="Shape 3"/>
          <p:cNvSpPr/>
          <p:nvPr/>
        </p:nvSpPr>
        <p:spPr>
          <a:xfrm>
            <a:off x="512064" y="1371600"/>
            <a:ext cx="3968496" cy="54864"/>
          </a:xfrm>
          <a:prstGeom prst="rect">
            <a:avLst/>
          </a:prstGeom>
          <a:solidFill>
            <a:srgbClr val="C5192B"/>
          </a:solidFill>
          <a:ln/>
        </p:spPr>
      </p:sp>
      <p:sp>
        <p:nvSpPr>
          <p:cNvPr id="6" name="Text 4"/>
          <p:cNvSpPr/>
          <p:nvPr/>
        </p:nvSpPr>
        <p:spPr>
          <a:xfrm>
            <a:off x="676656" y="1536192"/>
            <a:ext cx="3639312" cy="182880"/>
          </a:xfrm>
          <a:prstGeom prst="rect">
            <a:avLst/>
          </a:prstGeom>
          <a:noFill/>
          <a:ln/>
        </p:spPr>
        <p:txBody>
          <a:bodyPr wrap="square" lIns="0" tIns="0" rIns="0" bIns="0" rtlCol="0" anchor="t"/>
          <a:lstStyle/>
          <a:p>
            <a:pPr indent="0" marL="0">
              <a:buNone/>
            </a:pPr>
            <a:r>
              <a:rPr lang="en-US" sz="850" b="1" spc="80" kern="0" dirty="0">
                <a:solidFill>
                  <a:srgbClr val="C5192B"/>
                </a:solidFill>
                <a:latin typeface="Arial" pitchFamily="34" charset="0"/>
                <a:ea typeface="Arial" pitchFamily="34" charset="-122"/>
                <a:cs typeface="Arial" pitchFamily="34" charset="-120"/>
              </a:rPr>
              <a:t>CAVEATS</a:t>
            </a:r>
            <a:endParaRPr lang="en-US" sz="850" dirty="0"/>
          </a:p>
        </p:txBody>
      </p:sp>
      <p:sp>
        <p:nvSpPr>
          <p:cNvPr id="7" name="Text 5"/>
          <p:cNvSpPr/>
          <p:nvPr/>
        </p:nvSpPr>
        <p:spPr>
          <a:xfrm>
            <a:off x="676656" y="1773936"/>
            <a:ext cx="3639312" cy="2487168"/>
          </a:xfrm>
          <a:prstGeom prst="rect">
            <a:avLst/>
          </a:prstGeom>
          <a:noFill/>
          <a:ln/>
        </p:spPr>
        <p:txBody>
          <a:bodyPr wrap="square" lIns="0" tIns="0" rIns="0" bIns="0" rtlCol="0" anchor="t"/>
          <a:lstStyle/>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Is the 40M views KPI paid only or campaign wide? We assumed campaign wide. Paid only roughly doubles the budget.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What counts as a view? 2026’s 76% view rate implies a 2 second definition, not 30.</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Engagement on impressions or on reach? The same campaign reads 2.3% or 4.2%.</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We do not know the 2026 spend, so every CPM here stays an assumption until you share it.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Chinese New Year on 6 February inflates the auction in contest weeks 1 and 2.</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A pure random draw needs a permit under the Common Gaming Houses Act 1953. Allow three to four weeks.</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Bulan Bintang runs its own QR contest with a RM400,000 pool. We need to know if it overlaps.</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Your own slides disagree on the launch date and the winner count.</a:t>
            </a:r>
            <a:endParaRPr lang="en-US" sz="850" dirty="0"/>
          </a:p>
        </p:txBody>
      </p:sp>
      <p:sp>
        <p:nvSpPr>
          <p:cNvPr id="8" name="Shape 6"/>
          <p:cNvSpPr/>
          <p:nvPr/>
        </p:nvSpPr>
        <p:spPr>
          <a:xfrm>
            <a:off x="4663440" y="1371600"/>
            <a:ext cx="3968496" cy="2962656"/>
          </a:xfrm>
          <a:prstGeom prst="rect">
            <a:avLst/>
          </a:prstGeom>
          <a:solidFill>
            <a:srgbClr val="E9F3DD"/>
          </a:solidFill>
          <a:ln/>
        </p:spPr>
      </p:sp>
      <p:sp>
        <p:nvSpPr>
          <p:cNvPr id="9" name="Shape 7"/>
          <p:cNvSpPr/>
          <p:nvPr/>
        </p:nvSpPr>
        <p:spPr>
          <a:xfrm>
            <a:off x="4663440" y="1371600"/>
            <a:ext cx="3968496" cy="54864"/>
          </a:xfrm>
          <a:prstGeom prst="rect">
            <a:avLst/>
          </a:prstGeom>
          <a:solidFill>
            <a:srgbClr val="006838"/>
          </a:solidFill>
          <a:ln/>
        </p:spPr>
      </p:sp>
      <p:sp>
        <p:nvSpPr>
          <p:cNvPr id="10" name="Text 8"/>
          <p:cNvSpPr/>
          <p:nvPr/>
        </p:nvSpPr>
        <p:spPr>
          <a:xfrm>
            <a:off x="4828032" y="1536192"/>
            <a:ext cx="3639312" cy="182880"/>
          </a:xfrm>
          <a:prstGeom prst="rect">
            <a:avLst/>
          </a:prstGeom>
          <a:noFill/>
          <a:ln/>
        </p:spPr>
        <p:txBody>
          <a:bodyPr wrap="square" lIns="0" tIns="0" rIns="0" bIns="0" rtlCol="0" anchor="t"/>
          <a:lstStyle/>
          <a:p>
            <a:pPr indent="0" marL="0">
              <a:buNone/>
            </a:pPr>
            <a:r>
              <a:rPr lang="en-US" sz="850" b="1" spc="80" kern="0" dirty="0">
                <a:solidFill>
                  <a:srgbClr val="006838"/>
                </a:solidFill>
                <a:latin typeface="Arial" pitchFamily="34" charset="0"/>
                <a:ea typeface="Arial" pitchFamily="34" charset="-122"/>
                <a:cs typeface="Arial" pitchFamily="34" charset="-120"/>
              </a:rPr>
              <a:t>QUESTIONS FOR THE CLIENT</a:t>
            </a:r>
            <a:endParaRPr lang="en-US" sz="850" dirty="0"/>
          </a:p>
        </p:txBody>
      </p:sp>
      <p:sp>
        <p:nvSpPr>
          <p:cNvPr id="11" name="Text 9"/>
          <p:cNvSpPr/>
          <p:nvPr/>
        </p:nvSpPr>
        <p:spPr>
          <a:xfrm>
            <a:off x="4828032" y="1773936"/>
            <a:ext cx="3639312" cy="2487168"/>
          </a:xfrm>
          <a:prstGeom prst="rect">
            <a:avLst/>
          </a:prstGeom>
          <a:noFill/>
          <a:ln/>
        </p:spPr>
        <p:txBody>
          <a:bodyPr wrap="square" lIns="0" tIns="0" rIns="0" bIns="0" rtlCol="0" anchor="t"/>
          <a:lstStyle/>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Are the three KPIs for paid media alone, or for the whole campaign including KOL and organic?</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What did the 2026 campaign spend on digital, by platform?</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Who owns the landing page, domain, hosting and entry database, and who is the PDPA data controller?</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Will Bulan Bintang co fund the RM600 baju component of the prize?</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Can the mechanic be locked by mid December so the permit and page are ready?</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Do we get Meta and TikTok pixel access on Saji properties, plus lists for lookalikes?</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Which Saji SKUs count toward the RM25 threshold?</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Who verifies receipts and fulfils prizes, and what turnaround do they commit to?</a:t>
            </a:r>
            <a:endParaRPr lang="en-US" sz="850" dirty="0"/>
          </a:p>
        </p:txBody>
      </p:sp>
      <p:sp>
        <p:nvSpPr>
          <p:cNvPr id="12" name="Shape 10"/>
          <p:cNvSpPr/>
          <p:nvPr/>
        </p:nvSpPr>
        <p:spPr>
          <a:xfrm>
            <a:off x="438912" y="4443984"/>
            <a:ext cx="8266176" cy="402336"/>
          </a:xfrm>
          <a:prstGeom prst="rect">
            <a:avLst/>
          </a:prstGeom>
          <a:solidFill>
            <a:srgbClr val="052B18"/>
          </a:solidFill>
          <a:ln/>
        </p:spPr>
      </p:sp>
      <p:sp>
        <p:nvSpPr>
          <p:cNvPr id="13" name="Text 11"/>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we need to start: </a:t>
            </a:r>
            <a:pPr indent="0" marL="0">
              <a:buNone/>
            </a:pPr>
            <a:r>
              <a:rPr lang="en-US" sz="950" b="1" dirty="0">
                <a:solidFill>
                  <a:srgbClr val="FFFFFF"/>
                </a:solidFill>
                <a:latin typeface="Arial" pitchFamily="34" charset="0"/>
                <a:ea typeface="Arial" pitchFamily="34" charset="-122"/>
                <a:cs typeface="Arial" pitchFamily="34" charset="-120"/>
              </a:rPr>
              <a:t>the mechanic decision, platform access, and a yes or no on the landing page. Everything else we can work around.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Saji x Bulan Bintang, Ramadan Raya 2027 digital advertising proposal</dc:title>
  <dc:subject>Prepared for COO</dc:subject>
  <dc:creator>Toggle Solutions</dc:creator>
  <cp:lastModifiedBy>Toggle Solutions</cp:lastModifiedBy>
  <cp:revision>1</cp:revision>
  <dcterms:created xsi:type="dcterms:W3CDTF">2026-09-14T02:00:28Z</dcterms:created>
  <dcterms:modified xsi:type="dcterms:W3CDTF">2026-09-14T02:00:28Z</dcterms:modified>
</cp:coreProperties>
</file>