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
  </p:notesMasterIdLst>
  <p:sldIdLst>
    <p:sldId id="320" r:id="rId2"/>
    <p:sldId id="319" r:id="rId3"/>
    <p:sldId id="321" r:id="rId4"/>
  </p:sldIdLst>
  <p:sldSz cx="9144000" cy="5143500" type="screen16x9"/>
  <p:notesSz cx="6858000" cy="9144000"/>
  <p:embeddedFontLst>
    <p:embeddedFont>
      <p:font typeface="Caveat" panose="020B0604020202020204" charset="0"/>
      <p:regular r:id="rId6"/>
      <p:bold r:id="rId7"/>
    </p:embeddedFont>
    <p:embeddedFont>
      <p:font typeface="Helvetica Neue" panose="020B0604020202020204" charset="0"/>
      <p:regular r:id="rId8"/>
      <p:bold r:id="rId9"/>
      <p:italic r:id="rId10"/>
      <p:boldItalic r:id="rId11"/>
    </p:embeddedFont>
    <p:embeddedFont>
      <p:font typeface="Montserrat" panose="00000500000000000000" pitchFamily="2" charset="0"/>
      <p:regular r:id="rId12"/>
      <p:bold r:id="rId13"/>
    </p:embeddedFont>
    <p:embeddedFont>
      <p:font typeface="Montserrat ExtraBold" panose="00000900000000000000" pitchFamily="2" charset="0"/>
      <p:bold r:id="rId14"/>
    </p:embeddedFont>
    <p:embeddedFont>
      <p:font typeface="Montserrat SemiBold" panose="00000700000000000000" pitchFamily="2" charset="0"/>
      <p:bold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ordan Pinto"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font" Target="fonts/font10.fntdata"/><Relationship Id="rId10" Type="http://schemas.openxmlformats.org/officeDocument/2006/relationships/font" Target="fonts/font5.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h6ff939ef5982d828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SAJI liked both mechanics, so we joined them. Option 2 (buy, answer, upload) is the entry: anyone can join with one receipt. Option 1 (collect Mata) is the commitment: every extra purchase earns more chances.</a:t>
            </a:r>
          </a:p>
          <a:p>
            <a:pPr marL="0" lvl="0" indent="0" algn="l" rtl="0">
              <a:spcBef>
                <a:spcPts val="0"/>
              </a:spcBef>
              <a:spcAft>
                <a:spcPts val="0"/>
              </a:spcAft>
              <a:buNone/>
            </a:pPr>
            <a:r>
              <a:rPr lang="en-US"/>
              <a:t>- A shopper who only wants one chance stops at the first entry. A contest fan keeps collecting on the same account.</a:t>
            </a:r>
          </a:p>
          <a:p>
            <a:pPr marL="0" lvl="0" indent="0" algn="l" rtl="0">
              <a:spcBef>
                <a:spcPts val="0"/>
              </a:spcBef>
              <a:spcAft>
                <a:spcPts val="0"/>
              </a:spcAft>
              <a:buNone/>
            </a:pPr>
            <a:r>
              <a:rPr lang="en-US"/>
              <a:t>- You answer one question once, when you join, and it stays the same for all 10 weeks. Later receipts only need a scan and an upload. Confirm with counsel that a fixed question meets the permit's skill requirement.</a:t>
            </a:r>
            <a:endParaRPr/>
          </a:p>
        </p:txBody>
      </p:sp>
      <p:sp>
        <p:nvSpPr>
          <p:cNvPr id="758" name="Google Shape;758;h6ff939ef5982d828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h6ff939ef5982d828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One number to remember: 25 Mata is one entry. RM1 of SAJI is 1 Mata, so RM25 of SAJI is one entry.</a:t>
            </a:r>
          </a:p>
          <a:p>
            <a:pPr marL="0" lvl="0" indent="0" algn="l" rtl="0">
              <a:spcBef>
                <a:spcPts val="0"/>
              </a:spcBef>
              <a:spcAft>
                <a:spcPts val="0"/>
              </a:spcAft>
              <a:buNone/>
            </a:pPr>
            <a:r>
              <a:rPr lang="en-US"/>
              <a:t>- No double count: the first RM25 receipt is the first 25 Mata, which is the first entry.</a:t>
            </a:r>
          </a:p>
          <a:p>
            <a:pPr marL="0" lvl="0" indent="0" algn="l" rtl="0">
              <a:spcBef>
                <a:spcPts val="0"/>
              </a:spcBef>
              <a:spcAft>
                <a:spcPts val="0"/>
              </a:spcAft>
              <a:buNone/>
            </a:pPr>
            <a:r>
              <a:rPr lang="en-US"/>
              <a:t>- The weekly draw uses that week's entries, so a shopper has a reason to buy every week. The grand prize draw (the top 3 prizes) uses every entry since 30 January, so someone who joined in week 1 is still in it on 11 April. Prize amounts stay on the prize structure slides.</a:t>
            </a:r>
          </a:p>
          <a:p>
            <a:pPr marL="0" lvl="0" indent="0" algn="l" rtl="0">
              <a:spcBef>
                <a:spcPts val="0"/>
              </a:spcBef>
              <a:spcAft>
                <a:spcPts val="0"/>
              </a:spcAft>
              <a:buNone/>
            </a:pPr>
            <a:r>
              <a:rPr lang="en-US"/>
              <a:t>- Bonus QR codes are on packs and shelves nationwide, and event codes pay the same, so shoppers outside KL are not behind.</a:t>
            </a:r>
          </a:p>
          <a:p>
            <a:pPr marL="0" lvl="0" indent="0" algn="l" rtl="0">
              <a:spcBef>
                <a:spcPts val="0"/>
              </a:spcBef>
              <a:spcAft>
                <a:spcPts val="0"/>
              </a:spcAft>
              <a:buNone/>
            </a:pPr>
            <a:r>
              <a:rPr lang="en-US"/>
              <a:t>- We count each receipt once and cap Mata per receipt, so a bulk buyer cannot take over the draw.</a:t>
            </a:r>
            <a:endParaRPr/>
          </a:p>
        </p:txBody>
      </p:sp>
      <p:sp>
        <p:nvSpPr>
          <p:cNvPr id="719" name="Google Shape;719;h6ff939ef5982d828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h6ff939ef5982d828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 One journey for everyone. The QR on the pack works at home after shopping, the QR on the shelf works in store, and the ad link works from TikTok or Facebook. All three open the same contest page.</a:t>
            </a:r>
          </a:p>
          <a:p>
            <a:pPr marL="0" lvl="0" indent="0" algn="l" rtl="0">
              <a:spcBef>
                <a:spcPts val="0"/>
              </a:spcBef>
              <a:spcAft>
                <a:spcPts val="0"/>
              </a:spcAft>
              <a:buNone/>
            </a:pPr>
            <a:r>
              <a:rPr lang="en-US"/>
              <a:t>- Steps 1 to 4 happen once. Step 5 is the habit: every new receipt is a scan and an upload, which adds Mata and more chances to win.</a:t>
            </a:r>
          </a:p>
          <a:p>
            <a:pPr marL="0" lvl="0" indent="0" algn="l" rtl="0">
              <a:spcBef>
                <a:spcPts val="0"/>
              </a:spcBef>
              <a:spcAft>
                <a:spcPts val="0"/>
              </a:spcAft>
              <a:buNone/>
            </a:pPr>
            <a:r>
              <a:rPr lang="en-US"/>
              <a:t>- After each upload, the contest page shows the shopper's Mata balance, their entries so far and how much more SAJI gets the next entry. We use that gap to bring them back to the shelf.</a:t>
            </a:r>
          </a:p>
          <a:p>
            <a:pPr marL="0" lvl="0" indent="0" algn="l" rtl="0">
              <a:spcBef>
                <a:spcPts val="0"/>
              </a:spcBef>
              <a:spcAft>
                <a:spcPts val="0"/>
              </a:spcAft>
              <a:buNone/>
            </a:pPr>
            <a:r>
              <a:rPr lang="en-US"/>
              <a:t>- The balance lives on the contest page we already build, so it needs no WhatsApp setup. A shopper can also check it any time by logging in with their phone number.</a:t>
            </a:r>
          </a:p>
          <a:p>
            <a:pPr marL="0" lvl="0" indent="0" algn="l" rtl="0">
              <a:spcBef>
                <a:spcPts val="0"/>
              </a:spcBef>
              <a:spcAft>
                <a:spcPts val="0"/>
              </a:spcAft>
              <a:buNone/>
            </a:pPr>
            <a:r>
              <a:rPr lang="en-US"/>
              <a:t>- A promoter at the sampling booth can help anyone who gets stuck, and the flyer carries the same four steps.</a:t>
            </a:r>
            <a:endParaRPr/>
          </a:p>
        </p:txBody>
      </p:sp>
      <p:sp>
        <p:nvSpPr>
          <p:cNvPr id="758" name="Google Shape;758;h6ff939ef5982d828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image" Target="../media/image7.png"/><Relationship Id="rId5" Type="http://schemas.openxmlformats.org/officeDocument/2006/relationships/image" Target="../media/image6.png"/><Relationship Id="rId10" Type="http://schemas.openxmlformats.org/officeDocument/2006/relationships/image" Target="../media/image9.png"/><Relationship Id="rId4" Type="http://schemas.openxmlformats.org/officeDocument/2006/relationships/image" Target="../media/image5.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pic>
        <p:nvPicPr>
          <p:cNvPr id="769" name="Google Shape;769;p77"/>
          <p:cNvPicPr preferRelativeResize="0"/>
          <p:nvPr/>
        </p:nvPicPr>
        <p:blipFill>
          <a:blip r:embed="rId3">
            <a:alphaModFix/>
          </a:blip>
          <a:stretch>
            <a:fillRect/>
          </a:stretch>
        </p:blipFill>
        <p:spPr>
          <a:xfrm>
            <a:off x="8084676" y="175800"/>
            <a:ext cx="929002" cy="330099"/>
          </a:xfrm>
          <a:prstGeom prst="rect">
            <a:avLst/>
          </a:prstGeom>
          <a:noFill/>
          <a:ln>
            <a:noFill/>
          </a:ln>
        </p:spPr>
      </p:pic>
      <p:pic>
        <p:nvPicPr>
          <p:cNvPr id="770" name="Google Shape;770;p77"/>
          <p:cNvPicPr preferRelativeResize="0"/>
          <p:nvPr/>
        </p:nvPicPr>
        <p:blipFill>
          <a:blip r:embed="rId4">
            <a:alphaModFix/>
          </a:blip>
          <a:stretch>
            <a:fillRect/>
          </a:stretch>
        </p:blipFill>
        <p:spPr>
          <a:xfrm>
            <a:off x="8741325" y="4261525"/>
            <a:ext cx="150550" cy="613100"/>
          </a:xfrm>
          <a:prstGeom prst="rect">
            <a:avLst/>
          </a:prstGeom>
          <a:noFill/>
          <a:ln>
            <a:noFill/>
          </a:ln>
        </p:spPr>
      </p:pic>
      <p:sp>
        <p:nvSpPr>
          <p:cNvPr id="771" name="Google Shape;771;p77"/>
          <p:cNvSpPr txBox="1"/>
          <p:nvPr/>
        </p:nvSpPr>
        <p:spPr>
          <a:xfrm>
            <a:off x="514350" y="480225"/>
            <a:ext cx="7620000" cy="549600"/>
          </a:xfrm>
          <a:prstGeom prst="rect">
            <a:avLst/>
          </a:prstGeom>
          <a:noFill/>
          <a:ln>
            <a:noFill/>
          </a:ln>
        </p:spPr>
        <p:txBody>
          <a:bodyPr spcFirstLastPara="1" wrap="square" lIns="13700" tIns="6850" rIns="13700" bIns="34275" anchor="t" anchorCtr="0">
            <a:spAutoFit/>
          </a:bodyPr>
          <a:lstStyle/>
          <a:p>
            <a:pPr marL="0" marR="0" lvl="0" indent="0" algn="l" rtl="0">
              <a:spcBef>
                <a:spcPts val="0"/>
              </a:spcBef>
              <a:spcAft>
                <a:spcPts val="0"/>
              </a:spcAft>
              <a:buNone/>
            </a:pPr>
            <a:r>
              <a:rPr lang="en-MY" sz="3300" b="1">
                <a:solidFill>
                  <a:srgbClr val="38761D"/>
                </a:solidFill>
                <a:latin typeface="Caveat"/>
                <a:ea typeface="Caveat"/>
                <a:cs typeface="Caveat"/>
                <a:sym typeface="Caveat"/>
              </a:rPr>
              <a:t>Contest mechanic - Hybrid</a:t>
            </a:r>
            <a:endParaRPr sz="1500" b="1">
              <a:solidFill>
                <a:srgbClr val="38761D"/>
              </a:solidFill>
              <a:latin typeface="Caveat"/>
              <a:ea typeface="Caveat"/>
              <a:cs typeface="Caveat"/>
              <a:sym typeface="Caveat"/>
            </a:endParaRPr>
          </a:p>
        </p:txBody>
      </p:sp>
      <p:sp>
        <p:nvSpPr>
          <p:cNvPr id="772" name="Google Shape;772;p77"/>
          <p:cNvSpPr txBox="1"/>
          <p:nvPr/>
        </p:nvSpPr>
        <p:spPr>
          <a:xfrm>
            <a:off x="534925" y="219636"/>
            <a:ext cx="3213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Montserrat SemiBold"/>
                <a:ea typeface="Montserrat SemiBold"/>
                <a:cs typeface="Montserrat SemiBold"/>
                <a:sym typeface="Montserrat SemiBold"/>
              </a:rPr>
              <a:t>BUY &amp; WIN CONTEST</a:t>
            </a:r>
            <a:endParaRPr sz="1000">
              <a:solidFill>
                <a:schemeClr val="lt1"/>
              </a:solidFill>
              <a:latin typeface="Montserrat SemiBold"/>
              <a:ea typeface="Montserrat SemiBold"/>
              <a:cs typeface="Montserrat SemiBold"/>
              <a:sym typeface="Montserrat SemiBold"/>
            </a:endParaRPr>
          </a:p>
        </p:txBody>
      </p:sp>
      <p:sp>
        <p:nvSpPr>
          <p:cNvPr id="773" name="Google Shape;773;p77"/>
          <p:cNvSpPr txBox="1"/>
          <p:nvPr/>
        </p:nvSpPr>
        <p:spPr>
          <a:xfrm>
            <a:off x="492504" y="899685"/>
            <a:ext cx="7620000" cy="475500"/>
          </a:xfrm>
          <a:prstGeom prst="rect">
            <a:avLst/>
          </a:prstGeom>
          <a:noFill/>
          <a:ln>
            <a:noFill/>
          </a:ln>
        </p:spPr>
        <p:txBody>
          <a:bodyPr spcFirstLastPara="1" wrap="square" lIns="91425" tIns="91425" rIns="91425" bIns="91425" anchor="t" anchorCtr="0">
            <a:noAutofit/>
          </a:bodyPr>
          <a:lstStyle/>
          <a:p>
            <a:pPr marL="0" lvl="0" indent="0" algn="l" rtl="0">
              <a:lnSpc>
                <a:spcPct val="118000"/>
              </a:lnSpc>
              <a:spcBef>
                <a:spcPts val="0"/>
              </a:spcBef>
              <a:spcAft>
                <a:spcPts val="0"/>
              </a:spcAft>
              <a:buNone/>
            </a:pPr>
            <a:r>
              <a:rPr lang="en-US" sz="1800" b="1">
                <a:solidFill>
                  <a:srgbClr val="274E13"/>
                </a:solidFill>
                <a:latin typeface="Montserrat"/>
                <a:ea typeface="Montserrat"/>
                <a:cs typeface="Montserrat"/>
                <a:sym typeface="Montserrat"/>
              </a:rPr>
              <a:t>Join with one receipt. Collect Mata for more chances.</a:t>
            </a:r>
            <a:endParaRPr sz="1800" b="1">
              <a:solidFill>
                <a:srgbClr val="274E13"/>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F4A7458C-BE01-4F5C-2005-FDB6392A7478}"/>
              </a:ext>
            </a:extLst>
          </p:cNvPr>
          <p:cNvSpPr/>
          <p:nvPr/>
        </p:nvSpPr>
        <p:spPr>
          <a:xfrm>
            <a:off x="1244600" y="1473200"/>
            <a:ext cx="2413000" cy="381000"/>
          </a:xfrm>
          <a:prstGeom prst="roundRect">
            <a:avLst>
              <a:gd name="adj" fmla="val 50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200">
                <a:solidFill>
                  <a:srgbClr val="38761D"/>
                </a:solidFill>
                <a:latin typeface="Montserrat SemiBold" panose="00000700000000000000" pitchFamily="2" charset="0"/>
              </a:rPr>
              <a:t>BUY RM25 OF SAJI</a:t>
            </a:r>
          </a:p>
        </p:txBody>
      </p:sp>
      <p:sp>
        <p:nvSpPr>
          <p:cNvPr id="3" name="Rectangle: Rounded Corners 2">
            <a:extLst>
              <a:ext uri="{FF2B5EF4-FFF2-40B4-BE49-F238E27FC236}">
                <a16:creationId xmlns:a16="http://schemas.microsoft.com/office/drawing/2014/main" id="{FB5119D7-D4B6-C352-FC99-818E963D9CF3}"/>
              </a:ext>
            </a:extLst>
          </p:cNvPr>
          <p:cNvSpPr/>
          <p:nvPr/>
        </p:nvSpPr>
        <p:spPr>
          <a:xfrm>
            <a:off x="1244600" y="2082800"/>
            <a:ext cx="2413000" cy="381000"/>
          </a:xfrm>
          <a:prstGeom prst="roundRect">
            <a:avLst>
              <a:gd name="adj" fmla="val 50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000">
                <a:solidFill>
                  <a:srgbClr val="38761D"/>
                </a:solidFill>
                <a:latin typeface="Montserrat SemiBold" panose="00000700000000000000" pitchFamily="2" charset="0"/>
              </a:rPr>
              <a:t>ANSWER QUESTION,</a:t>
            </a:r>
          </a:p>
          <a:p>
            <a:pPr algn="ctr"/>
            <a:r>
              <a:rPr lang="en-MY" sz="1000">
                <a:solidFill>
                  <a:srgbClr val="38761D"/>
                </a:solidFill>
                <a:latin typeface="Montserrat SemiBold" panose="00000700000000000000" pitchFamily="2" charset="0"/>
              </a:rPr>
              <a:t>REGISTER &amp; UPLOAD</a:t>
            </a:r>
          </a:p>
        </p:txBody>
      </p:sp>
      <p:sp>
        <p:nvSpPr>
          <p:cNvPr id="4" name="Rectangle: Rounded Corners 3">
            <a:extLst>
              <a:ext uri="{FF2B5EF4-FFF2-40B4-BE49-F238E27FC236}">
                <a16:creationId xmlns:a16="http://schemas.microsoft.com/office/drawing/2014/main" id="{13CBC6D8-0F50-EFE6-7B6D-D575D1A8CBC1}"/>
              </a:ext>
            </a:extLst>
          </p:cNvPr>
          <p:cNvSpPr/>
          <p:nvPr/>
        </p:nvSpPr>
        <p:spPr>
          <a:xfrm>
            <a:off x="1244600" y="2692400"/>
            <a:ext cx="2413000" cy="3810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300">
                <a:solidFill>
                  <a:srgbClr val="274E13"/>
                </a:solidFill>
                <a:latin typeface="Montserrat SemiBold" panose="00000700000000000000" pitchFamily="2" charset="0"/>
              </a:rPr>
              <a:t>1 ENTRY</a:t>
            </a:r>
          </a:p>
        </p:txBody>
      </p:sp>
      <p:sp>
        <p:nvSpPr>
          <p:cNvPr id="5" name="Rectangle: Rounded Corners 4">
            <a:extLst>
              <a:ext uri="{FF2B5EF4-FFF2-40B4-BE49-F238E27FC236}">
                <a16:creationId xmlns:a16="http://schemas.microsoft.com/office/drawing/2014/main" id="{CD567086-419E-97BE-D57F-698764A304B2}"/>
              </a:ext>
            </a:extLst>
          </p:cNvPr>
          <p:cNvSpPr/>
          <p:nvPr/>
        </p:nvSpPr>
        <p:spPr>
          <a:xfrm>
            <a:off x="1244600" y="3454400"/>
            <a:ext cx="2413000" cy="381000"/>
          </a:xfrm>
          <a:prstGeom prst="roundRect">
            <a:avLst>
              <a:gd name="adj" fmla="val 50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050">
                <a:solidFill>
                  <a:srgbClr val="FFFFFF"/>
                </a:solidFill>
                <a:latin typeface="Montserrat SemiBold" panose="00000700000000000000" pitchFamily="2" charset="0"/>
              </a:rPr>
              <a:t>KEEP BUYING, COLLECT MATA</a:t>
            </a:r>
          </a:p>
        </p:txBody>
      </p:sp>
      <p:sp>
        <p:nvSpPr>
          <p:cNvPr id="6" name="Rectangle: Rounded Corners 5">
            <a:extLst>
              <a:ext uri="{FF2B5EF4-FFF2-40B4-BE49-F238E27FC236}">
                <a16:creationId xmlns:a16="http://schemas.microsoft.com/office/drawing/2014/main" id="{283F2C59-1AAC-FD9C-5606-CA3F997E1672}"/>
              </a:ext>
            </a:extLst>
          </p:cNvPr>
          <p:cNvSpPr/>
          <p:nvPr/>
        </p:nvSpPr>
        <p:spPr>
          <a:xfrm>
            <a:off x="1244600" y="4064000"/>
            <a:ext cx="2413000" cy="3810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300">
                <a:solidFill>
                  <a:srgbClr val="274E13"/>
                </a:solidFill>
                <a:latin typeface="Montserrat SemiBold" panose="00000700000000000000" pitchFamily="2" charset="0"/>
              </a:rPr>
              <a:t>MORE ENTRIES</a:t>
            </a:r>
          </a:p>
        </p:txBody>
      </p:sp>
      <p:cxnSp>
        <p:nvCxnSpPr>
          <p:cNvPr id="7" name="Straight Connector 6">
            <a:extLst>
              <a:ext uri="{FF2B5EF4-FFF2-40B4-BE49-F238E27FC236}">
                <a16:creationId xmlns:a16="http://schemas.microsoft.com/office/drawing/2014/main" id="{49DCED64-EBDB-FB66-9D23-547C237F431C}"/>
              </a:ext>
            </a:extLst>
          </p:cNvPr>
          <p:cNvCxnSpPr/>
          <p:nvPr/>
        </p:nvCxnSpPr>
        <p:spPr>
          <a:xfrm>
            <a:off x="2451100" y="1866900"/>
            <a:ext cx="0" cy="20320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E612581-6419-C751-5815-95BF639095FE}"/>
              </a:ext>
            </a:extLst>
          </p:cNvPr>
          <p:cNvCxnSpPr/>
          <p:nvPr/>
        </p:nvCxnSpPr>
        <p:spPr>
          <a:xfrm>
            <a:off x="2451100" y="2476500"/>
            <a:ext cx="0" cy="20320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ED53AE6-0ADC-83B1-86B2-4B0562F8D12C}"/>
              </a:ext>
            </a:extLst>
          </p:cNvPr>
          <p:cNvCxnSpPr/>
          <p:nvPr/>
        </p:nvCxnSpPr>
        <p:spPr>
          <a:xfrm>
            <a:off x="2451100" y="3848100"/>
            <a:ext cx="0" cy="20320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7631585-DC17-6095-FC78-07F2D0D4A8E4}"/>
              </a:ext>
            </a:extLst>
          </p:cNvPr>
          <p:cNvCxnSpPr/>
          <p:nvPr/>
        </p:nvCxnSpPr>
        <p:spPr>
          <a:xfrm>
            <a:off x="2451100" y="3086100"/>
            <a:ext cx="0" cy="35560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768FBEF-21F4-97A2-F40A-4D9500A669BA}"/>
              </a:ext>
            </a:extLst>
          </p:cNvPr>
          <p:cNvCxnSpPr/>
          <p:nvPr/>
        </p:nvCxnSpPr>
        <p:spPr>
          <a:xfrm>
            <a:off x="3784600" y="1473200"/>
            <a:ext cx="0" cy="1600200"/>
          </a:xfrm>
          <a:prstGeom prst="line">
            <a:avLst/>
          </a:prstGeom>
          <a:ln w="19050">
            <a:solidFill>
              <a:srgbClr val="274E13"/>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FDB43588-8B69-DBCB-1FEC-C97111FBDFC8}"/>
              </a:ext>
            </a:extLst>
          </p:cNvPr>
          <p:cNvSpPr txBox="1"/>
          <p:nvPr/>
        </p:nvSpPr>
        <p:spPr>
          <a:xfrm rot="16200000">
            <a:off x="3187700" y="2108199"/>
            <a:ext cx="1600200" cy="330200"/>
          </a:xfrm>
          <a:prstGeom prst="rect">
            <a:avLst/>
          </a:prstGeom>
          <a:noFill/>
        </p:spPr>
        <p:txBody>
          <a:bodyPr vert="horz" wrap="square" lIns="0" tIns="0" rIns="0" bIns="0" rtlCol="0" anchor="ctr">
            <a:noAutofit/>
          </a:bodyPr>
          <a:lstStyle/>
          <a:p>
            <a:pPr algn="ctr"/>
            <a:r>
              <a:rPr lang="en-MY" sz="900" b="1">
                <a:solidFill>
                  <a:srgbClr val="274E13"/>
                </a:solidFill>
                <a:latin typeface="Montserrat" panose="00000500000000000000" pitchFamily="2" charset="0"/>
              </a:rPr>
              <a:t>ENTRY</a:t>
            </a:r>
          </a:p>
          <a:p>
            <a:pPr algn="ctr"/>
            <a:r>
              <a:rPr lang="en-MY" sz="900">
                <a:solidFill>
                  <a:srgbClr val="274E13"/>
                </a:solidFill>
                <a:latin typeface="Montserrat" panose="00000500000000000000" pitchFamily="2" charset="0"/>
              </a:rPr>
              <a:t>Option 2</a:t>
            </a:r>
          </a:p>
        </p:txBody>
      </p:sp>
      <p:cxnSp>
        <p:nvCxnSpPr>
          <p:cNvPr id="13" name="Straight Connector 12">
            <a:extLst>
              <a:ext uri="{FF2B5EF4-FFF2-40B4-BE49-F238E27FC236}">
                <a16:creationId xmlns:a16="http://schemas.microsoft.com/office/drawing/2014/main" id="{2E612EC7-554D-50D7-2926-8CD997352EC9}"/>
              </a:ext>
            </a:extLst>
          </p:cNvPr>
          <p:cNvCxnSpPr/>
          <p:nvPr/>
        </p:nvCxnSpPr>
        <p:spPr>
          <a:xfrm>
            <a:off x="3784600" y="3454400"/>
            <a:ext cx="0" cy="990600"/>
          </a:xfrm>
          <a:prstGeom prst="line">
            <a:avLst/>
          </a:prstGeom>
          <a:ln w="19050">
            <a:solidFill>
              <a:srgbClr val="274E13"/>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95738520-B5FC-9FD8-D38B-D1B49AEC1507}"/>
              </a:ext>
            </a:extLst>
          </p:cNvPr>
          <p:cNvSpPr txBox="1"/>
          <p:nvPr/>
        </p:nvSpPr>
        <p:spPr>
          <a:xfrm rot="16200000">
            <a:off x="3492500" y="3784599"/>
            <a:ext cx="990600" cy="330200"/>
          </a:xfrm>
          <a:prstGeom prst="rect">
            <a:avLst/>
          </a:prstGeom>
          <a:noFill/>
        </p:spPr>
        <p:txBody>
          <a:bodyPr vert="horz" wrap="square" lIns="0" tIns="0" rIns="0" bIns="0" rtlCol="0" anchor="ctr">
            <a:noAutofit/>
          </a:bodyPr>
          <a:lstStyle/>
          <a:p>
            <a:pPr algn="ctr"/>
            <a:r>
              <a:rPr lang="en-MY" sz="900" b="1">
                <a:solidFill>
                  <a:srgbClr val="274E13"/>
                </a:solidFill>
                <a:latin typeface="Montserrat" panose="00000500000000000000" pitchFamily="2" charset="0"/>
              </a:rPr>
              <a:t>COMMITMENT</a:t>
            </a:r>
          </a:p>
          <a:p>
            <a:pPr algn="ctr"/>
            <a:r>
              <a:rPr lang="en-MY" sz="900">
                <a:solidFill>
                  <a:srgbClr val="274E13"/>
                </a:solidFill>
                <a:latin typeface="Montserrat" panose="00000500000000000000" pitchFamily="2" charset="0"/>
              </a:rPr>
              <a:t>Option 1</a:t>
            </a:r>
          </a:p>
        </p:txBody>
      </p:sp>
      <p:sp>
        <p:nvSpPr>
          <p:cNvPr id="15" name="Rectangle: Rounded Corners 14">
            <a:extLst>
              <a:ext uri="{FF2B5EF4-FFF2-40B4-BE49-F238E27FC236}">
                <a16:creationId xmlns:a16="http://schemas.microsoft.com/office/drawing/2014/main" id="{8E6A35AB-6A63-4C38-54EA-796DD143AA0A}"/>
              </a:ext>
            </a:extLst>
          </p:cNvPr>
          <p:cNvSpPr/>
          <p:nvPr/>
        </p:nvSpPr>
        <p:spPr>
          <a:xfrm>
            <a:off x="4267200" y="1447800"/>
            <a:ext cx="3924300" cy="787400"/>
          </a:xfrm>
          <a:prstGeom prst="roundRect">
            <a:avLst>
              <a:gd name="adj" fmla="val 15000"/>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152400" tIns="38100" rIns="152400" bIns="38100" rtlCol="0" anchor="ctr"/>
          <a:lstStyle/>
          <a:p>
            <a:r>
              <a:rPr lang="en-US" sz="1050" b="1">
                <a:solidFill>
                  <a:srgbClr val="F5EC2E"/>
                </a:solidFill>
                <a:latin typeface="Montserrat" panose="00000500000000000000" pitchFamily="2" charset="0"/>
              </a:rPr>
              <a:t>THE GOAL</a:t>
            </a:r>
          </a:p>
          <a:p>
            <a:r>
              <a:rPr lang="en-US" sz="950">
                <a:solidFill>
                  <a:srgbClr val="FFFFFF"/>
                </a:solidFill>
                <a:latin typeface="Montserrat" panose="00000500000000000000" pitchFamily="2" charset="0"/>
              </a:rPr>
              <a:t>Make joining easy so more shoppers enter, then reward every repeat purchase from 30 January to 11 April.</a:t>
            </a:r>
            <a:endParaRPr lang="en-MY" sz="950">
              <a:solidFill>
                <a:srgbClr val="FFFFFF"/>
              </a:solidFill>
              <a:latin typeface="Montserrat" panose="00000500000000000000" pitchFamily="2" charset="0"/>
            </a:endParaRPr>
          </a:p>
        </p:txBody>
      </p:sp>
      <p:sp>
        <p:nvSpPr>
          <p:cNvPr id="16" name="Rectangle: Rounded Corners 15">
            <a:extLst>
              <a:ext uri="{FF2B5EF4-FFF2-40B4-BE49-F238E27FC236}">
                <a16:creationId xmlns:a16="http://schemas.microsoft.com/office/drawing/2014/main" id="{8DAC412F-0281-E590-2C16-B9F323B18551}"/>
              </a:ext>
            </a:extLst>
          </p:cNvPr>
          <p:cNvSpPr/>
          <p:nvPr/>
        </p:nvSpPr>
        <p:spPr>
          <a:xfrm>
            <a:off x="4267200" y="2336800"/>
            <a:ext cx="1930400" cy="2108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7" name="TextBox 16">
            <a:extLst>
              <a:ext uri="{FF2B5EF4-FFF2-40B4-BE49-F238E27FC236}">
                <a16:creationId xmlns:a16="http://schemas.microsoft.com/office/drawing/2014/main" id="{1A39C515-52AB-BF00-1EC7-86A04690F6D4}"/>
              </a:ext>
            </a:extLst>
          </p:cNvPr>
          <p:cNvSpPr txBox="1"/>
          <p:nvPr/>
        </p:nvSpPr>
        <p:spPr>
          <a:xfrm>
            <a:off x="4343400" y="2412999"/>
            <a:ext cx="1778000" cy="190500"/>
          </a:xfrm>
          <a:prstGeom prst="rect">
            <a:avLst/>
          </a:prstGeom>
          <a:noFill/>
        </p:spPr>
        <p:txBody>
          <a:bodyPr vert="horz" wrap="square" lIns="0" tIns="0" rIns="0" bIns="0" rtlCol="0" anchor="ctr">
            <a:noAutofit/>
          </a:bodyPr>
          <a:lstStyle/>
          <a:p>
            <a:pPr algn="ctr"/>
            <a:r>
              <a:rPr lang="en-MY" sz="1100" b="1">
                <a:solidFill>
                  <a:srgbClr val="38761D"/>
                </a:solidFill>
                <a:latin typeface="Montserrat SemiBold" panose="00000700000000000000" pitchFamily="2" charset="0"/>
              </a:rPr>
              <a:t>ENTRY</a:t>
            </a:r>
          </a:p>
        </p:txBody>
      </p:sp>
      <p:sp>
        <p:nvSpPr>
          <p:cNvPr id="18" name="TextBox 17">
            <a:extLst>
              <a:ext uri="{FF2B5EF4-FFF2-40B4-BE49-F238E27FC236}">
                <a16:creationId xmlns:a16="http://schemas.microsoft.com/office/drawing/2014/main" id="{9BC0669D-AB03-5C95-A047-D48527386EF0}"/>
              </a:ext>
            </a:extLst>
          </p:cNvPr>
          <p:cNvSpPr txBox="1"/>
          <p:nvPr/>
        </p:nvSpPr>
        <p:spPr>
          <a:xfrm>
            <a:off x="4343400" y="2603499"/>
            <a:ext cx="1778000" cy="152400"/>
          </a:xfrm>
          <a:prstGeom prst="rect">
            <a:avLst/>
          </a:prstGeom>
          <a:noFill/>
        </p:spPr>
        <p:txBody>
          <a:bodyPr vert="horz" wrap="square" lIns="0" tIns="0" rIns="0" bIns="0" rtlCol="0" anchor="ctr">
            <a:noAutofit/>
          </a:bodyPr>
          <a:lstStyle/>
          <a:p>
            <a:pPr algn="ctr"/>
            <a:r>
              <a:rPr lang="en-MY" sz="800">
                <a:solidFill>
                  <a:srgbClr val="38761D"/>
                </a:solidFill>
                <a:latin typeface="Montserrat" panose="00000500000000000000" pitchFamily="2" charset="0"/>
              </a:rPr>
              <a:t>Easy to join</a:t>
            </a:r>
          </a:p>
        </p:txBody>
      </p:sp>
      <p:sp>
        <p:nvSpPr>
          <p:cNvPr id="19" name="Rectangle: Rounded Corners 18">
            <a:extLst>
              <a:ext uri="{FF2B5EF4-FFF2-40B4-BE49-F238E27FC236}">
                <a16:creationId xmlns:a16="http://schemas.microsoft.com/office/drawing/2014/main" id="{1C11B741-2D61-F953-4178-39474B57A473}"/>
              </a:ext>
            </a:extLst>
          </p:cNvPr>
          <p:cNvSpPr/>
          <p:nvPr/>
        </p:nvSpPr>
        <p:spPr>
          <a:xfrm>
            <a:off x="5029200" y="2819400"/>
            <a:ext cx="406400" cy="4064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1" name="Picture 20">
            <a:extLst>
              <a:ext uri="{FF2B5EF4-FFF2-40B4-BE49-F238E27FC236}">
                <a16:creationId xmlns:a16="http://schemas.microsoft.com/office/drawing/2014/main" id="{805F2878-AC6E-1E5F-6FCE-AB6B0C5D7656}"/>
              </a:ext>
            </a:extLst>
          </p:cNvPr>
          <p:cNvPicPr>
            <a:picLocks noChangeAspect="1"/>
          </p:cNvPicPr>
          <p:nvPr/>
        </p:nvPicPr>
        <p:blipFill>
          <a:blip r:embed="rId5"/>
          <a:stretch>
            <a:fillRect/>
          </a:stretch>
        </p:blipFill>
        <p:spPr>
          <a:xfrm>
            <a:off x="5110480" y="2909529"/>
            <a:ext cx="243840" cy="226142"/>
          </a:xfrm>
          <a:prstGeom prst="rect">
            <a:avLst/>
          </a:prstGeom>
        </p:spPr>
      </p:pic>
      <p:sp>
        <p:nvSpPr>
          <p:cNvPr id="22" name="Rectangle: Rounded Corners 21">
            <a:extLst>
              <a:ext uri="{FF2B5EF4-FFF2-40B4-BE49-F238E27FC236}">
                <a16:creationId xmlns:a16="http://schemas.microsoft.com/office/drawing/2014/main" id="{571F37BF-3C85-B84E-1A4D-7BEEE7453BD6}"/>
              </a:ext>
            </a:extLst>
          </p:cNvPr>
          <p:cNvSpPr/>
          <p:nvPr/>
        </p:nvSpPr>
        <p:spPr>
          <a:xfrm>
            <a:off x="4495800" y="3302000"/>
            <a:ext cx="1473200" cy="2540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950">
                <a:solidFill>
                  <a:srgbClr val="274E13"/>
                </a:solidFill>
                <a:latin typeface="Montserrat SemiBold" panose="00000700000000000000" pitchFamily="2" charset="0"/>
              </a:rPr>
              <a:t>= 1 ENTRY</a:t>
            </a:r>
          </a:p>
        </p:txBody>
      </p:sp>
      <p:sp>
        <p:nvSpPr>
          <p:cNvPr id="23" name="TextBox 22">
            <a:extLst>
              <a:ext uri="{FF2B5EF4-FFF2-40B4-BE49-F238E27FC236}">
                <a16:creationId xmlns:a16="http://schemas.microsoft.com/office/drawing/2014/main" id="{1C8C98B2-6B17-9037-5DAF-40427BD2A4CC}"/>
              </a:ext>
            </a:extLst>
          </p:cNvPr>
          <p:cNvSpPr txBox="1"/>
          <p:nvPr/>
        </p:nvSpPr>
        <p:spPr>
          <a:xfrm>
            <a:off x="4394200" y="3632200"/>
            <a:ext cx="1676400" cy="736600"/>
          </a:xfrm>
          <a:prstGeom prst="rect">
            <a:avLst/>
          </a:prstGeom>
          <a:noFill/>
        </p:spPr>
        <p:txBody>
          <a:bodyPr vert="horz" wrap="square" lIns="0" tIns="0" rIns="0" bIns="0" rtlCol="0" anchor="t">
            <a:noAutofit/>
          </a:bodyPr>
          <a:lstStyle/>
          <a:p>
            <a:pPr algn="ctr"/>
            <a:r>
              <a:rPr lang="en-US" sz="850">
                <a:solidFill>
                  <a:srgbClr val="274E13"/>
                </a:solidFill>
                <a:latin typeface="Montserrat" panose="00000500000000000000" pitchFamily="2" charset="0"/>
              </a:rPr>
              <a:t>One RM25 receipt and one answer put you in this week's draw and the grand prize draw.</a:t>
            </a:r>
            <a:endParaRPr lang="en-MY" sz="850">
              <a:solidFill>
                <a:srgbClr val="274E13"/>
              </a:solidFill>
              <a:latin typeface="Montserrat" panose="00000500000000000000" pitchFamily="2" charset="0"/>
            </a:endParaRPr>
          </a:p>
        </p:txBody>
      </p:sp>
      <p:sp>
        <p:nvSpPr>
          <p:cNvPr id="24" name="Rectangle: Rounded Corners 23">
            <a:extLst>
              <a:ext uri="{FF2B5EF4-FFF2-40B4-BE49-F238E27FC236}">
                <a16:creationId xmlns:a16="http://schemas.microsoft.com/office/drawing/2014/main" id="{602BFF63-DB49-5D2C-EF04-7B0BA1B798C4}"/>
              </a:ext>
            </a:extLst>
          </p:cNvPr>
          <p:cNvSpPr/>
          <p:nvPr/>
        </p:nvSpPr>
        <p:spPr>
          <a:xfrm>
            <a:off x="6261100" y="2336800"/>
            <a:ext cx="1930400" cy="2108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5" name="TextBox 24">
            <a:extLst>
              <a:ext uri="{FF2B5EF4-FFF2-40B4-BE49-F238E27FC236}">
                <a16:creationId xmlns:a16="http://schemas.microsoft.com/office/drawing/2014/main" id="{2EAAA93A-8FC0-9D7A-1247-682DDB16C0A6}"/>
              </a:ext>
            </a:extLst>
          </p:cNvPr>
          <p:cNvSpPr txBox="1"/>
          <p:nvPr/>
        </p:nvSpPr>
        <p:spPr>
          <a:xfrm>
            <a:off x="6337300" y="2412999"/>
            <a:ext cx="1778000" cy="190500"/>
          </a:xfrm>
          <a:prstGeom prst="rect">
            <a:avLst/>
          </a:prstGeom>
          <a:noFill/>
        </p:spPr>
        <p:txBody>
          <a:bodyPr vert="horz" wrap="square" lIns="0" tIns="0" rIns="0" bIns="0" rtlCol="0" anchor="ctr">
            <a:noAutofit/>
          </a:bodyPr>
          <a:lstStyle/>
          <a:p>
            <a:pPr algn="ctr"/>
            <a:r>
              <a:rPr lang="en-MY" sz="1100" b="1">
                <a:solidFill>
                  <a:srgbClr val="38761D"/>
                </a:solidFill>
                <a:latin typeface="Montserrat SemiBold" panose="00000700000000000000" pitchFamily="2" charset="0"/>
              </a:rPr>
              <a:t>COMMITMENT</a:t>
            </a:r>
          </a:p>
        </p:txBody>
      </p:sp>
      <p:sp>
        <p:nvSpPr>
          <p:cNvPr id="26" name="TextBox 25">
            <a:extLst>
              <a:ext uri="{FF2B5EF4-FFF2-40B4-BE49-F238E27FC236}">
                <a16:creationId xmlns:a16="http://schemas.microsoft.com/office/drawing/2014/main" id="{E5CF2F8D-2331-9DBB-75E2-7966960A71E1}"/>
              </a:ext>
            </a:extLst>
          </p:cNvPr>
          <p:cNvSpPr txBox="1"/>
          <p:nvPr/>
        </p:nvSpPr>
        <p:spPr>
          <a:xfrm>
            <a:off x="6337300" y="2603499"/>
            <a:ext cx="1778000" cy="152400"/>
          </a:xfrm>
          <a:prstGeom prst="rect">
            <a:avLst/>
          </a:prstGeom>
          <a:noFill/>
        </p:spPr>
        <p:txBody>
          <a:bodyPr vert="horz" wrap="square" lIns="0" tIns="0" rIns="0" bIns="0" rtlCol="0" anchor="ctr">
            <a:noAutofit/>
          </a:bodyPr>
          <a:lstStyle/>
          <a:p>
            <a:pPr algn="ctr"/>
            <a:r>
              <a:rPr lang="en-US" sz="800">
                <a:solidFill>
                  <a:srgbClr val="38761D"/>
                </a:solidFill>
                <a:latin typeface="Montserrat" panose="00000500000000000000" pitchFamily="2" charset="0"/>
              </a:rPr>
              <a:t>A reason to come back</a:t>
            </a:r>
            <a:endParaRPr lang="en-MY" sz="800">
              <a:solidFill>
                <a:srgbClr val="38761D"/>
              </a:solidFill>
              <a:latin typeface="Montserrat" panose="00000500000000000000" pitchFamily="2" charset="0"/>
            </a:endParaRPr>
          </a:p>
        </p:txBody>
      </p:sp>
      <p:sp>
        <p:nvSpPr>
          <p:cNvPr id="27" name="Rectangle: Rounded Corners 26">
            <a:extLst>
              <a:ext uri="{FF2B5EF4-FFF2-40B4-BE49-F238E27FC236}">
                <a16:creationId xmlns:a16="http://schemas.microsoft.com/office/drawing/2014/main" id="{ABC62D85-72A4-54D1-111D-0B397C675452}"/>
              </a:ext>
            </a:extLst>
          </p:cNvPr>
          <p:cNvSpPr/>
          <p:nvPr/>
        </p:nvSpPr>
        <p:spPr>
          <a:xfrm>
            <a:off x="6743700" y="2819400"/>
            <a:ext cx="406400" cy="4064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29" name="Picture 28">
            <a:extLst>
              <a:ext uri="{FF2B5EF4-FFF2-40B4-BE49-F238E27FC236}">
                <a16:creationId xmlns:a16="http://schemas.microsoft.com/office/drawing/2014/main" id="{BA0C2160-1560-9537-2A40-7A334A83EED0}"/>
              </a:ext>
            </a:extLst>
          </p:cNvPr>
          <p:cNvPicPr>
            <a:picLocks noChangeAspect="1"/>
          </p:cNvPicPr>
          <p:nvPr/>
        </p:nvPicPr>
        <p:blipFill>
          <a:blip r:embed="rId5"/>
          <a:stretch>
            <a:fillRect/>
          </a:stretch>
        </p:blipFill>
        <p:spPr>
          <a:xfrm>
            <a:off x="6824980" y="2909529"/>
            <a:ext cx="243840" cy="226142"/>
          </a:xfrm>
          <a:prstGeom prst="rect">
            <a:avLst/>
          </a:prstGeom>
        </p:spPr>
      </p:pic>
      <p:sp>
        <p:nvSpPr>
          <p:cNvPr id="30" name="Rectangle: Rounded Corners 29">
            <a:extLst>
              <a:ext uri="{FF2B5EF4-FFF2-40B4-BE49-F238E27FC236}">
                <a16:creationId xmlns:a16="http://schemas.microsoft.com/office/drawing/2014/main" id="{735C5A5F-DC56-C252-92EC-5F3B083C6654}"/>
              </a:ext>
            </a:extLst>
          </p:cNvPr>
          <p:cNvSpPr/>
          <p:nvPr/>
        </p:nvSpPr>
        <p:spPr>
          <a:xfrm>
            <a:off x="7023100" y="2819400"/>
            <a:ext cx="406400" cy="4064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2" name="Picture 31">
            <a:extLst>
              <a:ext uri="{FF2B5EF4-FFF2-40B4-BE49-F238E27FC236}">
                <a16:creationId xmlns:a16="http://schemas.microsoft.com/office/drawing/2014/main" id="{40D2B6E7-B124-42FE-80A0-8C4BADDB2EE0}"/>
              </a:ext>
            </a:extLst>
          </p:cNvPr>
          <p:cNvPicPr>
            <a:picLocks noChangeAspect="1"/>
          </p:cNvPicPr>
          <p:nvPr/>
        </p:nvPicPr>
        <p:blipFill>
          <a:blip r:embed="rId5"/>
          <a:stretch>
            <a:fillRect/>
          </a:stretch>
        </p:blipFill>
        <p:spPr>
          <a:xfrm>
            <a:off x="7104380" y="2909529"/>
            <a:ext cx="243840" cy="226142"/>
          </a:xfrm>
          <a:prstGeom prst="rect">
            <a:avLst/>
          </a:prstGeom>
        </p:spPr>
      </p:pic>
      <p:sp>
        <p:nvSpPr>
          <p:cNvPr id="33" name="Rectangle: Rounded Corners 32">
            <a:extLst>
              <a:ext uri="{FF2B5EF4-FFF2-40B4-BE49-F238E27FC236}">
                <a16:creationId xmlns:a16="http://schemas.microsoft.com/office/drawing/2014/main" id="{B6BF4B2D-952F-F982-F163-7E9C3D215210}"/>
              </a:ext>
            </a:extLst>
          </p:cNvPr>
          <p:cNvSpPr/>
          <p:nvPr/>
        </p:nvSpPr>
        <p:spPr>
          <a:xfrm>
            <a:off x="7302500" y="2819400"/>
            <a:ext cx="406400" cy="4064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5" name="Picture 34">
            <a:extLst>
              <a:ext uri="{FF2B5EF4-FFF2-40B4-BE49-F238E27FC236}">
                <a16:creationId xmlns:a16="http://schemas.microsoft.com/office/drawing/2014/main" id="{83F3C9F5-F390-1CDC-6BE2-4D4A47236924}"/>
              </a:ext>
            </a:extLst>
          </p:cNvPr>
          <p:cNvPicPr>
            <a:picLocks noChangeAspect="1"/>
          </p:cNvPicPr>
          <p:nvPr/>
        </p:nvPicPr>
        <p:blipFill>
          <a:blip r:embed="rId5"/>
          <a:stretch>
            <a:fillRect/>
          </a:stretch>
        </p:blipFill>
        <p:spPr>
          <a:xfrm>
            <a:off x="7383780" y="2909529"/>
            <a:ext cx="243840" cy="226142"/>
          </a:xfrm>
          <a:prstGeom prst="rect">
            <a:avLst/>
          </a:prstGeom>
        </p:spPr>
      </p:pic>
      <p:sp>
        <p:nvSpPr>
          <p:cNvPr id="36" name="Rectangle: Rounded Corners 35">
            <a:extLst>
              <a:ext uri="{FF2B5EF4-FFF2-40B4-BE49-F238E27FC236}">
                <a16:creationId xmlns:a16="http://schemas.microsoft.com/office/drawing/2014/main" id="{1F6AC279-BED9-A0F4-6AE7-3E63A9439317}"/>
              </a:ext>
            </a:extLst>
          </p:cNvPr>
          <p:cNvSpPr/>
          <p:nvPr/>
        </p:nvSpPr>
        <p:spPr>
          <a:xfrm>
            <a:off x="6489700" y="3302000"/>
            <a:ext cx="1473200" cy="2540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950">
                <a:solidFill>
                  <a:srgbClr val="274E13"/>
                </a:solidFill>
                <a:latin typeface="Montserrat SemiBold" panose="00000700000000000000" pitchFamily="2" charset="0"/>
              </a:rPr>
              <a:t>= MORE ENTRIES</a:t>
            </a:r>
          </a:p>
        </p:txBody>
      </p:sp>
      <p:sp>
        <p:nvSpPr>
          <p:cNvPr id="37" name="TextBox 36">
            <a:extLst>
              <a:ext uri="{FF2B5EF4-FFF2-40B4-BE49-F238E27FC236}">
                <a16:creationId xmlns:a16="http://schemas.microsoft.com/office/drawing/2014/main" id="{51251021-D8C8-B136-70CA-C6956C2D4302}"/>
              </a:ext>
            </a:extLst>
          </p:cNvPr>
          <p:cNvSpPr txBox="1"/>
          <p:nvPr/>
        </p:nvSpPr>
        <p:spPr>
          <a:xfrm>
            <a:off x="6388100" y="3632199"/>
            <a:ext cx="1676400" cy="736600"/>
          </a:xfrm>
          <a:prstGeom prst="rect">
            <a:avLst/>
          </a:prstGeom>
          <a:noFill/>
        </p:spPr>
        <p:txBody>
          <a:bodyPr vert="horz" wrap="square" lIns="0" tIns="0" rIns="0" bIns="0" rtlCol="0" anchor="t">
            <a:noAutofit/>
          </a:bodyPr>
          <a:lstStyle/>
          <a:p>
            <a:pPr algn="ctr"/>
            <a:r>
              <a:rPr lang="en-US" sz="850">
                <a:solidFill>
                  <a:srgbClr val="274E13"/>
                </a:solidFill>
                <a:latin typeface="Montserrat" panose="00000500000000000000" pitchFamily="2" charset="0"/>
              </a:rPr>
              <a:t>Buy SAJI every week to collect more Mata and gain more chances to win.</a:t>
            </a:r>
            <a:endParaRPr lang="en-MY" sz="850">
              <a:solidFill>
                <a:srgbClr val="274E13"/>
              </a:solidFill>
              <a:latin typeface="Montserrat" panose="00000500000000000000"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p76"/>
          <p:cNvSpPr/>
          <p:nvPr/>
        </p:nvSpPr>
        <p:spPr>
          <a:xfrm>
            <a:off x="620200" y="1447425"/>
            <a:ext cx="2756400" cy="3308700"/>
          </a:xfrm>
          <a:prstGeom prst="roundRect">
            <a:avLst>
              <a:gd name="adj" fmla="val 16667"/>
            </a:avLst>
          </a:prstGeom>
          <a:noFill/>
          <a:ln w="7425" cap="flat" cmpd="sng">
            <a:solidFill>
              <a:srgbClr val="FFFFFF"/>
            </a:solidFill>
            <a:prstDash val="solid"/>
            <a:round/>
            <a:headEnd type="none" w="sm" len="sm"/>
            <a:tailEnd type="none" w="sm" len="sm"/>
          </a:ln>
        </p:spPr>
        <p:txBody>
          <a:bodyPr spcFirstLastPara="1" wrap="square" lIns="71350" tIns="71350" rIns="71350" bIns="71350" anchor="ctr" anchorCtr="0">
            <a:noAutofit/>
          </a:bodyPr>
          <a:lstStyle/>
          <a:p>
            <a:pPr marL="0" lvl="0" indent="0" algn="ctr" rtl="0">
              <a:spcBef>
                <a:spcPts val="0"/>
              </a:spcBef>
              <a:spcAft>
                <a:spcPts val="0"/>
              </a:spcAft>
              <a:buNone/>
            </a:pPr>
            <a:endParaRPr sz="1093"/>
          </a:p>
        </p:txBody>
      </p:sp>
      <p:sp>
        <p:nvSpPr>
          <p:cNvPr id="728" name="Google Shape;728;p76"/>
          <p:cNvSpPr txBox="1"/>
          <p:nvPr/>
        </p:nvSpPr>
        <p:spPr>
          <a:xfrm>
            <a:off x="806593" y="1676066"/>
            <a:ext cx="2383500" cy="384300"/>
          </a:xfrm>
          <a:prstGeom prst="rect">
            <a:avLst/>
          </a:prstGeom>
          <a:noFill/>
          <a:ln>
            <a:noFill/>
          </a:ln>
        </p:spPr>
        <p:txBody>
          <a:bodyPr spcFirstLastPara="1" wrap="square" lIns="71350" tIns="71350" rIns="71350" bIns="71350" anchor="t" anchorCtr="0">
            <a:spAutoFit/>
          </a:bodyPr>
          <a:lstStyle/>
          <a:p>
            <a:pPr marL="0" lvl="0" indent="0" algn="ctr" rtl="0">
              <a:spcBef>
                <a:spcPts val="0"/>
              </a:spcBef>
              <a:spcAft>
                <a:spcPts val="0"/>
              </a:spcAft>
              <a:buNone/>
            </a:pPr>
            <a:r>
              <a:rPr lang="en-MY" sz="1561" b="1">
                <a:solidFill>
                  <a:srgbClr val="274E13"/>
                </a:solidFill>
                <a:latin typeface="Helvetica Neue"/>
                <a:ea typeface="Helvetica Neue"/>
                <a:cs typeface="Helvetica Neue"/>
                <a:sym typeface="Helvetica Neue"/>
              </a:rPr>
              <a:t>The one rule</a:t>
            </a:r>
            <a:endParaRPr sz="1561" b="1">
              <a:solidFill>
                <a:srgbClr val="274E13"/>
              </a:solidFill>
              <a:latin typeface="Helvetica Neue"/>
              <a:ea typeface="Helvetica Neue"/>
              <a:cs typeface="Helvetica Neue"/>
              <a:sym typeface="Helvetica Neue"/>
            </a:endParaRPr>
          </a:p>
        </p:txBody>
      </p:sp>
      <p:sp>
        <p:nvSpPr>
          <p:cNvPr id="731" name="Google Shape;731;p76"/>
          <p:cNvSpPr txBox="1"/>
          <p:nvPr/>
        </p:nvSpPr>
        <p:spPr>
          <a:xfrm>
            <a:off x="3720398" y="1447800"/>
            <a:ext cx="5566200" cy="25080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SzPts val="754"/>
              <a:buNone/>
            </a:pPr>
            <a:r>
              <a:rPr lang="en-US" sz="1645" b="1">
                <a:solidFill>
                  <a:srgbClr val="006838"/>
                </a:solidFill>
                <a:latin typeface="Helvetica Neue"/>
                <a:ea typeface="Helvetica Neue"/>
                <a:cs typeface="Helvetica Neue"/>
                <a:sym typeface="Helvetica Neue"/>
              </a:rPr>
              <a:t>Four ways to earn Mata.</a:t>
            </a:r>
            <a:endParaRPr sz="1645" b="1">
              <a:solidFill>
                <a:srgbClr val="006838"/>
              </a:solidFill>
              <a:latin typeface="Helvetica Neue"/>
              <a:ea typeface="Helvetica Neue"/>
              <a:cs typeface="Helvetica Neue"/>
              <a:sym typeface="Helvetica Neue"/>
            </a:endParaRPr>
          </a:p>
        </p:txBody>
      </p:sp>
      <p:sp>
        <p:nvSpPr>
          <p:cNvPr id="733" name="Google Shape;733;p76"/>
          <p:cNvSpPr/>
          <p:nvPr/>
        </p:nvSpPr>
        <p:spPr>
          <a:xfrm>
            <a:off x="3720402" y="1879600"/>
            <a:ext cx="1117500" cy="1498600"/>
          </a:xfrm>
          <a:prstGeom prst="roundRect">
            <a:avLst>
              <a:gd name="adj" fmla="val 16667"/>
            </a:avLst>
          </a:prstGeom>
          <a:solidFill>
            <a:srgbClr val="006838"/>
          </a:solidFill>
          <a:ln w="24375" cap="flat" cmpd="sng">
            <a:solidFill>
              <a:srgbClr val="FFFFFF"/>
            </a:solidFill>
            <a:prstDash val="solid"/>
            <a:round/>
            <a:headEnd type="none" w="sm" len="sm"/>
            <a:tailEnd type="none" w="sm" len="sm"/>
          </a:ln>
        </p:spPr>
        <p:txBody>
          <a:bodyPr spcFirstLastPara="1" wrap="square" lIns="58500" tIns="58500" rIns="58500" bIns="58500" anchor="ctr" anchorCtr="0">
            <a:noAutofit/>
          </a:bodyPr>
          <a:lstStyle/>
          <a:p>
            <a:pPr marL="0" lvl="0" indent="0" algn="ctr" rtl="0">
              <a:spcBef>
                <a:spcPts val="0"/>
              </a:spcBef>
              <a:spcAft>
                <a:spcPts val="0"/>
              </a:spcAft>
              <a:buNone/>
            </a:pPr>
            <a:endParaRPr sz="896"/>
          </a:p>
        </p:txBody>
      </p:sp>
      <p:sp>
        <p:nvSpPr>
          <p:cNvPr id="734" name="Google Shape;734;p76"/>
          <p:cNvSpPr txBox="1"/>
          <p:nvPr/>
        </p:nvSpPr>
        <p:spPr>
          <a:xfrm>
            <a:off x="3745802" y="2717800"/>
            <a:ext cx="1066700" cy="411941"/>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MY" sz="830" b="1">
                <a:solidFill>
                  <a:srgbClr val="FFFFFF"/>
                </a:solidFill>
                <a:latin typeface="Helvetica Neue"/>
                <a:ea typeface="Helvetica Neue"/>
                <a:cs typeface="Helvetica Neue"/>
                <a:sym typeface="Helvetica Neue"/>
              </a:rPr>
              <a:t>SAJI</a:t>
            </a:r>
          </a:p>
          <a:p>
            <a:pPr marL="0" lvl="0" indent="0" algn="ctr" rtl="0">
              <a:lnSpc>
                <a:spcPct val="115000"/>
              </a:lnSpc>
              <a:spcBef>
                <a:spcPts val="0"/>
              </a:spcBef>
              <a:spcAft>
                <a:spcPts val="0"/>
              </a:spcAft>
              <a:buNone/>
            </a:pPr>
            <a:r>
              <a:rPr lang="en-MY" sz="830" b="1">
                <a:solidFill>
                  <a:srgbClr val="FFFFFF"/>
                </a:solidFill>
                <a:latin typeface="Helvetica Neue"/>
                <a:ea typeface="Helvetica Neue"/>
                <a:cs typeface="Helvetica Neue"/>
                <a:sym typeface="Helvetica Neue"/>
              </a:rPr>
              <a:t>Receipt</a:t>
            </a:r>
            <a:endParaRPr sz="830" b="1">
              <a:solidFill>
                <a:srgbClr val="FFFFFF"/>
              </a:solidFill>
              <a:latin typeface="Helvetica Neue"/>
              <a:ea typeface="Helvetica Neue"/>
              <a:cs typeface="Helvetica Neue"/>
              <a:sym typeface="Helvetica Neue"/>
            </a:endParaRPr>
          </a:p>
        </p:txBody>
      </p:sp>
      <p:pic>
        <p:nvPicPr>
          <p:cNvPr id="735" name="Google Shape;735;p76"/>
          <p:cNvPicPr preferRelativeResize="0"/>
          <p:nvPr/>
        </p:nvPicPr>
        <p:blipFill>
          <a:blip r:embed="rId3">
            <a:alphaModFix/>
          </a:blip>
          <a:stretch>
            <a:fillRect/>
          </a:stretch>
        </p:blipFill>
        <p:spPr>
          <a:xfrm>
            <a:off x="3927129" y="2010290"/>
            <a:ext cx="704119" cy="653021"/>
          </a:xfrm>
          <a:prstGeom prst="rect">
            <a:avLst/>
          </a:prstGeom>
          <a:noFill/>
          <a:ln>
            <a:noFill/>
          </a:ln>
        </p:spPr>
      </p:pic>
      <p:sp>
        <p:nvSpPr>
          <p:cNvPr id="736" name="Google Shape;736;p76"/>
          <p:cNvSpPr/>
          <p:nvPr/>
        </p:nvSpPr>
        <p:spPr>
          <a:xfrm>
            <a:off x="5099413" y="1879600"/>
            <a:ext cx="1024800" cy="1498600"/>
          </a:xfrm>
          <a:prstGeom prst="roundRect">
            <a:avLst>
              <a:gd name="adj" fmla="val 16667"/>
            </a:avLst>
          </a:prstGeom>
          <a:solidFill>
            <a:srgbClr val="006838"/>
          </a:solidFill>
          <a:ln w="11200" cap="flat" cmpd="sng">
            <a:solidFill>
              <a:srgbClr val="FFFFFF"/>
            </a:solidFill>
            <a:prstDash val="solid"/>
            <a:round/>
            <a:headEnd type="none" w="sm" len="sm"/>
            <a:tailEnd type="none" w="sm" len="sm"/>
          </a:ln>
        </p:spPr>
        <p:txBody>
          <a:bodyPr spcFirstLastPara="1" wrap="square" lIns="53650" tIns="53650" rIns="53650" bIns="53650" anchor="ctr" anchorCtr="0">
            <a:noAutofit/>
          </a:bodyPr>
          <a:lstStyle/>
          <a:p>
            <a:pPr marL="0" lvl="0" indent="0" algn="ctr" rtl="0">
              <a:spcBef>
                <a:spcPts val="0"/>
              </a:spcBef>
              <a:spcAft>
                <a:spcPts val="0"/>
              </a:spcAft>
              <a:buNone/>
            </a:pPr>
            <a:endParaRPr sz="822"/>
          </a:p>
        </p:txBody>
      </p:sp>
      <p:sp>
        <p:nvSpPr>
          <p:cNvPr id="737" name="Google Shape;737;p76"/>
          <p:cNvSpPr txBox="1"/>
          <p:nvPr/>
        </p:nvSpPr>
        <p:spPr>
          <a:xfrm>
            <a:off x="5124813" y="2717800"/>
            <a:ext cx="974000" cy="363802"/>
          </a:xfrm>
          <a:prstGeom prst="rect">
            <a:avLst/>
          </a:prstGeom>
          <a:noFill/>
          <a:ln>
            <a:noFill/>
          </a:ln>
        </p:spPr>
        <p:txBody>
          <a:bodyPr spcFirstLastPara="1" wrap="square" lIns="53650" tIns="53650" rIns="53650" bIns="53650" anchor="t" anchorCtr="0">
            <a:spAutoFit/>
          </a:bodyPr>
          <a:lstStyle/>
          <a:p>
            <a:pPr marL="0" lvl="0" indent="0" algn="ctr" rtl="0">
              <a:lnSpc>
                <a:spcPct val="100000"/>
              </a:lnSpc>
              <a:spcBef>
                <a:spcPts val="0"/>
              </a:spcBef>
              <a:spcAft>
                <a:spcPts val="0"/>
              </a:spcAft>
              <a:buNone/>
            </a:pPr>
            <a:r>
              <a:rPr lang="en-MY" sz="830" b="1">
                <a:solidFill>
                  <a:srgbClr val="FFFFFF"/>
                </a:solidFill>
                <a:latin typeface="Helvetica Neue"/>
                <a:ea typeface="Helvetica Neue"/>
                <a:cs typeface="Helvetica Neue"/>
                <a:sym typeface="Helvetica Neue"/>
              </a:rPr>
              <a:t>Product of</a:t>
            </a:r>
          </a:p>
          <a:p>
            <a:pPr marL="0" lvl="0" indent="0" algn="ctr" rtl="0">
              <a:lnSpc>
                <a:spcPct val="100000"/>
              </a:lnSpc>
              <a:spcBef>
                <a:spcPts val="0"/>
              </a:spcBef>
              <a:spcAft>
                <a:spcPts val="0"/>
              </a:spcAft>
              <a:buNone/>
            </a:pPr>
            <a:r>
              <a:rPr lang="en-MY" sz="830" b="1">
                <a:solidFill>
                  <a:srgbClr val="FFFFFF"/>
                </a:solidFill>
                <a:latin typeface="Helvetica Neue"/>
                <a:ea typeface="Helvetica Neue"/>
                <a:cs typeface="Helvetica Neue"/>
                <a:sym typeface="Helvetica Neue"/>
              </a:rPr>
              <a:t>the Week</a:t>
            </a:r>
            <a:endParaRPr sz="830" b="1">
              <a:solidFill>
                <a:srgbClr val="FFFFFF"/>
              </a:solidFill>
              <a:latin typeface="Helvetica Neue"/>
              <a:ea typeface="Helvetica Neue"/>
              <a:cs typeface="Helvetica Neue"/>
              <a:sym typeface="Helvetica Neue"/>
            </a:endParaRPr>
          </a:p>
        </p:txBody>
      </p:sp>
      <p:pic>
        <p:nvPicPr>
          <p:cNvPr id="738" name="Google Shape;738;p76"/>
          <p:cNvPicPr preferRelativeResize="0"/>
          <p:nvPr/>
        </p:nvPicPr>
        <p:blipFill>
          <a:blip r:embed="rId4">
            <a:alphaModFix/>
          </a:blip>
          <a:stretch>
            <a:fillRect/>
          </a:stretch>
        </p:blipFill>
        <p:spPr>
          <a:xfrm>
            <a:off x="5507344" y="2006187"/>
            <a:ext cx="208958" cy="661225"/>
          </a:xfrm>
          <a:prstGeom prst="rect">
            <a:avLst/>
          </a:prstGeom>
          <a:noFill/>
          <a:ln>
            <a:noFill/>
          </a:ln>
        </p:spPr>
      </p:pic>
      <p:sp>
        <p:nvSpPr>
          <p:cNvPr id="739" name="Google Shape;739;p76"/>
          <p:cNvSpPr/>
          <p:nvPr/>
        </p:nvSpPr>
        <p:spPr>
          <a:xfrm>
            <a:off x="6353243" y="1879600"/>
            <a:ext cx="1024800" cy="1498600"/>
          </a:xfrm>
          <a:prstGeom prst="roundRect">
            <a:avLst>
              <a:gd name="adj" fmla="val 16667"/>
            </a:avLst>
          </a:prstGeom>
          <a:solidFill>
            <a:srgbClr val="006838"/>
          </a:solidFill>
          <a:ln w="11200" cap="flat" cmpd="sng">
            <a:solidFill>
              <a:srgbClr val="FFFFFF"/>
            </a:solidFill>
            <a:prstDash val="solid"/>
            <a:round/>
            <a:headEnd type="none" w="sm" len="sm"/>
            <a:tailEnd type="none" w="sm" len="sm"/>
          </a:ln>
        </p:spPr>
        <p:txBody>
          <a:bodyPr spcFirstLastPara="1" wrap="square" lIns="53650" tIns="53650" rIns="53650" bIns="53650" anchor="ctr" anchorCtr="0">
            <a:noAutofit/>
          </a:bodyPr>
          <a:lstStyle/>
          <a:p>
            <a:pPr marL="0" lvl="0" indent="0" algn="ctr" rtl="0">
              <a:spcBef>
                <a:spcPts val="0"/>
              </a:spcBef>
              <a:spcAft>
                <a:spcPts val="0"/>
              </a:spcAft>
              <a:buNone/>
            </a:pPr>
            <a:endParaRPr sz="822"/>
          </a:p>
        </p:txBody>
      </p:sp>
      <p:sp>
        <p:nvSpPr>
          <p:cNvPr id="740" name="Google Shape;740;p76"/>
          <p:cNvSpPr txBox="1"/>
          <p:nvPr/>
        </p:nvSpPr>
        <p:spPr>
          <a:xfrm>
            <a:off x="6378643" y="2717800"/>
            <a:ext cx="974000" cy="363802"/>
          </a:xfrm>
          <a:prstGeom prst="rect">
            <a:avLst/>
          </a:prstGeom>
          <a:noFill/>
          <a:ln>
            <a:noFill/>
          </a:ln>
        </p:spPr>
        <p:txBody>
          <a:bodyPr spcFirstLastPara="1" wrap="square" lIns="53650" tIns="53650" rIns="53650" bIns="53650" anchor="t" anchorCtr="0">
            <a:spAutoFit/>
          </a:bodyPr>
          <a:lstStyle/>
          <a:p>
            <a:pPr marL="0" lvl="0" indent="0" algn="ctr" rtl="0">
              <a:lnSpc>
                <a:spcPct val="100000"/>
              </a:lnSpc>
              <a:spcBef>
                <a:spcPts val="0"/>
              </a:spcBef>
              <a:spcAft>
                <a:spcPts val="0"/>
              </a:spcAft>
              <a:buNone/>
            </a:pPr>
            <a:r>
              <a:rPr lang="en-MY" sz="830" b="1">
                <a:solidFill>
                  <a:srgbClr val="FFFFFF"/>
                </a:solidFill>
                <a:latin typeface="Helvetica Neue"/>
                <a:ea typeface="Helvetica Neue"/>
                <a:cs typeface="Helvetica Neue"/>
                <a:sym typeface="Helvetica Neue"/>
              </a:rPr>
              <a:t>Bonus</a:t>
            </a:r>
          </a:p>
          <a:p>
            <a:pPr marL="0" lvl="0" indent="0" algn="ctr" rtl="0">
              <a:lnSpc>
                <a:spcPct val="100000"/>
              </a:lnSpc>
              <a:spcBef>
                <a:spcPts val="0"/>
              </a:spcBef>
              <a:spcAft>
                <a:spcPts val="0"/>
              </a:spcAft>
              <a:buNone/>
            </a:pPr>
            <a:r>
              <a:rPr lang="en-MY" sz="830" b="1">
                <a:solidFill>
                  <a:srgbClr val="FFFFFF"/>
                </a:solidFill>
                <a:latin typeface="Helvetica Neue"/>
                <a:ea typeface="Helvetica Neue"/>
                <a:cs typeface="Helvetica Neue"/>
                <a:sym typeface="Helvetica Neue"/>
              </a:rPr>
              <a:t>QR Code</a:t>
            </a:r>
            <a:endParaRPr sz="830" b="1">
              <a:solidFill>
                <a:srgbClr val="FFFFFF"/>
              </a:solidFill>
              <a:latin typeface="Helvetica Neue"/>
              <a:ea typeface="Helvetica Neue"/>
              <a:cs typeface="Helvetica Neue"/>
              <a:sym typeface="Helvetica Neue"/>
            </a:endParaRPr>
          </a:p>
        </p:txBody>
      </p:sp>
      <p:pic>
        <p:nvPicPr>
          <p:cNvPr id="741" name="Google Shape;741;p76"/>
          <p:cNvPicPr preferRelativeResize="0"/>
          <p:nvPr/>
        </p:nvPicPr>
        <p:blipFill>
          <a:blip r:embed="rId5">
            <a:alphaModFix/>
          </a:blip>
          <a:stretch>
            <a:fillRect/>
          </a:stretch>
        </p:blipFill>
        <p:spPr>
          <a:xfrm>
            <a:off x="6503712" y="2061740"/>
            <a:ext cx="723869" cy="550119"/>
          </a:xfrm>
          <a:prstGeom prst="rect">
            <a:avLst/>
          </a:prstGeom>
          <a:noFill/>
          <a:ln>
            <a:noFill/>
          </a:ln>
        </p:spPr>
      </p:pic>
      <p:sp>
        <p:nvSpPr>
          <p:cNvPr id="742" name="Google Shape;742;p76"/>
          <p:cNvSpPr/>
          <p:nvPr/>
        </p:nvSpPr>
        <p:spPr>
          <a:xfrm>
            <a:off x="7607073" y="1879600"/>
            <a:ext cx="1024800" cy="1498600"/>
          </a:xfrm>
          <a:prstGeom prst="roundRect">
            <a:avLst>
              <a:gd name="adj" fmla="val 16667"/>
            </a:avLst>
          </a:prstGeom>
          <a:solidFill>
            <a:srgbClr val="006838"/>
          </a:solidFill>
          <a:ln w="11200" cap="flat" cmpd="sng">
            <a:solidFill>
              <a:srgbClr val="FFFFFF"/>
            </a:solidFill>
            <a:prstDash val="solid"/>
            <a:round/>
            <a:headEnd type="none" w="sm" len="sm"/>
            <a:tailEnd type="none" w="sm" len="sm"/>
          </a:ln>
        </p:spPr>
        <p:txBody>
          <a:bodyPr spcFirstLastPara="1" wrap="square" lIns="53650" tIns="53650" rIns="53650" bIns="53650" anchor="ctr" anchorCtr="0">
            <a:noAutofit/>
          </a:bodyPr>
          <a:lstStyle/>
          <a:p>
            <a:pPr marL="0" lvl="0" indent="0" algn="ctr" rtl="0">
              <a:spcBef>
                <a:spcPts val="0"/>
              </a:spcBef>
              <a:spcAft>
                <a:spcPts val="0"/>
              </a:spcAft>
              <a:buNone/>
            </a:pPr>
            <a:endParaRPr sz="822"/>
          </a:p>
        </p:txBody>
      </p:sp>
      <p:sp>
        <p:nvSpPr>
          <p:cNvPr id="743" name="Google Shape;743;p76"/>
          <p:cNvSpPr txBox="1"/>
          <p:nvPr/>
        </p:nvSpPr>
        <p:spPr>
          <a:xfrm>
            <a:off x="7632473" y="2717800"/>
            <a:ext cx="974000" cy="363802"/>
          </a:xfrm>
          <a:prstGeom prst="rect">
            <a:avLst/>
          </a:prstGeom>
          <a:noFill/>
          <a:ln>
            <a:noFill/>
          </a:ln>
        </p:spPr>
        <p:txBody>
          <a:bodyPr spcFirstLastPara="1" wrap="square" lIns="53650" tIns="53650" rIns="53650" bIns="53650" anchor="t" anchorCtr="0">
            <a:spAutoFit/>
          </a:bodyPr>
          <a:lstStyle/>
          <a:p>
            <a:pPr marL="0" lvl="0" indent="0" algn="ctr" rtl="0">
              <a:lnSpc>
                <a:spcPct val="100000"/>
              </a:lnSpc>
              <a:spcBef>
                <a:spcPts val="0"/>
              </a:spcBef>
              <a:spcAft>
                <a:spcPts val="0"/>
              </a:spcAft>
              <a:buNone/>
            </a:pPr>
            <a:r>
              <a:rPr lang="en-US" sz="830" b="1">
                <a:solidFill>
                  <a:srgbClr val="FFFFFF"/>
                </a:solidFill>
                <a:latin typeface="Helvetica Neue"/>
                <a:ea typeface="Helvetica Neue"/>
                <a:cs typeface="Helvetica Neue"/>
                <a:sym typeface="Helvetica Neue"/>
              </a:rPr>
              <a:t>Buy Each Week</a:t>
            </a:r>
          </a:p>
          <a:p>
            <a:pPr marL="0" lvl="0" indent="0" algn="ctr" rtl="0">
              <a:lnSpc>
                <a:spcPct val="100000"/>
              </a:lnSpc>
              <a:spcBef>
                <a:spcPts val="0"/>
              </a:spcBef>
              <a:spcAft>
                <a:spcPts val="0"/>
              </a:spcAft>
              <a:buNone/>
            </a:pPr>
            <a:r>
              <a:rPr lang="en-US" sz="830" b="1">
                <a:solidFill>
                  <a:srgbClr val="FFFFFF"/>
                </a:solidFill>
                <a:latin typeface="Helvetica Neue"/>
                <a:ea typeface="Helvetica Neue"/>
                <a:cs typeface="Helvetica Neue"/>
                <a:sym typeface="Helvetica Neue"/>
              </a:rPr>
              <a:t>or Refer a Friend</a:t>
            </a:r>
            <a:endParaRPr sz="830" b="1">
              <a:solidFill>
                <a:srgbClr val="FFFFFF"/>
              </a:solidFill>
              <a:latin typeface="Helvetica Neue"/>
              <a:ea typeface="Helvetica Neue"/>
              <a:cs typeface="Helvetica Neue"/>
              <a:sym typeface="Helvetica Neue"/>
            </a:endParaRPr>
          </a:p>
        </p:txBody>
      </p:sp>
      <p:pic>
        <p:nvPicPr>
          <p:cNvPr id="744" name="Google Shape;744;p76"/>
          <p:cNvPicPr preferRelativeResize="0"/>
          <p:nvPr/>
        </p:nvPicPr>
        <p:blipFill>
          <a:blip r:embed="rId6">
            <a:alphaModFix/>
          </a:blip>
          <a:stretch>
            <a:fillRect/>
          </a:stretch>
        </p:blipFill>
        <p:spPr>
          <a:xfrm>
            <a:off x="7842827" y="2061740"/>
            <a:ext cx="553316" cy="550120"/>
          </a:xfrm>
          <a:prstGeom prst="rect">
            <a:avLst/>
          </a:prstGeom>
          <a:noFill/>
          <a:ln>
            <a:noFill/>
          </a:ln>
        </p:spPr>
      </p:pic>
      <p:sp>
        <p:nvSpPr>
          <p:cNvPr id="745" name="Google Shape;745;p76"/>
          <p:cNvSpPr txBox="1"/>
          <p:nvPr/>
        </p:nvSpPr>
        <p:spPr>
          <a:xfrm>
            <a:off x="3745802" y="3098800"/>
            <a:ext cx="1066700" cy="277417"/>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 sz="900" b="1">
                <a:solidFill>
                  <a:srgbClr val="F5EC2E"/>
                </a:solidFill>
                <a:latin typeface="Helvetica Neue"/>
                <a:ea typeface="Helvetica Neue"/>
                <a:cs typeface="Helvetica Neue"/>
                <a:sym typeface="Helvetica Neue"/>
              </a:rPr>
              <a:t>RM1 = 1 </a:t>
            </a:r>
            <a:r>
              <a:rPr lang="en" sz="900" b="1" i="1">
                <a:solidFill>
                  <a:srgbClr val="F5EC2E"/>
                </a:solidFill>
                <a:latin typeface="Helvetica Neue"/>
                <a:ea typeface="Helvetica Neue"/>
                <a:cs typeface="Helvetica Neue"/>
                <a:sym typeface="Helvetica Neue"/>
              </a:rPr>
              <a:t>Mata</a:t>
            </a:r>
            <a:endParaRPr sz="900" b="1" i="1">
              <a:solidFill>
                <a:srgbClr val="F5EC2E"/>
              </a:solidFill>
              <a:latin typeface="Helvetica Neue"/>
              <a:ea typeface="Helvetica Neue"/>
              <a:cs typeface="Helvetica Neue"/>
              <a:sym typeface="Helvetica Neue"/>
            </a:endParaRPr>
          </a:p>
        </p:txBody>
      </p:sp>
      <p:sp>
        <p:nvSpPr>
          <p:cNvPr id="746" name="Google Shape;746;p76"/>
          <p:cNvSpPr txBox="1"/>
          <p:nvPr/>
        </p:nvSpPr>
        <p:spPr>
          <a:xfrm>
            <a:off x="5124813" y="3098800"/>
            <a:ext cx="974000" cy="277417"/>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 sz="900" b="1">
                <a:solidFill>
                  <a:srgbClr val="F5EC2E"/>
                </a:solidFill>
                <a:latin typeface="Helvetica Neue"/>
                <a:ea typeface="Helvetica Neue"/>
                <a:cs typeface="Helvetica Neue"/>
                <a:sym typeface="Helvetica Neue"/>
              </a:rPr>
              <a:t>2x or 3x </a:t>
            </a:r>
            <a:r>
              <a:rPr lang="en" sz="900" b="1" i="1">
                <a:solidFill>
                  <a:srgbClr val="F5EC2E"/>
                </a:solidFill>
                <a:latin typeface="Helvetica Neue"/>
                <a:ea typeface="Helvetica Neue"/>
                <a:cs typeface="Helvetica Neue"/>
                <a:sym typeface="Helvetica Neue"/>
              </a:rPr>
              <a:t>Mata</a:t>
            </a:r>
            <a:endParaRPr sz="900" b="1" i="1">
              <a:solidFill>
                <a:srgbClr val="F5EC2E"/>
              </a:solidFill>
              <a:latin typeface="Helvetica Neue"/>
              <a:ea typeface="Helvetica Neue"/>
              <a:cs typeface="Helvetica Neue"/>
              <a:sym typeface="Helvetica Neue"/>
            </a:endParaRPr>
          </a:p>
        </p:txBody>
      </p:sp>
      <p:sp>
        <p:nvSpPr>
          <p:cNvPr id="747" name="Google Shape;747;p76"/>
          <p:cNvSpPr txBox="1"/>
          <p:nvPr/>
        </p:nvSpPr>
        <p:spPr>
          <a:xfrm>
            <a:off x="6378643" y="3098800"/>
            <a:ext cx="974000" cy="277417"/>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 sz="900" b="1">
                <a:solidFill>
                  <a:srgbClr val="F5EC2E"/>
                </a:solidFill>
                <a:latin typeface="Helvetica Neue"/>
                <a:ea typeface="Helvetica Neue"/>
                <a:cs typeface="Helvetica Neue"/>
                <a:sym typeface="Helvetica Neue"/>
              </a:rPr>
              <a:t>25 to 50 </a:t>
            </a:r>
            <a:r>
              <a:rPr lang="en" sz="900" b="1" i="1">
                <a:solidFill>
                  <a:srgbClr val="F5EC2E"/>
                </a:solidFill>
                <a:latin typeface="Helvetica Neue"/>
                <a:ea typeface="Helvetica Neue"/>
                <a:cs typeface="Helvetica Neue"/>
                <a:sym typeface="Helvetica Neue"/>
              </a:rPr>
              <a:t>Mata</a:t>
            </a:r>
            <a:endParaRPr sz="900" b="1" i="1">
              <a:solidFill>
                <a:srgbClr val="F5EC2E"/>
              </a:solidFill>
              <a:latin typeface="Helvetica Neue"/>
              <a:ea typeface="Helvetica Neue"/>
              <a:cs typeface="Helvetica Neue"/>
              <a:sym typeface="Helvetica Neue"/>
            </a:endParaRPr>
          </a:p>
        </p:txBody>
      </p:sp>
      <p:sp>
        <p:nvSpPr>
          <p:cNvPr id="748" name="Google Shape;748;p76"/>
          <p:cNvSpPr txBox="1"/>
          <p:nvPr/>
        </p:nvSpPr>
        <p:spPr>
          <a:xfrm>
            <a:off x="7632473" y="3098800"/>
            <a:ext cx="974000" cy="277417"/>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 sz="900" b="1">
                <a:solidFill>
                  <a:srgbClr val="F5EC2E"/>
                </a:solidFill>
                <a:latin typeface="Helvetica Neue"/>
                <a:ea typeface="Helvetica Neue"/>
                <a:cs typeface="Helvetica Neue"/>
                <a:sym typeface="Helvetica Neue"/>
              </a:rPr>
              <a:t>25 </a:t>
            </a:r>
            <a:r>
              <a:rPr lang="en" sz="900" b="1" i="1">
                <a:solidFill>
                  <a:srgbClr val="F5EC2E"/>
                </a:solidFill>
                <a:latin typeface="Helvetica Neue"/>
                <a:ea typeface="Helvetica Neue"/>
                <a:cs typeface="Helvetica Neue"/>
                <a:sym typeface="Helvetica Neue"/>
              </a:rPr>
              <a:t>Mata</a:t>
            </a:r>
            <a:endParaRPr sz="900" b="1" i="1">
              <a:solidFill>
                <a:srgbClr val="F5EC2E"/>
              </a:solidFill>
              <a:latin typeface="Helvetica Neue"/>
              <a:ea typeface="Helvetica Neue"/>
              <a:cs typeface="Helvetica Neue"/>
              <a:sym typeface="Helvetica Neue"/>
            </a:endParaRPr>
          </a:p>
        </p:txBody>
      </p:sp>
      <p:sp>
        <p:nvSpPr>
          <p:cNvPr id="749" name="Google Shape;749;p76"/>
          <p:cNvSpPr/>
          <p:nvPr/>
        </p:nvSpPr>
        <p:spPr>
          <a:xfrm>
            <a:off x="3883002" y="1765300"/>
            <a:ext cx="792300" cy="195900"/>
          </a:xfrm>
          <a:prstGeom prst="roundRect">
            <a:avLst>
              <a:gd name="adj" fmla="val 50000"/>
            </a:avLst>
          </a:prstGeom>
          <a:solidFill>
            <a:srgbClr val="EEEEEE"/>
          </a:solidFill>
          <a:ln>
            <a:noFill/>
          </a:ln>
        </p:spPr>
        <p:txBody>
          <a:bodyPr spcFirstLastPara="1" wrap="square" lIns="58500" tIns="58500" rIns="58500" bIns="58500" anchor="ctr" anchorCtr="0">
            <a:noAutofit/>
          </a:bodyPr>
          <a:lstStyle/>
          <a:p>
            <a:pPr marL="0" lvl="0" indent="0" algn="ctr" rtl="0">
              <a:spcBef>
                <a:spcPts val="0"/>
              </a:spcBef>
              <a:spcAft>
                <a:spcPts val="0"/>
              </a:spcAft>
              <a:buNone/>
            </a:pPr>
            <a:endParaRPr sz="896"/>
          </a:p>
        </p:txBody>
      </p:sp>
      <p:sp>
        <p:nvSpPr>
          <p:cNvPr id="750" name="Google Shape;750;p76"/>
          <p:cNvSpPr txBox="1"/>
          <p:nvPr/>
        </p:nvSpPr>
        <p:spPr>
          <a:xfrm>
            <a:off x="3771183" y="1739900"/>
            <a:ext cx="1016100" cy="265427"/>
          </a:xfrm>
          <a:prstGeom prst="rect">
            <a:avLst/>
          </a:prstGeom>
          <a:noFill/>
          <a:ln>
            <a:noFill/>
          </a:ln>
        </p:spPr>
        <p:txBody>
          <a:bodyPr spcFirstLastPara="1" wrap="square" lIns="58500" tIns="58500" rIns="58500" bIns="58500" anchor="t" anchorCtr="0">
            <a:spAutoFit/>
          </a:bodyPr>
          <a:lstStyle/>
          <a:p>
            <a:pPr marL="0" lvl="0" indent="0" algn="ctr" rtl="0">
              <a:lnSpc>
                <a:spcPct val="115000"/>
              </a:lnSpc>
              <a:spcBef>
                <a:spcPts val="0"/>
              </a:spcBef>
              <a:spcAft>
                <a:spcPts val="0"/>
              </a:spcAft>
              <a:buNone/>
            </a:pPr>
            <a:r>
              <a:rPr lang="en-MY" sz="832" b="1">
                <a:solidFill>
                  <a:srgbClr val="38761D"/>
                </a:solidFill>
                <a:latin typeface="Helvetica Neue"/>
                <a:ea typeface="Helvetica Neue"/>
                <a:cs typeface="Helvetica Neue"/>
                <a:sym typeface="Helvetica Neue"/>
              </a:rPr>
              <a:t>START HERE</a:t>
            </a:r>
            <a:endParaRPr sz="832" b="1" i="1">
              <a:solidFill>
                <a:srgbClr val="38761D"/>
              </a:solidFill>
              <a:latin typeface="Helvetica Neue"/>
              <a:ea typeface="Helvetica Neue"/>
              <a:cs typeface="Helvetica Neue"/>
              <a:sym typeface="Helvetica Neue"/>
            </a:endParaRPr>
          </a:p>
        </p:txBody>
      </p:sp>
      <p:sp>
        <p:nvSpPr>
          <p:cNvPr id="751" name="Google Shape;751;p76"/>
          <p:cNvSpPr txBox="1"/>
          <p:nvPr/>
        </p:nvSpPr>
        <p:spPr>
          <a:xfrm>
            <a:off x="514350" y="480225"/>
            <a:ext cx="7620000" cy="549600"/>
          </a:xfrm>
          <a:prstGeom prst="rect">
            <a:avLst/>
          </a:prstGeom>
          <a:noFill/>
          <a:ln>
            <a:noFill/>
          </a:ln>
        </p:spPr>
        <p:txBody>
          <a:bodyPr spcFirstLastPara="1" wrap="square" lIns="13700" tIns="6850" rIns="13700" bIns="34275" anchor="t" anchorCtr="0">
            <a:spAutoFit/>
          </a:bodyPr>
          <a:lstStyle/>
          <a:p>
            <a:pPr marL="0" marR="0" lvl="0" indent="0" algn="l" rtl="0">
              <a:spcBef>
                <a:spcPts val="0"/>
              </a:spcBef>
              <a:spcAft>
                <a:spcPts val="0"/>
              </a:spcAft>
              <a:buNone/>
            </a:pPr>
            <a:r>
              <a:rPr lang="en-MY" sz="3300" b="1">
                <a:solidFill>
                  <a:srgbClr val="38761D"/>
                </a:solidFill>
                <a:latin typeface="Caveat"/>
                <a:ea typeface="Caveat"/>
                <a:cs typeface="Caveat"/>
                <a:sym typeface="Caveat"/>
              </a:rPr>
              <a:t>Contest mechanic - Entries</a:t>
            </a:r>
            <a:endParaRPr sz="1500" b="1">
              <a:solidFill>
                <a:srgbClr val="38761D"/>
              </a:solidFill>
              <a:latin typeface="Caveat"/>
              <a:ea typeface="Caveat"/>
              <a:cs typeface="Caveat"/>
              <a:sym typeface="Caveat"/>
            </a:endParaRPr>
          </a:p>
        </p:txBody>
      </p:sp>
      <p:sp>
        <p:nvSpPr>
          <p:cNvPr id="752" name="Google Shape;752;p76"/>
          <p:cNvSpPr txBox="1"/>
          <p:nvPr/>
        </p:nvSpPr>
        <p:spPr>
          <a:xfrm>
            <a:off x="534925" y="219636"/>
            <a:ext cx="3213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Montserrat SemiBold"/>
                <a:ea typeface="Montserrat SemiBold"/>
                <a:cs typeface="Montserrat SemiBold"/>
                <a:sym typeface="Montserrat SemiBold"/>
              </a:rPr>
              <a:t>BUY &amp; WIN CONTEST</a:t>
            </a:r>
            <a:endParaRPr sz="1000">
              <a:solidFill>
                <a:schemeClr val="lt1"/>
              </a:solidFill>
              <a:latin typeface="Montserrat SemiBold"/>
              <a:ea typeface="Montserrat SemiBold"/>
              <a:cs typeface="Montserrat SemiBold"/>
              <a:sym typeface="Montserrat SemiBold"/>
            </a:endParaRPr>
          </a:p>
        </p:txBody>
      </p:sp>
      <p:sp>
        <p:nvSpPr>
          <p:cNvPr id="753" name="Google Shape;753;p76"/>
          <p:cNvSpPr txBox="1"/>
          <p:nvPr/>
        </p:nvSpPr>
        <p:spPr>
          <a:xfrm>
            <a:off x="492504" y="899685"/>
            <a:ext cx="7620000" cy="475500"/>
          </a:xfrm>
          <a:prstGeom prst="rect">
            <a:avLst/>
          </a:prstGeom>
          <a:noFill/>
          <a:ln>
            <a:noFill/>
          </a:ln>
        </p:spPr>
        <p:txBody>
          <a:bodyPr spcFirstLastPara="1" wrap="square" lIns="91425" tIns="91425" rIns="91425" bIns="91425" anchor="t" anchorCtr="0">
            <a:noAutofit/>
          </a:bodyPr>
          <a:lstStyle/>
          <a:p>
            <a:pPr marL="0" lvl="0" indent="0" algn="l" rtl="0">
              <a:lnSpc>
                <a:spcPct val="118000"/>
              </a:lnSpc>
              <a:spcBef>
                <a:spcPts val="0"/>
              </a:spcBef>
              <a:spcAft>
                <a:spcPts val="0"/>
              </a:spcAft>
              <a:buNone/>
            </a:pPr>
            <a:r>
              <a:rPr lang="en-US" sz="1800" b="1">
                <a:solidFill>
                  <a:srgbClr val="274E13"/>
                </a:solidFill>
                <a:latin typeface="Montserrat"/>
                <a:ea typeface="Montserrat"/>
                <a:cs typeface="Montserrat"/>
                <a:sym typeface="Montserrat"/>
              </a:rPr>
              <a:t>You get one entry for every 25 Mata.</a:t>
            </a:r>
            <a:endParaRPr sz="1800" b="1">
              <a:solidFill>
                <a:srgbClr val="274E13"/>
              </a:solidFill>
              <a:latin typeface="Montserrat"/>
              <a:ea typeface="Montserrat"/>
              <a:cs typeface="Montserrat"/>
              <a:sym typeface="Montserrat"/>
            </a:endParaRPr>
          </a:p>
        </p:txBody>
      </p:sp>
      <p:pic>
        <p:nvPicPr>
          <p:cNvPr id="754" name="Google Shape;754;p76"/>
          <p:cNvPicPr preferRelativeResize="0"/>
          <p:nvPr/>
        </p:nvPicPr>
        <p:blipFill>
          <a:blip r:embed="rId7">
            <a:alphaModFix/>
          </a:blip>
          <a:stretch>
            <a:fillRect/>
          </a:stretch>
        </p:blipFill>
        <p:spPr>
          <a:xfrm>
            <a:off x="8084676" y="175800"/>
            <a:ext cx="929002" cy="330099"/>
          </a:xfrm>
          <a:prstGeom prst="rect">
            <a:avLst/>
          </a:prstGeom>
          <a:noFill/>
          <a:ln>
            <a:noFill/>
          </a:ln>
        </p:spPr>
      </p:pic>
      <p:pic>
        <p:nvPicPr>
          <p:cNvPr id="755" name="Google Shape;755;p76"/>
          <p:cNvPicPr preferRelativeResize="0"/>
          <p:nvPr/>
        </p:nvPicPr>
        <p:blipFill>
          <a:blip r:embed="rId8">
            <a:alphaModFix/>
          </a:blip>
          <a:stretch>
            <a:fillRect/>
          </a:stretch>
        </p:blipFill>
        <p:spPr>
          <a:xfrm>
            <a:off x="8741325" y="4261525"/>
            <a:ext cx="150550" cy="613100"/>
          </a:xfrm>
          <a:prstGeom prst="rect">
            <a:avLst/>
          </a:prstGeom>
          <a:noFill/>
          <a:ln>
            <a:noFill/>
          </a:ln>
        </p:spPr>
      </p:pic>
      <p:sp>
        <p:nvSpPr>
          <p:cNvPr id="2" name="Rectangle: Rounded Corners 1">
            <a:extLst>
              <a:ext uri="{FF2B5EF4-FFF2-40B4-BE49-F238E27FC236}">
                <a16:creationId xmlns:a16="http://schemas.microsoft.com/office/drawing/2014/main" id="{4B73687F-EEB5-96D9-7D5E-10F117DCF756}"/>
              </a:ext>
            </a:extLst>
          </p:cNvPr>
          <p:cNvSpPr/>
          <p:nvPr/>
        </p:nvSpPr>
        <p:spPr>
          <a:xfrm>
            <a:off x="1041400" y="2159000"/>
            <a:ext cx="1930400" cy="381000"/>
          </a:xfrm>
          <a:prstGeom prst="roundRect">
            <a:avLst>
              <a:gd name="adj" fmla="val 50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a:solidFill>
                  <a:srgbClr val="38761D"/>
                </a:solidFill>
                <a:latin typeface="Montserrat SemiBold" panose="00000700000000000000" pitchFamily="2" charset="0"/>
              </a:rPr>
              <a:t>RM25 OF SAJI</a:t>
            </a:r>
          </a:p>
        </p:txBody>
      </p:sp>
      <p:sp>
        <p:nvSpPr>
          <p:cNvPr id="3" name="TextBox 2">
            <a:extLst>
              <a:ext uri="{FF2B5EF4-FFF2-40B4-BE49-F238E27FC236}">
                <a16:creationId xmlns:a16="http://schemas.microsoft.com/office/drawing/2014/main" id="{ED11127A-0627-5B13-93B0-A4C2420F9338}"/>
              </a:ext>
            </a:extLst>
          </p:cNvPr>
          <p:cNvSpPr txBox="1"/>
          <p:nvPr/>
        </p:nvSpPr>
        <p:spPr>
          <a:xfrm>
            <a:off x="812800" y="2565400"/>
            <a:ext cx="2387600" cy="254000"/>
          </a:xfrm>
          <a:prstGeom prst="rect">
            <a:avLst/>
          </a:prstGeom>
          <a:noFill/>
        </p:spPr>
        <p:txBody>
          <a:bodyPr vert="horz" wrap="square" lIns="0" tIns="0" rIns="0" bIns="0" rtlCol="0" anchor="ctr">
            <a:noAutofit/>
          </a:bodyPr>
          <a:lstStyle/>
          <a:p>
            <a:pPr algn="ctr"/>
            <a:r>
              <a:rPr lang="en-MY" sz="1800" b="1">
                <a:solidFill>
                  <a:srgbClr val="274E13"/>
                </a:solidFill>
                <a:latin typeface="Montserrat ExtraBold" panose="00000900000000000000" pitchFamily="2" charset="0"/>
              </a:rPr>
              <a:t>=</a:t>
            </a:r>
          </a:p>
        </p:txBody>
      </p:sp>
      <p:sp>
        <p:nvSpPr>
          <p:cNvPr id="4" name="TextBox 3">
            <a:extLst>
              <a:ext uri="{FF2B5EF4-FFF2-40B4-BE49-F238E27FC236}">
                <a16:creationId xmlns:a16="http://schemas.microsoft.com/office/drawing/2014/main" id="{DB1197C1-7068-6BEE-E31D-C1B3991A96DA}"/>
              </a:ext>
            </a:extLst>
          </p:cNvPr>
          <p:cNvSpPr txBox="1"/>
          <p:nvPr/>
        </p:nvSpPr>
        <p:spPr>
          <a:xfrm>
            <a:off x="812800" y="2819400"/>
            <a:ext cx="2387600" cy="431800"/>
          </a:xfrm>
          <a:prstGeom prst="rect">
            <a:avLst/>
          </a:prstGeom>
          <a:noFill/>
        </p:spPr>
        <p:txBody>
          <a:bodyPr vert="horz" wrap="square" lIns="0" tIns="0" rIns="0" bIns="0" rtlCol="0" anchor="ctr">
            <a:noAutofit/>
          </a:bodyPr>
          <a:lstStyle/>
          <a:p>
            <a:pPr algn="ctr"/>
            <a:r>
              <a:rPr lang="en-MY" sz="2600" b="1">
                <a:solidFill>
                  <a:srgbClr val="274E13"/>
                </a:solidFill>
                <a:latin typeface="Montserrat ExtraBold" panose="00000900000000000000" pitchFamily="2" charset="0"/>
              </a:rPr>
              <a:t>25 MATA</a:t>
            </a:r>
          </a:p>
        </p:txBody>
      </p:sp>
      <p:sp>
        <p:nvSpPr>
          <p:cNvPr id="5" name="TextBox 4">
            <a:extLst>
              <a:ext uri="{FF2B5EF4-FFF2-40B4-BE49-F238E27FC236}">
                <a16:creationId xmlns:a16="http://schemas.microsoft.com/office/drawing/2014/main" id="{0C39B16C-50C6-7425-B4F0-0422AA9EE056}"/>
              </a:ext>
            </a:extLst>
          </p:cNvPr>
          <p:cNvSpPr txBox="1"/>
          <p:nvPr/>
        </p:nvSpPr>
        <p:spPr>
          <a:xfrm>
            <a:off x="812800" y="3251200"/>
            <a:ext cx="2387600" cy="254000"/>
          </a:xfrm>
          <a:prstGeom prst="rect">
            <a:avLst/>
          </a:prstGeom>
          <a:noFill/>
        </p:spPr>
        <p:txBody>
          <a:bodyPr vert="horz" wrap="square" lIns="0" tIns="0" rIns="0" bIns="0" rtlCol="0" anchor="ctr">
            <a:noAutofit/>
          </a:bodyPr>
          <a:lstStyle/>
          <a:p>
            <a:pPr algn="ctr"/>
            <a:r>
              <a:rPr lang="en-MY" sz="1800" b="1">
                <a:solidFill>
                  <a:srgbClr val="274E13"/>
                </a:solidFill>
                <a:latin typeface="Montserrat ExtraBold" panose="00000900000000000000" pitchFamily="2" charset="0"/>
              </a:rPr>
              <a:t>=</a:t>
            </a:r>
          </a:p>
        </p:txBody>
      </p:sp>
      <p:sp>
        <p:nvSpPr>
          <p:cNvPr id="6" name="Rectangle: Rounded Corners 5">
            <a:extLst>
              <a:ext uri="{FF2B5EF4-FFF2-40B4-BE49-F238E27FC236}">
                <a16:creationId xmlns:a16="http://schemas.microsoft.com/office/drawing/2014/main" id="{4C068A93-9FBB-7CEE-B883-65DB4216F5F2}"/>
              </a:ext>
            </a:extLst>
          </p:cNvPr>
          <p:cNvSpPr/>
          <p:nvPr/>
        </p:nvSpPr>
        <p:spPr>
          <a:xfrm>
            <a:off x="1041400" y="3530600"/>
            <a:ext cx="1930400" cy="4572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50800" tIns="0" rIns="50800" bIns="0" rtlCol="0" anchor="ctr"/>
          <a:lstStyle/>
          <a:p>
            <a:pPr algn="ctr"/>
            <a:r>
              <a:rPr lang="en-MY" sz="1900">
                <a:solidFill>
                  <a:srgbClr val="274E13"/>
                </a:solidFill>
                <a:latin typeface="Montserrat SemiBold" panose="00000700000000000000" pitchFamily="2" charset="0"/>
              </a:rPr>
              <a:t>1 ENTRY</a:t>
            </a:r>
          </a:p>
        </p:txBody>
      </p:sp>
      <p:sp>
        <p:nvSpPr>
          <p:cNvPr id="7" name="TextBox 6">
            <a:extLst>
              <a:ext uri="{FF2B5EF4-FFF2-40B4-BE49-F238E27FC236}">
                <a16:creationId xmlns:a16="http://schemas.microsoft.com/office/drawing/2014/main" id="{3E86360D-073A-03F1-C7D3-7317487FCB0C}"/>
              </a:ext>
            </a:extLst>
          </p:cNvPr>
          <p:cNvSpPr txBox="1"/>
          <p:nvPr/>
        </p:nvSpPr>
        <p:spPr>
          <a:xfrm>
            <a:off x="889000" y="4114799"/>
            <a:ext cx="2235200" cy="381000"/>
          </a:xfrm>
          <a:prstGeom prst="rect">
            <a:avLst/>
          </a:prstGeom>
          <a:noFill/>
        </p:spPr>
        <p:txBody>
          <a:bodyPr vert="horz" wrap="square" lIns="0" tIns="0" rIns="0" bIns="0" rtlCol="0" anchor="ctr">
            <a:noAutofit/>
          </a:bodyPr>
          <a:lstStyle/>
          <a:p>
            <a:pPr algn="ctr"/>
            <a:r>
              <a:rPr lang="en-US" sz="900" b="1">
                <a:solidFill>
                  <a:srgbClr val="274E13"/>
                </a:solidFill>
                <a:latin typeface="Montserrat" panose="00000500000000000000" pitchFamily="2" charset="0"/>
              </a:rPr>
              <a:t>Your first receipt needs at least RM25 of SAJI.</a:t>
            </a:r>
            <a:endParaRPr lang="en-MY" sz="900" b="1">
              <a:solidFill>
                <a:srgbClr val="274E13"/>
              </a:solidFill>
              <a:latin typeface="Montserrat" panose="00000500000000000000" pitchFamily="2" charset="0"/>
            </a:endParaRPr>
          </a:p>
        </p:txBody>
      </p:sp>
      <p:sp>
        <p:nvSpPr>
          <p:cNvPr id="8" name="Rectangle: Rounded Corners 7">
            <a:extLst>
              <a:ext uri="{FF2B5EF4-FFF2-40B4-BE49-F238E27FC236}">
                <a16:creationId xmlns:a16="http://schemas.microsoft.com/office/drawing/2014/main" id="{C1F70051-EE7F-6DAF-2FD0-B0ABB2AABBFD}"/>
              </a:ext>
            </a:extLst>
          </p:cNvPr>
          <p:cNvSpPr/>
          <p:nvPr/>
        </p:nvSpPr>
        <p:spPr>
          <a:xfrm>
            <a:off x="3721100" y="3454400"/>
            <a:ext cx="4914900" cy="279400"/>
          </a:xfrm>
          <a:prstGeom prst="roundRect">
            <a:avLst>
              <a:gd name="adj" fmla="val 30000"/>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76200" rIns="76200" rtlCol="0" anchor="ctr"/>
          <a:lstStyle/>
          <a:p>
            <a:pPr algn="ctr"/>
            <a:r>
              <a:rPr lang="en-US" sz="850" b="1">
                <a:solidFill>
                  <a:srgbClr val="FFFFFF"/>
                </a:solidFill>
                <a:latin typeface="Montserrat" panose="00000500000000000000" pitchFamily="2" charset="0"/>
              </a:rPr>
              <a:t>Find bonus QR codes on special SAJI packs and at SAJI events, in every state.</a:t>
            </a:r>
            <a:endParaRPr lang="en-MY" sz="850" b="1">
              <a:solidFill>
                <a:srgbClr val="FFFFFF"/>
              </a:solidFill>
              <a:latin typeface="Montserrat" panose="00000500000000000000" pitchFamily="2" charset="0"/>
            </a:endParaRPr>
          </a:p>
        </p:txBody>
      </p:sp>
      <p:sp>
        <p:nvSpPr>
          <p:cNvPr id="9" name="Rectangle: Rounded Corners 8">
            <a:extLst>
              <a:ext uri="{FF2B5EF4-FFF2-40B4-BE49-F238E27FC236}">
                <a16:creationId xmlns:a16="http://schemas.microsoft.com/office/drawing/2014/main" id="{DCA89A43-C4AE-323A-ED25-9DA9E4823D73}"/>
              </a:ext>
            </a:extLst>
          </p:cNvPr>
          <p:cNvSpPr/>
          <p:nvPr/>
        </p:nvSpPr>
        <p:spPr>
          <a:xfrm>
            <a:off x="3721100" y="3835400"/>
            <a:ext cx="2425700" cy="736600"/>
          </a:xfrm>
          <a:prstGeom prst="roundRect">
            <a:avLst>
              <a:gd name="adj" fmla="val 12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1" name="Picture 10">
            <a:extLst>
              <a:ext uri="{FF2B5EF4-FFF2-40B4-BE49-F238E27FC236}">
                <a16:creationId xmlns:a16="http://schemas.microsoft.com/office/drawing/2014/main" id="{B08B5FB0-1D8C-1A95-4CDF-562BB5346CFD}"/>
              </a:ext>
            </a:extLst>
          </p:cNvPr>
          <p:cNvPicPr>
            <a:picLocks noChangeAspect="1"/>
          </p:cNvPicPr>
          <p:nvPr/>
        </p:nvPicPr>
        <p:blipFill>
          <a:blip r:embed="rId9"/>
          <a:stretch>
            <a:fillRect/>
          </a:stretch>
        </p:blipFill>
        <p:spPr>
          <a:xfrm>
            <a:off x="3835400" y="3962400"/>
            <a:ext cx="381000" cy="381000"/>
          </a:xfrm>
          <a:prstGeom prst="rect">
            <a:avLst/>
          </a:prstGeom>
        </p:spPr>
      </p:pic>
      <p:sp>
        <p:nvSpPr>
          <p:cNvPr id="12" name="TextBox 11">
            <a:extLst>
              <a:ext uri="{FF2B5EF4-FFF2-40B4-BE49-F238E27FC236}">
                <a16:creationId xmlns:a16="http://schemas.microsoft.com/office/drawing/2014/main" id="{8A832559-6D3C-11E5-6843-FF8F6FCE2E32}"/>
              </a:ext>
            </a:extLst>
          </p:cNvPr>
          <p:cNvSpPr txBox="1"/>
          <p:nvPr/>
        </p:nvSpPr>
        <p:spPr>
          <a:xfrm>
            <a:off x="4330700" y="3924300"/>
            <a:ext cx="1727200" cy="177800"/>
          </a:xfrm>
          <a:prstGeom prst="rect">
            <a:avLst/>
          </a:prstGeom>
          <a:noFill/>
        </p:spPr>
        <p:txBody>
          <a:bodyPr vert="horz" wrap="square" lIns="0" tIns="0" rIns="0" bIns="0" rtlCol="0" anchor="ctr">
            <a:noAutofit/>
          </a:bodyPr>
          <a:lstStyle/>
          <a:p>
            <a:r>
              <a:rPr lang="en-MY" sz="950" b="1">
                <a:solidFill>
                  <a:srgbClr val="38761D"/>
                </a:solidFill>
                <a:latin typeface="Montserrat SemiBold" panose="00000700000000000000" pitchFamily="2" charset="0"/>
              </a:rPr>
              <a:t>WEEKLY DRAW</a:t>
            </a:r>
          </a:p>
        </p:txBody>
      </p:sp>
      <p:sp>
        <p:nvSpPr>
          <p:cNvPr id="13" name="TextBox 12">
            <a:extLst>
              <a:ext uri="{FF2B5EF4-FFF2-40B4-BE49-F238E27FC236}">
                <a16:creationId xmlns:a16="http://schemas.microsoft.com/office/drawing/2014/main" id="{6ECF0538-14EF-DDAE-3180-E97897B8D63D}"/>
              </a:ext>
            </a:extLst>
          </p:cNvPr>
          <p:cNvSpPr txBox="1"/>
          <p:nvPr/>
        </p:nvSpPr>
        <p:spPr>
          <a:xfrm>
            <a:off x="4330700" y="4127499"/>
            <a:ext cx="1727200" cy="381000"/>
          </a:xfrm>
          <a:prstGeom prst="rect">
            <a:avLst/>
          </a:prstGeom>
          <a:noFill/>
        </p:spPr>
        <p:txBody>
          <a:bodyPr vert="horz" wrap="square" lIns="0" tIns="0" rIns="0" bIns="0" rtlCol="0" anchor="t">
            <a:noAutofit/>
          </a:bodyPr>
          <a:lstStyle/>
          <a:p>
            <a:r>
              <a:rPr lang="en-US" sz="800">
                <a:solidFill>
                  <a:srgbClr val="274E13"/>
                </a:solidFill>
                <a:latin typeface="Montserrat" panose="00000500000000000000" pitchFamily="2" charset="0"/>
              </a:rPr>
              <a:t>Only this week's entries count, so buy every week to stay in.</a:t>
            </a:r>
            <a:endParaRPr lang="en-MY" sz="800">
              <a:solidFill>
                <a:srgbClr val="274E13"/>
              </a:solidFill>
              <a:latin typeface="Montserrat" panose="00000500000000000000" pitchFamily="2" charset="0"/>
            </a:endParaRPr>
          </a:p>
        </p:txBody>
      </p:sp>
      <p:sp>
        <p:nvSpPr>
          <p:cNvPr id="14" name="Rectangle: Rounded Corners 13">
            <a:extLst>
              <a:ext uri="{FF2B5EF4-FFF2-40B4-BE49-F238E27FC236}">
                <a16:creationId xmlns:a16="http://schemas.microsoft.com/office/drawing/2014/main" id="{28ABC880-1C00-7FD7-7D46-CE468B0C76CD}"/>
              </a:ext>
            </a:extLst>
          </p:cNvPr>
          <p:cNvSpPr/>
          <p:nvPr/>
        </p:nvSpPr>
        <p:spPr>
          <a:xfrm>
            <a:off x="6210300" y="3835400"/>
            <a:ext cx="2425700" cy="736600"/>
          </a:xfrm>
          <a:prstGeom prst="roundRect">
            <a:avLst>
              <a:gd name="adj" fmla="val 12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16" name="Picture 15">
            <a:extLst>
              <a:ext uri="{FF2B5EF4-FFF2-40B4-BE49-F238E27FC236}">
                <a16:creationId xmlns:a16="http://schemas.microsoft.com/office/drawing/2014/main" id="{77296067-69B9-7ED9-4976-8C7EA3ED54CA}"/>
              </a:ext>
            </a:extLst>
          </p:cNvPr>
          <p:cNvPicPr>
            <a:picLocks noChangeAspect="1"/>
          </p:cNvPicPr>
          <p:nvPr/>
        </p:nvPicPr>
        <p:blipFill>
          <a:blip r:embed="rId10"/>
          <a:stretch>
            <a:fillRect/>
          </a:stretch>
        </p:blipFill>
        <p:spPr>
          <a:xfrm>
            <a:off x="6324600" y="3962400"/>
            <a:ext cx="381000" cy="381000"/>
          </a:xfrm>
          <a:prstGeom prst="rect">
            <a:avLst/>
          </a:prstGeom>
        </p:spPr>
      </p:pic>
      <p:sp>
        <p:nvSpPr>
          <p:cNvPr id="17" name="TextBox 16">
            <a:extLst>
              <a:ext uri="{FF2B5EF4-FFF2-40B4-BE49-F238E27FC236}">
                <a16:creationId xmlns:a16="http://schemas.microsoft.com/office/drawing/2014/main" id="{2F64DBF9-D1A2-1B53-A590-A5879E523178}"/>
              </a:ext>
            </a:extLst>
          </p:cNvPr>
          <p:cNvSpPr txBox="1"/>
          <p:nvPr/>
        </p:nvSpPr>
        <p:spPr>
          <a:xfrm>
            <a:off x="6819900" y="3924300"/>
            <a:ext cx="1727200" cy="177800"/>
          </a:xfrm>
          <a:prstGeom prst="rect">
            <a:avLst/>
          </a:prstGeom>
          <a:noFill/>
        </p:spPr>
        <p:txBody>
          <a:bodyPr vert="horz" wrap="square" lIns="0" tIns="0" rIns="0" bIns="0" rtlCol="0" anchor="ctr">
            <a:noAutofit/>
          </a:bodyPr>
          <a:lstStyle/>
          <a:p>
            <a:r>
              <a:rPr lang="en-MY" sz="950" b="1">
                <a:solidFill>
                  <a:srgbClr val="38761D"/>
                </a:solidFill>
                <a:latin typeface="Montserrat SemiBold" panose="00000700000000000000" pitchFamily="2" charset="0"/>
              </a:rPr>
              <a:t>GRAND PRIZE DRAW</a:t>
            </a:r>
          </a:p>
        </p:txBody>
      </p:sp>
      <p:sp>
        <p:nvSpPr>
          <p:cNvPr id="18" name="TextBox 17">
            <a:extLst>
              <a:ext uri="{FF2B5EF4-FFF2-40B4-BE49-F238E27FC236}">
                <a16:creationId xmlns:a16="http://schemas.microsoft.com/office/drawing/2014/main" id="{70425E6A-B2EB-31F3-411A-FBF1024841D9}"/>
              </a:ext>
            </a:extLst>
          </p:cNvPr>
          <p:cNvSpPr txBox="1"/>
          <p:nvPr/>
        </p:nvSpPr>
        <p:spPr>
          <a:xfrm>
            <a:off x="6819900" y="4127499"/>
            <a:ext cx="1727200" cy="381000"/>
          </a:xfrm>
          <a:prstGeom prst="rect">
            <a:avLst/>
          </a:prstGeom>
          <a:noFill/>
        </p:spPr>
        <p:txBody>
          <a:bodyPr vert="horz" wrap="square" lIns="0" tIns="0" rIns="0" bIns="0" rtlCol="0" anchor="t">
            <a:noAutofit/>
          </a:bodyPr>
          <a:lstStyle/>
          <a:p>
            <a:r>
              <a:rPr lang="en-US" sz="800">
                <a:solidFill>
                  <a:srgbClr val="274E13"/>
                </a:solidFill>
                <a:latin typeface="Montserrat" panose="00000500000000000000" pitchFamily="2" charset="0"/>
              </a:rPr>
              <a:t>Every entry since 30 January counts for the top 3 prizes.</a:t>
            </a:r>
            <a:endParaRPr lang="en-MY" sz="800">
              <a:solidFill>
                <a:srgbClr val="274E13"/>
              </a:solidFill>
              <a:latin typeface="Montserrat" panose="00000500000000000000" pitchFamily="2"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pic>
        <p:nvPicPr>
          <p:cNvPr id="769" name="Google Shape;769;p77"/>
          <p:cNvPicPr preferRelativeResize="0"/>
          <p:nvPr/>
        </p:nvPicPr>
        <p:blipFill>
          <a:blip r:embed="rId3">
            <a:alphaModFix/>
          </a:blip>
          <a:stretch>
            <a:fillRect/>
          </a:stretch>
        </p:blipFill>
        <p:spPr>
          <a:xfrm>
            <a:off x="8084676" y="175800"/>
            <a:ext cx="929002" cy="330099"/>
          </a:xfrm>
          <a:prstGeom prst="rect">
            <a:avLst/>
          </a:prstGeom>
          <a:noFill/>
          <a:ln>
            <a:noFill/>
          </a:ln>
        </p:spPr>
      </p:pic>
      <p:pic>
        <p:nvPicPr>
          <p:cNvPr id="770" name="Google Shape;770;p77"/>
          <p:cNvPicPr preferRelativeResize="0"/>
          <p:nvPr/>
        </p:nvPicPr>
        <p:blipFill>
          <a:blip r:embed="rId4">
            <a:alphaModFix/>
          </a:blip>
          <a:stretch>
            <a:fillRect/>
          </a:stretch>
        </p:blipFill>
        <p:spPr>
          <a:xfrm>
            <a:off x="8741325" y="4261525"/>
            <a:ext cx="150550" cy="613100"/>
          </a:xfrm>
          <a:prstGeom prst="rect">
            <a:avLst/>
          </a:prstGeom>
          <a:noFill/>
          <a:ln>
            <a:noFill/>
          </a:ln>
        </p:spPr>
      </p:pic>
      <p:sp>
        <p:nvSpPr>
          <p:cNvPr id="771" name="Google Shape;771;p77"/>
          <p:cNvSpPr txBox="1"/>
          <p:nvPr/>
        </p:nvSpPr>
        <p:spPr>
          <a:xfrm>
            <a:off x="514350" y="480225"/>
            <a:ext cx="7620000" cy="549600"/>
          </a:xfrm>
          <a:prstGeom prst="rect">
            <a:avLst/>
          </a:prstGeom>
          <a:noFill/>
          <a:ln>
            <a:noFill/>
          </a:ln>
        </p:spPr>
        <p:txBody>
          <a:bodyPr spcFirstLastPara="1" wrap="square" lIns="13700" tIns="6850" rIns="13700" bIns="34275" anchor="t" anchorCtr="0">
            <a:spAutoFit/>
          </a:bodyPr>
          <a:lstStyle/>
          <a:p>
            <a:pPr marL="0" marR="0" lvl="0" indent="0" algn="l" rtl="0">
              <a:spcBef>
                <a:spcPts val="0"/>
              </a:spcBef>
              <a:spcAft>
                <a:spcPts val="0"/>
              </a:spcAft>
              <a:buNone/>
            </a:pPr>
            <a:r>
              <a:rPr lang="en-US" sz="3300" b="1">
                <a:solidFill>
                  <a:srgbClr val="38761D"/>
                </a:solidFill>
                <a:latin typeface="Caveat"/>
                <a:ea typeface="Caveat"/>
                <a:cs typeface="Caveat"/>
                <a:sym typeface="Caveat"/>
              </a:rPr>
              <a:t>Contest mechanic - How to join</a:t>
            </a:r>
            <a:endParaRPr sz="1500" b="1">
              <a:solidFill>
                <a:srgbClr val="38761D"/>
              </a:solidFill>
              <a:latin typeface="Caveat"/>
              <a:ea typeface="Caveat"/>
              <a:cs typeface="Caveat"/>
              <a:sym typeface="Caveat"/>
            </a:endParaRPr>
          </a:p>
        </p:txBody>
      </p:sp>
      <p:sp>
        <p:nvSpPr>
          <p:cNvPr id="772" name="Google Shape;772;p77"/>
          <p:cNvSpPr txBox="1"/>
          <p:nvPr/>
        </p:nvSpPr>
        <p:spPr>
          <a:xfrm>
            <a:off x="534925" y="219636"/>
            <a:ext cx="32133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000">
                <a:solidFill>
                  <a:schemeClr val="lt1"/>
                </a:solidFill>
                <a:latin typeface="Montserrat SemiBold"/>
                <a:ea typeface="Montserrat SemiBold"/>
                <a:cs typeface="Montserrat SemiBold"/>
                <a:sym typeface="Montserrat SemiBold"/>
              </a:rPr>
              <a:t>BUY &amp; WIN CONTEST</a:t>
            </a:r>
            <a:endParaRPr sz="1000">
              <a:solidFill>
                <a:schemeClr val="lt1"/>
              </a:solidFill>
              <a:latin typeface="Montserrat SemiBold"/>
              <a:ea typeface="Montserrat SemiBold"/>
              <a:cs typeface="Montserrat SemiBold"/>
              <a:sym typeface="Montserrat SemiBold"/>
            </a:endParaRPr>
          </a:p>
        </p:txBody>
      </p:sp>
      <p:sp>
        <p:nvSpPr>
          <p:cNvPr id="773" name="Google Shape;773;p77"/>
          <p:cNvSpPr txBox="1"/>
          <p:nvPr/>
        </p:nvSpPr>
        <p:spPr>
          <a:xfrm>
            <a:off x="492504" y="899685"/>
            <a:ext cx="7620000" cy="475500"/>
          </a:xfrm>
          <a:prstGeom prst="rect">
            <a:avLst/>
          </a:prstGeom>
          <a:noFill/>
          <a:ln>
            <a:noFill/>
          </a:ln>
        </p:spPr>
        <p:txBody>
          <a:bodyPr spcFirstLastPara="1" wrap="square" lIns="91425" tIns="91425" rIns="91425" bIns="91425" anchor="t" anchorCtr="0">
            <a:noAutofit/>
          </a:bodyPr>
          <a:lstStyle/>
          <a:p>
            <a:pPr marL="0" lvl="0" indent="0" algn="l" rtl="0">
              <a:lnSpc>
                <a:spcPct val="118000"/>
              </a:lnSpc>
              <a:spcBef>
                <a:spcPts val="0"/>
              </a:spcBef>
              <a:spcAft>
                <a:spcPts val="0"/>
              </a:spcAft>
              <a:buNone/>
            </a:pPr>
            <a:r>
              <a:rPr lang="en-US" sz="1800" b="1">
                <a:solidFill>
                  <a:srgbClr val="274E13"/>
                </a:solidFill>
                <a:latin typeface="Montserrat"/>
                <a:ea typeface="Montserrat"/>
                <a:cs typeface="Montserrat"/>
                <a:sym typeface="Montserrat"/>
              </a:rPr>
              <a:t>Register once. After that, you only scan and upload.</a:t>
            </a:r>
            <a:endParaRPr sz="1800" b="1">
              <a:solidFill>
                <a:srgbClr val="274E13"/>
              </a:solidFill>
              <a:latin typeface="Montserrat"/>
              <a:ea typeface="Montserrat"/>
              <a:cs typeface="Montserrat"/>
              <a:sym typeface="Montserrat"/>
            </a:endParaRPr>
          </a:p>
        </p:txBody>
      </p:sp>
      <p:sp>
        <p:nvSpPr>
          <p:cNvPr id="2" name="Rectangle: Rounded Corners 1">
            <a:extLst>
              <a:ext uri="{FF2B5EF4-FFF2-40B4-BE49-F238E27FC236}">
                <a16:creationId xmlns:a16="http://schemas.microsoft.com/office/drawing/2014/main" id="{B14CF291-8B2D-C1C0-4183-E1296D63C924}"/>
              </a:ext>
            </a:extLst>
          </p:cNvPr>
          <p:cNvSpPr/>
          <p:nvPr/>
        </p:nvSpPr>
        <p:spPr>
          <a:xfrm>
            <a:off x="1244600" y="1447800"/>
            <a:ext cx="1270000" cy="2235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 name="Oval 2">
            <a:extLst>
              <a:ext uri="{FF2B5EF4-FFF2-40B4-BE49-F238E27FC236}">
                <a16:creationId xmlns:a16="http://schemas.microsoft.com/office/drawing/2014/main" id="{A36DCEE4-8250-B714-CAFD-E49061406B7E}"/>
              </a:ext>
            </a:extLst>
          </p:cNvPr>
          <p:cNvSpPr/>
          <p:nvPr/>
        </p:nvSpPr>
        <p:spPr>
          <a:xfrm>
            <a:off x="1308100" y="1511300"/>
            <a:ext cx="228600" cy="228600"/>
          </a:xfrm>
          <a:prstGeom prst="ellipse">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MY" sz="900" b="1">
                <a:solidFill>
                  <a:srgbClr val="FFFFFF"/>
                </a:solidFill>
                <a:latin typeface="Montserrat" panose="00000500000000000000" pitchFamily="2" charset="0"/>
              </a:rPr>
              <a:t>1</a:t>
            </a:r>
          </a:p>
        </p:txBody>
      </p:sp>
      <p:sp>
        <p:nvSpPr>
          <p:cNvPr id="4" name="TextBox 3">
            <a:extLst>
              <a:ext uri="{FF2B5EF4-FFF2-40B4-BE49-F238E27FC236}">
                <a16:creationId xmlns:a16="http://schemas.microsoft.com/office/drawing/2014/main" id="{79A7274F-D4DE-6429-4F4B-DF6B55332215}"/>
              </a:ext>
            </a:extLst>
          </p:cNvPr>
          <p:cNvSpPr txBox="1"/>
          <p:nvPr/>
        </p:nvSpPr>
        <p:spPr>
          <a:xfrm>
            <a:off x="1295400" y="2463800"/>
            <a:ext cx="1168400" cy="431800"/>
          </a:xfrm>
          <a:prstGeom prst="rect">
            <a:avLst/>
          </a:prstGeom>
          <a:noFill/>
        </p:spPr>
        <p:txBody>
          <a:bodyPr vert="horz" wrap="square" lIns="0" tIns="0" rIns="0" bIns="0" rtlCol="0" anchor="ctr">
            <a:noAutofit/>
          </a:bodyPr>
          <a:lstStyle/>
          <a:p>
            <a:pPr algn="ctr"/>
            <a:r>
              <a:rPr lang="en-MY" sz="950" b="1">
                <a:solidFill>
                  <a:srgbClr val="38761D"/>
                </a:solidFill>
                <a:latin typeface="Montserrat SemiBold" panose="00000700000000000000" pitchFamily="2" charset="0"/>
              </a:rPr>
              <a:t>BUY SAJI</a:t>
            </a:r>
          </a:p>
        </p:txBody>
      </p:sp>
      <p:sp>
        <p:nvSpPr>
          <p:cNvPr id="5" name="TextBox 4">
            <a:extLst>
              <a:ext uri="{FF2B5EF4-FFF2-40B4-BE49-F238E27FC236}">
                <a16:creationId xmlns:a16="http://schemas.microsoft.com/office/drawing/2014/main" id="{6174199D-4266-0586-DA9F-3644AF638D37}"/>
              </a:ext>
            </a:extLst>
          </p:cNvPr>
          <p:cNvSpPr txBox="1"/>
          <p:nvPr/>
        </p:nvSpPr>
        <p:spPr>
          <a:xfrm>
            <a:off x="1320800" y="2921000"/>
            <a:ext cx="1117600" cy="711200"/>
          </a:xfrm>
          <a:prstGeom prst="rect">
            <a:avLst/>
          </a:prstGeom>
          <a:noFill/>
        </p:spPr>
        <p:txBody>
          <a:bodyPr vert="horz" wrap="square" lIns="0" tIns="0" rIns="0" bIns="0" rtlCol="0" anchor="t">
            <a:noAutofit/>
          </a:bodyPr>
          <a:lstStyle/>
          <a:p>
            <a:pPr algn="ctr"/>
            <a:r>
              <a:rPr lang="en-US" sz="800">
                <a:solidFill>
                  <a:srgbClr val="274E13"/>
                </a:solidFill>
                <a:latin typeface="Montserrat" panose="00000500000000000000" pitchFamily="2" charset="0"/>
              </a:rPr>
              <a:t>Buy at least RM25 of SAJI at any shop. Keep your receipt.</a:t>
            </a:r>
            <a:endParaRPr lang="en-MY" sz="800">
              <a:solidFill>
                <a:srgbClr val="274E13"/>
              </a:solidFill>
              <a:latin typeface="Montserrat" panose="00000500000000000000" pitchFamily="2" charset="0"/>
            </a:endParaRPr>
          </a:p>
        </p:txBody>
      </p:sp>
      <p:cxnSp>
        <p:nvCxnSpPr>
          <p:cNvPr id="6" name="Straight Connector 5">
            <a:extLst>
              <a:ext uri="{FF2B5EF4-FFF2-40B4-BE49-F238E27FC236}">
                <a16:creationId xmlns:a16="http://schemas.microsoft.com/office/drawing/2014/main" id="{B4F1D1CD-DD6B-3150-ED69-2EFC4104A331}"/>
              </a:ext>
            </a:extLst>
          </p:cNvPr>
          <p:cNvCxnSpPr/>
          <p:nvPr/>
        </p:nvCxnSpPr>
        <p:spPr>
          <a:xfrm>
            <a:off x="2527300" y="2133600"/>
            <a:ext cx="101600" cy="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Rounded Corners 6">
            <a:extLst>
              <a:ext uri="{FF2B5EF4-FFF2-40B4-BE49-F238E27FC236}">
                <a16:creationId xmlns:a16="http://schemas.microsoft.com/office/drawing/2014/main" id="{984CF5C3-3E73-4A69-4710-F7FF17FAF767}"/>
              </a:ext>
            </a:extLst>
          </p:cNvPr>
          <p:cNvSpPr/>
          <p:nvPr/>
        </p:nvSpPr>
        <p:spPr>
          <a:xfrm>
            <a:off x="2641600" y="1447800"/>
            <a:ext cx="1270000" cy="2235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8" name="Oval 7">
            <a:extLst>
              <a:ext uri="{FF2B5EF4-FFF2-40B4-BE49-F238E27FC236}">
                <a16:creationId xmlns:a16="http://schemas.microsoft.com/office/drawing/2014/main" id="{ABA90CCC-03BF-2B77-F7A0-FEC886BD2DFB}"/>
              </a:ext>
            </a:extLst>
          </p:cNvPr>
          <p:cNvSpPr/>
          <p:nvPr/>
        </p:nvSpPr>
        <p:spPr>
          <a:xfrm>
            <a:off x="2705100" y="1511300"/>
            <a:ext cx="228600" cy="228600"/>
          </a:xfrm>
          <a:prstGeom prst="ellipse">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MY" sz="900" b="1">
                <a:solidFill>
                  <a:srgbClr val="FFFFFF"/>
                </a:solidFill>
                <a:latin typeface="Montserrat" panose="00000500000000000000" pitchFamily="2" charset="0"/>
              </a:rPr>
              <a:t>2</a:t>
            </a:r>
          </a:p>
        </p:txBody>
      </p:sp>
      <p:sp>
        <p:nvSpPr>
          <p:cNvPr id="9" name="TextBox 8">
            <a:extLst>
              <a:ext uri="{FF2B5EF4-FFF2-40B4-BE49-F238E27FC236}">
                <a16:creationId xmlns:a16="http://schemas.microsoft.com/office/drawing/2014/main" id="{36AE8628-0D74-BF7C-9727-E1947C91E2B7}"/>
              </a:ext>
            </a:extLst>
          </p:cNvPr>
          <p:cNvSpPr txBox="1"/>
          <p:nvPr/>
        </p:nvSpPr>
        <p:spPr>
          <a:xfrm>
            <a:off x="2692400" y="2463800"/>
            <a:ext cx="1168400" cy="431800"/>
          </a:xfrm>
          <a:prstGeom prst="rect">
            <a:avLst/>
          </a:prstGeom>
          <a:noFill/>
        </p:spPr>
        <p:txBody>
          <a:bodyPr vert="horz" wrap="square" lIns="0" tIns="0" rIns="0" bIns="0" rtlCol="0" anchor="ctr">
            <a:noAutofit/>
          </a:bodyPr>
          <a:lstStyle/>
          <a:p>
            <a:pPr algn="ctr"/>
            <a:r>
              <a:rPr lang="en-MY" sz="950" b="1">
                <a:solidFill>
                  <a:srgbClr val="38761D"/>
                </a:solidFill>
                <a:latin typeface="Montserrat SemiBold" panose="00000700000000000000" pitchFamily="2" charset="0"/>
              </a:rPr>
              <a:t>SCAN THE QR</a:t>
            </a:r>
          </a:p>
        </p:txBody>
      </p:sp>
      <p:sp>
        <p:nvSpPr>
          <p:cNvPr id="10" name="TextBox 9">
            <a:extLst>
              <a:ext uri="{FF2B5EF4-FFF2-40B4-BE49-F238E27FC236}">
                <a16:creationId xmlns:a16="http://schemas.microsoft.com/office/drawing/2014/main" id="{73454C12-EA39-C6D2-F9D5-205E8E7F0D36}"/>
              </a:ext>
            </a:extLst>
          </p:cNvPr>
          <p:cNvSpPr txBox="1"/>
          <p:nvPr/>
        </p:nvSpPr>
        <p:spPr>
          <a:xfrm>
            <a:off x="2717800" y="2921000"/>
            <a:ext cx="1117600" cy="711200"/>
          </a:xfrm>
          <a:prstGeom prst="rect">
            <a:avLst/>
          </a:prstGeom>
          <a:noFill/>
        </p:spPr>
        <p:txBody>
          <a:bodyPr vert="horz" wrap="square" lIns="0" tIns="0" rIns="0" bIns="0" rtlCol="0" anchor="t">
            <a:noAutofit/>
          </a:bodyPr>
          <a:lstStyle/>
          <a:p>
            <a:pPr algn="ctr"/>
            <a:r>
              <a:rPr lang="en-US" sz="800">
                <a:solidFill>
                  <a:srgbClr val="274E13"/>
                </a:solidFill>
                <a:latin typeface="Montserrat" panose="00000500000000000000" pitchFamily="2" charset="0"/>
              </a:rPr>
              <a:t>Scan the contest QR on the pack or shelf, or tap our ad.</a:t>
            </a:r>
            <a:endParaRPr lang="en-MY" sz="800">
              <a:solidFill>
                <a:srgbClr val="274E13"/>
              </a:solidFill>
              <a:latin typeface="Montserrat" panose="00000500000000000000" pitchFamily="2" charset="0"/>
            </a:endParaRPr>
          </a:p>
        </p:txBody>
      </p:sp>
      <p:cxnSp>
        <p:nvCxnSpPr>
          <p:cNvPr id="11" name="Straight Connector 10">
            <a:extLst>
              <a:ext uri="{FF2B5EF4-FFF2-40B4-BE49-F238E27FC236}">
                <a16:creationId xmlns:a16="http://schemas.microsoft.com/office/drawing/2014/main" id="{B2AB91EB-4855-29F4-445E-A234016F2678}"/>
              </a:ext>
            </a:extLst>
          </p:cNvPr>
          <p:cNvCxnSpPr/>
          <p:nvPr/>
        </p:nvCxnSpPr>
        <p:spPr>
          <a:xfrm>
            <a:off x="3924300" y="2133600"/>
            <a:ext cx="101600" cy="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Rounded Corners 11">
            <a:extLst>
              <a:ext uri="{FF2B5EF4-FFF2-40B4-BE49-F238E27FC236}">
                <a16:creationId xmlns:a16="http://schemas.microsoft.com/office/drawing/2014/main" id="{F809D6A4-65DB-BCD5-EFA3-13218EE2AB6E}"/>
              </a:ext>
            </a:extLst>
          </p:cNvPr>
          <p:cNvSpPr/>
          <p:nvPr/>
        </p:nvSpPr>
        <p:spPr>
          <a:xfrm>
            <a:off x="4038600" y="1447800"/>
            <a:ext cx="1270000" cy="2235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3" name="Oval 12">
            <a:extLst>
              <a:ext uri="{FF2B5EF4-FFF2-40B4-BE49-F238E27FC236}">
                <a16:creationId xmlns:a16="http://schemas.microsoft.com/office/drawing/2014/main" id="{9C6F7C6C-DB6D-DB0F-53A9-D64C58BAFFAF}"/>
              </a:ext>
            </a:extLst>
          </p:cNvPr>
          <p:cNvSpPr/>
          <p:nvPr/>
        </p:nvSpPr>
        <p:spPr>
          <a:xfrm>
            <a:off x="4102100" y="1511300"/>
            <a:ext cx="228600" cy="228600"/>
          </a:xfrm>
          <a:prstGeom prst="ellipse">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MY" sz="900" b="1">
                <a:solidFill>
                  <a:srgbClr val="FFFFFF"/>
                </a:solidFill>
                <a:latin typeface="Montserrat" panose="00000500000000000000" pitchFamily="2" charset="0"/>
              </a:rPr>
              <a:t>3</a:t>
            </a:r>
          </a:p>
        </p:txBody>
      </p:sp>
      <p:sp>
        <p:nvSpPr>
          <p:cNvPr id="14" name="TextBox 13">
            <a:extLst>
              <a:ext uri="{FF2B5EF4-FFF2-40B4-BE49-F238E27FC236}">
                <a16:creationId xmlns:a16="http://schemas.microsoft.com/office/drawing/2014/main" id="{8C78E83D-ADE4-1A93-FC4F-72076ACB6A77}"/>
              </a:ext>
            </a:extLst>
          </p:cNvPr>
          <p:cNvSpPr txBox="1"/>
          <p:nvPr/>
        </p:nvSpPr>
        <p:spPr>
          <a:xfrm>
            <a:off x="4089400" y="2463800"/>
            <a:ext cx="1168400" cy="431800"/>
          </a:xfrm>
          <a:prstGeom prst="rect">
            <a:avLst/>
          </a:prstGeom>
          <a:noFill/>
        </p:spPr>
        <p:txBody>
          <a:bodyPr vert="horz" wrap="square" lIns="0" tIns="0" rIns="0" bIns="0" rtlCol="0" anchor="ctr">
            <a:noAutofit/>
          </a:bodyPr>
          <a:lstStyle/>
          <a:p>
            <a:pPr algn="ctr"/>
            <a:r>
              <a:rPr lang="en-MY" sz="950" b="1">
                <a:solidFill>
                  <a:srgbClr val="38761D"/>
                </a:solidFill>
                <a:latin typeface="Montserrat SemiBold" panose="00000700000000000000" pitchFamily="2" charset="0"/>
              </a:rPr>
              <a:t>ANSWER,</a:t>
            </a:r>
          </a:p>
          <a:p>
            <a:pPr algn="ctr"/>
            <a:r>
              <a:rPr lang="en-MY" sz="950" b="1">
                <a:solidFill>
                  <a:srgbClr val="38761D"/>
                </a:solidFill>
                <a:latin typeface="Montserrat SemiBold" panose="00000700000000000000" pitchFamily="2" charset="0"/>
              </a:rPr>
              <a:t>REGISTER</a:t>
            </a:r>
          </a:p>
          <a:p>
            <a:pPr algn="ctr"/>
            <a:r>
              <a:rPr lang="en-MY" sz="950" b="1">
                <a:solidFill>
                  <a:srgbClr val="38761D"/>
                </a:solidFill>
                <a:latin typeface="Montserrat SemiBold" panose="00000700000000000000" pitchFamily="2" charset="0"/>
              </a:rPr>
              <a:t>&amp; UPLOAD</a:t>
            </a:r>
          </a:p>
        </p:txBody>
      </p:sp>
      <p:sp>
        <p:nvSpPr>
          <p:cNvPr id="15" name="TextBox 14">
            <a:extLst>
              <a:ext uri="{FF2B5EF4-FFF2-40B4-BE49-F238E27FC236}">
                <a16:creationId xmlns:a16="http://schemas.microsoft.com/office/drawing/2014/main" id="{0863D39B-C277-ED08-E32C-5FF9791DC408}"/>
              </a:ext>
            </a:extLst>
          </p:cNvPr>
          <p:cNvSpPr txBox="1"/>
          <p:nvPr/>
        </p:nvSpPr>
        <p:spPr>
          <a:xfrm>
            <a:off x="4114800" y="2921000"/>
            <a:ext cx="1117600" cy="711200"/>
          </a:xfrm>
          <a:prstGeom prst="rect">
            <a:avLst/>
          </a:prstGeom>
          <a:noFill/>
        </p:spPr>
        <p:txBody>
          <a:bodyPr vert="horz" wrap="square" lIns="0" tIns="0" rIns="0" bIns="0" rtlCol="0" anchor="t">
            <a:noAutofit/>
          </a:bodyPr>
          <a:lstStyle/>
          <a:p>
            <a:pPr algn="ctr"/>
            <a:r>
              <a:rPr lang="en-US" sz="800">
                <a:solidFill>
                  <a:srgbClr val="274E13"/>
                </a:solidFill>
                <a:latin typeface="Montserrat" panose="00000500000000000000" pitchFamily="2" charset="0"/>
              </a:rPr>
              <a:t>Answer one question, add your details and upload your receipt.</a:t>
            </a:r>
            <a:endParaRPr lang="en-MY" sz="800">
              <a:solidFill>
                <a:srgbClr val="274E13"/>
              </a:solidFill>
              <a:latin typeface="Montserrat" panose="00000500000000000000" pitchFamily="2" charset="0"/>
            </a:endParaRPr>
          </a:p>
        </p:txBody>
      </p:sp>
      <p:cxnSp>
        <p:nvCxnSpPr>
          <p:cNvPr id="16" name="Straight Connector 15">
            <a:extLst>
              <a:ext uri="{FF2B5EF4-FFF2-40B4-BE49-F238E27FC236}">
                <a16:creationId xmlns:a16="http://schemas.microsoft.com/office/drawing/2014/main" id="{69616434-26EA-4A38-80D2-297E734A93FB}"/>
              </a:ext>
            </a:extLst>
          </p:cNvPr>
          <p:cNvCxnSpPr/>
          <p:nvPr/>
        </p:nvCxnSpPr>
        <p:spPr>
          <a:xfrm>
            <a:off x="5321300" y="2133600"/>
            <a:ext cx="101600" cy="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9B833344-3404-C8EE-1175-CBD24A28F152}"/>
              </a:ext>
            </a:extLst>
          </p:cNvPr>
          <p:cNvSpPr/>
          <p:nvPr/>
        </p:nvSpPr>
        <p:spPr>
          <a:xfrm>
            <a:off x="5435600" y="1447800"/>
            <a:ext cx="1270000" cy="2235200"/>
          </a:xfrm>
          <a:prstGeom prst="roundRect">
            <a:avLst>
              <a:gd name="adj" fmla="val 8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8" name="Oval 17">
            <a:extLst>
              <a:ext uri="{FF2B5EF4-FFF2-40B4-BE49-F238E27FC236}">
                <a16:creationId xmlns:a16="http://schemas.microsoft.com/office/drawing/2014/main" id="{6217D73E-3436-CCE6-3F06-8603373FABC7}"/>
              </a:ext>
            </a:extLst>
          </p:cNvPr>
          <p:cNvSpPr/>
          <p:nvPr/>
        </p:nvSpPr>
        <p:spPr>
          <a:xfrm>
            <a:off x="5499100" y="1511300"/>
            <a:ext cx="228600" cy="228600"/>
          </a:xfrm>
          <a:prstGeom prst="ellipse">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MY" sz="900" b="1">
                <a:solidFill>
                  <a:srgbClr val="FFFFFF"/>
                </a:solidFill>
                <a:latin typeface="Montserrat" panose="00000500000000000000" pitchFamily="2" charset="0"/>
              </a:rPr>
              <a:t>4</a:t>
            </a:r>
          </a:p>
        </p:txBody>
      </p:sp>
      <p:sp>
        <p:nvSpPr>
          <p:cNvPr id="19" name="TextBox 18">
            <a:extLst>
              <a:ext uri="{FF2B5EF4-FFF2-40B4-BE49-F238E27FC236}">
                <a16:creationId xmlns:a16="http://schemas.microsoft.com/office/drawing/2014/main" id="{4078F00F-4CAA-D44B-4366-079D6DF23B8D}"/>
              </a:ext>
            </a:extLst>
          </p:cNvPr>
          <p:cNvSpPr txBox="1"/>
          <p:nvPr/>
        </p:nvSpPr>
        <p:spPr>
          <a:xfrm>
            <a:off x="5486400" y="2463800"/>
            <a:ext cx="1168400" cy="431800"/>
          </a:xfrm>
          <a:prstGeom prst="rect">
            <a:avLst/>
          </a:prstGeom>
          <a:noFill/>
        </p:spPr>
        <p:txBody>
          <a:bodyPr vert="horz" wrap="square" lIns="0" tIns="0" rIns="0" bIns="0" rtlCol="0" anchor="ctr">
            <a:noAutofit/>
          </a:bodyPr>
          <a:lstStyle/>
          <a:p>
            <a:pPr algn="ctr"/>
            <a:r>
              <a:rPr lang="en-MY" sz="950" b="1">
                <a:solidFill>
                  <a:srgbClr val="38761D"/>
                </a:solidFill>
                <a:latin typeface="Montserrat SemiBold" panose="00000700000000000000" pitchFamily="2" charset="0"/>
              </a:rPr>
              <a:t>GET 1 ENTRY</a:t>
            </a:r>
          </a:p>
        </p:txBody>
      </p:sp>
      <p:sp>
        <p:nvSpPr>
          <p:cNvPr id="20" name="TextBox 19">
            <a:extLst>
              <a:ext uri="{FF2B5EF4-FFF2-40B4-BE49-F238E27FC236}">
                <a16:creationId xmlns:a16="http://schemas.microsoft.com/office/drawing/2014/main" id="{D6DE2F26-39AA-1CCB-7E36-7F43D49C4777}"/>
              </a:ext>
            </a:extLst>
          </p:cNvPr>
          <p:cNvSpPr txBox="1"/>
          <p:nvPr/>
        </p:nvSpPr>
        <p:spPr>
          <a:xfrm>
            <a:off x="5511800" y="2921000"/>
            <a:ext cx="1117600" cy="711200"/>
          </a:xfrm>
          <a:prstGeom prst="rect">
            <a:avLst/>
          </a:prstGeom>
          <a:noFill/>
        </p:spPr>
        <p:txBody>
          <a:bodyPr vert="horz" wrap="square" lIns="0" tIns="0" rIns="0" bIns="0" rtlCol="0" anchor="t">
            <a:noAutofit/>
          </a:bodyPr>
          <a:lstStyle/>
          <a:p>
            <a:pPr algn="ctr"/>
            <a:r>
              <a:rPr lang="en-US" sz="800">
                <a:solidFill>
                  <a:srgbClr val="274E13"/>
                </a:solidFill>
                <a:latin typeface="Montserrat" panose="00000500000000000000" pitchFamily="2" charset="0"/>
              </a:rPr>
              <a:t>You are in this week's draw and the grand prize draw.</a:t>
            </a:r>
            <a:endParaRPr lang="en-MY" sz="800">
              <a:solidFill>
                <a:srgbClr val="274E13"/>
              </a:solidFill>
              <a:latin typeface="Montserrat" panose="00000500000000000000" pitchFamily="2" charset="0"/>
            </a:endParaRPr>
          </a:p>
        </p:txBody>
      </p:sp>
      <p:cxnSp>
        <p:nvCxnSpPr>
          <p:cNvPr id="21" name="Straight Connector 20">
            <a:extLst>
              <a:ext uri="{FF2B5EF4-FFF2-40B4-BE49-F238E27FC236}">
                <a16:creationId xmlns:a16="http://schemas.microsoft.com/office/drawing/2014/main" id="{B4F17507-3838-A354-3C38-CE66975BF676}"/>
              </a:ext>
            </a:extLst>
          </p:cNvPr>
          <p:cNvCxnSpPr/>
          <p:nvPr/>
        </p:nvCxnSpPr>
        <p:spPr>
          <a:xfrm>
            <a:off x="6718300" y="2133600"/>
            <a:ext cx="101600" cy="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22" name="Rectangle: Rounded Corners 21">
            <a:extLst>
              <a:ext uri="{FF2B5EF4-FFF2-40B4-BE49-F238E27FC236}">
                <a16:creationId xmlns:a16="http://schemas.microsoft.com/office/drawing/2014/main" id="{1925A19F-A512-4D93-4349-10D954B5B950}"/>
              </a:ext>
            </a:extLst>
          </p:cNvPr>
          <p:cNvSpPr/>
          <p:nvPr/>
        </p:nvSpPr>
        <p:spPr>
          <a:xfrm>
            <a:off x="6832600" y="1447800"/>
            <a:ext cx="1270000" cy="2235200"/>
          </a:xfrm>
          <a:prstGeom prst="roundRect">
            <a:avLst>
              <a:gd name="adj" fmla="val 8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3" name="Oval 22">
            <a:extLst>
              <a:ext uri="{FF2B5EF4-FFF2-40B4-BE49-F238E27FC236}">
                <a16:creationId xmlns:a16="http://schemas.microsoft.com/office/drawing/2014/main" id="{A2FBA1A0-6746-0B53-FBD1-67200E31BFAE}"/>
              </a:ext>
            </a:extLst>
          </p:cNvPr>
          <p:cNvSpPr/>
          <p:nvPr/>
        </p:nvSpPr>
        <p:spPr>
          <a:xfrm>
            <a:off x="6896100" y="1511300"/>
            <a:ext cx="228600" cy="228600"/>
          </a:xfrm>
          <a:prstGeom prst="ellipse">
            <a:avLst/>
          </a:prstGeom>
          <a:solidFill>
            <a:srgbClr val="274E13"/>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0" tIns="0" rIns="0" bIns="0" rtlCol="0" anchor="ctr"/>
          <a:lstStyle/>
          <a:p>
            <a:pPr algn="ctr"/>
            <a:r>
              <a:rPr lang="en-MY" sz="900" b="1">
                <a:solidFill>
                  <a:srgbClr val="FFFFFF"/>
                </a:solidFill>
                <a:latin typeface="Montserrat" panose="00000500000000000000" pitchFamily="2" charset="0"/>
              </a:rPr>
              <a:t>5</a:t>
            </a:r>
          </a:p>
        </p:txBody>
      </p:sp>
      <p:sp>
        <p:nvSpPr>
          <p:cNvPr id="24" name="TextBox 23">
            <a:extLst>
              <a:ext uri="{FF2B5EF4-FFF2-40B4-BE49-F238E27FC236}">
                <a16:creationId xmlns:a16="http://schemas.microsoft.com/office/drawing/2014/main" id="{D19124DE-45F9-2D9F-DDA3-571D9D87369A}"/>
              </a:ext>
            </a:extLst>
          </p:cNvPr>
          <p:cNvSpPr txBox="1"/>
          <p:nvPr/>
        </p:nvSpPr>
        <p:spPr>
          <a:xfrm>
            <a:off x="6883400" y="2463800"/>
            <a:ext cx="1168400" cy="431800"/>
          </a:xfrm>
          <a:prstGeom prst="rect">
            <a:avLst/>
          </a:prstGeom>
          <a:noFill/>
        </p:spPr>
        <p:txBody>
          <a:bodyPr vert="horz" wrap="square" lIns="0" tIns="0" rIns="0" bIns="0" rtlCol="0" anchor="ctr">
            <a:noAutofit/>
          </a:bodyPr>
          <a:lstStyle/>
          <a:p>
            <a:pPr algn="ctr"/>
            <a:r>
              <a:rPr lang="en-MY" sz="950" b="1">
                <a:solidFill>
                  <a:srgbClr val="38761D"/>
                </a:solidFill>
                <a:latin typeface="Montserrat SemiBold" panose="00000700000000000000" pitchFamily="2" charset="0"/>
              </a:rPr>
              <a:t>KEEP UPLOADING</a:t>
            </a:r>
          </a:p>
        </p:txBody>
      </p:sp>
      <p:sp>
        <p:nvSpPr>
          <p:cNvPr id="25" name="TextBox 24">
            <a:extLst>
              <a:ext uri="{FF2B5EF4-FFF2-40B4-BE49-F238E27FC236}">
                <a16:creationId xmlns:a16="http://schemas.microsoft.com/office/drawing/2014/main" id="{43528FAA-712D-6ADD-5F15-66AA0BDBFBFA}"/>
              </a:ext>
            </a:extLst>
          </p:cNvPr>
          <p:cNvSpPr txBox="1"/>
          <p:nvPr/>
        </p:nvSpPr>
        <p:spPr>
          <a:xfrm>
            <a:off x="6908800" y="2920999"/>
            <a:ext cx="1117600" cy="711200"/>
          </a:xfrm>
          <a:prstGeom prst="rect">
            <a:avLst/>
          </a:prstGeom>
          <a:noFill/>
        </p:spPr>
        <p:txBody>
          <a:bodyPr vert="horz" wrap="square" lIns="0" tIns="0" rIns="0" bIns="0" rtlCol="0" anchor="t">
            <a:noAutofit/>
          </a:bodyPr>
          <a:lstStyle/>
          <a:p>
            <a:pPr algn="ctr"/>
            <a:r>
              <a:rPr lang="en-US" sz="800">
                <a:solidFill>
                  <a:srgbClr val="274E13"/>
                </a:solidFill>
                <a:latin typeface="Montserrat" panose="00000500000000000000" pitchFamily="2" charset="0"/>
              </a:rPr>
              <a:t>Upload every new SAJI receipt to collect Mata and gain more chances to win.</a:t>
            </a:r>
            <a:endParaRPr lang="en-MY" sz="800">
              <a:solidFill>
                <a:srgbClr val="274E13"/>
              </a:solidFill>
              <a:latin typeface="Montserrat" panose="00000500000000000000" pitchFamily="2" charset="0"/>
            </a:endParaRPr>
          </a:p>
        </p:txBody>
      </p:sp>
      <p:pic>
        <p:nvPicPr>
          <p:cNvPr id="27" name="Picture 26">
            <a:extLst>
              <a:ext uri="{FF2B5EF4-FFF2-40B4-BE49-F238E27FC236}">
                <a16:creationId xmlns:a16="http://schemas.microsoft.com/office/drawing/2014/main" id="{2B270BD4-5BAD-0D18-A2D8-FAF03B80CE29}"/>
              </a:ext>
            </a:extLst>
          </p:cNvPr>
          <p:cNvPicPr>
            <a:picLocks noChangeAspect="1"/>
          </p:cNvPicPr>
          <p:nvPr/>
        </p:nvPicPr>
        <p:blipFill>
          <a:blip r:embed="rId5"/>
          <a:srcRect l="1846" t="11073" r="1449" b="8862"/>
          <a:stretch>
            <a:fillRect/>
          </a:stretch>
        </p:blipFill>
        <p:spPr>
          <a:xfrm>
            <a:off x="1308100" y="1744797"/>
            <a:ext cx="1143000" cy="676006"/>
          </a:xfrm>
          <a:prstGeom prst="rect">
            <a:avLst/>
          </a:prstGeom>
        </p:spPr>
      </p:pic>
      <p:pic>
        <p:nvPicPr>
          <p:cNvPr id="29" name="Picture 28">
            <a:extLst>
              <a:ext uri="{FF2B5EF4-FFF2-40B4-BE49-F238E27FC236}">
                <a16:creationId xmlns:a16="http://schemas.microsoft.com/office/drawing/2014/main" id="{04AE1B1C-F409-F49B-E1BB-EBE32A5897C0}"/>
              </a:ext>
            </a:extLst>
          </p:cNvPr>
          <p:cNvPicPr>
            <a:picLocks noChangeAspect="1"/>
          </p:cNvPicPr>
          <p:nvPr/>
        </p:nvPicPr>
        <p:blipFill>
          <a:blip r:embed="rId6"/>
          <a:stretch>
            <a:fillRect/>
          </a:stretch>
        </p:blipFill>
        <p:spPr>
          <a:xfrm>
            <a:off x="2768600" y="1752600"/>
            <a:ext cx="584200" cy="729990"/>
          </a:xfrm>
          <a:prstGeom prst="rect">
            <a:avLst/>
          </a:prstGeom>
        </p:spPr>
      </p:pic>
      <p:pic>
        <p:nvPicPr>
          <p:cNvPr id="31" name="Picture 30">
            <a:extLst>
              <a:ext uri="{FF2B5EF4-FFF2-40B4-BE49-F238E27FC236}">
                <a16:creationId xmlns:a16="http://schemas.microsoft.com/office/drawing/2014/main" id="{0B1519A4-C269-58F2-6566-C77E6DAE2819}"/>
              </a:ext>
            </a:extLst>
          </p:cNvPr>
          <p:cNvPicPr>
            <a:picLocks noChangeAspect="1"/>
          </p:cNvPicPr>
          <p:nvPr/>
        </p:nvPicPr>
        <p:blipFill>
          <a:blip r:embed="rId7"/>
          <a:stretch>
            <a:fillRect/>
          </a:stretch>
        </p:blipFill>
        <p:spPr>
          <a:xfrm>
            <a:off x="3403600" y="1778000"/>
            <a:ext cx="330200" cy="665117"/>
          </a:xfrm>
          <a:prstGeom prst="rect">
            <a:avLst/>
          </a:prstGeom>
        </p:spPr>
      </p:pic>
      <p:sp>
        <p:nvSpPr>
          <p:cNvPr id="32" name="Rectangle: Rounded Corners 31">
            <a:extLst>
              <a:ext uri="{FF2B5EF4-FFF2-40B4-BE49-F238E27FC236}">
                <a16:creationId xmlns:a16="http://schemas.microsoft.com/office/drawing/2014/main" id="{758EFD5D-034A-C8E9-E7B8-A0D38E637840}"/>
              </a:ext>
            </a:extLst>
          </p:cNvPr>
          <p:cNvSpPr/>
          <p:nvPr/>
        </p:nvSpPr>
        <p:spPr>
          <a:xfrm>
            <a:off x="4216400" y="1854200"/>
            <a:ext cx="431800" cy="4318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4" name="Picture 33">
            <a:extLst>
              <a:ext uri="{FF2B5EF4-FFF2-40B4-BE49-F238E27FC236}">
                <a16:creationId xmlns:a16="http://schemas.microsoft.com/office/drawing/2014/main" id="{6682E11D-EBD4-F81A-8299-EB6FED3A7B45}"/>
              </a:ext>
            </a:extLst>
          </p:cNvPr>
          <p:cNvPicPr>
            <a:picLocks noChangeAspect="1"/>
          </p:cNvPicPr>
          <p:nvPr/>
        </p:nvPicPr>
        <p:blipFill>
          <a:blip r:embed="rId8"/>
          <a:stretch>
            <a:fillRect/>
          </a:stretch>
        </p:blipFill>
        <p:spPr>
          <a:xfrm>
            <a:off x="4302760" y="1941307"/>
            <a:ext cx="259080" cy="257585"/>
          </a:xfrm>
          <a:prstGeom prst="rect">
            <a:avLst/>
          </a:prstGeom>
        </p:spPr>
      </p:pic>
      <p:sp>
        <p:nvSpPr>
          <p:cNvPr id="35" name="Rectangle: Rounded Corners 34">
            <a:extLst>
              <a:ext uri="{FF2B5EF4-FFF2-40B4-BE49-F238E27FC236}">
                <a16:creationId xmlns:a16="http://schemas.microsoft.com/office/drawing/2014/main" id="{322A355C-45E8-C5A3-6164-0D44AD3BBACB}"/>
              </a:ext>
            </a:extLst>
          </p:cNvPr>
          <p:cNvSpPr/>
          <p:nvPr/>
        </p:nvSpPr>
        <p:spPr>
          <a:xfrm>
            <a:off x="4699000" y="1854200"/>
            <a:ext cx="431800" cy="4318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37" name="Picture 36">
            <a:extLst>
              <a:ext uri="{FF2B5EF4-FFF2-40B4-BE49-F238E27FC236}">
                <a16:creationId xmlns:a16="http://schemas.microsoft.com/office/drawing/2014/main" id="{D8ED7156-9872-18FC-619F-62ACF0F8961C}"/>
              </a:ext>
            </a:extLst>
          </p:cNvPr>
          <p:cNvPicPr>
            <a:picLocks noChangeAspect="1"/>
          </p:cNvPicPr>
          <p:nvPr/>
        </p:nvPicPr>
        <p:blipFill>
          <a:blip r:embed="rId9"/>
          <a:stretch>
            <a:fillRect/>
          </a:stretch>
        </p:blipFill>
        <p:spPr>
          <a:xfrm>
            <a:off x="4785360" y="1949962"/>
            <a:ext cx="259080" cy="240276"/>
          </a:xfrm>
          <a:prstGeom prst="rect">
            <a:avLst/>
          </a:prstGeom>
        </p:spPr>
      </p:pic>
      <p:pic>
        <p:nvPicPr>
          <p:cNvPr id="39" name="Picture 38">
            <a:extLst>
              <a:ext uri="{FF2B5EF4-FFF2-40B4-BE49-F238E27FC236}">
                <a16:creationId xmlns:a16="http://schemas.microsoft.com/office/drawing/2014/main" id="{39DCBBAA-D61E-48A3-4411-CAAD565CBD25}"/>
              </a:ext>
            </a:extLst>
          </p:cNvPr>
          <p:cNvPicPr>
            <a:picLocks noChangeAspect="1"/>
          </p:cNvPicPr>
          <p:nvPr/>
        </p:nvPicPr>
        <p:blipFill>
          <a:blip r:embed="rId10"/>
          <a:stretch>
            <a:fillRect/>
          </a:stretch>
        </p:blipFill>
        <p:spPr>
          <a:xfrm>
            <a:off x="5816600" y="1803400"/>
            <a:ext cx="508000" cy="508000"/>
          </a:xfrm>
          <a:prstGeom prst="rect">
            <a:avLst/>
          </a:prstGeom>
        </p:spPr>
      </p:pic>
      <p:sp>
        <p:nvSpPr>
          <p:cNvPr id="40" name="Rectangle: Rounded Corners 39">
            <a:extLst>
              <a:ext uri="{FF2B5EF4-FFF2-40B4-BE49-F238E27FC236}">
                <a16:creationId xmlns:a16="http://schemas.microsoft.com/office/drawing/2014/main" id="{9A7CDEF8-2B21-109B-2F90-361B8CAF7A81}"/>
              </a:ext>
            </a:extLst>
          </p:cNvPr>
          <p:cNvSpPr/>
          <p:nvPr/>
        </p:nvSpPr>
        <p:spPr>
          <a:xfrm>
            <a:off x="6997700" y="1879600"/>
            <a:ext cx="381000" cy="3810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2" name="Picture 41">
            <a:extLst>
              <a:ext uri="{FF2B5EF4-FFF2-40B4-BE49-F238E27FC236}">
                <a16:creationId xmlns:a16="http://schemas.microsoft.com/office/drawing/2014/main" id="{A103B5CA-010B-A84C-3797-A790BBACA5DA}"/>
              </a:ext>
            </a:extLst>
          </p:cNvPr>
          <p:cNvPicPr>
            <a:picLocks noChangeAspect="1"/>
          </p:cNvPicPr>
          <p:nvPr/>
        </p:nvPicPr>
        <p:blipFill>
          <a:blip r:embed="rId9"/>
          <a:stretch>
            <a:fillRect/>
          </a:stretch>
        </p:blipFill>
        <p:spPr>
          <a:xfrm>
            <a:off x="7073900" y="1964096"/>
            <a:ext cx="228600" cy="212008"/>
          </a:xfrm>
          <a:prstGeom prst="rect">
            <a:avLst/>
          </a:prstGeom>
        </p:spPr>
      </p:pic>
      <p:sp>
        <p:nvSpPr>
          <p:cNvPr id="43" name="Rectangle: Rounded Corners 42">
            <a:extLst>
              <a:ext uri="{FF2B5EF4-FFF2-40B4-BE49-F238E27FC236}">
                <a16:creationId xmlns:a16="http://schemas.microsoft.com/office/drawing/2014/main" id="{86A659EA-CFDE-8C1C-19F9-649F69066AC1}"/>
              </a:ext>
            </a:extLst>
          </p:cNvPr>
          <p:cNvSpPr/>
          <p:nvPr/>
        </p:nvSpPr>
        <p:spPr>
          <a:xfrm>
            <a:off x="7226300" y="1879600"/>
            <a:ext cx="381000" cy="3810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5" name="Picture 44">
            <a:extLst>
              <a:ext uri="{FF2B5EF4-FFF2-40B4-BE49-F238E27FC236}">
                <a16:creationId xmlns:a16="http://schemas.microsoft.com/office/drawing/2014/main" id="{0A689553-2979-9C93-A098-782CDBA78BF9}"/>
              </a:ext>
            </a:extLst>
          </p:cNvPr>
          <p:cNvPicPr>
            <a:picLocks noChangeAspect="1"/>
          </p:cNvPicPr>
          <p:nvPr/>
        </p:nvPicPr>
        <p:blipFill>
          <a:blip r:embed="rId9"/>
          <a:stretch>
            <a:fillRect/>
          </a:stretch>
        </p:blipFill>
        <p:spPr>
          <a:xfrm>
            <a:off x="7302500" y="1964096"/>
            <a:ext cx="228600" cy="212008"/>
          </a:xfrm>
          <a:prstGeom prst="rect">
            <a:avLst/>
          </a:prstGeom>
        </p:spPr>
      </p:pic>
      <p:sp>
        <p:nvSpPr>
          <p:cNvPr id="46" name="Rectangle: Rounded Corners 45">
            <a:extLst>
              <a:ext uri="{FF2B5EF4-FFF2-40B4-BE49-F238E27FC236}">
                <a16:creationId xmlns:a16="http://schemas.microsoft.com/office/drawing/2014/main" id="{3233D79E-CB14-4D69-C5AB-3AE10C1C6D30}"/>
              </a:ext>
            </a:extLst>
          </p:cNvPr>
          <p:cNvSpPr/>
          <p:nvPr/>
        </p:nvSpPr>
        <p:spPr>
          <a:xfrm>
            <a:off x="7454900" y="1879600"/>
            <a:ext cx="381000" cy="3810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48" name="Picture 47">
            <a:extLst>
              <a:ext uri="{FF2B5EF4-FFF2-40B4-BE49-F238E27FC236}">
                <a16:creationId xmlns:a16="http://schemas.microsoft.com/office/drawing/2014/main" id="{36BD7746-A856-D920-754B-D4EBFED08560}"/>
              </a:ext>
            </a:extLst>
          </p:cNvPr>
          <p:cNvPicPr>
            <a:picLocks noChangeAspect="1"/>
          </p:cNvPicPr>
          <p:nvPr/>
        </p:nvPicPr>
        <p:blipFill>
          <a:blip r:embed="rId9"/>
          <a:stretch>
            <a:fillRect/>
          </a:stretch>
        </p:blipFill>
        <p:spPr>
          <a:xfrm>
            <a:off x="7531100" y="1964096"/>
            <a:ext cx="228600" cy="212008"/>
          </a:xfrm>
          <a:prstGeom prst="rect">
            <a:avLst/>
          </a:prstGeom>
        </p:spPr>
      </p:pic>
      <p:sp>
        <p:nvSpPr>
          <p:cNvPr id="49" name="Rectangle: Rounded Corners 48">
            <a:extLst>
              <a:ext uri="{FF2B5EF4-FFF2-40B4-BE49-F238E27FC236}">
                <a16:creationId xmlns:a16="http://schemas.microsoft.com/office/drawing/2014/main" id="{E20D5955-05C5-5791-67FE-3CAD8302F49F}"/>
              </a:ext>
            </a:extLst>
          </p:cNvPr>
          <p:cNvSpPr/>
          <p:nvPr/>
        </p:nvSpPr>
        <p:spPr>
          <a:xfrm>
            <a:off x="1244600" y="3810000"/>
            <a:ext cx="1625600" cy="635000"/>
          </a:xfrm>
          <a:prstGeom prst="roundRect">
            <a:avLst>
              <a:gd name="adj" fmla="val 20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lIns="431800" rIns="76200" rtlCol="0" anchor="ctr"/>
          <a:lstStyle/>
          <a:p>
            <a:pPr algn="ctr"/>
            <a:r>
              <a:rPr lang="en-US" sz="850" b="1">
                <a:solidFill>
                  <a:srgbClr val="FFFFFF"/>
                </a:solidFill>
                <a:latin typeface="Montserrat" panose="00000500000000000000" pitchFamily="2" charset="0"/>
              </a:rPr>
              <a:t>CONTEST PAGE</a:t>
            </a:r>
          </a:p>
          <a:p>
            <a:pPr algn="ctr"/>
            <a:r>
              <a:rPr lang="en-US" sz="850">
                <a:solidFill>
                  <a:srgbClr val="FFFFFF"/>
                </a:solidFill>
                <a:latin typeface="Montserrat" panose="00000500000000000000" pitchFamily="2" charset="0"/>
              </a:rPr>
              <a:t>after each upload</a:t>
            </a:r>
            <a:endParaRPr lang="en-MY" sz="850">
              <a:solidFill>
                <a:srgbClr val="FFFFFF"/>
              </a:solidFill>
              <a:latin typeface="Montserrat" panose="00000500000000000000" pitchFamily="2" charset="0"/>
            </a:endParaRPr>
          </a:p>
        </p:txBody>
      </p:sp>
      <p:sp>
        <p:nvSpPr>
          <p:cNvPr id="50" name="Rectangle: Rounded Corners 49">
            <a:extLst>
              <a:ext uri="{FF2B5EF4-FFF2-40B4-BE49-F238E27FC236}">
                <a16:creationId xmlns:a16="http://schemas.microsoft.com/office/drawing/2014/main" id="{A8E1D36D-EC49-71A4-4C02-8AD93ADB57B7}"/>
              </a:ext>
            </a:extLst>
          </p:cNvPr>
          <p:cNvSpPr/>
          <p:nvPr/>
        </p:nvSpPr>
        <p:spPr>
          <a:xfrm>
            <a:off x="1295400" y="3962400"/>
            <a:ext cx="330200" cy="330200"/>
          </a:xfrm>
          <a:prstGeom prst="roundRect">
            <a:avLst>
              <a:gd name="adj" fmla="val 18000"/>
            </a:avLst>
          </a:prstGeom>
          <a:solidFill>
            <a:srgbClr val="006838"/>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pic>
        <p:nvPicPr>
          <p:cNvPr id="52" name="Picture 51">
            <a:extLst>
              <a:ext uri="{FF2B5EF4-FFF2-40B4-BE49-F238E27FC236}">
                <a16:creationId xmlns:a16="http://schemas.microsoft.com/office/drawing/2014/main" id="{47386F53-862B-BEFC-C349-4195A9DA5AEA}"/>
              </a:ext>
            </a:extLst>
          </p:cNvPr>
          <p:cNvPicPr>
            <a:picLocks noChangeAspect="1"/>
          </p:cNvPicPr>
          <p:nvPr/>
        </p:nvPicPr>
        <p:blipFill>
          <a:blip r:embed="rId8"/>
          <a:stretch>
            <a:fillRect/>
          </a:stretch>
        </p:blipFill>
        <p:spPr>
          <a:xfrm>
            <a:off x="1361440" y="4029011"/>
            <a:ext cx="198120" cy="196977"/>
          </a:xfrm>
          <a:prstGeom prst="rect">
            <a:avLst/>
          </a:prstGeom>
        </p:spPr>
      </p:pic>
      <p:cxnSp>
        <p:nvCxnSpPr>
          <p:cNvPr id="53" name="Straight Connector 52">
            <a:extLst>
              <a:ext uri="{FF2B5EF4-FFF2-40B4-BE49-F238E27FC236}">
                <a16:creationId xmlns:a16="http://schemas.microsoft.com/office/drawing/2014/main" id="{6BFE6B16-1F28-ECEE-5A88-3573DEE3AC56}"/>
              </a:ext>
            </a:extLst>
          </p:cNvPr>
          <p:cNvCxnSpPr/>
          <p:nvPr/>
        </p:nvCxnSpPr>
        <p:spPr>
          <a:xfrm>
            <a:off x="2895600" y="4127500"/>
            <a:ext cx="177800" cy="0"/>
          </a:xfrm>
          <a:prstGeom prst="line">
            <a:avLst/>
          </a:prstGeom>
          <a:ln w="19050">
            <a:solidFill>
              <a:srgbClr val="FFFFFF"/>
            </a:solidFill>
            <a:tailEnd type="triangle"/>
          </a:ln>
        </p:spPr>
        <p:style>
          <a:lnRef idx="1">
            <a:schemeClr val="accent1"/>
          </a:lnRef>
          <a:fillRef idx="0">
            <a:schemeClr val="accent1"/>
          </a:fillRef>
          <a:effectRef idx="0">
            <a:schemeClr val="accent1"/>
          </a:effectRef>
          <a:fontRef idx="minor">
            <a:schemeClr val="tx1"/>
          </a:fontRef>
        </p:style>
      </p:cxnSp>
      <p:sp>
        <p:nvSpPr>
          <p:cNvPr id="54" name="Rectangle: Rounded Corners 53">
            <a:extLst>
              <a:ext uri="{FF2B5EF4-FFF2-40B4-BE49-F238E27FC236}">
                <a16:creationId xmlns:a16="http://schemas.microsoft.com/office/drawing/2014/main" id="{95EC8D95-64B4-A66D-CE72-C0C6D1E00A3B}"/>
              </a:ext>
            </a:extLst>
          </p:cNvPr>
          <p:cNvSpPr/>
          <p:nvPr/>
        </p:nvSpPr>
        <p:spPr>
          <a:xfrm>
            <a:off x="3098800" y="3810000"/>
            <a:ext cx="5003800" cy="635000"/>
          </a:xfrm>
          <a:prstGeom prst="roundRect">
            <a:avLst>
              <a:gd name="adj" fmla="val 12000"/>
            </a:avLst>
          </a:prstGeom>
          <a:solidFill>
            <a:srgbClr val="FFFF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5" name="TextBox 54">
            <a:extLst>
              <a:ext uri="{FF2B5EF4-FFF2-40B4-BE49-F238E27FC236}">
                <a16:creationId xmlns:a16="http://schemas.microsoft.com/office/drawing/2014/main" id="{82CAF318-73E4-3BAF-ADBA-72F4D8C5173B}"/>
              </a:ext>
            </a:extLst>
          </p:cNvPr>
          <p:cNvSpPr txBox="1"/>
          <p:nvPr/>
        </p:nvSpPr>
        <p:spPr>
          <a:xfrm>
            <a:off x="3251200" y="3873499"/>
            <a:ext cx="889000" cy="152400"/>
          </a:xfrm>
          <a:prstGeom prst="rect">
            <a:avLst/>
          </a:prstGeom>
          <a:noFill/>
        </p:spPr>
        <p:txBody>
          <a:bodyPr vert="horz" wrap="square" lIns="0" tIns="0" rIns="0" bIns="0" rtlCol="0" anchor="ctr">
            <a:noAutofit/>
          </a:bodyPr>
          <a:lstStyle/>
          <a:p>
            <a:r>
              <a:rPr lang="en-MY" sz="800" b="1">
                <a:solidFill>
                  <a:srgbClr val="38761D"/>
                </a:solidFill>
                <a:latin typeface="Montserrat SemiBold" panose="00000700000000000000" pitchFamily="2" charset="0"/>
              </a:rPr>
              <a:t>MY MATA</a:t>
            </a:r>
          </a:p>
        </p:txBody>
      </p:sp>
      <p:sp>
        <p:nvSpPr>
          <p:cNvPr id="56" name="TextBox 55">
            <a:extLst>
              <a:ext uri="{FF2B5EF4-FFF2-40B4-BE49-F238E27FC236}">
                <a16:creationId xmlns:a16="http://schemas.microsoft.com/office/drawing/2014/main" id="{C932FB69-67B4-2378-6627-699011991F17}"/>
              </a:ext>
            </a:extLst>
          </p:cNvPr>
          <p:cNvSpPr txBox="1"/>
          <p:nvPr/>
        </p:nvSpPr>
        <p:spPr>
          <a:xfrm>
            <a:off x="3251200" y="4013200"/>
            <a:ext cx="635000" cy="355600"/>
          </a:xfrm>
          <a:prstGeom prst="rect">
            <a:avLst/>
          </a:prstGeom>
          <a:noFill/>
        </p:spPr>
        <p:txBody>
          <a:bodyPr vert="horz" wrap="square" lIns="0" tIns="0" rIns="0" bIns="0" rtlCol="0" anchor="ctr">
            <a:noAutofit/>
          </a:bodyPr>
          <a:lstStyle/>
          <a:p>
            <a:r>
              <a:rPr lang="en-MY" sz="2200" b="1">
                <a:solidFill>
                  <a:srgbClr val="274E13"/>
                </a:solidFill>
                <a:latin typeface="Montserrat ExtraBold" panose="00000900000000000000" pitchFamily="2" charset="0"/>
              </a:rPr>
              <a:t>40</a:t>
            </a:r>
          </a:p>
        </p:txBody>
      </p:sp>
      <p:sp>
        <p:nvSpPr>
          <p:cNvPr id="57" name="TextBox 56">
            <a:extLst>
              <a:ext uri="{FF2B5EF4-FFF2-40B4-BE49-F238E27FC236}">
                <a16:creationId xmlns:a16="http://schemas.microsoft.com/office/drawing/2014/main" id="{05131DC4-B2D6-9062-F22A-973EA9096D9E}"/>
              </a:ext>
            </a:extLst>
          </p:cNvPr>
          <p:cNvSpPr txBox="1"/>
          <p:nvPr/>
        </p:nvSpPr>
        <p:spPr>
          <a:xfrm>
            <a:off x="3683000" y="4114799"/>
            <a:ext cx="381000" cy="177800"/>
          </a:xfrm>
          <a:prstGeom prst="rect">
            <a:avLst/>
          </a:prstGeom>
          <a:noFill/>
        </p:spPr>
        <p:txBody>
          <a:bodyPr vert="horz" wrap="square" lIns="0" tIns="0" rIns="0" bIns="0" rtlCol="0" anchor="ctr">
            <a:noAutofit/>
          </a:bodyPr>
          <a:lstStyle/>
          <a:p>
            <a:r>
              <a:rPr lang="en-MY" sz="800">
                <a:solidFill>
                  <a:srgbClr val="274E13"/>
                </a:solidFill>
                <a:latin typeface="Montserrat" panose="00000500000000000000" pitchFamily="2" charset="0"/>
              </a:rPr>
              <a:t>Mata</a:t>
            </a:r>
          </a:p>
        </p:txBody>
      </p:sp>
      <p:sp>
        <p:nvSpPr>
          <p:cNvPr id="58" name="TextBox 57">
            <a:extLst>
              <a:ext uri="{FF2B5EF4-FFF2-40B4-BE49-F238E27FC236}">
                <a16:creationId xmlns:a16="http://schemas.microsoft.com/office/drawing/2014/main" id="{C52D8A54-6F08-128C-A2B2-6265FE36B934}"/>
              </a:ext>
            </a:extLst>
          </p:cNvPr>
          <p:cNvSpPr txBox="1"/>
          <p:nvPr/>
        </p:nvSpPr>
        <p:spPr>
          <a:xfrm>
            <a:off x="4267200" y="3860799"/>
            <a:ext cx="3683000" cy="152400"/>
          </a:xfrm>
          <a:prstGeom prst="rect">
            <a:avLst/>
          </a:prstGeom>
          <a:noFill/>
        </p:spPr>
        <p:txBody>
          <a:bodyPr vert="horz" wrap="square" lIns="0" tIns="0" rIns="0" bIns="0" rtlCol="0" anchor="ctr">
            <a:noAutofit/>
          </a:bodyPr>
          <a:lstStyle/>
          <a:p>
            <a:r>
              <a:rPr lang="en-MY" sz="850" b="1">
                <a:solidFill>
                  <a:srgbClr val="274E13"/>
                </a:solidFill>
                <a:latin typeface="Montserrat SemiBold" panose="00000700000000000000" pitchFamily="2" charset="0"/>
              </a:rPr>
              <a:t>1 entry so far</a:t>
            </a:r>
          </a:p>
        </p:txBody>
      </p:sp>
      <p:sp>
        <p:nvSpPr>
          <p:cNvPr id="59" name="Rectangle: Rounded Corners 58">
            <a:extLst>
              <a:ext uri="{FF2B5EF4-FFF2-40B4-BE49-F238E27FC236}">
                <a16:creationId xmlns:a16="http://schemas.microsoft.com/office/drawing/2014/main" id="{F4233878-B752-6B58-3498-4BFAABC9B06F}"/>
              </a:ext>
            </a:extLst>
          </p:cNvPr>
          <p:cNvSpPr/>
          <p:nvPr/>
        </p:nvSpPr>
        <p:spPr>
          <a:xfrm>
            <a:off x="4267200" y="4051300"/>
            <a:ext cx="3683000" cy="114300"/>
          </a:xfrm>
          <a:prstGeom prst="roundRect">
            <a:avLst>
              <a:gd name="adj" fmla="val 50000"/>
            </a:avLst>
          </a:prstGeom>
          <a:solidFill>
            <a:srgbClr val="D9E8D9"/>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0" name="Rectangle: Rounded Corners 59">
            <a:extLst>
              <a:ext uri="{FF2B5EF4-FFF2-40B4-BE49-F238E27FC236}">
                <a16:creationId xmlns:a16="http://schemas.microsoft.com/office/drawing/2014/main" id="{E154B67E-60F7-0B8C-B9AF-70167C46F126}"/>
              </a:ext>
            </a:extLst>
          </p:cNvPr>
          <p:cNvSpPr/>
          <p:nvPr/>
        </p:nvSpPr>
        <p:spPr>
          <a:xfrm>
            <a:off x="4267200" y="4051300"/>
            <a:ext cx="2209800" cy="114300"/>
          </a:xfrm>
          <a:prstGeom prst="roundRect">
            <a:avLst>
              <a:gd name="adj" fmla="val 50000"/>
            </a:avLst>
          </a:prstGeom>
          <a:solidFill>
            <a:srgbClr val="F5EC2E"/>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1" name="TextBox 60">
            <a:extLst>
              <a:ext uri="{FF2B5EF4-FFF2-40B4-BE49-F238E27FC236}">
                <a16:creationId xmlns:a16="http://schemas.microsoft.com/office/drawing/2014/main" id="{F1277E75-2EB7-9A53-FF79-DE1841ACCD1B}"/>
              </a:ext>
            </a:extLst>
          </p:cNvPr>
          <p:cNvSpPr txBox="1"/>
          <p:nvPr/>
        </p:nvSpPr>
        <p:spPr>
          <a:xfrm>
            <a:off x="4267200" y="4216400"/>
            <a:ext cx="3683000" cy="177800"/>
          </a:xfrm>
          <a:prstGeom prst="rect">
            <a:avLst/>
          </a:prstGeom>
          <a:noFill/>
        </p:spPr>
        <p:txBody>
          <a:bodyPr vert="horz" wrap="square" lIns="0" tIns="0" rIns="0" bIns="0" rtlCol="0" anchor="ctr">
            <a:noAutofit/>
          </a:bodyPr>
          <a:lstStyle/>
          <a:p>
            <a:r>
              <a:rPr lang="en-US" sz="750">
                <a:solidFill>
                  <a:srgbClr val="274E13"/>
                </a:solidFill>
                <a:latin typeface="Montserrat" panose="00000500000000000000" pitchFamily="2" charset="0"/>
              </a:rPr>
              <a:t>Buy RM10 more of SAJI and upload the receipt for your next entry.</a:t>
            </a:r>
            <a:endParaRPr lang="en-MY" sz="750">
              <a:solidFill>
                <a:srgbClr val="274E13"/>
              </a:solidFill>
              <a:latin typeface="Montserrat" panose="00000500000000000000" pitchFamily="2" charset="0"/>
            </a:endParaRPr>
          </a:p>
        </p:txBody>
      </p:sp>
    </p:spTree>
    <p:extLst>
      <p:ext uri="{BB962C8B-B14F-4D97-AF65-F5344CB8AC3E}">
        <p14:creationId xmlns:p14="http://schemas.microsoft.com/office/powerpoint/2010/main" val="33436221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825</Words>
  <Application>Microsoft Office PowerPoint</Application>
  <PresentationFormat>On-screen Show (16:9)</PresentationFormat>
  <Paragraphs>92</Paragraphs>
  <Slides>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Caveat</vt:lpstr>
      <vt:lpstr>Arial</vt:lpstr>
      <vt:lpstr>Montserrat ExtraBold</vt:lpstr>
      <vt:lpstr>Helvetica Neue</vt:lpstr>
      <vt:lpstr>Montserrat</vt:lpstr>
      <vt:lpstr>Montserrat SemiBold</vt:lpstr>
      <vt:lpstr>Simple Light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HA112391@365mmt.com</cp:lastModifiedBy>
  <cp:revision>1</cp:revision>
  <dcterms:modified xsi:type="dcterms:W3CDTF">2026-10-14T13:58:03Z</dcterms:modified>
</cp:coreProperties>
</file>