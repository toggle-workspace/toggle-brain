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52B18"/>
        </a:solidFill>
        <a:effectLst/>
      </p:bgPr>
    </p:bg>
    <p:spTree>
      <p:nvGrpSpPr>
        <p:cNvPr id="1" name=""/>
        <p:cNvGrpSpPr/>
        <p:nvPr/>
      </p:nvGrpSpPr>
      <p:grpSpPr/>
      <p:sp>
        <p:nvSpPr>
          <p:cNvPr id="2" name="Rectangle 1"/>
          <p:cNvSpPr/>
          <p:nvPr/>
        </p:nvSpPr>
        <p:spPr>
          <a:xfrm>
            <a:off x="0" y="0"/>
            <a:ext cx="128016" cy="5143500"/>
          </a:xfrm>
          <a:prstGeom prst="rect">
            <a:avLst/>
          </a:prstGeom>
          <a:solidFill>
            <a:srgbClr val="C51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 name="Rectangle 2"/>
          <p:cNvSpPr/>
          <p:nvPr/>
        </p:nvSpPr>
        <p:spPr>
          <a:xfrm>
            <a:off x="640080" y="1115568"/>
            <a:ext cx="310896" cy="64008"/>
          </a:xfrm>
          <a:prstGeom prst="rect">
            <a:avLst/>
          </a:prstGeom>
          <a:solidFill>
            <a:srgbClr val="F8C8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 name="TextBox 3"/>
          <p:cNvSpPr txBox="1"/>
          <p:nvPr/>
        </p:nvSpPr>
        <p:spPr>
          <a:xfrm>
            <a:off x="640080" y="1353312"/>
            <a:ext cx="6400800" cy="237744"/>
          </a:xfrm>
          <a:prstGeom prst="rect">
            <a:avLst/>
          </a:prstGeom>
          <a:noFill/>
        </p:spPr>
        <p:txBody>
          <a:bodyPr wrap="square" lIns="0" rIns="0" tIns="0" bIns="0" anchor="t">
            <a:noAutofit/>
          </a:bodyPr>
          <a:lstStyle/>
          <a:p>
            <a:pPr algn="l">
              <a:lnSpc>
                <a:spcPct val="92000"/>
              </a:lnSpc>
            </a:pPr>
            <a:r>
              <a:rPr sz="950" b="1">
                <a:solidFill>
                  <a:srgbClr val="F8C84A"/>
                </a:solidFill>
                <a:latin typeface="Arial"/>
              </a:rPr>
              <a:t>RAMADAN RAYA 2027  ·  PROPOSAL REV3  ·  28 SEPTEMBER 2026</a:t>
            </a:r>
          </a:p>
        </p:txBody>
      </p:sp>
      <p:sp>
        <p:nvSpPr>
          <p:cNvPr id="5" name="TextBox 4"/>
          <p:cNvSpPr txBox="1"/>
          <p:nvPr/>
        </p:nvSpPr>
        <p:spPr>
          <a:xfrm>
            <a:off x="640080" y="1737360"/>
            <a:ext cx="7680960" cy="1005840"/>
          </a:xfrm>
          <a:prstGeom prst="rect">
            <a:avLst/>
          </a:prstGeom>
          <a:noFill/>
        </p:spPr>
        <p:txBody>
          <a:bodyPr wrap="square" lIns="0" rIns="0" tIns="0" bIns="0" anchor="t">
            <a:noAutofit/>
          </a:bodyPr>
          <a:lstStyle/>
          <a:p>
            <a:pPr algn="l">
              <a:lnSpc>
                <a:spcPct val="94000"/>
              </a:lnSpc>
            </a:pPr>
            <a:r>
              <a:rPr sz="4400" b="0">
                <a:solidFill>
                  <a:srgbClr val="FFFFFF"/>
                </a:solidFill>
                <a:latin typeface="Arial Black"/>
              </a:rPr>
              <a:t>TerSaji Raya 2027</a:t>
            </a:r>
          </a:p>
        </p:txBody>
      </p:sp>
      <p:sp>
        <p:nvSpPr>
          <p:cNvPr id="6" name="TextBox 5"/>
          <p:cNvSpPr txBox="1"/>
          <p:nvPr/>
        </p:nvSpPr>
        <p:spPr>
          <a:xfrm>
            <a:off x="640080" y="2487168"/>
            <a:ext cx="7680960" cy="402336"/>
          </a:xfrm>
          <a:prstGeom prst="rect">
            <a:avLst/>
          </a:prstGeom>
          <a:noFill/>
        </p:spPr>
        <p:txBody>
          <a:bodyPr wrap="square" lIns="0" rIns="0" tIns="0" bIns="0" anchor="t">
            <a:noAutofit/>
          </a:bodyPr>
          <a:lstStyle/>
          <a:p>
            <a:pPr algn="l">
              <a:lnSpc>
                <a:spcPct val="100000"/>
              </a:lnSpc>
            </a:pPr>
            <a:r>
              <a:rPr sz="1900" b="0">
                <a:solidFill>
                  <a:srgbClr val="FFFFFF"/>
                </a:solidFill>
                <a:latin typeface="Arial"/>
              </a:rPr>
              <a:t>Digital Advertising Proposal</a:t>
            </a:r>
          </a:p>
        </p:txBody>
      </p:sp>
      <p:sp>
        <p:nvSpPr>
          <p:cNvPr id="7" name="TextBox 6"/>
          <p:cNvSpPr txBox="1"/>
          <p:nvPr/>
        </p:nvSpPr>
        <p:spPr>
          <a:xfrm>
            <a:off x="640080" y="2999232"/>
            <a:ext cx="7680960" cy="804672"/>
          </a:xfrm>
          <a:prstGeom prst="rect">
            <a:avLst/>
          </a:prstGeom>
          <a:noFill/>
        </p:spPr>
        <p:txBody>
          <a:bodyPr wrap="square" lIns="0" rIns="0" tIns="0" bIns="0" anchor="t">
            <a:noAutofit/>
          </a:bodyPr>
          <a:lstStyle/>
          <a:p>
            <a:pPr algn="l">
              <a:lnSpc>
                <a:spcPct val="122000"/>
              </a:lnSpc>
            </a:pPr>
            <a:r>
              <a:rPr sz="1350" b="0">
                <a:solidFill>
                  <a:srgbClr val="F8C84A"/>
                </a:solidFill>
                <a:latin typeface="Arial"/>
              </a:rPr>
              <a:t>Rebuilding the Buy and Win contest as a point system that earns with or without Bulan Bintang, and funding the brand film apart from it.</a:t>
            </a:r>
          </a:p>
        </p:txBody>
      </p:sp>
      <p:sp>
        <p:nvSpPr>
          <p:cNvPr id="8" name="Rectangle 7"/>
          <p:cNvSpPr/>
          <p:nvPr/>
        </p:nvSpPr>
        <p:spPr>
          <a:xfrm>
            <a:off x="640080" y="4041648"/>
            <a:ext cx="7863840" cy="18288"/>
          </a:xfrm>
          <a:prstGeom prst="rect">
            <a:avLst/>
          </a:prstGeom>
          <a:solidFill>
            <a:srgbClr val="1D4A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9" name="TextBox 8"/>
          <p:cNvSpPr txBox="1"/>
          <p:nvPr/>
        </p:nvSpPr>
        <p:spPr>
          <a:xfrm>
            <a:off x="640080" y="4206240"/>
            <a:ext cx="7863840" cy="274320"/>
          </a:xfrm>
          <a:prstGeom prst="rect">
            <a:avLst/>
          </a:prstGeom>
          <a:noFill/>
        </p:spPr>
        <p:txBody>
          <a:bodyPr wrap="square" lIns="0" rIns="0" tIns="0" bIns="0" anchor="t">
            <a:noAutofit/>
          </a:bodyPr>
          <a:lstStyle/>
          <a:p>
            <a:pPr algn="l">
              <a:lnSpc>
                <a:spcPct val="92000"/>
              </a:lnSpc>
            </a:pPr>
            <a:r>
              <a:rPr sz="1000" b="0">
                <a:solidFill>
                  <a:srgbClr val="9FBFA9"/>
                </a:solidFill>
                <a:latin typeface="Arial"/>
              </a:rPr>
              <a:t>Saji  x  Bulan Bintang   ·   Prepared by Toggle Solutions for COO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AEC"/>
        </a:solidFill>
        <a:effectLst/>
      </p:bgPr>
    </p:bg>
    <p:spTree>
      <p:nvGrpSpPr>
        <p:cNvPr id="1" name=""/>
        <p:cNvGrpSpPr/>
        <p:nvPr/>
      </p:nvGrpSpPr>
      <p:grpSpPr/>
      <p:sp>
        <p:nvSpPr>
          <p:cNvPr id="2" name="Rectangle 1"/>
          <p:cNvSpPr/>
          <p:nvPr/>
        </p:nvSpPr>
        <p:spPr>
          <a:xfrm>
            <a:off x="512064" y="365760"/>
            <a:ext cx="219456" cy="73152"/>
          </a:xfrm>
          <a:prstGeom prst="rect">
            <a:avLst/>
          </a:prstGeom>
          <a:solidFill>
            <a:srgbClr val="C51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 name="TextBox 2"/>
          <p:cNvSpPr txBox="1"/>
          <p:nvPr/>
        </p:nvSpPr>
        <p:spPr>
          <a:xfrm>
            <a:off x="512064" y="566928"/>
            <a:ext cx="8119872" cy="475488"/>
          </a:xfrm>
          <a:prstGeom prst="rect">
            <a:avLst/>
          </a:prstGeom>
          <a:noFill/>
        </p:spPr>
        <p:txBody>
          <a:bodyPr wrap="square" lIns="0" rIns="0" tIns="0" bIns="0" anchor="t">
            <a:noAutofit/>
          </a:bodyPr>
          <a:lstStyle/>
          <a:p>
            <a:pPr algn="l">
              <a:lnSpc>
                <a:spcPct val="96000"/>
              </a:lnSpc>
            </a:pPr>
            <a:r>
              <a:rPr sz="2400" b="0">
                <a:solidFill>
                  <a:srgbClr val="006838"/>
                </a:solidFill>
                <a:latin typeface="Arial Black"/>
              </a:rPr>
              <a:t>Three meetings moved the brief.</a:t>
            </a:r>
          </a:p>
        </p:txBody>
      </p:sp>
      <p:sp>
        <p:nvSpPr>
          <p:cNvPr id="4" name="TextBox 3"/>
          <p:cNvSpPr txBox="1"/>
          <p:nvPr/>
        </p:nvSpPr>
        <p:spPr>
          <a:xfrm>
            <a:off x="512064" y="1060704"/>
            <a:ext cx="8119872" cy="365760"/>
          </a:xfrm>
          <a:prstGeom prst="rect">
            <a:avLst/>
          </a:prstGeom>
          <a:noFill/>
        </p:spPr>
        <p:txBody>
          <a:bodyPr wrap="square" lIns="0" rIns="0" tIns="0" bIns="0" anchor="t">
            <a:noAutofit/>
          </a:bodyPr>
          <a:lstStyle/>
          <a:p>
            <a:pPr algn="l">
              <a:lnSpc>
                <a:spcPct val="112000"/>
              </a:lnSpc>
            </a:pPr>
            <a:r>
              <a:rPr sz="1100" b="0">
                <a:solidFill>
                  <a:srgbClr val="6E8A76"/>
                </a:solidFill>
                <a:latin typeface="Arial"/>
              </a:rPr>
              <a:t>rev2 was written on 15 September. The two discussions that matter most happened after it, so this deck rebuilds the mechanic and keeps the measurement argument.</a:t>
            </a:r>
          </a:p>
        </p:txBody>
      </p:sp>
      <p:sp>
        <p:nvSpPr>
          <p:cNvPr id="5" name="Rectangle 4"/>
          <p:cNvSpPr/>
          <p:nvPr/>
        </p:nvSpPr>
        <p:spPr>
          <a:xfrm>
            <a:off x="512064" y="1659780"/>
            <a:ext cx="2584704" cy="2345817"/>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Rectangle 5"/>
          <p:cNvSpPr/>
          <p:nvPr/>
        </p:nvSpPr>
        <p:spPr>
          <a:xfrm>
            <a:off x="512064" y="1659780"/>
            <a:ext cx="2584704" cy="54864"/>
          </a:xfrm>
          <a:prstGeom prst="rect">
            <a:avLst/>
          </a:prstGeom>
          <a:solidFill>
            <a:srgbClr val="E891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7" name="TextBox 6"/>
          <p:cNvSpPr txBox="1"/>
          <p:nvPr/>
        </p:nvSpPr>
        <p:spPr>
          <a:xfrm>
            <a:off x="676656" y="1842660"/>
            <a:ext cx="2255520" cy="182880"/>
          </a:xfrm>
          <a:prstGeom prst="rect">
            <a:avLst/>
          </a:prstGeom>
          <a:noFill/>
        </p:spPr>
        <p:txBody>
          <a:bodyPr wrap="square" lIns="0" rIns="0" tIns="0" bIns="0" anchor="t">
            <a:noAutofit/>
          </a:bodyPr>
          <a:lstStyle/>
          <a:p>
            <a:pPr algn="l">
              <a:lnSpc>
                <a:spcPct val="100000"/>
              </a:lnSpc>
            </a:pPr>
            <a:r>
              <a:rPr sz="800" b="1">
                <a:solidFill>
                  <a:srgbClr val="6E8A76"/>
                </a:solidFill>
                <a:latin typeface="Arial"/>
              </a:rPr>
              <a:t>22 SEPTEMBER, JOINT MEETING</a:t>
            </a:r>
          </a:p>
        </p:txBody>
      </p:sp>
      <p:sp>
        <p:nvSpPr>
          <p:cNvPr id="8" name="TextBox 7"/>
          <p:cNvSpPr txBox="1"/>
          <p:nvPr/>
        </p:nvSpPr>
        <p:spPr>
          <a:xfrm>
            <a:off x="676656" y="2052972"/>
            <a:ext cx="2255520" cy="207264"/>
          </a:xfrm>
          <a:prstGeom prst="rect">
            <a:avLst/>
          </a:prstGeom>
          <a:noFill/>
        </p:spPr>
        <p:txBody>
          <a:bodyPr wrap="square" lIns="0" rIns="0" tIns="0" bIns="0" anchor="t">
            <a:noAutofit/>
          </a:bodyPr>
          <a:lstStyle/>
          <a:p>
            <a:pPr algn="l">
              <a:lnSpc>
                <a:spcPct val="96000"/>
              </a:lnSpc>
            </a:pPr>
            <a:r>
              <a:rPr sz="1250" b="0">
                <a:solidFill>
                  <a:srgbClr val="006838"/>
                </a:solidFill>
                <a:latin typeface="Arial Black"/>
              </a:rPr>
              <a:t>The partner got expensive</a:t>
            </a:r>
          </a:p>
        </p:txBody>
      </p:sp>
      <p:sp>
        <p:nvSpPr>
          <p:cNvPr id="9" name="TextBox 8"/>
          <p:cNvSpPr txBox="1"/>
          <p:nvPr/>
        </p:nvSpPr>
        <p:spPr>
          <a:xfrm>
            <a:off x="676656" y="2260236"/>
            <a:ext cx="2255520" cy="164592"/>
          </a:xfrm>
          <a:prstGeom prst="rect">
            <a:avLst/>
          </a:prstGeom>
          <a:noFill/>
        </p:spPr>
        <p:txBody>
          <a:bodyPr wrap="square" lIns="0" rIns="0" tIns="0" bIns="0" anchor="t">
            <a:noAutofit/>
          </a:bodyPr>
          <a:lstStyle/>
          <a:p>
            <a:pPr algn="l">
              <a:lnSpc>
                <a:spcPct val="100000"/>
              </a:lnSpc>
            </a:pPr>
            <a:r>
              <a:rPr sz="750" b="1">
                <a:solidFill>
                  <a:srgbClr val="E8912C"/>
                </a:solidFill>
                <a:latin typeface="Arial"/>
              </a:rPr>
              <a:t>WHAT WAS TABLED</a:t>
            </a:r>
          </a:p>
        </p:txBody>
      </p:sp>
      <p:sp>
        <p:nvSpPr>
          <p:cNvPr id="10" name="TextBox 9"/>
          <p:cNvSpPr txBox="1"/>
          <p:nvPr/>
        </p:nvSpPr>
        <p:spPr>
          <a:xfrm>
            <a:off x="676656" y="2452260"/>
            <a:ext cx="2255520" cy="424052"/>
          </a:xfrm>
          <a:prstGeom prst="rect">
            <a:avLst/>
          </a:prstGeom>
          <a:noFill/>
        </p:spPr>
        <p:txBody>
          <a:bodyPr wrap="square" lIns="0" rIns="0" tIns="0" bIns="0" anchor="t">
            <a:noAutofit/>
          </a:bodyPr>
          <a:lstStyle/>
          <a:p>
            <a:pPr algn="l">
              <a:lnSpc>
                <a:spcPct val="114000"/>
              </a:lnSpc>
            </a:pPr>
            <a:r>
              <a:rPr sz="850" b="0">
                <a:solidFill>
                  <a:srgbClr val="1F3326"/>
                </a:solidFill>
                <a:latin typeface="Arial"/>
              </a:rPr>
              <a:t>Bulan Bintang put a title sponsorship on the table with a floor of RM1.5M in value, split 40% product and 60% cash.</a:t>
            </a:r>
          </a:p>
        </p:txBody>
      </p:sp>
      <p:sp>
        <p:nvSpPr>
          <p:cNvPr id="11" name="TextBox 10"/>
          <p:cNvSpPr txBox="1"/>
          <p:nvPr/>
        </p:nvSpPr>
        <p:spPr>
          <a:xfrm>
            <a:off x="676656" y="2922033"/>
            <a:ext cx="2255520" cy="164592"/>
          </a:xfrm>
          <a:prstGeom prst="rect">
            <a:avLst/>
          </a:prstGeom>
          <a:noFill/>
        </p:spPr>
        <p:txBody>
          <a:bodyPr wrap="square" lIns="0" rIns="0" tIns="0" bIns="0" anchor="t">
            <a:noAutofit/>
          </a:bodyPr>
          <a:lstStyle/>
          <a:p>
            <a:pPr algn="l">
              <a:lnSpc>
                <a:spcPct val="100000"/>
              </a:lnSpc>
            </a:pPr>
            <a:r>
              <a:rPr sz="750" b="1">
                <a:solidFill>
                  <a:srgbClr val="E8912C"/>
                </a:solidFill>
                <a:latin typeface="Arial"/>
              </a:rPr>
              <a:t>WHAT SAJI COMMITTED</a:t>
            </a:r>
          </a:p>
        </p:txBody>
      </p:sp>
      <p:sp>
        <p:nvSpPr>
          <p:cNvPr id="12" name="TextBox 11"/>
          <p:cNvSpPr txBox="1"/>
          <p:nvPr/>
        </p:nvSpPr>
        <p:spPr>
          <a:xfrm>
            <a:off x="676656" y="3114057"/>
            <a:ext cx="2255520" cy="424052"/>
          </a:xfrm>
          <a:prstGeom prst="rect">
            <a:avLst/>
          </a:prstGeom>
          <a:noFill/>
        </p:spPr>
        <p:txBody>
          <a:bodyPr wrap="square" lIns="0" rIns="0" tIns="0" bIns="0" anchor="t">
            <a:noAutofit/>
          </a:bodyPr>
          <a:lstStyle/>
          <a:p>
            <a:pPr algn="l">
              <a:lnSpc>
                <a:spcPct val="114000"/>
              </a:lnSpc>
            </a:pPr>
            <a:r>
              <a:rPr sz="850" b="0">
                <a:solidFill>
                  <a:srgbClr val="1F3326"/>
                </a:solidFill>
                <a:latin typeface="Arial"/>
              </a:rPr>
              <a:t>300,000 sampling packs worth roughly RM500,000 into Bulan Bintang packaging, plus the pop-up kiosk idea.</a:t>
            </a:r>
          </a:p>
        </p:txBody>
      </p:sp>
      <p:sp>
        <p:nvSpPr>
          <p:cNvPr id="13" name="Rectangle 12"/>
          <p:cNvSpPr/>
          <p:nvPr/>
        </p:nvSpPr>
        <p:spPr>
          <a:xfrm>
            <a:off x="3279648" y="1659780"/>
            <a:ext cx="2584704" cy="2345817"/>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4" name="Rectangle 13"/>
          <p:cNvSpPr/>
          <p:nvPr/>
        </p:nvSpPr>
        <p:spPr>
          <a:xfrm>
            <a:off x="3279648" y="1659780"/>
            <a:ext cx="2584704" cy="54864"/>
          </a:xfrm>
          <a:prstGeom prst="rect">
            <a:avLst/>
          </a:prstGeom>
          <a:solidFill>
            <a:srgbClr val="C51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5" name="TextBox 14"/>
          <p:cNvSpPr txBox="1"/>
          <p:nvPr/>
        </p:nvSpPr>
        <p:spPr>
          <a:xfrm>
            <a:off x="3444240" y="1842660"/>
            <a:ext cx="2255520" cy="182880"/>
          </a:xfrm>
          <a:prstGeom prst="rect">
            <a:avLst/>
          </a:prstGeom>
          <a:noFill/>
        </p:spPr>
        <p:txBody>
          <a:bodyPr wrap="square" lIns="0" rIns="0" tIns="0" bIns="0" anchor="t">
            <a:noAutofit/>
          </a:bodyPr>
          <a:lstStyle/>
          <a:p>
            <a:pPr algn="l">
              <a:lnSpc>
                <a:spcPct val="100000"/>
              </a:lnSpc>
            </a:pPr>
            <a:r>
              <a:rPr sz="800" b="1">
                <a:solidFill>
                  <a:srgbClr val="6E8A76"/>
                </a:solidFill>
                <a:latin typeface="Arial"/>
              </a:rPr>
              <a:t>24 SEPTEMBER, COO INTERNAL</a:t>
            </a:r>
          </a:p>
        </p:txBody>
      </p:sp>
      <p:sp>
        <p:nvSpPr>
          <p:cNvPr id="16" name="TextBox 15"/>
          <p:cNvSpPr txBox="1"/>
          <p:nvPr/>
        </p:nvSpPr>
        <p:spPr>
          <a:xfrm>
            <a:off x="3444240" y="2052972"/>
            <a:ext cx="2255520" cy="207264"/>
          </a:xfrm>
          <a:prstGeom prst="rect">
            <a:avLst/>
          </a:prstGeom>
          <a:noFill/>
        </p:spPr>
        <p:txBody>
          <a:bodyPr wrap="square" lIns="0" rIns="0" tIns="0" bIns="0" anchor="t">
            <a:noAutofit/>
          </a:bodyPr>
          <a:lstStyle/>
          <a:p>
            <a:pPr algn="l">
              <a:lnSpc>
                <a:spcPct val="96000"/>
              </a:lnSpc>
            </a:pPr>
            <a:r>
              <a:rPr sz="1250" b="0">
                <a:solidFill>
                  <a:srgbClr val="006838"/>
                </a:solidFill>
                <a:latin typeface="Arial Black"/>
              </a:rPr>
              <a:t>Saji narrowed the ask</a:t>
            </a:r>
          </a:p>
        </p:txBody>
      </p:sp>
      <p:sp>
        <p:nvSpPr>
          <p:cNvPr id="17" name="TextBox 16"/>
          <p:cNvSpPr txBox="1"/>
          <p:nvPr/>
        </p:nvSpPr>
        <p:spPr>
          <a:xfrm>
            <a:off x="3444240" y="2260236"/>
            <a:ext cx="2255520" cy="164592"/>
          </a:xfrm>
          <a:prstGeom prst="rect">
            <a:avLst/>
          </a:prstGeom>
          <a:noFill/>
        </p:spPr>
        <p:txBody>
          <a:bodyPr wrap="square" lIns="0" rIns="0" tIns="0" bIns="0" anchor="t">
            <a:noAutofit/>
          </a:bodyPr>
          <a:lstStyle/>
          <a:p>
            <a:pPr algn="l">
              <a:lnSpc>
                <a:spcPct val="100000"/>
              </a:lnSpc>
            </a:pPr>
            <a:r>
              <a:rPr sz="750" b="1">
                <a:solidFill>
                  <a:srgbClr val="E8912C"/>
                </a:solidFill>
                <a:latin typeface="Arial"/>
              </a:rPr>
              <a:t>THEIR POSITION</a:t>
            </a:r>
          </a:p>
        </p:txBody>
      </p:sp>
      <p:sp>
        <p:nvSpPr>
          <p:cNvPr id="18" name="TextBox 17"/>
          <p:cNvSpPr txBox="1"/>
          <p:nvPr/>
        </p:nvSpPr>
        <p:spPr>
          <a:xfrm>
            <a:off x="3444240" y="2452260"/>
            <a:ext cx="2255520" cy="424052"/>
          </a:xfrm>
          <a:prstGeom prst="rect">
            <a:avLst/>
          </a:prstGeom>
          <a:noFill/>
        </p:spPr>
        <p:txBody>
          <a:bodyPr wrap="square" lIns="0" rIns="0" tIns="0" bIns="0" anchor="t">
            <a:noAutofit/>
          </a:bodyPr>
          <a:lstStyle/>
          <a:p>
            <a:pPr algn="l">
              <a:lnSpc>
                <a:spcPct val="114000"/>
              </a:lnSpc>
            </a:pPr>
            <a:r>
              <a:rPr sz="850" b="0">
                <a:solidFill>
                  <a:srgbClr val="1F3326"/>
                </a:solidFill>
                <a:latin typeface="Arial"/>
              </a:rPr>
              <a:t>Push new product sampling. Focus on bazaars and roadshows. No interest in T-store. Unlikely to take the Gold tier.</a:t>
            </a:r>
          </a:p>
        </p:txBody>
      </p:sp>
      <p:sp>
        <p:nvSpPr>
          <p:cNvPr id="19" name="TextBox 18"/>
          <p:cNvSpPr txBox="1"/>
          <p:nvPr/>
        </p:nvSpPr>
        <p:spPr>
          <a:xfrm>
            <a:off x="3444240" y="2922033"/>
            <a:ext cx="2255520" cy="164592"/>
          </a:xfrm>
          <a:prstGeom prst="rect">
            <a:avLst/>
          </a:prstGeom>
          <a:noFill/>
        </p:spPr>
        <p:txBody>
          <a:bodyPr wrap="square" lIns="0" rIns="0" tIns="0" bIns="0" anchor="t">
            <a:noAutofit/>
          </a:bodyPr>
          <a:lstStyle/>
          <a:p>
            <a:pPr algn="l">
              <a:lnSpc>
                <a:spcPct val="100000"/>
              </a:lnSpc>
            </a:pPr>
            <a:r>
              <a:rPr sz="750" b="1">
                <a:solidFill>
                  <a:srgbClr val="E8912C"/>
                </a:solidFill>
                <a:latin typeface="Arial"/>
              </a:rPr>
              <a:t>THE INSTRUCTION</a:t>
            </a:r>
          </a:p>
        </p:txBody>
      </p:sp>
      <p:sp>
        <p:nvSpPr>
          <p:cNvPr id="20" name="TextBox 19"/>
          <p:cNvSpPr txBox="1"/>
          <p:nvPr/>
        </p:nvSpPr>
        <p:spPr>
          <a:xfrm>
            <a:off x="3444240" y="3114057"/>
            <a:ext cx="2255520" cy="424052"/>
          </a:xfrm>
          <a:prstGeom prst="rect">
            <a:avLst/>
          </a:prstGeom>
          <a:noFill/>
        </p:spPr>
        <p:txBody>
          <a:bodyPr wrap="square" lIns="0" rIns="0" tIns="0" bIns="0" anchor="t">
            <a:noAutofit/>
          </a:bodyPr>
          <a:lstStyle/>
          <a:p>
            <a:pPr algn="l">
              <a:lnSpc>
                <a:spcPct val="114000"/>
              </a:lnSpc>
            </a:pPr>
            <a:r>
              <a:rPr sz="850" b="0">
                <a:solidFill>
                  <a:srgbClr val="1F3326"/>
                </a:solidFill>
                <a:latin typeface="Arial"/>
              </a:rPr>
              <a:t>Build a point system with an online to offline flow, flexible enough to run with or without Bulan Bintang.</a:t>
            </a:r>
          </a:p>
        </p:txBody>
      </p:sp>
      <p:sp>
        <p:nvSpPr>
          <p:cNvPr id="21" name="Rectangle 20"/>
          <p:cNvSpPr/>
          <p:nvPr/>
        </p:nvSpPr>
        <p:spPr>
          <a:xfrm>
            <a:off x="6047232" y="1659780"/>
            <a:ext cx="2584704" cy="2345817"/>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2" name="Rectangle 21"/>
          <p:cNvSpPr/>
          <p:nvPr/>
        </p:nvSpPr>
        <p:spPr>
          <a:xfrm>
            <a:off x="6047232" y="1659780"/>
            <a:ext cx="2584704" cy="54864"/>
          </a:xfrm>
          <a:prstGeom prst="rect">
            <a:avLst/>
          </a:prstGeom>
          <a:solidFill>
            <a:srgbClr val="0068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3" name="TextBox 22"/>
          <p:cNvSpPr txBox="1"/>
          <p:nvPr/>
        </p:nvSpPr>
        <p:spPr>
          <a:xfrm>
            <a:off x="6211824" y="1842660"/>
            <a:ext cx="2255520" cy="182880"/>
          </a:xfrm>
          <a:prstGeom prst="rect">
            <a:avLst/>
          </a:prstGeom>
          <a:noFill/>
        </p:spPr>
        <p:txBody>
          <a:bodyPr wrap="square" lIns="0" rIns="0" tIns="0" bIns="0" anchor="t">
            <a:noAutofit/>
          </a:bodyPr>
          <a:lstStyle/>
          <a:p>
            <a:pPr algn="l">
              <a:lnSpc>
                <a:spcPct val="100000"/>
              </a:lnSpc>
            </a:pPr>
            <a:r>
              <a:rPr sz="800" b="1">
                <a:solidFill>
                  <a:srgbClr val="6E8A76"/>
                </a:solidFill>
                <a:latin typeface="Arial"/>
              </a:rPr>
              <a:t>WHAT REV2 HAS TO GIVE UP</a:t>
            </a:r>
          </a:p>
        </p:txBody>
      </p:sp>
      <p:sp>
        <p:nvSpPr>
          <p:cNvPr id="24" name="TextBox 23"/>
          <p:cNvSpPr txBox="1"/>
          <p:nvPr/>
        </p:nvSpPr>
        <p:spPr>
          <a:xfrm>
            <a:off x="6211824" y="2052972"/>
            <a:ext cx="2255520" cy="359664"/>
          </a:xfrm>
          <a:prstGeom prst="rect">
            <a:avLst/>
          </a:prstGeom>
          <a:noFill/>
        </p:spPr>
        <p:txBody>
          <a:bodyPr wrap="square" lIns="0" rIns="0" tIns="0" bIns="0" anchor="t">
            <a:noAutofit/>
          </a:bodyPr>
          <a:lstStyle/>
          <a:p>
            <a:pPr algn="l">
              <a:lnSpc>
                <a:spcPct val="96000"/>
              </a:lnSpc>
            </a:pPr>
            <a:r>
              <a:rPr sz="1250" b="0">
                <a:solidFill>
                  <a:srgbClr val="006838"/>
                </a:solidFill>
                <a:latin typeface="Arial Black"/>
              </a:rPr>
              <a:t>The pop-up was load-bearing</a:t>
            </a:r>
          </a:p>
        </p:txBody>
      </p:sp>
      <p:sp>
        <p:nvSpPr>
          <p:cNvPr id="25" name="TextBox 24"/>
          <p:cNvSpPr txBox="1"/>
          <p:nvPr/>
        </p:nvSpPr>
        <p:spPr>
          <a:xfrm>
            <a:off x="6211824" y="2412636"/>
            <a:ext cx="2255520" cy="164592"/>
          </a:xfrm>
          <a:prstGeom prst="rect">
            <a:avLst/>
          </a:prstGeom>
          <a:noFill/>
        </p:spPr>
        <p:txBody>
          <a:bodyPr wrap="square" lIns="0" rIns="0" tIns="0" bIns="0" anchor="t">
            <a:noAutofit/>
          </a:bodyPr>
          <a:lstStyle/>
          <a:p>
            <a:pPr algn="l">
              <a:lnSpc>
                <a:spcPct val="100000"/>
              </a:lnSpc>
            </a:pPr>
            <a:r>
              <a:rPr sz="750" b="1">
                <a:solidFill>
                  <a:srgbClr val="E8912C"/>
                </a:solidFill>
                <a:latin typeface="Arial"/>
              </a:rPr>
              <a:t>THE PROBLEM</a:t>
            </a:r>
          </a:p>
        </p:txBody>
      </p:sp>
      <p:sp>
        <p:nvSpPr>
          <p:cNvPr id="26" name="TextBox 25"/>
          <p:cNvSpPr txBox="1"/>
          <p:nvPr/>
        </p:nvSpPr>
        <p:spPr>
          <a:xfrm>
            <a:off x="6211824" y="2604660"/>
            <a:ext cx="2255520" cy="547116"/>
          </a:xfrm>
          <a:prstGeom prst="rect">
            <a:avLst/>
          </a:prstGeom>
          <a:noFill/>
        </p:spPr>
        <p:txBody>
          <a:bodyPr wrap="square" lIns="0" rIns="0" tIns="0" bIns="0" anchor="t">
            <a:noAutofit/>
          </a:bodyPr>
          <a:lstStyle/>
          <a:p>
            <a:pPr algn="l">
              <a:lnSpc>
                <a:spcPct val="114000"/>
              </a:lnSpc>
            </a:pPr>
            <a:r>
              <a:rPr sz="850" b="0">
                <a:solidFill>
                  <a:srgbClr val="1F3326"/>
                </a:solidFill>
                <a:latin typeface="Arial"/>
              </a:rPr>
              <a:t>rev2 said every part of its mechanic rested on Bulan Bintang hosting a counter in all 14 boutiques. That yes is now unlikely.</a:t>
            </a:r>
          </a:p>
        </p:txBody>
      </p:sp>
      <p:sp>
        <p:nvSpPr>
          <p:cNvPr id="27" name="TextBox 26"/>
          <p:cNvSpPr txBox="1"/>
          <p:nvPr/>
        </p:nvSpPr>
        <p:spPr>
          <a:xfrm>
            <a:off x="6211824" y="3197496"/>
            <a:ext cx="2255520" cy="164592"/>
          </a:xfrm>
          <a:prstGeom prst="rect">
            <a:avLst/>
          </a:prstGeom>
          <a:noFill/>
        </p:spPr>
        <p:txBody>
          <a:bodyPr wrap="square" lIns="0" rIns="0" tIns="0" bIns="0" anchor="t">
            <a:noAutofit/>
          </a:bodyPr>
          <a:lstStyle/>
          <a:p>
            <a:pPr algn="l">
              <a:lnSpc>
                <a:spcPct val="100000"/>
              </a:lnSpc>
            </a:pPr>
            <a:r>
              <a:rPr sz="750" b="1">
                <a:solidFill>
                  <a:srgbClr val="E8912C"/>
                </a:solidFill>
                <a:latin typeface="Arial"/>
              </a:rPr>
              <a:t>WHAT SURVIVES</a:t>
            </a:r>
          </a:p>
        </p:txBody>
      </p:sp>
      <p:sp>
        <p:nvSpPr>
          <p:cNvPr id="28" name="TextBox 27"/>
          <p:cNvSpPr txBox="1"/>
          <p:nvPr/>
        </p:nvSpPr>
        <p:spPr>
          <a:xfrm>
            <a:off x="6211824" y="3389520"/>
            <a:ext cx="2255520" cy="424052"/>
          </a:xfrm>
          <a:prstGeom prst="rect">
            <a:avLst/>
          </a:prstGeom>
          <a:noFill/>
        </p:spPr>
        <p:txBody>
          <a:bodyPr wrap="square" lIns="0" rIns="0" tIns="0" bIns="0" anchor="t">
            <a:noAutofit/>
          </a:bodyPr>
          <a:lstStyle/>
          <a:p>
            <a:pPr algn="l">
              <a:lnSpc>
                <a:spcPct val="114000"/>
              </a:lnSpc>
            </a:pPr>
            <a:r>
              <a:rPr sz="850" b="0">
                <a:solidFill>
                  <a:srgbClr val="1F3326"/>
                </a:solidFill>
                <a:latin typeface="Arial"/>
              </a:rPr>
              <a:t>The five-year diagnosis, the landing page argument and the measurement discipline. Those carry straight into rev3.</a:t>
            </a:r>
          </a:p>
        </p:txBody>
      </p:sp>
      <p:sp>
        <p:nvSpPr>
          <p:cNvPr id="29" name="Rectangle 28"/>
          <p:cNvSpPr/>
          <p:nvPr/>
        </p:nvSpPr>
        <p:spPr>
          <a:xfrm>
            <a:off x="438912" y="4443984"/>
            <a:ext cx="8266175" cy="402336"/>
          </a:xfrm>
          <a:prstGeom prst="rect">
            <a:avLst/>
          </a:prstGeom>
          <a:solidFill>
            <a:srgbClr val="052B1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0" name="TextBox 29"/>
          <p:cNvSpPr txBox="1"/>
          <p:nvPr/>
        </p:nvSpPr>
        <p:spPr>
          <a:xfrm>
            <a:off x="658368" y="4480560"/>
            <a:ext cx="7827264" cy="347472"/>
          </a:xfrm>
          <a:prstGeom prst="rect">
            <a:avLst/>
          </a:prstGeom>
          <a:noFill/>
        </p:spPr>
        <p:txBody>
          <a:bodyPr wrap="square" lIns="0" rIns="0" tIns="0" bIns="0" anchor="ctr">
            <a:noAutofit/>
          </a:bodyPr>
          <a:lstStyle/>
          <a:p>
            <a:pPr algn="l">
              <a:lnSpc>
                <a:spcPct val="100000"/>
              </a:lnSpc>
            </a:pPr>
            <a:r>
              <a:rPr sz="950" b="1">
                <a:solidFill>
                  <a:srgbClr val="F5EC2E"/>
                </a:solidFill>
                <a:latin typeface="Arial"/>
              </a:rPr>
              <a:t>What rev3 changes: </a:t>
            </a:r>
            <a:r>
              <a:rPr sz="950" b="0">
                <a:solidFill>
                  <a:srgbClr val="FFFFFF"/>
                </a:solidFill>
                <a:latin typeface="Arial"/>
              </a:rPr>
              <a:t>the partner moves from a gate to a multiplier, so nothing in the contest waits on a signature that may never come.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AEC"/>
        </a:solidFill>
        <a:effectLst/>
      </p:bgPr>
    </p:bg>
    <p:spTree>
      <p:nvGrpSpPr>
        <p:cNvPr id="1" name=""/>
        <p:cNvGrpSpPr/>
        <p:nvPr/>
      </p:nvGrpSpPr>
      <p:grpSpPr/>
      <p:sp>
        <p:nvSpPr>
          <p:cNvPr id="2" name="Rectangle 1"/>
          <p:cNvSpPr/>
          <p:nvPr/>
        </p:nvSpPr>
        <p:spPr>
          <a:xfrm>
            <a:off x="512064" y="365760"/>
            <a:ext cx="219456" cy="73152"/>
          </a:xfrm>
          <a:prstGeom prst="rect">
            <a:avLst/>
          </a:prstGeom>
          <a:solidFill>
            <a:srgbClr val="C51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 name="TextBox 2"/>
          <p:cNvSpPr txBox="1"/>
          <p:nvPr/>
        </p:nvSpPr>
        <p:spPr>
          <a:xfrm>
            <a:off x="512064" y="566928"/>
            <a:ext cx="8119872" cy="475488"/>
          </a:xfrm>
          <a:prstGeom prst="rect">
            <a:avLst/>
          </a:prstGeom>
          <a:noFill/>
        </p:spPr>
        <p:txBody>
          <a:bodyPr wrap="square" lIns="0" rIns="0" tIns="0" bIns="0" anchor="t">
            <a:noAutofit/>
          </a:bodyPr>
          <a:lstStyle/>
          <a:p>
            <a:pPr algn="l">
              <a:lnSpc>
                <a:spcPct val="96000"/>
              </a:lnSpc>
            </a:pPr>
            <a:r>
              <a:rPr sz="2400" b="0">
                <a:solidFill>
                  <a:srgbClr val="006838"/>
                </a:solidFill>
                <a:latin typeface="Arial Black"/>
              </a:rPr>
              <a:t>Mata Raya turns a two-brand gate into a ten-week habit.</a:t>
            </a:r>
          </a:p>
        </p:txBody>
      </p:sp>
      <p:sp>
        <p:nvSpPr>
          <p:cNvPr id="4" name="TextBox 3"/>
          <p:cNvSpPr txBox="1"/>
          <p:nvPr/>
        </p:nvSpPr>
        <p:spPr>
          <a:xfrm>
            <a:off x="512064" y="1060704"/>
            <a:ext cx="8119872" cy="365760"/>
          </a:xfrm>
          <a:prstGeom prst="rect">
            <a:avLst/>
          </a:prstGeom>
          <a:noFill/>
        </p:spPr>
        <p:txBody>
          <a:bodyPr wrap="square" lIns="0" rIns="0" tIns="0" bIns="0" anchor="t">
            <a:noAutofit/>
          </a:bodyPr>
          <a:lstStyle/>
          <a:p>
            <a:pPr algn="l">
              <a:lnSpc>
                <a:spcPct val="112000"/>
              </a:lnSpc>
            </a:pPr>
            <a:r>
              <a:rPr sz="1100" b="0">
                <a:solidFill>
                  <a:srgbClr val="6E8A76"/>
                </a:solidFill>
                <a:latin typeface="Arial"/>
              </a:rPr>
              <a:t>Saji has bought more media every year and collected fewer entries every year. One point balance, earned four ways, fixes the entry threshold and the measurement problem at the same time.</a:t>
            </a:r>
          </a:p>
        </p:txBody>
      </p:sp>
      <p:sp>
        <p:nvSpPr>
          <p:cNvPr id="5" name="Rectangle 4"/>
          <p:cNvSpPr/>
          <p:nvPr/>
        </p:nvSpPr>
        <p:spPr>
          <a:xfrm>
            <a:off x="512064" y="1793077"/>
            <a:ext cx="1892808" cy="1953768"/>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Rectangle 5"/>
          <p:cNvSpPr/>
          <p:nvPr/>
        </p:nvSpPr>
        <p:spPr>
          <a:xfrm>
            <a:off x="512064" y="1793077"/>
            <a:ext cx="1892808" cy="54864"/>
          </a:xfrm>
          <a:prstGeom prst="rect">
            <a:avLst/>
          </a:prstGeom>
          <a:solidFill>
            <a:srgbClr val="0068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7" name="TextBox 6"/>
          <p:cNvSpPr txBox="1"/>
          <p:nvPr/>
        </p:nvSpPr>
        <p:spPr>
          <a:xfrm>
            <a:off x="676656" y="1975957"/>
            <a:ext cx="1563624" cy="310896"/>
          </a:xfrm>
          <a:prstGeom prst="rect">
            <a:avLst/>
          </a:prstGeom>
          <a:noFill/>
        </p:spPr>
        <p:txBody>
          <a:bodyPr wrap="square" lIns="0" rIns="0" tIns="0" bIns="0" anchor="t">
            <a:noAutofit/>
          </a:bodyPr>
          <a:lstStyle/>
          <a:p>
            <a:pPr algn="l">
              <a:lnSpc>
                <a:spcPct val="94000"/>
              </a:lnSpc>
            </a:pPr>
            <a:r>
              <a:rPr sz="2000" b="0">
                <a:solidFill>
                  <a:srgbClr val="006838"/>
                </a:solidFill>
                <a:latin typeface="Arial Black"/>
              </a:rPr>
              <a:t>01</a:t>
            </a:r>
          </a:p>
        </p:txBody>
      </p:sp>
      <p:sp>
        <p:nvSpPr>
          <p:cNvPr id="8" name="TextBox 7"/>
          <p:cNvSpPr txBox="1"/>
          <p:nvPr/>
        </p:nvSpPr>
        <p:spPr>
          <a:xfrm>
            <a:off x="676656" y="2305141"/>
            <a:ext cx="1563624" cy="182880"/>
          </a:xfrm>
          <a:prstGeom prst="rect">
            <a:avLst/>
          </a:prstGeom>
          <a:noFill/>
        </p:spPr>
        <p:txBody>
          <a:bodyPr wrap="square" lIns="0" rIns="0" tIns="0" bIns="0" anchor="t">
            <a:noAutofit/>
          </a:bodyPr>
          <a:lstStyle/>
          <a:p>
            <a:pPr algn="l">
              <a:lnSpc>
                <a:spcPct val="100000"/>
              </a:lnSpc>
            </a:pPr>
            <a:r>
              <a:rPr sz="800" b="1">
                <a:solidFill>
                  <a:srgbClr val="6E8A76"/>
                </a:solidFill>
                <a:latin typeface="Arial"/>
              </a:rPr>
              <a:t>THE MECHANIC</a:t>
            </a:r>
          </a:p>
        </p:txBody>
      </p:sp>
      <p:sp>
        <p:nvSpPr>
          <p:cNvPr id="9" name="TextBox 8"/>
          <p:cNvSpPr txBox="1"/>
          <p:nvPr/>
        </p:nvSpPr>
        <p:spPr>
          <a:xfrm>
            <a:off x="676656" y="2515453"/>
            <a:ext cx="1563624" cy="1039368"/>
          </a:xfrm>
          <a:prstGeom prst="rect">
            <a:avLst/>
          </a:prstGeom>
          <a:noFill/>
        </p:spPr>
        <p:txBody>
          <a:bodyPr wrap="square" lIns="0" rIns="0" tIns="0" bIns="0" anchor="t">
            <a:noAutofit/>
          </a:bodyPr>
          <a:lstStyle/>
          <a:p>
            <a:pPr algn="l">
              <a:lnSpc>
                <a:spcPct val="114000"/>
              </a:lnSpc>
            </a:pPr>
            <a:r>
              <a:rPr sz="850" b="0">
                <a:solidFill>
                  <a:srgbClr val="1F3326"/>
                </a:solidFill>
                <a:latin typeface="Arial"/>
              </a:rPr>
              <a:t>RM1 of Saji earns 1 Mata. Every 25 Mata is one chance in that week's draw. The balance runs all ten weeks and never resets, so quitting in week six means walking away from something you already own.</a:t>
            </a:r>
          </a:p>
        </p:txBody>
      </p:sp>
      <p:sp>
        <p:nvSpPr>
          <p:cNvPr id="10" name="Rectangle 9"/>
          <p:cNvSpPr/>
          <p:nvPr/>
        </p:nvSpPr>
        <p:spPr>
          <a:xfrm>
            <a:off x="2587752" y="1793077"/>
            <a:ext cx="1892808" cy="1953768"/>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1" name="Rectangle 10"/>
          <p:cNvSpPr/>
          <p:nvPr/>
        </p:nvSpPr>
        <p:spPr>
          <a:xfrm>
            <a:off x="2587752" y="1793077"/>
            <a:ext cx="1892808" cy="54864"/>
          </a:xfrm>
          <a:prstGeom prst="rect">
            <a:avLst/>
          </a:prstGeom>
          <a:solidFill>
            <a:srgbClr val="E891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2" name="TextBox 11"/>
          <p:cNvSpPr txBox="1"/>
          <p:nvPr/>
        </p:nvSpPr>
        <p:spPr>
          <a:xfrm>
            <a:off x="2752344" y="1975957"/>
            <a:ext cx="1563624" cy="310896"/>
          </a:xfrm>
          <a:prstGeom prst="rect">
            <a:avLst/>
          </a:prstGeom>
          <a:noFill/>
        </p:spPr>
        <p:txBody>
          <a:bodyPr wrap="square" lIns="0" rIns="0" tIns="0" bIns="0" anchor="t">
            <a:noAutofit/>
          </a:bodyPr>
          <a:lstStyle/>
          <a:p>
            <a:pPr algn="l">
              <a:lnSpc>
                <a:spcPct val="94000"/>
              </a:lnSpc>
            </a:pPr>
            <a:r>
              <a:rPr sz="2000" b="0">
                <a:solidFill>
                  <a:srgbClr val="E8912C"/>
                </a:solidFill>
                <a:latin typeface="Arial Black"/>
              </a:rPr>
              <a:t>02</a:t>
            </a:r>
          </a:p>
        </p:txBody>
      </p:sp>
      <p:sp>
        <p:nvSpPr>
          <p:cNvPr id="13" name="TextBox 12"/>
          <p:cNvSpPr txBox="1"/>
          <p:nvPr/>
        </p:nvSpPr>
        <p:spPr>
          <a:xfrm>
            <a:off x="2752344" y="2305141"/>
            <a:ext cx="1563624" cy="182880"/>
          </a:xfrm>
          <a:prstGeom prst="rect">
            <a:avLst/>
          </a:prstGeom>
          <a:noFill/>
        </p:spPr>
        <p:txBody>
          <a:bodyPr wrap="square" lIns="0" rIns="0" tIns="0" bIns="0" anchor="t">
            <a:noAutofit/>
          </a:bodyPr>
          <a:lstStyle/>
          <a:p>
            <a:pPr algn="l">
              <a:lnSpc>
                <a:spcPct val="100000"/>
              </a:lnSpc>
            </a:pPr>
            <a:r>
              <a:rPr sz="800" b="1">
                <a:solidFill>
                  <a:srgbClr val="6E8A76"/>
                </a:solidFill>
                <a:latin typeface="Arial"/>
              </a:rPr>
              <a:t>THE PARTNER</a:t>
            </a:r>
          </a:p>
        </p:txBody>
      </p:sp>
      <p:sp>
        <p:nvSpPr>
          <p:cNvPr id="14" name="TextBox 13"/>
          <p:cNvSpPr txBox="1"/>
          <p:nvPr/>
        </p:nvSpPr>
        <p:spPr>
          <a:xfrm>
            <a:off x="2752344" y="2515453"/>
            <a:ext cx="1563624" cy="1039368"/>
          </a:xfrm>
          <a:prstGeom prst="rect">
            <a:avLst/>
          </a:prstGeom>
          <a:noFill/>
        </p:spPr>
        <p:txBody>
          <a:bodyPr wrap="square" lIns="0" rIns="0" tIns="0" bIns="0" anchor="t">
            <a:noAutofit/>
          </a:bodyPr>
          <a:lstStyle/>
          <a:p>
            <a:pPr algn="l">
              <a:lnSpc>
                <a:spcPct val="114000"/>
              </a:lnSpc>
            </a:pPr>
            <a:r>
              <a:rPr sz="850" b="0">
                <a:solidFill>
                  <a:srgbClr val="1F3326"/>
                </a:solidFill>
                <a:latin typeface="Arial"/>
              </a:rPr>
              <a:t>Bulan Bintang multiplies and never gates. Their receipts add capped Mata and their stores carry a bonus code, but the contest ships on schedule whether they sign, decline, or keep deciding into December.</a:t>
            </a:r>
          </a:p>
        </p:txBody>
      </p:sp>
      <p:sp>
        <p:nvSpPr>
          <p:cNvPr id="15" name="Rectangle 14"/>
          <p:cNvSpPr/>
          <p:nvPr/>
        </p:nvSpPr>
        <p:spPr>
          <a:xfrm>
            <a:off x="4663440" y="1793077"/>
            <a:ext cx="1892808" cy="1953768"/>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6" name="Rectangle 15"/>
          <p:cNvSpPr/>
          <p:nvPr/>
        </p:nvSpPr>
        <p:spPr>
          <a:xfrm>
            <a:off x="4663440" y="1793077"/>
            <a:ext cx="1892808" cy="54864"/>
          </a:xfrm>
          <a:prstGeom prst="rect">
            <a:avLst/>
          </a:prstGeom>
          <a:solidFill>
            <a:srgbClr val="C51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7" name="TextBox 16"/>
          <p:cNvSpPr txBox="1"/>
          <p:nvPr/>
        </p:nvSpPr>
        <p:spPr>
          <a:xfrm>
            <a:off x="4828032" y="1975957"/>
            <a:ext cx="1563624" cy="310896"/>
          </a:xfrm>
          <a:prstGeom prst="rect">
            <a:avLst/>
          </a:prstGeom>
          <a:noFill/>
        </p:spPr>
        <p:txBody>
          <a:bodyPr wrap="square" lIns="0" rIns="0" tIns="0" bIns="0" anchor="t">
            <a:noAutofit/>
          </a:bodyPr>
          <a:lstStyle/>
          <a:p>
            <a:pPr algn="l">
              <a:lnSpc>
                <a:spcPct val="94000"/>
              </a:lnSpc>
            </a:pPr>
            <a:r>
              <a:rPr sz="2000" b="0">
                <a:solidFill>
                  <a:srgbClr val="C5192B"/>
                </a:solidFill>
                <a:latin typeface="Arial Black"/>
              </a:rPr>
              <a:t>03</a:t>
            </a:r>
          </a:p>
        </p:txBody>
      </p:sp>
      <p:sp>
        <p:nvSpPr>
          <p:cNvPr id="18" name="TextBox 17"/>
          <p:cNvSpPr txBox="1"/>
          <p:nvPr/>
        </p:nvSpPr>
        <p:spPr>
          <a:xfrm>
            <a:off x="4828032" y="2305141"/>
            <a:ext cx="1563624" cy="182880"/>
          </a:xfrm>
          <a:prstGeom prst="rect">
            <a:avLst/>
          </a:prstGeom>
          <a:noFill/>
        </p:spPr>
        <p:txBody>
          <a:bodyPr wrap="square" lIns="0" rIns="0" tIns="0" bIns="0" anchor="t">
            <a:noAutofit/>
          </a:bodyPr>
          <a:lstStyle/>
          <a:p>
            <a:pPr algn="l">
              <a:lnSpc>
                <a:spcPct val="100000"/>
              </a:lnSpc>
            </a:pPr>
            <a:r>
              <a:rPr sz="800" b="1">
                <a:solidFill>
                  <a:srgbClr val="6E8A76"/>
                </a:solidFill>
                <a:latin typeface="Arial"/>
              </a:rPr>
              <a:t>THE LOOP</a:t>
            </a:r>
          </a:p>
        </p:txBody>
      </p:sp>
      <p:sp>
        <p:nvSpPr>
          <p:cNvPr id="19" name="TextBox 18"/>
          <p:cNvSpPr txBox="1"/>
          <p:nvPr/>
        </p:nvSpPr>
        <p:spPr>
          <a:xfrm>
            <a:off x="4828032" y="2515453"/>
            <a:ext cx="1563624" cy="1039368"/>
          </a:xfrm>
          <a:prstGeom prst="rect">
            <a:avLst/>
          </a:prstGeom>
          <a:noFill/>
        </p:spPr>
        <p:txBody>
          <a:bodyPr wrap="square" lIns="0" rIns="0" tIns="0" bIns="0" anchor="t">
            <a:noAutofit/>
          </a:bodyPr>
          <a:lstStyle/>
          <a:p>
            <a:pPr algn="l">
              <a:lnSpc>
                <a:spcPct val="114000"/>
              </a:lnSpc>
            </a:pPr>
            <a:r>
              <a:rPr sz="850" b="0">
                <a:solidFill>
                  <a:srgbClr val="1F3326"/>
                </a:solidFill>
                <a:latin typeface="Arial"/>
              </a:rPr>
              <a:t>Registration is free and needs no receipt. A QR on every roadshow truck, bazaar stand and sampling pack turns footfall into a profile you can reach again for the rest of the campaign at no media cost.</a:t>
            </a:r>
          </a:p>
        </p:txBody>
      </p:sp>
      <p:sp>
        <p:nvSpPr>
          <p:cNvPr id="20" name="Rectangle 19"/>
          <p:cNvSpPr/>
          <p:nvPr/>
        </p:nvSpPr>
        <p:spPr>
          <a:xfrm>
            <a:off x="6739128" y="1793077"/>
            <a:ext cx="1892808" cy="1953768"/>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1" name="Rectangle 20"/>
          <p:cNvSpPr/>
          <p:nvPr/>
        </p:nvSpPr>
        <p:spPr>
          <a:xfrm>
            <a:off x="6739128" y="1793077"/>
            <a:ext cx="1892808" cy="54864"/>
          </a:xfrm>
          <a:prstGeom prst="rect">
            <a:avLst/>
          </a:prstGeom>
          <a:solidFill>
            <a:srgbClr val="F8C8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2" name="TextBox 21"/>
          <p:cNvSpPr txBox="1"/>
          <p:nvPr/>
        </p:nvSpPr>
        <p:spPr>
          <a:xfrm>
            <a:off x="6903720" y="1975957"/>
            <a:ext cx="1563624" cy="310896"/>
          </a:xfrm>
          <a:prstGeom prst="rect">
            <a:avLst/>
          </a:prstGeom>
          <a:noFill/>
        </p:spPr>
        <p:txBody>
          <a:bodyPr wrap="square" lIns="0" rIns="0" tIns="0" bIns="0" anchor="t">
            <a:noAutofit/>
          </a:bodyPr>
          <a:lstStyle/>
          <a:p>
            <a:pPr algn="l">
              <a:lnSpc>
                <a:spcPct val="94000"/>
              </a:lnSpc>
            </a:pPr>
            <a:r>
              <a:rPr sz="2000" b="0">
                <a:solidFill>
                  <a:srgbClr val="F8C84A"/>
                </a:solidFill>
                <a:latin typeface="Arial Black"/>
              </a:rPr>
              <a:t>04</a:t>
            </a:r>
          </a:p>
        </p:txBody>
      </p:sp>
      <p:sp>
        <p:nvSpPr>
          <p:cNvPr id="23" name="TextBox 22"/>
          <p:cNvSpPr txBox="1"/>
          <p:nvPr/>
        </p:nvSpPr>
        <p:spPr>
          <a:xfrm>
            <a:off x="6903720" y="2305141"/>
            <a:ext cx="1563624" cy="182880"/>
          </a:xfrm>
          <a:prstGeom prst="rect">
            <a:avLst/>
          </a:prstGeom>
          <a:noFill/>
        </p:spPr>
        <p:txBody>
          <a:bodyPr wrap="square" lIns="0" rIns="0" tIns="0" bIns="0" anchor="t">
            <a:noAutofit/>
          </a:bodyPr>
          <a:lstStyle/>
          <a:p>
            <a:pPr algn="l">
              <a:lnSpc>
                <a:spcPct val="100000"/>
              </a:lnSpc>
            </a:pPr>
            <a:r>
              <a:rPr sz="800" b="1">
                <a:solidFill>
                  <a:srgbClr val="6E8A76"/>
                </a:solidFill>
                <a:latin typeface="Arial"/>
              </a:rPr>
              <a:t>THE BUDGET</a:t>
            </a:r>
          </a:p>
        </p:txBody>
      </p:sp>
      <p:sp>
        <p:nvSpPr>
          <p:cNvPr id="24" name="TextBox 23"/>
          <p:cNvSpPr txBox="1"/>
          <p:nvPr/>
        </p:nvSpPr>
        <p:spPr>
          <a:xfrm>
            <a:off x="6903720" y="2515453"/>
            <a:ext cx="1563624" cy="916304"/>
          </a:xfrm>
          <a:prstGeom prst="rect">
            <a:avLst/>
          </a:prstGeom>
          <a:noFill/>
        </p:spPr>
        <p:txBody>
          <a:bodyPr wrap="square" lIns="0" rIns="0" tIns="0" bIns="0" anchor="t">
            <a:noAutofit/>
          </a:bodyPr>
          <a:lstStyle/>
          <a:p>
            <a:pPr algn="l">
              <a:lnSpc>
                <a:spcPct val="114000"/>
              </a:lnSpc>
            </a:pPr>
            <a:r>
              <a:rPr sz="850" b="0">
                <a:solidFill>
                  <a:srgbClr val="1F3326"/>
                </a:solidFill>
                <a:latin typeface="Arial"/>
              </a:rPr>
              <a:t>RM145,000 covering media, production, creative and management, separate from the RM145,000 prize pool. It plans 12,000 registered profiles and 5,040 entrants against a target of 4,000.</a:t>
            </a:r>
          </a:p>
        </p:txBody>
      </p:sp>
      <p:sp>
        <p:nvSpPr>
          <p:cNvPr id="25" name="Rectangle 24"/>
          <p:cNvSpPr/>
          <p:nvPr/>
        </p:nvSpPr>
        <p:spPr>
          <a:xfrm>
            <a:off x="438912" y="4443984"/>
            <a:ext cx="8266175" cy="402336"/>
          </a:xfrm>
          <a:prstGeom prst="rect">
            <a:avLst/>
          </a:prstGeom>
          <a:solidFill>
            <a:srgbClr val="052B1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6" name="TextBox 25"/>
          <p:cNvSpPr txBox="1"/>
          <p:nvPr/>
        </p:nvSpPr>
        <p:spPr>
          <a:xfrm>
            <a:off x="658368" y="4480560"/>
            <a:ext cx="7827264" cy="347472"/>
          </a:xfrm>
          <a:prstGeom prst="rect">
            <a:avLst/>
          </a:prstGeom>
          <a:noFill/>
        </p:spPr>
        <p:txBody>
          <a:bodyPr wrap="square" lIns="0" rIns="0" tIns="0" bIns="0" anchor="ctr">
            <a:noAutofit/>
          </a:bodyPr>
          <a:lstStyle/>
          <a:p>
            <a:pPr algn="l">
              <a:lnSpc>
                <a:spcPct val="100000"/>
              </a:lnSpc>
            </a:pPr>
            <a:r>
              <a:rPr sz="950" b="1">
                <a:solidFill>
                  <a:srgbClr val="F5EC2E"/>
                </a:solidFill>
                <a:latin typeface="Arial"/>
              </a:rPr>
              <a:t>The one ask: </a:t>
            </a:r>
            <a:r>
              <a:rPr sz="950" b="0">
                <a:solidFill>
                  <a:srgbClr val="FFFFFF"/>
                </a:solidFill>
                <a:latin typeface="Arial"/>
              </a:rPr>
              <a:t>point the paid buy at registration rather than at receipts. A receipt event is too rare for Meta or TikTok to learn on, which is exactly why 2026 bought views.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AEC"/>
        </a:solidFill>
        <a:effectLst/>
      </p:bgPr>
    </p:bg>
    <p:spTree>
      <p:nvGrpSpPr>
        <p:cNvPr id="1" name=""/>
        <p:cNvGrpSpPr/>
        <p:nvPr/>
      </p:nvGrpSpPr>
      <p:grpSpPr/>
      <p:sp>
        <p:nvSpPr>
          <p:cNvPr id="2" name="Rectangle 1"/>
          <p:cNvSpPr/>
          <p:nvPr/>
        </p:nvSpPr>
        <p:spPr>
          <a:xfrm>
            <a:off x="512064" y="365760"/>
            <a:ext cx="219456" cy="73152"/>
          </a:xfrm>
          <a:prstGeom prst="rect">
            <a:avLst/>
          </a:prstGeom>
          <a:solidFill>
            <a:srgbClr val="C51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 name="TextBox 2"/>
          <p:cNvSpPr txBox="1"/>
          <p:nvPr/>
        </p:nvSpPr>
        <p:spPr>
          <a:xfrm>
            <a:off x="512064" y="566928"/>
            <a:ext cx="8119872" cy="475488"/>
          </a:xfrm>
          <a:prstGeom prst="rect">
            <a:avLst/>
          </a:prstGeom>
          <a:noFill/>
        </p:spPr>
        <p:txBody>
          <a:bodyPr wrap="square" lIns="0" rIns="0" tIns="0" bIns="0" anchor="t">
            <a:noAutofit/>
          </a:bodyPr>
          <a:lstStyle/>
          <a:p>
            <a:pPr algn="l">
              <a:lnSpc>
                <a:spcPct val="96000"/>
              </a:lnSpc>
            </a:pPr>
            <a:r>
              <a:rPr sz="2400" b="0">
                <a:solidFill>
                  <a:srgbClr val="006838"/>
                </a:solidFill>
                <a:latin typeface="Arial Black"/>
              </a:rPr>
              <a:t>Reach went up every year and entries went down every year.</a:t>
            </a:r>
          </a:p>
        </p:txBody>
      </p:sp>
      <p:sp>
        <p:nvSpPr>
          <p:cNvPr id="4" name="TextBox 3"/>
          <p:cNvSpPr txBox="1"/>
          <p:nvPr/>
        </p:nvSpPr>
        <p:spPr>
          <a:xfrm>
            <a:off x="512064" y="1060704"/>
            <a:ext cx="8119872" cy="365760"/>
          </a:xfrm>
          <a:prstGeom prst="rect">
            <a:avLst/>
          </a:prstGeom>
          <a:noFill/>
        </p:spPr>
        <p:txBody>
          <a:bodyPr wrap="square" lIns="0" rIns="0" tIns="0" bIns="0" anchor="t">
            <a:noAutofit/>
          </a:bodyPr>
          <a:lstStyle/>
          <a:p>
            <a:pPr algn="l">
              <a:lnSpc>
                <a:spcPct val="112000"/>
              </a:lnSpc>
            </a:pPr>
            <a:r>
              <a:rPr sz="1100" b="0">
                <a:solidFill>
                  <a:srgbClr val="6E8A76"/>
                </a:solidFill>
                <a:latin typeface="Arial"/>
              </a:rPr>
              <a:t>The last column is the one that matters. It counts contest entries per million people reached, and it has fallen by 90% since 2022.</a:t>
            </a:r>
          </a:p>
        </p:txBody>
      </p:sp>
      <p:sp>
        <p:nvSpPr>
          <p:cNvPr id="5" name="Rectangle 4"/>
          <p:cNvSpPr/>
          <p:nvPr/>
        </p:nvSpPr>
        <p:spPr>
          <a:xfrm>
            <a:off x="512064" y="1827966"/>
            <a:ext cx="8119871" cy="274320"/>
          </a:xfrm>
          <a:prstGeom prst="rect">
            <a:avLst/>
          </a:prstGeom>
          <a:solidFill>
            <a:srgbClr val="0068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TextBox 5"/>
          <p:cNvSpPr txBox="1"/>
          <p:nvPr/>
        </p:nvSpPr>
        <p:spPr>
          <a:xfrm>
            <a:off x="603504" y="1882830"/>
            <a:ext cx="585216" cy="182880"/>
          </a:xfrm>
          <a:prstGeom prst="rect">
            <a:avLst/>
          </a:prstGeom>
          <a:noFill/>
        </p:spPr>
        <p:txBody>
          <a:bodyPr wrap="square" lIns="0" rIns="0" tIns="0" bIns="0" anchor="t">
            <a:noAutofit/>
          </a:bodyPr>
          <a:lstStyle/>
          <a:p>
            <a:pPr algn="l">
              <a:lnSpc>
                <a:spcPct val="100000"/>
              </a:lnSpc>
            </a:pPr>
            <a:r>
              <a:rPr sz="700" b="1">
                <a:solidFill>
                  <a:srgbClr val="FFFFFF"/>
                </a:solidFill>
                <a:latin typeface="Arial"/>
              </a:rPr>
              <a:t>YEAR</a:t>
            </a:r>
          </a:p>
        </p:txBody>
      </p:sp>
      <p:sp>
        <p:nvSpPr>
          <p:cNvPr id="7" name="TextBox 6"/>
          <p:cNvSpPr txBox="1"/>
          <p:nvPr/>
        </p:nvSpPr>
        <p:spPr>
          <a:xfrm>
            <a:off x="1316736" y="1882830"/>
            <a:ext cx="1115568" cy="182880"/>
          </a:xfrm>
          <a:prstGeom prst="rect">
            <a:avLst/>
          </a:prstGeom>
          <a:noFill/>
        </p:spPr>
        <p:txBody>
          <a:bodyPr wrap="square" lIns="0" rIns="0" tIns="0" bIns="0" anchor="t">
            <a:noAutofit/>
          </a:bodyPr>
          <a:lstStyle/>
          <a:p>
            <a:pPr algn="l">
              <a:lnSpc>
                <a:spcPct val="100000"/>
              </a:lnSpc>
            </a:pPr>
            <a:r>
              <a:rPr sz="700" b="1">
                <a:solidFill>
                  <a:srgbClr val="FFFFFF"/>
                </a:solidFill>
                <a:latin typeface="Arial"/>
              </a:rPr>
              <a:t>IMPRESSIONS</a:t>
            </a:r>
          </a:p>
        </p:txBody>
      </p:sp>
      <p:sp>
        <p:nvSpPr>
          <p:cNvPr id="8" name="TextBox 7"/>
          <p:cNvSpPr txBox="1"/>
          <p:nvPr/>
        </p:nvSpPr>
        <p:spPr>
          <a:xfrm>
            <a:off x="2560320" y="1882830"/>
            <a:ext cx="914399" cy="182880"/>
          </a:xfrm>
          <a:prstGeom prst="rect">
            <a:avLst/>
          </a:prstGeom>
          <a:noFill/>
        </p:spPr>
        <p:txBody>
          <a:bodyPr wrap="square" lIns="0" rIns="0" tIns="0" bIns="0" anchor="t">
            <a:noAutofit/>
          </a:bodyPr>
          <a:lstStyle/>
          <a:p>
            <a:pPr algn="l">
              <a:lnSpc>
                <a:spcPct val="100000"/>
              </a:lnSpc>
            </a:pPr>
            <a:r>
              <a:rPr sz="700" b="1">
                <a:solidFill>
                  <a:srgbClr val="FFFFFF"/>
                </a:solidFill>
                <a:latin typeface="Arial"/>
              </a:rPr>
              <a:t>VIEWS</a:t>
            </a:r>
          </a:p>
        </p:txBody>
      </p:sp>
      <p:sp>
        <p:nvSpPr>
          <p:cNvPr id="9" name="TextBox 8"/>
          <p:cNvSpPr txBox="1"/>
          <p:nvPr/>
        </p:nvSpPr>
        <p:spPr>
          <a:xfrm>
            <a:off x="3602736" y="1882830"/>
            <a:ext cx="914399" cy="182880"/>
          </a:xfrm>
          <a:prstGeom prst="rect">
            <a:avLst/>
          </a:prstGeom>
          <a:noFill/>
        </p:spPr>
        <p:txBody>
          <a:bodyPr wrap="square" lIns="0" rIns="0" tIns="0" bIns="0" anchor="t">
            <a:noAutofit/>
          </a:bodyPr>
          <a:lstStyle/>
          <a:p>
            <a:pPr algn="l">
              <a:lnSpc>
                <a:spcPct val="100000"/>
              </a:lnSpc>
            </a:pPr>
            <a:r>
              <a:rPr sz="700" b="1">
                <a:solidFill>
                  <a:srgbClr val="FFFFFF"/>
                </a:solidFill>
                <a:latin typeface="Arial"/>
              </a:rPr>
              <a:t>REACH</a:t>
            </a:r>
          </a:p>
        </p:txBody>
      </p:sp>
      <p:sp>
        <p:nvSpPr>
          <p:cNvPr id="10" name="TextBox 9"/>
          <p:cNvSpPr txBox="1"/>
          <p:nvPr/>
        </p:nvSpPr>
        <p:spPr>
          <a:xfrm>
            <a:off x="4645151" y="1882830"/>
            <a:ext cx="1170431" cy="182880"/>
          </a:xfrm>
          <a:prstGeom prst="rect">
            <a:avLst/>
          </a:prstGeom>
          <a:noFill/>
        </p:spPr>
        <p:txBody>
          <a:bodyPr wrap="square" lIns="0" rIns="0" tIns="0" bIns="0" anchor="t">
            <a:noAutofit/>
          </a:bodyPr>
          <a:lstStyle/>
          <a:p>
            <a:pPr algn="l">
              <a:lnSpc>
                <a:spcPct val="100000"/>
              </a:lnSpc>
            </a:pPr>
            <a:r>
              <a:rPr sz="700" b="1">
                <a:solidFill>
                  <a:srgbClr val="FFFFFF"/>
                </a:solidFill>
                <a:latin typeface="Arial"/>
              </a:rPr>
              <a:t>ENGAGEMENT</a:t>
            </a:r>
          </a:p>
        </p:txBody>
      </p:sp>
      <p:sp>
        <p:nvSpPr>
          <p:cNvPr id="11" name="TextBox 10"/>
          <p:cNvSpPr txBox="1"/>
          <p:nvPr/>
        </p:nvSpPr>
        <p:spPr>
          <a:xfrm>
            <a:off x="5943599" y="1882830"/>
            <a:ext cx="914399" cy="182880"/>
          </a:xfrm>
          <a:prstGeom prst="rect">
            <a:avLst/>
          </a:prstGeom>
          <a:noFill/>
        </p:spPr>
        <p:txBody>
          <a:bodyPr wrap="square" lIns="0" rIns="0" tIns="0" bIns="0" anchor="t">
            <a:noAutofit/>
          </a:bodyPr>
          <a:lstStyle/>
          <a:p>
            <a:pPr algn="l">
              <a:lnSpc>
                <a:spcPct val="100000"/>
              </a:lnSpc>
            </a:pPr>
            <a:r>
              <a:rPr sz="700" b="1">
                <a:solidFill>
                  <a:srgbClr val="FFFFFF"/>
                </a:solidFill>
                <a:latin typeface="Arial"/>
              </a:rPr>
              <a:t>ENTRIES</a:t>
            </a:r>
          </a:p>
        </p:txBody>
      </p:sp>
      <p:sp>
        <p:nvSpPr>
          <p:cNvPr id="12" name="TextBox 11"/>
          <p:cNvSpPr txBox="1"/>
          <p:nvPr/>
        </p:nvSpPr>
        <p:spPr>
          <a:xfrm>
            <a:off x="6986015" y="1882830"/>
            <a:ext cx="1609343" cy="182880"/>
          </a:xfrm>
          <a:prstGeom prst="rect">
            <a:avLst/>
          </a:prstGeom>
          <a:noFill/>
        </p:spPr>
        <p:txBody>
          <a:bodyPr wrap="square" lIns="0" rIns="0" tIns="0" bIns="0" anchor="t">
            <a:noAutofit/>
          </a:bodyPr>
          <a:lstStyle/>
          <a:p>
            <a:pPr algn="l">
              <a:lnSpc>
                <a:spcPct val="100000"/>
              </a:lnSpc>
            </a:pPr>
            <a:r>
              <a:rPr sz="700" b="1">
                <a:solidFill>
                  <a:srgbClr val="FFFFFF"/>
                </a:solidFill>
                <a:latin typeface="Arial"/>
              </a:rPr>
              <a:t>ENTRIES PER 1M REACHED</a:t>
            </a:r>
          </a:p>
        </p:txBody>
      </p:sp>
      <p:sp>
        <p:nvSpPr>
          <p:cNvPr id="13" name="Rectangle 12"/>
          <p:cNvSpPr/>
          <p:nvPr/>
        </p:nvSpPr>
        <p:spPr>
          <a:xfrm>
            <a:off x="512064" y="2102286"/>
            <a:ext cx="8119871"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4" name="TextBox 13"/>
          <p:cNvSpPr txBox="1"/>
          <p:nvPr/>
        </p:nvSpPr>
        <p:spPr>
          <a:xfrm>
            <a:off x="603504" y="2152578"/>
            <a:ext cx="585216" cy="201167"/>
          </a:xfrm>
          <a:prstGeom prst="rect">
            <a:avLst/>
          </a:prstGeom>
          <a:noFill/>
        </p:spPr>
        <p:txBody>
          <a:bodyPr wrap="square" lIns="0" rIns="0" tIns="0" bIns="0" anchor="t">
            <a:noAutofit/>
          </a:bodyPr>
          <a:lstStyle/>
          <a:p>
            <a:pPr algn="l">
              <a:lnSpc>
                <a:spcPct val="100000"/>
              </a:lnSpc>
            </a:pPr>
            <a:r>
              <a:rPr sz="850" b="1">
                <a:solidFill>
                  <a:srgbClr val="006838"/>
                </a:solidFill>
                <a:latin typeface="Arial"/>
              </a:rPr>
              <a:t>2022</a:t>
            </a:r>
          </a:p>
        </p:txBody>
      </p:sp>
      <p:sp>
        <p:nvSpPr>
          <p:cNvPr id="15" name="TextBox 14"/>
          <p:cNvSpPr txBox="1"/>
          <p:nvPr/>
        </p:nvSpPr>
        <p:spPr>
          <a:xfrm>
            <a:off x="1316736" y="2152578"/>
            <a:ext cx="1115568" cy="201167"/>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15.06M</a:t>
            </a:r>
          </a:p>
        </p:txBody>
      </p:sp>
      <p:sp>
        <p:nvSpPr>
          <p:cNvPr id="16" name="TextBox 15"/>
          <p:cNvSpPr txBox="1"/>
          <p:nvPr/>
        </p:nvSpPr>
        <p:spPr>
          <a:xfrm>
            <a:off x="2560320" y="2152578"/>
            <a:ext cx="914399" cy="201167"/>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3.40M</a:t>
            </a:r>
          </a:p>
        </p:txBody>
      </p:sp>
      <p:sp>
        <p:nvSpPr>
          <p:cNvPr id="17" name="TextBox 16"/>
          <p:cNvSpPr txBox="1"/>
          <p:nvPr/>
        </p:nvSpPr>
        <p:spPr>
          <a:xfrm>
            <a:off x="3602736" y="2152578"/>
            <a:ext cx="914399" cy="201167"/>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4.46M</a:t>
            </a:r>
          </a:p>
        </p:txBody>
      </p:sp>
      <p:sp>
        <p:nvSpPr>
          <p:cNvPr id="18" name="TextBox 17"/>
          <p:cNvSpPr txBox="1"/>
          <p:nvPr/>
        </p:nvSpPr>
        <p:spPr>
          <a:xfrm>
            <a:off x="4645151" y="2152578"/>
            <a:ext cx="1170431" cy="201167"/>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0.94M</a:t>
            </a:r>
          </a:p>
        </p:txBody>
      </p:sp>
      <p:sp>
        <p:nvSpPr>
          <p:cNvPr id="19" name="TextBox 18"/>
          <p:cNvSpPr txBox="1"/>
          <p:nvPr/>
        </p:nvSpPr>
        <p:spPr>
          <a:xfrm>
            <a:off x="5943599" y="2152578"/>
            <a:ext cx="914399" cy="201167"/>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11,834</a:t>
            </a:r>
          </a:p>
        </p:txBody>
      </p:sp>
      <p:sp>
        <p:nvSpPr>
          <p:cNvPr id="20" name="TextBox 19"/>
          <p:cNvSpPr txBox="1"/>
          <p:nvPr/>
        </p:nvSpPr>
        <p:spPr>
          <a:xfrm>
            <a:off x="6986015" y="2152578"/>
            <a:ext cx="1609343" cy="201167"/>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2,653</a:t>
            </a:r>
          </a:p>
        </p:txBody>
      </p:sp>
      <p:sp>
        <p:nvSpPr>
          <p:cNvPr id="21" name="Rectangle 20"/>
          <p:cNvSpPr/>
          <p:nvPr/>
        </p:nvSpPr>
        <p:spPr>
          <a:xfrm>
            <a:off x="512064" y="2376606"/>
            <a:ext cx="8119871" cy="274320"/>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2" name="TextBox 21"/>
          <p:cNvSpPr txBox="1"/>
          <p:nvPr/>
        </p:nvSpPr>
        <p:spPr>
          <a:xfrm>
            <a:off x="603504" y="2426898"/>
            <a:ext cx="585216" cy="201167"/>
          </a:xfrm>
          <a:prstGeom prst="rect">
            <a:avLst/>
          </a:prstGeom>
          <a:noFill/>
        </p:spPr>
        <p:txBody>
          <a:bodyPr wrap="square" lIns="0" rIns="0" tIns="0" bIns="0" anchor="t">
            <a:noAutofit/>
          </a:bodyPr>
          <a:lstStyle/>
          <a:p>
            <a:pPr algn="l">
              <a:lnSpc>
                <a:spcPct val="100000"/>
              </a:lnSpc>
            </a:pPr>
            <a:r>
              <a:rPr sz="850" b="1">
                <a:solidFill>
                  <a:srgbClr val="006838"/>
                </a:solidFill>
                <a:latin typeface="Arial"/>
              </a:rPr>
              <a:t>2023</a:t>
            </a:r>
          </a:p>
        </p:txBody>
      </p:sp>
      <p:sp>
        <p:nvSpPr>
          <p:cNvPr id="23" name="TextBox 22"/>
          <p:cNvSpPr txBox="1"/>
          <p:nvPr/>
        </p:nvSpPr>
        <p:spPr>
          <a:xfrm>
            <a:off x="1316736" y="2426898"/>
            <a:ext cx="1115568" cy="201167"/>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40.03M</a:t>
            </a:r>
          </a:p>
        </p:txBody>
      </p:sp>
      <p:sp>
        <p:nvSpPr>
          <p:cNvPr id="24" name="TextBox 23"/>
          <p:cNvSpPr txBox="1"/>
          <p:nvPr/>
        </p:nvSpPr>
        <p:spPr>
          <a:xfrm>
            <a:off x="2560320" y="2426898"/>
            <a:ext cx="914399" cy="201167"/>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13.81M</a:t>
            </a:r>
          </a:p>
        </p:txBody>
      </p:sp>
      <p:sp>
        <p:nvSpPr>
          <p:cNvPr id="25" name="TextBox 24"/>
          <p:cNvSpPr txBox="1"/>
          <p:nvPr/>
        </p:nvSpPr>
        <p:spPr>
          <a:xfrm>
            <a:off x="3602736" y="2426898"/>
            <a:ext cx="914399" cy="201167"/>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15.61M</a:t>
            </a:r>
          </a:p>
        </p:txBody>
      </p:sp>
      <p:sp>
        <p:nvSpPr>
          <p:cNvPr id="26" name="TextBox 25"/>
          <p:cNvSpPr txBox="1"/>
          <p:nvPr/>
        </p:nvSpPr>
        <p:spPr>
          <a:xfrm>
            <a:off x="4645151" y="2426898"/>
            <a:ext cx="1170431" cy="201167"/>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17.35M</a:t>
            </a:r>
          </a:p>
        </p:txBody>
      </p:sp>
      <p:sp>
        <p:nvSpPr>
          <p:cNvPr id="27" name="TextBox 26"/>
          <p:cNvSpPr txBox="1"/>
          <p:nvPr/>
        </p:nvSpPr>
        <p:spPr>
          <a:xfrm>
            <a:off x="5943599" y="2426898"/>
            <a:ext cx="914399" cy="201167"/>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8,464</a:t>
            </a:r>
          </a:p>
        </p:txBody>
      </p:sp>
      <p:sp>
        <p:nvSpPr>
          <p:cNvPr id="28" name="TextBox 27"/>
          <p:cNvSpPr txBox="1"/>
          <p:nvPr/>
        </p:nvSpPr>
        <p:spPr>
          <a:xfrm>
            <a:off x="6986015" y="2426898"/>
            <a:ext cx="1609343" cy="201167"/>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542</a:t>
            </a:r>
          </a:p>
        </p:txBody>
      </p:sp>
      <p:sp>
        <p:nvSpPr>
          <p:cNvPr id="29" name="Rectangle 28"/>
          <p:cNvSpPr/>
          <p:nvPr/>
        </p:nvSpPr>
        <p:spPr>
          <a:xfrm>
            <a:off x="512064" y="2650926"/>
            <a:ext cx="8119871"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0" name="TextBox 29"/>
          <p:cNvSpPr txBox="1"/>
          <p:nvPr/>
        </p:nvSpPr>
        <p:spPr>
          <a:xfrm>
            <a:off x="603504" y="2701218"/>
            <a:ext cx="585216" cy="201167"/>
          </a:xfrm>
          <a:prstGeom prst="rect">
            <a:avLst/>
          </a:prstGeom>
          <a:noFill/>
        </p:spPr>
        <p:txBody>
          <a:bodyPr wrap="square" lIns="0" rIns="0" tIns="0" bIns="0" anchor="t">
            <a:noAutofit/>
          </a:bodyPr>
          <a:lstStyle/>
          <a:p>
            <a:pPr algn="l">
              <a:lnSpc>
                <a:spcPct val="100000"/>
              </a:lnSpc>
            </a:pPr>
            <a:r>
              <a:rPr sz="850" b="1">
                <a:solidFill>
                  <a:srgbClr val="006838"/>
                </a:solidFill>
                <a:latin typeface="Arial"/>
              </a:rPr>
              <a:t>2024</a:t>
            </a:r>
          </a:p>
        </p:txBody>
      </p:sp>
      <p:sp>
        <p:nvSpPr>
          <p:cNvPr id="31" name="TextBox 30"/>
          <p:cNvSpPr txBox="1"/>
          <p:nvPr/>
        </p:nvSpPr>
        <p:spPr>
          <a:xfrm>
            <a:off x="1316736" y="2701218"/>
            <a:ext cx="1115568" cy="201167"/>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50.40M</a:t>
            </a:r>
          </a:p>
        </p:txBody>
      </p:sp>
      <p:sp>
        <p:nvSpPr>
          <p:cNvPr id="32" name="TextBox 31"/>
          <p:cNvSpPr txBox="1"/>
          <p:nvPr/>
        </p:nvSpPr>
        <p:spPr>
          <a:xfrm>
            <a:off x="2560320" y="2701218"/>
            <a:ext cx="914399" cy="201167"/>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10.43M</a:t>
            </a:r>
          </a:p>
        </p:txBody>
      </p:sp>
      <p:sp>
        <p:nvSpPr>
          <p:cNvPr id="33" name="TextBox 32"/>
          <p:cNvSpPr txBox="1"/>
          <p:nvPr/>
        </p:nvSpPr>
        <p:spPr>
          <a:xfrm>
            <a:off x="3602736" y="2701218"/>
            <a:ext cx="914399" cy="201167"/>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15.66M</a:t>
            </a:r>
          </a:p>
        </p:txBody>
      </p:sp>
      <p:sp>
        <p:nvSpPr>
          <p:cNvPr id="34" name="TextBox 33"/>
          <p:cNvSpPr txBox="1"/>
          <p:nvPr/>
        </p:nvSpPr>
        <p:spPr>
          <a:xfrm>
            <a:off x="4645151" y="2701218"/>
            <a:ext cx="1170431" cy="201167"/>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6.85M</a:t>
            </a:r>
          </a:p>
        </p:txBody>
      </p:sp>
      <p:sp>
        <p:nvSpPr>
          <p:cNvPr id="35" name="TextBox 34"/>
          <p:cNvSpPr txBox="1"/>
          <p:nvPr/>
        </p:nvSpPr>
        <p:spPr>
          <a:xfrm>
            <a:off x="5943599" y="2701218"/>
            <a:ext cx="914399" cy="201167"/>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7,576</a:t>
            </a:r>
          </a:p>
        </p:txBody>
      </p:sp>
      <p:sp>
        <p:nvSpPr>
          <p:cNvPr id="36" name="TextBox 35"/>
          <p:cNvSpPr txBox="1"/>
          <p:nvPr/>
        </p:nvSpPr>
        <p:spPr>
          <a:xfrm>
            <a:off x="6986015" y="2701218"/>
            <a:ext cx="1609343" cy="201167"/>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484</a:t>
            </a:r>
          </a:p>
        </p:txBody>
      </p:sp>
      <p:sp>
        <p:nvSpPr>
          <p:cNvPr id="37" name="Rectangle 36"/>
          <p:cNvSpPr/>
          <p:nvPr/>
        </p:nvSpPr>
        <p:spPr>
          <a:xfrm>
            <a:off x="512064" y="2925246"/>
            <a:ext cx="8119871" cy="274320"/>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8" name="TextBox 37"/>
          <p:cNvSpPr txBox="1"/>
          <p:nvPr/>
        </p:nvSpPr>
        <p:spPr>
          <a:xfrm>
            <a:off x="603504" y="2975538"/>
            <a:ext cx="585216" cy="201167"/>
          </a:xfrm>
          <a:prstGeom prst="rect">
            <a:avLst/>
          </a:prstGeom>
          <a:noFill/>
        </p:spPr>
        <p:txBody>
          <a:bodyPr wrap="square" lIns="0" rIns="0" tIns="0" bIns="0" anchor="t">
            <a:noAutofit/>
          </a:bodyPr>
          <a:lstStyle/>
          <a:p>
            <a:pPr algn="l">
              <a:lnSpc>
                <a:spcPct val="100000"/>
              </a:lnSpc>
            </a:pPr>
            <a:r>
              <a:rPr sz="850" b="1">
                <a:solidFill>
                  <a:srgbClr val="006838"/>
                </a:solidFill>
                <a:latin typeface="Arial"/>
              </a:rPr>
              <a:t>2025</a:t>
            </a:r>
          </a:p>
        </p:txBody>
      </p:sp>
      <p:sp>
        <p:nvSpPr>
          <p:cNvPr id="39" name="TextBox 38"/>
          <p:cNvSpPr txBox="1"/>
          <p:nvPr/>
        </p:nvSpPr>
        <p:spPr>
          <a:xfrm>
            <a:off x="1316736" y="2975538"/>
            <a:ext cx="1115568" cy="201167"/>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51.60M</a:t>
            </a:r>
          </a:p>
        </p:txBody>
      </p:sp>
      <p:sp>
        <p:nvSpPr>
          <p:cNvPr id="40" name="TextBox 39"/>
          <p:cNvSpPr txBox="1"/>
          <p:nvPr/>
        </p:nvSpPr>
        <p:spPr>
          <a:xfrm>
            <a:off x="2560320" y="2975538"/>
            <a:ext cx="914399" cy="201167"/>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11.21M</a:t>
            </a:r>
          </a:p>
        </p:txBody>
      </p:sp>
      <p:sp>
        <p:nvSpPr>
          <p:cNvPr id="41" name="TextBox 40"/>
          <p:cNvSpPr txBox="1"/>
          <p:nvPr/>
        </p:nvSpPr>
        <p:spPr>
          <a:xfrm>
            <a:off x="3602736" y="2975538"/>
            <a:ext cx="914399" cy="201167"/>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20.12M</a:t>
            </a:r>
          </a:p>
        </p:txBody>
      </p:sp>
      <p:sp>
        <p:nvSpPr>
          <p:cNvPr id="42" name="TextBox 41"/>
          <p:cNvSpPr txBox="1"/>
          <p:nvPr/>
        </p:nvSpPr>
        <p:spPr>
          <a:xfrm>
            <a:off x="4645151" y="2975538"/>
            <a:ext cx="1170431" cy="201167"/>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1.88M</a:t>
            </a:r>
          </a:p>
        </p:txBody>
      </p:sp>
      <p:sp>
        <p:nvSpPr>
          <p:cNvPr id="43" name="TextBox 42"/>
          <p:cNvSpPr txBox="1"/>
          <p:nvPr/>
        </p:nvSpPr>
        <p:spPr>
          <a:xfrm>
            <a:off x="5943599" y="2975538"/>
            <a:ext cx="914399" cy="201167"/>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4,179</a:t>
            </a:r>
          </a:p>
        </p:txBody>
      </p:sp>
      <p:sp>
        <p:nvSpPr>
          <p:cNvPr id="44" name="TextBox 43"/>
          <p:cNvSpPr txBox="1"/>
          <p:nvPr/>
        </p:nvSpPr>
        <p:spPr>
          <a:xfrm>
            <a:off x="6986015" y="2975538"/>
            <a:ext cx="1609343" cy="201167"/>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208</a:t>
            </a:r>
          </a:p>
        </p:txBody>
      </p:sp>
      <p:sp>
        <p:nvSpPr>
          <p:cNvPr id="45" name="Rectangle 44"/>
          <p:cNvSpPr/>
          <p:nvPr/>
        </p:nvSpPr>
        <p:spPr>
          <a:xfrm>
            <a:off x="512064" y="3199566"/>
            <a:ext cx="8119871"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6" name="TextBox 45"/>
          <p:cNvSpPr txBox="1"/>
          <p:nvPr/>
        </p:nvSpPr>
        <p:spPr>
          <a:xfrm>
            <a:off x="603504" y="3249858"/>
            <a:ext cx="585216" cy="201167"/>
          </a:xfrm>
          <a:prstGeom prst="rect">
            <a:avLst/>
          </a:prstGeom>
          <a:noFill/>
        </p:spPr>
        <p:txBody>
          <a:bodyPr wrap="square" lIns="0" rIns="0" tIns="0" bIns="0" anchor="t">
            <a:noAutofit/>
          </a:bodyPr>
          <a:lstStyle/>
          <a:p>
            <a:pPr algn="l">
              <a:lnSpc>
                <a:spcPct val="100000"/>
              </a:lnSpc>
            </a:pPr>
            <a:r>
              <a:rPr sz="850" b="1">
                <a:solidFill>
                  <a:srgbClr val="006838"/>
                </a:solidFill>
                <a:latin typeface="Arial"/>
              </a:rPr>
              <a:t>2026</a:t>
            </a:r>
          </a:p>
        </p:txBody>
      </p:sp>
      <p:sp>
        <p:nvSpPr>
          <p:cNvPr id="47" name="TextBox 46"/>
          <p:cNvSpPr txBox="1"/>
          <p:nvPr/>
        </p:nvSpPr>
        <p:spPr>
          <a:xfrm>
            <a:off x="1316736" y="3249858"/>
            <a:ext cx="1115568" cy="201167"/>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51.00M</a:t>
            </a:r>
          </a:p>
        </p:txBody>
      </p:sp>
      <p:sp>
        <p:nvSpPr>
          <p:cNvPr id="48" name="TextBox 47"/>
          <p:cNvSpPr txBox="1"/>
          <p:nvPr/>
        </p:nvSpPr>
        <p:spPr>
          <a:xfrm>
            <a:off x="2560320" y="3249858"/>
            <a:ext cx="914399" cy="201167"/>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38.82M</a:t>
            </a:r>
          </a:p>
        </p:txBody>
      </p:sp>
      <p:sp>
        <p:nvSpPr>
          <p:cNvPr id="49" name="TextBox 48"/>
          <p:cNvSpPr txBox="1"/>
          <p:nvPr/>
        </p:nvSpPr>
        <p:spPr>
          <a:xfrm>
            <a:off x="3602736" y="3249858"/>
            <a:ext cx="914399" cy="201167"/>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13.80M</a:t>
            </a:r>
          </a:p>
        </p:txBody>
      </p:sp>
      <p:sp>
        <p:nvSpPr>
          <p:cNvPr id="50" name="TextBox 49"/>
          <p:cNvSpPr txBox="1"/>
          <p:nvPr/>
        </p:nvSpPr>
        <p:spPr>
          <a:xfrm>
            <a:off x="4645151" y="3249858"/>
            <a:ext cx="1170431" cy="201167"/>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0.04M</a:t>
            </a:r>
          </a:p>
        </p:txBody>
      </p:sp>
      <p:sp>
        <p:nvSpPr>
          <p:cNvPr id="51" name="TextBox 50"/>
          <p:cNvSpPr txBox="1"/>
          <p:nvPr/>
        </p:nvSpPr>
        <p:spPr>
          <a:xfrm>
            <a:off x="5943599" y="3249858"/>
            <a:ext cx="914399" cy="201167"/>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3,765</a:t>
            </a:r>
          </a:p>
        </p:txBody>
      </p:sp>
      <p:sp>
        <p:nvSpPr>
          <p:cNvPr id="52" name="TextBox 51"/>
          <p:cNvSpPr txBox="1"/>
          <p:nvPr/>
        </p:nvSpPr>
        <p:spPr>
          <a:xfrm>
            <a:off x="6986015" y="3249858"/>
            <a:ext cx="1609343" cy="201167"/>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273</a:t>
            </a:r>
          </a:p>
        </p:txBody>
      </p:sp>
      <p:sp>
        <p:nvSpPr>
          <p:cNvPr id="53" name="TextBox 52"/>
          <p:cNvSpPr txBox="1"/>
          <p:nvPr/>
        </p:nvSpPr>
        <p:spPr>
          <a:xfrm>
            <a:off x="512064" y="3565326"/>
            <a:ext cx="8119871" cy="168656"/>
          </a:xfrm>
          <a:prstGeom prst="rect">
            <a:avLst/>
          </a:prstGeom>
          <a:noFill/>
        </p:spPr>
        <p:txBody>
          <a:bodyPr wrap="square" lIns="0" rIns="0" tIns="0" bIns="0" anchor="t">
            <a:noAutofit/>
          </a:bodyPr>
          <a:lstStyle/>
          <a:p>
            <a:pPr algn="l">
              <a:lnSpc>
                <a:spcPct val="112000"/>
              </a:lnSpc>
            </a:pPr>
            <a:r>
              <a:rPr sz="800" b="0">
                <a:solidFill>
                  <a:srgbClr val="6E8A76"/>
                </a:solidFill>
                <a:latin typeface="Arial"/>
              </a:rPr>
              <a:t>Source: RARA 2025 deck for per platform actuals and the weekly entry table, and the RARA 2026 deck for the 2022 to 2026 performance series.</a:t>
            </a:r>
          </a:p>
        </p:txBody>
      </p:sp>
      <p:sp>
        <p:nvSpPr>
          <p:cNvPr id="54" name="Rectangle 53"/>
          <p:cNvSpPr/>
          <p:nvPr/>
        </p:nvSpPr>
        <p:spPr>
          <a:xfrm>
            <a:off x="438912" y="4443984"/>
            <a:ext cx="8266175" cy="402336"/>
          </a:xfrm>
          <a:prstGeom prst="rect">
            <a:avLst/>
          </a:prstGeom>
          <a:solidFill>
            <a:srgbClr val="052B1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5" name="TextBox 54"/>
          <p:cNvSpPr txBox="1"/>
          <p:nvPr/>
        </p:nvSpPr>
        <p:spPr>
          <a:xfrm>
            <a:off x="658368" y="4480560"/>
            <a:ext cx="7827264" cy="347472"/>
          </a:xfrm>
          <a:prstGeom prst="rect">
            <a:avLst/>
          </a:prstGeom>
          <a:noFill/>
        </p:spPr>
        <p:txBody>
          <a:bodyPr wrap="square" lIns="0" rIns="0" tIns="0" bIns="0" anchor="ctr">
            <a:noAutofit/>
          </a:bodyPr>
          <a:lstStyle/>
          <a:p>
            <a:pPr algn="l">
              <a:lnSpc>
                <a:spcPct val="100000"/>
              </a:lnSpc>
            </a:pPr>
            <a:r>
              <a:rPr sz="950" b="1">
                <a:solidFill>
                  <a:srgbClr val="F5EC2E"/>
                </a:solidFill>
                <a:latin typeface="Arial"/>
              </a:rPr>
              <a:t>Hold 2026's rate of 273 and </a:t>
            </a:r>
            <a:r>
              <a:rPr sz="950" b="0">
                <a:solidFill>
                  <a:srgbClr val="FFFFFF"/>
                </a:solidFill>
                <a:latin typeface="Arial"/>
              </a:rPr>
              <a:t>it takes 14.7 million reached to land 4,000 entries. The brief asks for 15 million, so the brief holds together only while entry friction stays where it was.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AEC"/>
        </a:solidFill>
        <a:effectLst/>
      </p:bgPr>
    </p:bg>
    <p:spTree>
      <p:nvGrpSpPr>
        <p:cNvPr id="1" name=""/>
        <p:cNvGrpSpPr/>
        <p:nvPr/>
      </p:nvGrpSpPr>
      <p:grpSpPr/>
      <p:sp>
        <p:nvSpPr>
          <p:cNvPr id="2" name="Rectangle 1"/>
          <p:cNvSpPr/>
          <p:nvPr/>
        </p:nvSpPr>
        <p:spPr>
          <a:xfrm>
            <a:off x="512064" y="365760"/>
            <a:ext cx="219456" cy="73152"/>
          </a:xfrm>
          <a:prstGeom prst="rect">
            <a:avLst/>
          </a:prstGeom>
          <a:solidFill>
            <a:srgbClr val="C51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 name="TextBox 2"/>
          <p:cNvSpPr txBox="1"/>
          <p:nvPr/>
        </p:nvSpPr>
        <p:spPr>
          <a:xfrm>
            <a:off x="512064" y="566928"/>
            <a:ext cx="8119872" cy="475488"/>
          </a:xfrm>
          <a:prstGeom prst="rect">
            <a:avLst/>
          </a:prstGeom>
          <a:noFill/>
        </p:spPr>
        <p:txBody>
          <a:bodyPr wrap="square" lIns="0" rIns="0" tIns="0" bIns="0" anchor="t">
            <a:noAutofit/>
          </a:bodyPr>
          <a:lstStyle/>
          <a:p>
            <a:pPr algn="l">
              <a:lnSpc>
                <a:spcPct val="96000"/>
              </a:lnSpc>
            </a:pPr>
            <a:r>
              <a:rPr sz="2400" b="0">
                <a:solidFill>
                  <a:srgbClr val="006838"/>
                </a:solidFill>
                <a:latin typeface="Arial Black"/>
              </a:rPr>
              <a:t>The brief prices entry at RM175. Mata prices it at RM25.</a:t>
            </a:r>
          </a:p>
        </p:txBody>
      </p:sp>
      <p:sp>
        <p:nvSpPr>
          <p:cNvPr id="4" name="TextBox 3"/>
          <p:cNvSpPr txBox="1"/>
          <p:nvPr/>
        </p:nvSpPr>
        <p:spPr>
          <a:xfrm>
            <a:off x="512064" y="1060704"/>
            <a:ext cx="8119872" cy="365760"/>
          </a:xfrm>
          <a:prstGeom prst="rect">
            <a:avLst/>
          </a:prstGeom>
          <a:noFill/>
        </p:spPr>
        <p:txBody>
          <a:bodyPr wrap="square" lIns="0" rIns="0" tIns="0" bIns="0" anchor="t">
            <a:noAutofit/>
          </a:bodyPr>
          <a:lstStyle/>
          <a:p>
            <a:pPr algn="l">
              <a:lnSpc>
                <a:spcPct val="112000"/>
              </a:lnSpc>
            </a:pPr>
            <a:r>
              <a:rPr sz="1100" b="0">
                <a:solidFill>
                  <a:srgbClr val="6E8A76"/>
                </a:solidFill>
                <a:latin typeface="Arial"/>
              </a:rPr>
              <a:t>The 2027 brief asks for 6% more entries than 2026 while raising the cost of entering by seven times. No media budget solves that, and no creative idea talks a shopper into a second trip.</a:t>
            </a:r>
          </a:p>
        </p:txBody>
      </p:sp>
      <p:sp>
        <p:nvSpPr>
          <p:cNvPr id="5" name="Rectangle 4"/>
          <p:cNvSpPr/>
          <p:nvPr/>
        </p:nvSpPr>
        <p:spPr>
          <a:xfrm>
            <a:off x="512064" y="1895154"/>
            <a:ext cx="3968496" cy="1653540"/>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Rectangle 5"/>
          <p:cNvSpPr/>
          <p:nvPr/>
        </p:nvSpPr>
        <p:spPr>
          <a:xfrm>
            <a:off x="512064" y="1895154"/>
            <a:ext cx="3968496" cy="54864"/>
          </a:xfrm>
          <a:prstGeom prst="rect">
            <a:avLst/>
          </a:prstGeom>
          <a:solidFill>
            <a:srgbClr val="C51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7" name="TextBox 6"/>
          <p:cNvSpPr txBox="1"/>
          <p:nvPr/>
        </p:nvSpPr>
        <p:spPr>
          <a:xfrm>
            <a:off x="676656" y="2078034"/>
            <a:ext cx="3639312" cy="310896"/>
          </a:xfrm>
          <a:prstGeom prst="rect">
            <a:avLst/>
          </a:prstGeom>
          <a:noFill/>
        </p:spPr>
        <p:txBody>
          <a:bodyPr wrap="square" lIns="0" rIns="0" tIns="0" bIns="0" anchor="t">
            <a:noAutofit/>
          </a:bodyPr>
          <a:lstStyle/>
          <a:p>
            <a:pPr algn="l">
              <a:lnSpc>
                <a:spcPct val="94000"/>
              </a:lnSpc>
            </a:pPr>
            <a:r>
              <a:rPr sz="2000" b="0">
                <a:solidFill>
                  <a:srgbClr val="C5192B"/>
                </a:solidFill>
                <a:latin typeface="Arial Black"/>
              </a:rPr>
              <a:t>RM175</a:t>
            </a:r>
          </a:p>
        </p:txBody>
      </p:sp>
      <p:sp>
        <p:nvSpPr>
          <p:cNvPr id="8" name="TextBox 7"/>
          <p:cNvSpPr txBox="1"/>
          <p:nvPr/>
        </p:nvSpPr>
        <p:spPr>
          <a:xfrm>
            <a:off x="676656" y="2407218"/>
            <a:ext cx="3639312" cy="182880"/>
          </a:xfrm>
          <a:prstGeom prst="rect">
            <a:avLst/>
          </a:prstGeom>
          <a:noFill/>
        </p:spPr>
        <p:txBody>
          <a:bodyPr wrap="square" lIns="0" rIns="0" tIns="0" bIns="0" anchor="t">
            <a:noAutofit/>
          </a:bodyPr>
          <a:lstStyle/>
          <a:p>
            <a:pPr algn="l">
              <a:lnSpc>
                <a:spcPct val="100000"/>
              </a:lnSpc>
            </a:pPr>
            <a:r>
              <a:rPr sz="800" b="1">
                <a:solidFill>
                  <a:srgbClr val="6E8A76"/>
                </a:solidFill>
                <a:latin typeface="Arial"/>
              </a:rPr>
              <a:t>AS BRIEFED</a:t>
            </a:r>
          </a:p>
        </p:txBody>
      </p:sp>
      <p:sp>
        <p:nvSpPr>
          <p:cNvPr id="9" name="TextBox 8"/>
          <p:cNvSpPr txBox="1"/>
          <p:nvPr/>
        </p:nvSpPr>
        <p:spPr>
          <a:xfrm>
            <a:off x="676656" y="2617530"/>
            <a:ext cx="3639312" cy="164592"/>
          </a:xfrm>
          <a:prstGeom prst="rect">
            <a:avLst/>
          </a:prstGeom>
          <a:noFill/>
        </p:spPr>
        <p:txBody>
          <a:bodyPr wrap="square" lIns="0" rIns="0" tIns="0" bIns="0" anchor="t">
            <a:noAutofit/>
          </a:bodyPr>
          <a:lstStyle/>
          <a:p>
            <a:pPr algn="l">
              <a:lnSpc>
                <a:spcPct val="100000"/>
              </a:lnSpc>
            </a:pPr>
            <a:r>
              <a:rPr sz="750" b="1">
                <a:solidFill>
                  <a:srgbClr val="E8912C"/>
                </a:solidFill>
                <a:latin typeface="Arial"/>
              </a:rPr>
              <a:t>TWO BRANDS, TWO SHOPS, TWO TRIPS</a:t>
            </a:r>
          </a:p>
        </p:txBody>
      </p:sp>
      <p:sp>
        <p:nvSpPr>
          <p:cNvPr id="10" name="TextBox 9"/>
          <p:cNvSpPr txBox="1"/>
          <p:nvPr/>
        </p:nvSpPr>
        <p:spPr>
          <a:xfrm>
            <a:off x="676656" y="2809554"/>
            <a:ext cx="3639312" cy="547116"/>
          </a:xfrm>
          <a:prstGeom prst="rect">
            <a:avLst/>
          </a:prstGeom>
          <a:noFill/>
        </p:spPr>
        <p:txBody>
          <a:bodyPr wrap="square" lIns="0" rIns="0" tIns="0" bIns="0" anchor="t">
            <a:noAutofit/>
          </a:bodyPr>
          <a:lstStyle/>
          <a:p>
            <a:pPr algn="l">
              <a:lnSpc>
                <a:spcPct val="114000"/>
              </a:lnSpc>
            </a:pPr>
            <a:r>
              <a:rPr sz="850" b="0">
                <a:solidFill>
                  <a:srgbClr val="1F3326"/>
                </a:solidFill>
                <a:latin typeface="Arial"/>
              </a:rPr>
              <a:t>RM150 of Bulan Bintang plus RM25 of Saji, bought at separate retailers on separate days, with one receipt surviving in a handbag until the second one exists. We could not find a single Malaysian contest that asks this.</a:t>
            </a:r>
          </a:p>
        </p:txBody>
      </p:sp>
      <p:sp>
        <p:nvSpPr>
          <p:cNvPr id="11" name="Rectangle 10"/>
          <p:cNvSpPr/>
          <p:nvPr/>
        </p:nvSpPr>
        <p:spPr>
          <a:xfrm>
            <a:off x="4663440" y="1895154"/>
            <a:ext cx="3968496" cy="1653540"/>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2" name="Rectangle 11"/>
          <p:cNvSpPr/>
          <p:nvPr/>
        </p:nvSpPr>
        <p:spPr>
          <a:xfrm>
            <a:off x="4663440" y="1895154"/>
            <a:ext cx="3968496" cy="54864"/>
          </a:xfrm>
          <a:prstGeom prst="rect">
            <a:avLst/>
          </a:prstGeom>
          <a:solidFill>
            <a:srgbClr val="00A65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3" name="TextBox 12"/>
          <p:cNvSpPr txBox="1"/>
          <p:nvPr/>
        </p:nvSpPr>
        <p:spPr>
          <a:xfrm>
            <a:off x="4828032" y="2078034"/>
            <a:ext cx="3639312" cy="310896"/>
          </a:xfrm>
          <a:prstGeom prst="rect">
            <a:avLst/>
          </a:prstGeom>
          <a:noFill/>
        </p:spPr>
        <p:txBody>
          <a:bodyPr wrap="square" lIns="0" rIns="0" tIns="0" bIns="0" anchor="t">
            <a:noAutofit/>
          </a:bodyPr>
          <a:lstStyle/>
          <a:p>
            <a:pPr algn="l">
              <a:lnSpc>
                <a:spcPct val="94000"/>
              </a:lnSpc>
            </a:pPr>
            <a:r>
              <a:rPr sz="2000" b="0">
                <a:solidFill>
                  <a:srgbClr val="00A651"/>
                </a:solidFill>
                <a:latin typeface="Arial Black"/>
              </a:rPr>
              <a:t>RM25</a:t>
            </a:r>
          </a:p>
        </p:txBody>
      </p:sp>
      <p:sp>
        <p:nvSpPr>
          <p:cNvPr id="14" name="TextBox 13"/>
          <p:cNvSpPr txBox="1"/>
          <p:nvPr/>
        </p:nvSpPr>
        <p:spPr>
          <a:xfrm>
            <a:off x="4828032" y="2407218"/>
            <a:ext cx="3639312" cy="182880"/>
          </a:xfrm>
          <a:prstGeom prst="rect">
            <a:avLst/>
          </a:prstGeom>
          <a:noFill/>
        </p:spPr>
        <p:txBody>
          <a:bodyPr wrap="square" lIns="0" rIns="0" tIns="0" bIns="0" anchor="t">
            <a:noAutofit/>
          </a:bodyPr>
          <a:lstStyle/>
          <a:p>
            <a:pPr algn="l">
              <a:lnSpc>
                <a:spcPct val="100000"/>
              </a:lnSpc>
            </a:pPr>
            <a:r>
              <a:rPr sz="800" b="1">
                <a:solidFill>
                  <a:srgbClr val="6E8A76"/>
                </a:solidFill>
                <a:latin typeface="Arial"/>
              </a:rPr>
              <a:t>WITH MATA RAYA</a:t>
            </a:r>
          </a:p>
        </p:txBody>
      </p:sp>
      <p:sp>
        <p:nvSpPr>
          <p:cNvPr id="15" name="TextBox 14"/>
          <p:cNvSpPr txBox="1"/>
          <p:nvPr/>
        </p:nvSpPr>
        <p:spPr>
          <a:xfrm>
            <a:off x="4828032" y="2617530"/>
            <a:ext cx="3639312" cy="164592"/>
          </a:xfrm>
          <a:prstGeom prst="rect">
            <a:avLst/>
          </a:prstGeom>
          <a:noFill/>
        </p:spPr>
        <p:txBody>
          <a:bodyPr wrap="square" lIns="0" rIns="0" tIns="0" bIns="0" anchor="t">
            <a:noAutofit/>
          </a:bodyPr>
          <a:lstStyle/>
          <a:p>
            <a:pPr algn="l">
              <a:lnSpc>
                <a:spcPct val="100000"/>
              </a:lnSpc>
            </a:pPr>
            <a:r>
              <a:rPr sz="750" b="1">
                <a:solidFill>
                  <a:srgbClr val="E8912C"/>
                </a:solidFill>
                <a:latin typeface="Arial"/>
              </a:rPr>
              <a:t>ONE BRAND, ANY GROCER, ANY DAY</a:t>
            </a:r>
          </a:p>
        </p:txBody>
      </p:sp>
      <p:sp>
        <p:nvSpPr>
          <p:cNvPr id="16" name="TextBox 15"/>
          <p:cNvSpPr txBox="1"/>
          <p:nvPr/>
        </p:nvSpPr>
        <p:spPr>
          <a:xfrm>
            <a:off x="4828032" y="2809554"/>
            <a:ext cx="3639312" cy="547116"/>
          </a:xfrm>
          <a:prstGeom prst="rect">
            <a:avLst/>
          </a:prstGeom>
          <a:noFill/>
        </p:spPr>
        <p:txBody>
          <a:bodyPr wrap="square" lIns="0" rIns="0" tIns="0" bIns="0" anchor="t">
            <a:noAutofit/>
          </a:bodyPr>
          <a:lstStyle/>
          <a:p>
            <a:pPr algn="l">
              <a:lnSpc>
                <a:spcPct val="114000"/>
              </a:lnSpc>
            </a:pPr>
            <a:r>
              <a:rPr sz="850" b="0">
                <a:solidFill>
                  <a:srgbClr val="1F3326"/>
                </a:solidFill>
                <a:latin typeface="Arial"/>
              </a:rPr>
              <a:t>RM25 of Saji at any store that stocks it earns one chance. The same threshold the client already approved, minus the partner dependency and minus the second trip. Bulan Bintang then adds Mata on top rather than standing in the way.</a:t>
            </a:r>
          </a:p>
        </p:txBody>
      </p:sp>
      <p:sp>
        <p:nvSpPr>
          <p:cNvPr id="17" name="Rectangle 16"/>
          <p:cNvSpPr/>
          <p:nvPr/>
        </p:nvSpPr>
        <p:spPr>
          <a:xfrm>
            <a:off x="438912" y="4443984"/>
            <a:ext cx="8266175" cy="402336"/>
          </a:xfrm>
          <a:prstGeom prst="rect">
            <a:avLst/>
          </a:prstGeom>
          <a:solidFill>
            <a:srgbClr val="052B1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8" name="TextBox 17"/>
          <p:cNvSpPr txBox="1"/>
          <p:nvPr/>
        </p:nvSpPr>
        <p:spPr>
          <a:xfrm>
            <a:off x="658368" y="4480560"/>
            <a:ext cx="7827264" cy="347472"/>
          </a:xfrm>
          <a:prstGeom prst="rect">
            <a:avLst/>
          </a:prstGeom>
          <a:noFill/>
        </p:spPr>
        <p:txBody>
          <a:bodyPr wrap="square" lIns="0" rIns="0" tIns="0" bIns="0" anchor="ctr">
            <a:noAutofit/>
          </a:bodyPr>
          <a:lstStyle/>
          <a:p>
            <a:pPr algn="l">
              <a:lnSpc>
                <a:spcPct val="100000"/>
              </a:lnSpc>
            </a:pPr>
            <a:r>
              <a:rPr sz="950" b="1">
                <a:solidFill>
                  <a:srgbClr val="F5EC2E"/>
                </a:solidFill>
                <a:latin typeface="Arial"/>
              </a:rPr>
              <a:t>Why this matters more than the media plan: </a:t>
            </a:r>
            <a:r>
              <a:rPr sz="950" b="0">
                <a:solidFill>
                  <a:srgbClr val="FFFFFF"/>
                </a:solidFill>
                <a:latin typeface="Arial"/>
              </a:rPr>
              <a:t>the qualifying spend falls by seven times, and that single change does more for entry volume than any budget increase on the table.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52B18"/>
        </a:solidFill>
        <a:effectLst/>
      </p:bgPr>
    </p:bg>
    <p:spTree>
      <p:nvGrpSpPr>
        <p:cNvPr id="1" name=""/>
        <p:cNvGrpSpPr/>
        <p:nvPr/>
      </p:nvGrpSpPr>
      <p:grpSpPr/>
      <p:sp>
        <p:nvSpPr>
          <p:cNvPr id="2" name="Rectangle 1"/>
          <p:cNvSpPr/>
          <p:nvPr/>
        </p:nvSpPr>
        <p:spPr>
          <a:xfrm>
            <a:off x="0" y="0"/>
            <a:ext cx="128016" cy="5143500"/>
          </a:xfrm>
          <a:prstGeom prst="rect">
            <a:avLst/>
          </a:prstGeom>
          <a:solidFill>
            <a:srgbClr val="C51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 name="TextBox 2"/>
          <p:cNvSpPr txBox="1"/>
          <p:nvPr/>
        </p:nvSpPr>
        <p:spPr>
          <a:xfrm>
            <a:off x="640080" y="1554480"/>
            <a:ext cx="3657600" cy="365760"/>
          </a:xfrm>
          <a:prstGeom prst="rect">
            <a:avLst/>
          </a:prstGeom>
          <a:noFill/>
        </p:spPr>
        <p:txBody>
          <a:bodyPr wrap="square" lIns="0" rIns="0" tIns="0" bIns="0" anchor="t">
            <a:noAutofit/>
          </a:bodyPr>
          <a:lstStyle/>
          <a:p>
            <a:pPr algn="l">
              <a:lnSpc>
                <a:spcPct val="92000"/>
              </a:lnSpc>
            </a:pPr>
            <a:r>
              <a:rPr sz="2100" b="0">
                <a:solidFill>
                  <a:srgbClr val="FFFFFF"/>
                </a:solidFill>
                <a:latin typeface="Arial Black"/>
              </a:rPr>
              <a:t>01.</a:t>
            </a:r>
          </a:p>
        </p:txBody>
      </p:sp>
      <p:sp>
        <p:nvSpPr>
          <p:cNvPr id="4" name="TextBox 3"/>
          <p:cNvSpPr txBox="1"/>
          <p:nvPr/>
        </p:nvSpPr>
        <p:spPr>
          <a:xfrm>
            <a:off x="640080" y="2121408"/>
            <a:ext cx="6949440" cy="822960"/>
          </a:xfrm>
          <a:prstGeom prst="rect">
            <a:avLst/>
          </a:prstGeom>
          <a:noFill/>
        </p:spPr>
        <p:txBody>
          <a:bodyPr wrap="square" lIns="0" rIns="0" tIns="0" bIns="0" anchor="t">
            <a:noAutofit/>
          </a:bodyPr>
          <a:lstStyle/>
          <a:p>
            <a:pPr algn="l">
              <a:lnSpc>
                <a:spcPct val="94000"/>
              </a:lnSpc>
            </a:pPr>
            <a:r>
              <a:rPr sz="3800" b="0">
                <a:solidFill>
                  <a:srgbClr val="FFFFFF"/>
                </a:solidFill>
                <a:latin typeface="Arial Black"/>
              </a:rPr>
              <a:t>The mechanic</a:t>
            </a:r>
          </a:p>
        </p:txBody>
      </p:sp>
      <p:sp>
        <p:nvSpPr>
          <p:cNvPr id="5" name="TextBox 4"/>
          <p:cNvSpPr txBox="1"/>
          <p:nvPr/>
        </p:nvSpPr>
        <p:spPr>
          <a:xfrm>
            <a:off x="640080" y="3063240"/>
            <a:ext cx="7863840" cy="822960"/>
          </a:xfrm>
          <a:prstGeom prst="rect">
            <a:avLst/>
          </a:prstGeom>
          <a:noFill/>
        </p:spPr>
        <p:txBody>
          <a:bodyPr wrap="square" lIns="0" rIns="0" tIns="0" bIns="0" anchor="t">
            <a:noAutofit/>
          </a:bodyPr>
          <a:lstStyle/>
          <a:p>
            <a:pPr algn="l">
              <a:lnSpc>
                <a:spcPct val="118000"/>
              </a:lnSpc>
            </a:pPr>
            <a:r>
              <a:rPr sz="1500" b="0">
                <a:solidFill>
                  <a:srgbClr val="F8C84A"/>
                </a:solidFill>
                <a:latin typeface="Arial"/>
              </a:rPr>
              <a:t>Why a spend leaderboard breaks on its own, how Mata Raya keeps the part of Yang's idea that works, and what the client gets that no other mechanic offers.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AEC"/>
        </a:solidFill>
        <a:effectLst/>
      </p:bgPr>
    </p:bg>
    <p:spTree>
      <p:nvGrpSpPr>
        <p:cNvPr id="1" name=""/>
        <p:cNvGrpSpPr/>
        <p:nvPr/>
      </p:nvGrpSpPr>
      <p:grpSpPr/>
      <p:sp>
        <p:nvSpPr>
          <p:cNvPr id="2" name="Rectangle 1"/>
          <p:cNvSpPr/>
          <p:nvPr/>
        </p:nvSpPr>
        <p:spPr>
          <a:xfrm>
            <a:off x="512064" y="365760"/>
            <a:ext cx="219456" cy="73152"/>
          </a:xfrm>
          <a:prstGeom prst="rect">
            <a:avLst/>
          </a:prstGeom>
          <a:solidFill>
            <a:srgbClr val="C51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 name="TextBox 2"/>
          <p:cNvSpPr txBox="1"/>
          <p:nvPr/>
        </p:nvSpPr>
        <p:spPr>
          <a:xfrm>
            <a:off x="512064" y="566928"/>
            <a:ext cx="8119872" cy="475488"/>
          </a:xfrm>
          <a:prstGeom prst="rect">
            <a:avLst/>
          </a:prstGeom>
          <a:noFill/>
        </p:spPr>
        <p:txBody>
          <a:bodyPr wrap="square" lIns="0" rIns="0" tIns="0" bIns="0" anchor="t">
            <a:noAutofit/>
          </a:bodyPr>
          <a:lstStyle/>
          <a:p>
            <a:pPr algn="l">
              <a:lnSpc>
                <a:spcPct val="96000"/>
              </a:lnSpc>
            </a:pPr>
            <a:r>
              <a:rPr sz="2400" b="0">
                <a:solidFill>
                  <a:srgbClr val="006838"/>
                </a:solidFill>
                <a:latin typeface="Arial Black"/>
              </a:rPr>
              <a:t>A spend leaderboard breaks three ways.</a:t>
            </a:r>
          </a:p>
        </p:txBody>
      </p:sp>
      <p:sp>
        <p:nvSpPr>
          <p:cNvPr id="4" name="TextBox 3"/>
          <p:cNvSpPr txBox="1"/>
          <p:nvPr/>
        </p:nvSpPr>
        <p:spPr>
          <a:xfrm>
            <a:off x="512064" y="1060704"/>
            <a:ext cx="8119872" cy="365760"/>
          </a:xfrm>
          <a:prstGeom prst="rect">
            <a:avLst/>
          </a:prstGeom>
          <a:noFill/>
        </p:spPr>
        <p:txBody>
          <a:bodyPr wrap="square" lIns="0" rIns="0" tIns="0" bIns="0" anchor="t">
            <a:noAutofit/>
          </a:bodyPr>
          <a:lstStyle/>
          <a:p>
            <a:pPr algn="l">
              <a:lnSpc>
                <a:spcPct val="112000"/>
              </a:lnSpc>
            </a:pPr>
            <a:r>
              <a:rPr sz="1100" b="0">
                <a:solidFill>
                  <a:srgbClr val="6E8A76"/>
                </a:solidFill>
                <a:latin typeface="Arial"/>
              </a:rPr>
              <a:t>Read as written, top spender wins is the wrong engine for a brand that already holds 60% market share and told us on 24 September that the goal is new product trial.</a:t>
            </a:r>
          </a:p>
        </p:txBody>
      </p:sp>
      <p:sp>
        <p:nvSpPr>
          <p:cNvPr id="5" name="Rectangle 4"/>
          <p:cNvSpPr/>
          <p:nvPr/>
        </p:nvSpPr>
        <p:spPr>
          <a:xfrm>
            <a:off x="512064" y="1866397"/>
            <a:ext cx="2584704" cy="1738121"/>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Rectangle 5"/>
          <p:cNvSpPr/>
          <p:nvPr/>
        </p:nvSpPr>
        <p:spPr>
          <a:xfrm>
            <a:off x="512064" y="1866397"/>
            <a:ext cx="2584704" cy="54864"/>
          </a:xfrm>
          <a:prstGeom prst="rect">
            <a:avLst/>
          </a:prstGeom>
          <a:solidFill>
            <a:srgbClr val="C51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7" name="TextBox 6"/>
          <p:cNvSpPr txBox="1"/>
          <p:nvPr/>
        </p:nvSpPr>
        <p:spPr>
          <a:xfrm>
            <a:off x="676656" y="2049277"/>
            <a:ext cx="2255520" cy="182880"/>
          </a:xfrm>
          <a:prstGeom prst="rect">
            <a:avLst/>
          </a:prstGeom>
          <a:noFill/>
        </p:spPr>
        <p:txBody>
          <a:bodyPr wrap="square" lIns="0" rIns="0" tIns="0" bIns="0" anchor="t">
            <a:noAutofit/>
          </a:bodyPr>
          <a:lstStyle/>
          <a:p>
            <a:pPr algn="l">
              <a:lnSpc>
                <a:spcPct val="100000"/>
              </a:lnSpc>
            </a:pPr>
            <a:r>
              <a:rPr sz="800" b="1">
                <a:solidFill>
                  <a:srgbClr val="6E8A76"/>
                </a:solidFill>
                <a:latin typeface="Arial"/>
              </a:rPr>
              <a:t>PROBLEM ONE</a:t>
            </a:r>
          </a:p>
        </p:txBody>
      </p:sp>
      <p:sp>
        <p:nvSpPr>
          <p:cNvPr id="8" name="TextBox 7"/>
          <p:cNvSpPr txBox="1"/>
          <p:nvPr/>
        </p:nvSpPr>
        <p:spPr>
          <a:xfrm>
            <a:off x="676656" y="2259589"/>
            <a:ext cx="2255520" cy="207264"/>
          </a:xfrm>
          <a:prstGeom prst="rect">
            <a:avLst/>
          </a:prstGeom>
          <a:noFill/>
        </p:spPr>
        <p:txBody>
          <a:bodyPr wrap="square" lIns="0" rIns="0" tIns="0" bIns="0" anchor="t">
            <a:noAutofit/>
          </a:bodyPr>
          <a:lstStyle/>
          <a:p>
            <a:pPr algn="l">
              <a:lnSpc>
                <a:spcPct val="96000"/>
              </a:lnSpc>
            </a:pPr>
            <a:r>
              <a:rPr sz="1250" b="0">
                <a:solidFill>
                  <a:srgbClr val="006838"/>
                </a:solidFill>
                <a:latin typeface="Arial Black"/>
              </a:rPr>
              <a:t>It rewards the wrong buyer</a:t>
            </a:r>
          </a:p>
        </p:txBody>
      </p:sp>
      <p:sp>
        <p:nvSpPr>
          <p:cNvPr id="9" name="TextBox 8"/>
          <p:cNvSpPr txBox="1"/>
          <p:nvPr/>
        </p:nvSpPr>
        <p:spPr>
          <a:xfrm>
            <a:off x="676656" y="2466853"/>
            <a:ext cx="2255520" cy="793242"/>
          </a:xfrm>
          <a:prstGeom prst="rect">
            <a:avLst/>
          </a:prstGeom>
          <a:noFill/>
        </p:spPr>
        <p:txBody>
          <a:bodyPr wrap="square" lIns="0" rIns="0" tIns="0" bIns="0" anchor="t">
            <a:noAutofit/>
          </a:bodyPr>
          <a:lstStyle/>
          <a:p>
            <a:pPr algn="l">
              <a:lnSpc>
                <a:spcPct val="114000"/>
              </a:lnSpc>
            </a:pPr>
            <a:r>
              <a:rPr sz="850" b="0">
                <a:solidFill>
                  <a:srgbClr val="1F3326"/>
                </a:solidFill>
                <a:latin typeface="Arial"/>
              </a:rPr>
              <a:t>A spend ranking concentrates the prize among a handful of people buying in bulk. Saji reaches half the households in Malaysia already. Growth comes from more homes buying more often, and a leaderboard pays for neither.</a:t>
            </a:r>
          </a:p>
        </p:txBody>
      </p:sp>
      <p:sp>
        <p:nvSpPr>
          <p:cNvPr id="10" name="Rectangle 9"/>
          <p:cNvSpPr/>
          <p:nvPr/>
        </p:nvSpPr>
        <p:spPr>
          <a:xfrm>
            <a:off x="3279648" y="1866397"/>
            <a:ext cx="2584704" cy="1738121"/>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1" name="Rectangle 10"/>
          <p:cNvSpPr/>
          <p:nvPr/>
        </p:nvSpPr>
        <p:spPr>
          <a:xfrm>
            <a:off x="3279648" y="1866397"/>
            <a:ext cx="2584704" cy="54864"/>
          </a:xfrm>
          <a:prstGeom prst="rect">
            <a:avLst/>
          </a:prstGeom>
          <a:solidFill>
            <a:srgbClr val="E891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2" name="TextBox 11"/>
          <p:cNvSpPr txBox="1"/>
          <p:nvPr/>
        </p:nvSpPr>
        <p:spPr>
          <a:xfrm>
            <a:off x="3444240" y="2049277"/>
            <a:ext cx="2255520" cy="182880"/>
          </a:xfrm>
          <a:prstGeom prst="rect">
            <a:avLst/>
          </a:prstGeom>
          <a:noFill/>
        </p:spPr>
        <p:txBody>
          <a:bodyPr wrap="square" lIns="0" rIns="0" tIns="0" bIns="0" anchor="t">
            <a:noAutofit/>
          </a:bodyPr>
          <a:lstStyle/>
          <a:p>
            <a:pPr algn="l">
              <a:lnSpc>
                <a:spcPct val="100000"/>
              </a:lnSpc>
            </a:pPr>
            <a:r>
              <a:rPr sz="800" b="1">
                <a:solidFill>
                  <a:srgbClr val="6E8A76"/>
                </a:solidFill>
                <a:latin typeface="Arial"/>
              </a:rPr>
              <a:t>PROBLEM TWO</a:t>
            </a:r>
          </a:p>
        </p:txBody>
      </p:sp>
      <p:sp>
        <p:nvSpPr>
          <p:cNvPr id="13" name="TextBox 12"/>
          <p:cNvSpPr txBox="1"/>
          <p:nvPr/>
        </p:nvSpPr>
        <p:spPr>
          <a:xfrm>
            <a:off x="3444240" y="2259589"/>
            <a:ext cx="2255520" cy="359664"/>
          </a:xfrm>
          <a:prstGeom prst="rect">
            <a:avLst/>
          </a:prstGeom>
          <a:noFill/>
        </p:spPr>
        <p:txBody>
          <a:bodyPr wrap="square" lIns="0" rIns="0" tIns="0" bIns="0" anchor="t">
            <a:noAutofit/>
          </a:bodyPr>
          <a:lstStyle/>
          <a:p>
            <a:pPr algn="l">
              <a:lnSpc>
                <a:spcPct val="96000"/>
              </a:lnSpc>
            </a:pPr>
            <a:r>
              <a:rPr sz="1250" b="0">
                <a:solidFill>
                  <a:srgbClr val="006838"/>
                </a:solidFill>
                <a:latin typeface="Arial Black"/>
              </a:rPr>
              <a:t>It tells most people to stop</a:t>
            </a:r>
          </a:p>
        </p:txBody>
      </p:sp>
      <p:sp>
        <p:nvSpPr>
          <p:cNvPr id="14" name="TextBox 13"/>
          <p:cNvSpPr txBox="1"/>
          <p:nvPr/>
        </p:nvSpPr>
        <p:spPr>
          <a:xfrm>
            <a:off x="3444240" y="2619253"/>
            <a:ext cx="2255520" cy="793242"/>
          </a:xfrm>
          <a:prstGeom prst="rect">
            <a:avLst/>
          </a:prstGeom>
          <a:noFill/>
        </p:spPr>
        <p:txBody>
          <a:bodyPr wrap="square" lIns="0" rIns="0" tIns="0" bIns="0" anchor="t">
            <a:noAutofit/>
          </a:bodyPr>
          <a:lstStyle/>
          <a:p>
            <a:pPr algn="l">
              <a:lnSpc>
                <a:spcPct val="114000"/>
              </a:lnSpc>
            </a:pPr>
            <a:r>
              <a:rPr sz="850" b="0">
                <a:solidFill>
                  <a:srgbClr val="1F3326"/>
                </a:solidFill>
                <a:latin typeface="Arial"/>
              </a:rPr>
              <a:t>COO named this in the rev2 discussion: probably impossible for me to win. Position 3,847 is a reason to close the page. A weighted draw keeps the RM25 shopper live in every single draw for ten weeks.</a:t>
            </a:r>
          </a:p>
        </p:txBody>
      </p:sp>
      <p:sp>
        <p:nvSpPr>
          <p:cNvPr id="15" name="Rectangle 14"/>
          <p:cNvSpPr/>
          <p:nvPr/>
        </p:nvSpPr>
        <p:spPr>
          <a:xfrm>
            <a:off x="6047232" y="1866397"/>
            <a:ext cx="2584704" cy="1738121"/>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6" name="Rectangle 15"/>
          <p:cNvSpPr/>
          <p:nvPr/>
        </p:nvSpPr>
        <p:spPr>
          <a:xfrm>
            <a:off x="6047232" y="1866397"/>
            <a:ext cx="2584704" cy="54864"/>
          </a:xfrm>
          <a:prstGeom prst="rect">
            <a:avLst/>
          </a:prstGeom>
          <a:solidFill>
            <a:srgbClr val="0068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7" name="TextBox 16"/>
          <p:cNvSpPr txBox="1"/>
          <p:nvPr/>
        </p:nvSpPr>
        <p:spPr>
          <a:xfrm>
            <a:off x="6211824" y="2049277"/>
            <a:ext cx="2255520" cy="182880"/>
          </a:xfrm>
          <a:prstGeom prst="rect">
            <a:avLst/>
          </a:prstGeom>
          <a:noFill/>
        </p:spPr>
        <p:txBody>
          <a:bodyPr wrap="square" lIns="0" rIns="0" tIns="0" bIns="0" anchor="t">
            <a:noAutofit/>
          </a:bodyPr>
          <a:lstStyle/>
          <a:p>
            <a:pPr algn="l">
              <a:lnSpc>
                <a:spcPct val="100000"/>
              </a:lnSpc>
            </a:pPr>
            <a:r>
              <a:rPr sz="800" b="1">
                <a:solidFill>
                  <a:srgbClr val="6E8A76"/>
                </a:solidFill>
                <a:latin typeface="Arial"/>
              </a:rPr>
              <a:t>PROBLEM THREE</a:t>
            </a:r>
          </a:p>
        </p:txBody>
      </p:sp>
      <p:sp>
        <p:nvSpPr>
          <p:cNvPr id="18" name="TextBox 17"/>
          <p:cNvSpPr txBox="1"/>
          <p:nvPr/>
        </p:nvSpPr>
        <p:spPr>
          <a:xfrm>
            <a:off x="6211824" y="2259589"/>
            <a:ext cx="2255520" cy="207264"/>
          </a:xfrm>
          <a:prstGeom prst="rect">
            <a:avLst/>
          </a:prstGeom>
          <a:noFill/>
        </p:spPr>
        <p:txBody>
          <a:bodyPr wrap="square" lIns="0" rIns="0" tIns="0" bIns="0" anchor="t">
            <a:noAutofit/>
          </a:bodyPr>
          <a:lstStyle/>
          <a:p>
            <a:pPr algn="l">
              <a:lnSpc>
                <a:spcPct val="96000"/>
              </a:lnSpc>
            </a:pPr>
            <a:r>
              <a:rPr sz="1250" b="0">
                <a:solidFill>
                  <a:srgbClr val="006838"/>
                </a:solidFill>
                <a:latin typeface="Arial Black"/>
              </a:rPr>
              <a:t>It doubles the permit</a:t>
            </a:r>
          </a:p>
        </p:txBody>
      </p:sp>
      <p:sp>
        <p:nvSpPr>
          <p:cNvPr id="19" name="TextBox 18"/>
          <p:cNvSpPr txBox="1"/>
          <p:nvPr/>
        </p:nvSpPr>
        <p:spPr>
          <a:xfrm>
            <a:off x="6211824" y="2466853"/>
            <a:ext cx="2255520" cy="793242"/>
          </a:xfrm>
          <a:prstGeom prst="rect">
            <a:avLst/>
          </a:prstGeom>
          <a:noFill/>
        </p:spPr>
        <p:txBody>
          <a:bodyPr wrap="square" lIns="0" rIns="0" tIns="0" bIns="0" anchor="t">
            <a:noAutofit/>
          </a:bodyPr>
          <a:lstStyle/>
          <a:p>
            <a:pPr algn="l">
              <a:lnSpc>
                <a:spcPct val="114000"/>
              </a:lnSpc>
            </a:pPr>
            <a:r>
              <a:rPr sz="850" b="0">
                <a:solidFill>
                  <a:srgbClr val="1F3326"/>
                </a:solidFill>
                <a:latin typeface="Arial"/>
              </a:rPr>
              <a:t>A spend ranking sitting next to a random draw is two games of chance inside one contest. rev2 already flagged the permit exposure. One weighted draw is a single, cleaner filing for the client's legal team.</a:t>
            </a:r>
          </a:p>
        </p:txBody>
      </p:sp>
      <p:sp>
        <p:nvSpPr>
          <p:cNvPr id="20" name="Rectangle 19"/>
          <p:cNvSpPr/>
          <p:nvPr/>
        </p:nvSpPr>
        <p:spPr>
          <a:xfrm>
            <a:off x="438912" y="4443984"/>
            <a:ext cx="8266175" cy="402336"/>
          </a:xfrm>
          <a:prstGeom prst="rect">
            <a:avLst/>
          </a:prstGeom>
          <a:solidFill>
            <a:srgbClr val="052B1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1" name="TextBox 20"/>
          <p:cNvSpPr txBox="1"/>
          <p:nvPr/>
        </p:nvSpPr>
        <p:spPr>
          <a:xfrm>
            <a:off x="658368" y="4480560"/>
            <a:ext cx="7827264" cy="347472"/>
          </a:xfrm>
          <a:prstGeom prst="rect">
            <a:avLst/>
          </a:prstGeom>
          <a:noFill/>
        </p:spPr>
        <p:txBody>
          <a:bodyPr wrap="square" lIns="0" rIns="0" tIns="0" bIns="0" anchor="ctr">
            <a:noAutofit/>
          </a:bodyPr>
          <a:lstStyle/>
          <a:p>
            <a:pPr algn="l">
              <a:lnSpc>
                <a:spcPct val="100000"/>
              </a:lnSpc>
            </a:pPr>
            <a:r>
              <a:rPr sz="950" b="1">
                <a:solidFill>
                  <a:srgbClr val="F5EC2E"/>
                </a:solidFill>
                <a:latin typeface="Arial"/>
              </a:rPr>
              <a:t>What we keep from Yang's idea: </a:t>
            </a:r>
            <a:r>
              <a:rPr sz="950" b="0">
                <a:solidFill>
                  <a:srgbClr val="FFFFFF"/>
                </a:solidFill>
                <a:latin typeface="Arial"/>
              </a:rPr>
              <a:t>more spend still means more chance, and the leaderboard still exists. The change is that the chance never falls to zero and the board runs per state.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AEC"/>
        </a:solidFill>
        <a:effectLst/>
      </p:bgPr>
    </p:bg>
    <p:spTree>
      <p:nvGrpSpPr>
        <p:cNvPr id="1" name=""/>
        <p:cNvGrpSpPr/>
        <p:nvPr/>
      </p:nvGrpSpPr>
      <p:grpSpPr/>
      <p:sp>
        <p:nvSpPr>
          <p:cNvPr id="2" name="Rectangle 1"/>
          <p:cNvSpPr/>
          <p:nvPr/>
        </p:nvSpPr>
        <p:spPr>
          <a:xfrm>
            <a:off x="512064" y="365760"/>
            <a:ext cx="219456" cy="73152"/>
          </a:xfrm>
          <a:prstGeom prst="rect">
            <a:avLst/>
          </a:prstGeom>
          <a:solidFill>
            <a:srgbClr val="C51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 name="TextBox 2"/>
          <p:cNvSpPr txBox="1"/>
          <p:nvPr/>
        </p:nvSpPr>
        <p:spPr>
          <a:xfrm>
            <a:off x="512064" y="566928"/>
            <a:ext cx="8119872" cy="475488"/>
          </a:xfrm>
          <a:prstGeom prst="rect">
            <a:avLst/>
          </a:prstGeom>
          <a:noFill/>
        </p:spPr>
        <p:txBody>
          <a:bodyPr wrap="square" lIns="0" rIns="0" tIns="0" bIns="0" anchor="t">
            <a:noAutofit/>
          </a:bodyPr>
          <a:lstStyle/>
          <a:p>
            <a:pPr algn="l">
              <a:lnSpc>
                <a:spcPct val="96000"/>
              </a:lnSpc>
            </a:pPr>
            <a:r>
              <a:rPr sz="2400" b="0">
                <a:solidFill>
                  <a:srgbClr val="006838"/>
                </a:solidFill>
                <a:latin typeface="Arial Black"/>
              </a:rPr>
              <a:t>One currency, four ways in, two ways to win.</a:t>
            </a:r>
          </a:p>
        </p:txBody>
      </p:sp>
      <p:sp>
        <p:nvSpPr>
          <p:cNvPr id="4" name="TextBox 3"/>
          <p:cNvSpPr txBox="1"/>
          <p:nvPr/>
        </p:nvSpPr>
        <p:spPr>
          <a:xfrm>
            <a:off x="512064" y="1060704"/>
            <a:ext cx="8119872" cy="365760"/>
          </a:xfrm>
          <a:prstGeom prst="rect">
            <a:avLst/>
          </a:prstGeom>
          <a:noFill/>
        </p:spPr>
        <p:txBody>
          <a:bodyPr wrap="square" lIns="0" rIns="0" tIns="0" bIns="0" anchor="t">
            <a:noAutofit/>
          </a:bodyPr>
          <a:lstStyle/>
          <a:p>
            <a:pPr algn="l">
              <a:lnSpc>
                <a:spcPct val="112000"/>
              </a:lnSpc>
            </a:pPr>
            <a:r>
              <a:rPr sz="1100" b="0">
                <a:solidFill>
                  <a:srgbClr val="6E8A76"/>
                </a:solidFill>
                <a:latin typeface="Arial"/>
              </a:rPr>
              <a:t>Mata Raya is a single balance. Everything a shopper does in ten weeks pays into it, and the balance decides both their odds and their guaranteed rewards.</a:t>
            </a:r>
          </a:p>
        </p:txBody>
      </p:sp>
      <p:sp>
        <p:nvSpPr>
          <p:cNvPr id="5" name="Rectangle 4"/>
          <p:cNvSpPr/>
          <p:nvPr/>
        </p:nvSpPr>
        <p:spPr>
          <a:xfrm>
            <a:off x="512064" y="1834918"/>
            <a:ext cx="1892808" cy="1830705"/>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Rectangle 5"/>
          <p:cNvSpPr/>
          <p:nvPr/>
        </p:nvSpPr>
        <p:spPr>
          <a:xfrm>
            <a:off x="512064" y="1834918"/>
            <a:ext cx="1892808" cy="54864"/>
          </a:xfrm>
          <a:prstGeom prst="rect">
            <a:avLst/>
          </a:prstGeom>
          <a:solidFill>
            <a:srgbClr val="0068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7" name="TextBox 6"/>
          <p:cNvSpPr txBox="1"/>
          <p:nvPr/>
        </p:nvSpPr>
        <p:spPr>
          <a:xfrm>
            <a:off x="676656" y="2017798"/>
            <a:ext cx="1563624" cy="310896"/>
          </a:xfrm>
          <a:prstGeom prst="rect">
            <a:avLst/>
          </a:prstGeom>
          <a:noFill/>
        </p:spPr>
        <p:txBody>
          <a:bodyPr wrap="square" lIns="0" rIns="0" tIns="0" bIns="0" anchor="t">
            <a:noAutofit/>
          </a:bodyPr>
          <a:lstStyle/>
          <a:p>
            <a:pPr algn="l">
              <a:lnSpc>
                <a:spcPct val="94000"/>
              </a:lnSpc>
            </a:pPr>
            <a:r>
              <a:rPr sz="2000" b="0">
                <a:solidFill>
                  <a:srgbClr val="006838"/>
                </a:solidFill>
                <a:latin typeface="Arial Black"/>
              </a:rPr>
              <a:t>01</a:t>
            </a:r>
          </a:p>
        </p:txBody>
      </p:sp>
      <p:sp>
        <p:nvSpPr>
          <p:cNvPr id="8" name="TextBox 7"/>
          <p:cNvSpPr txBox="1"/>
          <p:nvPr/>
        </p:nvSpPr>
        <p:spPr>
          <a:xfrm>
            <a:off x="676656" y="2346982"/>
            <a:ext cx="1563624" cy="182880"/>
          </a:xfrm>
          <a:prstGeom prst="rect">
            <a:avLst/>
          </a:prstGeom>
          <a:noFill/>
        </p:spPr>
        <p:txBody>
          <a:bodyPr wrap="square" lIns="0" rIns="0" tIns="0" bIns="0" anchor="t">
            <a:noAutofit/>
          </a:bodyPr>
          <a:lstStyle/>
          <a:p>
            <a:pPr algn="l">
              <a:lnSpc>
                <a:spcPct val="100000"/>
              </a:lnSpc>
            </a:pPr>
            <a:r>
              <a:rPr sz="800" b="1">
                <a:solidFill>
                  <a:srgbClr val="6E8A76"/>
                </a:solidFill>
                <a:latin typeface="Arial"/>
              </a:rPr>
              <a:t>EARN</a:t>
            </a:r>
          </a:p>
        </p:txBody>
      </p:sp>
      <p:sp>
        <p:nvSpPr>
          <p:cNvPr id="9" name="TextBox 8"/>
          <p:cNvSpPr txBox="1"/>
          <p:nvPr/>
        </p:nvSpPr>
        <p:spPr>
          <a:xfrm>
            <a:off x="676656" y="2557294"/>
            <a:ext cx="1563624" cy="793242"/>
          </a:xfrm>
          <a:prstGeom prst="rect">
            <a:avLst/>
          </a:prstGeom>
          <a:noFill/>
        </p:spPr>
        <p:txBody>
          <a:bodyPr wrap="square" lIns="0" rIns="0" tIns="0" bIns="0" anchor="t">
            <a:noAutofit/>
          </a:bodyPr>
          <a:lstStyle/>
          <a:p>
            <a:pPr algn="l">
              <a:lnSpc>
                <a:spcPct val="114000"/>
              </a:lnSpc>
            </a:pPr>
            <a:r>
              <a:rPr sz="850" b="0">
                <a:solidFill>
                  <a:srgbClr val="1F3326"/>
                </a:solidFill>
                <a:latin typeface="Arial"/>
              </a:rPr>
              <a:t>Receipts, bonus QR codes, featured product multipliers and weekly streaks all pay into the same balance. One number, one page, no separate games to keep track of.</a:t>
            </a:r>
          </a:p>
        </p:txBody>
      </p:sp>
      <p:sp>
        <p:nvSpPr>
          <p:cNvPr id="10" name="Rectangle 9"/>
          <p:cNvSpPr/>
          <p:nvPr/>
        </p:nvSpPr>
        <p:spPr>
          <a:xfrm>
            <a:off x="2587752" y="1834918"/>
            <a:ext cx="1892808" cy="1830705"/>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1" name="Rectangle 10"/>
          <p:cNvSpPr/>
          <p:nvPr/>
        </p:nvSpPr>
        <p:spPr>
          <a:xfrm>
            <a:off x="2587752" y="1834918"/>
            <a:ext cx="1892808" cy="54864"/>
          </a:xfrm>
          <a:prstGeom prst="rect">
            <a:avLst/>
          </a:prstGeom>
          <a:solidFill>
            <a:srgbClr val="E891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2" name="TextBox 11"/>
          <p:cNvSpPr txBox="1"/>
          <p:nvPr/>
        </p:nvSpPr>
        <p:spPr>
          <a:xfrm>
            <a:off x="2752344" y="2017798"/>
            <a:ext cx="1563624" cy="310896"/>
          </a:xfrm>
          <a:prstGeom prst="rect">
            <a:avLst/>
          </a:prstGeom>
          <a:noFill/>
        </p:spPr>
        <p:txBody>
          <a:bodyPr wrap="square" lIns="0" rIns="0" tIns="0" bIns="0" anchor="t">
            <a:noAutofit/>
          </a:bodyPr>
          <a:lstStyle/>
          <a:p>
            <a:pPr algn="l">
              <a:lnSpc>
                <a:spcPct val="94000"/>
              </a:lnSpc>
            </a:pPr>
            <a:r>
              <a:rPr sz="2000" b="0">
                <a:solidFill>
                  <a:srgbClr val="E8912C"/>
                </a:solidFill>
                <a:latin typeface="Arial Black"/>
              </a:rPr>
              <a:t>02</a:t>
            </a:r>
          </a:p>
        </p:txBody>
      </p:sp>
      <p:sp>
        <p:nvSpPr>
          <p:cNvPr id="13" name="TextBox 12"/>
          <p:cNvSpPr txBox="1"/>
          <p:nvPr/>
        </p:nvSpPr>
        <p:spPr>
          <a:xfrm>
            <a:off x="2752344" y="2346982"/>
            <a:ext cx="1563624" cy="182880"/>
          </a:xfrm>
          <a:prstGeom prst="rect">
            <a:avLst/>
          </a:prstGeom>
          <a:noFill/>
        </p:spPr>
        <p:txBody>
          <a:bodyPr wrap="square" lIns="0" rIns="0" tIns="0" bIns="0" anchor="t">
            <a:noAutofit/>
          </a:bodyPr>
          <a:lstStyle/>
          <a:p>
            <a:pPr algn="l">
              <a:lnSpc>
                <a:spcPct val="100000"/>
              </a:lnSpc>
            </a:pPr>
            <a:r>
              <a:rPr sz="800" b="1">
                <a:solidFill>
                  <a:srgbClr val="6E8A76"/>
                </a:solidFill>
                <a:latin typeface="Arial"/>
              </a:rPr>
              <a:t>QUALIFY</a:t>
            </a:r>
          </a:p>
        </p:txBody>
      </p:sp>
      <p:sp>
        <p:nvSpPr>
          <p:cNvPr id="14" name="TextBox 13"/>
          <p:cNvSpPr txBox="1"/>
          <p:nvPr/>
        </p:nvSpPr>
        <p:spPr>
          <a:xfrm>
            <a:off x="2752344" y="2557294"/>
            <a:ext cx="1563624" cy="916304"/>
          </a:xfrm>
          <a:prstGeom prst="rect">
            <a:avLst/>
          </a:prstGeom>
          <a:noFill/>
        </p:spPr>
        <p:txBody>
          <a:bodyPr wrap="square" lIns="0" rIns="0" tIns="0" bIns="0" anchor="t">
            <a:noAutofit/>
          </a:bodyPr>
          <a:lstStyle/>
          <a:p>
            <a:pPr algn="l">
              <a:lnSpc>
                <a:spcPct val="114000"/>
              </a:lnSpc>
            </a:pPr>
            <a:r>
              <a:rPr sz="850" b="0">
                <a:solidFill>
                  <a:srgbClr val="1F3326"/>
                </a:solidFill>
                <a:latin typeface="Arial"/>
              </a:rPr>
              <a:t>Every 25 Mata is one chance in that week's draw, and chances carry forward. By week ten a shopper is drawing on everything she earned since February rather than on last week alone.</a:t>
            </a:r>
          </a:p>
        </p:txBody>
      </p:sp>
      <p:sp>
        <p:nvSpPr>
          <p:cNvPr id="15" name="Rectangle 14"/>
          <p:cNvSpPr/>
          <p:nvPr/>
        </p:nvSpPr>
        <p:spPr>
          <a:xfrm>
            <a:off x="4663440" y="1834918"/>
            <a:ext cx="1892808" cy="1830705"/>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6" name="Rectangle 15"/>
          <p:cNvSpPr/>
          <p:nvPr/>
        </p:nvSpPr>
        <p:spPr>
          <a:xfrm>
            <a:off x="4663440" y="1834918"/>
            <a:ext cx="1892808" cy="54864"/>
          </a:xfrm>
          <a:prstGeom prst="rect">
            <a:avLst/>
          </a:prstGeom>
          <a:solidFill>
            <a:srgbClr val="C51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7" name="TextBox 16"/>
          <p:cNvSpPr txBox="1"/>
          <p:nvPr/>
        </p:nvSpPr>
        <p:spPr>
          <a:xfrm>
            <a:off x="4828032" y="2017798"/>
            <a:ext cx="1563624" cy="310896"/>
          </a:xfrm>
          <a:prstGeom prst="rect">
            <a:avLst/>
          </a:prstGeom>
          <a:noFill/>
        </p:spPr>
        <p:txBody>
          <a:bodyPr wrap="square" lIns="0" rIns="0" tIns="0" bIns="0" anchor="t">
            <a:noAutofit/>
          </a:bodyPr>
          <a:lstStyle/>
          <a:p>
            <a:pPr algn="l">
              <a:lnSpc>
                <a:spcPct val="94000"/>
              </a:lnSpc>
            </a:pPr>
            <a:r>
              <a:rPr sz="2000" b="0">
                <a:solidFill>
                  <a:srgbClr val="C5192B"/>
                </a:solidFill>
                <a:latin typeface="Arial Black"/>
              </a:rPr>
              <a:t>03</a:t>
            </a:r>
          </a:p>
        </p:txBody>
      </p:sp>
      <p:sp>
        <p:nvSpPr>
          <p:cNvPr id="18" name="TextBox 17"/>
          <p:cNvSpPr txBox="1"/>
          <p:nvPr/>
        </p:nvSpPr>
        <p:spPr>
          <a:xfrm>
            <a:off x="4828032" y="2346982"/>
            <a:ext cx="1563624" cy="182880"/>
          </a:xfrm>
          <a:prstGeom prst="rect">
            <a:avLst/>
          </a:prstGeom>
          <a:noFill/>
        </p:spPr>
        <p:txBody>
          <a:bodyPr wrap="square" lIns="0" rIns="0" tIns="0" bIns="0" anchor="t">
            <a:noAutofit/>
          </a:bodyPr>
          <a:lstStyle/>
          <a:p>
            <a:pPr algn="l">
              <a:lnSpc>
                <a:spcPct val="100000"/>
              </a:lnSpc>
            </a:pPr>
            <a:r>
              <a:rPr sz="800" b="1">
                <a:solidFill>
                  <a:srgbClr val="6E8A76"/>
                </a:solidFill>
                <a:latin typeface="Arial"/>
              </a:rPr>
              <a:t>UNLOCK</a:t>
            </a:r>
          </a:p>
        </p:txBody>
      </p:sp>
      <p:sp>
        <p:nvSpPr>
          <p:cNvPr id="19" name="TextBox 18"/>
          <p:cNvSpPr txBox="1"/>
          <p:nvPr/>
        </p:nvSpPr>
        <p:spPr>
          <a:xfrm>
            <a:off x="4828032" y="2557294"/>
            <a:ext cx="1563624" cy="916304"/>
          </a:xfrm>
          <a:prstGeom prst="rect">
            <a:avLst/>
          </a:prstGeom>
          <a:noFill/>
        </p:spPr>
        <p:txBody>
          <a:bodyPr wrap="square" lIns="0" rIns="0" tIns="0" bIns="0" anchor="t">
            <a:noAutofit/>
          </a:bodyPr>
          <a:lstStyle/>
          <a:p>
            <a:pPr algn="l">
              <a:lnSpc>
                <a:spcPct val="114000"/>
              </a:lnSpc>
            </a:pPr>
            <a:r>
              <a:rPr sz="850" b="0">
                <a:solidFill>
                  <a:srgbClr val="1F3326"/>
                </a:solidFill>
                <a:latin typeface="Arial"/>
              </a:rPr>
              <a:t>Milestones at 50, 150 and 300 Mata pay out guaranteed rewards that need no luck at all. Someone who never wins a draw still collects three times across the campaign.</a:t>
            </a:r>
          </a:p>
        </p:txBody>
      </p:sp>
      <p:sp>
        <p:nvSpPr>
          <p:cNvPr id="20" name="Rectangle 19"/>
          <p:cNvSpPr/>
          <p:nvPr/>
        </p:nvSpPr>
        <p:spPr>
          <a:xfrm>
            <a:off x="6739128" y="1834918"/>
            <a:ext cx="1892808" cy="1830705"/>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1" name="Rectangle 20"/>
          <p:cNvSpPr/>
          <p:nvPr/>
        </p:nvSpPr>
        <p:spPr>
          <a:xfrm>
            <a:off x="6739128" y="1834918"/>
            <a:ext cx="1892808" cy="54864"/>
          </a:xfrm>
          <a:prstGeom prst="rect">
            <a:avLst/>
          </a:prstGeom>
          <a:solidFill>
            <a:srgbClr val="F8C8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2" name="TextBox 21"/>
          <p:cNvSpPr txBox="1"/>
          <p:nvPr/>
        </p:nvSpPr>
        <p:spPr>
          <a:xfrm>
            <a:off x="6903720" y="2017798"/>
            <a:ext cx="1563624" cy="310896"/>
          </a:xfrm>
          <a:prstGeom prst="rect">
            <a:avLst/>
          </a:prstGeom>
          <a:noFill/>
        </p:spPr>
        <p:txBody>
          <a:bodyPr wrap="square" lIns="0" rIns="0" tIns="0" bIns="0" anchor="t">
            <a:noAutofit/>
          </a:bodyPr>
          <a:lstStyle/>
          <a:p>
            <a:pPr algn="l">
              <a:lnSpc>
                <a:spcPct val="94000"/>
              </a:lnSpc>
            </a:pPr>
            <a:r>
              <a:rPr sz="2000" b="0">
                <a:solidFill>
                  <a:srgbClr val="F8C84A"/>
                </a:solidFill>
                <a:latin typeface="Arial Black"/>
              </a:rPr>
              <a:t>04</a:t>
            </a:r>
          </a:p>
        </p:txBody>
      </p:sp>
      <p:sp>
        <p:nvSpPr>
          <p:cNvPr id="23" name="TextBox 22"/>
          <p:cNvSpPr txBox="1"/>
          <p:nvPr/>
        </p:nvSpPr>
        <p:spPr>
          <a:xfrm>
            <a:off x="6903720" y="2346982"/>
            <a:ext cx="1563624" cy="182880"/>
          </a:xfrm>
          <a:prstGeom prst="rect">
            <a:avLst/>
          </a:prstGeom>
          <a:noFill/>
        </p:spPr>
        <p:txBody>
          <a:bodyPr wrap="square" lIns="0" rIns="0" tIns="0" bIns="0" anchor="t">
            <a:noAutofit/>
          </a:bodyPr>
          <a:lstStyle/>
          <a:p>
            <a:pPr algn="l">
              <a:lnSpc>
                <a:spcPct val="100000"/>
              </a:lnSpc>
            </a:pPr>
            <a:r>
              <a:rPr sz="800" b="1">
                <a:solidFill>
                  <a:srgbClr val="6E8A76"/>
                </a:solidFill>
                <a:latin typeface="Arial"/>
              </a:rPr>
              <a:t>COMPETE</a:t>
            </a:r>
          </a:p>
        </p:txBody>
      </p:sp>
      <p:sp>
        <p:nvSpPr>
          <p:cNvPr id="24" name="TextBox 23"/>
          <p:cNvSpPr txBox="1"/>
          <p:nvPr/>
        </p:nvSpPr>
        <p:spPr>
          <a:xfrm>
            <a:off x="6903720" y="2557294"/>
            <a:ext cx="1563624" cy="916304"/>
          </a:xfrm>
          <a:prstGeom prst="rect">
            <a:avLst/>
          </a:prstGeom>
          <a:noFill/>
        </p:spPr>
        <p:txBody>
          <a:bodyPr wrap="square" lIns="0" rIns="0" tIns="0" bIns="0" anchor="t">
            <a:noAutofit/>
          </a:bodyPr>
          <a:lstStyle/>
          <a:p>
            <a:pPr algn="l">
              <a:lnSpc>
                <a:spcPct val="114000"/>
              </a:lnSpc>
            </a:pPr>
            <a:r>
              <a:rPr sz="850" b="0">
                <a:solidFill>
                  <a:srgbClr val="1F3326"/>
                </a:solidFill>
                <a:latin typeface="Arial"/>
              </a:rPr>
              <a:t>Leaderboards run per state, so the race is Kedah against Kedah. Fourteen winnable boards beat one national board that nobody outside the top twenty will ever look at twice.</a:t>
            </a:r>
          </a:p>
        </p:txBody>
      </p:sp>
      <p:sp>
        <p:nvSpPr>
          <p:cNvPr id="25" name="Rectangle 24"/>
          <p:cNvSpPr/>
          <p:nvPr/>
        </p:nvSpPr>
        <p:spPr>
          <a:xfrm>
            <a:off x="438912" y="4443984"/>
            <a:ext cx="8266175" cy="402336"/>
          </a:xfrm>
          <a:prstGeom prst="rect">
            <a:avLst/>
          </a:prstGeom>
          <a:solidFill>
            <a:srgbClr val="052B1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6" name="TextBox 25"/>
          <p:cNvSpPr txBox="1"/>
          <p:nvPr/>
        </p:nvSpPr>
        <p:spPr>
          <a:xfrm>
            <a:off x="658368" y="4480560"/>
            <a:ext cx="7827264" cy="347472"/>
          </a:xfrm>
          <a:prstGeom prst="rect">
            <a:avLst/>
          </a:prstGeom>
          <a:noFill/>
        </p:spPr>
        <p:txBody>
          <a:bodyPr wrap="square" lIns="0" rIns="0" tIns="0" bIns="0" anchor="ctr">
            <a:noAutofit/>
          </a:bodyPr>
          <a:lstStyle/>
          <a:p>
            <a:pPr algn="l">
              <a:lnSpc>
                <a:spcPct val="100000"/>
              </a:lnSpc>
            </a:pPr>
            <a:r>
              <a:rPr sz="950" b="1">
                <a:solidFill>
                  <a:srgbClr val="F5EC2E"/>
                </a:solidFill>
                <a:latin typeface="Arial"/>
              </a:rPr>
              <a:t>The rule that protects the commercial logic: </a:t>
            </a:r>
            <a:r>
              <a:rPr sz="950" b="0">
                <a:solidFill>
                  <a:srgbClr val="FFFFFF"/>
                </a:solidFill>
                <a:latin typeface="Arial"/>
              </a:rPr>
              <a:t>receipts qualify you and codes accelerate you. No draw chance exists without at least one verified Saji receipt behind it.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AEC"/>
        </a:solidFill>
        <a:effectLst/>
      </p:bgPr>
    </p:bg>
    <p:spTree>
      <p:nvGrpSpPr>
        <p:cNvPr id="1" name=""/>
        <p:cNvGrpSpPr/>
        <p:nvPr/>
      </p:nvGrpSpPr>
      <p:grpSpPr/>
      <p:sp>
        <p:nvSpPr>
          <p:cNvPr id="2" name="Rectangle 1"/>
          <p:cNvSpPr/>
          <p:nvPr/>
        </p:nvSpPr>
        <p:spPr>
          <a:xfrm>
            <a:off x="512064" y="365760"/>
            <a:ext cx="219456" cy="73152"/>
          </a:xfrm>
          <a:prstGeom prst="rect">
            <a:avLst/>
          </a:prstGeom>
          <a:solidFill>
            <a:srgbClr val="C51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 name="TextBox 2"/>
          <p:cNvSpPr txBox="1"/>
          <p:nvPr/>
        </p:nvSpPr>
        <p:spPr>
          <a:xfrm>
            <a:off x="512064" y="566928"/>
            <a:ext cx="8119872" cy="475488"/>
          </a:xfrm>
          <a:prstGeom prst="rect">
            <a:avLst/>
          </a:prstGeom>
          <a:noFill/>
        </p:spPr>
        <p:txBody>
          <a:bodyPr wrap="square" lIns="0" rIns="0" tIns="0" bIns="0" anchor="t">
            <a:noAutofit/>
          </a:bodyPr>
          <a:lstStyle/>
          <a:p>
            <a:pPr algn="l">
              <a:lnSpc>
                <a:spcPct val="96000"/>
              </a:lnSpc>
            </a:pPr>
            <a:r>
              <a:rPr sz="2400" b="0">
                <a:solidFill>
                  <a:srgbClr val="006838"/>
                </a:solidFill>
                <a:latin typeface="Arial Black"/>
              </a:rPr>
              <a:t>Four ways to earn a Mata.</a:t>
            </a:r>
          </a:p>
        </p:txBody>
      </p:sp>
      <p:sp>
        <p:nvSpPr>
          <p:cNvPr id="4" name="TextBox 3"/>
          <p:cNvSpPr txBox="1"/>
          <p:nvPr/>
        </p:nvSpPr>
        <p:spPr>
          <a:xfrm>
            <a:off x="512064" y="1060704"/>
            <a:ext cx="8119872" cy="365760"/>
          </a:xfrm>
          <a:prstGeom prst="rect">
            <a:avLst/>
          </a:prstGeom>
          <a:noFill/>
        </p:spPr>
        <p:txBody>
          <a:bodyPr wrap="square" lIns="0" rIns="0" tIns="0" bIns="0" anchor="t">
            <a:noAutofit/>
          </a:bodyPr>
          <a:lstStyle/>
          <a:p>
            <a:pPr algn="l">
              <a:lnSpc>
                <a:spcPct val="112000"/>
              </a:lnSpc>
            </a:pPr>
            <a:r>
              <a:rPr sz="1100" b="0">
                <a:solidFill>
                  <a:srgbClr val="6E8A76"/>
                </a:solidFill>
                <a:latin typeface="Arial"/>
              </a:rPr>
              <a:t>Each route pays into the same balance, carries its own tracking tag, and gives Saji something back that the 2026 campaign never collected.</a:t>
            </a:r>
          </a:p>
        </p:txBody>
      </p:sp>
      <p:sp>
        <p:nvSpPr>
          <p:cNvPr id="5" name="Rectangle 4"/>
          <p:cNvSpPr/>
          <p:nvPr/>
        </p:nvSpPr>
        <p:spPr>
          <a:xfrm>
            <a:off x="512064" y="1733316"/>
            <a:ext cx="8119871" cy="274320"/>
          </a:xfrm>
          <a:prstGeom prst="rect">
            <a:avLst/>
          </a:prstGeom>
          <a:solidFill>
            <a:srgbClr val="0068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TextBox 5"/>
          <p:cNvSpPr txBox="1"/>
          <p:nvPr/>
        </p:nvSpPr>
        <p:spPr>
          <a:xfrm>
            <a:off x="603504" y="1788180"/>
            <a:ext cx="1335024" cy="182880"/>
          </a:xfrm>
          <a:prstGeom prst="rect">
            <a:avLst/>
          </a:prstGeom>
          <a:noFill/>
        </p:spPr>
        <p:txBody>
          <a:bodyPr wrap="square" lIns="0" rIns="0" tIns="0" bIns="0" anchor="t">
            <a:noAutofit/>
          </a:bodyPr>
          <a:lstStyle/>
          <a:p>
            <a:pPr algn="l">
              <a:lnSpc>
                <a:spcPct val="100000"/>
              </a:lnSpc>
            </a:pPr>
            <a:r>
              <a:rPr sz="700" b="1">
                <a:solidFill>
                  <a:srgbClr val="FFFFFF"/>
                </a:solidFill>
                <a:latin typeface="Arial"/>
              </a:rPr>
              <a:t>ROUTE</a:t>
            </a:r>
          </a:p>
        </p:txBody>
      </p:sp>
      <p:sp>
        <p:nvSpPr>
          <p:cNvPr id="7" name="TextBox 6"/>
          <p:cNvSpPr txBox="1"/>
          <p:nvPr/>
        </p:nvSpPr>
        <p:spPr>
          <a:xfrm>
            <a:off x="2066544" y="1788180"/>
            <a:ext cx="1353312" cy="182880"/>
          </a:xfrm>
          <a:prstGeom prst="rect">
            <a:avLst/>
          </a:prstGeom>
          <a:noFill/>
        </p:spPr>
        <p:txBody>
          <a:bodyPr wrap="square" lIns="0" rIns="0" tIns="0" bIns="0" anchor="t">
            <a:noAutofit/>
          </a:bodyPr>
          <a:lstStyle/>
          <a:p>
            <a:pPr algn="l">
              <a:lnSpc>
                <a:spcPct val="100000"/>
              </a:lnSpc>
            </a:pPr>
            <a:r>
              <a:rPr sz="700" b="1">
                <a:solidFill>
                  <a:srgbClr val="FFFFFF"/>
                </a:solidFill>
                <a:latin typeface="Arial"/>
              </a:rPr>
              <a:t>WHAT IT PAYS</a:t>
            </a:r>
          </a:p>
        </p:txBody>
      </p:sp>
      <p:sp>
        <p:nvSpPr>
          <p:cNvPr id="8" name="TextBox 7"/>
          <p:cNvSpPr txBox="1"/>
          <p:nvPr/>
        </p:nvSpPr>
        <p:spPr>
          <a:xfrm>
            <a:off x="3547872" y="1788180"/>
            <a:ext cx="1975103" cy="182880"/>
          </a:xfrm>
          <a:prstGeom prst="rect">
            <a:avLst/>
          </a:prstGeom>
          <a:noFill/>
        </p:spPr>
        <p:txBody>
          <a:bodyPr wrap="square" lIns="0" rIns="0" tIns="0" bIns="0" anchor="t">
            <a:noAutofit/>
          </a:bodyPr>
          <a:lstStyle/>
          <a:p>
            <a:pPr algn="l">
              <a:lnSpc>
                <a:spcPct val="100000"/>
              </a:lnSpc>
            </a:pPr>
            <a:r>
              <a:rPr sz="700" b="1">
                <a:solidFill>
                  <a:srgbClr val="FFFFFF"/>
                </a:solidFill>
                <a:latin typeface="Arial"/>
              </a:rPr>
              <a:t>WHERE IT HAPPENS</a:t>
            </a:r>
          </a:p>
        </p:txBody>
      </p:sp>
      <p:sp>
        <p:nvSpPr>
          <p:cNvPr id="9" name="TextBox 8"/>
          <p:cNvSpPr txBox="1"/>
          <p:nvPr/>
        </p:nvSpPr>
        <p:spPr>
          <a:xfrm>
            <a:off x="5650992" y="1788180"/>
            <a:ext cx="2944368" cy="182880"/>
          </a:xfrm>
          <a:prstGeom prst="rect">
            <a:avLst/>
          </a:prstGeom>
          <a:noFill/>
        </p:spPr>
        <p:txBody>
          <a:bodyPr wrap="square" lIns="0" rIns="0" tIns="0" bIns="0" anchor="t">
            <a:noAutofit/>
          </a:bodyPr>
          <a:lstStyle/>
          <a:p>
            <a:pPr algn="l">
              <a:lnSpc>
                <a:spcPct val="100000"/>
              </a:lnSpc>
            </a:pPr>
            <a:r>
              <a:rPr sz="700" b="1">
                <a:solidFill>
                  <a:srgbClr val="FFFFFF"/>
                </a:solidFill>
                <a:latin typeface="Arial"/>
              </a:rPr>
              <a:t>WHAT SAJI GETS BACK</a:t>
            </a:r>
          </a:p>
        </p:txBody>
      </p:sp>
      <p:sp>
        <p:nvSpPr>
          <p:cNvPr id="10" name="Rectangle 9"/>
          <p:cNvSpPr/>
          <p:nvPr/>
        </p:nvSpPr>
        <p:spPr>
          <a:xfrm>
            <a:off x="512064" y="2007636"/>
            <a:ext cx="8119871"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1" name="TextBox 10"/>
          <p:cNvSpPr txBox="1"/>
          <p:nvPr/>
        </p:nvSpPr>
        <p:spPr>
          <a:xfrm>
            <a:off x="603504" y="2057928"/>
            <a:ext cx="1335024" cy="310896"/>
          </a:xfrm>
          <a:prstGeom prst="rect">
            <a:avLst/>
          </a:prstGeom>
          <a:noFill/>
        </p:spPr>
        <p:txBody>
          <a:bodyPr wrap="square" lIns="0" rIns="0" tIns="0" bIns="0" anchor="t">
            <a:noAutofit/>
          </a:bodyPr>
          <a:lstStyle/>
          <a:p>
            <a:pPr algn="l">
              <a:lnSpc>
                <a:spcPct val="100000"/>
              </a:lnSpc>
            </a:pPr>
            <a:r>
              <a:rPr sz="850" b="1">
                <a:solidFill>
                  <a:srgbClr val="006838"/>
                </a:solidFill>
                <a:latin typeface="Arial"/>
              </a:rPr>
              <a:t>Saji receipt</a:t>
            </a:r>
          </a:p>
        </p:txBody>
      </p:sp>
      <p:sp>
        <p:nvSpPr>
          <p:cNvPr id="12" name="TextBox 11"/>
          <p:cNvSpPr txBox="1"/>
          <p:nvPr/>
        </p:nvSpPr>
        <p:spPr>
          <a:xfrm>
            <a:off x="2066544" y="2057928"/>
            <a:ext cx="1353312" cy="310896"/>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RM1 spent = 1 Mata</a:t>
            </a:r>
          </a:p>
        </p:txBody>
      </p:sp>
      <p:sp>
        <p:nvSpPr>
          <p:cNvPr id="13" name="TextBox 12"/>
          <p:cNvSpPr txBox="1"/>
          <p:nvPr/>
        </p:nvSpPr>
        <p:spPr>
          <a:xfrm>
            <a:off x="3547872" y="2057928"/>
            <a:ext cx="1975103" cy="310896"/>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Any retailer that stocks Saji</a:t>
            </a:r>
          </a:p>
        </p:txBody>
      </p:sp>
      <p:sp>
        <p:nvSpPr>
          <p:cNvPr id="14" name="TextBox 13"/>
          <p:cNvSpPr txBox="1"/>
          <p:nvPr/>
        </p:nvSpPr>
        <p:spPr>
          <a:xfrm>
            <a:off x="5650992" y="2057928"/>
            <a:ext cx="2944368" cy="310896"/>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Basket value and SKU mix, by state and by week</a:t>
            </a:r>
          </a:p>
        </p:txBody>
      </p:sp>
      <p:sp>
        <p:nvSpPr>
          <p:cNvPr id="15" name="Rectangle 14"/>
          <p:cNvSpPr/>
          <p:nvPr/>
        </p:nvSpPr>
        <p:spPr>
          <a:xfrm>
            <a:off x="512064" y="2391684"/>
            <a:ext cx="8119871" cy="384048"/>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6" name="TextBox 15"/>
          <p:cNvSpPr txBox="1"/>
          <p:nvPr/>
        </p:nvSpPr>
        <p:spPr>
          <a:xfrm>
            <a:off x="603504" y="2441976"/>
            <a:ext cx="1335024" cy="310896"/>
          </a:xfrm>
          <a:prstGeom prst="rect">
            <a:avLst/>
          </a:prstGeom>
          <a:noFill/>
        </p:spPr>
        <p:txBody>
          <a:bodyPr wrap="square" lIns="0" rIns="0" tIns="0" bIns="0" anchor="t">
            <a:noAutofit/>
          </a:bodyPr>
          <a:lstStyle/>
          <a:p>
            <a:pPr algn="l">
              <a:lnSpc>
                <a:spcPct val="100000"/>
              </a:lnSpc>
            </a:pPr>
            <a:r>
              <a:rPr sz="850" b="1">
                <a:solidFill>
                  <a:srgbClr val="006838"/>
                </a:solidFill>
                <a:latin typeface="Arial"/>
              </a:rPr>
              <a:t>Featured product</a:t>
            </a:r>
          </a:p>
        </p:txBody>
      </p:sp>
      <p:sp>
        <p:nvSpPr>
          <p:cNvPr id="17" name="TextBox 16"/>
          <p:cNvSpPr txBox="1"/>
          <p:nvPr/>
        </p:nvSpPr>
        <p:spPr>
          <a:xfrm>
            <a:off x="2066544" y="2441976"/>
            <a:ext cx="1353312" cy="310896"/>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2x or 3x Mata</a:t>
            </a:r>
          </a:p>
        </p:txBody>
      </p:sp>
      <p:sp>
        <p:nvSpPr>
          <p:cNvPr id="18" name="TextBox 17"/>
          <p:cNvSpPr txBox="1"/>
          <p:nvPr/>
        </p:nvSpPr>
        <p:spPr>
          <a:xfrm>
            <a:off x="3547872" y="2441976"/>
            <a:ext cx="1975103" cy="310896"/>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Set by Saji every Monday</a:t>
            </a:r>
          </a:p>
        </p:txBody>
      </p:sp>
      <p:sp>
        <p:nvSpPr>
          <p:cNvPr id="19" name="TextBox 18"/>
          <p:cNvSpPr txBox="1"/>
          <p:nvPr/>
        </p:nvSpPr>
        <p:spPr>
          <a:xfrm>
            <a:off x="5650992" y="2441976"/>
            <a:ext cx="2944368" cy="310896"/>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Trial of a new SKU with no discount and no price move</a:t>
            </a:r>
          </a:p>
        </p:txBody>
      </p:sp>
      <p:sp>
        <p:nvSpPr>
          <p:cNvPr id="20" name="Rectangle 19"/>
          <p:cNvSpPr/>
          <p:nvPr/>
        </p:nvSpPr>
        <p:spPr>
          <a:xfrm>
            <a:off x="512064" y="2775732"/>
            <a:ext cx="8119871"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1" name="TextBox 20"/>
          <p:cNvSpPr txBox="1"/>
          <p:nvPr/>
        </p:nvSpPr>
        <p:spPr>
          <a:xfrm>
            <a:off x="603504" y="2826024"/>
            <a:ext cx="1335024" cy="310896"/>
          </a:xfrm>
          <a:prstGeom prst="rect">
            <a:avLst/>
          </a:prstGeom>
          <a:noFill/>
        </p:spPr>
        <p:txBody>
          <a:bodyPr wrap="square" lIns="0" rIns="0" tIns="0" bIns="0" anchor="t">
            <a:noAutofit/>
          </a:bodyPr>
          <a:lstStyle/>
          <a:p>
            <a:pPr algn="l">
              <a:lnSpc>
                <a:spcPct val="100000"/>
              </a:lnSpc>
            </a:pPr>
            <a:r>
              <a:rPr sz="850" b="1">
                <a:solidFill>
                  <a:srgbClr val="006838"/>
                </a:solidFill>
                <a:latin typeface="Arial"/>
              </a:rPr>
              <a:t>Bonus QR code</a:t>
            </a:r>
          </a:p>
        </p:txBody>
      </p:sp>
      <p:sp>
        <p:nvSpPr>
          <p:cNvPr id="22" name="TextBox 21"/>
          <p:cNvSpPr txBox="1"/>
          <p:nvPr/>
        </p:nvSpPr>
        <p:spPr>
          <a:xfrm>
            <a:off x="2066544" y="2826024"/>
            <a:ext cx="1353312" cy="310896"/>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25 to 50 Mata</a:t>
            </a:r>
          </a:p>
        </p:txBody>
      </p:sp>
      <p:sp>
        <p:nvSpPr>
          <p:cNvPr id="23" name="TextBox 22"/>
          <p:cNvSpPr txBox="1"/>
          <p:nvPr/>
        </p:nvSpPr>
        <p:spPr>
          <a:xfrm>
            <a:off x="3547872" y="2826024"/>
            <a:ext cx="1975103" cy="310896"/>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Roadshows, bazaars, packs, POSM</a:t>
            </a:r>
          </a:p>
        </p:txBody>
      </p:sp>
      <p:sp>
        <p:nvSpPr>
          <p:cNvPr id="24" name="TextBox 23"/>
          <p:cNvSpPr txBox="1"/>
          <p:nvPr/>
        </p:nvSpPr>
        <p:spPr>
          <a:xfrm>
            <a:off x="5650992" y="2826024"/>
            <a:ext cx="2944368" cy="310896"/>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Footfall converted into a named, reachable profile</a:t>
            </a:r>
          </a:p>
        </p:txBody>
      </p:sp>
      <p:sp>
        <p:nvSpPr>
          <p:cNvPr id="25" name="Rectangle 24"/>
          <p:cNvSpPr/>
          <p:nvPr/>
        </p:nvSpPr>
        <p:spPr>
          <a:xfrm>
            <a:off x="512064" y="3159780"/>
            <a:ext cx="8119871" cy="384048"/>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6" name="TextBox 25"/>
          <p:cNvSpPr txBox="1"/>
          <p:nvPr/>
        </p:nvSpPr>
        <p:spPr>
          <a:xfrm>
            <a:off x="603504" y="3210072"/>
            <a:ext cx="1335024" cy="310896"/>
          </a:xfrm>
          <a:prstGeom prst="rect">
            <a:avLst/>
          </a:prstGeom>
          <a:noFill/>
        </p:spPr>
        <p:txBody>
          <a:bodyPr wrap="square" lIns="0" rIns="0" tIns="0" bIns="0" anchor="t">
            <a:noAutofit/>
          </a:bodyPr>
          <a:lstStyle/>
          <a:p>
            <a:pPr algn="l">
              <a:lnSpc>
                <a:spcPct val="100000"/>
              </a:lnSpc>
            </a:pPr>
            <a:r>
              <a:rPr sz="850" b="1">
                <a:solidFill>
                  <a:srgbClr val="006838"/>
                </a:solidFill>
                <a:latin typeface="Arial"/>
              </a:rPr>
              <a:t>Streak and referral</a:t>
            </a:r>
          </a:p>
        </p:txBody>
      </p:sp>
      <p:sp>
        <p:nvSpPr>
          <p:cNvPr id="27" name="TextBox 26"/>
          <p:cNvSpPr txBox="1"/>
          <p:nvPr/>
        </p:nvSpPr>
        <p:spPr>
          <a:xfrm>
            <a:off x="2066544" y="3210072"/>
            <a:ext cx="1353312" cy="310896"/>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25 Mata</a:t>
            </a:r>
          </a:p>
        </p:txBody>
      </p:sp>
      <p:sp>
        <p:nvSpPr>
          <p:cNvPr id="28" name="TextBox 27"/>
          <p:cNvSpPr txBox="1"/>
          <p:nvPr/>
        </p:nvSpPr>
        <p:spPr>
          <a:xfrm>
            <a:off x="3547872" y="3210072"/>
            <a:ext cx="1975103" cy="310896"/>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The contest page</a:t>
            </a:r>
          </a:p>
        </p:txBody>
      </p:sp>
      <p:sp>
        <p:nvSpPr>
          <p:cNvPr id="29" name="TextBox 28"/>
          <p:cNvSpPr txBox="1"/>
          <p:nvPr/>
        </p:nvSpPr>
        <p:spPr>
          <a:xfrm>
            <a:off x="5650992" y="3210072"/>
            <a:ext cx="2944368" cy="310896"/>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Return visits in week seven and organic reach</a:t>
            </a:r>
          </a:p>
        </p:txBody>
      </p:sp>
      <p:sp>
        <p:nvSpPr>
          <p:cNvPr id="30" name="TextBox 29"/>
          <p:cNvSpPr txBox="1"/>
          <p:nvPr/>
        </p:nvSpPr>
        <p:spPr>
          <a:xfrm>
            <a:off x="512064" y="3635268"/>
            <a:ext cx="8119871" cy="282448"/>
          </a:xfrm>
          <a:prstGeom prst="rect">
            <a:avLst/>
          </a:prstGeom>
          <a:noFill/>
        </p:spPr>
        <p:txBody>
          <a:bodyPr wrap="square" lIns="0" rIns="0" tIns="0" bIns="0" anchor="t">
            <a:noAutofit/>
          </a:bodyPr>
          <a:lstStyle/>
          <a:p>
            <a:pPr algn="l">
              <a:lnSpc>
                <a:spcPct val="112000"/>
              </a:lnSpc>
            </a:pPr>
            <a:r>
              <a:rPr sz="800" b="0">
                <a:solidFill>
                  <a:srgbClr val="6E8A76"/>
                </a:solidFill>
                <a:latin typeface="Arial"/>
              </a:rPr>
              <a:t>Every route resolves to the same page and the same database, so paid media, retail, on-ground activation and partner traffic are all counted against one entry number.</a:t>
            </a:r>
          </a:p>
        </p:txBody>
      </p:sp>
      <p:sp>
        <p:nvSpPr>
          <p:cNvPr id="31" name="Rectangle 30"/>
          <p:cNvSpPr/>
          <p:nvPr/>
        </p:nvSpPr>
        <p:spPr>
          <a:xfrm>
            <a:off x="438912" y="4443984"/>
            <a:ext cx="8266175" cy="402336"/>
          </a:xfrm>
          <a:prstGeom prst="rect">
            <a:avLst/>
          </a:prstGeom>
          <a:solidFill>
            <a:srgbClr val="052B1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2" name="TextBox 31"/>
          <p:cNvSpPr txBox="1"/>
          <p:nvPr/>
        </p:nvSpPr>
        <p:spPr>
          <a:xfrm>
            <a:off x="658368" y="4480560"/>
            <a:ext cx="7827264" cy="347472"/>
          </a:xfrm>
          <a:prstGeom prst="rect">
            <a:avLst/>
          </a:prstGeom>
          <a:noFill/>
        </p:spPr>
        <p:txBody>
          <a:bodyPr wrap="square" lIns="0" rIns="0" tIns="0" bIns="0" anchor="ctr">
            <a:noAutofit/>
          </a:bodyPr>
          <a:lstStyle/>
          <a:p>
            <a:pPr algn="l">
              <a:lnSpc>
                <a:spcPct val="100000"/>
              </a:lnSpc>
            </a:pPr>
            <a:r>
              <a:rPr sz="950" b="1">
                <a:solidFill>
                  <a:srgbClr val="F5EC2E"/>
                </a:solidFill>
                <a:latin typeface="Arial"/>
              </a:rPr>
              <a:t>The multiplier is the line to sell: </a:t>
            </a:r>
            <a:r>
              <a:rPr sz="950" b="0">
                <a:solidFill>
                  <a:srgbClr val="FFFFFF"/>
                </a:solidFill>
                <a:latin typeface="Arial"/>
              </a:rPr>
              <a:t>it is a weekly merchandising lever disguised as a game, and it costs Saji nothing to operate.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AEC"/>
        </a:solidFill>
        <a:effectLst/>
      </p:bgPr>
    </p:bg>
    <p:spTree>
      <p:nvGrpSpPr>
        <p:cNvPr id="1" name=""/>
        <p:cNvGrpSpPr/>
        <p:nvPr/>
      </p:nvGrpSpPr>
      <p:grpSpPr/>
      <p:sp>
        <p:nvSpPr>
          <p:cNvPr id="2" name="Rectangle 1"/>
          <p:cNvSpPr/>
          <p:nvPr/>
        </p:nvSpPr>
        <p:spPr>
          <a:xfrm>
            <a:off x="512064" y="365760"/>
            <a:ext cx="219456" cy="73152"/>
          </a:xfrm>
          <a:prstGeom prst="rect">
            <a:avLst/>
          </a:prstGeom>
          <a:solidFill>
            <a:srgbClr val="C51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 name="TextBox 2"/>
          <p:cNvSpPr txBox="1"/>
          <p:nvPr/>
        </p:nvSpPr>
        <p:spPr>
          <a:xfrm>
            <a:off x="512064" y="566928"/>
            <a:ext cx="8119872" cy="475488"/>
          </a:xfrm>
          <a:prstGeom prst="rect">
            <a:avLst/>
          </a:prstGeom>
          <a:noFill/>
        </p:spPr>
        <p:txBody>
          <a:bodyPr wrap="square" lIns="0" rIns="0" tIns="0" bIns="0" anchor="t">
            <a:noAutofit/>
          </a:bodyPr>
          <a:lstStyle/>
          <a:p>
            <a:pPr algn="l">
              <a:lnSpc>
                <a:spcPct val="96000"/>
              </a:lnSpc>
            </a:pPr>
            <a:r>
              <a:rPr sz="2400" b="0">
                <a:solidFill>
                  <a:srgbClr val="006838"/>
                </a:solidFill>
                <a:latin typeface="Arial Black"/>
              </a:rPr>
              <a:t>Chances get people in. Certainties keep them.</a:t>
            </a:r>
          </a:p>
        </p:txBody>
      </p:sp>
      <p:sp>
        <p:nvSpPr>
          <p:cNvPr id="4" name="TextBox 3"/>
          <p:cNvSpPr txBox="1"/>
          <p:nvPr/>
        </p:nvSpPr>
        <p:spPr>
          <a:xfrm>
            <a:off x="512064" y="1060704"/>
            <a:ext cx="8119872" cy="365760"/>
          </a:xfrm>
          <a:prstGeom prst="rect">
            <a:avLst/>
          </a:prstGeom>
          <a:noFill/>
        </p:spPr>
        <p:txBody>
          <a:bodyPr wrap="square" lIns="0" rIns="0" tIns="0" bIns="0" anchor="t">
            <a:noAutofit/>
          </a:bodyPr>
          <a:lstStyle/>
          <a:p>
            <a:pPr algn="l">
              <a:lnSpc>
                <a:spcPct val="112000"/>
              </a:lnSpc>
            </a:pPr>
            <a:r>
              <a:rPr sz="1100" b="0">
                <a:solidFill>
                  <a:srgbClr val="6E8A76"/>
                </a:solidFill>
                <a:latin typeface="Arial"/>
              </a:rPr>
              <a:t>Three milestones pay out with no luck involved. They exist to answer the objection COO raised about the contest feeling unwinnable.</a:t>
            </a:r>
          </a:p>
        </p:txBody>
      </p:sp>
      <p:sp>
        <p:nvSpPr>
          <p:cNvPr id="5" name="Rectangle 4"/>
          <p:cNvSpPr/>
          <p:nvPr/>
        </p:nvSpPr>
        <p:spPr>
          <a:xfrm>
            <a:off x="512064" y="1806290"/>
            <a:ext cx="2584704" cy="1914906"/>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Rectangle 5"/>
          <p:cNvSpPr/>
          <p:nvPr/>
        </p:nvSpPr>
        <p:spPr>
          <a:xfrm>
            <a:off x="512064" y="1806290"/>
            <a:ext cx="2584704" cy="54864"/>
          </a:xfrm>
          <a:prstGeom prst="rect">
            <a:avLst/>
          </a:prstGeom>
          <a:solidFill>
            <a:srgbClr val="00A65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7" name="TextBox 6"/>
          <p:cNvSpPr txBox="1"/>
          <p:nvPr/>
        </p:nvSpPr>
        <p:spPr>
          <a:xfrm>
            <a:off x="676656" y="1989170"/>
            <a:ext cx="2255520" cy="310896"/>
          </a:xfrm>
          <a:prstGeom prst="rect">
            <a:avLst/>
          </a:prstGeom>
          <a:noFill/>
        </p:spPr>
        <p:txBody>
          <a:bodyPr wrap="square" lIns="0" rIns="0" tIns="0" bIns="0" anchor="t">
            <a:noAutofit/>
          </a:bodyPr>
          <a:lstStyle/>
          <a:p>
            <a:pPr algn="l">
              <a:lnSpc>
                <a:spcPct val="94000"/>
              </a:lnSpc>
            </a:pPr>
            <a:r>
              <a:rPr sz="2000" b="0">
                <a:solidFill>
                  <a:srgbClr val="00A651"/>
                </a:solidFill>
                <a:latin typeface="Arial Black"/>
              </a:rPr>
              <a:t>50</a:t>
            </a:r>
          </a:p>
        </p:txBody>
      </p:sp>
      <p:sp>
        <p:nvSpPr>
          <p:cNvPr id="8" name="TextBox 7"/>
          <p:cNvSpPr txBox="1"/>
          <p:nvPr/>
        </p:nvSpPr>
        <p:spPr>
          <a:xfrm>
            <a:off x="676656" y="2318354"/>
            <a:ext cx="2255520" cy="182880"/>
          </a:xfrm>
          <a:prstGeom prst="rect">
            <a:avLst/>
          </a:prstGeom>
          <a:noFill/>
        </p:spPr>
        <p:txBody>
          <a:bodyPr wrap="square" lIns="0" rIns="0" tIns="0" bIns="0" anchor="t">
            <a:noAutofit/>
          </a:bodyPr>
          <a:lstStyle/>
          <a:p>
            <a:pPr algn="l">
              <a:lnSpc>
                <a:spcPct val="100000"/>
              </a:lnSpc>
            </a:pPr>
            <a:r>
              <a:rPr sz="800" b="1">
                <a:solidFill>
                  <a:srgbClr val="6E8A76"/>
                </a:solidFill>
                <a:latin typeface="Arial"/>
              </a:rPr>
              <a:t>MATA  ·  HADIAH MISTERI</a:t>
            </a:r>
          </a:p>
        </p:txBody>
      </p:sp>
      <p:sp>
        <p:nvSpPr>
          <p:cNvPr id="9" name="TextBox 8"/>
          <p:cNvSpPr txBox="1"/>
          <p:nvPr/>
        </p:nvSpPr>
        <p:spPr>
          <a:xfrm>
            <a:off x="676656" y="2528666"/>
            <a:ext cx="2255520" cy="207264"/>
          </a:xfrm>
          <a:prstGeom prst="rect">
            <a:avLst/>
          </a:prstGeom>
          <a:noFill/>
        </p:spPr>
        <p:txBody>
          <a:bodyPr wrap="square" lIns="0" rIns="0" tIns="0" bIns="0" anchor="t">
            <a:noAutofit/>
          </a:bodyPr>
          <a:lstStyle/>
          <a:p>
            <a:pPr algn="l">
              <a:lnSpc>
                <a:spcPct val="96000"/>
              </a:lnSpc>
            </a:pPr>
            <a:r>
              <a:rPr sz="1250" b="0">
                <a:solidFill>
                  <a:srgbClr val="006838"/>
                </a:solidFill>
                <a:latin typeface="Arial Black"/>
              </a:rPr>
              <a:t>The mystery gift</a:t>
            </a:r>
          </a:p>
        </p:txBody>
      </p:sp>
      <p:sp>
        <p:nvSpPr>
          <p:cNvPr id="10" name="TextBox 9"/>
          <p:cNvSpPr txBox="1"/>
          <p:nvPr/>
        </p:nvSpPr>
        <p:spPr>
          <a:xfrm>
            <a:off x="676656" y="2735930"/>
            <a:ext cx="2255520" cy="670179"/>
          </a:xfrm>
          <a:prstGeom prst="rect">
            <a:avLst/>
          </a:prstGeom>
          <a:noFill/>
        </p:spPr>
        <p:txBody>
          <a:bodyPr wrap="square" lIns="0" rIns="0" tIns="0" bIns="0" anchor="t">
            <a:noAutofit/>
          </a:bodyPr>
          <a:lstStyle/>
          <a:p>
            <a:pPr algn="l">
              <a:lnSpc>
                <a:spcPct val="114000"/>
              </a:lnSpc>
            </a:pPr>
            <a:r>
              <a:rPr sz="850" b="0">
                <a:solidFill>
                  <a:srgbClr val="1F3326"/>
                </a:solidFill>
                <a:latin typeface="Arial"/>
              </a:rPr>
              <a:t>Two Saji baskets get her here. A wrapped gift she did not have to win, collected at a roadshow or posted to her. The client already costed this into the pop-up plan, so it carries over unchanged.</a:t>
            </a:r>
          </a:p>
        </p:txBody>
      </p:sp>
      <p:sp>
        <p:nvSpPr>
          <p:cNvPr id="11" name="Rectangle 10"/>
          <p:cNvSpPr/>
          <p:nvPr/>
        </p:nvSpPr>
        <p:spPr>
          <a:xfrm>
            <a:off x="3279648" y="1806290"/>
            <a:ext cx="2584704" cy="1914906"/>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2" name="Rectangle 11"/>
          <p:cNvSpPr/>
          <p:nvPr/>
        </p:nvSpPr>
        <p:spPr>
          <a:xfrm>
            <a:off x="3279648" y="1806290"/>
            <a:ext cx="2584704" cy="54864"/>
          </a:xfrm>
          <a:prstGeom prst="rect">
            <a:avLst/>
          </a:prstGeom>
          <a:solidFill>
            <a:srgbClr val="E891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3" name="TextBox 12"/>
          <p:cNvSpPr txBox="1"/>
          <p:nvPr/>
        </p:nvSpPr>
        <p:spPr>
          <a:xfrm>
            <a:off x="3444240" y="1989170"/>
            <a:ext cx="2255520" cy="310896"/>
          </a:xfrm>
          <a:prstGeom prst="rect">
            <a:avLst/>
          </a:prstGeom>
          <a:noFill/>
        </p:spPr>
        <p:txBody>
          <a:bodyPr wrap="square" lIns="0" rIns="0" tIns="0" bIns="0" anchor="t">
            <a:noAutofit/>
          </a:bodyPr>
          <a:lstStyle/>
          <a:p>
            <a:pPr algn="l">
              <a:lnSpc>
                <a:spcPct val="94000"/>
              </a:lnSpc>
            </a:pPr>
            <a:r>
              <a:rPr sz="2000" b="0">
                <a:solidFill>
                  <a:srgbClr val="E8912C"/>
                </a:solidFill>
                <a:latin typeface="Arial Black"/>
              </a:rPr>
              <a:t>150</a:t>
            </a:r>
          </a:p>
        </p:txBody>
      </p:sp>
      <p:sp>
        <p:nvSpPr>
          <p:cNvPr id="14" name="TextBox 13"/>
          <p:cNvSpPr txBox="1"/>
          <p:nvPr/>
        </p:nvSpPr>
        <p:spPr>
          <a:xfrm>
            <a:off x="3444240" y="2318354"/>
            <a:ext cx="2255520" cy="182880"/>
          </a:xfrm>
          <a:prstGeom prst="rect">
            <a:avLst/>
          </a:prstGeom>
          <a:noFill/>
        </p:spPr>
        <p:txBody>
          <a:bodyPr wrap="square" lIns="0" rIns="0" tIns="0" bIns="0" anchor="t">
            <a:noAutofit/>
          </a:bodyPr>
          <a:lstStyle/>
          <a:p>
            <a:pPr algn="l">
              <a:lnSpc>
                <a:spcPct val="100000"/>
              </a:lnSpc>
            </a:pPr>
            <a:r>
              <a:rPr sz="800" b="1">
                <a:solidFill>
                  <a:srgbClr val="6E8A76"/>
                </a:solidFill>
                <a:latin typeface="Arial"/>
              </a:rPr>
              <a:t>MATA  ·  PEK KEMPEN</a:t>
            </a:r>
          </a:p>
        </p:txBody>
      </p:sp>
      <p:sp>
        <p:nvSpPr>
          <p:cNvPr id="15" name="TextBox 14"/>
          <p:cNvSpPr txBox="1"/>
          <p:nvPr/>
        </p:nvSpPr>
        <p:spPr>
          <a:xfrm>
            <a:off x="3444240" y="2528666"/>
            <a:ext cx="2255520" cy="207264"/>
          </a:xfrm>
          <a:prstGeom prst="rect">
            <a:avLst/>
          </a:prstGeom>
          <a:noFill/>
        </p:spPr>
        <p:txBody>
          <a:bodyPr wrap="square" lIns="0" rIns="0" tIns="0" bIns="0" anchor="t">
            <a:noAutofit/>
          </a:bodyPr>
          <a:lstStyle/>
          <a:p>
            <a:pPr algn="l">
              <a:lnSpc>
                <a:spcPct val="96000"/>
              </a:lnSpc>
            </a:pPr>
            <a:r>
              <a:rPr sz="1250" b="0">
                <a:solidFill>
                  <a:srgbClr val="006838"/>
                </a:solidFill>
                <a:latin typeface="Arial Black"/>
              </a:rPr>
              <a:t>The campaign pack</a:t>
            </a:r>
          </a:p>
        </p:txBody>
      </p:sp>
      <p:sp>
        <p:nvSpPr>
          <p:cNvPr id="16" name="TextBox 15"/>
          <p:cNvSpPr txBox="1"/>
          <p:nvPr/>
        </p:nvSpPr>
        <p:spPr>
          <a:xfrm>
            <a:off x="3444240" y="2735930"/>
            <a:ext cx="2255520" cy="793242"/>
          </a:xfrm>
          <a:prstGeom prst="rect">
            <a:avLst/>
          </a:prstGeom>
          <a:noFill/>
        </p:spPr>
        <p:txBody>
          <a:bodyPr wrap="square" lIns="0" rIns="0" tIns="0" bIns="0" anchor="t">
            <a:noAutofit/>
          </a:bodyPr>
          <a:lstStyle/>
          <a:p>
            <a:pPr algn="l">
              <a:lnSpc>
                <a:spcPct val="114000"/>
              </a:lnSpc>
            </a:pPr>
            <a:r>
              <a:rPr sz="850" b="0">
                <a:solidFill>
                  <a:srgbClr val="1F3326"/>
                </a:solidFill>
                <a:latin typeface="Arial"/>
              </a:rPr>
              <a:t>The limited edition Saji pack, which is the collaboration made physical. It photographs well and it is the thing shoppers post without being asked, which is where the 3% engagement KPI comes from.</a:t>
            </a:r>
          </a:p>
        </p:txBody>
      </p:sp>
      <p:sp>
        <p:nvSpPr>
          <p:cNvPr id="17" name="Rectangle 16"/>
          <p:cNvSpPr/>
          <p:nvPr/>
        </p:nvSpPr>
        <p:spPr>
          <a:xfrm>
            <a:off x="6047232" y="1806290"/>
            <a:ext cx="2584704" cy="1914906"/>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8" name="Rectangle 17"/>
          <p:cNvSpPr/>
          <p:nvPr/>
        </p:nvSpPr>
        <p:spPr>
          <a:xfrm>
            <a:off x="6047232" y="1806290"/>
            <a:ext cx="2584704" cy="54864"/>
          </a:xfrm>
          <a:prstGeom prst="rect">
            <a:avLst/>
          </a:prstGeom>
          <a:solidFill>
            <a:srgbClr val="F8C8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9" name="TextBox 18"/>
          <p:cNvSpPr txBox="1"/>
          <p:nvPr/>
        </p:nvSpPr>
        <p:spPr>
          <a:xfrm>
            <a:off x="6211824" y="1989170"/>
            <a:ext cx="2255520" cy="310896"/>
          </a:xfrm>
          <a:prstGeom prst="rect">
            <a:avLst/>
          </a:prstGeom>
          <a:noFill/>
        </p:spPr>
        <p:txBody>
          <a:bodyPr wrap="square" lIns="0" rIns="0" tIns="0" bIns="0" anchor="t">
            <a:noAutofit/>
          </a:bodyPr>
          <a:lstStyle/>
          <a:p>
            <a:pPr algn="l">
              <a:lnSpc>
                <a:spcPct val="94000"/>
              </a:lnSpc>
            </a:pPr>
            <a:r>
              <a:rPr sz="2000" b="0">
                <a:solidFill>
                  <a:srgbClr val="F8C84A"/>
                </a:solidFill>
                <a:latin typeface="Arial Black"/>
              </a:rPr>
              <a:t>300</a:t>
            </a:r>
          </a:p>
        </p:txBody>
      </p:sp>
      <p:sp>
        <p:nvSpPr>
          <p:cNvPr id="20" name="TextBox 19"/>
          <p:cNvSpPr txBox="1"/>
          <p:nvPr/>
        </p:nvSpPr>
        <p:spPr>
          <a:xfrm>
            <a:off x="6211824" y="2318354"/>
            <a:ext cx="2255520" cy="182880"/>
          </a:xfrm>
          <a:prstGeom prst="rect">
            <a:avLst/>
          </a:prstGeom>
          <a:noFill/>
        </p:spPr>
        <p:txBody>
          <a:bodyPr wrap="square" lIns="0" rIns="0" tIns="0" bIns="0" anchor="t">
            <a:noAutofit/>
          </a:bodyPr>
          <a:lstStyle/>
          <a:p>
            <a:pPr algn="l">
              <a:lnSpc>
                <a:spcPct val="100000"/>
              </a:lnSpc>
            </a:pPr>
            <a:r>
              <a:rPr sz="800" b="1">
                <a:solidFill>
                  <a:srgbClr val="6E8A76"/>
                </a:solidFill>
                <a:latin typeface="Arial"/>
              </a:rPr>
              <a:t>MATA  ·  RODA REZEKI</a:t>
            </a:r>
          </a:p>
        </p:txBody>
      </p:sp>
      <p:sp>
        <p:nvSpPr>
          <p:cNvPr id="21" name="TextBox 20"/>
          <p:cNvSpPr txBox="1"/>
          <p:nvPr/>
        </p:nvSpPr>
        <p:spPr>
          <a:xfrm>
            <a:off x="6211824" y="2528666"/>
            <a:ext cx="2255520" cy="207264"/>
          </a:xfrm>
          <a:prstGeom prst="rect">
            <a:avLst/>
          </a:prstGeom>
          <a:noFill/>
        </p:spPr>
        <p:txBody>
          <a:bodyPr wrap="square" lIns="0" rIns="0" tIns="0" bIns="0" anchor="t">
            <a:noAutofit/>
          </a:bodyPr>
          <a:lstStyle/>
          <a:p>
            <a:pPr algn="l">
              <a:lnSpc>
                <a:spcPct val="96000"/>
              </a:lnSpc>
            </a:pPr>
            <a:r>
              <a:rPr sz="1250" b="0">
                <a:solidFill>
                  <a:srgbClr val="006838"/>
                </a:solidFill>
                <a:latin typeface="Arial Black"/>
              </a:rPr>
              <a:t>A guaranteed spin</a:t>
            </a:r>
          </a:p>
        </p:txBody>
      </p:sp>
      <p:sp>
        <p:nvSpPr>
          <p:cNvPr id="22" name="TextBox 21"/>
          <p:cNvSpPr txBox="1"/>
          <p:nvPr/>
        </p:nvSpPr>
        <p:spPr>
          <a:xfrm>
            <a:off x="6211824" y="2735930"/>
            <a:ext cx="2255520" cy="670179"/>
          </a:xfrm>
          <a:prstGeom prst="rect">
            <a:avLst/>
          </a:prstGeom>
          <a:noFill/>
        </p:spPr>
        <p:txBody>
          <a:bodyPr wrap="square" lIns="0" rIns="0" tIns="0" bIns="0" anchor="t">
            <a:noAutofit/>
          </a:bodyPr>
          <a:lstStyle/>
          <a:p>
            <a:pPr algn="l">
              <a:lnSpc>
                <a:spcPct val="114000"/>
              </a:lnSpc>
            </a:pPr>
            <a:r>
              <a:rPr sz="850" b="0">
                <a:solidFill>
                  <a:srgbClr val="1F3326"/>
                </a:solidFill>
                <a:latin typeface="Arial"/>
              </a:rPr>
              <a:t>One spin of the wheel, earned rather than won. It also reaches people who live nowhere near a roadshow stop, so the offline reward has an online route for the states the trucks never visit.</a:t>
            </a:r>
          </a:p>
        </p:txBody>
      </p:sp>
      <p:sp>
        <p:nvSpPr>
          <p:cNvPr id="23" name="Rectangle 22"/>
          <p:cNvSpPr/>
          <p:nvPr/>
        </p:nvSpPr>
        <p:spPr>
          <a:xfrm>
            <a:off x="438912" y="4443984"/>
            <a:ext cx="8266175" cy="402336"/>
          </a:xfrm>
          <a:prstGeom prst="rect">
            <a:avLst/>
          </a:prstGeom>
          <a:solidFill>
            <a:srgbClr val="052B1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4" name="TextBox 23"/>
          <p:cNvSpPr txBox="1"/>
          <p:nvPr/>
        </p:nvSpPr>
        <p:spPr>
          <a:xfrm>
            <a:off x="658368" y="4480560"/>
            <a:ext cx="7827264" cy="347472"/>
          </a:xfrm>
          <a:prstGeom prst="rect">
            <a:avLst/>
          </a:prstGeom>
          <a:noFill/>
        </p:spPr>
        <p:txBody>
          <a:bodyPr wrap="square" lIns="0" rIns="0" tIns="0" bIns="0" anchor="ctr">
            <a:noAutofit/>
          </a:bodyPr>
          <a:lstStyle/>
          <a:p>
            <a:pPr algn="l">
              <a:lnSpc>
                <a:spcPct val="100000"/>
              </a:lnSpc>
            </a:pPr>
            <a:r>
              <a:rPr sz="950" b="1">
                <a:solidFill>
                  <a:srgbClr val="F5EC2E"/>
                </a:solidFill>
                <a:latin typeface="Arial"/>
              </a:rPr>
              <a:t>Why certainties matter: </a:t>
            </a:r>
            <a:r>
              <a:rPr sz="950" b="0">
                <a:solidFill>
                  <a:srgbClr val="FFFFFF"/>
                </a:solidFill>
                <a:latin typeface="Arial"/>
              </a:rPr>
              <a:t>a contest built only on chances offers one emotion, which is hope followed by disappointment. Milestones keep someone earning in week seven who has never won a draw.</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AEC"/>
        </a:solidFill>
        <a:effectLst/>
      </p:bgPr>
    </p:bg>
    <p:spTree>
      <p:nvGrpSpPr>
        <p:cNvPr id="1" name=""/>
        <p:cNvGrpSpPr/>
        <p:nvPr/>
      </p:nvGrpSpPr>
      <p:grpSpPr/>
      <p:sp>
        <p:nvSpPr>
          <p:cNvPr id="2" name="Rectangle 1"/>
          <p:cNvSpPr/>
          <p:nvPr/>
        </p:nvSpPr>
        <p:spPr>
          <a:xfrm>
            <a:off x="512064" y="365760"/>
            <a:ext cx="219456" cy="73152"/>
          </a:xfrm>
          <a:prstGeom prst="rect">
            <a:avLst/>
          </a:prstGeom>
          <a:solidFill>
            <a:srgbClr val="C51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 name="TextBox 2"/>
          <p:cNvSpPr txBox="1"/>
          <p:nvPr/>
        </p:nvSpPr>
        <p:spPr>
          <a:xfrm>
            <a:off x="512064" y="566928"/>
            <a:ext cx="8119872" cy="475488"/>
          </a:xfrm>
          <a:prstGeom prst="rect">
            <a:avLst/>
          </a:prstGeom>
          <a:noFill/>
        </p:spPr>
        <p:txBody>
          <a:bodyPr wrap="square" lIns="0" rIns="0" tIns="0" bIns="0" anchor="t">
            <a:noAutofit/>
          </a:bodyPr>
          <a:lstStyle/>
          <a:p>
            <a:pPr algn="l">
              <a:lnSpc>
                <a:spcPct val="96000"/>
              </a:lnSpc>
            </a:pPr>
            <a:r>
              <a:rPr sz="2400" b="0">
                <a:solidFill>
                  <a:srgbClr val="006838"/>
                </a:solidFill>
                <a:latin typeface="Arial Black"/>
              </a:rPr>
              <a:t>The multiplier is a merchandising calendar.</a:t>
            </a:r>
          </a:p>
        </p:txBody>
      </p:sp>
      <p:sp>
        <p:nvSpPr>
          <p:cNvPr id="4" name="TextBox 3"/>
          <p:cNvSpPr txBox="1"/>
          <p:nvPr/>
        </p:nvSpPr>
        <p:spPr>
          <a:xfrm>
            <a:off x="512064" y="1060704"/>
            <a:ext cx="8119872" cy="365760"/>
          </a:xfrm>
          <a:prstGeom prst="rect">
            <a:avLst/>
          </a:prstGeom>
          <a:noFill/>
        </p:spPr>
        <p:txBody>
          <a:bodyPr wrap="square" lIns="0" rIns="0" tIns="0" bIns="0" anchor="t">
            <a:noAutofit/>
          </a:bodyPr>
          <a:lstStyle/>
          <a:p>
            <a:pPr algn="l">
              <a:lnSpc>
                <a:spcPct val="112000"/>
              </a:lnSpc>
            </a:pPr>
            <a:r>
              <a:rPr sz="1100" b="0">
                <a:solidFill>
                  <a:srgbClr val="6E8A76"/>
                </a:solidFill>
                <a:latin typeface="Arial"/>
              </a:rPr>
              <a:t>On 24 September Saji said the objective is pushing new product sampling. This is the only part of the mechanic that does that directly, and it is the part a competitor cannot copy without rebuilding the whole system.</a:t>
            </a:r>
          </a:p>
        </p:txBody>
      </p:sp>
      <p:sp>
        <p:nvSpPr>
          <p:cNvPr id="5" name="Rectangle 4"/>
          <p:cNvSpPr/>
          <p:nvPr/>
        </p:nvSpPr>
        <p:spPr>
          <a:xfrm>
            <a:off x="512064" y="1908238"/>
            <a:ext cx="2584704" cy="1615059"/>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Rectangle 5"/>
          <p:cNvSpPr/>
          <p:nvPr/>
        </p:nvSpPr>
        <p:spPr>
          <a:xfrm>
            <a:off x="512064" y="1908238"/>
            <a:ext cx="2584704" cy="54864"/>
          </a:xfrm>
          <a:prstGeom prst="rect">
            <a:avLst/>
          </a:prstGeom>
          <a:solidFill>
            <a:srgbClr val="0068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7" name="TextBox 6"/>
          <p:cNvSpPr txBox="1"/>
          <p:nvPr/>
        </p:nvSpPr>
        <p:spPr>
          <a:xfrm>
            <a:off x="676656" y="2091118"/>
            <a:ext cx="2255520" cy="182880"/>
          </a:xfrm>
          <a:prstGeom prst="rect">
            <a:avLst/>
          </a:prstGeom>
          <a:noFill/>
        </p:spPr>
        <p:txBody>
          <a:bodyPr wrap="square" lIns="0" rIns="0" tIns="0" bIns="0" anchor="t">
            <a:noAutofit/>
          </a:bodyPr>
          <a:lstStyle/>
          <a:p>
            <a:pPr algn="l">
              <a:lnSpc>
                <a:spcPct val="100000"/>
              </a:lnSpc>
            </a:pPr>
            <a:r>
              <a:rPr sz="800" b="1">
                <a:solidFill>
                  <a:srgbClr val="6E8A76"/>
                </a:solidFill>
                <a:latin typeface="Arial"/>
              </a:rPr>
              <a:t>NO MARGIN COST</a:t>
            </a:r>
          </a:p>
        </p:txBody>
      </p:sp>
      <p:sp>
        <p:nvSpPr>
          <p:cNvPr id="8" name="TextBox 7"/>
          <p:cNvSpPr txBox="1"/>
          <p:nvPr/>
        </p:nvSpPr>
        <p:spPr>
          <a:xfrm>
            <a:off x="676656" y="2301430"/>
            <a:ext cx="2255520" cy="207264"/>
          </a:xfrm>
          <a:prstGeom prst="rect">
            <a:avLst/>
          </a:prstGeom>
          <a:noFill/>
        </p:spPr>
        <p:txBody>
          <a:bodyPr wrap="square" lIns="0" rIns="0" tIns="0" bIns="0" anchor="t">
            <a:noAutofit/>
          </a:bodyPr>
          <a:lstStyle/>
          <a:p>
            <a:pPr algn="l">
              <a:lnSpc>
                <a:spcPct val="96000"/>
              </a:lnSpc>
            </a:pPr>
            <a:r>
              <a:rPr sz="1250" b="0">
                <a:solidFill>
                  <a:srgbClr val="006838"/>
                </a:solidFill>
                <a:latin typeface="Arial Black"/>
              </a:rPr>
              <a:t>Volume without a price cut</a:t>
            </a:r>
          </a:p>
        </p:txBody>
      </p:sp>
      <p:sp>
        <p:nvSpPr>
          <p:cNvPr id="9" name="TextBox 8"/>
          <p:cNvSpPr txBox="1"/>
          <p:nvPr/>
        </p:nvSpPr>
        <p:spPr>
          <a:xfrm>
            <a:off x="676656" y="2508694"/>
            <a:ext cx="2255520" cy="670179"/>
          </a:xfrm>
          <a:prstGeom prst="rect">
            <a:avLst/>
          </a:prstGeom>
          <a:noFill/>
        </p:spPr>
        <p:txBody>
          <a:bodyPr wrap="square" lIns="0" rIns="0" tIns="0" bIns="0" anchor="t">
            <a:noAutofit/>
          </a:bodyPr>
          <a:lstStyle/>
          <a:p>
            <a:pPr algn="l">
              <a:lnSpc>
                <a:spcPct val="114000"/>
              </a:lnSpc>
            </a:pPr>
            <a:r>
              <a:rPr sz="850" b="0">
                <a:solidFill>
                  <a:srgbClr val="1F3326"/>
                </a:solidFill>
                <a:latin typeface="Arial"/>
              </a:rPr>
              <a:t>A 3x Mata week moves units without touching shelf price. No trade renegotiation, no promotional allowance, no margin given away, and no price expectation left behind after Raya.</a:t>
            </a:r>
          </a:p>
        </p:txBody>
      </p:sp>
      <p:sp>
        <p:nvSpPr>
          <p:cNvPr id="10" name="Rectangle 9"/>
          <p:cNvSpPr/>
          <p:nvPr/>
        </p:nvSpPr>
        <p:spPr>
          <a:xfrm>
            <a:off x="3279648" y="1908238"/>
            <a:ext cx="2584704" cy="1615059"/>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1" name="Rectangle 10"/>
          <p:cNvSpPr/>
          <p:nvPr/>
        </p:nvSpPr>
        <p:spPr>
          <a:xfrm>
            <a:off x="3279648" y="1908238"/>
            <a:ext cx="2584704" cy="54864"/>
          </a:xfrm>
          <a:prstGeom prst="rect">
            <a:avLst/>
          </a:prstGeom>
          <a:solidFill>
            <a:srgbClr val="E891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2" name="TextBox 11"/>
          <p:cNvSpPr txBox="1"/>
          <p:nvPr/>
        </p:nvSpPr>
        <p:spPr>
          <a:xfrm>
            <a:off x="3444240" y="2091118"/>
            <a:ext cx="2255520" cy="182880"/>
          </a:xfrm>
          <a:prstGeom prst="rect">
            <a:avLst/>
          </a:prstGeom>
          <a:noFill/>
        </p:spPr>
        <p:txBody>
          <a:bodyPr wrap="square" lIns="0" rIns="0" tIns="0" bIns="0" anchor="t">
            <a:noAutofit/>
          </a:bodyPr>
          <a:lstStyle/>
          <a:p>
            <a:pPr algn="l">
              <a:lnSpc>
                <a:spcPct val="100000"/>
              </a:lnSpc>
            </a:pPr>
            <a:r>
              <a:rPr sz="800" b="1">
                <a:solidFill>
                  <a:srgbClr val="6E8A76"/>
                </a:solidFill>
                <a:latin typeface="Arial"/>
              </a:rPr>
              <a:t>SWITCHED WEEKLY</a:t>
            </a:r>
          </a:p>
        </p:txBody>
      </p:sp>
      <p:sp>
        <p:nvSpPr>
          <p:cNvPr id="13" name="TextBox 12"/>
          <p:cNvSpPr txBox="1"/>
          <p:nvPr/>
        </p:nvSpPr>
        <p:spPr>
          <a:xfrm>
            <a:off x="3444240" y="2301430"/>
            <a:ext cx="2255520" cy="207264"/>
          </a:xfrm>
          <a:prstGeom prst="rect">
            <a:avLst/>
          </a:prstGeom>
          <a:noFill/>
        </p:spPr>
        <p:txBody>
          <a:bodyPr wrap="square" lIns="0" rIns="0" tIns="0" bIns="0" anchor="t">
            <a:noAutofit/>
          </a:bodyPr>
          <a:lstStyle/>
          <a:p>
            <a:pPr algn="l">
              <a:lnSpc>
                <a:spcPct val="96000"/>
              </a:lnSpc>
            </a:pPr>
            <a:r>
              <a:rPr sz="1250" b="0">
                <a:solidFill>
                  <a:srgbClr val="006838"/>
                </a:solidFill>
                <a:latin typeface="Arial Black"/>
              </a:rPr>
              <a:t>Ten separate pushes</a:t>
            </a:r>
          </a:p>
        </p:txBody>
      </p:sp>
      <p:sp>
        <p:nvSpPr>
          <p:cNvPr id="14" name="TextBox 13"/>
          <p:cNvSpPr txBox="1"/>
          <p:nvPr/>
        </p:nvSpPr>
        <p:spPr>
          <a:xfrm>
            <a:off x="3444240" y="2508694"/>
            <a:ext cx="2255520" cy="670179"/>
          </a:xfrm>
          <a:prstGeom prst="rect">
            <a:avLst/>
          </a:prstGeom>
          <a:noFill/>
        </p:spPr>
        <p:txBody>
          <a:bodyPr wrap="square" lIns="0" rIns="0" tIns="0" bIns="0" anchor="t">
            <a:noAutofit/>
          </a:bodyPr>
          <a:lstStyle/>
          <a:p>
            <a:pPr algn="l">
              <a:lnSpc>
                <a:spcPct val="114000"/>
              </a:lnSpc>
            </a:pPr>
            <a:r>
              <a:rPr sz="850" b="0">
                <a:solidFill>
                  <a:srgbClr val="1F3326"/>
                </a:solidFill>
                <a:latin typeface="Arial"/>
              </a:rPr>
              <a:t>Saji names the featured SKU every Monday. Ten weeks is ten separate pushes, and the decision can follow what the sell-through data says rather than what a media plan locked in December.</a:t>
            </a:r>
          </a:p>
        </p:txBody>
      </p:sp>
      <p:sp>
        <p:nvSpPr>
          <p:cNvPr id="15" name="Rectangle 14"/>
          <p:cNvSpPr/>
          <p:nvPr/>
        </p:nvSpPr>
        <p:spPr>
          <a:xfrm>
            <a:off x="6047232" y="1908238"/>
            <a:ext cx="2584704" cy="1615059"/>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6" name="Rectangle 15"/>
          <p:cNvSpPr/>
          <p:nvPr/>
        </p:nvSpPr>
        <p:spPr>
          <a:xfrm>
            <a:off x="6047232" y="1908238"/>
            <a:ext cx="2584704" cy="54864"/>
          </a:xfrm>
          <a:prstGeom prst="rect">
            <a:avLst/>
          </a:prstGeom>
          <a:solidFill>
            <a:srgbClr val="C51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7" name="TextBox 16"/>
          <p:cNvSpPr txBox="1"/>
          <p:nvPr/>
        </p:nvSpPr>
        <p:spPr>
          <a:xfrm>
            <a:off x="6211824" y="2091118"/>
            <a:ext cx="2255520" cy="182880"/>
          </a:xfrm>
          <a:prstGeom prst="rect">
            <a:avLst/>
          </a:prstGeom>
          <a:noFill/>
        </p:spPr>
        <p:txBody>
          <a:bodyPr wrap="square" lIns="0" rIns="0" tIns="0" bIns="0" anchor="t">
            <a:noAutofit/>
          </a:bodyPr>
          <a:lstStyle/>
          <a:p>
            <a:pPr algn="l">
              <a:lnSpc>
                <a:spcPct val="100000"/>
              </a:lnSpc>
            </a:pPr>
            <a:r>
              <a:rPr sz="800" b="1">
                <a:solidFill>
                  <a:srgbClr val="6E8A76"/>
                </a:solidFill>
                <a:latin typeface="Arial"/>
              </a:rPr>
              <a:t>BUILT FOR AROUND 100 SKUS</a:t>
            </a:r>
          </a:p>
        </p:txBody>
      </p:sp>
      <p:sp>
        <p:nvSpPr>
          <p:cNvPr id="18" name="TextBox 17"/>
          <p:cNvSpPr txBox="1"/>
          <p:nvPr/>
        </p:nvSpPr>
        <p:spPr>
          <a:xfrm>
            <a:off x="6211824" y="2301430"/>
            <a:ext cx="2255520" cy="359664"/>
          </a:xfrm>
          <a:prstGeom prst="rect">
            <a:avLst/>
          </a:prstGeom>
          <a:noFill/>
        </p:spPr>
        <p:txBody>
          <a:bodyPr wrap="square" lIns="0" rIns="0" tIns="0" bIns="0" anchor="t">
            <a:noAutofit/>
          </a:bodyPr>
          <a:lstStyle/>
          <a:p>
            <a:pPr algn="l">
              <a:lnSpc>
                <a:spcPct val="96000"/>
              </a:lnSpc>
            </a:pPr>
            <a:r>
              <a:rPr sz="1250" b="0">
                <a:solidFill>
                  <a:srgbClr val="006838"/>
                </a:solidFill>
                <a:latin typeface="Arial Black"/>
              </a:rPr>
              <a:t>A lever for the whole range</a:t>
            </a:r>
          </a:p>
        </p:txBody>
      </p:sp>
      <p:sp>
        <p:nvSpPr>
          <p:cNvPr id="19" name="TextBox 18"/>
          <p:cNvSpPr txBox="1"/>
          <p:nvPr/>
        </p:nvSpPr>
        <p:spPr>
          <a:xfrm>
            <a:off x="6211824" y="2661094"/>
            <a:ext cx="2255520" cy="670179"/>
          </a:xfrm>
          <a:prstGeom prst="rect">
            <a:avLst/>
          </a:prstGeom>
          <a:noFill/>
        </p:spPr>
        <p:txBody>
          <a:bodyPr wrap="square" lIns="0" rIns="0" tIns="0" bIns="0" anchor="t">
            <a:noAutofit/>
          </a:bodyPr>
          <a:lstStyle/>
          <a:p>
            <a:pPr algn="l">
              <a:lnSpc>
                <a:spcPct val="114000"/>
              </a:lnSpc>
            </a:pPr>
            <a:r>
              <a:rPr sz="850" b="0">
                <a:solidFill>
                  <a:srgbClr val="1F3326"/>
                </a:solidFill>
                <a:latin typeface="Arial"/>
              </a:rPr>
              <a:t>Saji runs roughly 100 consumer SKUs across five marketing sub-departments. The multiplier gives each of them a week in the contest without anyone having to buy separate media for it.</a:t>
            </a:r>
          </a:p>
        </p:txBody>
      </p:sp>
      <p:sp>
        <p:nvSpPr>
          <p:cNvPr id="20" name="Rectangle 19"/>
          <p:cNvSpPr/>
          <p:nvPr/>
        </p:nvSpPr>
        <p:spPr>
          <a:xfrm>
            <a:off x="438912" y="4443984"/>
            <a:ext cx="8266175" cy="402336"/>
          </a:xfrm>
          <a:prstGeom prst="rect">
            <a:avLst/>
          </a:prstGeom>
          <a:solidFill>
            <a:srgbClr val="052B1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1" name="TextBox 20"/>
          <p:cNvSpPr txBox="1"/>
          <p:nvPr/>
        </p:nvSpPr>
        <p:spPr>
          <a:xfrm>
            <a:off x="658368" y="4480560"/>
            <a:ext cx="7827264" cy="347472"/>
          </a:xfrm>
          <a:prstGeom prst="rect">
            <a:avLst/>
          </a:prstGeom>
          <a:noFill/>
        </p:spPr>
        <p:txBody>
          <a:bodyPr wrap="square" lIns="0" rIns="0" tIns="0" bIns="0" anchor="ctr">
            <a:noAutofit/>
          </a:bodyPr>
          <a:lstStyle/>
          <a:p>
            <a:pPr algn="l">
              <a:lnSpc>
                <a:spcPct val="100000"/>
              </a:lnSpc>
            </a:pPr>
            <a:r>
              <a:rPr sz="950" b="1">
                <a:solidFill>
                  <a:srgbClr val="F5EC2E"/>
                </a:solidFill>
                <a:latin typeface="Arial"/>
              </a:rPr>
              <a:t>What to decide before December: </a:t>
            </a:r>
            <a:r>
              <a:rPr sz="950" b="0">
                <a:solidFill>
                  <a:srgbClr val="FFFFFF"/>
                </a:solidFill>
                <a:latin typeface="Arial"/>
              </a:rPr>
              <a:t>who owns the weekly multiplier calendar, and which SKUs get the first three weeks of Ramadan when basket sizes are largest.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6FAEC"/>
        </a:solidFill>
        <a:effectLst/>
      </p:bgPr>
    </p:bg>
    <p:spTree>
      <p:nvGrpSpPr>
        <p:cNvPr id="1" name=""/>
        <p:cNvGrpSpPr/>
        <p:nvPr/>
      </p:nvGrpSpPr>
      <p:grpSpPr/>
      <p:sp>
        <p:nvSpPr>
          <p:cNvPr id="2" name="Rectangle 1"/>
          <p:cNvSpPr/>
          <p:nvPr/>
        </p:nvSpPr>
        <p:spPr>
          <a:xfrm>
            <a:off x="512064" y="365760"/>
            <a:ext cx="219456" cy="73152"/>
          </a:xfrm>
          <a:prstGeom prst="rect">
            <a:avLst/>
          </a:prstGeom>
          <a:solidFill>
            <a:srgbClr val="C51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 name="TextBox 2"/>
          <p:cNvSpPr txBox="1"/>
          <p:nvPr/>
        </p:nvSpPr>
        <p:spPr>
          <a:xfrm>
            <a:off x="512064" y="566928"/>
            <a:ext cx="8119872" cy="475488"/>
          </a:xfrm>
          <a:prstGeom prst="rect">
            <a:avLst/>
          </a:prstGeom>
          <a:noFill/>
        </p:spPr>
        <p:txBody>
          <a:bodyPr wrap="square" lIns="0" rIns="0" tIns="0" bIns="0" anchor="t">
            <a:noAutofit/>
          </a:bodyPr>
          <a:lstStyle/>
          <a:p>
            <a:pPr algn="l">
              <a:lnSpc>
                <a:spcPct val="96000"/>
              </a:lnSpc>
            </a:pPr>
            <a:r>
              <a:rPr sz="2400" b="0">
                <a:solidFill>
                  <a:srgbClr val="006838"/>
                </a:solidFill>
                <a:latin typeface="Arial Black"/>
              </a:rPr>
              <a:t>One mechanic, two configurations.</a:t>
            </a:r>
          </a:p>
        </p:txBody>
      </p:sp>
      <p:sp>
        <p:nvSpPr>
          <p:cNvPr id="4" name="TextBox 3"/>
          <p:cNvSpPr txBox="1"/>
          <p:nvPr/>
        </p:nvSpPr>
        <p:spPr>
          <a:xfrm>
            <a:off x="512064" y="1060704"/>
            <a:ext cx="8119872" cy="365760"/>
          </a:xfrm>
          <a:prstGeom prst="rect">
            <a:avLst/>
          </a:prstGeom>
          <a:noFill/>
        </p:spPr>
        <p:txBody>
          <a:bodyPr wrap="square" lIns="0" rIns="0" tIns="0" bIns="0" anchor="t">
            <a:noAutofit/>
          </a:bodyPr>
          <a:lstStyle/>
          <a:p>
            <a:pPr algn="l">
              <a:lnSpc>
                <a:spcPct val="112000"/>
              </a:lnSpc>
            </a:pPr>
            <a:r>
              <a:rPr sz="1100" b="0">
                <a:solidFill>
                  <a:srgbClr val="6E8A76"/>
                </a:solidFill>
                <a:latin typeface="Arial"/>
              </a:rPr>
              <a:t>The 24 September instruction was that the mechanic has to work with or without Bulan Bintang. Config A ships on its own. Config B switches on the day they sign, and needs no rebuild.</a:t>
            </a:r>
          </a:p>
        </p:txBody>
      </p:sp>
      <p:sp>
        <p:nvSpPr>
          <p:cNvPr id="5" name="Rectangle 4"/>
          <p:cNvSpPr/>
          <p:nvPr/>
        </p:nvSpPr>
        <p:spPr>
          <a:xfrm>
            <a:off x="512064" y="1918213"/>
            <a:ext cx="3968496" cy="1585722"/>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Rectangle 5"/>
          <p:cNvSpPr/>
          <p:nvPr/>
        </p:nvSpPr>
        <p:spPr>
          <a:xfrm>
            <a:off x="512064" y="1918213"/>
            <a:ext cx="3968496" cy="54864"/>
          </a:xfrm>
          <a:prstGeom prst="rect">
            <a:avLst/>
          </a:prstGeom>
          <a:solidFill>
            <a:srgbClr val="0068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7" name="TextBox 6"/>
          <p:cNvSpPr txBox="1"/>
          <p:nvPr/>
        </p:nvSpPr>
        <p:spPr>
          <a:xfrm>
            <a:off x="676656" y="2101093"/>
            <a:ext cx="3639312" cy="182880"/>
          </a:xfrm>
          <a:prstGeom prst="rect">
            <a:avLst/>
          </a:prstGeom>
          <a:noFill/>
        </p:spPr>
        <p:txBody>
          <a:bodyPr wrap="square" lIns="0" rIns="0" tIns="0" bIns="0" anchor="t">
            <a:noAutofit/>
          </a:bodyPr>
          <a:lstStyle/>
          <a:p>
            <a:pPr algn="l">
              <a:lnSpc>
                <a:spcPct val="100000"/>
              </a:lnSpc>
            </a:pPr>
            <a:r>
              <a:rPr sz="800" b="1">
                <a:solidFill>
                  <a:srgbClr val="6E8A76"/>
                </a:solidFill>
                <a:latin typeface="Arial"/>
              </a:rPr>
              <a:t>CONFIG A  ·  RECOMMENDED BASE</a:t>
            </a:r>
          </a:p>
        </p:txBody>
      </p:sp>
      <p:sp>
        <p:nvSpPr>
          <p:cNvPr id="8" name="TextBox 7"/>
          <p:cNvSpPr txBox="1"/>
          <p:nvPr/>
        </p:nvSpPr>
        <p:spPr>
          <a:xfrm>
            <a:off x="676656" y="2311405"/>
            <a:ext cx="3639312" cy="207264"/>
          </a:xfrm>
          <a:prstGeom prst="rect">
            <a:avLst/>
          </a:prstGeom>
          <a:noFill/>
        </p:spPr>
        <p:txBody>
          <a:bodyPr wrap="square" lIns="0" rIns="0" tIns="0" bIns="0" anchor="t">
            <a:noAutofit/>
          </a:bodyPr>
          <a:lstStyle/>
          <a:p>
            <a:pPr algn="l">
              <a:lnSpc>
                <a:spcPct val="96000"/>
              </a:lnSpc>
            </a:pPr>
            <a:r>
              <a:rPr sz="1250" b="0">
                <a:solidFill>
                  <a:srgbClr val="006838"/>
                </a:solidFill>
                <a:latin typeface="Arial Black"/>
              </a:rPr>
              <a:t>Saji only</a:t>
            </a:r>
          </a:p>
        </p:txBody>
      </p:sp>
      <p:sp>
        <p:nvSpPr>
          <p:cNvPr id="9" name="TextBox 8"/>
          <p:cNvSpPr txBox="1"/>
          <p:nvPr/>
        </p:nvSpPr>
        <p:spPr>
          <a:xfrm>
            <a:off x="676656" y="2518669"/>
            <a:ext cx="3639312" cy="793242"/>
          </a:xfrm>
          <a:prstGeom prst="rect">
            <a:avLst/>
          </a:prstGeom>
          <a:noFill/>
        </p:spPr>
        <p:txBody>
          <a:bodyPr wrap="square" lIns="0" rIns="0" tIns="0" bIns="0" anchor="t">
            <a:noAutofit/>
          </a:bodyPr>
          <a:lstStyle/>
          <a:p>
            <a:pPr algn="l">
              <a:lnSpc>
                <a:spcPct val="114000"/>
              </a:lnSpc>
            </a:pPr>
            <a:r>
              <a:rPr sz="850" b="0">
                <a:solidFill>
                  <a:srgbClr val="1F3326"/>
                </a:solidFill>
                <a:latin typeface="Arial"/>
              </a:rPr>
              <a:t>RM1 of Saji earns 1 Mata at any retailer. Roadshow trucks, Ramadan bazaars, in-store POSM and the 300,000 sampling packs carry every bonus code. The prize pool, the draw, the milestones and the state boards all run unchanged. Nothing in the build waits on a partner signature, and nothing has to be unpicked if the answer comes back no in November.</a:t>
            </a:r>
          </a:p>
        </p:txBody>
      </p:sp>
      <p:sp>
        <p:nvSpPr>
          <p:cNvPr id="10" name="Rectangle 9"/>
          <p:cNvSpPr/>
          <p:nvPr/>
        </p:nvSpPr>
        <p:spPr>
          <a:xfrm>
            <a:off x="4663440" y="1918213"/>
            <a:ext cx="3968496" cy="1585722"/>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1" name="Rectangle 10"/>
          <p:cNvSpPr/>
          <p:nvPr/>
        </p:nvSpPr>
        <p:spPr>
          <a:xfrm>
            <a:off x="4663440" y="1918213"/>
            <a:ext cx="3968496" cy="54864"/>
          </a:xfrm>
          <a:prstGeom prst="rect">
            <a:avLst/>
          </a:prstGeom>
          <a:solidFill>
            <a:srgbClr val="E891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2" name="TextBox 11"/>
          <p:cNvSpPr txBox="1"/>
          <p:nvPr/>
        </p:nvSpPr>
        <p:spPr>
          <a:xfrm>
            <a:off x="4828032" y="2101093"/>
            <a:ext cx="3639312" cy="182880"/>
          </a:xfrm>
          <a:prstGeom prst="rect">
            <a:avLst/>
          </a:prstGeom>
          <a:noFill/>
        </p:spPr>
        <p:txBody>
          <a:bodyPr wrap="square" lIns="0" rIns="0" tIns="0" bIns="0" anchor="t">
            <a:noAutofit/>
          </a:bodyPr>
          <a:lstStyle/>
          <a:p>
            <a:pPr algn="l">
              <a:lnSpc>
                <a:spcPct val="100000"/>
              </a:lnSpc>
            </a:pPr>
            <a:r>
              <a:rPr sz="800" b="1">
                <a:solidFill>
                  <a:srgbClr val="6E8A76"/>
                </a:solidFill>
                <a:latin typeface="Arial"/>
              </a:rPr>
              <a:t>CONFIG B  ·  UPSIDE</a:t>
            </a:r>
          </a:p>
        </p:txBody>
      </p:sp>
      <p:sp>
        <p:nvSpPr>
          <p:cNvPr id="13" name="TextBox 12"/>
          <p:cNvSpPr txBox="1"/>
          <p:nvPr/>
        </p:nvSpPr>
        <p:spPr>
          <a:xfrm>
            <a:off x="4828032" y="2311405"/>
            <a:ext cx="3639312" cy="207264"/>
          </a:xfrm>
          <a:prstGeom prst="rect">
            <a:avLst/>
          </a:prstGeom>
          <a:noFill/>
        </p:spPr>
        <p:txBody>
          <a:bodyPr wrap="square" lIns="0" rIns="0" tIns="0" bIns="0" anchor="t">
            <a:noAutofit/>
          </a:bodyPr>
          <a:lstStyle/>
          <a:p>
            <a:pPr algn="l">
              <a:lnSpc>
                <a:spcPct val="96000"/>
              </a:lnSpc>
            </a:pPr>
            <a:r>
              <a:rPr sz="1250" b="0">
                <a:solidFill>
                  <a:srgbClr val="006838"/>
                </a:solidFill>
                <a:latin typeface="Arial Black"/>
              </a:rPr>
              <a:t>With Bulan Bintang</a:t>
            </a:r>
          </a:p>
        </p:txBody>
      </p:sp>
      <p:sp>
        <p:nvSpPr>
          <p:cNvPr id="14" name="TextBox 13"/>
          <p:cNvSpPr txBox="1"/>
          <p:nvPr/>
        </p:nvSpPr>
        <p:spPr>
          <a:xfrm>
            <a:off x="4828032" y="2518669"/>
            <a:ext cx="3639312" cy="793242"/>
          </a:xfrm>
          <a:prstGeom prst="rect">
            <a:avLst/>
          </a:prstGeom>
          <a:noFill/>
        </p:spPr>
        <p:txBody>
          <a:bodyPr wrap="square" lIns="0" rIns="0" tIns="0" bIns="0" anchor="t">
            <a:noAutofit/>
          </a:bodyPr>
          <a:lstStyle/>
          <a:p>
            <a:pPr algn="l">
              <a:lnSpc>
                <a:spcPct val="114000"/>
              </a:lnSpc>
            </a:pPr>
            <a:r>
              <a:rPr sz="850" b="0">
                <a:solidFill>
                  <a:srgbClr val="1F3326"/>
                </a:solidFill>
                <a:latin typeface="Arial"/>
              </a:rPr>
              <a:t>A boutique receipt earns capped bonus Mata and each of the 14 stores carries a 50 Mata code. Their footfall and the roughly 400,000 data entries they bring come in as extra reach on top of a working contest. The lockup goes on the campaign pack and the film, and the pop-up kiosk becomes an upgrade rather than a dependency.</a:t>
            </a:r>
          </a:p>
        </p:txBody>
      </p:sp>
      <p:sp>
        <p:nvSpPr>
          <p:cNvPr id="15" name="Rectangle 14"/>
          <p:cNvSpPr/>
          <p:nvPr/>
        </p:nvSpPr>
        <p:spPr>
          <a:xfrm>
            <a:off x="438912" y="4443984"/>
            <a:ext cx="8266175" cy="402336"/>
          </a:xfrm>
          <a:prstGeom prst="rect">
            <a:avLst/>
          </a:prstGeom>
          <a:solidFill>
            <a:srgbClr val="052B1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6" name="TextBox 15"/>
          <p:cNvSpPr txBox="1"/>
          <p:nvPr/>
        </p:nvSpPr>
        <p:spPr>
          <a:xfrm>
            <a:off x="658368" y="4480560"/>
            <a:ext cx="7827264" cy="347472"/>
          </a:xfrm>
          <a:prstGeom prst="rect">
            <a:avLst/>
          </a:prstGeom>
          <a:noFill/>
        </p:spPr>
        <p:txBody>
          <a:bodyPr wrap="square" lIns="0" rIns="0" tIns="0" bIns="0" anchor="ctr">
            <a:noAutofit/>
          </a:bodyPr>
          <a:lstStyle/>
          <a:p>
            <a:pPr algn="l">
              <a:lnSpc>
                <a:spcPct val="100000"/>
              </a:lnSpc>
            </a:pPr>
            <a:r>
              <a:rPr sz="950" b="1">
                <a:solidFill>
                  <a:srgbClr val="F5EC2E"/>
                </a:solidFill>
                <a:latin typeface="Arial"/>
              </a:rPr>
              <a:t>The structural change from rev2: </a:t>
            </a:r>
            <a:r>
              <a:rPr sz="950" b="0">
                <a:solidFill>
                  <a:srgbClr val="FFFFFF"/>
                </a:solidFill>
                <a:latin typeface="Arial"/>
              </a:rPr>
              <a:t>the partner used to carry the mechanic and now decorates it. That is what lets the team lock the build in December without knowing the answer.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6FAEC"/>
        </a:solidFill>
        <a:effectLst/>
      </p:bgPr>
    </p:bg>
    <p:spTree>
      <p:nvGrpSpPr>
        <p:cNvPr id="1" name=""/>
        <p:cNvGrpSpPr/>
        <p:nvPr/>
      </p:nvGrpSpPr>
      <p:grpSpPr/>
      <p:sp>
        <p:nvSpPr>
          <p:cNvPr id="2" name="Rectangle 1"/>
          <p:cNvSpPr/>
          <p:nvPr/>
        </p:nvSpPr>
        <p:spPr>
          <a:xfrm>
            <a:off x="512064" y="365760"/>
            <a:ext cx="219456" cy="73152"/>
          </a:xfrm>
          <a:prstGeom prst="rect">
            <a:avLst/>
          </a:prstGeom>
          <a:solidFill>
            <a:srgbClr val="C51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 name="TextBox 2"/>
          <p:cNvSpPr txBox="1"/>
          <p:nvPr/>
        </p:nvSpPr>
        <p:spPr>
          <a:xfrm>
            <a:off x="512064" y="566928"/>
            <a:ext cx="8119872" cy="475488"/>
          </a:xfrm>
          <a:prstGeom prst="rect">
            <a:avLst/>
          </a:prstGeom>
          <a:noFill/>
        </p:spPr>
        <p:txBody>
          <a:bodyPr wrap="square" lIns="0" rIns="0" tIns="0" bIns="0" anchor="t">
            <a:noAutofit/>
          </a:bodyPr>
          <a:lstStyle/>
          <a:p>
            <a:pPr algn="l">
              <a:lnSpc>
                <a:spcPct val="96000"/>
              </a:lnSpc>
            </a:pPr>
            <a:r>
              <a:rPr sz="2400" b="0">
                <a:solidFill>
                  <a:srgbClr val="006838"/>
                </a:solidFill>
                <a:latin typeface="Arial Black"/>
              </a:rPr>
              <a:t>The RM145,000 prize pool, unchanged in total.</a:t>
            </a:r>
          </a:p>
        </p:txBody>
      </p:sp>
      <p:sp>
        <p:nvSpPr>
          <p:cNvPr id="4" name="TextBox 3"/>
          <p:cNvSpPr txBox="1"/>
          <p:nvPr/>
        </p:nvSpPr>
        <p:spPr>
          <a:xfrm>
            <a:off x="512064" y="1060704"/>
            <a:ext cx="8119872" cy="365760"/>
          </a:xfrm>
          <a:prstGeom prst="rect">
            <a:avLst/>
          </a:prstGeom>
          <a:noFill/>
        </p:spPr>
        <p:txBody>
          <a:bodyPr wrap="square" lIns="0" rIns="0" tIns="0" bIns="0" anchor="t">
            <a:noAutofit/>
          </a:bodyPr>
          <a:lstStyle/>
          <a:p>
            <a:pPr algn="l">
              <a:lnSpc>
                <a:spcPct val="112000"/>
              </a:lnSpc>
            </a:pPr>
            <a:r>
              <a:rPr sz="1100" b="0">
                <a:solidFill>
                  <a:srgbClr val="6E8A76"/>
                </a:solidFill>
                <a:latin typeface="Arial"/>
              </a:rPr>
              <a:t>The client budgeted RM145,000 and that number does not move. What changes is that every chance inside it is now weighted by Mata, so the pool rewards the ten week habit rather than a single lucky week.</a:t>
            </a:r>
          </a:p>
        </p:txBody>
      </p:sp>
      <p:sp>
        <p:nvSpPr>
          <p:cNvPr id="5" name="Rectangle 4"/>
          <p:cNvSpPr/>
          <p:nvPr/>
        </p:nvSpPr>
        <p:spPr>
          <a:xfrm>
            <a:off x="512064" y="1796315"/>
            <a:ext cx="2584704" cy="1944243"/>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Rectangle 5"/>
          <p:cNvSpPr/>
          <p:nvPr/>
        </p:nvSpPr>
        <p:spPr>
          <a:xfrm>
            <a:off x="512064" y="1796315"/>
            <a:ext cx="2584704" cy="54864"/>
          </a:xfrm>
          <a:prstGeom prst="rect">
            <a:avLst/>
          </a:prstGeom>
          <a:solidFill>
            <a:srgbClr val="0068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7" name="TextBox 6"/>
          <p:cNvSpPr txBox="1"/>
          <p:nvPr/>
        </p:nvSpPr>
        <p:spPr>
          <a:xfrm>
            <a:off x="676656" y="1979195"/>
            <a:ext cx="2255520" cy="310896"/>
          </a:xfrm>
          <a:prstGeom prst="rect">
            <a:avLst/>
          </a:prstGeom>
          <a:noFill/>
        </p:spPr>
        <p:txBody>
          <a:bodyPr wrap="square" lIns="0" rIns="0" tIns="0" bIns="0" anchor="t">
            <a:noAutofit/>
          </a:bodyPr>
          <a:lstStyle/>
          <a:p>
            <a:pPr algn="l">
              <a:lnSpc>
                <a:spcPct val="94000"/>
              </a:lnSpc>
            </a:pPr>
            <a:r>
              <a:rPr sz="2000" b="0">
                <a:solidFill>
                  <a:srgbClr val="006838"/>
                </a:solidFill>
                <a:latin typeface="Arial Black"/>
              </a:rPr>
              <a:t>RM116,000</a:t>
            </a:r>
          </a:p>
        </p:txBody>
      </p:sp>
      <p:sp>
        <p:nvSpPr>
          <p:cNvPr id="8" name="TextBox 7"/>
          <p:cNvSpPr txBox="1"/>
          <p:nvPr/>
        </p:nvSpPr>
        <p:spPr>
          <a:xfrm>
            <a:off x="676656" y="2308379"/>
            <a:ext cx="2255520" cy="182880"/>
          </a:xfrm>
          <a:prstGeom prst="rect">
            <a:avLst/>
          </a:prstGeom>
          <a:noFill/>
        </p:spPr>
        <p:txBody>
          <a:bodyPr wrap="square" lIns="0" rIns="0" tIns="0" bIns="0" anchor="t">
            <a:noAutofit/>
          </a:bodyPr>
          <a:lstStyle/>
          <a:p>
            <a:pPr algn="l">
              <a:lnSpc>
                <a:spcPct val="100000"/>
              </a:lnSpc>
            </a:pPr>
            <a:r>
              <a:rPr sz="800" b="1">
                <a:solidFill>
                  <a:srgbClr val="6E8A76"/>
                </a:solidFill>
                <a:latin typeface="Arial"/>
              </a:rPr>
              <a:t>40 WEEKLY WINNERS</a:t>
            </a:r>
          </a:p>
        </p:txBody>
      </p:sp>
      <p:sp>
        <p:nvSpPr>
          <p:cNvPr id="9" name="TextBox 8"/>
          <p:cNvSpPr txBox="1"/>
          <p:nvPr/>
        </p:nvSpPr>
        <p:spPr>
          <a:xfrm>
            <a:off x="676656" y="2518691"/>
            <a:ext cx="2255520" cy="207264"/>
          </a:xfrm>
          <a:prstGeom prst="rect">
            <a:avLst/>
          </a:prstGeom>
          <a:noFill/>
        </p:spPr>
        <p:txBody>
          <a:bodyPr wrap="square" lIns="0" rIns="0" tIns="0" bIns="0" anchor="t">
            <a:noAutofit/>
          </a:bodyPr>
          <a:lstStyle/>
          <a:p>
            <a:pPr algn="l">
              <a:lnSpc>
                <a:spcPct val="96000"/>
              </a:lnSpc>
            </a:pPr>
            <a:r>
              <a:rPr sz="1250" b="0">
                <a:solidFill>
                  <a:srgbClr val="006838"/>
                </a:solidFill>
                <a:latin typeface="Arial Black"/>
              </a:rPr>
              <a:t>Four a week, ten weeks</a:t>
            </a:r>
          </a:p>
        </p:txBody>
      </p:sp>
      <p:sp>
        <p:nvSpPr>
          <p:cNvPr id="10" name="TextBox 9"/>
          <p:cNvSpPr txBox="1"/>
          <p:nvPr/>
        </p:nvSpPr>
        <p:spPr>
          <a:xfrm>
            <a:off x="676656" y="2725955"/>
            <a:ext cx="2255520" cy="670179"/>
          </a:xfrm>
          <a:prstGeom prst="rect">
            <a:avLst/>
          </a:prstGeom>
          <a:noFill/>
        </p:spPr>
        <p:txBody>
          <a:bodyPr wrap="square" lIns="0" rIns="0" tIns="0" bIns="0" anchor="t">
            <a:noAutofit/>
          </a:bodyPr>
          <a:lstStyle/>
          <a:p>
            <a:pPr algn="l">
              <a:lnSpc>
                <a:spcPct val="114000"/>
              </a:lnSpc>
            </a:pPr>
            <a:r>
              <a:rPr sz="850" b="0">
                <a:solidFill>
                  <a:srgbClr val="1F3326"/>
                </a:solidFill>
                <a:latin typeface="Arial"/>
              </a:rPr>
              <a:t>RM2,900 each: RM500 in cash plus RM2,400 of Saji for a year. Chances weighted by Mata, so no week passes without four visible winners and a reason to post about them.</a:t>
            </a:r>
          </a:p>
        </p:txBody>
      </p:sp>
      <p:sp>
        <p:nvSpPr>
          <p:cNvPr id="11" name="Rectangle 10"/>
          <p:cNvSpPr/>
          <p:nvPr/>
        </p:nvSpPr>
        <p:spPr>
          <a:xfrm>
            <a:off x="3279648" y="1796315"/>
            <a:ext cx="2584704" cy="1944243"/>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2" name="Rectangle 11"/>
          <p:cNvSpPr/>
          <p:nvPr/>
        </p:nvSpPr>
        <p:spPr>
          <a:xfrm>
            <a:off x="3279648" y="1796315"/>
            <a:ext cx="2584704" cy="54864"/>
          </a:xfrm>
          <a:prstGeom prst="rect">
            <a:avLst/>
          </a:prstGeom>
          <a:solidFill>
            <a:srgbClr val="F8C8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3" name="TextBox 12"/>
          <p:cNvSpPr txBox="1"/>
          <p:nvPr/>
        </p:nvSpPr>
        <p:spPr>
          <a:xfrm>
            <a:off x="3444240" y="1979195"/>
            <a:ext cx="2255520" cy="310896"/>
          </a:xfrm>
          <a:prstGeom prst="rect">
            <a:avLst/>
          </a:prstGeom>
          <a:noFill/>
        </p:spPr>
        <p:txBody>
          <a:bodyPr wrap="square" lIns="0" rIns="0" tIns="0" bIns="0" anchor="t">
            <a:noAutofit/>
          </a:bodyPr>
          <a:lstStyle/>
          <a:p>
            <a:pPr algn="l">
              <a:lnSpc>
                <a:spcPct val="94000"/>
              </a:lnSpc>
            </a:pPr>
            <a:r>
              <a:rPr sz="2000" b="0">
                <a:solidFill>
                  <a:srgbClr val="F8C84A"/>
                </a:solidFill>
                <a:latin typeface="Arial Black"/>
              </a:rPr>
              <a:t>RM29,000</a:t>
            </a:r>
          </a:p>
        </p:txBody>
      </p:sp>
      <p:sp>
        <p:nvSpPr>
          <p:cNvPr id="14" name="TextBox 13"/>
          <p:cNvSpPr txBox="1"/>
          <p:nvPr/>
        </p:nvSpPr>
        <p:spPr>
          <a:xfrm>
            <a:off x="3444240" y="2308379"/>
            <a:ext cx="2255520" cy="182880"/>
          </a:xfrm>
          <a:prstGeom prst="rect">
            <a:avLst/>
          </a:prstGeom>
          <a:noFill/>
        </p:spPr>
        <p:txBody>
          <a:bodyPr wrap="square" lIns="0" rIns="0" tIns="0" bIns="0" anchor="t">
            <a:noAutofit/>
          </a:bodyPr>
          <a:lstStyle/>
          <a:p>
            <a:pPr algn="l">
              <a:lnSpc>
                <a:spcPct val="100000"/>
              </a:lnSpc>
            </a:pPr>
            <a:r>
              <a:rPr sz="800" b="1">
                <a:solidFill>
                  <a:srgbClr val="6E8A76"/>
                </a:solidFill>
                <a:latin typeface="Arial"/>
              </a:rPr>
              <a:t>ONE GRAND DRAW</a:t>
            </a:r>
          </a:p>
        </p:txBody>
      </p:sp>
      <p:sp>
        <p:nvSpPr>
          <p:cNvPr id="15" name="TextBox 14"/>
          <p:cNvSpPr txBox="1"/>
          <p:nvPr/>
        </p:nvSpPr>
        <p:spPr>
          <a:xfrm>
            <a:off x="3444240" y="2518691"/>
            <a:ext cx="2255520" cy="359664"/>
          </a:xfrm>
          <a:prstGeom prst="rect">
            <a:avLst/>
          </a:prstGeom>
          <a:noFill/>
        </p:spPr>
        <p:txBody>
          <a:bodyPr wrap="square" lIns="0" rIns="0" tIns="0" bIns="0" anchor="t">
            <a:noAutofit/>
          </a:bodyPr>
          <a:lstStyle/>
          <a:p>
            <a:pPr algn="l">
              <a:lnSpc>
                <a:spcPct val="96000"/>
              </a:lnSpc>
            </a:pPr>
            <a:r>
              <a:rPr sz="1250" b="0">
                <a:solidFill>
                  <a:srgbClr val="006838"/>
                </a:solidFill>
                <a:latin typeface="Arial Black"/>
              </a:rPr>
              <a:t>Every Mata counts on 9 April</a:t>
            </a:r>
          </a:p>
        </p:txBody>
      </p:sp>
      <p:sp>
        <p:nvSpPr>
          <p:cNvPr id="16" name="TextBox 15"/>
          <p:cNvSpPr txBox="1"/>
          <p:nvPr/>
        </p:nvSpPr>
        <p:spPr>
          <a:xfrm>
            <a:off x="3444240" y="2878355"/>
            <a:ext cx="2255520" cy="670179"/>
          </a:xfrm>
          <a:prstGeom prst="rect">
            <a:avLst/>
          </a:prstGeom>
          <a:noFill/>
        </p:spPr>
        <p:txBody>
          <a:bodyPr wrap="square" lIns="0" rIns="0" tIns="0" bIns="0" anchor="t">
            <a:noAutofit/>
          </a:bodyPr>
          <a:lstStyle/>
          <a:p>
            <a:pPr algn="l">
              <a:lnSpc>
                <a:spcPct val="114000"/>
              </a:lnSpc>
            </a:pPr>
            <a:r>
              <a:rPr sz="850" b="0">
                <a:solidFill>
                  <a:srgbClr val="1F3326"/>
                </a:solidFill>
                <a:latin typeface="Arial"/>
              </a:rPr>
              <a:t>Drawn at the close from the full season balance of every entrant. What someone earned in week one still carries weight in week ten, which is the whole reason the balance never resets.</a:t>
            </a:r>
          </a:p>
        </p:txBody>
      </p:sp>
      <p:sp>
        <p:nvSpPr>
          <p:cNvPr id="17" name="Rectangle 16"/>
          <p:cNvSpPr/>
          <p:nvPr/>
        </p:nvSpPr>
        <p:spPr>
          <a:xfrm>
            <a:off x="6047232" y="1796315"/>
            <a:ext cx="2584704" cy="1944243"/>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8" name="Rectangle 17"/>
          <p:cNvSpPr/>
          <p:nvPr/>
        </p:nvSpPr>
        <p:spPr>
          <a:xfrm>
            <a:off x="6047232" y="1796315"/>
            <a:ext cx="2584704" cy="54864"/>
          </a:xfrm>
          <a:prstGeom prst="rect">
            <a:avLst/>
          </a:prstGeom>
          <a:solidFill>
            <a:srgbClr val="E891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9" name="TextBox 18"/>
          <p:cNvSpPr txBox="1"/>
          <p:nvPr/>
        </p:nvSpPr>
        <p:spPr>
          <a:xfrm>
            <a:off x="6211824" y="1979195"/>
            <a:ext cx="2255520" cy="310896"/>
          </a:xfrm>
          <a:prstGeom prst="rect">
            <a:avLst/>
          </a:prstGeom>
          <a:noFill/>
        </p:spPr>
        <p:txBody>
          <a:bodyPr wrap="square" lIns="0" rIns="0" tIns="0" bIns="0" anchor="t">
            <a:noAutofit/>
          </a:bodyPr>
          <a:lstStyle/>
          <a:p>
            <a:pPr algn="l">
              <a:lnSpc>
                <a:spcPct val="94000"/>
              </a:lnSpc>
            </a:pPr>
            <a:r>
              <a:rPr sz="2000" b="0">
                <a:solidFill>
                  <a:srgbClr val="E8912C"/>
                </a:solidFill>
                <a:latin typeface="Arial Black"/>
              </a:rPr>
              <a:t>RM0</a:t>
            </a:r>
          </a:p>
        </p:txBody>
      </p:sp>
      <p:sp>
        <p:nvSpPr>
          <p:cNvPr id="20" name="TextBox 19"/>
          <p:cNvSpPr txBox="1"/>
          <p:nvPr/>
        </p:nvSpPr>
        <p:spPr>
          <a:xfrm>
            <a:off x="6211824" y="2308379"/>
            <a:ext cx="2255520" cy="182880"/>
          </a:xfrm>
          <a:prstGeom prst="rect">
            <a:avLst/>
          </a:prstGeom>
          <a:noFill/>
        </p:spPr>
        <p:txBody>
          <a:bodyPr wrap="square" lIns="0" rIns="0" tIns="0" bIns="0" anchor="t">
            <a:noAutofit/>
          </a:bodyPr>
          <a:lstStyle/>
          <a:p>
            <a:pPr algn="l">
              <a:lnSpc>
                <a:spcPct val="100000"/>
              </a:lnSpc>
            </a:pPr>
            <a:r>
              <a:rPr sz="800" b="1">
                <a:solidFill>
                  <a:srgbClr val="6E8A76"/>
                </a:solidFill>
                <a:latin typeface="Arial"/>
              </a:rPr>
              <a:t>STATE CHAMPIONS</a:t>
            </a:r>
          </a:p>
        </p:txBody>
      </p:sp>
      <p:sp>
        <p:nvSpPr>
          <p:cNvPr id="21" name="TextBox 20"/>
          <p:cNvSpPr txBox="1"/>
          <p:nvPr/>
        </p:nvSpPr>
        <p:spPr>
          <a:xfrm>
            <a:off x="6211824" y="2518691"/>
            <a:ext cx="2255520" cy="207264"/>
          </a:xfrm>
          <a:prstGeom prst="rect">
            <a:avLst/>
          </a:prstGeom>
          <a:noFill/>
        </p:spPr>
        <p:txBody>
          <a:bodyPr wrap="square" lIns="0" rIns="0" tIns="0" bIns="0" anchor="t">
            <a:noAutofit/>
          </a:bodyPr>
          <a:lstStyle/>
          <a:p>
            <a:pPr algn="l">
              <a:lnSpc>
                <a:spcPct val="96000"/>
              </a:lnSpc>
            </a:pPr>
            <a:r>
              <a:rPr sz="1250" b="0">
                <a:solidFill>
                  <a:srgbClr val="006838"/>
                </a:solidFill>
                <a:latin typeface="Arial Black"/>
              </a:rPr>
              <a:t>Paid in product</a:t>
            </a:r>
          </a:p>
        </p:txBody>
      </p:sp>
      <p:sp>
        <p:nvSpPr>
          <p:cNvPr id="22" name="TextBox 21"/>
          <p:cNvSpPr txBox="1"/>
          <p:nvPr/>
        </p:nvSpPr>
        <p:spPr>
          <a:xfrm>
            <a:off x="6211824" y="2725955"/>
            <a:ext cx="2255520" cy="670179"/>
          </a:xfrm>
          <a:prstGeom prst="rect">
            <a:avLst/>
          </a:prstGeom>
          <a:noFill/>
        </p:spPr>
        <p:txBody>
          <a:bodyPr wrap="square" lIns="0" rIns="0" tIns="0" bIns="0" anchor="t">
            <a:noAutofit/>
          </a:bodyPr>
          <a:lstStyle/>
          <a:p>
            <a:pPr algn="l">
              <a:lnSpc>
                <a:spcPct val="114000"/>
              </a:lnSpc>
            </a:pPr>
            <a:r>
              <a:rPr sz="850" b="0">
                <a:solidFill>
                  <a:srgbClr val="1F3326"/>
                </a:solidFill>
                <a:latin typeface="Arial"/>
              </a:rPr>
              <a:t>Weekly top of each state board wins the campaign pack and a named post on the page and on social. Paid in product, so the RM145,000 does not move by a ringgit to fund it.</a:t>
            </a:r>
          </a:p>
        </p:txBody>
      </p:sp>
      <p:sp>
        <p:nvSpPr>
          <p:cNvPr id="23" name="Rectangle 22"/>
          <p:cNvSpPr/>
          <p:nvPr/>
        </p:nvSpPr>
        <p:spPr>
          <a:xfrm>
            <a:off x="438912" y="4443984"/>
            <a:ext cx="8266175" cy="402336"/>
          </a:xfrm>
          <a:prstGeom prst="rect">
            <a:avLst/>
          </a:prstGeom>
          <a:solidFill>
            <a:srgbClr val="052B1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4" name="TextBox 23"/>
          <p:cNvSpPr txBox="1"/>
          <p:nvPr/>
        </p:nvSpPr>
        <p:spPr>
          <a:xfrm>
            <a:off x="658368" y="4480560"/>
            <a:ext cx="7827264" cy="347472"/>
          </a:xfrm>
          <a:prstGeom prst="rect">
            <a:avLst/>
          </a:prstGeom>
          <a:noFill/>
        </p:spPr>
        <p:txBody>
          <a:bodyPr wrap="square" lIns="0" rIns="0" tIns="0" bIns="0" anchor="ctr">
            <a:noAutofit/>
          </a:bodyPr>
          <a:lstStyle/>
          <a:p>
            <a:pPr algn="l">
              <a:lnSpc>
                <a:spcPct val="100000"/>
              </a:lnSpc>
            </a:pPr>
            <a:r>
              <a:rPr sz="950" b="1">
                <a:solidFill>
                  <a:srgbClr val="F5EC2E"/>
                </a:solidFill>
                <a:latin typeface="Arial"/>
              </a:rPr>
              <a:t>One conflict to settle: </a:t>
            </a:r>
            <a:r>
              <a:rPr sz="950" b="0">
                <a:solidFill>
                  <a:srgbClr val="FFFFFF"/>
                </a:solidFill>
                <a:latin typeface="Arial"/>
              </a:rPr>
              <a:t>the 22 September note records one golden ticket per week. Ten of those at RM29,000 is RM290,000, which is double the pool. We have planned one grand draw.</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6FAEC"/>
        </a:solidFill>
        <a:effectLst/>
      </p:bgPr>
    </p:bg>
    <p:spTree>
      <p:nvGrpSpPr>
        <p:cNvPr id="1" name=""/>
        <p:cNvGrpSpPr/>
        <p:nvPr/>
      </p:nvGrpSpPr>
      <p:grpSpPr/>
      <p:sp>
        <p:nvSpPr>
          <p:cNvPr id="2" name="Rectangle 1"/>
          <p:cNvSpPr/>
          <p:nvPr/>
        </p:nvSpPr>
        <p:spPr>
          <a:xfrm>
            <a:off x="512064" y="365760"/>
            <a:ext cx="219456" cy="73152"/>
          </a:xfrm>
          <a:prstGeom prst="rect">
            <a:avLst/>
          </a:prstGeom>
          <a:solidFill>
            <a:srgbClr val="C51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 name="TextBox 2"/>
          <p:cNvSpPr txBox="1"/>
          <p:nvPr/>
        </p:nvSpPr>
        <p:spPr>
          <a:xfrm>
            <a:off x="512064" y="566928"/>
            <a:ext cx="8119872" cy="475488"/>
          </a:xfrm>
          <a:prstGeom prst="rect">
            <a:avLst/>
          </a:prstGeom>
          <a:noFill/>
        </p:spPr>
        <p:txBody>
          <a:bodyPr wrap="square" lIns="0" rIns="0" tIns="0" bIns="0" anchor="t">
            <a:noAutofit/>
          </a:bodyPr>
          <a:lstStyle/>
          <a:p>
            <a:pPr algn="l">
              <a:lnSpc>
                <a:spcPct val="96000"/>
              </a:lnSpc>
            </a:pPr>
            <a:r>
              <a:rPr sz="2400" b="0">
                <a:solidFill>
                  <a:srgbClr val="006838"/>
                </a:solidFill>
                <a:latin typeface="Arial Black"/>
              </a:rPr>
              <a:t>Roda Rezeki, and why every spin has to win.</a:t>
            </a:r>
          </a:p>
        </p:txBody>
      </p:sp>
      <p:sp>
        <p:nvSpPr>
          <p:cNvPr id="4" name="TextBox 3"/>
          <p:cNvSpPr txBox="1"/>
          <p:nvPr/>
        </p:nvSpPr>
        <p:spPr>
          <a:xfrm>
            <a:off x="512064" y="1060704"/>
            <a:ext cx="8119872" cy="365760"/>
          </a:xfrm>
          <a:prstGeom prst="rect">
            <a:avLst/>
          </a:prstGeom>
          <a:noFill/>
        </p:spPr>
        <p:txBody>
          <a:bodyPr wrap="square" lIns="0" rIns="0" tIns="0" bIns="0" anchor="t">
            <a:noAutofit/>
          </a:bodyPr>
          <a:lstStyle/>
          <a:p>
            <a:pPr algn="l">
              <a:lnSpc>
                <a:spcPct val="112000"/>
              </a:lnSpc>
            </a:pPr>
            <a:r>
              <a:rPr sz="1100" b="0">
                <a:solidFill>
                  <a:srgbClr val="6E8A76"/>
                </a:solidFill>
                <a:latin typeface="Arial"/>
              </a:rPr>
              <a:t>The wheel is the offline hook the 24 September discussion asked for. It also does the job the team wanted to stop paying promoters to do.</a:t>
            </a:r>
          </a:p>
        </p:txBody>
      </p:sp>
      <p:sp>
        <p:nvSpPr>
          <p:cNvPr id="5" name="Rectangle 4"/>
          <p:cNvSpPr/>
          <p:nvPr/>
        </p:nvSpPr>
        <p:spPr>
          <a:xfrm>
            <a:off x="512064" y="1960054"/>
            <a:ext cx="2584704" cy="1462658"/>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Rectangle 5"/>
          <p:cNvSpPr/>
          <p:nvPr/>
        </p:nvSpPr>
        <p:spPr>
          <a:xfrm>
            <a:off x="512064" y="1960054"/>
            <a:ext cx="2584704" cy="54864"/>
          </a:xfrm>
          <a:prstGeom prst="rect">
            <a:avLst/>
          </a:prstGeom>
          <a:solidFill>
            <a:srgbClr val="0068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7" name="TextBox 6"/>
          <p:cNvSpPr txBox="1"/>
          <p:nvPr/>
        </p:nvSpPr>
        <p:spPr>
          <a:xfrm>
            <a:off x="676656" y="2142934"/>
            <a:ext cx="2255520" cy="182880"/>
          </a:xfrm>
          <a:prstGeom prst="rect">
            <a:avLst/>
          </a:prstGeom>
          <a:noFill/>
        </p:spPr>
        <p:txBody>
          <a:bodyPr wrap="square" lIns="0" rIns="0" tIns="0" bIns="0" anchor="t">
            <a:noAutofit/>
          </a:bodyPr>
          <a:lstStyle/>
          <a:p>
            <a:pPr algn="l">
              <a:lnSpc>
                <a:spcPct val="100000"/>
              </a:lnSpc>
            </a:pPr>
            <a:r>
              <a:rPr sz="800" b="1">
                <a:solidFill>
                  <a:srgbClr val="6E8A76"/>
                </a:solidFill>
                <a:latin typeface="Arial"/>
              </a:rPr>
              <a:t>HOW IT IS EARNED</a:t>
            </a:r>
          </a:p>
        </p:txBody>
      </p:sp>
      <p:sp>
        <p:nvSpPr>
          <p:cNvPr id="8" name="TextBox 7"/>
          <p:cNvSpPr txBox="1"/>
          <p:nvPr/>
        </p:nvSpPr>
        <p:spPr>
          <a:xfrm>
            <a:off x="676656" y="2353246"/>
            <a:ext cx="2255520" cy="207264"/>
          </a:xfrm>
          <a:prstGeom prst="rect">
            <a:avLst/>
          </a:prstGeom>
          <a:noFill/>
        </p:spPr>
        <p:txBody>
          <a:bodyPr wrap="square" lIns="0" rIns="0" tIns="0" bIns="0" anchor="t">
            <a:noAutofit/>
          </a:bodyPr>
          <a:lstStyle/>
          <a:p>
            <a:pPr algn="l">
              <a:lnSpc>
                <a:spcPct val="96000"/>
              </a:lnSpc>
            </a:pPr>
            <a:r>
              <a:rPr sz="1250" b="0">
                <a:solidFill>
                  <a:srgbClr val="006838"/>
                </a:solidFill>
                <a:latin typeface="Arial Black"/>
              </a:rPr>
              <a:t>Two routes in</a:t>
            </a:r>
          </a:p>
        </p:txBody>
      </p:sp>
      <p:sp>
        <p:nvSpPr>
          <p:cNvPr id="9" name="TextBox 8"/>
          <p:cNvSpPr txBox="1"/>
          <p:nvPr/>
        </p:nvSpPr>
        <p:spPr>
          <a:xfrm>
            <a:off x="676656" y="2560510"/>
            <a:ext cx="2255520" cy="670179"/>
          </a:xfrm>
          <a:prstGeom prst="rect">
            <a:avLst/>
          </a:prstGeom>
          <a:noFill/>
        </p:spPr>
        <p:txBody>
          <a:bodyPr wrap="square" lIns="0" rIns="0" tIns="0" bIns="0" anchor="t">
            <a:noAutofit/>
          </a:bodyPr>
          <a:lstStyle/>
          <a:p>
            <a:pPr algn="l">
              <a:lnSpc>
                <a:spcPct val="114000"/>
              </a:lnSpc>
            </a:pPr>
            <a:r>
              <a:rPr sz="850" b="0">
                <a:solidFill>
                  <a:srgbClr val="1F3326"/>
                </a:solidFill>
                <a:latin typeface="Arial"/>
              </a:rPr>
              <a:t>Scan the QR at a roadshow truck, a Ramadan bazaar or a pop-up for one free spin, or reach 300 Mata online. Nobody outside a truck route gets locked out of the campaign's best moment.</a:t>
            </a:r>
          </a:p>
        </p:txBody>
      </p:sp>
      <p:sp>
        <p:nvSpPr>
          <p:cNvPr id="10" name="Rectangle 9"/>
          <p:cNvSpPr/>
          <p:nvPr/>
        </p:nvSpPr>
        <p:spPr>
          <a:xfrm>
            <a:off x="3279648" y="1960054"/>
            <a:ext cx="2584704" cy="1462658"/>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1" name="Rectangle 10"/>
          <p:cNvSpPr/>
          <p:nvPr/>
        </p:nvSpPr>
        <p:spPr>
          <a:xfrm>
            <a:off x="3279648" y="1960054"/>
            <a:ext cx="2584704" cy="54864"/>
          </a:xfrm>
          <a:prstGeom prst="rect">
            <a:avLst/>
          </a:prstGeom>
          <a:solidFill>
            <a:srgbClr val="E891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2" name="TextBox 11"/>
          <p:cNvSpPr txBox="1"/>
          <p:nvPr/>
        </p:nvSpPr>
        <p:spPr>
          <a:xfrm>
            <a:off x="3444240" y="2142934"/>
            <a:ext cx="2255520" cy="182880"/>
          </a:xfrm>
          <a:prstGeom prst="rect">
            <a:avLst/>
          </a:prstGeom>
          <a:noFill/>
        </p:spPr>
        <p:txBody>
          <a:bodyPr wrap="square" lIns="0" rIns="0" tIns="0" bIns="0" anchor="t">
            <a:noAutofit/>
          </a:bodyPr>
          <a:lstStyle/>
          <a:p>
            <a:pPr algn="l">
              <a:lnSpc>
                <a:spcPct val="100000"/>
              </a:lnSpc>
            </a:pPr>
            <a:r>
              <a:rPr sz="800" b="1">
                <a:solidFill>
                  <a:srgbClr val="6E8A76"/>
                </a:solidFill>
                <a:latin typeface="Arial"/>
              </a:rPr>
              <a:t>WHY EVERY SPIN WINS</a:t>
            </a:r>
          </a:p>
        </p:txBody>
      </p:sp>
      <p:sp>
        <p:nvSpPr>
          <p:cNvPr id="13" name="TextBox 12"/>
          <p:cNvSpPr txBox="1"/>
          <p:nvPr/>
        </p:nvSpPr>
        <p:spPr>
          <a:xfrm>
            <a:off x="3444240" y="2353246"/>
            <a:ext cx="2255520" cy="207264"/>
          </a:xfrm>
          <a:prstGeom prst="rect">
            <a:avLst/>
          </a:prstGeom>
          <a:noFill/>
        </p:spPr>
        <p:txBody>
          <a:bodyPr wrap="square" lIns="0" rIns="0" tIns="0" bIns="0" anchor="t">
            <a:noAutofit/>
          </a:bodyPr>
          <a:lstStyle/>
          <a:p>
            <a:pPr algn="l">
              <a:lnSpc>
                <a:spcPct val="96000"/>
              </a:lnSpc>
            </a:pPr>
            <a:r>
              <a:rPr sz="1250" b="0">
                <a:solidFill>
                  <a:srgbClr val="006838"/>
                </a:solidFill>
                <a:latin typeface="Arial Black"/>
              </a:rPr>
              <a:t>No losing segments</a:t>
            </a:r>
          </a:p>
        </p:txBody>
      </p:sp>
      <p:sp>
        <p:nvSpPr>
          <p:cNvPr id="14" name="TextBox 13"/>
          <p:cNvSpPr txBox="1"/>
          <p:nvPr/>
        </p:nvSpPr>
        <p:spPr>
          <a:xfrm>
            <a:off x="3444240" y="2560510"/>
            <a:ext cx="2255520" cy="670179"/>
          </a:xfrm>
          <a:prstGeom prst="rect">
            <a:avLst/>
          </a:prstGeom>
          <a:noFill/>
        </p:spPr>
        <p:txBody>
          <a:bodyPr wrap="square" lIns="0" rIns="0" tIns="0" bIns="0" anchor="t">
            <a:noAutofit/>
          </a:bodyPr>
          <a:lstStyle/>
          <a:p>
            <a:pPr algn="l">
              <a:lnSpc>
                <a:spcPct val="114000"/>
              </a:lnSpc>
            </a:pPr>
            <a:r>
              <a:rPr sz="850" b="0">
                <a:solidFill>
                  <a:srgbClr val="1F3326"/>
                </a:solidFill>
                <a:latin typeface="Arial"/>
              </a:rPr>
              <a:t>A wheel that can pay nothing teaches people to stop spinning, and word travels fast at a bazaar. Aprons, tote bags, sample packs and Mata top-ups keep the floor busy and keep the queue honest.</a:t>
            </a:r>
          </a:p>
        </p:txBody>
      </p:sp>
      <p:sp>
        <p:nvSpPr>
          <p:cNvPr id="15" name="Rectangle 14"/>
          <p:cNvSpPr/>
          <p:nvPr/>
        </p:nvSpPr>
        <p:spPr>
          <a:xfrm>
            <a:off x="6047232" y="1960054"/>
            <a:ext cx="2584704" cy="1462658"/>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6" name="Rectangle 15"/>
          <p:cNvSpPr/>
          <p:nvPr/>
        </p:nvSpPr>
        <p:spPr>
          <a:xfrm>
            <a:off x="6047232" y="1960054"/>
            <a:ext cx="2584704" cy="54864"/>
          </a:xfrm>
          <a:prstGeom prst="rect">
            <a:avLst/>
          </a:prstGeom>
          <a:solidFill>
            <a:srgbClr val="C51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7" name="TextBox 16"/>
          <p:cNvSpPr txBox="1"/>
          <p:nvPr/>
        </p:nvSpPr>
        <p:spPr>
          <a:xfrm>
            <a:off x="6211824" y="2142934"/>
            <a:ext cx="2255520" cy="182880"/>
          </a:xfrm>
          <a:prstGeom prst="rect">
            <a:avLst/>
          </a:prstGeom>
          <a:noFill/>
        </p:spPr>
        <p:txBody>
          <a:bodyPr wrap="square" lIns="0" rIns="0" tIns="0" bIns="0" anchor="t">
            <a:noAutofit/>
          </a:bodyPr>
          <a:lstStyle/>
          <a:p>
            <a:pPr algn="l">
              <a:lnSpc>
                <a:spcPct val="100000"/>
              </a:lnSpc>
            </a:pPr>
            <a:r>
              <a:rPr sz="800" b="1">
                <a:solidFill>
                  <a:srgbClr val="6E8A76"/>
                </a:solidFill>
                <a:latin typeface="Arial"/>
              </a:rPr>
              <a:t>WHAT IT REPLACES</a:t>
            </a:r>
          </a:p>
        </p:txBody>
      </p:sp>
      <p:sp>
        <p:nvSpPr>
          <p:cNvPr id="18" name="TextBox 17"/>
          <p:cNvSpPr txBox="1"/>
          <p:nvPr/>
        </p:nvSpPr>
        <p:spPr>
          <a:xfrm>
            <a:off x="6211824" y="2353246"/>
            <a:ext cx="2255520" cy="207264"/>
          </a:xfrm>
          <a:prstGeom prst="rect">
            <a:avLst/>
          </a:prstGeom>
          <a:noFill/>
        </p:spPr>
        <p:txBody>
          <a:bodyPr wrap="square" lIns="0" rIns="0" tIns="0" bIns="0" anchor="t">
            <a:noAutofit/>
          </a:bodyPr>
          <a:lstStyle/>
          <a:p>
            <a:pPr algn="l">
              <a:lnSpc>
                <a:spcPct val="96000"/>
              </a:lnSpc>
            </a:pPr>
            <a:r>
              <a:rPr sz="1250" b="0">
                <a:solidFill>
                  <a:srgbClr val="006838"/>
                </a:solidFill>
                <a:latin typeface="Arial Black"/>
              </a:rPr>
              <a:t>Fewer promoters per stop</a:t>
            </a:r>
          </a:p>
        </p:txBody>
      </p:sp>
      <p:sp>
        <p:nvSpPr>
          <p:cNvPr id="19" name="TextBox 18"/>
          <p:cNvSpPr txBox="1"/>
          <p:nvPr/>
        </p:nvSpPr>
        <p:spPr>
          <a:xfrm>
            <a:off x="6211824" y="2560510"/>
            <a:ext cx="2255520" cy="670179"/>
          </a:xfrm>
          <a:prstGeom prst="rect">
            <a:avLst/>
          </a:prstGeom>
          <a:noFill/>
        </p:spPr>
        <p:txBody>
          <a:bodyPr wrap="square" lIns="0" rIns="0" tIns="0" bIns="0" anchor="t">
            <a:noAutofit/>
          </a:bodyPr>
          <a:lstStyle/>
          <a:p>
            <a:pPr algn="l">
              <a:lnSpc>
                <a:spcPct val="114000"/>
              </a:lnSpc>
            </a:pPr>
            <a:r>
              <a:rPr sz="850" b="0">
                <a:solidFill>
                  <a:srgbClr val="1F3326"/>
                </a:solidFill>
                <a:latin typeface="Arial"/>
              </a:rPr>
              <a:t>The team asked to avoid over-reliance on human promoters. A wheel and a QR code do the persuading, so a stop runs on a smaller crew and the script stops depending on who turned up that day.</a:t>
            </a:r>
          </a:p>
        </p:txBody>
      </p:sp>
      <p:sp>
        <p:nvSpPr>
          <p:cNvPr id="20" name="Rectangle 19"/>
          <p:cNvSpPr/>
          <p:nvPr/>
        </p:nvSpPr>
        <p:spPr>
          <a:xfrm>
            <a:off x="438912" y="4443984"/>
            <a:ext cx="8266175" cy="402336"/>
          </a:xfrm>
          <a:prstGeom prst="rect">
            <a:avLst/>
          </a:prstGeom>
          <a:solidFill>
            <a:srgbClr val="052B1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1" name="TextBox 20"/>
          <p:cNvSpPr txBox="1"/>
          <p:nvPr/>
        </p:nvSpPr>
        <p:spPr>
          <a:xfrm>
            <a:off x="658368" y="4480560"/>
            <a:ext cx="7827264" cy="347472"/>
          </a:xfrm>
          <a:prstGeom prst="rect">
            <a:avLst/>
          </a:prstGeom>
          <a:noFill/>
        </p:spPr>
        <p:txBody>
          <a:bodyPr wrap="square" lIns="0" rIns="0" tIns="0" bIns="0" anchor="ctr">
            <a:noAutofit/>
          </a:bodyPr>
          <a:lstStyle/>
          <a:p>
            <a:pPr algn="l">
              <a:lnSpc>
                <a:spcPct val="100000"/>
              </a:lnSpc>
            </a:pPr>
            <a:r>
              <a:rPr sz="950" b="1">
                <a:solidFill>
                  <a:srgbClr val="F5EC2E"/>
                </a:solidFill>
                <a:latin typeface="Arial"/>
              </a:rPr>
              <a:t>The activation arithmetic: </a:t>
            </a:r>
            <a:r>
              <a:rPr sz="950" b="0">
                <a:solidFill>
                  <a:srgbClr val="FFFFFF"/>
                </a:solidFill>
                <a:latin typeface="Arial"/>
              </a:rPr>
              <a:t>bazaar space is expensive and footfall is not. A QR at the truck turns one day of sampling into a list you can reach for the next nine weeks at no media cost.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52B18"/>
        </a:solidFill>
        <a:effectLst/>
      </p:bgPr>
    </p:bg>
    <p:spTree>
      <p:nvGrpSpPr>
        <p:cNvPr id="1" name=""/>
        <p:cNvGrpSpPr/>
        <p:nvPr/>
      </p:nvGrpSpPr>
      <p:grpSpPr/>
      <p:sp>
        <p:nvSpPr>
          <p:cNvPr id="2" name="Rectangle 1"/>
          <p:cNvSpPr/>
          <p:nvPr/>
        </p:nvSpPr>
        <p:spPr>
          <a:xfrm>
            <a:off x="0" y="0"/>
            <a:ext cx="128016" cy="5143500"/>
          </a:xfrm>
          <a:prstGeom prst="rect">
            <a:avLst/>
          </a:prstGeom>
          <a:solidFill>
            <a:srgbClr val="C51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 name="TextBox 2"/>
          <p:cNvSpPr txBox="1"/>
          <p:nvPr/>
        </p:nvSpPr>
        <p:spPr>
          <a:xfrm>
            <a:off x="640080" y="1554480"/>
            <a:ext cx="3657600" cy="365760"/>
          </a:xfrm>
          <a:prstGeom prst="rect">
            <a:avLst/>
          </a:prstGeom>
          <a:noFill/>
        </p:spPr>
        <p:txBody>
          <a:bodyPr wrap="square" lIns="0" rIns="0" tIns="0" bIns="0" anchor="t">
            <a:noAutofit/>
          </a:bodyPr>
          <a:lstStyle/>
          <a:p>
            <a:pPr algn="l">
              <a:lnSpc>
                <a:spcPct val="92000"/>
              </a:lnSpc>
            </a:pPr>
            <a:r>
              <a:rPr sz="2100" b="0">
                <a:solidFill>
                  <a:srgbClr val="FFFFFF"/>
                </a:solidFill>
                <a:latin typeface="Arial Black"/>
              </a:rPr>
              <a:t>02.</a:t>
            </a:r>
          </a:p>
        </p:txBody>
      </p:sp>
      <p:sp>
        <p:nvSpPr>
          <p:cNvPr id="4" name="TextBox 3"/>
          <p:cNvSpPr txBox="1"/>
          <p:nvPr/>
        </p:nvSpPr>
        <p:spPr>
          <a:xfrm>
            <a:off x="640080" y="2121408"/>
            <a:ext cx="6949440" cy="822960"/>
          </a:xfrm>
          <a:prstGeom prst="rect">
            <a:avLst/>
          </a:prstGeom>
          <a:noFill/>
        </p:spPr>
        <p:txBody>
          <a:bodyPr wrap="square" lIns="0" rIns="0" tIns="0" bIns="0" anchor="t">
            <a:noAutofit/>
          </a:bodyPr>
          <a:lstStyle/>
          <a:p>
            <a:pPr algn="l">
              <a:lnSpc>
                <a:spcPct val="94000"/>
              </a:lnSpc>
            </a:pPr>
            <a:r>
              <a:rPr sz="3800" b="0">
                <a:solidFill>
                  <a:srgbClr val="FFFFFF"/>
                </a:solidFill>
                <a:latin typeface="Arial Black"/>
              </a:rPr>
              <a:t>Online to offline</a:t>
            </a:r>
          </a:p>
        </p:txBody>
      </p:sp>
      <p:sp>
        <p:nvSpPr>
          <p:cNvPr id="5" name="TextBox 4"/>
          <p:cNvSpPr txBox="1"/>
          <p:nvPr/>
        </p:nvSpPr>
        <p:spPr>
          <a:xfrm>
            <a:off x="640080" y="3063240"/>
            <a:ext cx="7863840" cy="822960"/>
          </a:xfrm>
          <a:prstGeom prst="rect">
            <a:avLst/>
          </a:prstGeom>
          <a:noFill/>
        </p:spPr>
        <p:txBody>
          <a:bodyPr wrap="square" lIns="0" rIns="0" tIns="0" bIns="0" anchor="t">
            <a:noAutofit/>
          </a:bodyPr>
          <a:lstStyle/>
          <a:p>
            <a:pPr algn="l">
              <a:lnSpc>
                <a:spcPct val="118000"/>
              </a:lnSpc>
            </a:pPr>
            <a:r>
              <a:rPr sz="1500" b="0">
                <a:solidFill>
                  <a:srgbClr val="F8C84A"/>
                </a:solidFill>
                <a:latin typeface="Arial"/>
              </a:rPr>
              <a:t>The five stages, where every Mata is earned, and what ten weeks looks like from the shopper's side rather than from the media plan's side.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6FAEC"/>
        </a:solidFill>
        <a:effectLst/>
      </p:bgPr>
    </p:bg>
    <p:spTree>
      <p:nvGrpSpPr>
        <p:cNvPr id="1" name=""/>
        <p:cNvGrpSpPr/>
        <p:nvPr/>
      </p:nvGrpSpPr>
      <p:grpSpPr/>
      <p:sp>
        <p:nvSpPr>
          <p:cNvPr id="2" name="Rectangle 1"/>
          <p:cNvSpPr/>
          <p:nvPr/>
        </p:nvSpPr>
        <p:spPr>
          <a:xfrm>
            <a:off x="512064" y="365760"/>
            <a:ext cx="219456" cy="73152"/>
          </a:xfrm>
          <a:prstGeom prst="rect">
            <a:avLst/>
          </a:prstGeom>
          <a:solidFill>
            <a:srgbClr val="C51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 name="TextBox 2"/>
          <p:cNvSpPr txBox="1"/>
          <p:nvPr/>
        </p:nvSpPr>
        <p:spPr>
          <a:xfrm>
            <a:off x="512064" y="566928"/>
            <a:ext cx="8119872" cy="475488"/>
          </a:xfrm>
          <a:prstGeom prst="rect">
            <a:avLst/>
          </a:prstGeom>
          <a:noFill/>
        </p:spPr>
        <p:txBody>
          <a:bodyPr wrap="square" lIns="0" rIns="0" tIns="0" bIns="0" anchor="t">
            <a:noAutofit/>
          </a:bodyPr>
          <a:lstStyle/>
          <a:p>
            <a:pPr algn="l">
              <a:lnSpc>
                <a:spcPct val="96000"/>
              </a:lnSpc>
            </a:pPr>
            <a:r>
              <a:rPr sz="2400" b="0">
                <a:solidFill>
                  <a:srgbClr val="006838"/>
                </a:solidFill>
                <a:latin typeface="Arial Black"/>
              </a:rPr>
              <a:t>Five stages, and the fifth one feeds the first.</a:t>
            </a:r>
          </a:p>
        </p:txBody>
      </p:sp>
      <p:sp>
        <p:nvSpPr>
          <p:cNvPr id="4" name="TextBox 3"/>
          <p:cNvSpPr txBox="1"/>
          <p:nvPr/>
        </p:nvSpPr>
        <p:spPr>
          <a:xfrm>
            <a:off x="512064" y="1060704"/>
            <a:ext cx="8119872" cy="365760"/>
          </a:xfrm>
          <a:prstGeom prst="rect">
            <a:avLst/>
          </a:prstGeom>
          <a:noFill/>
        </p:spPr>
        <p:txBody>
          <a:bodyPr wrap="square" lIns="0" rIns="0" tIns="0" bIns="0" anchor="t">
            <a:noAutofit/>
          </a:bodyPr>
          <a:lstStyle/>
          <a:p>
            <a:pPr algn="l">
              <a:lnSpc>
                <a:spcPct val="112000"/>
              </a:lnSpc>
            </a:pPr>
            <a:r>
              <a:rPr sz="1100" b="0">
                <a:solidFill>
                  <a:srgbClr val="6E8A76"/>
                </a:solidFill>
                <a:latin typeface="Arial"/>
              </a:rPr>
              <a:t>Described as ads to page to roadshow, this reads as a funnel. Built properly it runs as a loop, because roadshow footfall that becomes a registered profile compounds instead of evaporating when the truck packs up.</a:t>
            </a:r>
          </a:p>
        </p:txBody>
      </p:sp>
      <p:sp>
        <p:nvSpPr>
          <p:cNvPr id="5" name="Rectangle 4"/>
          <p:cNvSpPr/>
          <p:nvPr/>
        </p:nvSpPr>
        <p:spPr>
          <a:xfrm>
            <a:off x="512064" y="1852147"/>
            <a:ext cx="1514246" cy="1780032"/>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Rectangle 5"/>
          <p:cNvSpPr/>
          <p:nvPr/>
        </p:nvSpPr>
        <p:spPr>
          <a:xfrm>
            <a:off x="512064" y="1852147"/>
            <a:ext cx="1514246" cy="54864"/>
          </a:xfrm>
          <a:prstGeom prst="rect">
            <a:avLst/>
          </a:prstGeom>
          <a:solidFill>
            <a:srgbClr val="0068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7" name="TextBox 6"/>
          <p:cNvSpPr txBox="1"/>
          <p:nvPr/>
        </p:nvSpPr>
        <p:spPr>
          <a:xfrm>
            <a:off x="676656" y="2035027"/>
            <a:ext cx="1185062" cy="310896"/>
          </a:xfrm>
          <a:prstGeom prst="rect">
            <a:avLst/>
          </a:prstGeom>
          <a:noFill/>
        </p:spPr>
        <p:txBody>
          <a:bodyPr wrap="square" lIns="0" rIns="0" tIns="0" bIns="0" anchor="t">
            <a:noAutofit/>
          </a:bodyPr>
          <a:lstStyle/>
          <a:p>
            <a:pPr algn="l">
              <a:lnSpc>
                <a:spcPct val="94000"/>
              </a:lnSpc>
            </a:pPr>
            <a:r>
              <a:rPr sz="2000" b="0">
                <a:solidFill>
                  <a:srgbClr val="006838"/>
                </a:solidFill>
                <a:latin typeface="Arial Black"/>
              </a:rPr>
              <a:t>01</a:t>
            </a:r>
          </a:p>
        </p:txBody>
      </p:sp>
      <p:sp>
        <p:nvSpPr>
          <p:cNvPr id="8" name="TextBox 7"/>
          <p:cNvSpPr txBox="1"/>
          <p:nvPr/>
        </p:nvSpPr>
        <p:spPr>
          <a:xfrm>
            <a:off x="676656" y="2364211"/>
            <a:ext cx="1185062" cy="182880"/>
          </a:xfrm>
          <a:prstGeom prst="rect">
            <a:avLst/>
          </a:prstGeom>
          <a:noFill/>
        </p:spPr>
        <p:txBody>
          <a:bodyPr wrap="square" lIns="0" rIns="0" tIns="0" bIns="0" anchor="t">
            <a:noAutofit/>
          </a:bodyPr>
          <a:lstStyle/>
          <a:p>
            <a:pPr algn="l">
              <a:lnSpc>
                <a:spcPct val="100000"/>
              </a:lnSpc>
            </a:pPr>
            <a:r>
              <a:rPr sz="800" b="1">
                <a:solidFill>
                  <a:srgbClr val="6E8A76"/>
                </a:solidFill>
                <a:latin typeface="Arial"/>
              </a:rPr>
              <a:t>REACH</a:t>
            </a:r>
          </a:p>
        </p:txBody>
      </p:sp>
      <p:sp>
        <p:nvSpPr>
          <p:cNvPr id="9" name="TextBox 8"/>
          <p:cNvSpPr txBox="1"/>
          <p:nvPr/>
        </p:nvSpPr>
        <p:spPr>
          <a:xfrm>
            <a:off x="676656" y="2574523"/>
            <a:ext cx="1185062" cy="865631"/>
          </a:xfrm>
          <a:prstGeom prst="rect">
            <a:avLst/>
          </a:prstGeom>
          <a:noFill/>
        </p:spPr>
        <p:txBody>
          <a:bodyPr wrap="square" lIns="0" rIns="0" tIns="0" bIns="0" anchor="t">
            <a:noAutofit/>
          </a:bodyPr>
          <a:lstStyle/>
          <a:p>
            <a:pPr algn="l">
              <a:lnSpc>
                <a:spcPct val="114000"/>
              </a:lnSpc>
            </a:pPr>
            <a:r>
              <a:rPr sz="800" b="0">
                <a:solidFill>
                  <a:srgbClr val="1F3326"/>
                </a:solidFill>
                <a:latin typeface="Arial"/>
              </a:rPr>
              <a:t>We buy Meta and TikTok pointed at registration rather than at views, and we split the geo into two campaigns so budget cannot drift to KL.</a:t>
            </a:r>
          </a:p>
        </p:txBody>
      </p:sp>
      <p:sp>
        <p:nvSpPr>
          <p:cNvPr id="10" name="Rectangle 9"/>
          <p:cNvSpPr/>
          <p:nvPr/>
        </p:nvSpPr>
        <p:spPr>
          <a:xfrm>
            <a:off x="2163470" y="1852147"/>
            <a:ext cx="1514246" cy="1780032"/>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1" name="Rectangle 10"/>
          <p:cNvSpPr/>
          <p:nvPr/>
        </p:nvSpPr>
        <p:spPr>
          <a:xfrm>
            <a:off x="2163470" y="1852147"/>
            <a:ext cx="1514246" cy="54864"/>
          </a:xfrm>
          <a:prstGeom prst="rect">
            <a:avLst/>
          </a:prstGeom>
          <a:solidFill>
            <a:srgbClr val="E891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2" name="TextBox 11"/>
          <p:cNvSpPr txBox="1"/>
          <p:nvPr/>
        </p:nvSpPr>
        <p:spPr>
          <a:xfrm>
            <a:off x="2328062" y="2035027"/>
            <a:ext cx="1185062" cy="310896"/>
          </a:xfrm>
          <a:prstGeom prst="rect">
            <a:avLst/>
          </a:prstGeom>
          <a:noFill/>
        </p:spPr>
        <p:txBody>
          <a:bodyPr wrap="square" lIns="0" rIns="0" tIns="0" bIns="0" anchor="t">
            <a:noAutofit/>
          </a:bodyPr>
          <a:lstStyle/>
          <a:p>
            <a:pPr algn="l">
              <a:lnSpc>
                <a:spcPct val="94000"/>
              </a:lnSpc>
            </a:pPr>
            <a:r>
              <a:rPr sz="2000" b="0">
                <a:solidFill>
                  <a:srgbClr val="E8912C"/>
                </a:solidFill>
                <a:latin typeface="Arial Black"/>
              </a:rPr>
              <a:t>02</a:t>
            </a:r>
          </a:p>
        </p:txBody>
      </p:sp>
      <p:sp>
        <p:nvSpPr>
          <p:cNvPr id="13" name="TextBox 12"/>
          <p:cNvSpPr txBox="1"/>
          <p:nvPr/>
        </p:nvSpPr>
        <p:spPr>
          <a:xfrm>
            <a:off x="2328062" y="2364211"/>
            <a:ext cx="1185062" cy="182880"/>
          </a:xfrm>
          <a:prstGeom prst="rect">
            <a:avLst/>
          </a:prstGeom>
          <a:noFill/>
        </p:spPr>
        <p:txBody>
          <a:bodyPr wrap="square" lIns="0" rIns="0" tIns="0" bIns="0" anchor="t">
            <a:noAutofit/>
          </a:bodyPr>
          <a:lstStyle/>
          <a:p>
            <a:pPr algn="l">
              <a:lnSpc>
                <a:spcPct val="100000"/>
              </a:lnSpc>
            </a:pPr>
            <a:r>
              <a:rPr sz="800" b="1">
                <a:solidFill>
                  <a:srgbClr val="6E8A76"/>
                </a:solidFill>
                <a:latin typeface="Arial"/>
              </a:rPr>
              <a:t>REGISTER</a:t>
            </a:r>
          </a:p>
        </p:txBody>
      </p:sp>
      <p:sp>
        <p:nvSpPr>
          <p:cNvPr id="14" name="TextBox 13"/>
          <p:cNvSpPr txBox="1"/>
          <p:nvPr/>
        </p:nvSpPr>
        <p:spPr>
          <a:xfrm>
            <a:off x="2328062" y="2574523"/>
            <a:ext cx="1185062" cy="749808"/>
          </a:xfrm>
          <a:prstGeom prst="rect">
            <a:avLst/>
          </a:prstGeom>
          <a:noFill/>
        </p:spPr>
        <p:txBody>
          <a:bodyPr wrap="square" lIns="0" rIns="0" tIns="0" bIns="0" anchor="t">
            <a:noAutofit/>
          </a:bodyPr>
          <a:lstStyle/>
          <a:p>
            <a:pPr algn="l">
              <a:lnSpc>
                <a:spcPct val="114000"/>
              </a:lnSpc>
            </a:pPr>
            <a:r>
              <a:rPr sz="800" b="0">
                <a:solidFill>
                  <a:srgbClr val="1F3326"/>
                </a:solidFill>
                <a:latin typeface="Arial"/>
              </a:rPr>
              <a:t>She gives three fields and gets a Mata wallet. The pixel fires here, weeks before she has bought anything at all.</a:t>
            </a:r>
          </a:p>
        </p:txBody>
      </p:sp>
      <p:sp>
        <p:nvSpPr>
          <p:cNvPr id="15" name="Rectangle 14"/>
          <p:cNvSpPr/>
          <p:nvPr/>
        </p:nvSpPr>
        <p:spPr>
          <a:xfrm>
            <a:off x="3814876" y="1852147"/>
            <a:ext cx="1514246" cy="1780032"/>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6" name="Rectangle 15"/>
          <p:cNvSpPr/>
          <p:nvPr/>
        </p:nvSpPr>
        <p:spPr>
          <a:xfrm>
            <a:off x="3814876" y="1852147"/>
            <a:ext cx="1514246" cy="54864"/>
          </a:xfrm>
          <a:prstGeom prst="rect">
            <a:avLst/>
          </a:prstGeom>
          <a:solidFill>
            <a:srgbClr val="C51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7" name="TextBox 16"/>
          <p:cNvSpPr txBox="1"/>
          <p:nvPr/>
        </p:nvSpPr>
        <p:spPr>
          <a:xfrm>
            <a:off x="3979468" y="2035027"/>
            <a:ext cx="1185062" cy="310896"/>
          </a:xfrm>
          <a:prstGeom prst="rect">
            <a:avLst/>
          </a:prstGeom>
          <a:noFill/>
        </p:spPr>
        <p:txBody>
          <a:bodyPr wrap="square" lIns="0" rIns="0" tIns="0" bIns="0" anchor="t">
            <a:noAutofit/>
          </a:bodyPr>
          <a:lstStyle/>
          <a:p>
            <a:pPr algn="l">
              <a:lnSpc>
                <a:spcPct val="94000"/>
              </a:lnSpc>
            </a:pPr>
            <a:r>
              <a:rPr sz="2000" b="0">
                <a:solidFill>
                  <a:srgbClr val="C5192B"/>
                </a:solidFill>
                <a:latin typeface="Arial Black"/>
              </a:rPr>
              <a:t>03</a:t>
            </a:r>
          </a:p>
        </p:txBody>
      </p:sp>
      <p:sp>
        <p:nvSpPr>
          <p:cNvPr id="18" name="TextBox 17"/>
          <p:cNvSpPr txBox="1"/>
          <p:nvPr/>
        </p:nvSpPr>
        <p:spPr>
          <a:xfrm>
            <a:off x="3979468" y="2364211"/>
            <a:ext cx="1185062" cy="182880"/>
          </a:xfrm>
          <a:prstGeom prst="rect">
            <a:avLst/>
          </a:prstGeom>
          <a:noFill/>
        </p:spPr>
        <p:txBody>
          <a:bodyPr wrap="square" lIns="0" rIns="0" tIns="0" bIns="0" anchor="t">
            <a:noAutofit/>
          </a:bodyPr>
          <a:lstStyle/>
          <a:p>
            <a:pPr algn="l">
              <a:lnSpc>
                <a:spcPct val="100000"/>
              </a:lnSpc>
            </a:pPr>
            <a:r>
              <a:rPr sz="800" b="1">
                <a:solidFill>
                  <a:srgbClr val="6E8A76"/>
                </a:solidFill>
                <a:latin typeface="Arial"/>
              </a:rPr>
              <a:t>EARN</a:t>
            </a:r>
          </a:p>
        </p:txBody>
      </p:sp>
      <p:sp>
        <p:nvSpPr>
          <p:cNvPr id="19" name="TextBox 18"/>
          <p:cNvSpPr txBox="1"/>
          <p:nvPr/>
        </p:nvSpPr>
        <p:spPr>
          <a:xfrm>
            <a:off x="3979468" y="2574523"/>
            <a:ext cx="1185062" cy="865631"/>
          </a:xfrm>
          <a:prstGeom prst="rect">
            <a:avLst/>
          </a:prstGeom>
          <a:noFill/>
        </p:spPr>
        <p:txBody>
          <a:bodyPr wrap="square" lIns="0" rIns="0" tIns="0" bIns="0" anchor="t">
            <a:noAutofit/>
          </a:bodyPr>
          <a:lstStyle/>
          <a:p>
            <a:pPr algn="l">
              <a:lnSpc>
                <a:spcPct val="114000"/>
              </a:lnSpc>
            </a:pPr>
            <a:r>
              <a:rPr sz="800" b="0">
                <a:solidFill>
                  <a:srgbClr val="1F3326"/>
                </a:solidFill>
                <a:latin typeface="Arial"/>
              </a:rPr>
              <a:t>She earns from any grocer receipt, from codes on every physical surface, and from multipliers on whichever SKU Saji wants moving that week.</a:t>
            </a:r>
          </a:p>
        </p:txBody>
      </p:sp>
      <p:sp>
        <p:nvSpPr>
          <p:cNvPr id="20" name="Rectangle 19"/>
          <p:cNvSpPr/>
          <p:nvPr/>
        </p:nvSpPr>
        <p:spPr>
          <a:xfrm>
            <a:off x="5466283" y="1852147"/>
            <a:ext cx="1514246" cy="1780032"/>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1" name="Rectangle 20"/>
          <p:cNvSpPr/>
          <p:nvPr/>
        </p:nvSpPr>
        <p:spPr>
          <a:xfrm>
            <a:off x="5466283" y="1852147"/>
            <a:ext cx="1514246" cy="54864"/>
          </a:xfrm>
          <a:prstGeom prst="rect">
            <a:avLst/>
          </a:prstGeom>
          <a:solidFill>
            <a:srgbClr val="F8C8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2" name="TextBox 21"/>
          <p:cNvSpPr txBox="1"/>
          <p:nvPr/>
        </p:nvSpPr>
        <p:spPr>
          <a:xfrm>
            <a:off x="5630875" y="2035027"/>
            <a:ext cx="1185062" cy="310896"/>
          </a:xfrm>
          <a:prstGeom prst="rect">
            <a:avLst/>
          </a:prstGeom>
          <a:noFill/>
        </p:spPr>
        <p:txBody>
          <a:bodyPr wrap="square" lIns="0" rIns="0" tIns="0" bIns="0" anchor="t">
            <a:noAutofit/>
          </a:bodyPr>
          <a:lstStyle/>
          <a:p>
            <a:pPr algn="l">
              <a:lnSpc>
                <a:spcPct val="94000"/>
              </a:lnSpc>
            </a:pPr>
            <a:r>
              <a:rPr sz="2000" b="0">
                <a:solidFill>
                  <a:srgbClr val="F8C84A"/>
                </a:solidFill>
                <a:latin typeface="Arial Black"/>
              </a:rPr>
              <a:t>04</a:t>
            </a:r>
          </a:p>
        </p:txBody>
      </p:sp>
      <p:sp>
        <p:nvSpPr>
          <p:cNvPr id="23" name="TextBox 22"/>
          <p:cNvSpPr txBox="1"/>
          <p:nvPr/>
        </p:nvSpPr>
        <p:spPr>
          <a:xfrm>
            <a:off x="5630875" y="2364211"/>
            <a:ext cx="1185062" cy="182880"/>
          </a:xfrm>
          <a:prstGeom prst="rect">
            <a:avLst/>
          </a:prstGeom>
          <a:noFill/>
        </p:spPr>
        <p:txBody>
          <a:bodyPr wrap="square" lIns="0" rIns="0" tIns="0" bIns="0" anchor="t">
            <a:noAutofit/>
          </a:bodyPr>
          <a:lstStyle/>
          <a:p>
            <a:pPr algn="l">
              <a:lnSpc>
                <a:spcPct val="100000"/>
              </a:lnSpc>
            </a:pPr>
            <a:r>
              <a:rPr sz="800" b="1">
                <a:solidFill>
                  <a:srgbClr val="6E8A76"/>
                </a:solidFill>
                <a:latin typeface="Arial"/>
              </a:rPr>
              <a:t>RETURN</a:t>
            </a:r>
          </a:p>
        </p:txBody>
      </p:sp>
      <p:sp>
        <p:nvSpPr>
          <p:cNvPr id="24" name="TextBox 23"/>
          <p:cNvSpPr txBox="1"/>
          <p:nvPr/>
        </p:nvSpPr>
        <p:spPr>
          <a:xfrm>
            <a:off x="5630875" y="2574523"/>
            <a:ext cx="1185062" cy="749808"/>
          </a:xfrm>
          <a:prstGeom prst="rect">
            <a:avLst/>
          </a:prstGeom>
          <a:noFill/>
        </p:spPr>
        <p:txBody>
          <a:bodyPr wrap="square" lIns="0" rIns="0" tIns="0" bIns="0" anchor="t">
            <a:noAutofit/>
          </a:bodyPr>
          <a:lstStyle/>
          <a:p>
            <a:pPr algn="l">
              <a:lnSpc>
                <a:spcPct val="114000"/>
              </a:lnSpc>
            </a:pPr>
            <a:r>
              <a:rPr sz="800" b="0">
                <a:solidFill>
                  <a:srgbClr val="1F3326"/>
                </a:solidFill>
                <a:latin typeface="Arial"/>
              </a:rPr>
              <a:t>Weekly codes, a live balance and the state board pull her back, and WhatsApp reaches the registered base for no media spend.</a:t>
            </a:r>
          </a:p>
        </p:txBody>
      </p:sp>
      <p:sp>
        <p:nvSpPr>
          <p:cNvPr id="25" name="Rectangle 24"/>
          <p:cNvSpPr/>
          <p:nvPr/>
        </p:nvSpPr>
        <p:spPr>
          <a:xfrm>
            <a:off x="7117689" y="1852147"/>
            <a:ext cx="1514246" cy="1780032"/>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6" name="Rectangle 25"/>
          <p:cNvSpPr/>
          <p:nvPr/>
        </p:nvSpPr>
        <p:spPr>
          <a:xfrm>
            <a:off x="7117689" y="1852147"/>
            <a:ext cx="1514246" cy="54864"/>
          </a:xfrm>
          <a:prstGeom prst="rect">
            <a:avLst/>
          </a:prstGeom>
          <a:solidFill>
            <a:srgbClr val="00A65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7" name="TextBox 26"/>
          <p:cNvSpPr txBox="1"/>
          <p:nvPr/>
        </p:nvSpPr>
        <p:spPr>
          <a:xfrm>
            <a:off x="7282281" y="2035027"/>
            <a:ext cx="1185062" cy="310896"/>
          </a:xfrm>
          <a:prstGeom prst="rect">
            <a:avLst/>
          </a:prstGeom>
          <a:noFill/>
        </p:spPr>
        <p:txBody>
          <a:bodyPr wrap="square" lIns="0" rIns="0" tIns="0" bIns="0" anchor="t">
            <a:noAutofit/>
          </a:bodyPr>
          <a:lstStyle/>
          <a:p>
            <a:pPr algn="l">
              <a:lnSpc>
                <a:spcPct val="94000"/>
              </a:lnSpc>
            </a:pPr>
            <a:r>
              <a:rPr sz="2000" b="0">
                <a:solidFill>
                  <a:srgbClr val="00A651"/>
                </a:solidFill>
                <a:latin typeface="Arial Black"/>
              </a:rPr>
              <a:t>05</a:t>
            </a:r>
          </a:p>
        </p:txBody>
      </p:sp>
      <p:sp>
        <p:nvSpPr>
          <p:cNvPr id="28" name="TextBox 27"/>
          <p:cNvSpPr txBox="1"/>
          <p:nvPr/>
        </p:nvSpPr>
        <p:spPr>
          <a:xfrm>
            <a:off x="7282281" y="2364211"/>
            <a:ext cx="1185062" cy="182880"/>
          </a:xfrm>
          <a:prstGeom prst="rect">
            <a:avLst/>
          </a:prstGeom>
          <a:noFill/>
        </p:spPr>
        <p:txBody>
          <a:bodyPr wrap="square" lIns="0" rIns="0" tIns="0" bIns="0" anchor="t">
            <a:noAutofit/>
          </a:bodyPr>
          <a:lstStyle/>
          <a:p>
            <a:pPr algn="l">
              <a:lnSpc>
                <a:spcPct val="100000"/>
              </a:lnSpc>
            </a:pPr>
            <a:r>
              <a:rPr sz="800" b="1">
                <a:solidFill>
                  <a:srgbClr val="6E8A76"/>
                </a:solidFill>
                <a:latin typeface="Arial"/>
              </a:rPr>
              <a:t>PROVE</a:t>
            </a:r>
          </a:p>
        </p:txBody>
      </p:sp>
      <p:sp>
        <p:nvSpPr>
          <p:cNvPr id="29" name="TextBox 28"/>
          <p:cNvSpPr txBox="1"/>
          <p:nvPr/>
        </p:nvSpPr>
        <p:spPr>
          <a:xfrm>
            <a:off x="7282281" y="2574523"/>
            <a:ext cx="1185062" cy="749808"/>
          </a:xfrm>
          <a:prstGeom prst="rect">
            <a:avLst/>
          </a:prstGeom>
          <a:noFill/>
        </p:spPr>
        <p:txBody>
          <a:bodyPr wrap="square" lIns="0" rIns="0" tIns="0" bIns="0" anchor="t">
            <a:noAutofit/>
          </a:bodyPr>
          <a:lstStyle/>
          <a:p>
            <a:pPr algn="l">
              <a:lnSpc>
                <a:spcPct val="114000"/>
              </a:lnSpc>
            </a:pPr>
            <a:r>
              <a:rPr sz="800" b="0">
                <a:solidFill>
                  <a:srgbClr val="1F3326"/>
                </a:solidFill>
                <a:latin typeface="Arial"/>
              </a:rPr>
              <a:t>Every Mata carries the tag that earned it, so the report names which roadshow, which SKU and which ad produced real entrants.</a:t>
            </a:r>
          </a:p>
        </p:txBody>
      </p:sp>
      <p:sp>
        <p:nvSpPr>
          <p:cNvPr id="30" name="Rectangle 29"/>
          <p:cNvSpPr/>
          <p:nvPr/>
        </p:nvSpPr>
        <p:spPr>
          <a:xfrm>
            <a:off x="438912" y="4443984"/>
            <a:ext cx="8266175" cy="402336"/>
          </a:xfrm>
          <a:prstGeom prst="rect">
            <a:avLst/>
          </a:prstGeom>
          <a:solidFill>
            <a:srgbClr val="052B1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1" name="TextBox 30"/>
          <p:cNvSpPr txBox="1"/>
          <p:nvPr/>
        </p:nvSpPr>
        <p:spPr>
          <a:xfrm>
            <a:off x="658368" y="4480560"/>
            <a:ext cx="7827264" cy="347472"/>
          </a:xfrm>
          <a:prstGeom prst="rect">
            <a:avLst/>
          </a:prstGeom>
          <a:noFill/>
        </p:spPr>
        <p:txBody>
          <a:bodyPr wrap="square" lIns="0" rIns="0" tIns="0" bIns="0" anchor="ctr">
            <a:noAutofit/>
          </a:bodyPr>
          <a:lstStyle/>
          <a:p>
            <a:pPr algn="l">
              <a:lnSpc>
                <a:spcPct val="100000"/>
              </a:lnSpc>
            </a:pPr>
            <a:r>
              <a:rPr sz="950" b="1">
                <a:solidFill>
                  <a:srgbClr val="F5EC2E"/>
                </a:solidFill>
                <a:latin typeface="Arial"/>
              </a:rPr>
              <a:t>Why it closes into a loop: </a:t>
            </a:r>
            <a:r>
              <a:rPr sz="950" b="0">
                <a:solidFill>
                  <a:srgbClr val="FFFFFF"/>
                </a:solidFill>
                <a:latin typeface="Arial"/>
              </a:rPr>
              <a:t>stage five hands stage one a retargeting pool and a lookalike seed that did not exist in 2026, so Raya 2028 starts warm instead of starting over.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6FAEC"/>
        </a:solidFill>
        <a:effectLst/>
      </p:bgPr>
    </p:bg>
    <p:spTree>
      <p:nvGrpSpPr>
        <p:cNvPr id="1" name=""/>
        <p:cNvGrpSpPr/>
        <p:nvPr/>
      </p:nvGrpSpPr>
      <p:grpSpPr/>
      <p:sp>
        <p:nvSpPr>
          <p:cNvPr id="2" name="Rectangle 1"/>
          <p:cNvSpPr/>
          <p:nvPr/>
        </p:nvSpPr>
        <p:spPr>
          <a:xfrm>
            <a:off x="512064" y="365760"/>
            <a:ext cx="219456" cy="73152"/>
          </a:xfrm>
          <a:prstGeom prst="rect">
            <a:avLst/>
          </a:prstGeom>
          <a:solidFill>
            <a:srgbClr val="C51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 name="TextBox 2"/>
          <p:cNvSpPr txBox="1"/>
          <p:nvPr/>
        </p:nvSpPr>
        <p:spPr>
          <a:xfrm>
            <a:off x="512064" y="566928"/>
            <a:ext cx="8119872" cy="475488"/>
          </a:xfrm>
          <a:prstGeom prst="rect">
            <a:avLst/>
          </a:prstGeom>
          <a:noFill/>
        </p:spPr>
        <p:txBody>
          <a:bodyPr wrap="square" lIns="0" rIns="0" tIns="0" bIns="0" anchor="t">
            <a:noAutofit/>
          </a:bodyPr>
          <a:lstStyle/>
          <a:p>
            <a:pPr algn="l">
              <a:lnSpc>
                <a:spcPct val="96000"/>
              </a:lnSpc>
            </a:pPr>
            <a:r>
              <a:rPr sz="2400" b="0">
                <a:solidFill>
                  <a:srgbClr val="006838"/>
                </a:solidFill>
                <a:latin typeface="Arial Black"/>
              </a:rPr>
              <a:t>Every door opens onto the same page.</a:t>
            </a:r>
          </a:p>
        </p:txBody>
      </p:sp>
      <p:sp>
        <p:nvSpPr>
          <p:cNvPr id="4" name="TextBox 3"/>
          <p:cNvSpPr txBox="1"/>
          <p:nvPr/>
        </p:nvSpPr>
        <p:spPr>
          <a:xfrm>
            <a:off x="512064" y="1060704"/>
            <a:ext cx="8119872" cy="365760"/>
          </a:xfrm>
          <a:prstGeom prst="rect">
            <a:avLst/>
          </a:prstGeom>
          <a:noFill/>
        </p:spPr>
        <p:txBody>
          <a:bodyPr wrap="square" lIns="0" rIns="0" tIns="0" bIns="0" anchor="t">
            <a:noAutofit/>
          </a:bodyPr>
          <a:lstStyle/>
          <a:p>
            <a:pPr algn="l">
              <a:lnSpc>
                <a:spcPct val="112000"/>
              </a:lnSpc>
            </a:pPr>
            <a:r>
              <a:rPr sz="1100" b="0">
                <a:solidFill>
                  <a:srgbClr val="6E8A76"/>
                </a:solidFill>
                <a:latin typeface="Arial"/>
              </a:rPr>
              <a:t>Seven ways to earn, each with its own tag. That is how the campaign reports which touchpoint produced entrants rather than which one produced footfall.</a:t>
            </a:r>
          </a:p>
        </p:txBody>
      </p:sp>
      <p:sp>
        <p:nvSpPr>
          <p:cNvPr id="5" name="Rectangle 4"/>
          <p:cNvSpPr/>
          <p:nvPr/>
        </p:nvSpPr>
        <p:spPr>
          <a:xfrm>
            <a:off x="512064" y="1722089"/>
            <a:ext cx="8119872" cy="274320"/>
          </a:xfrm>
          <a:prstGeom prst="rect">
            <a:avLst/>
          </a:prstGeom>
          <a:solidFill>
            <a:srgbClr val="0068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TextBox 5"/>
          <p:cNvSpPr txBox="1"/>
          <p:nvPr/>
        </p:nvSpPr>
        <p:spPr>
          <a:xfrm>
            <a:off x="603504" y="1776953"/>
            <a:ext cx="2212848" cy="182880"/>
          </a:xfrm>
          <a:prstGeom prst="rect">
            <a:avLst/>
          </a:prstGeom>
          <a:noFill/>
        </p:spPr>
        <p:txBody>
          <a:bodyPr wrap="square" lIns="0" rIns="0" tIns="0" bIns="0" anchor="t">
            <a:noAutofit/>
          </a:bodyPr>
          <a:lstStyle/>
          <a:p>
            <a:pPr algn="l">
              <a:lnSpc>
                <a:spcPct val="100000"/>
              </a:lnSpc>
            </a:pPr>
            <a:r>
              <a:rPr sz="700" b="1">
                <a:solidFill>
                  <a:srgbClr val="FFFFFF"/>
                </a:solidFill>
                <a:latin typeface="Arial"/>
              </a:rPr>
              <a:t>TOUCHPOINT</a:t>
            </a:r>
          </a:p>
        </p:txBody>
      </p:sp>
      <p:sp>
        <p:nvSpPr>
          <p:cNvPr id="7" name="TextBox 6"/>
          <p:cNvSpPr txBox="1"/>
          <p:nvPr/>
        </p:nvSpPr>
        <p:spPr>
          <a:xfrm>
            <a:off x="2944368" y="1776953"/>
            <a:ext cx="1389888" cy="182880"/>
          </a:xfrm>
          <a:prstGeom prst="rect">
            <a:avLst/>
          </a:prstGeom>
          <a:noFill/>
        </p:spPr>
        <p:txBody>
          <a:bodyPr wrap="square" lIns="0" rIns="0" tIns="0" bIns="0" anchor="t">
            <a:noAutofit/>
          </a:bodyPr>
          <a:lstStyle/>
          <a:p>
            <a:pPr algn="l">
              <a:lnSpc>
                <a:spcPct val="100000"/>
              </a:lnSpc>
            </a:pPr>
            <a:r>
              <a:rPr sz="700" b="1">
                <a:solidFill>
                  <a:srgbClr val="FFFFFF"/>
                </a:solidFill>
                <a:latin typeface="Arial"/>
              </a:rPr>
              <a:t>WHAT IT PAYS</a:t>
            </a:r>
          </a:p>
        </p:txBody>
      </p:sp>
      <p:sp>
        <p:nvSpPr>
          <p:cNvPr id="8" name="TextBox 7"/>
          <p:cNvSpPr txBox="1"/>
          <p:nvPr/>
        </p:nvSpPr>
        <p:spPr>
          <a:xfrm>
            <a:off x="4462272" y="1776953"/>
            <a:ext cx="713232" cy="182880"/>
          </a:xfrm>
          <a:prstGeom prst="rect">
            <a:avLst/>
          </a:prstGeom>
          <a:noFill/>
        </p:spPr>
        <p:txBody>
          <a:bodyPr wrap="square" lIns="0" rIns="0" tIns="0" bIns="0" anchor="t">
            <a:noAutofit/>
          </a:bodyPr>
          <a:lstStyle/>
          <a:p>
            <a:pPr algn="l">
              <a:lnSpc>
                <a:spcPct val="100000"/>
              </a:lnSpc>
            </a:pPr>
            <a:r>
              <a:rPr sz="700" b="1">
                <a:solidFill>
                  <a:srgbClr val="FFFFFF"/>
                </a:solidFill>
                <a:latin typeface="Arial"/>
              </a:rPr>
              <a:t>TAG</a:t>
            </a:r>
          </a:p>
        </p:txBody>
      </p:sp>
      <p:sp>
        <p:nvSpPr>
          <p:cNvPr id="9" name="TextBox 8"/>
          <p:cNvSpPr txBox="1"/>
          <p:nvPr/>
        </p:nvSpPr>
        <p:spPr>
          <a:xfrm>
            <a:off x="5303520" y="1776953"/>
            <a:ext cx="3291840" cy="182880"/>
          </a:xfrm>
          <a:prstGeom prst="rect">
            <a:avLst/>
          </a:prstGeom>
          <a:noFill/>
        </p:spPr>
        <p:txBody>
          <a:bodyPr wrap="square" lIns="0" rIns="0" tIns="0" bIns="0" anchor="t">
            <a:noAutofit/>
          </a:bodyPr>
          <a:lstStyle/>
          <a:p>
            <a:pPr algn="l">
              <a:lnSpc>
                <a:spcPct val="100000"/>
              </a:lnSpc>
            </a:pPr>
            <a:r>
              <a:rPr sz="700" b="1">
                <a:solidFill>
                  <a:srgbClr val="FFFFFF"/>
                </a:solidFill>
                <a:latin typeface="Arial"/>
              </a:rPr>
              <a:t>VOLUME AVAILABLE IN 2027</a:t>
            </a:r>
          </a:p>
        </p:txBody>
      </p:sp>
      <p:sp>
        <p:nvSpPr>
          <p:cNvPr id="10" name="Rectangle 9"/>
          <p:cNvSpPr/>
          <p:nvPr/>
        </p:nvSpPr>
        <p:spPr>
          <a:xfrm>
            <a:off x="512064" y="1996409"/>
            <a:ext cx="8119872" cy="2697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1" name="TextBox 10"/>
          <p:cNvSpPr txBox="1"/>
          <p:nvPr/>
        </p:nvSpPr>
        <p:spPr>
          <a:xfrm>
            <a:off x="603504" y="2046701"/>
            <a:ext cx="2212848" cy="196595"/>
          </a:xfrm>
          <a:prstGeom prst="rect">
            <a:avLst/>
          </a:prstGeom>
          <a:noFill/>
        </p:spPr>
        <p:txBody>
          <a:bodyPr wrap="square" lIns="0" rIns="0" tIns="0" bIns="0" anchor="t">
            <a:noAutofit/>
          </a:bodyPr>
          <a:lstStyle/>
          <a:p>
            <a:pPr algn="l">
              <a:lnSpc>
                <a:spcPct val="100000"/>
              </a:lnSpc>
            </a:pPr>
            <a:r>
              <a:rPr sz="850" b="1">
                <a:solidFill>
                  <a:srgbClr val="006838"/>
                </a:solidFill>
                <a:latin typeface="Arial"/>
              </a:rPr>
              <a:t>Saji receipt, any retailer</a:t>
            </a:r>
          </a:p>
        </p:txBody>
      </p:sp>
      <p:sp>
        <p:nvSpPr>
          <p:cNvPr id="12" name="TextBox 11"/>
          <p:cNvSpPr txBox="1"/>
          <p:nvPr/>
        </p:nvSpPr>
        <p:spPr>
          <a:xfrm>
            <a:off x="2944368" y="2046701"/>
            <a:ext cx="1389888" cy="196595"/>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RM1 = 1 Mata</a:t>
            </a:r>
          </a:p>
        </p:txBody>
      </p:sp>
      <p:sp>
        <p:nvSpPr>
          <p:cNvPr id="13" name="TextBox 12"/>
          <p:cNvSpPr txBox="1"/>
          <p:nvPr/>
        </p:nvSpPr>
        <p:spPr>
          <a:xfrm>
            <a:off x="4462272" y="2046701"/>
            <a:ext cx="713232" cy="196595"/>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receipt</a:t>
            </a:r>
          </a:p>
        </p:txBody>
      </p:sp>
      <p:sp>
        <p:nvSpPr>
          <p:cNvPr id="14" name="TextBox 13"/>
          <p:cNvSpPr txBox="1"/>
          <p:nvPr/>
        </p:nvSpPr>
        <p:spPr>
          <a:xfrm>
            <a:off x="5303520" y="2046701"/>
            <a:ext cx="3291840" cy="196595"/>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National, every store that stocks Saji</a:t>
            </a:r>
          </a:p>
        </p:txBody>
      </p:sp>
      <p:sp>
        <p:nvSpPr>
          <p:cNvPr id="15" name="Rectangle 14"/>
          <p:cNvSpPr/>
          <p:nvPr/>
        </p:nvSpPr>
        <p:spPr>
          <a:xfrm>
            <a:off x="512064" y="2266157"/>
            <a:ext cx="8119872" cy="269748"/>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6" name="TextBox 15"/>
          <p:cNvSpPr txBox="1"/>
          <p:nvPr/>
        </p:nvSpPr>
        <p:spPr>
          <a:xfrm>
            <a:off x="603504" y="2316449"/>
            <a:ext cx="2212848" cy="196595"/>
          </a:xfrm>
          <a:prstGeom prst="rect">
            <a:avLst/>
          </a:prstGeom>
          <a:noFill/>
        </p:spPr>
        <p:txBody>
          <a:bodyPr wrap="square" lIns="0" rIns="0" tIns="0" bIns="0" anchor="t">
            <a:noAutofit/>
          </a:bodyPr>
          <a:lstStyle/>
          <a:p>
            <a:pPr algn="l">
              <a:lnSpc>
                <a:spcPct val="100000"/>
              </a:lnSpc>
            </a:pPr>
            <a:r>
              <a:rPr sz="850" b="1">
                <a:solidFill>
                  <a:srgbClr val="006838"/>
                </a:solidFill>
                <a:latin typeface="Arial"/>
              </a:rPr>
              <a:t>Roadshow truck QR</a:t>
            </a:r>
          </a:p>
        </p:txBody>
      </p:sp>
      <p:sp>
        <p:nvSpPr>
          <p:cNvPr id="17" name="TextBox 16"/>
          <p:cNvSpPr txBox="1"/>
          <p:nvPr/>
        </p:nvSpPr>
        <p:spPr>
          <a:xfrm>
            <a:off x="2944368" y="2316449"/>
            <a:ext cx="1389888" cy="196595"/>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50 Mata + one spin</a:t>
            </a:r>
          </a:p>
        </p:txBody>
      </p:sp>
      <p:sp>
        <p:nvSpPr>
          <p:cNvPr id="18" name="TextBox 17"/>
          <p:cNvSpPr txBox="1"/>
          <p:nvPr/>
        </p:nvSpPr>
        <p:spPr>
          <a:xfrm>
            <a:off x="4462272" y="2316449"/>
            <a:ext cx="713232" cy="196595"/>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roadshow</a:t>
            </a:r>
          </a:p>
        </p:txBody>
      </p:sp>
      <p:sp>
        <p:nvSpPr>
          <p:cNvPr id="19" name="TextBox 18"/>
          <p:cNvSpPr txBox="1"/>
          <p:nvPr/>
        </p:nvSpPr>
        <p:spPr>
          <a:xfrm>
            <a:off x="5303520" y="2316449"/>
            <a:ext cx="3291840" cy="196595"/>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96 roadshow days across 32 outlets</a:t>
            </a:r>
          </a:p>
        </p:txBody>
      </p:sp>
      <p:sp>
        <p:nvSpPr>
          <p:cNvPr id="20" name="Rectangle 19"/>
          <p:cNvSpPr/>
          <p:nvPr/>
        </p:nvSpPr>
        <p:spPr>
          <a:xfrm>
            <a:off x="512064" y="2535905"/>
            <a:ext cx="8119872" cy="2697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1" name="TextBox 20"/>
          <p:cNvSpPr txBox="1"/>
          <p:nvPr/>
        </p:nvSpPr>
        <p:spPr>
          <a:xfrm>
            <a:off x="603504" y="2586197"/>
            <a:ext cx="2212848" cy="196595"/>
          </a:xfrm>
          <a:prstGeom prst="rect">
            <a:avLst/>
          </a:prstGeom>
          <a:noFill/>
        </p:spPr>
        <p:txBody>
          <a:bodyPr wrap="square" lIns="0" rIns="0" tIns="0" bIns="0" anchor="t">
            <a:noAutofit/>
          </a:bodyPr>
          <a:lstStyle/>
          <a:p>
            <a:pPr algn="l">
              <a:lnSpc>
                <a:spcPct val="100000"/>
              </a:lnSpc>
            </a:pPr>
            <a:r>
              <a:rPr sz="850" b="1">
                <a:solidFill>
                  <a:srgbClr val="006838"/>
                </a:solidFill>
                <a:latin typeface="Arial"/>
              </a:rPr>
              <a:t>In-store POSM QR</a:t>
            </a:r>
          </a:p>
        </p:txBody>
      </p:sp>
      <p:sp>
        <p:nvSpPr>
          <p:cNvPr id="22" name="TextBox 21"/>
          <p:cNvSpPr txBox="1"/>
          <p:nvPr/>
        </p:nvSpPr>
        <p:spPr>
          <a:xfrm>
            <a:off x="2944368" y="2586197"/>
            <a:ext cx="1389888" cy="196595"/>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25 Mata</a:t>
            </a:r>
          </a:p>
        </p:txBody>
      </p:sp>
      <p:sp>
        <p:nvSpPr>
          <p:cNvPr id="23" name="TextBox 22"/>
          <p:cNvSpPr txBox="1"/>
          <p:nvPr/>
        </p:nvSpPr>
        <p:spPr>
          <a:xfrm>
            <a:off x="4462272" y="2586197"/>
            <a:ext cx="713232" cy="196595"/>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posm</a:t>
            </a:r>
          </a:p>
        </p:txBody>
      </p:sp>
      <p:sp>
        <p:nvSpPr>
          <p:cNvPr id="24" name="TextBox 23"/>
          <p:cNvSpPr txBox="1"/>
          <p:nvPr/>
        </p:nvSpPr>
        <p:spPr>
          <a:xfrm>
            <a:off x="5303520" y="2586197"/>
            <a:ext cx="3291840" cy="196595"/>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320 sampling days across 120 outlets</a:t>
            </a:r>
          </a:p>
        </p:txBody>
      </p:sp>
      <p:sp>
        <p:nvSpPr>
          <p:cNvPr id="25" name="Rectangle 24"/>
          <p:cNvSpPr/>
          <p:nvPr/>
        </p:nvSpPr>
        <p:spPr>
          <a:xfrm>
            <a:off x="512064" y="2805653"/>
            <a:ext cx="8119872" cy="269748"/>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6" name="TextBox 25"/>
          <p:cNvSpPr txBox="1"/>
          <p:nvPr/>
        </p:nvSpPr>
        <p:spPr>
          <a:xfrm>
            <a:off x="603504" y="2855945"/>
            <a:ext cx="2212848" cy="196595"/>
          </a:xfrm>
          <a:prstGeom prst="rect">
            <a:avLst/>
          </a:prstGeom>
          <a:noFill/>
        </p:spPr>
        <p:txBody>
          <a:bodyPr wrap="square" lIns="0" rIns="0" tIns="0" bIns="0" anchor="t">
            <a:noAutofit/>
          </a:bodyPr>
          <a:lstStyle/>
          <a:p>
            <a:pPr algn="l">
              <a:lnSpc>
                <a:spcPct val="100000"/>
              </a:lnSpc>
            </a:pPr>
            <a:r>
              <a:rPr sz="850" b="1">
                <a:solidFill>
                  <a:srgbClr val="006838"/>
                </a:solidFill>
                <a:latin typeface="Arial"/>
              </a:rPr>
              <a:t>Sampling pack code</a:t>
            </a:r>
          </a:p>
        </p:txBody>
      </p:sp>
      <p:sp>
        <p:nvSpPr>
          <p:cNvPr id="27" name="TextBox 26"/>
          <p:cNvSpPr txBox="1"/>
          <p:nvPr/>
        </p:nvSpPr>
        <p:spPr>
          <a:xfrm>
            <a:off x="2944368" y="2855945"/>
            <a:ext cx="1389888" cy="196595"/>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25 Mata</a:t>
            </a:r>
          </a:p>
        </p:txBody>
      </p:sp>
      <p:sp>
        <p:nvSpPr>
          <p:cNvPr id="28" name="TextBox 27"/>
          <p:cNvSpPr txBox="1"/>
          <p:nvPr/>
        </p:nvSpPr>
        <p:spPr>
          <a:xfrm>
            <a:off x="4462272" y="2855945"/>
            <a:ext cx="713232" cy="196595"/>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sampling</a:t>
            </a:r>
          </a:p>
        </p:txBody>
      </p:sp>
      <p:sp>
        <p:nvSpPr>
          <p:cNvPr id="29" name="TextBox 28"/>
          <p:cNvSpPr txBox="1"/>
          <p:nvPr/>
        </p:nvSpPr>
        <p:spPr>
          <a:xfrm>
            <a:off x="5303520" y="2855945"/>
            <a:ext cx="3291840" cy="196595"/>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300,000 packs committed on 22 September</a:t>
            </a:r>
          </a:p>
        </p:txBody>
      </p:sp>
      <p:sp>
        <p:nvSpPr>
          <p:cNvPr id="30" name="Rectangle 29"/>
          <p:cNvSpPr/>
          <p:nvPr/>
        </p:nvSpPr>
        <p:spPr>
          <a:xfrm>
            <a:off x="512064" y="3075401"/>
            <a:ext cx="8119872" cy="2697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1" name="TextBox 30"/>
          <p:cNvSpPr txBox="1"/>
          <p:nvPr/>
        </p:nvSpPr>
        <p:spPr>
          <a:xfrm>
            <a:off x="603504" y="3125693"/>
            <a:ext cx="2212848" cy="196595"/>
          </a:xfrm>
          <a:prstGeom prst="rect">
            <a:avLst/>
          </a:prstGeom>
          <a:noFill/>
        </p:spPr>
        <p:txBody>
          <a:bodyPr wrap="square" lIns="0" rIns="0" tIns="0" bIns="0" anchor="t">
            <a:noAutofit/>
          </a:bodyPr>
          <a:lstStyle/>
          <a:p>
            <a:pPr algn="l">
              <a:lnSpc>
                <a:spcPct val="100000"/>
              </a:lnSpc>
            </a:pPr>
            <a:r>
              <a:rPr sz="850" b="1">
                <a:solidFill>
                  <a:srgbClr val="006838"/>
                </a:solidFill>
                <a:latin typeface="Arial"/>
              </a:rPr>
              <a:t>Campaign pack code</a:t>
            </a:r>
          </a:p>
        </p:txBody>
      </p:sp>
      <p:sp>
        <p:nvSpPr>
          <p:cNvPr id="32" name="TextBox 31"/>
          <p:cNvSpPr txBox="1"/>
          <p:nvPr/>
        </p:nvSpPr>
        <p:spPr>
          <a:xfrm>
            <a:off x="2944368" y="3125693"/>
            <a:ext cx="1389888" cy="196595"/>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50 Mata</a:t>
            </a:r>
          </a:p>
        </p:txBody>
      </p:sp>
      <p:sp>
        <p:nvSpPr>
          <p:cNvPr id="33" name="TextBox 32"/>
          <p:cNvSpPr txBox="1"/>
          <p:nvPr/>
        </p:nvSpPr>
        <p:spPr>
          <a:xfrm>
            <a:off x="4462272" y="3125693"/>
            <a:ext cx="713232" cy="196595"/>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pack</a:t>
            </a:r>
          </a:p>
        </p:txBody>
      </p:sp>
      <p:sp>
        <p:nvSpPr>
          <p:cNvPr id="34" name="TextBox 33"/>
          <p:cNvSpPr txBox="1"/>
          <p:nvPr/>
        </p:nvSpPr>
        <p:spPr>
          <a:xfrm>
            <a:off x="5303520" y="3125693"/>
            <a:ext cx="3291840" cy="196595"/>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Limited edition run, volume to confirm</a:t>
            </a:r>
          </a:p>
        </p:txBody>
      </p:sp>
      <p:sp>
        <p:nvSpPr>
          <p:cNvPr id="35" name="Rectangle 34"/>
          <p:cNvSpPr/>
          <p:nvPr/>
        </p:nvSpPr>
        <p:spPr>
          <a:xfrm>
            <a:off x="512064" y="3345149"/>
            <a:ext cx="8119872" cy="269748"/>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6" name="TextBox 35"/>
          <p:cNvSpPr txBox="1"/>
          <p:nvPr/>
        </p:nvSpPr>
        <p:spPr>
          <a:xfrm>
            <a:off x="603504" y="3395441"/>
            <a:ext cx="2212848" cy="196595"/>
          </a:xfrm>
          <a:prstGeom prst="rect">
            <a:avLst/>
          </a:prstGeom>
          <a:noFill/>
        </p:spPr>
        <p:txBody>
          <a:bodyPr wrap="square" lIns="0" rIns="0" tIns="0" bIns="0" anchor="t">
            <a:noAutofit/>
          </a:bodyPr>
          <a:lstStyle/>
          <a:p>
            <a:pPr algn="l">
              <a:lnSpc>
                <a:spcPct val="100000"/>
              </a:lnSpc>
            </a:pPr>
            <a:r>
              <a:rPr sz="850" b="1">
                <a:solidFill>
                  <a:srgbClr val="006838"/>
                </a:solidFill>
                <a:latin typeface="Arial"/>
              </a:rPr>
              <a:t>Weekly broadcast code</a:t>
            </a:r>
          </a:p>
        </p:txBody>
      </p:sp>
      <p:sp>
        <p:nvSpPr>
          <p:cNvPr id="37" name="TextBox 36"/>
          <p:cNvSpPr txBox="1"/>
          <p:nvPr/>
        </p:nvSpPr>
        <p:spPr>
          <a:xfrm>
            <a:off x="2944368" y="3395441"/>
            <a:ext cx="1389888" cy="196595"/>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25 Mata</a:t>
            </a:r>
          </a:p>
        </p:txBody>
      </p:sp>
      <p:sp>
        <p:nvSpPr>
          <p:cNvPr id="38" name="TextBox 37"/>
          <p:cNvSpPr txBox="1"/>
          <p:nvPr/>
        </p:nvSpPr>
        <p:spPr>
          <a:xfrm>
            <a:off x="4462272" y="3395441"/>
            <a:ext cx="713232" cy="196595"/>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crm</a:t>
            </a:r>
          </a:p>
        </p:txBody>
      </p:sp>
      <p:sp>
        <p:nvSpPr>
          <p:cNvPr id="39" name="TextBox 38"/>
          <p:cNvSpPr txBox="1"/>
          <p:nvPr/>
        </p:nvSpPr>
        <p:spPr>
          <a:xfrm>
            <a:off x="5303520" y="3395441"/>
            <a:ext cx="3291840" cy="196595"/>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The registered base, growing weekly</a:t>
            </a:r>
          </a:p>
        </p:txBody>
      </p:sp>
      <p:sp>
        <p:nvSpPr>
          <p:cNvPr id="40" name="Rectangle 39"/>
          <p:cNvSpPr/>
          <p:nvPr/>
        </p:nvSpPr>
        <p:spPr>
          <a:xfrm>
            <a:off x="512064" y="3614897"/>
            <a:ext cx="8119872" cy="2697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1" name="TextBox 40"/>
          <p:cNvSpPr txBox="1"/>
          <p:nvPr/>
        </p:nvSpPr>
        <p:spPr>
          <a:xfrm>
            <a:off x="603504" y="3665189"/>
            <a:ext cx="2212848" cy="196595"/>
          </a:xfrm>
          <a:prstGeom prst="rect">
            <a:avLst/>
          </a:prstGeom>
          <a:noFill/>
        </p:spPr>
        <p:txBody>
          <a:bodyPr wrap="square" lIns="0" rIns="0" tIns="0" bIns="0" anchor="t">
            <a:noAutofit/>
          </a:bodyPr>
          <a:lstStyle/>
          <a:p>
            <a:pPr algn="l">
              <a:lnSpc>
                <a:spcPct val="100000"/>
              </a:lnSpc>
            </a:pPr>
            <a:r>
              <a:rPr sz="850" b="1">
                <a:solidFill>
                  <a:srgbClr val="006838"/>
                </a:solidFill>
                <a:latin typeface="Arial"/>
              </a:rPr>
              <a:t>Bulan Bintang boutique QR</a:t>
            </a:r>
          </a:p>
        </p:txBody>
      </p:sp>
      <p:sp>
        <p:nvSpPr>
          <p:cNvPr id="42" name="TextBox 41"/>
          <p:cNvSpPr txBox="1"/>
          <p:nvPr/>
        </p:nvSpPr>
        <p:spPr>
          <a:xfrm>
            <a:off x="2944368" y="3665189"/>
            <a:ext cx="1389888" cy="196595"/>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50 Mata</a:t>
            </a:r>
          </a:p>
        </p:txBody>
      </p:sp>
      <p:sp>
        <p:nvSpPr>
          <p:cNvPr id="43" name="TextBox 42"/>
          <p:cNvSpPr txBox="1"/>
          <p:nvPr/>
        </p:nvSpPr>
        <p:spPr>
          <a:xfrm>
            <a:off x="4462272" y="3665189"/>
            <a:ext cx="713232" cy="196595"/>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partner</a:t>
            </a:r>
          </a:p>
        </p:txBody>
      </p:sp>
      <p:sp>
        <p:nvSpPr>
          <p:cNvPr id="44" name="TextBox 43"/>
          <p:cNvSpPr txBox="1"/>
          <p:nvPr/>
        </p:nvSpPr>
        <p:spPr>
          <a:xfrm>
            <a:off x="5303520" y="3665189"/>
            <a:ext cx="3291840" cy="196595"/>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14 stores, Config B only</a:t>
            </a:r>
          </a:p>
        </p:txBody>
      </p:sp>
      <p:sp>
        <p:nvSpPr>
          <p:cNvPr id="45" name="Rectangle 44"/>
          <p:cNvSpPr/>
          <p:nvPr/>
        </p:nvSpPr>
        <p:spPr>
          <a:xfrm>
            <a:off x="438912" y="4443984"/>
            <a:ext cx="8266175" cy="402336"/>
          </a:xfrm>
          <a:prstGeom prst="rect">
            <a:avLst/>
          </a:prstGeom>
          <a:solidFill>
            <a:srgbClr val="052B1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6" name="TextBox 45"/>
          <p:cNvSpPr txBox="1"/>
          <p:nvPr/>
        </p:nvSpPr>
        <p:spPr>
          <a:xfrm>
            <a:off x="658368" y="4480560"/>
            <a:ext cx="7827264" cy="347472"/>
          </a:xfrm>
          <a:prstGeom prst="rect">
            <a:avLst/>
          </a:prstGeom>
          <a:noFill/>
        </p:spPr>
        <p:txBody>
          <a:bodyPr wrap="square" lIns="0" rIns="0" tIns="0" bIns="0" anchor="ctr">
            <a:noAutofit/>
          </a:bodyPr>
          <a:lstStyle/>
          <a:p>
            <a:pPr algn="l">
              <a:lnSpc>
                <a:spcPct val="100000"/>
              </a:lnSpc>
            </a:pPr>
            <a:r>
              <a:rPr sz="950" b="1">
                <a:solidFill>
                  <a:srgbClr val="F5EC2E"/>
                </a:solidFill>
                <a:latin typeface="Arial"/>
              </a:rPr>
              <a:t>What this replaces: </a:t>
            </a:r>
            <a:r>
              <a:rPr sz="950" b="0">
                <a:solidFill>
                  <a:srgbClr val="FFFFFF"/>
                </a:solidFill>
                <a:latin typeface="Arial"/>
              </a:rPr>
              <a:t>in 2026 entries arrived by WhatsApp, which Meta and TikTok cannot see, so they optimized toward the only thing they could measure, which was a view.</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6FAEC"/>
        </a:solidFill>
        <a:effectLst/>
      </p:bgPr>
    </p:bg>
    <p:spTree>
      <p:nvGrpSpPr>
        <p:cNvPr id="1" name=""/>
        <p:cNvGrpSpPr/>
        <p:nvPr/>
      </p:nvGrpSpPr>
      <p:grpSpPr/>
      <p:sp>
        <p:nvSpPr>
          <p:cNvPr id="2" name="Rectangle 1"/>
          <p:cNvSpPr/>
          <p:nvPr/>
        </p:nvSpPr>
        <p:spPr>
          <a:xfrm>
            <a:off x="512064" y="365760"/>
            <a:ext cx="219456" cy="73152"/>
          </a:xfrm>
          <a:prstGeom prst="rect">
            <a:avLst/>
          </a:prstGeom>
          <a:solidFill>
            <a:srgbClr val="C51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 name="TextBox 2"/>
          <p:cNvSpPr txBox="1"/>
          <p:nvPr/>
        </p:nvSpPr>
        <p:spPr>
          <a:xfrm>
            <a:off x="512064" y="566928"/>
            <a:ext cx="8119872" cy="475488"/>
          </a:xfrm>
          <a:prstGeom prst="rect">
            <a:avLst/>
          </a:prstGeom>
          <a:noFill/>
        </p:spPr>
        <p:txBody>
          <a:bodyPr wrap="square" lIns="0" rIns="0" tIns="0" bIns="0" anchor="t">
            <a:noAutofit/>
          </a:bodyPr>
          <a:lstStyle/>
          <a:p>
            <a:pPr algn="l">
              <a:lnSpc>
                <a:spcPct val="96000"/>
              </a:lnSpc>
            </a:pPr>
            <a:r>
              <a:rPr sz="2400" b="0">
                <a:solidFill>
                  <a:srgbClr val="006838"/>
                </a:solidFill>
                <a:latin typeface="Arial Black"/>
              </a:rPr>
              <a:t>Ten weeks with Puan Noraini, 38, Sungai Petani.</a:t>
            </a:r>
          </a:p>
        </p:txBody>
      </p:sp>
      <p:sp>
        <p:nvSpPr>
          <p:cNvPr id="4" name="TextBox 3"/>
          <p:cNvSpPr txBox="1"/>
          <p:nvPr/>
        </p:nvSpPr>
        <p:spPr>
          <a:xfrm>
            <a:off x="512064" y="1060704"/>
            <a:ext cx="8119872" cy="365760"/>
          </a:xfrm>
          <a:prstGeom prst="rect">
            <a:avLst/>
          </a:prstGeom>
          <a:noFill/>
        </p:spPr>
        <p:txBody>
          <a:bodyPr wrap="square" lIns="0" rIns="0" tIns="0" bIns="0" anchor="t">
            <a:noAutofit/>
          </a:bodyPr>
          <a:lstStyle/>
          <a:p>
            <a:pPr algn="l">
              <a:lnSpc>
                <a:spcPct val="112000"/>
              </a:lnSpc>
            </a:pPr>
            <a:r>
              <a:rPr sz="1100" b="0">
                <a:solidFill>
                  <a:srgbClr val="6E8A76"/>
                </a:solidFill>
                <a:latin typeface="Arial"/>
              </a:rPr>
              <a:t>The Raya Household CFO from the rev2 audience work, walked through the mechanic week by week. Every number below follows the rules on the previous slides.</a:t>
            </a:r>
          </a:p>
        </p:txBody>
      </p:sp>
      <p:sp>
        <p:nvSpPr>
          <p:cNvPr id="5" name="Rectangle 4"/>
          <p:cNvSpPr/>
          <p:nvPr/>
        </p:nvSpPr>
        <p:spPr>
          <a:xfrm>
            <a:off x="512064" y="1655246"/>
            <a:ext cx="7626096" cy="274320"/>
          </a:xfrm>
          <a:prstGeom prst="rect">
            <a:avLst/>
          </a:prstGeom>
          <a:solidFill>
            <a:srgbClr val="0068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TextBox 5"/>
          <p:cNvSpPr txBox="1"/>
          <p:nvPr/>
        </p:nvSpPr>
        <p:spPr>
          <a:xfrm>
            <a:off x="603504" y="1710110"/>
            <a:ext cx="438912" cy="182880"/>
          </a:xfrm>
          <a:prstGeom prst="rect">
            <a:avLst/>
          </a:prstGeom>
          <a:noFill/>
        </p:spPr>
        <p:txBody>
          <a:bodyPr wrap="square" lIns="0" rIns="0" tIns="0" bIns="0" anchor="t">
            <a:noAutofit/>
          </a:bodyPr>
          <a:lstStyle/>
          <a:p>
            <a:pPr algn="l">
              <a:lnSpc>
                <a:spcPct val="100000"/>
              </a:lnSpc>
            </a:pPr>
            <a:r>
              <a:rPr sz="680" b="1">
                <a:solidFill>
                  <a:srgbClr val="FFFFFF"/>
                </a:solidFill>
                <a:latin typeface="Arial"/>
              </a:rPr>
              <a:t>WEEK</a:t>
            </a:r>
          </a:p>
        </p:txBody>
      </p:sp>
      <p:sp>
        <p:nvSpPr>
          <p:cNvPr id="7" name="TextBox 6"/>
          <p:cNvSpPr txBox="1"/>
          <p:nvPr/>
        </p:nvSpPr>
        <p:spPr>
          <a:xfrm>
            <a:off x="1170432" y="1710110"/>
            <a:ext cx="3182112" cy="182880"/>
          </a:xfrm>
          <a:prstGeom prst="rect">
            <a:avLst/>
          </a:prstGeom>
          <a:noFill/>
        </p:spPr>
        <p:txBody>
          <a:bodyPr wrap="square" lIns="0" rIns="0" tIns="0" bIns="0" anchor="t">
            <a:noAutofit/>
          </a:bodyPr>
          <a:lstStyle/>
          <a:p>
            <a:pPr algn="l">
              <a:lnSpc>
                <a:spcPct val="100000"/>
              </a:lnSpc>
            </a:pPr>
            <a:r>
              <a:rPr sz="680" b="1">
                <a:solidFill>
                  <a:srgbClr val="FFFFFF"/>
                </a:solidFill>
                <a:latin typeface="Arial"/>
              </a:rPr>
              <a:t>WHAT SHE DOES</a:t>
            </a:r>
          </a:p>
        </p:txBody>
      </p:sp>
      <p:sp>
        <p:nvSpPr>
          <p:cNvPr id="8" name="TextBox 7"/>
          <p:cNvSpPr txBox="1"/>
          <p:nvPr/>
        </p:nvSpPr>
        <p:spPr>
          <a:xfrm>
            <a:off x="4480560" y="1710110"/>
            <a:ext cx="530352" cy="182880"/>
          </a:xfrm>
          <a:prstGeom prst="rect">
            <a:avLst/>
          </a:prstGeom>
          <a:noFill/>
        </p:spPr>
        <p:txBody>
          <a:bodyPr wrap="square" lIns="0" rIns="0" tIns="0" bIns="0" anchor="t">
            <a:noAutofit/>
          </a:bodyPr>
          <a:lstStyle/>
          <a:p>
            <a:pPr algn="l">
              <a:lnSpc>
                <a:spcPct val="100000"/>
              </a:lnSpc>
            </a:pPr>
            <a:r>
              <a:rPr sz="680" b="1">
                <a:solidFill>
                  <a:srgbClr val="FFFFFF"/>
                </a:solidFill>
                <a:latin typeface="Arial"/>
              </a:rPr>
              <a:t>MATA</a:t>
            </a:r>
          </a:p>
        </p:txBody>
      </p:sp>
      <p:sp>
        <p:nvSpPr>
          <p:cNvPr id="9" name="TextBox 8"/>
          <p:cNvSpPr txBox="1"/>
          <p:nvPr/>
        </p:nvSpPr>
        <p:spPr>
          <a:xfrm>
            <a:off x="5138928" y="1710110"/>
            <a:ext cx="713232" cy="182880"/>
          </a:xfrm>
          <a:prstGeom prst="rect">
            <a:avLst/>
          </a:prstGeom>
          <a:noFill/>
        </p:spPr>
        <p:txBody>
          <a:bodyPr wrap="square" lIns="0" rIns="0" tIns="0" bIns="0" anchor="t">
            <a:noAutofit/>
          </a:bodyPr>
          <a:lstStyle/>
          <a:p>
            <a:pPr algn="l">
              <a:lnSpc>
                <a:spcPct val="100000"/>
              </a:lnSpc>
            </a:pPr>
            <a:r>
              <a:rPr sz="680" b="1">
                <a:solidFill>
                  <a:srgbClr val="FFFFFF"/>
                </a:solidFill>
                <a:latin typeface="Arial"/>
              </a:rPr>
              <a:t>BALANCE</a:t>
            </a:r>
          </a:p>
        </p:txBody>
      </p:sp>
      <p:sp>
        <p:nvSpPr>
          <p:cNvPr id="10" name="TextBox 9"/>
          <p:cNvSpPr txBox="1"/>
          <p:nvPr/>
        </p:nvSpPr>
        <p:spPr>
          <a:xfrm>
            <a:off x="5980176" y="1710110"/>
            <a:ext cx="2121408" cy="182880"/>
          </a:xfrm>
          <a:prstGeom prst="rect">
            <a:avLst/>
          </a:prstGeom>
          <a:noFill/>
        </p:spPr>
        <p:txBody>
          <a:bodyPr wrap="square" lIns="0" rIns="0" tIns="0" bIns="0" anchor="t">
            <a:noAutofit/>
          </a:bodyPr>
          <a:lstStyle/>
          <a:p>
            <a:pPr algn="l">
              <a:lnSpc>
                <a:spcPct val="100000"/>
              </a:lnSpc>
            </a:pPr>
            <a:r>
              <a:rPr sz="680" b="1">
                <a:solidFill>
                  <a:srgbClr val="FFFFFF"/>
                </a:solidFill>
                <a:latin typeface="Arial"/>
              </a:rPr>
              <a:t>WHAT SAJI LEARNS</a:t>
            </a:r>
          </a:p>
        </p:txBody>
      </p:sp>
      <p:sp>
        <p:nvSpPr>
          <p:cNvPr id="11" name="Rectangle 10"/>
          <p:cNvSpPr/>
          <p:nvPr/>
        </p:nvSpPr>
        <p:spPr>
          <a:xfrm>
            <a:off x="512064" y="1929566"/>
            <a:ext cx="7626096" cy="26060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2" name="TextBox 11"/>
          <p:cNvSpPr txBox="1"/>
          <p:nvPr/>
        </p:nvSpPr>
        <p:spPr>
          <a:xfrm>
            <a:off x="603504" y="1979858"/>
            <a:ext cx="438912" cy="187451"/>
          </a:xfrm>
          <a:prstGeom prst="rect">
            <a:avLst/>
          </a:prstGeom>
          <a:noFill/>
        </p:spPr>
        <p:txBody>
          <a:bodyPr wrap="square" lIns="0" rIns="0" tIns="0" bIns="0" anchor="t">
            <a:noAutofit/>
          </a:bodyPr>
          <a:lstStyle/>
          <a:p>
            <a:pPr algn="l">
              <a:lnSpc>
                <a:spcPct val="100000"/>
              </a:lnSpc>
            </a:pPr>
            <a:r>
              <a:rPr sz="800" b="1">
                <a:solidFill>
                  <a:srgbClr val="006838"/>
                </a:solidFill>
                <a:latin typeface="Arial"/>
              </a:rPr>
              <a:t>1</a:t>
            </a:r>
          </a:p>
        </p:txBody>
      </p:sp>
      <p:sp>
        <p:nvSpPr>
          <p:cNvPr id="13" name="TextBox 12"/>
          <p:cNvSpPr txBox="1"/>
          <p:nvPr/>
        </p:nvSpPr>
        <p:spPr>
          <a:xfrm>
            <a:off x="1170432" y="1979858"/>
            <a:ext cx="3182112"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Taps a TikTok ad and registers in 40 seconds</a:t>
            </a:r>
          </a:p>
        </p:txBody>
      </p:sp>
      <p:sp>
        <p:nvSpPr>
          <p:cNvPr id="14" name="TextBox 13"/>
          <p:cNvSpPr txBox="1"/>
          <p:nvPr/>
        </p:nvSpPr>
        <p:spPr>
          <a:xfrm>
            <a:off x="4480560" y="1979858"/>
            <a:ext cx="530352"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0</a:t>
            </a:r>
          </a:p>
        </p:txBody>
      </p:sp>
      <p:sp>
        <p:nvSpPr>
          <p:cNvPr id="15" name="TextBox 14"/>
          <p:cNvSpPr txBox="1"/>
          <p:nvPr/>
        </p:nvSpPr>
        <p:spPr>
          <a:xfrm>
            <a:off x="5138928" y="1979858"/>
            <a:ext cx="713232"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0</a:t>
            </a:r>
          </a:p>
        </p:txBody>
      </p:sp>
      <p:sp>
        <p:nvSpPr>
          <p:cNvPr id="16" name="TextBox 15"/>
          <p:cNvSpPr txBox="1"/>
          <p:nvPr/>
        </p:nvSpPr>
        <p:spPr>
          <a:xfrm>
            <a:off x="5980176" y="1979858"/>
            <a:ext cx="2121408"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Name, phone, Kedah</a:t>
            </a:r>
          </a:p>
        </p:txBody>
      </p:sp>
      <p:sp>
        <p:nvSpPr>
          <p:cNvPr id="17" name="Rectangle 16"/>
          <p:cNvSpPr/>
          <p:nvPr/>
        </p:nvSpPr>
        <p:spPr>
          <a:xfrm>
            <a:off x="512064" y="2190170"/>
            <a:ext cx="7626096" cy="260603"/>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8" name="TextBox 17"/>
          <p:cNvSpPr txBox="1"/>
          <p:nvPr/>
        </p:nvSpPr>
        <p:spPr>
          <a:xfrm>
            <a:off x="603504" y="2240462"/>
            <a:ext cx="438912" cy="187451"/>
          </a:xfrm>
          <a:prstGeom prst="rect">
            <a:avLst/>
          </a:prstGeom>
          <a:noFill/>
        </p:spPr>
        <p:txBody>
          <a:bodyPr wrap="square" lIns="0" rIns="0" tIns="0" bIns="0" anchor="t">
            <a:noAutofit/>
          </a:bodyPr>
          <a:lstStyle/>
          <a:p>
            <a:pPr algn="l">
              <a:lnSpc>
                <a:spcPct val="100000"/>
              </a:lnSpc>
            </a:pPr>
            <a:r>
              <a:rPr sz="800" b="1">
                <a:solidFill>
                  <a:srgbClr val="006838"/>
                </a:solidFill>
                <a:latin typeface="Arial"/>
              </a:rPr>
              <a:t>2</a:t>
            </a:r>
          </a:p>
        </p:txBody>
      </p:sp>
      <p:sp>
        <p:nvSpPr>
          <p:cNvPr id="19" name="TextBox 18"/>
          <p:cNvSpPr txBox="1"/>
          <p:nvPr/>
        </p:nvSpPr>
        <p:spPr>
          <a:xfrm>
            <a:off x="1170432" y="2240462"/>
            <a:ext cx="3182112"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RM38 Saji basket for Ramadan prep, uploads the receipt</a:t>
            </a:r>
          </a:p>
        </p:txBody>
      </p:sp>
      <p:sp>
        <p:nvSpPr>
          <p:cNvPr id="20" name="TextBox 19"/>
          <p:cNvSpPr txBox="1"/>
          <p:nvPr/>
        </p:nvSpPr>
        <p:spPr>
          <a:xfrm>
            <a:off x="4480560" y="2240462"/>
            <a:ext cx="530352"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+38</a:t>
            </a:r>
          </a:p>
        </p:txBody>
      </p:sp>
      <p:sp>
        <p:nvSpPr>
          <p:cNvPr id="21" name="TextBox 20"/>
          <p:cNvSpPr txBox="1"/>
          <p:nvPr/>
        </p:nvSpPr>
        <p:spPr>
          <a:xfrm>
            <a:off x="5138928" y="2240462"/>
            <a:ext cx="713232"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38</a:t>
            </a:r>
          </a:p>
        </p:txBody>
      </p:sp>
      <p:sp>
        <p:nvSpPr>
          <p:cNvPr id="22" name="TextBox 21"/>
          <p:cNvSpPr txBox="1"/>
          <p:nvPr/>
        </p:nvSpPr>
        <p:spPr>
          <a:xfrm>
            <a:off x="5980176" y="2240462"/>
            <a:ext cx="2121408"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First basket value</a:t>
            </a:r>
          </a:p>
        </p:txBody>
      </p:sp>
      <p:sp>
        <p:nvSpPr>
          <p:cNvPr id="23" name="Rectangle 22"/>
          <p:cNvSpPr/>
          <p:nvPr/>
        </p:nvSpPr>
        <p:spPr>
          <a:xfrm>
            <a:off x="512064" y="2450774"/>
            <a:ext cx="7626096" cy="26060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4" name="TextBox 23"/>
          <p:cNvSpPr txBox="1"/>
          <p:nvPr/>
        </p:nvSpPr>
        <p:spPr>
          <a:xfrm>
            <a:off x="603504" y="2501066"/>
            <a:ext cx="438912" cy="187451"/>
          </a:xfrm>
          <a:prstGeom prst="rect">
            <a:avLst/>
          </a:prstGeom>
          <a:noFill/>
        </p:spPr>
        <p:txBody>
          <a:bodyPr wrap="square" lIns="0" rIns="0" tIns="0" bIns="0" anchor="t">
            <a:noAutofit/>
          </a:bodyPr>
          <a:lstStyle/>
          <a:p>
            <a:pPr algn="l">
              <a:lnSpc>
                <a:spcPct val="100000"/>
              </a:lnSpc>
            </a:pPr>
            <a:r>
              <a:rPr sz="800" b="1">
                <a:solidFill>
                  <a:srgbClr val="006838"/>
                </a:solidFill>
                <a:latin typeface="Arial"/>
              </a:rPr>
              <a:t>3</a:t>
            </a:r>
          </a:p>
        </p:txBody>
      </p:sp>
      <p:sp>
        <p:nvSpPr>
          <p:cNvPr id="25" name="TextBox 24"/>
          <p:cNvSpPr txBox="1"/>
          <p:nvPr/>
        </p:nvSpPr>
        <p:spPr>
          <a:xfrm>
            <a:off x="1170432" y="2501066"/>
            <a:ext cx="3182112"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Buys the new Ketupat SKU on a 2x Mata week</a:t>
            </a:r>
          </a:p>
        </p:txBody>
      </p:sp>
      <p:sp>
        <p:nvSpPr>
          <p:cNvPr id="26" name="TextBox 25"/>
          <p:cNvSpPr txBox="1"/>
          <p:nvPr/>
        </p:nvSpPr>
        <p:spPr>
          <a:xfrm>
            <a:off x="4480560" y="2501066"/>
            <a:ext cx="530352"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+40</a:t>
            </a:r>
          </a:p>
        </p:txBody>
      </p:sp>
      <p:sp>
        <p:nvSpPr>
          <p:cNvPr id="27" name="TextBox 26"/>
          <p:cNvSpPr txBox="1"/>
          <p:nvPr/>
        </p:nvSpPr>
        <p:spPr>
          <a:xfrm>
            <a:off x="5138928" y="2501066"/>
            <a:ext cx="713232"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78</a:t>
            </a:r>
          </a:p>
        </p:txBody>
      </p:sp>
      <p:sp>
        <p:nvSpPr>
          <p:cNvPr id="28" name="TextBox 27"/>
          <p:cNvSpPr txBox="1"/>
          <p:nvPr/>
        </p:nvSpPr>
        <p:spPr>
          <a:xfrm>
            <a:off x="5980176" y="2501066"/>
            <a:ext cx="2121408"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New SKU trialed</a:t>
            </a:r>
          </a:p>
        </p:txBody>
      </p:sp>
      <p:sp>
        <p:nvSpPr>
          <p:cNvPr id="29" name="Rectangle 28"/>
          <p:cNvSpPr/>
          <p:nvPr/>
        </p:nvSpPr>
        <p:spPr>
          <a:xfrm>
            <a:off x="512064" y="2711378"/>
            <a:ext cx="7626096" cy="260603"/>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0" name="TextBox 29"/>
          <p:cNvSpPr txBox="1"/>
          <p:nvPr/>
        </p:nvSpPr>
        <p:spPr>
          <a:xfrm>
            <a:off x="603504" y="2761670"/>
            <a:ext cx="438912" cy="187451"/>
          </a:xfrm>
          <a:prstGeom prst="rect">
            <a:avLst/>
          </a:prstGeom>
          <a:noFill/>
        </p:spPr>
        <p:txBody>
          <a:bodyPr wrap="square" lIns="0" rIns="0" tIns="0" bIns="0" anchor="t">
            <a:noAutofit/>
          </a:bodyPr>
          <a:lstStyle/>
          <a:p>
            <a:pPr algn="l">
              <a:lnSpc>
                <a:spcPct val="100000"/>
              </a:lnSpc>
            </a:pPr>
            <a:r>
              <a:rPr sz="800" b="1">
                <a:solidFill>
                  <a:srgbClr val="006838"/>
                </a:solidFill>
                <a:latin typeface="Arial"/>
              </a:rPr>
              <a:t>4</a:t>
            </a:r>
          </a:p>
        </p:txBody>
      </p:sp>
      <p:sp>
        <p:nvSpPr>
          <p:cNvPr id="31" name="TextBox 30"/>
          <p:cNvSpPr txBox="1"/>
          <p:nvPr/>
        </p:nvSpPr>
        <p:spPr>
          <a:xfrm>
            <a:off x="1170432" y="2761670"/>
            <a:ext cx="3182112"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Scans the truck at the bazaar, spins, wins an apron</a:t>
            </a:r>
          </a:p>
        </p:txBody>
      </p:sp>
      <p:sp>
        <p:nvSpPr>
          <p:cNvPr id="32" name="TextBox 31"/>
          <p:cNvSpPr txBox="1"/>
          <p:nvPr/>
        </p:nvSpPr>
        <p:spPr>
          <a:xfrm>
            <a:off x="4480560" y="2761670"/>
            <a:ext cx="530352"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+50</a:t>
            </a:r>
          </a:p>
        </p:txBody>
      </p:sp>
      <p:sp>
        <p:nvSpPr>
          <p:cNvPr id="33" name="TextBox 32"/>
          <p:cNvSpPr txBox="1"/>
          <p:nvPr/>
        </p:nvSpPr>
        <p:spPr>
          <a:xfrm>
            <a:off x="5138928" y="2761670"/>
            <a:ext cx="713232"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128</a:t>
            </a:r>
          </a:p>
        </p:txBody>
      </p:sp>
      <p:sp>
        <p:nvSpPr>
          <p:cNvPr id="34" name="TextBox 33"/>
          <p:cNvSpPr txBox="1"/>
          <p:nvPr/>
        </p:nvSpPr>
        <p:spPr>
          <a:xfrm>
            <a:off x="5980176" y="2761670"/>
            <a:ext cx="2121408"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Roadshow attributed</a:t>
            </a:r>
          </a:p>
        </p:txBody>
      </p:sp>
      <p:sp>
        <p:nvSpPr>
          <p:cNvPr id="35" name="Rectangle 34"/>
          <p:cNvSpPr/>
          <p:nvPr/>
        </p:nvSpPr>
        <p:spPr>
          <a:xfrm>
            <a:off x="512064" y="2971982"/>
            <a:ext cx="7626096" cy="26060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6" name="TextBox 35"/>
          <p:cNvSpPr txBox="1"/>
          <p:nvPr/>
        </p:nvSpPr>
        <p:spPr>
          <a:xfrm>
            <a:off x="603504" y="3022274"/>
            <a:ext cx="438912" cy="187451"/>
          </a:xfrm>
          <a:prstGeom prst="rect">
            <a:avLst/>
          </a:prstGeom>
          <a:noFill/>
        </p:spPr>
        <p:txBody>
          <a:bodyPr wrap="square" lIns="0" rIns="0" tIns="0" bIns="0" anchor="t">
            <a:noAutofit/>
          </a:bodyPr>
          <a:lstStyle/>
          <a:p>
            <a:pPr algn="l">
              <a:lnSpc>
                <a:spcPct val="100000"/>
              </a:lnSpc>
            </a:pPr>
            <a:r>
              <a:rPr sz="800" b="1">
                <a:solidFill>
                  <a:srgbClr val="006838"/>
                </a:solidFill>
                <a:latin typeface="Arial"/>
              </a:rPr>
              <a:t>5</a:t>
            </a:r>
          </a:p>
        </p:txBody>
      </p:sp>
      <p:sp>
        <p:nvSpPr>
          <p:cNvPr id="37" name="TextBox 36"/>
          <p:cNvSpPr txBox="1"/>
          <p:nvPr/>
        </p:nvSpPr>
        <p:spPr>
          <a:xfrm>
            <a:off x="1170432" y="3022274"/>
            <a:ext cx="3182112"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Enters the weekly code from her WhatsApp broadcast</a:t>
            </a:r>
          </a:p>
        </p:txBody>
      </p:sp>
      <p:sp>
        <p:nvSpPr>
          <p:cNvPr id="38" name="TextBox 37"/>
          <p:cNvSpPr txBox="1"/>
          <p:nvPr/>
        </p:nvSpPr>
        <p:spPr>
          <a:xfrm>
            <a:off x="4480560" y="3022274"/>
            <a:ext cx="530352"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+25</a:t>
            </a:r>
          </a:p>
        </p:txBody>
      </p:sp>
      <p:sp>
        <p:nvSpPr>
          <p:cNvPr id="39" name="TextBox 38"/>
          <p:cNvSpPr txBox="1"/>
          <p:nvPr/>
        </p:nvSpPr>
        <p:spPr>
          <a:xfrm>
            <a:off x="5138928" y="3022274"/>
            <a:ext cx="713232"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153</a:t>
            </a:r>
          </a:p>
        </p:txBody>
      </p:sp>
      <p:sp>
        <p:nvSpPr>
          <p:cNvPr id="40" name="TextBox 39"/>
          <p:cNvSpPr txBox="1"/>
          <p:nvPr/>
        </p:nvSpPr>
        <p:spPr>
          <a:xfrm>
            <a:off x="5980176" y="3022274"/>
            <a:ext cx="2121408"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CRM reaches her free</a:t>
            </a:r>
          </a:p>
        </p:txBody>
      </p:sp>
      <p:sp>
        <p:nvSpPr>
          <p:cNvPr id="41" name="Rectangle 40"/>
          <p:cNvSpPr/>
          <p:nvPr/>
        </p:nvSpPr>
        <p:spPr>
          <a:xfrm>
            <a:off x="512064" y="3232586"/>
            <a:ext cx="7626096" cy="260603"/>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2" name="TextBox 41"/>
          <p:cNvSpPr txBox="1"/>
          <p:nvPr/>
        </p:nvSpPr>
        <p:spPr>
          <a:xfrm>
            <a:off x="603504" y="3282878"/>
            <a:ext cx="438912" cy="187451"/>
          </a:xfrm>
          <a:prstGeom prst="rect">
            <a:avLst/>
          </a:prstGeom>
          <a:noFill/>
        </p:spPr>
        <p:txBody>
          <a:bodyPr wrap="square" lIns="0" rIns="0" tIns="0" bIns="0" anchor="t">
            <a:noAutofit/>
          </a:bodyPr>
          <a:lstStyle/>
          <a:p>
            <a:pPr algn="l">
              <a:lnSpc>
                <a:spcPct val="100000"/>
              </a:lnSpc>
            </a:pPr>
            <a:r>
              <a:rPr sz="800" b="1">
                <a:solidFill>
                  <a:srgbClr val="006838"/>
                </a:solidFill>
                <a:latin typeface="Arial"/>
              </a:rPr>
              <a:t>6</a:t>
            </a:r>
          </a:p>
        </p:txBody>
      </p:sp>
      <p:sp>
        <p:nvSpPr>
          <p:cNvPr id="43" name="TextBox 42"/>
          <p:cNvSpPr txBox="1"/>
          <p:nvPr/>
        </p:nvSpPr>
        <p:spPr>
          <a:xfrm>
            <a:off x="1170432" y="3282878"/>
            <a:ext cx="3182112"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Gets the brand film as a retargeted view against a known profile</a:t>
            </a:r>
          </a:p>
        </p:txBody>
      </p:sp>
      <p:sp>
        <p:nvSpPr>
          <p:cNvPr id="44" name="TextBox 43"/>
          <p:cNvSpPr txBox="1"/>
          <p:nvPr/>
        </p:nvSpPr>
        <p:spPr>
          <a:xfrm>
            <a:off x="4480560" y="3282878"/>
            <a:ext cx="530352"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0</a:t>
            </a:r>
          </a:p>
        </p:txBody>
      </p:sp>
      <p:sp>
        <p:nvSpPr>
          <p:cNvPr id="45" name="TextBox 44"/>
          <p:cNvSpPr txBox="1"/>
          <p:nvPr/>
        </p:nvSpPr>
        <p:spPr>
          <a:xfrm>
            <a:off x="5138928" y="3282878"/>
            <a:ext cx="713232"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153</a:t>
            </a:r>
          </a:p>
        </p:txBody>
      </p:sp>
      <p:sp>
        <p:nvSpPr>
          <p:cNvPr id="46" name="TextBox 45"/>
          <p:cNvSpPr txBox="1"/>
          <p:nvPr/>
        </p:nvSpPr>
        <p:spPr>
          <a:xfrm>
            <a:off x="5980176" y="3282878"/>
            <a:ext cx="2121408"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Cheaper film delivery</a:t>
            </a:r>
          </a:p>
        </p:txBody>
      </p:sp>
      <p:sp>
        <p:nvSpPr>
          <p:cNvPr id="47" name="Rectangle 46"/>
          <p:cNvSpPr/>
          <p:nvPr/>
        </p:nvSpPr>
        <p:spPr>
          <a:xfrm>
            <a:off x="512064" y="3493190"/>
            <a:ext cx="7626096" cy="26060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8" name="TextBox 47"/>
          <p:cNvSpPr txBox="1"/>
          <p:nvPr/>
        </p:nvSpPr>
        <p:spPr>
          <a:xfrm>
            <a:off x="603504" y="3543482"/>
            <a:ext cx="438912" cy="187451"/>
          </a:xfrm>
          <a:prstGeom prst="rect">
            <a:avLst/>
          </a:prstGeom>
          <a:noFill/>
        </p:spPr>
        <p:txBody>
          <a:bodyPr wrap="square" lIns="0" rIns="0" tIns="0" bIns="0" anchor="t">
            <a:noAutofit/>
          </a:bodyPr>
          <a:lstStyle/>
          <a:p>
            <a:pPr algn="l">
              <a:lnSpc>
                <a:spcPct val="100000"/>
              </a:lnSpc>
            </a:pPr>
            <a:r>
              <a:rPr sz="800" b="1">
                <a:solidFill>
                  <a:srgbClr val="006838"/>
                </a:solidFill>
                <a:latin typeface="Arial"/>
              </a:rPr>
              <a:t>8</a:t>
            </a:r>
          </a:p>
        </p:txBody>
      </p:sp>
      <p:sp>
        <p:nvSpPr>
          <p:cNvPr id="49" name="TextBox 48"/>
          <p:cNvSpPr txBox="1"/>
          <p:nvPr/>
        </p:nvSpPr>
        <p:spPr>
          <a:xfrm>
            <a:off x="1170432" y="3543482"/>
            <a:ext cx="3182112"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RM60 Raya basket with a 2x SKU inside it</a:t>
            </a:r>
          </a:p>
        </p:txBody>
      </p:sp>
      <p:sp>
        <p:nvSpPr>
          <p:cNvPr id="50" name="TextBox 49"/>
          <p:cNvSpPr txBox="1"/>
          <p:nvPr/>
        </p:nvSpPr>
        <p:spPr>
          <a:xfrm>
            <a:off x="4480560" y="3543482"/>
            <a:ext cx="530352"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+120</a:t>
            </a:r>
          </a:p>
        </p:txBody>
      </p:sp>
      <p:sp>
        <p:nvSpPr>
          <p:cNvPr id="51" name="TextBox 50"/>
          <p:cNvSpPr txBox="1"/>
          <p:nvPr/>
        </p:nvSpPr>
        <p:spPr>
          <a:xfrm>
            <a:off x="5138928" y="3543482"/>
            <a:ext cx="713232"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273</a:t>
            </a:r>
          </a:p>
        </p:txBody>
      </p:sp>
      <p:sp>
        <p:nvSpPr>
          <p:cNvPr id="52" name="TextBox 51"/>
          <p:cNvSpPr txBox="1"/>
          <p:nvPr/>
        </p:nvSpPr>
        <p:spPr>
          <a:xfrm>
            <a:off x="5980176" y="3543482"/>
            <a:ext cx="2121408"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Second new SKU</a:t>
            </a:r>
          </a:p>
        </p:txBody>
      </p:sp>
      <p:sp>
        <p:nvSpPr>
          <p:cNvPr id="53" name="Rectangle 52"/>
          <p:cNvSpPr/>
          <p:nvPr/>
        </p:nvSpPr>
        <p:spPr>
          <a:xfrm>
            <a:off x="512064" y="3753794"/>
            <a:ext cx="7626096" cy="260603"/>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4" name="TextBox 53"/>
          <p:cNvSpPr txBox="1"/>
          <p:nvPr/>
        </p:nvSpPr>
        <p:spPr>
          <a:xfrm>
            <a:off x="603504" y="3804086"/>
            <a:ext cx="438912" cy="187451"/>
          </a:xfrm>
          <a:prstGeom prst="rect">
            <a:avLst/>
          </a:prstGeom>
          <a:noFill/>
        </p:spPr>
        <p:txBody>
          <a:bodyPr wrap="square" lIns="0" rIns="0" tIns="0" bIns="0" anchor="t">
            <a:noAutofit/>
          </a:bodyPr>
          <a:lstStyle/>
          <a:p>
            <a:pPr algn="l">
              <a:lnSpc>
                <a:spcPct val="100000"/>
              </a:lnSpc>
            </a:pPr>
            <a:r>
              <a:rPr sz="800" b="1">
                <a:solidFill>
                  <a:srgbClr val="006838"/>
                </a:solidFill>
                <a:latin typeface="Arial"/>
              </a:rPr>
              <a:t>10</a:t>
            </a:r>
          </a:p>
        </p:txBody>
      </p:sp>
      <p:sp>
        <p:nvSpPr>
          <p:cNvPr id="55" name="TextBox 54"/>
          <p:cNvSpPr txBox="1"/>
          <p:nvPr/>
        </p:nvSpPr>
        <p:spPr>
          <a:xfrm>
            <a:off x="1170432" y="3804086"/>
            <a:ext cx="3182112"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Final Raya basket before the close, RM55</a:t>
            </a:r>
          </a:p>
        </p:txBody>
      </p:sp>
      <p:sp>
        <p:nvSpPr>
          <p:cNvPr id="56" name="TextBox 55"/>
          <p:cNvSpPr txBox="1"/>
          <p:nvPr/>
        </p:nvSpPr>
        <p:spPr>
          <a:xfrm>
            <a:off x="4480560" y="3804086"/>
            <a:ext cx="530352"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+55</a:t>
            </a:r>
          </a:p>
        </p:txBody>
      </p:sp>
      <p:sp>
        <p:nvSpPr>
          <p:cNvPr id="57" name="TextBox 56"/>
          <p:cNvSpPr txBox="1"/>
          <p:nvPr/>
        </p:nvSpPr>
        <p:spPr>
          <a:xfrm>
            <a:off x="5138928" y="3804086"/>
            <a:ext cx="713232"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328</a:t>
            </a:r>
          </a:p>
        </p:txBody>
      </p:sp>
      <p:sp>
        <p:nvSpPr>
          <p:cNvPr id="58" name="TextBox 57"/>
          <p:cNvSpPr txBox="1"/>
          <p:nvPr/>
        </p:nvSpPr>
        <p:spPr>
          <a:xfrm>
            <a:off x="5980176" y="3804086"/>
            <a:ext cx="2121408"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Full season profile</a:t>
            </a:r>
          </a:p>
        </p:txBody>
      </p:sp>
      <p:sp>
        <p:nvSpPr>
          <p:cNvPr id="59" name="Rectangle 58"/>
          <p:cNvSpPr/>
          <p:nvPr/>
        </p:nvSpPr>
        <p:spPr>
          <a:xfrm>
            <a:off x="438912" y="4443984"/>
            <a:ext cx="8266175" cy="402336"/>
          </a:xfrm>
          <a:prstGeom prst="rect">
            <a:avLst/>
          </a:prstGeom>
          <a:solidFill>
            <a:srgbClr val="052B1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0" name="TextBox 59"/>
          <p:cNvSpPr txBox="1"/>
          <p:nvPr/>
        </p:nvSpPr>
        <p:spPr>
          <a:xfrm>
            <a:off x="658368" y="4480560"/>
            <a:ext cx="7827264" cy="347472"/>
          </a:xfrm>
          <a:prstGeom prst="rect">
            <a:avLst/>
          </a:prstGeom>
          <a:noFill/>
        </p:spPr>
        <p:txBody>
          <a:bodyPr wrap="square" lIns="0" rIns="0" tIns="0" bIns="0" anchor="ctr">
            <a:noAutofit/>
          </a:bodyPr>
          <a:lstStyle/>
          <a:p>
            <a:pPr algn="l">
              <a:lnSpc>
                <a:spcPct val="100000"/>
              </a:lnSpc>
            </a:pPr>
            <a:r>
              <a:rPr sz="950" b="1">
                <a:solidFill>
                  <a:srgbClr val="F5EC2E"/>
                </a:solidFill>
                <a:latin typeface="Arial"/>
              </a:rPr>
              <a:t>What she is worth at the close: </a:t>
            </a:r>
            <a:r>
              <a:rPr sz="950" b="0">
                <a:solidFill>
                  <a:srgbClr val="FFFFFF"/>
                </a:solidFill>
                <a:latin typeface="Arial"/>
              </a:rPr>
              <a:t>13 chances in the grand draw, RM173 of tracked Saji spend across four receipts, two new SKUs trialed, one roadshow attended, and a consented phone number tied to Kedah.</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6FAEC"/>
        </a:solidFill>
        <a:effectLst/>
      </p:bgPr>
    </p:bg>
    <p:spTree>
      <p:nvGrpSpPr>
        <p:cNvPr id="1" name=""/>
        <p:cNvGrpSpPr/>
        <p:nvPr/>
      </p:nvGrpSpPr>
      <p:grpSpPr/>
      <p:sp>
        <p:nvSpPr>
          <p:cNvPr id="2" name="Rectangle 1"/>
          <p:cNvSpPr/>
          <p:nvPr/>
        </p:nvSpPr>
        <p:spPr>
          <a:xfrm>
            <a:off x="512064" y="365760"/>
            <a:ext cx="219456" cy="73152"/>
          </a:xfrm>
          <a:prstGeom prst="rect">
            <a:avLst/>
          </a:prstGeom>
          <a:solidFill>
            <a:srgbClr val="C51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 name="TextBox 2"/>
          <p:cNvSpPr txBox="1"/>
          <p:nvPr/>
        </p:nvSpPr>
        <p:spPr>
          <a:xfrm>
            <a:off x="512064" y="566928"/>
            <a:ext cx="8119872" cy="475488"/>
          </a:xfrm>
          <a:prstGeom prst="rect">
            <a:avLst/>
          </a:prstGeom>
          <a:noFill/>
        </p:spPr>
        <p:txBody>
          <a:bodyPr wrap="square" lIns="0" rIns="0" tIns="0" bIns="0" anchor="t">
            <a:noAutofit/>
          </a:bodyPr>
          <a:lstStyle/>
          <a:p>
            <a:pPr algn="l">
              <a:lnSpc>
                <a:spcPct val="96000"/>
              </a:lnSpc>
            </a:pPr>
            <a:r>
              <a:rPr sz="2400" b="0">
                <a:solidFill>
                  <a:srgbClr val="006838"/>
                </a:solidFill>
                <a:latin typeface="Arial Black"/>
              </a:rPr>
              <a:t>Saji keeps the list after the contest closes.</a:t>
            </a:r>
          </a:p>
        </p:txBody>
      </p:sp>
      <p:sp>
        <p:nvSpPr>
          <p:cNvPr id="4" name="TextBox 3"/>
          <p:cNvSpPr txBox="1"/>
          <p:nvPr/>
        </p:nvSpPr>
        <p:spPr>
          <a:xfrm>
            <a:off x="512064" y="1060704"/>
            <a:ext cx="8119872" cy="365760"/>
          </a:xfrm>
          <a:prstGeom prst="rect">
            <a:avLst/>
          </a:prstGeom>
          <a:noFill/>
        </p:spPr>
        <p:txBody>
          <a:bodyPr wrap="square" lIns="0" rIns="0" tIns="0" bIns="0" anchor="t">
            <a:noAutofit/>
          </a:bodyPr>
          <a:lstStyle/>
          <a:p>
            <a:pPr algn="l">
              <a:lnSpc>
                <a:spcPct val="112000"/>
              </a:lnSpc>
            </a:pPr>
            <a:r>
              <a:rPr sz="1100" b="0">
                <a:solidFill>
                  <a:srgbClr val="6E8A76"/>
                </a:solidFill>
                <a:latin typeface="Arial"/>
              </a:rPr>
              <a:t>Saji reaches half the households in Malaysia and buys no TV or radio. The reach already exists. The identity layer underneath it does not.</a:t>
            </a:r>
          </a:p>
        </p:txBody>
      </p:sp>
      <p:sp>
        <p:nvSpPr>
          <p:cNvPr id="5" name="Rectangle 4"/>
          <p:cNvSpPr/>
          <p:nvPr/>
        </p:nvSpPr>
        <p:spPr>
          <a:xfrm>
            <a:off x="512064" y="1796315"/>
            <a:ext cx="2584704" cy="1944243"/>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Rectangle 5"/>
          <p:cNvSpPr/>
          <p:nvPr/>
        </p:nvSpPr>
        <p:spPr>
          <a:xfrm>
            <a:off x="512064" y="1796315"/>
            <a:ext cx="2584704" cy="54864"/>
          </a:xfrm>
          <a:prstGeom prst="rect">
            <a:avLst/>
          </a:prstGeom>
          <a:solidFill>
            <a:srgbClr val="0068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7" name="TextBox 6"/>
          <p:cNvSpPr txBox="1"/>
          <p:nvPr/>
        </p:nvSpPr>
        <p:spPr>
          <a:xfrm>
            <a:off x="676656" y="1979195"/>
            <a:ext cx="2255520" cy="310896"/>
          </a:xfrm>
          <a:prstGeom prst="rect">
            <a:avLst/>
          </a:prstGeom>
          <a:noFill/>
        </p:spPr>
        <p:txBody>
          <a:bodyPr wrap="square" lIns="0" rIns="0" tIns="0" bIns="0" anchor="t">
            <a:noAutofit/>
          </a:bodyPr>
          <a:lstStyle/>
          <a:p>
            <a:pPr algn="l">
              <a:lnSpc>
                <a:spcPct val="94000"/>
              </a:lnSpc>
            </a:pPr>
            <a:r>
              <a:rPr sz="2000" b="0">
                <a:solidFill>
                  <a:srgbClr val="006838"/>
                </a:solidFill>
                <a:latin typeface="Arial Black"/>
              </a:rPr>
              <a:t>12,000</a:t>
            </a:r>
          </a:p>
        </p:txBody>
      </p:sp>
      <p:sp>
        <p:nvSpPr>
          <p:cNvPr id="8" name="TextBox 7"/>
          <p:cNvSpPr txBox="1"/>
          <p:nvPr/>
        </p:nvSpPr>
        <p:spPr>
          <a:xfrm>
            <a:off x="676656" y="2308379"/>
            <a:ext cx="2255520" cy="182880"/>
          </a:xfrm>
          <a:prstGeom prst="rect">
            <a:avLst/>
          </a:prstGeom>
          <a:noFill/>
        </p:spPr>
        <p:txBody>
          <a:bodyPr wrap="square" lIns="0" rIns="0" tIns="0" bIns="0" anchor="t">
            <a:noAutofit/>
          </a:bodyPr>
          <a:lstStyle/>
          <a:p>
            <a:pPr algn="l">
              <a:lnSpc>
                <a:spcPct val="100000"/>
              </a:lnSpc>
            </a:pPr>
            <a:r>
              <a:rPr sz="800" b="1">
                <a:solidFill>
                  <a:srgbClr val="6E8A76"/>
                </a:solidFill>
                <a:latin typeface="Arial"/>
              </a:rPr>
              <a:t>CONSENTED PROFILES</a:t>
            </a:r>
          </a:p>
        </p:txBody>
      </p:sp>
      <p:sp>
        <p:nvSpPr>
          <p:cNvPr id="9" name="TextBox 8"/>
          <p:cNvSpPr txBox="1"/>
          <p:nvPr/>
        </p:nvSpPr>
        <p:spPr>
          <a:xfrm>
            <a:off x="676656" y="2518691"/>
            <a:ext cx="2255520" cy="207264"/>
          </a:xfrm>
          <a:prstGeom prst="rect">
            <a:avLst/>
          </a:prstGeom>
          <a:noFill/>
        </p:spPr>
        <p:txBody>
          <a:bodyPr wrap="square" lIns="0" rIns="0" tIns="0" bIns="0" anchor="t">
            <a:noAutofit/>
          </a:bodyPr>
          <a:lstStyle/>
          <a:p>
            <a:pPr algn="l">
              <a:lnSpc>
                <a:spcPct val="96000"/>
              </a:lnSpc>
            </a:pPr>
            <a:r>
              <a:rPr sz="1250" b="0">
                <a:solidFill>
                  <a:srgbClr val="006838"/>
                </a:solidFill>
                <a:latin typeface="Arial Black"/>
              </a:rPr>
              <a:t>Collected under one notice</a:t>
            </a:r>
          </a:p>
        </p:txBody>
      </p:sp>
      <p:sp>
        <p:nvSpPr>
          <p:cNvPr id="10" name="TextBox 9"/>
          <p:cNvSpPr txBox="1"/>
          <p:nvPr/>
        </p:nvSpPr>
        <p:spPr>
          <a:xfrm>
            <a:off x="676656" y="2725955"/>
            <a:ext cx="2255520" cy="670179"/>
          </a:xfrm>
          <a:prstGeom prst="rect">
            <a:avLst/>
          </a:prstGeom>
          <a:noFill/>
        </p:spPr>
        <p:txBody>
          <a:bodyPr wrap="square" lIns="0" rIns="0" tIns="0" bIns="0" anchor="t">
            <a:noAutofit/>
          </a:bodyPr>
          <a:lstStyle/>
          <a:p>
            <a:pPr algn="l">
              <a:lnSpc>
                <a:spcPct val="114000"/>
              </a:lnSpc>
            </a:pPr>
            <a:r>
              <a:rPr sz="850" b="0">
                <a:solidFill>
                  <a:srgbClr val="1F3326"/>
                </a:solidFill>
                <a:latin typeface="Arial"/>
              </a:rPr>
              <a:t>Name, phone, state and the SKUs they bought, gathered under a single PDPA consent and one privacy notice rather than scraped from seven disconnected activations.</a:t>
            </a:r>
          </a:p>
        </p:txBody>
      </p:sp>
      <p:sp>
        <p:nvSpPr>
          <p:cNvPr id="11" name="Rectangle 10"/>
          <p:cNvSpPr/>
          <p:nvPr/>
        </p:nvSpPr>
        <p:spPr>
          <a:xfrm>
            <a:off x="3279648" y="1796315"/>
            <a:ext cx="2584704" cy="1944243"/>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2" name="Rectangle 11"/>
          <p:cNvSpPr/>
          <p:nvPr/>
        </p:nvSpPr>
        <p:spPr>
          <a:xfrm>
            <a:off x="3279648" y="1796315"/>
            <a:ext cx="2584704" cy="54864"/>
          </a:xfrm>
          <a:prstGeom prst="rect">
            <a:avLst/>
          </a:prstGeom>
          <a:solidFill>
            <a:srgbClr val="E891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3" name="TextBox 12"/>
          <p:cNvSpPr txBox="1"/>
          <p:nvPr/>
        </p:nvSpPr>
        <p:spPr>
          <a:xfrm>
            <a:off x="3444240" y="1979195"/>
            <a:ext cx="2255520" cy="310896"/>
          </a:xfrm>
          <a:prstGeom prst="rect">
            <a:avLst/>
          </a:prstGeom>
          <a:noFill/>
        </p:spPr>
        <p:txBody>
          <a:bodyPr wrap="square" lIns="0" rIns="0" tIns="0" bIns="0" anchor="t">
            <a:noAutofit/>
          </a:bodyPr>
          <a:lstStyle/>
          <a:p>
            <a:pPr algn="l">
              <a:lnSpc>
                <a:spcPct val="94000"/>
              </a:lnSpc>
            </a:pPr>
            <a:r>
              <a:rPr sz="2000" b="0">
                <a:solidFill>
                  <a:srgbClr val="E8912C"/>
                </a:solidFill>
                <a:latin typeface="Arial Black"/>
              </a:rPr>
              <a:t>50M</a:t>
            </a:r>
          </a:p>
        </p:txBody>
      </p:sp>
      <p:sp>
        <p:nvSpPr>
          <p:cNvPr id="14" name="TextBox 13"/>
          <p:cNvSpPr txBox="1"/>
          <p:nvPr/>
        </p:nvSpPr>
        <p:spPr>
          <a:xfrm>
            <a:off x="3444240" y="2308379"/>
            <a:ext cx="2255520" cy="182880"/>
          </a:xfrm>
          <a:prstGeom prst="rect">
            <a:avLst/>
          </a:prstGeom>
          <a:noFill/>
        </p:spPr>
        <p:txBody>
          <a:bodyPr wrap="square" lIns="0" rIns="0" tIns="0" bIns="0" anchor="t">
            <a:noAutofit/>
          </a:bodyPr>
          <a:lstStyle/>
          <a:p>
            <a:pPr algn="l">
              <a:lnSpc>
                <a:spcPct val="100000"/>
              </a:lnSpc>
            </a:pPr>
            <a:r>
              <a:rPr sz="800" b="1">
                <a:solidFill>
                  <a:srgbClr val="6E8A76"/>
                </a:solidFill>
                <a:latin typeface="Arial"/>
              </a:rPr>
              <a:t>VIEWS LAST YEAR, MOSTLY ORGANIC</a:t>
            </a:r>
          </a:p>
        </p:txBody>
      </p:sp>
      <p:sp>
        <p:nvSpPr>
          <p:cNvPr id="15" name="TextBox 14"/>
          <p:cNvSpPr txBox="1"/>
          <p:nvPr/>
        </p:nvSpPr>
        <p:spPr>
          <a:xfrm>
            <a:off x="3444240" y="2518691"/>
            <a:ext cx="2255520" cy="207264"/>
          </a:xfrm>
          <a:prstGeom prst="rect">
            <a:avLst/>
          </a:prstGeom>
          <a:noFill/>
        </p:spPr>
        <p:txBody>
          <a:bodyPr wrap="square" lIns="0" rIns="0" tIns="0" bIns="0" anchor="t">
            <a:noAutofit/>
          </a:bodyPr>
          <a:lstStyle/>
          <a:p>
            <a:pPr algn="l">
              <a:lnSpc>
                <a:spcPct val="96000"/>
              </a:lnSpc>
            </a:pPr>
            <a:r>
              <a:rPr sz="1250" b="0">
                <a:solidFill>
                  <a:srgbClr val="006838"/>
                </a:solidFill>
                <a:latin typeface="Arial Black"/>
              </a:rPr>
              <a:t>Reach without a list</a:t>
            </a:r>
          </a:p>
        </p:txBody>
      </p:sp>
      <p:sp>
        <p:nvSpPr>
          <p:cNvPr id="16" name="TextBox 15"/>
          <p:cNvSpPr txBox="1"/>
          <p:nvPr/>
        </p:nvSpPr>
        <p:spPr>
          <a:xfrm>
            <a:off x="3444240" y="2725955"/>
            <a:ext cx="2255520" cy="670179"/>
          </a:xfrm>
          <a:prstGeom prst="rect">
            <a:avLst/>
          </a:prstGeom>
          <a:noFill/>
        </p:spPr>
        <p:txBody>
          <a:bodyPr wrap="square" lIns="0" rIns="0" tIns="0" bIns="0" anchor="t">
            <a:noAutofit/>
          </a:bodyPr>
          <a:lstStyle/>
          <a:p>
            <a:pPr algn="l">
              <a:lnSpc>
                <a:spcPct val="114000"/>
              </a:lnSpc>
            </a:pPr>
            <a:r>
              <a:rPr sz="850" b="0">
                <a:solidFill>
                  <a:srgbClr val="1F3326"/>
                </a:solidFill>
                <a:latin typeface="Arial"/>
              </a:rPr>
              <a:t>Recorded in the 22 September meeting. All that attention passed through and left nothing behind that Saji can address again, because there was never a place for it to land.</a:t>
            </a:r>
          </a:p>
        </p:txBody>
      </p:sp>
      <p:sp>
        <p:nvSpPr>
          <p:cNvPr id="17" name="Rectangle 16"/>
          <p:cNvSpPr/>
          <p:nvPr/>
        </p:nvSpPr>
        <p:spPr>
          <a:xfrm>
            <a:off x="6047232" y="1796315"/>
            <a:ext cx="2584704" cy="1944243"/>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8" name="Rectangle 17"/>
          <p:cNvSpPr/>
          <p:nvPr/>
        </p:nvSpPr>
        <p:spPr>
          <a:xfrm>
            <a:off x="6047232" y="1796315"/>
            <a:ext cx="2584704" cy="54864"/>
          </a:xfrm>
          <a:prstGeom prst="rect">
            <a:avLst/>
          </a:prstGeom>
          <a:solidFill>
            <a:srgbClr val="F8C8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9" name="TextBox 18"/>
          <p:cNvSpPr txBox="1"/>
          <p:nvPr/>
        </p:nvSpPr>
        <p:spPr>
          <a:xfrm>
            <a:off x="6211824" y="1979195"/>
            <a:ext cx="2255520" cy="310896"/>
          </a:xfrm>
          <a:prstGeom prst="rect">
            <a:avLst/>
          </a:prstGeom>
          <a:noFill/>
        </p:spPr>
        <p:txBody>
          <a:bodyPr wrap="square" lIns="0" rIns="0" tIns="0" bIns="0" anchor="t">
            <a:noAutofit/>
          </a:bodyPr>
          <a:lstStyle/>
          <a:p>
            <a:pPr algn="l">
              <a:lnSpc>
                <a:spcPct val="94000"/>
              </a:lnSpc>
            </a:pPr>
            <a:r>
              <a:rPr sz="2000" b="0">
                <a:solidFill>
                  <a:srgbClr val="F8C84A"/>
                </a:solidFill>
                <a:latin typeface="Arial Black"/>
              </a:rPr>
              <a:t>2028</a:t>
            </a:r>
          </a:p>
        </p:txBody>
      </p:sp>
      <p:sp>
        <p:nvSpPr>
          <p:cNvPr id="20" name="TextBox 19"/>
          <p:cNvSpPr txBox="1"/>
          <p:nvPr/>
        </p:nvSpPr>
        <p:spPr>
          <a:xfrm>
            <a:off x="6211824" y="2308379"/>
            <a:ext cx="2255520" cy="182880"/>
          </a:xfrm>
          <a:prstGeom prst="rect">
            <a:avLst/>
          </a:prstGeom>
          <a:noFill/>
        </p:spPr>
        <p:txBody>
          <a:bodyPr wrap="square" lIns="0" rIns="0" tIns="0" bIns="0" anchor="t">
            <a:noAutofit/>
          </a:bodyPr>
          <a:lstStyle/>
          <a:p>
            <a:pPr algn="l">
              <a:lnSpc>
                <a:spcPct val="100000"/>
              </a:lnSpc>
            </a:pPr>
            <a:r>
              <a:rPr sz="800" b="1">
                <a:solidFill>
                  <a:srgbClr val="6E8A76"/>
                </a:solidFill>
                <a:latin typeface="Arial"/>
              </a:rPr>
              <a:t>WHAT IT IS WORTH NEXT RAYA</a:t>
            </a:r>
          </a:p>
        </p:txBody>
      </p:sp>
      <p:sp>
        <p:nvSpPr>
          <p:cNvPr id="21" name="TextBox 20"/>
          <p:cNvSpPr txBox="1"/>
          <p:nvPr/>
        </p:nvSpPr>
        <p:spPr>
          <a:xfrm>
            <a:off x="6211824" y="2518691"/>
            <a:ext cx="2255520" cy="359664"/>
          </a:xfrm>
          <a:prstGeom prst="rect">
            <a:avLst/>
          </a:prstGeom>
          <a:noFill/>
        </p:spPr>
        <p:txBody>
          <a:bodyPr wrap="square" lIns="0" rIns="0" tIns="0" bIns="0" anchor="t">
            <a:noAutofit/>
          </a:bodyPr>
          <a:lstStyle/>
          <a:p>
            <a:pPr algn="l">
              <a:lnSpc>
                <a:spcPct val="96000"/>
              </a:lnSpc>
            </a:pPr>
            <a:r>
              <a:rPr sz="1250" b="0">
                <a:solidFill>
                  <a:srgbClr val="006838"/>
                </a:solidFill>
                <a:latin typeface="Arial Black"/>
              </a:rPr>
              <a:t>A campaign that starts warm</a:t>
            </a:r>
          </a:p>
        </p:txBody>
      </p:sp>
      <p:sp>
        <p:nvSpPr>
          <p:cNvPr id="22" name="TextBox 21"/>
          <p:cNvSpPr txBox="1"/>
          <p:nvPr/>
        </p:nvSpPr>
        <p:spPr>
          <a:xfrm>
            <a:off x="6211824" y="2878355"/>
            <a:ext cx="2255520" cy="670179"/>
          </a:xfrm>
          <a:prstGeom prst="rect">
            <a:avLst/>
          </a:prstGeom>
          <a:noFill/>
        </p:spPr>
        <p:txBody>
          <a:bodyPr wrap="square" lIns="0" rIns="0" tIns="0" bIns="0" anchor="t">
            <a:noAutofit/>
          </a:bodyPr>
          <a:lstStyle/>
          <a:p>
            <a:pPr algn="l">
              <a:lnSpc>
                <a:spcPct val="114000"/>
              </a:lnSpc>
            </a:pPr>
            <a:r>
              <a:rPr sz="850" b="0">
                <a:solidFill>
                  <a:srgbClr val="1F3326"/>
                </a:solidFill>
                <a:latin typeface="Arial"/>
              </a:rPr>
              <a:t>Saji gets a retargeting pool, a lookalike seed built on verified buyers, and a WhatsApp base that costs nothing to reach. The 2026 campaign produced none of it.</a:t>
            </a:r>
          </a:p>
        </p:txBody>
      </p:sp>
      <p:sp>
        <p:nvSpPr>
          <p:cNvPr id="23" name="Rectangle 22"/>
          <p:cNvSpPr/>
          <p:nvPr/>
        </p:nvSpPr>
        <p:spPr>
          <a:xfrm>
            <a:off x="438912" y="4443984"/>
            <a:ext cx="8266175" cy="402336"/>
          </a:xfrm>
          <a:prstGeom prst="rect">
            <a:avLst/>
          </a:prstGeom>
          <a:solidFill>
            <a:srgbClr val="052B1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4" name="TextBox 23"/>
          <p:cNvSpPr txBox="1"/>
          <p:nvPr/>
        </p:nvSpPr>
        <p:spPr>
          <a:xfrm>
            <a:off x="658368" y="4480560"/>
            <a:ext cx="7827264" cy="347472"/>
          </a:xfrm>
          <a:prstGeom prst="rect">
            <a:avLst/>
          </a:prstGeom>
          <a:noFill/>
        </p:spPr>
        <p:txBody>
          <a:bodyPr wrap="square" lIns="0" rIns="0" tIns="0" bIns="0" anchor="ctr">
            <a:noAutofit/>
          </a:bodyPr>
          <a:lstStyle/>
          <a:p>
            <a:pPr algn="l">
              <a:lnSpc>
                <a:spcPct val="100000"/>
              </a:lnSpc>
            </a:pPr>
            <a:r>
              <a:rPr sz="950" b="1">
                <a:solidFill>
                  <a:srgbClr val="F5EC2E"/>
                </a:solidFill>
                <a:latin typeface="Arial"/>
              </a:rPr>
              <a:t>The asset that outlives the campaign: </a:t>
            </a:r>
            <a:r>
              <a:rPr sz="950" b="0">
                <a:solidFill>
                  <a:srgbClr val="FFFFFF"/>
                </a:solidFill>
                <a:latin typeface="Arial"/>
              </a:rPr>
              <a:t>Saji is pushing household penetration from 50% toward 93%. A verified list of 12,000 buyers by state is worth more in May than it is in March.</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52B18"/>
        </a:solidFill>
        <a:effectLst/>
      </p:bgPr>
    </p:bg>
    <p:spTree>
      <p:nvGrpSpPr>
        <p:cNvPr id="1" name=""/>
        <p:cNvGrpSpPr/>
        <p:nvPr/>
      </p:nvGrpSpPr>
      <p:grpSpPr/>
      <p:sp>
        <p:nvSpPr>
          <p:cNvPr id="2" name="Rectangle 1"/>
          <p:cNvSpPr/>
          <p:nvPr/>
        </p:nvSpPr>
        <p:spPr>
          <a:xfrm>
            <a:off x="0" y="0"/>
            <a:ext cx="128016" cy="5143500"/>
          </a:xfrm>
          <a:prstGeom prst="rect">
            <a:avLst/>
          </a:prstGeom>
          <a:solidFill>
            <a:srgbClr val="C51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 name="TextBox 2"/>
          <p:cNvSpPr txBox="1"/>
          <p:nvPr/>
        </p:nvSpPr>
        <p:spPr>
          <a:xfrm>
            <a:off x="640080" y="1554480"/>
            <a:ext cx="3657600" cy="365760"/>
          </a:xfrm>
          <a:prstGeom prst="rect">
            <a:avLst/>
          </a:prstGeom>
          <a:noFill/>
        </p:spPr>
        <p:txBody>
          <a:bodyPr wrap="square" lIns="0" rIns="0" tIns="0" bIns="0" anchor="t">
            <a:noAutofit/>
          </a:bodyPr>
          <a:lstStyle/>
          <a:p>
            <a:pPr algn="l">
              <a:lnSpc>
                <a:spcPct val="92000"/>
              </a:lnSpc>
            </a:pPr>
            <a:r>
              <a:rPr sz="2100" b="0">
                <a:solidFill>
                  <a:srgbClr val="FFFFFF"/>
                </a:solidFill>
                <a:latin typeface="Arial Black"/>
              </a:rPr>
              <a:t>03.</a:t>
            </a:r>
          </a:p>
        </p:txBody>
      </p:sp>
      <p:sp>
        <p:nvSpPr>
          <p:cNvPr id="4" name="TextBox 3"/>
          <p:cNvSpPr txBox="1"/>
          <p:nvPr/>
        </p:nvSpPr>
        <p:spPr>
          <a:xfrm>
            <a:off x="640080" y="2121408"/>
            <a:ext cx="6949440" cy="822960"/>
          </a:xfrm>
          <a:prstGeom prst="rect">
            <a:avLst/>
          </a:prstGeom>
          <a:noFill/>
        </p:spPr>
        <p:txBody>
          <a:bodyPr wrap="square" lIns="0" rIns="0" tIns="0" bIns="0" anchor="t">
            <a:noAutofit/>
          </a:bodyPr>
          <a:lstStyle/>
          <a:p>
            <a:pPr algn="l">
              <a:lnSpc>
                <a:spcPct val="94000"/>
              </a:lnSpc>
            </a:pPr>
            <a:r>
              <a:rPr sz="3800" b="0">
                <a:solidFill>
                  <a:srgbClr val="FFFFFF"/>
                </a:solidFill>
                <a:latin typeface="Arial Black"/>
              </a:rPr>
              <a:t>How people actually enter</a:t>
            </a:r>
          </a:p>
        </p:txBody>
      </p:sp>
      <p:sp>
        <p:nvSpPr>
          <p:cNvPr id="5" name="TextBox 4"/>
          <p:cNvSpPr txBox="1"/>
          <p:nvPr/>
        </p:nvSpPr>
        <p:spPr>
          <a:xfrm>
            <a:off x="640080" y="3063240"/>
            <a:ext cx="7863840" cy="822960"/>
          </a:xfrm>
          <a:prstGeom prst="rect">
            <a:avLst/>
          </a:prstGeom>
          <a:noFill/>
        </p:spPr>
        <p:txBody>
          <a:bodyPr wrap="square" lIns="0" rIns="0" tIns="0" bIns="0" anchor="t">
            <a:noAutofit/>
          </a:bodyPr>
          <a:lstStyle/>
          <a:p>
            <a:pPr algn="l">
              <a:lnSpc>
                <a:spcPct val="118000"/>
              </a:lnSpc>
            </a:pPr>
            <a:r>
              <a:rPr sz="1500" b="0">
                <a:solidFill>
                  <a:srgbClr val="F8C84A"/>
                </a:solidFill>
                <a:latin typeface="Arial"/>
              </a:rPr>
              <a:t>Why a QR code inside a mobile ad cannot work, what the page has to do once Mata exists, and the optimization problem hiding inside a 4,000 entry target.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6FAEC"/>
        </a:solidFill>
        <a:effectLst/>
      </p:bgPr>
    </p:bg>
    <p:spTree>
      <p:nvGrpSpPr>
        <p:cNvPr id="1" name=""/>
        <p:cNvGrpSpPr/>
        <p:nvPr/>
      </p:nvGrpSpPr>
      <p:grpSpPr/>
      <p:sp>
        <p:nvSpPr>
          <p:cNvPr id="2" name="Rectangle 1"/>
          <p:cNvSpPr/>
          <p:nvPr/>
        </p:nvSpPr>
        <p:spPr>
          <a:xfrm>
            <a:off x="512064" y="365760"/>
            <a:ext cx="219456" cy="73152"/>
          </a:xfrm>
          <a:prstGeom prst="rect">
            <a:avLst/>
          </a:prstGeom>
          <a:solidFill>
            <a:srgbClr val="C51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 name="TextBox 2"/>
          <p:cNvSpPr txBox="1"/>
          <p:nvPr/>
        </p:nvSpPr>
        <p:spPr>
          <a:xfrm>
            <a:off x="512064" y="566928"/>
            <a:ext cx="8119872" cy="475488"/>
          </a:xfrm>
          <a:prstGeom prst="rect">
            <a:avLst/>
          </a:prstGeom>
          <a:noFill/>
        </p:spPr>
        <p:txBody>
          <a:bodyPr wrap="square" lIns="0" rIns="0" tIns="0" bIns="0" anchor="t">
            <a:noAutofit/>
          </a:bodyPr>
          <a:lstStyle/>
          <a:p>
            <a:pPr algn="l">
              <a:lnSpc>
                <a:spcPct val="96000"/>
              </a:lnSpc>
            </a:pPr>
            <a:r>
              <a:rPr sz="2400" b="0">
                <a:solidFill>
                  <a:srgbClr val="006838"/>
                </a:solidFill>
                <a:latin typeface="Arial Black"/>
              </a:rPr>
              <a:t>You cannot scan a QR code with the phone showing it.</a:t>
            </a:r>
          </a:p>
        </p:txBody>
      </p:sp>
      <p:sp>
        <p:nvSpPr>
          <p:cNvPr id="4" name="TextBox 3"/>
          <p:cNvSpPr txBox="1"/>
          <p:nvPr/>
        </p:nvSpPr>
        <p:spPr>
          <a:xfrm>
            <a:off x="512064" y="1060704"/>
            <a:ext cx="8119872" cy="365760"/>
          </a:xfrm>
          <a:prstGeom prst="rect">
            <a:avLst/>
          </a:prstGeom>
          <a:noFill/>
        </p:spPr>
        <p:txBody>
          <a:bodyPr wrap="square" lIns="0" rIns="0" tIns="0" bIns="0" anchor="t">
            <a:noAutofit/>
          </a:bodyPr>
          <a:lstStyle/>
          <a:p>
            <a:pPr algn="l">
              <a:lnSpc>
                <a:spcPct val="112000"/>
              </a:lnSpc>
            </a:pPr>
            <a:r>
              <a:rPr sz="1100" b="0">
                <a:solidFill>
                  <a:srgbClr val="6E8A76"/>
                </a:solidFill>
                <a:latin typeface="Arial"/>
              </a:rPr>
              <a:t>Over 90% of Meta and TikTok impressions in Malaysia are mobile in feed. A QR code in that ad asks the viewer to go and find a second device.</a:t>
            </a:r>
          </a:p>
        </p:txBody>
      </p:sp>
      <p:sp>
        <p:nvSpPr>
          <p:cNvPr id="5" name="Rectangle 4"/>
          <p:cNvSpPr/>
          <p:nvPr/>
        </p:nvSpPr>
        <p:spPr>
          <a:xfrm>
            <a:off x="512064" y="1753438"/>
            <a:ext cx="3968496" cy="2070354"/>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Rectangle 5"/>
          <p:cNvSpPr/>
          <p:nvPr/>
        </p:nvSpPr>
        <p:spPr>
          <a:xfrm>
            <a:off x="512064" y="1753438"/>
            <a:ext cx="3968496" cy="54864"/>
          </a:xfrm>
          <a:prstGeom prst="rect">
            <a:avLst/>
          </a:prstGeom>
          <a:solidFill>
            <a:srgbClr val="C51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7" name="TextBox 6"/>
          <p:cNvSpPr txBox="1"/>
          <p:nvPr/>
        </p:nvSpPr>
        <p:spPr>
          <a:xfrm>
            <a:off x="676656" y="1936318"/>
            <a:ext cx="3639312" cy="182880"/>
          </a:xfrm>
          <a:prstGeom prst="rect">
            <a:avLst/>
          </a:prstGeom>
          <a:noFill/>
        </p:spPr>
        <p:txBody>
          <a:bodyPr wrap="square" lIns="0" rIns="0" tIns="0" bIns="0" anchor="t">
            <a:noAutofit/>
          </a:bodyPr>
          <a:lstStyle/>
          <a:p>
            <a:pPr algn="l">
              <a:lnSpc>
                <a:spcPct val="100000"/>
              </a:lnSpc>
            </a:pPr>
            <a:r>
              <a:rPr sz="800" b="1">
                <a:solidFill>
                  <a:srgbClr val="6E8A76"/>
                </a:solidFill>
                <a:latin typeface="Arial"/>
              </a:rPr>
              <a:t>QR CODE IN THE AD</a:t>
            </a:r>
          </a:p>
        </p:txBody>
      </p:sp>
      <p:sp>
        <p:nvSpPr>
          <p:cNvPr id="8" name="TextBox 7"/>
          <p:cNvSpPr txBox="1"/>
          <p:nvPr/>
        </p:nvSpPr>
        <p:spPr>
          <a:xfrm>
            <a:off x="676656" y="2146630"/>
            <a:ext cx="3639312" cy="207264"/>
          </a:xfrm>
          <a:prstGeom prst="rect">
            <a:avLst/>
          </a:prstGeom>
          <a:noFill/>
        </p:spPr>
        <p:txBody>
          <a:bodyPr wrap="square" lIns="0" rIns="0" tIns="0" bIns="0" anchor="t">
            <a:noAutofit/>
          </a:bodyPr>
          <a:lstStyle/>
          <a:p>
            <a:pPr algn="l">
              <a:lnSpc>
                <a:spcPct val="96000"/>
              </a:lnSpc>
            </a:pPr>
            <a:r>
              <a:rPr sz="1250" b="0">
                <a:solidFill>
                  <a:srgbClr val="006838"/>
                </a:solidFill>
                <a:latin typeface="Arial Black"/>
              </a:rPr>
              <a:t>Five steps, most of them fail</a:t>
            </a:r>
          </a:p>
        </p:txBody>
      </p:sp>
      <p:sp>
        <p:nvSpPr>
          <p:cNvPr id="9" name="TextBox 8"/>
          <p:cNvSpPr txBox="1"/>
          <p:nvPr/>
        </p:nvSpPr>
        <p:spPr>
          <a:xfrm>
            <a:off x="676656" y="2353894"/>
            <a:ext cx="3639312" cy="164592"/>
          </a:xfrm>
          <a:prstGeom prst="rect">
            <a:avLst/>
          </a:prstGeom>
          <a:noFill/>
        </p:spPr>
        <p:txBody>
          <a:bodyPr wrap="square" lIns="0" rIns="0" tIns="0" bIns="0" anchor="t">
            <a:noAutofit/>
          </a:bodyPr>
          <a:lstStyle/>
          <a:p>
            <a:pPr algn="l">
              <a:lnSpc>
                <a:spcPct val="100000"/>
              </a:lnSpc>
            </a:pPr>
            <a:r>
              <a:rPr sz="750" b="1">
                <a:solidFill>
                  <a:srgbClr val="E8912C"/>
                </a:solidFill>
                <a:latin typeface="Arial"/>
              </a:rPr>
              <a:t>THE JOURNEY</a:t>
            </a:r>
          </a:p>
        </p:txBody>
      </p:sp>
      <p:sp>
        <p:nvSpPr>
          <p:cNvPr id="10" name="TextBox 9"/>
          <p:cNvSpPr txBox="1"/>
          <p:nvPr/>
        </p:nvSpPr>
        <p:spPr>
          <a:xfrm>
            <a:off x="676656" y="2545918"/>
            <a:ext cx="3639312" cy="424052"/>
          </a:xfrm>
          <a:prstGeom prst="rect">
            <a:avLst/>
          </a:prstGeom>
          <a:noFill/>
        </p:spPr>
        <p:txBody>
          <a:bodyPr wrap="square" lIns="0" rIns="0" tIns="0" bIns="0" anchor="t">
            <a:noAutofit/>
          </a:bodyPr>
          <a:lstStyle/>
          <a:p>
            <a:pPr algn="l">
              <a:lnSpc>
                <a:spcPct val="114000"/>
              </a:lnSpc>
            </a:pPr>
            <a:r>
              <a:rPr sz="850" b="0">
                <a:solidFill>
                  <a:srgbClr val="1F3326"/>
                </a:solidFill>
                <a:latin typeface="Arial"/>
              </a:rPr>
              <a:t>She is scrolling TikTok on her phone, sees a QR code in the ad, cannot scan it with that phone, screenshots it or finds another device, then opens a scanner that reads from the gallery.</a:t>
            </a:r>
          </a:p>
        </p:txBody>
      </p:sp>
      <p:sp>
        <p:nvSpPr>
          <p:cNvPr id="11" name="TextBox 10"/>
          <p:cNvSpPr txBox="1"/>
          <p:nvPr/>
        </p:nvSpPr>
        <p:spPr>
          <a:xfrm>
            <a:off x="676656" y="3015691"/>
            <a:ext cx="3639312" cy="164592"/>
          </a:xfrm>
          <a:prstGeom prst="rect">
            <a:avLst/>
          </a:prstGeom>
          <a:noFill/>
        </p:spPr>
        <p:txBody>
          <a:bodyPr wrap="square" lIns="0" rIns="0" tIns="0" bIns="0" anchor="t">
            <a:noAutofit/>
          </a:bodyPr>
          <a:lstStyle/>
          <a:p>
            <a:pPr algn="l">
              <a:lnSpc>
                <a:spcPct val="100000"/>
              </a:lnSpc>
            </a:pPr>
            <a:r>
              <a:rPr sz="750" b="1">
                <a:solidFill>
                  <a:srgbClr val="E8912C"/>
                </a:solidFill>
                <a:latin typeface="Arial"/>
              </a:rPr>
              <a:t>WHAT COMES BACK</a:t>
            </a:r>
          </a:p>
        </p:txBody>
      </p:sp>
      <p:sp>
        <p:nvSpPr>
          <p:cNvPr id="12" name="TextBox 11"/>
          <p:cNvSpPr txBox="1"/>
          <p:nvPr/>
        </p:nvSpPr>
        <p:spPr>
          <a:xfrm>
            <a:off x="676656" y="3207715"/>
            <a:ext cx="3639312" cy="424052"/>
          </a:xfrm>
          <a:prstGeom prst="rect">
            <a:avLst/>
          </a:prstGeom>
          <a:noFill/>
        </p:spPr>
        <p:txBody>
          <a:bodyPr wrap="square" lIns="0" rIns="0" tIns="0" bIns="0" anchor="t">
            <a:noAutofit/>
          </a:bodyPr>
          <a:lstStyle/>
          <a:p>
            <a:pPr algn="l">
              <a:lnSpc>
                <a:spcPct val="114000"/>
              </a:lnSpc>
            </a:pPr>
            <a:r>
              <a:rPr sz="850" b="0">
                <a:solidFill>
                  <a:srgbClr val="1F3326"/>
                </a:solidFill>
                <a:latin typeface="Arial"/>
              </a:rPr>
              <a:t>No click, no pixel, no conversion event, no retargeting pool and no cost per entry. The platforms never learn who converts, so they keep serving people who never will.</a:t>
            </a:r>
          </a:p>
        </p:txBody>
      </p:sp>
      <p:sp>
        <p:nvSpPr>
          <p:cNvPr id="13" name="Rectangle 12"/>
          <p:cNvSpPr/>
          <p:nvPr/>
        </p:nvSpPr>
        <p:spPr>
          <a:xfrm>
            <a:off x="4663440" y="1753438"/>
            <a:ext cx="3968496" cy="2070354"/>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4" name="Rectangle 13"/>
          <p:cNvSpPr/>
          <p:nvPr/>
        </p:nvSpPr>
        <p:spPr>
          <a:xfrm>
            <a:off x="4663440" y="1753438"/>
            <a:ext cx="3968496" cy="54864"/>
          </a:xfrm>
          <a:prstGeom prst="rect">
            <a:avLst/>
          </a:prstGeom>
          <a:solidFill>
            <a:srgbClr val="00A65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5" name="TextBox 14"/>
          <p:cNvSpPr txBox="1"/>
          <p:nvPr/>
        </p:nvSpPr>
        <p:spPr>
          <a:xfrm>
            <a:off x="4828032" y="1936318"/>
            <a:ext cx="3639312" cy="182880"/>
          </a:xfrm>
          <a:prstGeom prst="rect">
            <a:avLst/>
          </a:prstGeom>
          <a:noFill/>
        </p:spPr>
        <p:txBody>
          <a:bodyPr wrap="square" lIns="0" rIns="0" tIns="0" bIns="0" anchor="t">
            <a:noAutofit/>
          </a:bodyPr>
          <a:lstStyle/>
          <a:p>
            <a:pPr algn="l">
              <a:lnSpc>
                <a:spcPct val="100000"/>
              </a:lnSpc>
            </a:pPr>
            <a:r>
              <a:rPr sz="800" b="1">
                <a:solidFill>
                  <a:srgbClr val="6E8A76"/>
                </a:solidFill>
                <a:latin typeface="Arial"/>
              </a:rPr>
              <a:t>LANDING PAGE</a:t>
            </a:r>
          </a:p>
        </p:txBody>
      </p:sp>
      <p:sp>
        <p:nvSpPr>
          <p:cNvPr id="16" name="TextBox 15"/>
          <p:cNvSpPr txBox="1"/>
          <p:nvPr/>
        </p:nvSpPr>
        <p:spPr>
          <a:xfrm>
            <a:off x="4828032" y="2146630"/>
            <a:ext cx="3639312" cy="207264"/>
          </a:xfrm>
          <a:prstGeom prst="rect">
            <a:avLst/>
          </a:prstGeom>
          <a:noFill/>
        </p:spPr>
        <p:txBody>
          <a:bodyPr wrap="square" lIns="0" rIns="0" tIns="0" bIns="0" anchor="t">
            <a:noAutofit/>
          </a:bodyPr>
          <a:lstStyle/>
          <a:p>
            <a:pPr algn="l">
              <a:lnSpc>
                <a:spcPct val="96000"/>
              </a:lnSpc>
            </a:pPr>
            <a:r>
              <a:rPr sz="1250" b="0">
                <a:solidFill>
                  <a:srgbClr val="006838"/>
                </a:solidFill>
                <a:latin typeface="Arial Black"/>
              </a:rPr>
              <a:t>One tap, and it reports back</a:t>
            </a:r>
          </a:p>
        </p:txBody>
      </p:sp>
      <p:sp>
        <p:nvSpPr>
          <p:cNvPr id="17" name="TextBox 16"/>
          <p:cNvSpPr txBox="1"/>
          <p:nvPr/>
        </p:nvSpPr>
        <p:spPr>
          <a:xfrm>
            <a:off x="4828032" y="2353894"/>
            <a:ext cx="3639312" cy="164592"/>
          </a:xfrm>
          <a:prstGeom prst="rect">
            <a:avLst/>
          </a:prstGeom>
          <a:noFill/>
        </p:spPr>
        <p:txBody>
          <a:bodyPr wrap="square" lIns="0" rIns="0" tIns="0" bIns="0" anchor="t">
            <a:noAutofit/>
          </a:bodyPr>
          <a:lstStyle/>
          <a:p>
            <a:pPr algn="l">
              <a:lnSpc>
                <a:spcPct val="100000"/>
              </a:lnSpc>
            </a:pPr>
            <a:r>
              <a:rPr sz="750" b="1">
                <a:solidFill>
                  <a:srgbClr val="E8912C"/>
                </a:solidFill>
                <a:latin typeface="Arial"/>
              </a:rPr>
              <a:t>THE JOURNEY</a:t>
            </a:r>
          </a:p>
        </p:txBody>
      </p:sp>
      <p:sp>
        <p:nvSpPr>
          <p:cNvPr id="18" name="TextBox 17"/>
          <p:cNvSpPr txBox="1"/>
          <p:nvPr/>
        </p:nvSpPr>
        <p:spPr>
          <a:xfrm>
            <a:off x="4828032" y="2545918"/>
            <a:ext cx="3639312" cy="424052"/>
          </a:xfrm>
          <a:prstGeom prst="rect">
            <a:avLst/>
          </a:prstGeom>
          <a:noFill/>
        </p:spPr>
        <p:txBody>
          <a:bodyPr wrap="square" lIns="0" rIns="0" tIns="0" bIns="0" anchor="t">
            <a:noAutofit/>
          </a:bodyPr>
          <a:lstStyle/>
          <a:p>
            <a:pPr algn="l">
              <a:lnSpc>
                <a:spcPct val="114000"/>
              </a:lnSpc>
            </a:pPr>
            <a:r>
              <a:rPr sz="850" b="0">
                <a:solidFill>
                  <a:srgbClr val="1F3326"/>
                </a:solidFill>
                <a:latin typeface="Arial"/>
              </a:rPr>
              <a:t>She is scrolling TikTok on her phone, taps Sertai Sekarang, lands on the page in the in-app browser, registers in three fields, and starts earning Mata before she has bought anything.</a:t>
            </a:r>
          </a:p>
        </p:txBody>
      </p:sp>
      <p:sp>
        <p:nvSpPr>
          <p:cNvPr id="19" name="TextBox 18"/>
          <p:cNvSpPr txBox="1"/>
          <p:nvPr/>
        </p:nvSpPr>
        <p:spPr>
          <a:xfrm>
            <a:off x="4828032" y="3015691"/>
            <a:ext cx="3639312" cy="164592"/>
          </a:xfrm>
          <a:prstGeom prst="rect">
            <a:avLst/>
          </a:prstGeom>
          <a:noFill/>
        </p:spPr>
        <p:txBody>
          <a:bodyPr wrap="square" lIns="0" rIns="0" tIns="0" bIns="0" anchor="t">
            <a:noAutofit/>
          </a:bodyPr>
          <a:lstStyle/>
          <a:p>
            <a:pPr algn="l">
              <a:lnSpc>
                <a:spcPct val="100000"/>
              </a:lnSpc>
            </a:pPr>
            <a:r>
              <a:rPr sz="750" b="1">
                <a:solidFill>
                  <a:srgbClr val="E8912C"/>
                </a:solidFill>
                <a:latin typeface="Arial"/>
              </a:rPr>
              <a:t>WHAT COMES BACK</a:t>
            </a:r>
          </a:p>
        </p:txBody>
      </p:sp>
      <p:sp>
        <p:nvSpPr>
          <p:cNvPr id="20" name="TextBox 19"/>
          <p:cNvSpPr txBox="1"/>
          <p:nvPr/>
        </p:nvSpPr>
        <p:spPr>
          <a:xfrm>
            <a:off x="4828032" y="3207715"/>
            <a:ext cx="3639312" cy="424052"/>
          </a:xfrm>
          <a:prstGeom prst="rect">
            <a:avLst/>
          </a:prstGeom>
          <a:noFill/>
        </p:spPr>
        <p:txBody>
          <a:bodyPr wrap="square" lIns="0" rIns="0" tIns="0" bIns="0" anchor="t">
            <a:noAutofit/>
          </a:bodyPr>
          <a:lstStyle/>
          <a:p>
            <a:pPr algn="l">
              <a:lnSpc>
                <a:spcPct val="114000"/>
              </a:lnSpc>
            </a:pPr>
            <a:r>
              <a:rPr sz="850" b="0">
                <a:solidFill>
                  <a:srgbClr val="1F3326"/>
                </a:solidFill>
                <a:latin typeface="Arial"/>
              </a:rPr>
              <a:t>The click is recorded, the pixel fires, the registration event trains the algorithm, a retargeting pool builds, and we can chase everyone who registered but never uploaded.</a:t>
            </a:r>
          </a:p>
        </p:txBody>
      </p:sp>
      <p:sp>
        <p:nvSpPr>
          <p:cNvPr id="21" name="Rectangle 20"/>
          <p:cNvSpPr/>
          <p:nvPr/>
        </p:nvSpPr>
        <p:spPr>
          <a:xfrm>
            <a:off x="438912" y="4443984"/>
            <a:ext cx="8266175" cy="402336"/>
          </a:xfrm>
          <a:prstGeom prst="rect">
            <a:avLst/>
          </a:prstGeom>
          <a:solidFill>
            <a:srgbClr val="052B1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2" name="TextBox 21"/>
          <p:cNvSpPr txBox="1"/>
          <p:nvPr/>
        </p:nvSpPr>
        <p:spPr>
          <a:xfrm>
            <a:off x="658368" y="4480560"/>
            <a:ext cx="7827264" cy="347472"/>
          </a:xfrm>
          <a:prstGeom prst="rect">
            <a:avLst/>
          </a:prstGeom>
          <a:noFill/>
        </p:spPr>
        <p:txBody>
          <a:bodyPr wrap="square" lIns="0" rIns="0" tIns="0" bIns="0" anchor="ctr">
            <a:noAutofit/>
          </a:bodyPr>
          <a:lstStyle/>
          <a:p>
            <a:pPr algn="l">
              <a:lnSpc>
                <a:spcPct val="100000"/>
              </a:lnSpc>
            </a:pPr>
            <a:r>
              <a:rPr sz="950" b="1">
                <a:solidFill>
                  <a:srgbClr val="F5EC2E"/>
                </a:solidFill>
                <a:latin typeface="Arial"/>
              </a:rPr>
              <a:t>This is the whole reason 2026 bought views: </a:t>
            </a:r>
            <a:r>
              <a:rPr sz="950" b="0">
                <a:solidFill>
                  <a:srgbClr val="FFFFFF"/>
                </a:solidFill>
                <a:latin typeface="Arial"/>
              </a:rPr>
              <a:t>entries arrived by WhatsApp, which Meta and TikTok cannot see, so the platforms optimized toward the only outcome visible to them.</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6FAEC"/>
        </a:solidFill>
        <a:effectLst/>
      </p:bgPr>
    </p:bg>
    <p:spTree>
      <p:nvGrpSpPr>
        <p:cNvPr id="1" name=""/>
        <p:cNvGrpSpPr/>
        <p:nvPr/>
      </p:nvGrpSpPr>
      <p:grpSpPr/>
      <p:sp>
        <p:nvSpPr>
          <p:cNvPr id="2" name="Rectangle 1"/>
          <p:cNvSpPr/>
          <p:nvPr/>
        </p:nvSpPr>
        <p:spPr>
          <a:xfrm>
            <a:off x="512064" y="365760"/>
            <a:ext cx="219456" cy="73152"/>
          </a:xfrm>
          <a:prstGeom prst="rect">
            <a:avLst/>
          </a:prstGeom>
          <a:solidFill>
            <a:srgbClr val="C51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 name="TextBox 2"/>
          <p:cNvSpPr txBox="1"/>
          <p:nvPr/>
        </p:nvSpPr>
        <p:spPr>
          <a:xfrm>
            <a:off x="512064" y="566928"/>
            <a:ext cx="8119872" cy="475488"/>
          </a:xfrm>
          <a:prstGeom prst="rect">
            <a:avLst/>
          </a:prstGeom>
          <a:noFill/>
        </p:spPr>
        <p:txBody>
          <a:bodyPr wrap="square" lIns="0" rIns="0" tIns="0" bIns="0" anchor="t">
            <a:noAutofit/>
          </a:bodyPr>
          <a:lstStyle/>
          <a:p>
            <a:pPr algn="l">
              <a:lnSpc>
                <a:spcPct val="96000"/>
              </a:lnSpc>
            </a:pPr>
            <a:r>
              <a:rPr sz="2400" b="0">
                <a:solidFill>
                  <a:srgbClr val="006838"/>
                </a:solidFill>
                <a:latin typeface="Arial Black"/>
              </a:rPr>
              <a:t>The page, rebuilt around the balance.</a:t>
            </a:r>
          </a:p>
        </p:txBody>
      </p:sp>
      <p:sp>
        <p:nvSpPr>
          <p:cNvPr id="4" name="TextBox 3"/>
          <p:cNvSpPr txBox="1"/>
          <p:nvPr/>
        </p:nvSpPr>
        <p:spPr>
          <a:xfrm>
            <a:off x="512064" y="1060704"/>
            <a:ext cx="8119872" cy="365760"/>
          </a:xfrm>
          <a:prstGeom prst="rect">
            <a:avLst/>
          </a:prstGeom>
          <a:noFill/>
        </p:spPr>
        <p:txBody>
          <a:bodyPr wrap="square" lIns="0" rIns="0" tIns="0" bIns="0" anchor="t">
            <a:noAutofit/>
          </a:bodyPr>
          <a:lstStyle/>
          <a:p>
            <a:pPr algn="l">
              <a:lnSpc>
                <a:spcPct val="112000"/>
              </a:lnSpc>
            </a:pPr>
            <a:r>
              <a:rPr sz="1100" b="0">
                <a:solidFill>
                  <a:srgbClr val="6E8A76"/>
                </a:solidFill>
                <a:latin typeface="Arial"/>
              </a:rPr>
              <a:t>rev1 of the page was a submission form. Under Mata Raya the page becomes somewhere a shopper returns to nine more times, so the balance has to be the first thing she sees.</a:t>
            </a:r>
          </a:p>
        </p:txBody>
      </p:sp>
      <p:sp>
        <p:nvSpPr>
          <p:cNvPr id="5" name="Rectangle 4"/>
          <p:cNvSpPr/>
          <p:nvPr/>
        </p:nvSpPr>
        <p:spPr>
          <a:xfrm>
            <a:off x="512064" y="1841136"/>
            <a:ext cx="1892808" cy="1812416"/>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Rectangle 5"/>
          <p:cNvSpPr/>
          <p:nvPr/>
        </p:nvSpPr>
        <p:spPr>
          <a:xfrm>
            <a:off x="512064" y="1841136"/>
            <a:ext cx="1892808" cy="54864"/>
          </a:xfrm>
          <a:prstGeom prst="rect">
            <a:avLst/>
          </a:prstGeom>
          <a:solidFill>
            <a:srgbClr val="0068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7" name="TextBox 6"/>
          <p:cNvSpPr txBox="1"/>
          <p:nvPr/>
        </p:nvSpPr>
        <p:spPr>
          <a:xfrm>
            <a:off x="676656" y="2024016"/>
            <a:ext cx="1563624" cy="182880"/>
          </a:xfrm>
          <a:prstGeom prst="rect">
            <a:avLst/>
          </a:prstGeom>
          <a:noFill/>
        </p:spPr>
        <p:txBody>
          <a:bodyPr wrap="square" lIns="0" rIns="0" tIns="0" bIns="0" anchor="t">
            <a:noAutofit/>
          </a:bodyPr>
          <a:lstStyle/>
          <a:p>
            <a:pPr algn="l">
              <a:lnSpc>
                <a:spcPct val="100000"/>
              </a:lnSpc>
            </a:pPr>
            <a:r>
              <a:rPr sz="800" b="1">
                <a:solidFill>
                  <a:srgbClr val="6E8A76"/>
                </a:solidFill>
                <a:latin typeface="Arial"/>
              </a:rPr>
              <a:t>ON EVERY RETURN VISIT</a:t>
            </a:r>
          </a:p>
        </p:txBody>
      </p:sp>
      <p:sp>
        <p:nvSpPr>
          <p:cNvPr id="8" name="TextBox 7"/>
          <p:cNvSpPr txBox="1"/>
          <p:nvPr/>
        </p:nvSpPr>
        <p:spPr>
          <a:xfrm>
            <a:off x="676656" y="2234328"/>
            <a:ext cx="1563624" cy="310896"/>
          </a:xfrm>
          <a:prstGeom prst="rect">
            <a:avLst/>
          </a:prstGeom>
          <a:noFill/>
        </p:spPr>
        <p:txBody>
          <a:bodyPr wrap="square" lIns="0" rIns="0" tIns="0" bIns="0" anchor="t">
            <a:noAutofit/>
          </a:bodyPr>
          <a:lstStyle/>
          <a:p>
            <a:pPr algn="l">
              <a:lnSpc>
                <a:spcPct val="96000"/>
              </a:lnSpc>
            </a:pPr>
            <a:r>
              <a:rPr sz="1050" b="0">
                <a:solidFill>
                  <a:srgbClr val="006838"/>
                </a:solidFill>
                <a:latin typeface="Arial Black"/>
              </a:rPr>
              <a:t>The wallet is the page</a:t>
            </a:r>
          </a:p>
        </p:txBody>
      </p:sp>
      <p:sp>
        <p:nvSpPr>
          <p:cNvPr id="9" name="TextBox 8"/>
          <p:cNvSpPr txBox="1"/>
          <p:nvPr/>
        </p:nvSpPr>
        <p:spPr>
          <a:xfrm>
            <a:off x="676656" y="2545224"/>
            <a:ext cx="1563624" cy="916304"/>
          </a:xfrm>
          <a:prstGeom prst="rect">
            <a:avLst/>
          </a:prstGeom>
          <a:noFill/>
        </p:spPr>
        <p:txBody>
          <a:bodyPr wrap="square" lIns="0" rIns="0" tIns="0" bIns="0" anchor="t">
            <a:noAutofit/>
          </a:bodyPr>
          <a:lstStyle/>
          <a:p>
            <a:pPr algn="l">
              <a:lnSpc>
                <a:spcPct val="114000"/>
              </a:lnSpc>
            </a:pPr>
            <a:r>
              <a:rPr sz="850" b="0">
                <a:solidFill>
                  <a:srgbClr val="1F3326"/>
                </a:solidFill>
                <a:latin typeface="Arial"/>
              </a:rPr>
              <a:t>Her Mata balance, the gap to the next milestone and her chance count sit above the fold. A first-time visitor sees the prize instead, because she has no balance to look at yet.</a:t>
            </a:r>
          </a:p>
        </p:txBody>
      </p:sp>
      <p:sp>
        <p:nvSpPr>
          <p:cNvPr id="10" name="Rectangle 9"/>
          <p:cNvSpPr/>
          <p:nvPr/>
        </p:nvSpPr>
        <p:spPr>
          <a:xfrm>
            <a:off x="2587752" y="1841136"/>
            <a:ext cx="1892808" cy="1812416"/>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1" name="Rectangle 10"/>
          <p:cNvSpPr/>
          <p:nvPr/>
        </p:nvSpPr>
        <p:spPr>
          <a:xfrm>
            <a:off x="2587752" y="1841136"/>
            <a:ext cx="1892808" cy="54864"/>
          </a:xfrm>
          <a:prstGeom prst="rect">
            <a:avLst/>
          </a:prstGeom>
          <a:solidFill>
            <a:srgbClr val="E891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2" name="TextBox 11"/>
          <p:cNvSpPr txBox="1"/>
          <p:nvPr/>
        </p:nvSpPr>
        <p:spPr>
          <a:xfrm>
            <a:off x="2752344" y="2024016"/>
            <a:ext cx="1563624" cy="182880"/>
          </a:xfrm>
          <a:prstGeom prst="rect">
            <a:avLst/>
          </a:prstGeom>
          <a:noFill/>
        </p:spPr>
        <p:txBody>
          <a:bodyPr wrap="square" lIns="0" rIns="0" tIns="0" bIns="0" anchor="t">
            <a:noAutofit/>
          </a:bodyPr>
          <a:lstStyle/>
          <a:p>
            <a:pPr algn="l">
              <a:lnSpc>
                <a:spcPct val="100000"/>
              </a:lnSpc>
            </a:pPr>
            <a:r>
              <a:rPr sz="800" b="1">
                <a:solidFill>
                  <a:srgbClr val="6E8A76"/>
                </a:solidFill>
                <a:latin typeface="Arial"/>
              </a:rPr>
              <a:t>AT THE FRONT DOOR</a:t>
            </a:r>
          </a:p>
        </p:txBody>
      </p:sp>
      <p:sp>
        <p:nvSpPr>
          <p:cNvPr id="13" name="TextBox 12"/>
          <p:cNvSpPr txBox="1"/>
          <p:nvPr/>
        </p:nvSpPr>
        <p:spPr>
          <a:xfrm>
            <a:off x="2752344" y="2234328"/>
            <a:ext cx="1563624" cy="182880"/>
          </a:xfrm>
          <a:prstGeom prst="rect">
            <a:avLst/>
          </a:prstGeom>
          <a:noFill/>
        </p:spPr>
        <p:txBody>
          <a:bodyPr wrap="square" lIns="0" rIns="0" tIns="0" bIns="0" anchor="t">
            <a:noAutofit/>
          </a:bodyPr>
          <a:lstStyle/>
          <a:p>
            <a:pPr algn="l">
              <a:lnSpc>
                <a:spcPct val="96000"/>
              </a:lnSpc>
            </a:pPr>
            <a:r>
              <a:rPr sz="1050" b="0">
                <a:solidFill>
                  <a:srgbClr val="006838"/>
                </a:solidFill>
                <a:latin typeface="Arial Black"/>
              </a:rPr>
              <a:t>Registration is free</a:t>
            </a:r>
          </a:p>
        </p:txBody>
      </p:sp>
      <p:sp>
        <p:nvSpPr>
          <p:cNvPr id="14" name="TextBox 13"/>
          <p:cNvSpPr txBox="1"/>
          <p:nvPr/>
        </p:nvSpPr>
        <p:spPr>
          <a:xfrm>
            <a:off x="2752344" y="2417208"/>
            <a:ext cx="1563624" cy="916304"/>
          </a:xfrm>
          <a:prstGeom prst="rect">
            <a:avLst/>
          </a:prstGeom>
          <a:noFill/>
        </p:spPr>
        <p:txBody>
          <a:bodyPr wrap="square" lIns="0" rIns="0" tIns="0" bIns="0" anchor="t">
            <a:noAutofit/>
          </a:bodyPr>
          <a:lstStyle/>
          <a:p>
            <a:pPr algn="l">
              <a:lnSpc>
                <a:spcPct val="114000"/>
              </a:lnSpc>
            </a:pPr>
            <a:r>
              <a:rPr sz="850" b="0">
                <a:solidFill>
                  <a:srgbClr val="1F3326"/>
                </a:solidFill>
                <a:latin typeface="Arial"/>
              </a:rPr>
              <a:t>She registers with three fields and no purchase. The receipt comes later, and the pixel fires the moment she registers rather than waiting weeks for a receipt that may never arrive.</a:t>
            </a:r>
          </a:p>
        </p:txBody>
      </p:sp>
      <p:sp>
        <p:nvSpPr>
          <p:cNvPr id="15" name="Rectangle 14"/>
          <p:cNvSpPr/>
          <p:nvPr/>
        </p:nvSpPr>
        <p:spPr>
          <a:xfrm>
            <a:off x="4663440" y="1841136"/>
            <a:ext cx="1892808" cy="1812416"/>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6" name="Rectangle 15"/>
          <p:cNvSpPr/>
          <p:nvPr/>
        </p:nvSpPr>
        <p:spPr>
          <a:xfrm>
            <a:off x="4663440" y="1841136"/>
            <a:ext cx="1892808" cy="54864"/>
          </a:xfrm>
          <a:prstGeom prst="rect">
            <a:avLst/>
          </a:prstGeom>
          <a:solidFill>
            <a:srgbClr val="C51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7" name="TextBox 16"/>
          <p:cNvSpPr txBox="1"/>
          <p:nvPr/>
        </p:nvSpPr>
        <p:spPr>
          <a:xfrm>
            <a:off x="4828032" y="2024016"/>
            <a:ext cx="1563624" cy="182880"/>
          </a:xfrm>
          <a:prstGeom prst="rect">
            <a:avLst/>
          </a:prstGeom>
          <a:noFill/>
        </p:spPr>
        <p:txBody>
          <a:bodyPr wrap="square" lIns="0" rIns="0" tIns="0" bIns="0" anchor="t">
            <a:noAutofit/>
          </a:bodyPr>
          <a:lstStyle/>
          <a:p>
            <a:pPr algn="l">
              <a:lnSpc>
                <a:spcPct val="100000"/>
              </a:lnSpc>
            </a:pPr>
            <a:r>
              <a:rPr sz="800" b="1">
                <a:solidFill>
                  <a:srgbClr val="6E8A76"/>
                </a:solidFill>
                <a:latin typeface="Arial"/>
              </a:rPr>
              <a:t>ONE BOX FOR SEVEN DOORS</a:t>
            </a:r>
          </a:p>
        </p:txBody>
      </p:sp>
      <p:sp>
        <p:nvSpPr>
          <p:cNvPr id="18" name="TextBox 17"/>
          <p:cNvSpPr txBox="1"/>
          <p:nvPr/>
        </p:nvSpPr>
        <p:spPr>
          <a:xfrm>
            <a:off x="4828032" y="2234328"/>
            <a:ext cx="1563624" cy="182880"/>
          </a:xfrm>
          <a:prstGeom prst="rect">
            <a:avLst/>
          </a:prstGeom>
          <a:noFill/>
        </p:spPr>
        <p:txBody>
          <a:bodyPr wrap="square" lIns="0" rIns="0" tIns="0" bIns="0" anchor="t">
            <a:noAutofit/>
          </a:bodyPr>
          <a:lstStyle/>
          <a:p>
            <a:pPr algn="l">
              <a:lnSpc>
                <a:spcPct val="96000"/>
              </a:lnSpc>
            </a:pPr>
            <a:r>
              <a:rPr sz="1050" b="0">
                <a:solidFill>
                  <a:srgbClr val="006838"/>
                </a:solidFill>
                <a:latin typeface="Arial Black"/>
              </a:rPr>
              <a:t>Every code lands here</a:t>
            </a:r>
          </a:p>
        </p:txBody>
      </p:sp>
      <p:sp>
        <p:nvSpPr>
          <p:cNvPr id="19" name="TextBox 18"/>
          <p:cNvSpPr txBox="1"/>
          <p:nvPr/>
        </p:nvSpPr>
        <p:spPr>
          <a:xfrm>
            <a:off x="4828032" y="2417208"/>
            <a:ext cx="1563624" cy="793242"/>
          </a:xfrm>
          <a:prstGeom prst="rect">
            <a:avLst/>
          </a:prstGeom>
          <a:noFill/>
        </p:spPr>
        <p:txBody>
          <a:bodyPr wrap="square" lIns="0" rIns="0" tIns="0" bIns="0" anchor="t">
            <a:noAutofit/>
          </a:bodyPr>
          <a:lstStyle/>
          <a:p>
            <a:pPr algn="l">
              <a:lnSpc>
                <a:spcPct val="114000"/>
              </a:lnSpc>
            </a:pPr>
            <a:r>
              <a:rPr sz="850" b="0">
                <a:solidFill>
                  <a:srgbClr val="1F3326"/>
                </a:solidFill>
                <a:latin typeface="Arial"/>
              </a:rPr>
              <a:t>Roadshow, pack, POSM and broadcast codes all enter through the same field, and each keeps its own tag. One page, one database, one entry number to report against.</a:t>
            </a:r>
          </a:p>
        </p:txBody>
      </p:sp>
      <p:sp>
        <p:nvSpPr>
          <p:cNvPr id="20" name="Rectangle 19"/>
          <p:cNvSpPr/>
          <p:nvPr/>
        </p:nvSpPr>
        <p:spPr>
          <a:xfrm>
            <a:off x="6739128" y="1841136"/>
            <a:ext cx="1892808" cy="1812416"/>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1" name="Rectangle 20"/>
          <p:cNvSpPr/>
          <p:nvPr/>
        </p:nvSpPr>
        <p:spPr>
          <a:xfrm>
            <a:off x="6739128" y="1841136"/>
            <a:ext cx="1892808" cy="54864"/>
          </a:xfrm>
          <a:prstGeom prst="rect">
            <a:avLst/>
          </a:prstGeom>
          <a:solidFill>
            <a:srgbClr val="F8C8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2" name="TextBox 21"/>
          <p:cNvSpPr txBox="1"/>
          <p:nvPr/>
        </p:nvSpPr>
        <p:spPr>
          <a:xfrm>
            <a:off x="6903720" y="2024016"/>
            <a:ext cx="1563624" cy="182880"/>
          </a:xfrm>
          <a:prstGeom prst="rect">
            <a:avLst/>
          </a:prstGeom>
          <a:noFill/>
        </p:spPr>
        <p:txBody>
          <a:bodyPr wrap="square" lIns="0" rIns="0" tIns="0" bIns="0" anchor="t">
            <a:noAutofit/>
          </a:bodyPr>
          <a:lstStyle/>
          <a:p>
            <a:pPr algn="l">
              <a:lnSpc>
                <a:spcPct val="100000"/>
              </a:lnSpc>
            </a:pPr>
            <a:r>
              <a:rPr sz="800" b="1">
                <a:solidFill>
                  <a:srgbClr val="6E8A76"/>
                </a:solidFill>
                <a:latin typeface="Arial"/>
              </a:rPr>
              <a:t>ONE STATE AT A TIME</a:t>
            </a:r>
          </a:p>
        </p:txBody>
      </p:sp>
      <p:sp>
        <p:nvSpPr>
          <p:cNvPr id="23" name="TextBox 22"/>
          <p:cNvSpPr txBox="1"/>
          <p:nvPr/>
        </p:nvSpPr>
        <p:spPr>
          <a:xfrm>
            <a:off x="6903720" y="2234328"/>
            <a:ext cx="1563624" cy="310896"/>
          </a:xfrm>
          <a:prstGeom prst="rect">
            <a:avLst/>
          </a:prstGeom>
          <a:noFill/>
        </p:spPr>
        <p:txBody>
          <a:bodyPr wrap="square" lIns="0" rIns="0" tIns="0" bIns="0" anchor="t">
            <a:noAutofit/>
          </a:bodyPr>
          <a:lstStyle/>
          <a:p>
            <a:pPr algn="l">
              <a:lnSpc>
                <a:spcPct val="96000"/>
              </a:lnSpc>
            </a:pPr>
            <a:r>
              <a:rPr sz="1050" b="0">
                <a:solidFill>
                  <a:srgbClr val="006838"/>
                </a:solidFill>
                <a:latin typeface="Arial Black"/>
              </a:rPr>
              <a:t>Where you rank at home</a:t>
            </a:r>
          </a:p>
        </p:txBody>
      </p:sp>
      <p:sp>
        <p:nvSpPr>
          <p:cNvPr id="24" name="TextBox 23"/>
          <p:cNvSpPr txBox="1"/>
          <p:nvPr/>
        </p:nvSpPr>
        <p:spPr>
          <a:xfrm>
            <a:off x="6903720" y="2545224"/>
            <a:ext cx="1563624" cy="916304"/>
          </a:xfrm>
          <a:prstGeom prst="rect">
            <a:avLst/>
          </a:prstGeom>
          <a:noFill/>
        </p:spPr>
        <p:txBody>
          <a:bodyPr wrap="square" lIns="0" rIns="0" tIns="0" bIns="0" anchor="t">
            <a:noAutofit/>
          </a:bodyPr>
          <a:lstStyle/>
          <a:p>
            <a:pPr algn="l">
              <a:lnSpc>
                <a:spcPct val="114000"/>
              </a:lnSpc>
            </a:pPr>
            <a:r>
              <a:rPr sz="850" b="0">
                <a:solidFill>
                  <a:srgbClr val="1F3326"/>
                </a:solidFill>
                <a:latin typeface="Arial"/>
              </a:rPr>
              <a:t>The board shows her position in Kedah and the exact Mata gap to the person above her. Being 40 Mata off second place in your own state is a reason to buy one more bottle.</a:t>
            </a:r>
          </a:p>
        </p:txBody>
      </p:sp>
      <p:sp>
        <p:nvSpPr>
          <p:cNvPr id="25" name="Rectangle 24"/>
          <p:cNvSpPr/>
          <p:nvPr/>
        </p:nvSpPr>
        <p:spPr>
          <a:xfrm>
            <a:off x="438912" y="4443984"/>
            <a:ext cx="8266175" cy="402336"/>
          </a:xfrm>
          <a:prstGeom prst="rect">
            <a:avLst/>
          </a:prstGeom>
          <a:solidFill>
            <a:srgbClr val="052B1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6" name="TextBox 25"/>
          <p:cNvSpPr txBox="1"/>
          <p:nvPr/>
        </p:nvSpPr>
        <p:spPr>
          <a:xfrm>
            <a:off x="658368" y="4480560"/>
            <a:ext cx="7827264" cy="347472"/>
          </a:xfrm>
          <a:prstGeom prst="rect">
            <a:avLst/>
          </a:prstGeom>
          <a:noFill/>
        </p:spPr>
        <p:txBody>
          <a:bodyPr wrap="square" lIns="0" rIns="0" tIns="0" bIns="0" anchor="ctr">
            <a:noAutofit/>
          </a:bodyPr>
          <a:lstStyle/>
          <a:p>
            <a:pPr algn="l">
              <a:lnSpc>
                <a:spcPct val="100000"/>
              </a:lnSpc>
            </a:pPr>
            <a:r>
              <a:rPr sz="950" b="1">
                <a:solidFill>
                  <a:srgbClr val="F5EC2E"/>
                </a:solidFill>
                <a:latin typeface="Arial"/>
              </a:rPr>
              <a:t>Built and attached: </a:t>
            </a:r>
            <a:r>
              <a:rPr sz="950" b="0">
                <a:solidFill>
                  <a:srgbClr val="FFFFFF"/>
                </a:solidFill>
                <a:latin typeface="Arial"/>
              </a:rPr>
              <a:t>a working page ships with this proposal, with the wallet, the code box, the milestone ladder and the state board all live, so the client can use the real thing.</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6FAEC"/>
        </a:solidFill>
        <a:effectLst/>
      </p:bgPr>
    </p:bg>
    <p:spTree>
      <p:nvGrpSpPr>
        <p:cNvPr id="1" name=""/>
        <p:cNvGrpSpPr/>
        <p:nvPr/>
      </p:nvGrpSpPr>
      <p:grpSpPr/>
      <p:sp>
        <p:nvSpPr>
          <p:cNvPr id="2" name="Rectangle 1"/>
          <p:cNvSpPr/>
          <p:nvPr/>
        </p:nvSpPr>
        <p:spPr>
          <a:xfrm>
            <a:off x="512064" y="365760"/>
            <a:ext cx="219456" cy="73152"/>
          </a:xfrm>
          <a:prstGeom prst="rect">
            <a:avLst/>
          </a:prstGeom>
          <a:solidFill>
            <a:srgbClr val="C51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 name="TextBox 2"/>
          <p:cNvSpPr txBox="1"/>
          <p:nvPr/>
        </p:nvSpPr>
        <p:spPr>
          <a:xfrm>
            <a:off x="512064" y="566928"/>
            <a:ext cx="8119872" cy="475488"/>
          </a:xfrm>
          <a:prstGeom prst="rect">
            <a:avLst/>
          </a:prstGeom>
          <a:noFill/>
        </p:spPr>
        <p:txBody>
          <a:bodyPr wrap="square" lIns="0" rIns="0" tIns="0" bIns="0" anchor="t">
            <a:noAutofit/>
          </a:bodyPr>
          <a:lstStyle/>
          <a:p>
            <a:pPr algn="l">
              <a:lnSpc>
                <a:spcPct val="96000"/>
              </a:lnSpc>
            </a:pPr>
            <a:r>
              <a:rPr sz="2400" b="0">
                <a:solidFill>
                  <a:srgbClr val="006838"/>
                </a:solidFill>
                <a:latin typeface="Arial Black"/>
              </a:rPr>
              <a:t>Four hundred conversions a week will not train the algorithm.</a:t>
            </a:r>
          </a:p>
        </p:txBody>
      </p:sp>
      <p:sp>
        <p:nvSpPr>
          <p:cNvPr id="4" name="TextBox 3"/>
          <p:cNvSpPr txBox="1"/>
          <p:nvPr/>
        </p:nvSpPr>
        <p:spPr>
          <a:xfrm>
            <a:off x="512064" y="1060704"/>
            <a:ext cx="8119872" cy="365760"/>
          </a:xfrm>
          <a:prstGeom prst="rect">
            <a:avLst/>
          </a:prstGeom>
          <a:noFill/>
        </p:spPr>
        <p:txBody>
          <a:bodyPr wrap="square" lIns="0" rIns="0" tIns="0" bIns="0" anchor="t">
            <a:noAutofit/>
          </a:bodyPr>
          <a:lstStyle/>
          <a:p>
            <a:pPr algn="l">
              <a:lnSpc>
                <a:spcPct val="112000"/>
              </a:lnSpc>
            </a:pPr>
            <a:r>
              <a:rPr sz="1100" b="0">
                <a:solidFill>
                  <a:srgbClr val="6E8A76"/>
                </a:solidFill>
                <a:latin typeface="Arial"/>
              </a:rPr>
              <a:t>This is the technical reason rev2's own plan would have underperformed its own numbers, and fixing it costs nothing.</a:t>
            </a:r>
          </a:p>
        </p:txBody>
      </p:sp>
      <p:sp>
        <p:nvSpPr>
          <p:cNvPr id="5" name="Rectangle 4"/>
          <p:cNvSpPr/>
          <p:nvPr/>
        </p:nvSpPr>
        <p:spPr>
          <a:xfrm>
            <a:off x="512064" y="1866397"/>
            <a:ext cx="2584704" cy="1738121"/>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Rectangle 5"/>
          <p:cNvSpPr/>
          <p:nvPr/>
        </p:nvSpPr>
        <p:spPr>
          <a:xfrm>
            <a:off x="512064" y="1866397"/>
            <a:ext cx="2584704" cy="54864"/>
          </a:xfrm>
          <a:prstGeom prst="rect">
            <a:avLst/>
          </a:prstGeom>
          <a:solidFill>
            <a:srgbClr val="C51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7" name="TextBox 6"/>
          <p:cNvSpPr txBox="1"/>
          <p:nvPr/>
        </p:nvSpPr>
        <p:spPr>
          <a:xfrm>
            <a:off x="676656" y="2049277"/>
            <a:ext cx="2255520" cy="182880"/>
          </a:xfrm>
          <a:prstGeom prst="rect">
            <a:avLst/>
          </a:prstGeom>
          <a:noFill/>
        </p:spPr>
        <p:txBody>
          <a:bodyPr wrap="square" lIns="0" rIns="0" tIns="0" bIns="0" anchor="t">
            <a:noAutofit/>
          </a:bodyPr>
          <a:lstStyle/>
          <a:p>
            <a:pPr algn="l">
              <a:lnSpc>
                <a:spcPct val="100000"/>
              </a:lnSpc>
            </a:pPr>
            <a:r>
              <a:rPr sz="800" b="1">
                <a:solidFill>
                  <a:srgbClr val="6E8A76"/>
                </a:solidFill>
                <a:latin typeface="Arial"/>
              </a:rPr>
              <a:t>THE ARITHMETIC</a:t>
            </a:r>
          </a:p>
        </p:txBody>
      </p:sp>
      <p:sp>
        <p:nvSpPr>
          <p:cNvPr id="8" name="TextBox 7"/>
          <p:cNvSpPr txBox="1"/>
          <p:nvPr/>
        </p:nvSpPr>
        <p:spPr>
          <a:xfrm>
            <a:off x="676656" y="2259589"/>
            <a:ext cx="2255520" cy="359664"/>
          </a:xfrm>
          <a:prstGeom prst="rect">
            <a:avLst/>
          </a:prstGeom>
          <a:noFill/>
        </p:spPr>
        <p:txBody>
          <a:bodyPr wrap="square" lIns="0" rIns="0" tIns="0" bIns="0" anchor="t">
            <a:noAutofit/>
          </a:bodyPr>
          <a:lstStyle/>
          <a:p>
            <a:pPr algn="l">
              <a:lnSpc>
                <a:spcPct val="96000"/>
              </a:lnSpc>
            </a:pPr>
            <a:r>
              <a:rPr sz="1250" b="0">
                <a:solidFill>
                  <a:srgbClr val="006838"/>
                </a:solidFill>
                <a:latin typeface="Arial Black"/>
              </a:rPr>
              <a:t>The threshold nobody checked</a:t>
            </a:r>
          </a:p>
        </p:txBody>
      </p:sp>
      <p:sp>
        <p:nvSpPr>
          <p:cNvPr id="9" name="TextBox 8"/>
          <p:cNvSpPr txBox="1"/>
          <p:nvPr/>
        </p:nvSpPr>
        <p:spPr>
          <a:xfrm>
            <a:off x="676656" y="2619253"/>
            <a:ext cx="2255520" cy="793242"/>
          </a:xfrm>
          <a:prstGeom prst="rect">
            <a:avLst/>
          </a:prstGeom>
          <a:noFill/>
        </p:spPr>
        <p:txBody>
          <a:bodyPr wrap="square" lIns="0" rIns="0" tIns="0" bIns="0" anchor="t">
            <a:noAutofit/>
          </a:bodyPr>
          <a:lstStyle/>
          <a:p>
            <a:pPr algn="l">
              <a:lnSpc>
                <a:spcPct val="114000"/>
              </a:lnSpc>
            </a:pPr>
            <a:r>
              <a:rPr sz="850" b="0">
                <a:solidFill>
                  <a:srgbClr val="1F3326"/>
                </a:solidFill>
                <a:latin typeface="Arial"/>
              </a:rPr>
              <a:t>4,000 entries over ten weeks is 400 a week. Split across two geo campaigns on two platforms and several ad sets each, most ad sets land under the roughly 50 weekly events Meta needs to leave the learning phase.</a:t>
            </a:r>
          </a:p>
        </p:txBody>
      </p:sp>
      <p:sp>
        <p:nvSpPr>
          <p:cNvPr id="10" name="Rectangle 9"/>
          <p:cNvSpPr/>
          <p:nvPr/>
        </p:nvSpPr>
        <p:spPr>
          <a:xfrm>
            <a:off x="3279648" y="1866397"/>
            <a:ext cx="2584704" cy="1738121"/>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1" name="Rectangle 10"/>
          <p:cNvSpPr/>
          <p:nvPr/>
        </p:nvSpPr>
        <p:spPr>
          <a:xfrm>
            <a:off x="3279648" y="1866397"/>
            <a:ext cx="2584704" cy="54864"/>
          </a:xfrm>
          <a:prstGeom prst="rect">
            <a:avLst/>
          </a:prstGeom>
          <a:solidFill>
            <a:srgbClr val="E891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2" name="TextBox 11"/>
          <p:cNvSpPr txBox="1"/>
          <p:nvPr/>
        </p:nvSpPr>
        <p:spPr>
          <a:xfrm>
            <a:off x="3444240" y="2049277"/>
            <a:ext cx="2255520" cy="182880"/>
          </a:xfrm>
          <a:prstGeom prst="rect">
            <a:avLst/>
          </a:prstGeom>
          <a:noFill/>
        </p:spPr>
        <p:txBody>
          <a:bodyPr wrap="square" lIns="0" rIns="0" tIns="0" bIns="0" anchor="t">
            <a:noAutofit/>
          </a:bodyPr>
          <a:lstStyle/>
          <a:p>
            <a:pPr algn="l">
              <a:lnSpc>
                <a:spcPct val="100000"/>
              </a:lnSpc>
            </a:pPr>
            <a:r>
              <a:rPr sz="800" b="1">
                <a:solidFill>
                  <a:srgbClr val="6E8A76"/>
                </a:solidFill>
                <a:latin typeface="Arial"/>
              </a:rPr>
              <a:t>WHAT IT COSTS</a:t>
            </a:r>
          </a:p>
        </p:txBody>
      </p:sp>
      <p:sp>
        <p:nvSpPr>
          <p:cNvPr id="13" name="TextBox 12"/>
          <p:cNvSpPr txBox="1"/>
          <p:nvPr/>
        </p:nvSpPr>
        <p:spPr>
          <a:xfrm>
            <a:off x="3444240" y="2259589"/>
            <a:ext cx="2255520" cy="207264"/>
          </a:xfrm>
          <a:prstGeom prst="rect">
            <a:avLst/>
          </a:prstGeom>
          <a:noFill/>
        </p:spPr>
        <p:txBody>
          <a:bodyPr wrap="square" lIns="0" rIns="0" tIns="0" bIns="0" anchor="t">
            <a:noAutofit/>
          </a:bodyPr>
          <a:lstStyle/>
          <a:p>
            <a:pPr algn="l">
              <a:lnSpc>
                <a:spcPct val="96000"/>
              </a:lnSpc>
            </a:pPr>
            <a:r>
              <a:rPr sz="1250" b="0">
                <a:solidFill>
                  <a:srgbClr val="006838"/>
                </a:solidFill>
                <a:latin typeface="Arial Black"/>
              </a:rPr>
              <a:t>Ten weeks of guessing</a:t>
            </a:r>
          </a:p>
        </p:txBody>
      </p:sp>
      <p:sp>
        <p:nvSpPr>
          <p:cNvPr id="14" name="TextBox 13"/>
          <p:cNvSpPr txBox="1"/>
          <p:nvPr/>
        </p:nvSpPr>
        <p:spPr>
          <a:xfrm>
            <a:off x="3444240" y="2466853"/>
            <a:ext cx="2255520" cy="670179"/>
          </a:xfrm>
          <a:prstGeom prst="rect">
            <a:avLst/>
          </a:prstGeom>
          <a:noFill/>
        </p:spPr>
        <p:txBody>
          <a:bodyPr wrap="square" lIns="0" rIns="0" tIns="0" bIns="0" anchor="t">
            <a:noAutofit/>
          </a:bodyPr>
          <a:lstStyle/>
          <a:p>
            <a:pPr algn="l">
              <a:lnSpc>
                <a:spcPct val="114000"/>
              </a:lnSpc>
            </a:pPr>
            <a:r>
              <a:rPr sz="850" b="0">
                <a:solidFill>
                  <a:srgbClr val="1F3326"/>
                </a:solidFill>
                <a:latin typeface="Arial"/>
              </a:rPr>
              <a:t>An ad set stuck in learning keeps exploring instead of exploiting. The buy pays discovery prices for the entire campaign and never settles onto the audience that converts.</a:t>
            </a:r>
          </a:p>
        </p:txBody>
      </p:sp>
      <p:sp>
        <p:nvSpPr>
          <p:cNvPr id="15" name="Rectangle 14"/>
          <p:cNvSpPr/>
          <p:nvPr/>
        </p:nvSpPr>
        <p:spPr>
          <a:xfrm>
            <a:off x="6047232" y="1866397"/>
            <a:ext cx="2584704" cy="1738121"/>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6" name="Rectangle 15"/>
          <p:cNvSpPr/>
          <p:nvPr/>
        </p:nvSpPr>
        <p:spPr>
          <a:xfrm>
            <a:off x="6047232" y="1866397"/>
            <a:ext cx="2584704" cy="54864"/>
          </a:xfrm>
          <a:prstGeom prst="rect">
            <a:avLst/>
          </a:prstGeom>
          <a:solidFill>
            <a:srgbClr val="00A65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7" name="TextBox 16"/>
          <p:cNvSpPr txBox="1"/>
          <p:nvPr/>
        </p:nvSpPr>
        <p:spPr>
          <a:xfrm>
            <a:off x="6211824" y="2049277"/>
            <a:ext cx="2255520" cy="182880"/>
          </a:xfrm>
          <a:prstGeom prst="rect">
            <a:avLst/>
          </a:prstGeom>
          <a:noFill/>
        </p:spPr>
        <p:txBody>
          <a:bodyPr wrap="square" lIns="0" rIns="0" tIns="0" bIns="0" anchor="t">
            <a:noAutofit/>
          </a:bodyPr>
          <a:lstStyle/>
          <a:p>
            <a:pPr algn="l">
              <a:lnSpc>
                <a:spcPct val="100000"/>
              </a:lnSpc>
            </a:pPr>
            <a:r>
              <a:rPr sz="800" b="1">
                <a:solidFill>
                  <a:srgbClr val="6E8A76"/>
                </a:solidFill>
                <a:latin typeface="Arial"/>
              </a:rPr>
              <a:t>THE FIX</a:t>
            </a:r>
          </a:p>
        </p:txBody>
      </p:sp>
      <p:sp>
        <p:nvSpPr>
          <p:cNvPr id="18" name="TextBox 17"/>
          <p:cNvSpPr txBox="1"/>
          <p:nvPr/>
        </p:nvSpPr>
        <p:spPr>
          <a:xfrm>
            <a:off x="6211824" y="2259589"/>
            <a:ext cx="2255520" cy="207264"/>
          </a:xfrm>
          <a:prstGeom prst="rect">
            <a:avLst/>
          </a:prstGeom>
          <a:noFill/>
        </p:spPr>
        <p:txBody>
          <a:bodyPr wrap="square" lIns="0" rIns="0" tIns="0" bIns="0" anchor="t">
            <a:noAutofit/>
          </a:bodyPr>
          <a:lstStyle/>
          <a:p>
            <a:pPr algn="l">
              <a:lnSpc>
                <a:spcPct val="96000"/>
              </a:lnSpc>
            </a:pPr>
            <a:r>
              <a:rPr sz="1250" b="0">
                <a:solidFill>
                  <a:srgbClr val="006838"/>
                </a:solidFill>
                <a:latin typeface="Arial Black"/>
              </a:rPr>
              <a:t>Optimize one step earlier</a:t>
            </a:r>
          </a:p>
        </p:txBody>
      </p:sp>
      <p:sp>
        <p:nvSpPr>
          <p:cNvPr id="19" name="TextBox 18"/>
          <p:cNvSpPr txBox="1"/>
          <p:nvPr/>
        </p:nvSpPr>
        <p:spPr>
          <a:xfrm>
            <a:off x="6211824" y="2466853"/>
            <a:ext cx="2255520" cy="670179"/>
          </a:xfrm>
          <a:prstGeom prst="rect">
            <a:avLst/>
          </a:prstGeom>
          <a:noFill/>
        </p:spPr>
        <p:txBody>
          <a:bodyPr wrap="square" lIns="0" rIns="0" tIns="0" bIns="0" anchor="t">
            <a:noAutofit/>
          </a:bodyPr>
          <a:lstStyle/>
          <a:p>
            <a:pPr algn="l">
              <a:lnSpc>
                <a:spcPct val="114000"/>
              </a:lnSpc>
            </a:pPr>
            <a:r>
              <a:rPr sz="850" b="0">
                <a:solidFill>
                  <a:srgbClr val="1F3326"/>
                </a:solidFill>
                <a:latin typeface="Arial"/>
              </a:rPr>
              <a:t>Point the buy at registration, which the plan puts at roughly 12,000 events or 1,200 a week. Every ad set clears the threshold, and the receipt stays the outcome we report on.</a:t>
            </a:r>
          </a:p>
        </p:txBody>
      </p:sp>
      <p:sp>
        <p:nvSpPr>
          <p:cNvPr id="20" name="Rectangle 19"/>
          <p:cNvSpPr/>
          <p:nvPr/>
        </p:nvSpPr>
        <p:spPr>
          <a:xfrm>
            <a:off x="438912" y="4443984"/>
            <a:ext cx="8266175" cy="402336"/>
          </a:xfrm>
          <a:prstGeom prst="rect">
            <a:avLst/>
          </a:prstGeom>
          <a:solidFill>
            <a:srgbClr val="052B1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1" name="TextBox 20"/>
          <p:cNvSpPr txBox="1"/>
          <p:nvPr/>
        </p:nvSpPr>
        <p:spPr>
          <a:xfrm>
            <a:off x="658368" y="4480560"/>
            <a:ext cx="7827264" cy="347472"/>
          </a:xfrm>
          <a:prstGeom prst="rect">
            <a:avLst/>
          </a:prstGeom>
          <a:noFill/>
        </p:spPr>
        <p:txBody>
          <a:bodyPr wrap="square" lIns="0" rIns="0" tIns="0" bIns="0" anchor="ctr">
            <a:noAutofit/>
          </a:bodyPr>
          <a:lstStyle/>
          <a:p>
            <a:pPr algn="l">
              <a:lnSpc>
                <a:spcPct val="100000"/>
              </a:lnSpc>
            </a:pPr>
            <a:r>
              <a:rPr sz="950" b="1">
                <a:solidFill>
                  <a:srgbClr val="F5EC2E"/>
                </a:solidFill>
                <a:latin typeface="Arial"/>
              </a:rPr>
              <a:t>Why this belongs in a proposal: </a:t>
            </a:r>
            <a:r>
              <a:rPr sz="950" b="0">
                <a:solidFill>
                  <a:srgbClr val="FFFFFF"/>
                </a:solidFill>
                <a:latin typeface="Arial"/>
              </a:rPr>
              <a:t>it separates a conversion campaign that learns from one that spends ten weeks guessing, and the only thing it changes is which event the pixel counts.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52B18"/>
        </a:solidFill>
        <a:effectLst/>
      </p:bgPr>
    </p:bg>
    <p:spTree>
      <p:nvGrpSpPr>
        <p:cNvPr id="1" name=""/>
        <p:cNvGrpSpPr/>
        <p:nvPr/>
      </p:nvGrpSpPr>
      <p:grpSpPr/>
      <p:sp>
        <p:nvSpPr>
          <p:cNvPr id="2" name="Rectangle 1"/>
          <p:cNvSpPr/>
          <p:nvPr/>
        </p:nvSpPr>
        <p:spPr>
          <a:xfrm>
            <a:off x="0" y="0"/>
            <a:ext cx="128016" cy="5143500"/>
          </a:xfrm>
          <a:prstGeom prst="rect">
            <a:avLst/>
          </a:prstGeom>
          <a:solidFill>
            <a:srgbClr val="C51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 name="TextBox 2"/>
          <p:cNvSpPr txBox="1"/>
          <p:nvPr/>
        </p:nvSpPr>
        <p:spPr>
          <a:xfrm>
            <a:off x="640080" y="1554480"/>
            <a:ext cx="3657600" cy="365760"/>
          </a:xfrm>
          <a:prstGeom prst="rect">
            <a:avLst/>
          </a:prstGeom>
          <a:noFill/>
        </p:spPr>
        <p:txBody>
          <a:bodyPr wrap="square" lIns="0" rIns="0" tIns="0" bIns="0" anchor="t">
            <a:noAutofit/>
          </a:bodyPr>
          <a:lstStyle/>
          <a:p>
            <a:pPr algn="l">
              <a:lnSpc>
                <a:spcPct val="92000"/>
              </a:lnSpc>
            </a:pPr>
            <a:r>
              <a:rPr sz="2100" b="0">
                <a:solidFill>
                  <a:srgbClr val="FFFFFF"/>
                </a:solidFill>
                <a:latin typeface="Arial Black"/>
              </a:rPr>
              <a:t>04.</a:t>
            </a:r>
          </a:p>
        </p:txBody>
      </p:sp>
      <p:sp>
        <p:nvSpPr>
          <p:cNvPr id="4" name="TextBox 3"/>
          <p:cNvSpPr txBox="1"/>
          <p:nvPr/>
        </p:nvSpPr>
        <p:spPr>
          <a:xfrm>
            <a:off x="640080" y="2121408"/>
            <a:ext cx="6949440" cy="822960"/>
          </a:xfrm>
          <a:prstGeom prst="rect">
            <a:avLst/>
          </a:prstGeom>
          <a:noFill/>
        </p:spPr>
        <p:txBody>
          <a:bodyPr wrap="square" lIns="0" rIns="0" tIns="0" bIns="0" anchor="t">
            <a:noAutofit/>
          </a:bodyPr>
          <a:lstStyle/>
          <a:p>
            <a:pPr algn="l">
              <a:lnSpc>
                <a:spcPct val="94000"/>
              </a:lnSpc>
            </a:pPr>
            <a:r>
              <a:rPr sz="3800" b="0">
                <a:solidFill>
                  <a:srgbClr val="FFFFFF"/>
                </a:solidFill>
                <a:latin typeface="Arial Black"/>
              </a:rPr>
              <a:t>The media plan</a:t>
            </a:r>
          </a:p>
        </p:txBody>
      </p:sp>
      <p:sp>
        <p:nvSpPr>
          <p:cNvPr id="5" name="TextBox 4"/>
          <p:cNvSpPr txBox="1"/>
          <p:nvPr/>
        </p:nvSpPr>
        <p:spPr>
          <a:xfrm>
            <a:off x="640080" y="3063240"/>
            <a:ext cx="7863840" cy="822960"/>
          </a:xfrm>
          <a:prstGeom prst="rect">
            <a:avLst/>
          </a:prstGeom>
          <a:noFill/>
        </p:spPr>
        <p:txBody>
          <a:bodyPr wrap="square" lIns="0" rIns="0" tIns="0" bIns="0" anchor="t">
            <a:noAutofit/>
          </a:bodyPr>
          <a:lstStyle/>
          <a:p>
            <a:pPr algn="l">
              <a:lnSpc>
                <a:spcPct val="118000"/>
              </a:lnSpc>
            </a:pPr>
            <a:r>
              <a:rPr sz="1500" b="0">
                <a:solidFill>
                  <a:srgbClr val="F8C84A"/>
                </a:solidFill>
                <a:latin typeface="Arial"/>
              </a:rPr>
              <a:t>What we plan on and where each number came from, what RM145,000 delivers against the brief, and which of it is measured rather than argued.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6FAEC"/>
        </a:solidFill>
        <a:effectLst/>
      </p:bgPr>
    </p:bg>
    <p:spTree>
      <p:nvGrpSpPr>
        <p:cNvPr id="1" name=""/>
        <p:cNvGrpSpPr/>
        <p:nvPr/>
      </p:nvGrpSpPr>
      <p:grpSpPr/>
      <p:sp>
        <p:nvSpPr>
          <p:cNvPr id="2" name="Rectangle 1"/>
          <p:cNvSpPr/>
          <p:nvPr/>
        </p:nvSpPr>
        <p:spPr>
          <a:xfrm>
            <a:off x="512064" y="365760"/>
            <a:ext cx="219456" cy="73152"/>
          </a:xfrm>
          <a:prstGeom prst="rect">
            <a:avLst/>
          </a:prstGeom>
          <a:solidFill>
            <a:srgbClr val="C51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 name="TextBox 2"/>
          <p:cNvSpPr txBox="1"/>
          <p:nvPr/>
        </p:nvSpPr>
        <p:spPr>
          <a:xfrm>
            <a:off x="512064" y="566928"/>
            <a:ext cx="8119872" cy="475488"/>
          </a:xfrm>
          <a:prstGeom prst="rect">
            <a:avLst/>
          </a:prstGeom>
          <a:noFill/>
        </p:spPr>
        <p:txBody>
          <a:bodyPr wrap="square" lIns="0" rIns="0" tIns="0" bIns="0" anchor="t">
            <a:noAutofit/>
          </a:bodyPr>
          <a:lstStyle/>
          <a:p>
            <a:pPr algn="l">
              <a:lnSpc>
                <a:spcPct val="96000"/>
              </a:lnSpc>
            </a:pPr>
            <a:r>
              <a:rPr sz="2400" b="0">
                <a:solidFill>
                  <a:srgbClr val="006838"/>
                </a:solidFill>
                <a:latin typeface="Arial Black"/>
              </a:rPr>
              <a:t>Every number we plan on, and where it came from.</a:t>
            </a:r>
          </a:p>
        </p:txBody>
      </p:sp>
      <p:sp>
        <p:nvSpPr>
          <p:cNvPr id="4" name="TextBox 3"/>
          <p:cNvSpPr txBox="1"/>
          <p:nvPr/>
        </p:nvSpPr>
        <p:spPr>
          <a:xfrm>
            <a:off x="512064" y="1060704"/>
            <a:ext cx="8119872" cy="365760"/>
          </a:xfrm>
          <a:prstGeom prst="rect">
            <a:avLst/>
          </a:prstGeom>
          <a:noFill/>
        </p:spPr>
        <p:txBody>
          <a:bodyPr wrap="square" lIns="0" rIns="0" tIns="0" bIns="0" anchor="t">
            <a:noAutofit/>
          </a:bodyPr>
          <a:lstStyle/>
          <a:p>
            <a:pPr algn="l">
              <a:lnSpc>
                <a:spcPct val="112000"/>
              </a:lnSpc>
            </a:pPr>
            <a:r>
              <a:rPr sz="1100" b="0">
                <a:solidFill>
                  <a:srgbClr val="6E8A76"/>
                </a:solidFill>
                <a:latin typeface="Arial"/>
              </a:rPr>
              <a:t>Half of this is derived from Saji's own 2025 per platform delivery. Half is a planning assumption, because neither past deck contains a single spend figure. You should know which is which before you defend it.</a:t>
            </a:r>
          </a:p>
        </p:txBody>
      </p:sp>
      <p:sp>
        <p:nvSpPr>
          <p:cNvPr id="5" name="Rectangle 4"/>
          <p:cNvSpPr/>
          <p:nvPr/>
        </p:nvSpPr>
        <p:spPr>
          <a:xfrm>
            <a:off x="512064" y="1685300"/>
            <a:ext cx="8119872" cy="274320"/>
          </a:xfrm>
          <a:prstGeom prst="rect">
            <a:avLst/>
          </a:prstGeom>
          <a:solidFill>
            <a:srgbClr val="0068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TextBox 5"/>
          <p:cNvSpPr txBox="1"/>
          <p:nvPr/>
        </p:nvSpPr>
        <p:spPr>
          <a:xfrm>
            <a:off x="603504" y="1740164"/>
            <a:ext cx="530352" cy="182880"/>
          </a:xfrm>
          <a:prstGeom prst="rect">
            <a:avLst/>
          </a:prstGeom>
          <a:noFill/>
        </p:spPr>
        <p:txBody>
          <a:bodyPr wrap="square" lIns="0" rIns="0" tIns="0" bIns="0" anchor="t">
            <a:noAutofit/>
          </a:bodyPr>
          <a:lstStyle/>
          <a:p>
            <a:pPr algn="l">
              <a:lnSpc>
                <a:spcPct val="100000"/>
              </a:lnSpc>
            </a:pPr>
            <a:r>
              <a:rPr sz="660" b="1">
                <a:solidFill>
                  <a:srgbClr val="FFFFFF"/>
                </a:solidFill>
                <a:latin typeface="Arial"/>
              </a:rPr>
              <a:t>LINE</a:t>
            </a:r>
          </a:p>
        </p:txBody>
      </p:sp>
      <p:sp>
        <p:nvSpPr>
          <p:cNvPr id="7" name="TextBox 6"/>
          <p:cNvSpPr txBox="1"/>
          <p:nvPr/>
        </p:nvSpPr>
        <p:spPr>
          <a:xfrm>
            <a:off x="1261872" y="1740164"/>
            <a:ext cx="603504" cy="182880"/>
          </a:xfrm>
          <a:prstGeom prst="rect">
            <a:avLst/>
          </a:prstGeom>
          <a:noFill/>
        </p:spPr>
        <p:txBody>
          <a:bodyPr wrap="square" lIns="0" rIns="0" tIns="0" bIns="0" anchor="t">
            <a:noAutofit/>
          </a:bodyPr>
          <a:lstStyle/>
          <a:p>
            <a:pPr algn="l">
              <a:lnSpc>
                <a:spcPct val="100000"/>
              </a:lnSpc>
            </a:pPr>
            <a:r>
              <a:rPr sz="660" b="1">
                <a:solidFill>
                  <a:srgbClr val="FFFFFF"/>
                </a:solidFill>
                <a:latin typeface="Arial"/>
              </a:rPr>
              <a:t>PLATFORM</a:t>
            </a:r>
          </a:p>
        </p:txBody>
      </p:sp>
      <p:sp>
        <p:nvSpPr>
          <p:cNvPr id="8" name="TextBox 7"/>
          <p:cNvSpPr txBox="1"/>
          <p:nvPr/>
        </p:nvSpPr>
        <p:spPr>
          <a:xfrm>
            <a:off x="1993392" y="1740164"/>
            <a:ext cx="1042416" cy="182880"/>
          </a:xfrm>
          <a:prstGeom prst="rect">
            <a:avLst/>
          </a:prstGeom>
          <a:noFill/>
        </p:spPr>
        <p:txBody>
          <a:bodyPr wrap="square" lIns="0" rIns="0" tIns="0" bIns="0" anchor="t">
            <a:noAutofit/>
          </a:bodyPr>
          <a:lstStyle/>
          <a:p>
            <a:pPr algn="l">
              <a:lnSpc>
                <a:spcPct val="100000"/>
              </a:lnSpc>
            </a:pPr>
            <a:r>
              <a:rPr sz="660" b="1">
                <a:solidFill>
                  <a:srgbClr val="FFFFFF"/>
                </a:solidFill>
                <a:latin typeface="Arial"/>
              </a:rPr>
              <a:t>OBJECTIVE</a:t>
            </a:r>
          </a:p>
        </p:txBody>
      </p:sp>
      <p:sp>
        <p:nvSpPr>
          <p:cNvPr id="9" name="TextBox 8"/>
          <p:cNvSpPr txBox="1"/>
          <p:nvPr/>
        </p:nvSpPr>
        <p:spPr>
          <a:xfrm>
            <a:off x="3163824" y="1740164"/>
            <a:ext cx="585216" cy="182880"/>
          </a:xfrm>
          <a:prstGeom prst="rect">
            <a:avLst/>
          </a:prstGeom>
          <a:noFill/>
        </p:spPr>
        <p:txBody>
          <a:bodyPr wrap="square" lIns="0" rIns="0" tIns="0" bIns="0" anchor="t">
            <a:noAutofit/>
          </a:bodyPr>
          <a:lstStyle/>
          <a:p>
            <a:pPr algn="l">
              <a:lnSpc>
                <a:spcPct val="100000"/>
              </a:lnSpc>
            </a:pPr>
            <a:r>
              <a:rPr sz="660" b="1">
                <a:solidFill>
                  <a:srgbClr val="FFFFFF"/>
                </a:solidFill>
                <a:latin typeface="Arial"/>
              </a:rPr>
              <a:t>CPM</a:t>
            </a:r>
          </a:p>
        </p:txBody>
      </p:sp>
      <p:sp>
        <p:nvSpPr>
          <p:cNvPr id="10" name="TextBox 9"/>
          <p:cNvSpPr txBox="1"/>
          <p:nvPr/>
        </p:nvSpPr>
        <p:spPr>
          <a:xfrm>
            <a:off x="3877056" y="1740164"/>
            <a:ext cx="384048" cy="182880"/>
          </a:xfrm>
          <a:prstGeom prst="rect">
            <a:avLst/>
          </a:prstGeom>
          <a:noFill/>
        </p:spPr>
        <p:txBody>
          <a:bodyPr wrap="square" lIns="0" rIns="0" tIns="0" bIns="0" anchor="t">
            <a:noAutofit/>
          </a:bodyPr>
          <a:lstStyle/>
          <a:p>
            <a:pPr algn="l">
              <a:lnSpc>
                <a:spcPct val="100000"/>
              </a:lnSpc>
            </a:pPr>
            <a:r>
              <a:rPr sz="660" b="1">
                <a:solidFill>
                  <a:srgbClr val="FFFFFF"/>
                </a:solidFill>
                <a:latin typeface="Arial"/>
              </a:rPr>
              <a:t>FREQ</a:t>
            </a:r>
          </a:p>
        </p:txBody>
      </p:sp>
      <p:sp>
        <p:nvSpPr>
          <p:cNvPr id="11" name="TextBox 10"/>
          <p:cNvSpPr txBox="1"/>
          <p:nvPr/>
        </p:nvSpPr>
        <p:spPr>
          <a:xfrm>
            <a:off x="4389120" y="1740164"/>
            <a:ext cx="658368" cy="182880"/>
          </a:xfrm>
          <a:prstGeom prst="rect">
            <a:avLst/>
          </a:prstGeom>
          <a:noFill/>
        </p:spPr>
        <p:txBody>
          <a:bodyPr wrap="square" lIns="0" rIns="0" tIns="0" bIns="0" anchor="t">
            <a:noAutofit/>
          </a:bodyPr>
          <a:lstStyle/>
          <a:p>
            <a:pPr algn="l">
              <a:lnSpc>
                <a:spcPct val="100000"/>
              </a:lnSpc>
            </a:pPr>
            <a:r>
              <a:rPr sz="660" b="1">
                <a:solidFill>
                  <a:srgbClr val="FFFFFF"/>
                </a:solidFill>
                <a:latin typeface="Arial"/>
              </a:rPr>
              <a:t>VIEW RATE</a:t>
            </a:r>
          </a:p>
        </p:txBody>
      </p:sp>
      <p:sp>
        <p:nvSpPr>
          <p:cNvPr id="12" name="TextBox 11"/>
          <p:cNvSpPr txBox="1"/>
          <p:nvPr/>
        </p:nvSpPr>
        <p:spPr>
          <a:xfrm>
            <a:off x="5175504" y="1740164"/>
            <a:ext cx="932688" cy="182880"/>
          </a:xfrm>
          <a:prstGeom prst="rect">
            <a:avLst/>
          </a:prstGeom>
          <a:noFill/>
        </p:spPr>
        <p:txBody>
          <a:bodyPr wrap="square" lIns="0" rIns="0" tIns="0" bIns="0" anchor="t">
            <a:noAutofit/>
          </a:bodyPr>
          <a:lstStyle/>
          <a:p>
            <a:pPr algn="l">
              <a:lnSpc>
                <a:spcPct val="100000"/>
              </a:lnSpc>
            </a:pPr>
            <a:r>
              <a:rPr sz="660" b="1">
                <a:solidFill>
                  <a:srgbClr val="FFFFFF"/>
                </a:solidFill>
                <a:latin typeface="Arial"/>
              </a:rPr>
              <a:t>PER VIEW / CPC</a:t>
            </a:r>
          </a:p>
        </p:txBody>
      </p:sp>
      <p:sp>
        <p:nvSpPr>
          <p:cNvPr id="13" name="TextBox 12"/>
          <p:cNvSpPr txBox="1"/>
          <p:nvPr/>
        </p:nvSpPr>
        <p:spPr>
          <a:xfrm>
            <a:off x="6236208" y="1740164"/>
            <a:ext cx="2359152" cy="182880"/>
          </a:xfrm>
          <a:prstGeom prst="rect">
            <a:avLst/>
          </a:prstGeom>
          <a:noFill/>
        </p:spPr>
        <p:txBody>
          <a:bodyPr wrap="square" lIns="0" rIns="0" tIns="0" bIns="0" anchor="t">
            <a:noAutofit/>
          </a:bodyPr>
          <a:lstStyle/>
          <a:p>
            <a:pPr algn="l">
              <a:lnSpc>
                <a:spcPct val="100000"/>
              </a:lnSpc>
            </a:pPr>
            <a:r>
              <a:rPr sz="660" b="1">
                <a:solidFill>
                  <a:srgbClr val="FFFFFF"/>
                </a:solidFill>
                <a:latin typeface="Arial"/>
              </a:rPr>
              <a:t>SOURCE</a:t>
            </a:r>
          </a:p>
        </p:txBody>
      </p:sp>
      <p:sp>
        <p:nvSpPr>
          <p:cNvPr id="14" name="Rectangle 13"/>
          <p:cNvSpPr/>
          <p:nvPr/>
        </p:nvSpPr>
        <p:spPr>
          <a:xfrm>
            <a:off x="512064" y="1959620"/>
            <a:ext cx="8119872" cy="26060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5" name="TextBox 14"/>
          <p:cNvSpPr txBox="1"/>
          <p:nvPr/>
        </p:nvSpPr>
        <p:spPr>
          <a:xfrm>
            <a:off x="603504" y="2009912"/>
            <a:ext cx="530352" cy="187451"/>
          </a:xfrm>
          <a:prstGeom prst="rect">
            <a:avLst/>
          </a:prstGeom>
          <a:noFill/>
        </p:spPr>
        <p:txBody>
          <a:bodyPr wrap="square" lIns="0" rIns="0" tIns="0" bIns="0" anchor="t">
            <a:noAutofit/>
          </a:bodyPr>
          <a:lstStyle/>
          <a:p>
            <a:pPr algn="l">
              <a:lnSpc>
                <a:spcPct val="100000"/>
              </a:lnSpc>
            </a:pPr>
            <a:r>
              <a:rPr sz="800" b="1">
                <a:solidFill>
                  <a:srgbClr val="006838"/>
                </a:solidFill>
                <a:latin typeface="Arial"/>
              </a:rPr>
              <a:t>Contest</a:t>
            </a:r>
          </a:p>
        </p:txBody>
      </p:sp>
      <p:sp>
        <p:nvSpPr>
          <p:cNvPr id="16" name="TextBox 15"/>
          <p:cNvSpPr txBox="1"/>
          <p:nvPr/>
        </p:nvSpPr>
        <p:spPr>
          <a:xfrm>
            <a:off x="1261872" y="2009912"/>
            <a:ext cx="603504"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Meta</a:t>
            </a:r>
          </a:p>
        </p:txBody>
      </p:sp>
      <p:sp>
        <p:nvSpPr>
          <p:cNvPr id="17" name="TextBox 16"/>
          <p:cNvSpPr txBox="1"/>
          <p:nvPr/>
        </p:nvSpPr>
        <p:spPr>
          <a:xfrm>
            <a:off x="1993392" y="2009912"/>
            <a:ext cx="1042416"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Conversions</a:t>
            </a:r>
          </a:p>
        </p:txBody>
      </p:sp>
      <p:sp>
        <p:nvSpPr>
          <p:cNvPr id="18" name="TextBox 17"/>
          <p:cNvSpPr txBox="1"/>
          <p:nvPr/>
        </p:nvSpPr>
        <p:spPr>
          <a:xfrm>
            <a:off x="3163824" y="2009912"/>
            <a:ext cx="585216"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RM22.00</a:t>
            </a:r>
          </a:p>
        </p:txBody>
      </p:sp>
      <p:sp>
        <p:nvSpPr>
          <p:cNvPr id="19" name="TextBox 18"/>
          <p:cNvSpPr txBox="1"/>
          <p:nvPr/>
        </p:nvSpPr>
        <p:spPr>
          <a:xfrm>
            <a:off x="3877056" y="2009912"/>
            <a:ext cx="384048"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n/a</a:t>
            </a:r>
          </a:p>
        </p:txBody>
      </p:sp>
      <p:sp>
        <p:nvSpPr>
          <p:cNvPr id="20" name="TextBox 19"/>
          <p:cNvSpPr txBox="1"/>
          <p:nvPr/>
        </p:nvSpPr>
        <p:spPr>
          <a:xfrm>
            <a:off x="4389120" y="2009912"/>
            <a:ext cx="658368"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n/a</a:t>
            </a:r>
          </a:p>
        </p:txBody>
      </p:sp>
      <p:sp>
        <p:nvSpPr>
          <p:cNvPr id="21" name="TextBox 20"/>
          <p:cNvSpPr txBox="1"/>
          <p:nvPr/>
        </p:nvSpPr>
        <p:spPr>
          <a:xfrm>
            <a:off x="5175504" y="2009912"/>
            <a:ext cx="932688"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CPC RM0.45</a:t>
            </a:r>
          </a:p>
        </p:txBody>
      </p:sp>
      <p:sp>
        <p:nvSpPr>
          <p:cNvPr id="22" name="TextBox 21"/>
          <p:cNvSpPr txBox="1"/>
          <p:nvPr/>
        </p:nvSpPr>
        <p:spPr>
          <a:xfrm>
            <a:off x="6236208" y="2009912"/>
            <a:ext cx="2359152"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CPM assumed, CTR 2025</a:t>
            </a:r>
          </a:p>
        </p:txBody>
      </p:sp>
      <p:sp>
        <p:nvSpPr>
          <p:cNvPr id="23" name="Rectangle 22"/>
          <p:cNvSpPr/>
          <p:nvPr/>
        </p:nvSpPr>
        <p:spPr>
          <a:xfrm>
            <a:off x="512064" y="2220224"/>
            <a:ext cx="8119872" cy="260603"/>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4" name="TextBox 23"/>
          <p:cNvSpPr txBox="1"/>
          <p:nvPr/>
        </p:nvSpPr>
        <p:spPr>
          <a:xfrm>
            <a:off x="603504" y="2270516"/>
            <a:ext cx="530352" cy="187451"/>
          </a:xfrm>
          <a:prstGeom prst="rect">
            <a:avLst/>
          </a:prstGeom>
          <a:noFill/>
        </p:spPr>
        <p:txBody>
          <a:bodyPr wrap="square" lIns="0" rIns="0" tIns="0" bIns="0" anchor="t">
            <a:noAutofit/>
          </a:bodyPr>
          <a:lstStyle/>
          <a:p>
            <a:pPr algn="l">
              <a:lnSpc>
                <a:spcPct val="100000"/>
              </a:lnSpc>
            </a:pPr>
            <a:r>
              <a:rPr sz="800" b="1">
                <a:solidFill>
                  <a:srgbClr val="006838"/>
                </a:solidFill>
                <a:latin typeface="Arial"/>
              </a:rPr>
              <a:t>Contest</a:t>
            </a:r>
          </a:p>
        </p:txBody>
      </p:sp>
      <p:sp>
        <p:nvSpPr>
          <p:cNvPr id="25" name="TextBox 24"/>
          <p:cNvSpPr txBox="1"/>
          <p:nvPr/>
        </p:nvSpPr>
        <p:spPr>
          <a:xfrm>
            <a:off x="1261872" y="2270516"/>
            <a:ext cx="603504"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TikTok</a:t>
            </a:r>
          </a:p>
        </p:txBody>
      </p:sp>
      <p:sp>
        <p:nvSpPr>
          <p:cNvPr id="26" name="TextBox 25"/>
          <p:cNvSpPr txBox="1"/>
          <p:nvPr/>
        </p:nvSpPr>
        <p:spPr>
          <a:xfrm>
            <a:off x="1993392" y="2270516"/>
            <a:ext cx="1042416"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Conversions</a:t>
            </a:r>
          </a:p>
        </p:txBody>
      </p:sp>
      <p:sp>
        <p:nvSpPr>
          <p:cNvPr id="27" name="TextBox 26"/>
          <p:cNvSpPr txBox="1"/>
          <p:nvPr/>
        </p:nvSpPr>
        <p:spPr>
          <a:xfrm>
            <a:off x="3163824" y="2270516"/>
            <a:ext cx="585216"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RM15.00</a:t>
            </a:r>
          </a:p>
        </p:txBody>
      </p:sp>
      <p:sp>
        <p:nvSpPr>
          <p:cNvPr id="28" name="TextBox 27"/>
          <p:cNvSpPr txBox="1"/>
          <p:nvPr/>
        </p:nvSpPr>
        <p:spPr>
          <a:xfrm>
            <a:off x="3877056" y="2270516"/>
            <a:ext cx="384048"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n/a</a:t>
            </a:r>
          </a:p>
        </p:txBody>
      </p:sp>
      <p:sp>
        <p:nvSpPr>
          <p:cNvPr id="29" name="TextBox 28"/>
          <p:cNvSpPr txBox="1"/>
          <p:nvPr/>
        </p:nvSpPr>
        <p:spPr>
          <a:xfrm>
            <a:off x="4389120" y="2270516"/>
            <a:ext cx="658368"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n/a</a:t>
            </a:r>
          </a:p>
        </p:txBody>
      </p:sp>
      <p:sp>
        <p:nvSpPr>
          <p:cNvPr id="30" name="TextBox 29"/>
          <p:cNvSpPr txBox="1"/>
          <p:nvPr/>
        </p:nvSpPr>
        <p:spPr>
          <a:xfrm>
            <a:off x="5175504" y="2270516"/>
            <a:ext cx="932688"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CPC RM0.30</a:t>
            </a:r>
          </a:p>
        </p:txBody>
      </p:sp>
      <p:sp>
        <p:nvSpPr>
          <p:cNvPr id="31" name="TextBox 30"/>
          <p:cNvSpPr txBox="1"/>
          <p:nvPr/>
        </p:nvSpPr>
        <p:spPr>
          <a:xfrm>
            <a:off x="6236208" y="2270516"/>
            <a:ext cx="2359152"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CPM assumed, CTR 2025</a:t>
            </a:r>
          </a:p>
        </p:txBody>
      </p:sp>
      <p:sp>
        <p:nvSpPr>
          <p:cNvPr id="32" name="Rectangle 31"/>
          <p:cNvSpPr/>
          <p:nvPr/>
        </p:nvSpPr>
        <p:spPr>
          <a:xfrm>
            <a:off x="512064" y="2480828"/>
            <a:ext cx="8119872" cy="26060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3" name="TextBox 32"/>
          <p:cNvSpPr txBox="1"/>
          <p:nvPr/>
        </p:nvSpPr>
        <p:spPr>
          <a:xfrm>
            <a:off x="603504" y="2531120"/>
            <a:ext cx="530352" cy="187451"/>
          </a:xfrm>
          <a:prstGeom prst="rect">
            <a:avLst/>
          </a:prstGeom>
          <a:noFill/>
        </p:spPr>
        <p:txBody>
          <a:bodyPr wrap="square" lIns="0" rIns="0" tIns="0" bIns="0" anchor="t">
            <a:noAutofit/>
          </a:bodyPr>
          <a:lstStyle/>
          <a:p>
            <a:pPr algn="l">
              <a:lnSpc>
                <a:spcPct val="100000"/>
              </a:lnSpc>
            </a:pPr>
            <a:r>
              <a:rPr sz="800" b="1">
                <a:solidFill>
                  <a:srgbClr val="006838"/>
                </a:solidFill>
                <a:latin typeface="Arial"/>
              </a:rPr>
              <a:t>Video</a:t>
            </a:r>
          </a:p>
        </p:txBody>
      </p:sp>
      <p:sp>
        <p:nvSpPr>
          <p:cNvPr id="34" name="TextBox 33"/>
          <p:cNvSpPr txBox="1"/>
          <p:nvPr/>
        </p:nvSpPr>
        <p:spPr>
          <a:xfrm>
            <a:off x="1261872" y="2531120"/>
            <a:ext cx="603504"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TikTok</a:t>
            </a:r>
          </a:p>
        </p:txBody>
      </p:sp>
      <p:sp>
        <p:nvSpPr>
          <p:cNvPr id="35" name="TextBox 34"/>
          <p:cNvSpPr txBox="1"/>
          <p:nvPr/>
        </p:nvSpPr>
        <p:spPr>
          <a:xfrm>
            <a:off x="1993392" y="2531120"/>
            <a:ext cx="1042416"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Video views</a:t>
            </a:r>
          </a:p>
        </p:txBody>
      </p:sp>
      <p:sp>
        <p:nvSpPr>
          <p:cNvPr id="36" name="TextBox 35"/>
          <p:cNvSpPr txBox="1"/>
          <p:nvPr/>
        </p:nvSpPr>
        <p:spPr>
          <a:xfrm>
            <a:off x="3163824" y="2531120"/>
            <a:ext cx="585216"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RM2.20</a:t>
            </a:r>
          </a:p>
        </p:txBody>
      </p:sp>
      <p:sp>
        <p:nvSpPr>
          <p:cNvPr id="37" name="TextBox 36"/>
          <p:cNvSpPr txBox="1"/>
          <p:nvPr/>
        </p:nvSpPr>
        <p:spPr>
          <a:xfrm>
            <a:off x="3877056" y="2531120"/>
            <a:ext cx="384048"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1.9</a:t>
            </a:r>
          </a:p>
        </p:txBody>
      </p:sp>
      <p:sp>
        <p:nvSpPr>
          <p:cNvPr id="38" name="TextBox 37"/>
          <p:cNvSpPr txBox="1"/>
          <p:nvPr/>
        </p:nvSpPr>
        <p:spPr>
          <a:xfrm>
            <a:off x="4389120" y="2531120"/>
            <a:ext cx="658368"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70%</a:t>
            </a:r>
          </a:p>
        </p:txBody>
      </p:sp>
      <p:sp>
        <p:nvSpPr>
          <p:cNvPr id="39" name="TextBox 38"/>
          <p:cNvSpPr txBox="1"/>
          <p:nvPr/>
        </p:nvSpPr>
        <p:spPr>
          <a:xfrm>
            <a:off x="5175504" y="2531120"/>
            <a:ext cx="932688"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RM0.0031</a:t>
            </a:r>
          </a:p>
        </p:txBody>
      </p:sp>
      <p:sp>
        <p:nvSpPr>
          <p:cNvPr id="40" name="TextBox 39"/>
          <p:cNvSpPr txBox="1"/>
          <p:nvPr/>
        </p:nvSpPr>
        <p:spPr>
          <a:xfrm>
            <a:off x="6236208" y="2531120"/>
            <a:ext cx="2359152"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Freq and VTR 2025</a:t>
            </a:r>
          </a:p>
        </p:txBody>
      </p:sp>
      <p:sp>
        <p:nvSpPr>
          <p:cNvPr id="41" name="Rectangle 40"/>
          <p:cNvSpPr/>
          <p:nvPr/>
        </p:nvSpPr>
        <p:spPr>
          <a:xfrm>
            <a:off x="512064" y="2741432"/>
            <a:ext cx="8119872" cy="260603"/>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2" name="TextBox 41"/>
          <p:cNvSpPr txBox="1"/>
          <p:nvPr/>
        </p:nvSpPr>
        <p:spPr>
          <a:xfrm>
            <a:off x="603504" y="2791724"/>
            <a:ext cx="530352" cy="187451"/>
          </a:xfrm>
          <a:prstGeom prst="rect">
            <a:avLst/>
          </a:prstGeom>
          <a:noFill/>
        </p:spPr>
        <p:txBody>
          <a:bodyPr wrap="square" lIns="0" rIns="0" tIns="0" bIns="0" anchor="t">
            <a:noAutofit/>
          </a:bodyPr>
          <a:lstStyle/>
          <a:p>
            <a:pPr algn="l">
              <a:lnSpc>
                <a:spcPct val="100000"/>
              </a:lnSpc>
            </a:pPr>
            <a:r>
              <a:rPr sz="800" b="1">
                <a:solidFill>
                  <a:srgbClr val="006838"/>
                </a:solidFill>
                <a:latin typeface="Arial"/>
              </a:rPr>
              <a:t>Video</a:t>
            </a:r>
          </a:p>
        </p:txBody>
      </p:sp>
      <p:sp>
        <p:nvSpPr>
          <p:cNvPr id="43" name="TextBox 42"/>
          <p:cNvSpPr txBox="1"/>
          <p:nvPr/>
        </p:nvSpPr>
        <p:spPr>
          <a:xfrm>
            <a:off x="1261872" y="2791724"/>
            <a:ext cx="603504"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Meta</a:t>
            </a:r>
          </a:p>
        </p:txBody>
      </p:sp>
      <p:sp>
        <p:nvSpPr>
          <p:cNvPr id="44" name="TextBox 43"/>
          <p:cNvSpPr txBox="1"/>
          <p:nvPr/>
        </p:nvSpPr>
        <p:spPr>
          <a:xfrm>
            <a:off x="1993392" y="2791724"/>
            <a:ext cx="1042416"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Reels video</a:t>
            </a:r>
          </a:p>
        </p:txBody>
      </p:sp>
      <p:sp>
        <p:nvSpPr>
          <p:cNvPr id="45" name="TextBox 44"/>
          <p:cNvSpPr txBox="1"/>
          <p:nvPr/>
        </p:nvSpPr>
        <p:spPr>
          <a:xfrm>
            <a:off x="3163824" y="2791724"/>
            <a:ext cx="585216"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RM3.50</a:t>
            </a:r>
          </a:p>
        </p:txBody>
      </p:sp>
      <p:sp>
        <p:nvSpPr>
          <p:cNvPr id="46" name="TextBox 45"/>
          <p:cNvSpPr txBox="1"/>
          <p:nvPr/>
        </p:nvSpPr>
        <p:spPr>
          <a:xfrm>
            <a:off x="3877056" y="2791724"/>
            <a:ext cx="384048"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1.8</a:t>
            </a:r>
          </a:p>
        </p:txBody>
      </p:sp>
      <p:sp>
        <p:nvSpPr>
          <p:cNvPr id="47" name="TextBox 46"/>
          <p:cNvSpPr txBox="1"/>
          <p:nvPr/>
        </p:nvSpPr>
        <p:spPr>
          <a:xfrm>
            <a:off x="4389120" y="2791724"/>
            <a:ext cx="658368"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55%</a:t>
            </a:r>
          </a:p>
        </p:txBody>
      </p:sp>
      <p:sp>
        <p:nvSpPr>
          <p:cNvPr id="48" name="TextBox 47"/>
          <p:cNvSpPr txBox="1"/>
          <p:nvPr/>
        </p:nvSpPr>
        <p:spPr>
          <a:xfrm>
            <a:off x="5175504" y="2791724"/>
            <a:ext cx="932688"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RM0.0064</a:t>
            </a:r>
          </a:p>
        </p:txBody>
      </p:sp>
      <p:sp>
        <p:nvSpPr>
          <p:cNvPr id="49" name="TextBox 48"/>
          <p:cNvSpPr txBox="1"/>
          <p:nvPr/>
        </p:nvSpPr>
        <p:spPr>
          <a:xfrm>
            <a:off x="6236208" y="2791724"/>
            <a:ext cx="2359152"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Freq 2025, rest assumed</a:t>
            </a:r>
          </a:p>
        </p:txBody>
      </p:sp>
      <p:sp>
        <p:nvSpPr>
          <p:cNvPr id="50" name="Rectangle 49"/>
          <p:cNvSpPr/>
          <p:nvPr/>
        </p:nvSpPr>
        <p:spPr>
          <a:xfrm>
            <a:off x="512064" y="3002036"/>
            <a:ext cx="8119872" cy="26060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1" name="TextBox 50"/>
          <p:cNvSpPr txBox="1"/>
          <p:nvPr/>
        </p:nvSpPr>
        <p:spPr>
          <a:xfrm>
            <a:off x="603504" y="3052328"/>
            <a:ext cx="530352" cy="187451"/>
          </a:xfrm>
          <a:prstGeom prst="rect">
            <a:avLst/>
          </a:prstGeom>
          <a:noFill/>
        </p:spPr>
        <p:txBody>
          <a:bodyPr wrap="square" lIns="0" rIns="0" tIns="0" bIns="0" anchor="t">
            <a:noAutofit/>
          </a:bodyPr>
          <a:lstStyle/>
          <a:p>
            <a:pPr algn="l">
              <a:lnSpc>
                <a:spcPct val="100000"/>
              </a:lnSpc>
            </a:pPr>
            <a:r>
              <a:rPr sz="800" b="1">
                <a:solidFill>
                  <a:srgbClr val="006838"/>
                </a:solidFill>
                <a:latin typeface="Arial"/>
              </a:rPr>
              <a:t>Video</a:t>
            </a:r>
          </a:p>
        </p:txBody>
      </p:sp>
      <p:sp>
        <p:nvSpPr>
          <p:cNvPr id="52" name="TextBox 51"/>
          <p:cNvSpPr txBox="1"/>
          <p:nvPr/>
        </p:nvSpPr>
        <p:spPr>
          <a:xfrm>
            <a:off x="1261872" y="3052328"/>
            <a:ext cx="603504"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YouTube</a:t>
            </a:r>
          </a:p>
        </p:txBody>
      </p:sp>
      <p:sp>
        <p:nvSpPr>
          <p:cNvPr id="53" name="TextBox 52"/>
          <p:cNvSpPr txBox="1"/>
          <p:nvPr/>
        </p:nvSpPr>
        <p:spPr>
          <a:xfrm>
            <a:off x="1993392" y="3052328"/>
            <a:ext cx="1042416"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In-stream, Shorts</a:t>
            </a:r>
          </a:p>
        </p:txBody>
      </p:sp>
      <p:sp>
        <p:nvSpPr>
          <p:cNvPr id="54" name="TextBox 53"/>
          <p:cNvSpPr txBox="1"/>
          <p:nvPr/>
        </p:nvSpPr>
        <p:spPr>
          <a:xfrm>
            <a:off x="3163824" y="3052328"/>
            <a:ext cx="585216"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RM3.80</a:t>
            </a:r>
          </a:p>
        </p:txBody>
      </p:sp>
      <p:sp>
        <p:nvSpPr>
          <p:cNvPr id="55" name="TextBox 54"/>
          <p:cNvSpPr txBox="1"/>
          <p:nvPr/>
        </p:nvSpPr>
        <p:spPr>
          <a:xfrm>
            <a:off x="3877056" y="3052328"/>
            <a:ext cx="384048"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1.7</a:t>
            </a:r>
          </a:p>
        </p:txBody>
      </p:sp>
      <p:sp>
        <p:nvSpPr>
          <p:cNvPr id="56" name="TextBox 55"/>
          <p:cNvSpPr txBox="1"/>
          <p:nvPr/>
        </p:nvSpPr>
        <p:spPr>
          <a:xfrm>
            <a:off x="4389120" y="3052328"/>
            <a:ext cx="658368"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32%</a:t>
            </a:r>
          </a:p>
        </p:txBody>
      </p:sp>
      <p:sp>
        <p:nvSpPr>
          <p:cNvPr id="57" name="TextBox 56"/>
          <p:cNvSpPr txBox="1"/>
          <p:nvPr/>
        </p:nvSpPr>
        <p:spPr>
          <a:xfrm>
            <a:off x="5175504" y="3052328"/>
            <a:ext cx="932688"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RM0.0119</a:t>
            </a:r>
          </a:p>
        </p:txBody>
      </p:sp>
      <p:sp>
        <p:nvSpPr>
          <p:cNvPr id="58" name="TextBox 57"/>
          <p:cNvSpPr txBox="1"/>
          <p:nvPr/>
        </p:nvSpPr>
        <p:spPr>
          <a:xfrm>
            <a:off x="6236208" y="3052328"/>
            <a:ext cx="2359152"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Assumed</a:t>
            </a:r>
          </a:p>
        </p:txBody>
      </p:sp>
      <p:sp>
        <p:nvSpPr>
          <p:cNvPr id="59" name="Rectangle 58"/>
          <p:cNvSpPr/>
          <p:nvPr/>
        </p:nvSpPr>
        <p:spPr>
          <a:xfrm>
            <a:off x="512064" y="3262640"/>
            <a:ext cx="8119872" cy="260603"/>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0" name="TextBox 59"/>
          <p:cNvSpPr txBox="1"/>
          <p:nvPr/>
        </p:nvSpPr>
        <p:spPr>
          <a:xfrm>
            <a:off x="603504" y="3312932"/>
            <a:ext cx="530352" cy="187451"/>
          </a:xfrm>
          <a:prstGeom prst="rect">
            <a:avLst/>
          </a:prstGeom>
          <a:noFill/>
        </p:spPr>
        <p:txBody>
          <a:bodyPr wrap="square" lIns="0" rIns="0" tIns="0" bIns="0" anchor="t">
            <a:noAutofit/>
          </a:bodyPr>
          <a:lstStyle/>
          <a:p>
            <a:pPr algn="l">
              <a:lnSpc>
                <a:spcPct val="100000"/>
              </a:lnSpc>
            </a:pPr>
            <a:r>
              <a:rPr sz="800" b="1">
                <a:solidFill>
                  <a:srgbClr val="006838"/>
                </a:solidFill>
                <a:latin typeface="Arial"/>
              </a:rPr>
              <a:t>Engage</a:t>
            </a:r>
          </a:p>
        </p:txBody>
      </p:sp>
      <p:sp>
        <p:nvSpPr>
          <p:cNvPr id="61" name="TextBox 60"/>
          <p:cNvSpPr txBox="1"/>
          <p:nvPr/>
        </p:nvSpPr>
        <p:spPr>
          <a:xfrm>
            <a:off x="1261872" y="3312932"/>
            <a:ext cx="603504"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TikTok</a:t>
            </a:r>
          </a:p>
        </p:txBody>
      </p:sp>
      <p:sp>
        <p:nvSpPr>
          <p:cNvPr id="62" name="TextBox 61"/>
          <p:cNvSpPr txBox="1"/>
          <p:nvPr/>
        </p:nvSpPr>
        <p:spPr>
          <a:xfrm>
            <a:off x="1993392" y="3312932"/>
            <a:ext cx="1042416"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Spark on KOL</a:t>
            </a:r>
          </a:p>
        </p:txBody>
      </p:sp>
      <p:sp>
        <p:nvSpPr>
          <p:cNvPr id="63" name="TextBox 62"/>
          <p:cNvSpPr txBox="1"/>
          <p:nvPr/>
        </p:nvSpPr>
        <p:spPr>
          <a:xfrm>
            <a:off x="3163824" y="3312932"/>
            <a:ext cx="585216"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RM2.60</a:t>
            </a:r>
          </a:p>
        </p:txBody>
      </p:sp>
      <p:sp>
        <p:nvSpPr>
          <p:cNvPr id="64" name="TextBox 63"/>
          <p:cNvSpPr txBox="1"/>
          <p:nvPr/>
        </p:nvSpPr>
        <p:spPr>
          <a:xfrm>
            <a:off x="3877056" y="3312932"/>
            <a:ext cx="384048"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1.8</a:t>
            </a:r>
          </a:p>
        </p:txBody>
      </p:sp>
      <p:sp>
        <p:nvSpPr>
          <p:cNvPr id="65" name="TextBox 64"/>
          <p:cNvSpPr txBox="1"/>
          <p:nvPr/>
        </p:nvSpPr>
        <p:spPr>
          <a:xfrm>
            <a:off x="4389120" y="3312932"/>
            <a:ext cx="658368"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65%</a:t>
            </a:r>
          </a:p>
        </p:txBody>
      </p:sp>
      <p:sp>
        <p:nvSpPr>
          <p:cNvPr id="66" name="TextBox 65"/>
          <p:cNvSpPr txBox="1"/>
          <p:nvPr/>
        </p:nvSpPr>
        <p:spPr>
          <a:xfrm>
            <a:off x="5175504" y="3312932"/>
            <a:ext cx="932688"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RM0.0040</a:t>
            </a:r>
          </a:p>
        </p:txBody>
      </p:sp>
      <p:sp>
        <p:nvSpPr>
          <p:cNvPr id="67" name="TextBox 66"/>
          <p:cNvSpPr txBox="1"/>
          <p:nvPr/>
        </p:nvSpPr>
        <p:spPr>
          <a:xfrm>
            <a:off x="6236208" y="3312932"/>
            <a:ext cx="2359152" cy="187451"/>
          </a:xfrm>
          <a:prstGeom prst="rect">
            <a:avLst/>
          </a:prstGeom>
          <a:noFill/>
        </p:spPr>
        <p:txBody>
          <a:bodyPr wrap="square" lIns="0" rIns="0" tIns="0" bIns="0" anchor="t">
            <a:noAutofit/>
          </a:bodyPr>
          <a:lstStyle/>
          <a:p>
            <a:pPr algn="l">
              <a:lnSpc>
                <a:spcPct val="100000"/>
              </a:lnSpc>
            </a:pPr>
            <a:r>
              <a:rPr sz="800" b="0">
                <a:solidFill>
                  <a:srgbClr val="1F3326"/>
                </a:solidFill>
                <a:latin typeface="Arial"/>
              </a:rPr>
              <a:t>Assumed</a:t>
            </a:r>
          </a:p>
        </p:txBody>
      </p:sp>
      <p:sp>
        <p:nvSpPr>
          <p:cNvPr id="68" name="TextBox 67"/>
          <p:cNvSpPr txBox="1"/>
          <p:nvPr/>
        </p:nvSpPr>
        <p:spPr>
          <a:xfrm>
            <a:off x="512064" y="3614684"/>
            <a:ext cx="8119872" cy="396240"/>
          </a:xfrm>
          <a:prstGeom prst="rect">
            <a:avLst/>
          </a:prstGeom>
          <a:noFill/>
        </p:spPr>
        <p:txBody>
          <a:bodyPr wrap="square" lIns="0" rIns="0" tIns="0" bIns="0" anchor="t">
            <a:noAutofit/>
          </a:bodyPr>
          <a:lstStyle/>
          <a:p>
            <a:pPr algn="l">
              <a:lnSpc>
                <a:spcPct val="112000"/>
              </a:lnSpc>
            </a:pPr>
            <a:r>
              <a:rPr sz="800" b="0">
                <a:solidFill>
                  <a:srgbClr val="6E8A76"/>
                </a:solidFill>
                <a:latin typeface="Arial"/>
              </a:rPr>
              <a:t>Derived from the 2025 deck: Meta frequency 1.86 from 26.37M impressions over 14.17M reach, TikTok 1.93. View rates TikTok 63%, Meta 8.8%, Google 12.5%. CTR Meta 0.13%, TikTok 10.6%, Google 0.26%. Meta's low observed view rate reflects a mostly static reach buy, so the 55% Reels figure is a different buy rather than a contradiction.</a:t>
            </a:r>
          </a:p>
        </p:txBody>
      </p:sp>
      <p:sp>
        <p:nvSpPr>
          <p:cNvPr id="69" name="Rectangle 68"/>
          <p:cNvSpPr/>
          <p:nvPr/>
        </p:nvSpPr>
        <p:spPr>
          <a:xfrm>
            <a:off x="438912" y="4443984"/>
            <a:ext cx="8266175" cy="402336"/>
          </a:xfrm>
          <a:prstGeom prst="rect">
            <a:avLst/>
          </a:prstGeom>
          <a:solidFill>
            <a:srgbClr val="052B1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70" name="TextBox 69"/>
          <p:cNvSpPr txBox="1"/>
          <p:nvPr/>
        </p:nvSpPr>
        <p:spPr>
          <a:xfrm>
            <a:off x="658368" y="4480560"/>
            <a:ext cx="7827264" cy="347472"/>
          </a:xfrm>
          <a:prstGeom prst="rect">
            <a:avLst/>
          </a:prstGeom>
          <a:noFill/>
        </p:spPr>
        <p:txBody>
          <a:bodyPr wrap="square" lIns="0" rIns="0" tIns="0" bIns="0" anchor="ctr">
            <a:noAutofit/>
          </a:bodyPr>
          <a:lstStyle/>
          <a:p>
            <a:pPr algn="l">
              <a:lnSpc>
                <a:spcPct val="100000"/>
              </a:lnSpc>
            </a:pPr>
            <a:r>
              <a:rPr sz="950" b="1">
                <a:solidFill>
                  <a:srgbClr val="F5EC2E"/>
                </a:solidFill>
                <a:latin typeface="Arial"/>
              </a:rPr>
              <a:t>One answer fixes this: </a:t>
            </a:r>
            <a:r>
              <a:rPr sz="950" b="0">
                <a:solidFill>
                  <a:srgbClr val="FFFFFF"/>
                </a:solidFill>
                <a:latin typeface="Arial"/>
              </a:rPr>
              <a:t>tell us what the 2026 campaign spent by platform, and most of that source column turns from assumption into fact.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6FAEC"/>
        </a:solidFill>
        <a:effectLst/>
      </p:bgPr>
    </p:bg>
    <p:spTree>
      <p:nvGrpSpPr>
        <p:cNvPr id="1" name=""/>
        <p:cNvGrpSpPr/>
        <p:nvPr/>
      </p:nvGrpSpPr>
      <p:grpSpPr/>
      <p:sp>
        <p:nvSpPr>
          <p:cNvPr id="2" name="Rectangle 1"/>
          <p:cNvSpPr/>
          <p:nvPr/>
        </p:nvSpPr>
        <p:spPr>
          <a:xfrm>
            <a:off x="512064" y="365760"/>
            <a:ext cx="219456" cy="73152"/>
          </a:xfrm>
          <a:prstGeom prst="rect">
            <a:avLst/>
          </a:prstGeom>
          <a:solidFill>
            <a:srgbClr val="C51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 name="TextBox 2"/>
          <p:cNvSpPr txBox="1"/>
          <p:nvPr/>
        </p:nvSpPr>
        <p:spPr>
          <a:xfrm>
            <a:off x="512064" y="566928"/>
            <a:ext cx="8119872" cy="475488"/>
          </a:xfrm>
          <a:prstGeom prst="rect">
            <a:avLst/>
          </a:prstGeom>
          <a:noFill/>
        </p:spPr>
        <p:txBody>
          <a:bodyPr wrap="square" lIns="0" rIns="0" tIns="0" bIns="0" anchor="t">
            <a:noAutofit/>
          </a:bodyPr>
          <a:lstStyle/>
          <a:p>
            <a:pPr algn="l">
              <a:lnSpc>
                <a:spcPct val="96000"/>
              </a:lnSpc>
            </a:pPr>
            <a:r>
              <a:rPr sz="2400" b="0">
                <a:solidFill>
                  <a:srgbClr val="006838"/>
                </a:solidFill>
                <a:latin typeface="Arial Black"/>
              </a:rPr>
              <a:t>A band, because nobody has measured this yet.</a:t>
            </a:r>
          </a:p>
        </p:txBody>
      </p:sp>
      <p:sp>
        <p:nvSpPr>
          <p:cNvPr id="4" name="TextBox 3"/>
          <p:cNvSpPr txBox="1"/>
          <p:nvPr/>
        </p:nvSpPr>
        <p:spPr>
          <a:xfrm>
            <a:off x="512064" y="1060704"/>
            <a:ext cx="8119872" cy="365760"/>
          </a:xfrm>
          <a:prstGeom prst="rect">
            <a:avLst/>
          </a:prstGeom>
          <a:noFill/>
        </p:spPr>
        <p:txBody>
          <a:bodyPr wrap="square" lIns="0" rIns="0" tIns="0" bIns="0" anchor="t">
            <a:noAutofit/>
          </a:bodyPr>
          <a:lstStyle/>
          <a:p>
            <a:pPr algn="l">
              <a:lnSpc>
                <a:spcPct val="112000"/>
              </a:lnSpc>
            </a:pPr>
            <a:r>
              <a:rPr sz="1100" b="0">
                <a:solidFill>
                  <a:srgbClr val="6E8A76"/>
                </a:solidFill>
                <a:latin typeface="Arial"/>
              </a:rPr>
              <a:t>There has never been a landing page on this campaign, so no conversion rate exists to quote. Every rate below is argued from the mechanic. We plan on the middle column and manage it weekly against the real thing.</a:t>
            </a:r>
          </a:p>
        </p:txBody>
      </p:sp>
      <p:sp>
        <p:nvSpPr>
          <p:cNvPr id="5" name="Rectangle 4"/>
          <p:cNvSpPr/>
          <p:nvPr/>
        </p:nvSpPr>
        <p:spPr>
          <a:xfrm>
            <a:off x="512064" y="1722089"/>
            <a:ext cx="8119872" cy="274320"/>
          </a:xfrm>
          <a:prstGeom prst="rect">
            <a:avLst/>
          </a:prstGeom>
          <a:solidFill>
            <a:srgbClr val="0068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TextBox 5"/>
          <p:cNvSpPr txBox="1"/>
          <p:nvPr/>
        </p:nvSpPr>
        <p:spPr>
          <a:xfrm>
            <a:off x="603504" y="1776953"/>
            <a:ext cx="2066543" cy="182880"/>
          </a:xfrm>
          <a:prstGeom prst="rect">
            <a:avLst/>
          </a:prstGeom>
          <a:noFill/>
        </p:spPr>
        <p:txBody>
          <a:bodyPr wrap="square" lIns="0" rIns="0" tIns="0" bIns="0" anchor="t">
            <a:noAutofit/>
          </a:bodyPr>
          <a:lstStyle/>
          <a:p>
            <a:pPr algn="l">
              <a:lnSpc>
                <a:spcPct val="100000"/>
              </a:lnSpc>
            </a:pPr>
            <a:r>
              <a:rPr sz="680" b="1">
                <a:solidFill>
                  <a:srgbClr val="FFFFFF"/>
                </a:solidFill>
                <a:latin typeface="Arial"/>
              </a:rPr>
              <a:t>STEP</a:t>
            </a:r>
          </a:p>
        </p:txBody>
      </p:sp>
      <p:sp>
        <p:nvSpPr>
          <p:cNvPr id="7" name="TextBox 6"/>
          <p:cNvSpPr txBox="1"/>
          <p:nvPr/>
        </p:nvSpPr>
        <p:spPr>
          <a:xfrm>
            <a:off x="2798064" y="1776953"/>
            <a:ext cx="1024128" cy="182880"/>
          </a:xfrm>
          <a:prstGeom prst="rect">
            <a:avLst/>
          </a:prstGeom>
          <a:noFill/>
        </p:spPr>
        <p:txBody>
          <a:bodyPr wrap="square" lIns="0" rIns="0" tIns="0" bIns="0" anchor="t">
            <a:noAutofit/>
          </a:bodyPr>
          <a:lstStyle/>
          <a:p>
            <a:pPr algn="l">
              <a:lnSpc>
                <a:spcPct val="100000"/>
              </a:lnSpc>
            </a:pPr>
            <a:r>
              <a:rPr sz="680" b="1">
                <a:solidFill>
                  <a:srgbClr val="FFFFFF"/>
                </a:solidFill>
                <a:latin typeface="Arial"/>
              </a:rPr>
              <a:t>CONSERVATIVE</a:t>
            </a:r>
          </a:p>
        </p:txBody>
      </p:sp>
      <p:sp>
        <p:nvSpPr>
          <p:cNvPr id="8" name="TextBox 7"/>
          <p:cNvSpPr txBox="1"/>
          <p:nvPr/>
        </p:nvSpPr>
        <p:spPr>
          <a:xfrm>
            <a:off x="3950207" y="1776953"/>
            <a:ext cx="786384" cy="182880"/>
          </a:xfrm>
          <a:prstGeom prst="rect">
            <a:avLst/>
          </a:prstGeom>
          <a:noFill/>
        </p:spPr>
        <p:txBody>
          <a:bodyPr wrap="square" lIns="0" rIns="0" tIns="0" bIns="0" anchor="t">
            <a:noAutofit/>
          </a:bodyPr>
          <a:lstStyle/>
          <a:p>
            <a:pPr algn="l">
              <a:lnSpc>
                <a:spcPct val="100000"/>
              </a:lnSpc>
            </a:pPr>
            <a:r>
              <a:rPr sz="680" b="1">
                <a:solidFill>
                  <a:srgbClr val="FFFFFF"/>
                </a:solidFill>
                <a:latin typeface="Arial"/>
              </a:rPr>
              <a:t>PLAN</a:t>
            </a:r>
          </a:p>
        </p:txBody>
      </p:sp>
      <p:sp>
        <p:nvSpPr>
          <p:cNvPr id="9" name="TextBox 8"/>
          <p:cNvSpPr txBox="1"/>
          <p:nvPr/>
        </p:nvSpPr>
        <p:spPr>
          <a:xfrm>
            <a:off x="4864607" y="1776953"/>
            <a:ext cx="841248" cy="182880"/>
          </a:xfrm>
          <a:prstGeom prst="rect">
            <a:avLst/>
          </a:prstGeom>
          <a:noFill/>
        </p:spPr>
        <p:txBody>
          <a:bodyPr wrap="square" lIns="0" rIns="0" tIns="0" bIns="0" anchor="t">
            <a:noAutofit/>
          </a:bodyPr>
          <a:lstStyle/>
          <a:p>
            <a:pPr algn="l">
              <a:lnSpc>
                <a:spcPct val="100000"/>
              </a:lnSpc>
            </a:pPr>
            <a:r>
              <a:rPr sz="680" b="1">
                <a:solidFill>
                  <a:srgbClr val="FFFFFF"/>
                </a:solidFill>
                <a:latin typeface="Arial"/>
              </a:rPr>
              <a:t>UPSIDE</a:t>
            </a:r>
          </a:p>
        </p:txBody>
      </p:sp>
      <p:sp>
        <p:nvSpPr>
          <p:cNvPr id="10" name="TextBox 9"/>
          <p:cNvSpPr txBox="1"/>
          <p:nvPr/>
        </p:nvSpPr>
        <p:spPr>
          <a:xfrm>
            <a:off x="5833871" y="1776953"/>
            <a:ext cx="2761488" cy="182880"/>
          </a:xfrm>
          <a:prstGeom prst="rect">
            <a:avLst/>
          </a:prstGeom>
          <a:noFill/>
        </p:spPr>
        <p:txBody>
          <a:bodyPr wrap="square" lIns="0" rIns="0" tIns="0" bIns="0" anchor="t">
            <a:noAutofit/>
          </a:bodyPr>
          <a:lstStyle/>
          <a:p>
            <a:pPr algn="l">
              <a:lnSpc>
                <a:spcPct val="100000"/>
              </a:lnSpc>
            </a:pPr>
            <a:r>
              <a:rPr sz="680" b="1">
                <a:solidFill>
                  <a:srgbClr val="FFFFFF"/>
                </a:solidFill>
                <a:latin typeface="Arial"/>
              </a:rPr>
              <a:t>BASIS</a:t>
            </a:r>
          </a:p>
        </p:txBody>
      </p:sp>
      <p:sp>
        <p:nvSpPr>
          <p:cNvPr id="11" name="Rectangle 10"/>
          <p:cNvSpPr/>
          <p:nvPr/>
        </p:nvSpPr>
        <p:spPr>
          <a:xfrm>
            <a:off x="512064" y="1996409"/>
            <a:ext cx="8119872" cy="2697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2" name="TextBox 11"/>
          <p:cNvSpPr txBox="1"/>
          <p:nvPr/>
        </p:nvSpPr>
        <p:spPr>
          <a:xfrm>
            <a:off x="603504" y="2046701"/>
            <a:ext cx="2066543" cy="196595"/>
          </a:xfrm>
          <a:prstGeom prst="rect">
            <a:avLst/>
          </a:prstGeom>
          <a:noFill/>
        </p:spPr>
        <p:txBody>
          <a:bodyPr wrap="square" lIns="0" rIns="0" tIns="0" bIns="0" anchor="t">
            <a:noAutofit/>
          </a:bodyPr>
          <a:lstStyle/>
          <a:p>
            <a:pPr algn="l">
              <a:lnSpc>
                <a:spcPct val="100000"/>
              </a:lnSpc>
            </a:pPr>
            <a:r>
              <a:rPr sz="819" b="1">
                <a:solidFill>
                  <a:srgbClr val="006838"/>
                </a:solidFill>
                <a:latin typeface="Arial"/>
              </a:rPr>
              <a:t>Contest link clicks</a:t>
            </a:r>
          </a:p>
        </p:txBody>
      </p:sp>
      <p:sp>
        <p:nvSpPr>
          <p:cNvPr id="13" name="TextBox 12"/>
          <p:cNvSpPr txBox="1"/>
          <p:nvPr/>
        </p:nvSpPr>
        <p:spPr>
          <a:xfrm>
            <a:off x="2798064" y="2046701"/>
            <a:ext cx="1024128" cy="196595"/>
          </a:xfrm>
          <a:prstGeom prst="rect">
            <a:avLst/>
          </a:prstGeom>
          <a:noFill/>
        </p:spPr>
        <p:txBody>
          <a:bodyPr wrap="square" lIns="0" rIns="0" tIns="0" bIns="0" anchor="t">
            <a:noAutofit/>
          </a:bodyPr>
          <a:lstStyle/>
          <a:p>
            <a:pPr algn="l">
              <a:lnSpc>
                <a:spcPct val="100000"/>
              </a:lnSpc>
            </a:pPr>
            <a:r>
              <a:rPr sz="819" b="0">
                <a:solidFill>
                  <a:srgbClr val="1F3326"/>
                </a:solidFill>
                <a:latin typeface="Arial"/>
              </a:rPr>
              <a:t>160,000</a:t>
            </a:r>
          </a:p>
        </p:txBody>
      </p:sp>
      <p:sp>
        <p:nvSpPr>
          <p:cNvPr id="14" name="TextBox 13"/>
          <p:cNvSpPr txBox="1"/>
          <p:nvPr/>
        </p:nvSpPr>
        <p:spPr>
          <a:xfrm>
            <a:off x="3950207" y="2046701"/>
            <a:ext cx="786384" cy="196595"/>
          </a:xfrm>
          <a:prstGeom prst="rect">
            <a:avLst/>
          </a:prstGeom>
          <a:noFill/>
        </p:spPr>
        <p:txBody>
          <a:bodyPr wrap="square" lIns="0" rIns="0" tIns="0" bIns="0" anchor="t">
            <a:noAutofit/>
          </a:bodyPr>
          <a:lstStyle/>
          <a:p>
            <a:pPr algn="l">
              <a:lnSpc>
                <a:spcPct val="100000"/>
              </a:lnSpc>
            </a:pPr>
            <a:r>
              <a:rPr sz="819" b="0">
                <a:solidFill>
                  <a:srgbClr val="1F3326"/>
                </a:solidFill>
                <a:latin typeface="Arial"/>
              </a:rPr>
              <a:t>160,000</a:t>
            </a:r>
          </a:p>
        </p:txBody>
      </p:sp>
      <p:sp>
        <p:nvSpPr>
          <p:cNvPr id="15" name="TextBox 14"/>
          <p:cNvSpPr txBox="1"/>
          <p:nvPr/>
        </p:nvSpPr>
        <p:spPr>
          <a:xfrm>
            <a:off x="4864607" y="2046701"/>
            <a:ext cx="841248" cy="196595"/>
          </a:xfrm>
          <a:prstGeom prst="rect">
            <a:avLst/>
          </a:prstGeom>
          <a:noFill/>
        </p:spPr>
        <p:txBody>
          <a:bodyPr wrap="square" lIns="0" rIns="0" tIns="0" bIns="0" anchor="t">
            <a:noAutofit/>
          </a:bodyPr>
          <a:lstStyle/>
          <a:p>
            <a:pPr algn="l">
              <a:lnSpc>
                <a:spcPct val="100000"/>
              </a:lnSpc>
            </a:pPr>
            <a:r>
              <a:rPr sz="819" b="0">
                <a:solidFill>
                  <a:srgbClr val="1F3326"/>
                </a:solidFill>
                <a:latin typeface="Arial"/>
              </a:rPr>
              <a:t>160,000</a:t>
            </a:r>
          </a:p>
        </p:txBody>
      </p:sp>
      <p:sp>
        <p:nvSpPr>
          <p:cNvPr id="16" name="TextBox 15"/>
          <p:cNvSpPr txBox="1"/>
          <p:nvPr/>
        </p:nvSpPr>
        <p:spPr>
          <a:xfrm>
            <a:off x="5833871" y="2046701"/>
            <a:ext cx="2761488" cy="196595"/>
          </a:xfrm>
          <a:prstGeom prst="rect">
            <a:avLst/>
          </a:prstGeom>
          <a:noFill/>
        </p:spPr>
        <p:txBody>
          <a:bodyPr wrap="square" lIns="0" rIns="0" tIns="0" bIns="0" anchor="t">
            <a:noAutofit/>
          </a:bodyPr>
          <a:lstStyle/>
          <a:p>
            <a:pPr algn="l">
              <a:lnSpc>
                <a:spcPct val="100000"/>
              </a:lnSpc>
            </a:pPr>
            <a:r>
              <a:rPr sz="819" b="0">
                <a:solidFill>
                  <a:srgbClr val="1F3326"/>
                </a:solidFill>
                <a:latin typeface="Arial"/>
              </a:rPr>
              <a:t>RM58,000 at the CPCs opposite</a:t>
            </a:r>
          </a:p>
        </p:txBody>
      </p:sp>
      <p:sp>
        <p:nvSpPr>
          <p:cNvPr id="17" name="Rectangle 16"/>
          <p:cNvSpPr/>
          <p:nvPr/>
        </p:nvSpPr>
        <p:spPr>
          <a:xfrm>
            <a:off x="512064" y="2266157"/>
            <a:ext cx="8119872" cy="269748"/>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8" name="TextBox 17"/>
          <p:cNvSpPr txBox="1"/>
          <p:nvPr/>
        </p:nvSpPr>
        <p:spPr>
          <a:xfrm>
            <a:off x="603504" y="2316449"/>
            <a:ext cx="2066543" cy="196595"/>
          </a:xfrm>
          <a:prstGeom prst="rect">
            <a:avLst/>
          </a:prstGeom>
          <a:noFill/>
        </p:spPr>
        <p:txBody>
          <a:bodyPr wrap="square" lIns="0" rIns="0" tIns="0" bIns="0" anchor="t">
            <a:noAutofit/>
          </a:bodyPr>
          <a:lstStyle/>
          <a:p>
            <a:pPr algn="l">
              <a:lnSpc>
                <a:spcPct val="100000"/>
              </a:lnSpc>
            </a:pPr>
            <a:r>
              <a:rPr sz="819" b="1">
                <a:solidFill>
                  <a:srgbClr val="006838"/>
                </a:solidFill>
                <a:latin typeface="Arial"/>
              </a:rPr>
              <a:t>Registration rate</a:t>
            </a:r>
          </a:p>
        </p:txBody>
      </p:sp>
      <p:sp>
        <p:nvSpPr>
          <p:cNvPr id="19" name="TextBox 18"/>
          <p:cNvSpPr txBox="1"/>
          <p:nvPr/>
        </p:nvSpPr>
        <p:spPr>
          <a:xfrm>
            <a:off x="2798064" y="2316449"/>
            <a:ext cx="1024128" cy="196595"/>
          </a:xfrm>
          <a:prstGeom prst="rect">
            <a:avLst/>
          </a:prstGeom>
          <a:noFill/>
        </p:spPr>
        <p:txBody>
          <a:bodyPr wrap="square" lIns="0" rIns="0" tIns="0" bIns="0" anchor="t">
            <a:noAutofit/>
          </a:bodyPr>
          <a:lstStyle/>
          <a:p>
            <a:pPr algn="l">
              <a:lnSpc>
                <a:spcPct val="100000"/>
              </a:lnSpc>
            </a:pPr>
            <a:r>
              <a:rPr sz="819" b="0">
                <a:solidFill>
                  <a:srgbClr val="1F3326"/>
                </a:solidFill>
                <a:latin typeface="Arial"/>
              </a:rPr>
              <a:t>5.0%</a:t>
            </a:r>
          </a:p>
        </p:txBody>
      </p:sp>
      <p:sp>
        <p:nvSpPr>
          <p:cNvPr id="20" name="TextBox 19"/>
          <p:cNvSpPr txBox="1"/>
          <p:nvPr/>
        </p:nvSpPr>
        <p:spPr>
          <a:xfrm>
            <a:off x="3950207" y="2316449"/>
            <a:ext cx="786384" cy="196595"/>
          </a:xfrm>
          <a:prstGeom prst="rect">
            <a:avLst/>
          </a:prstGeom>
          <a:noFill/>
        </p:spPr>
        <p:txBody>
          <a:bodyPr wrap="square" lIns="0" rIns="0" tIns="0" bIns="0" anchor="t">
            <a:noAutofit/>
          </a:bodyPr>
          <a:lstStyle/>
          <a:p>
            <a:pPr algn="l">
              <a:lnSpc>
                <a:spcPct val="100000"/>
              </a:lnSpc>
            </a:pPr>
            <a:r>
              <a:rPr sz="819" b="0">
                <a:solidFill>
                  <a:srgbClr val="1F3326"/>
                </a:solidFill>
                <a:latin typeface="Arial"/>
              </a:rPr>
              <a:t>7.5%</a:t>
            </a:r>
          </a:p>
        </p:txBody>
      </p:sp>
      <p:sp>
        <p:nvSpPr>
          <p:cNvPr id="21" name="TextBox 20"/>
          <p:cNvSpPr txBox="1"/>
          <p:nvPr/>
        </p:nvSpPr>
        <p:spPr>
          <a:xfrm>
            <a:off x="4864607" y="2316449"/>
            <a:ext cx="841248" cy="196595"/>
          </a:xfrm>
          <a:prstGeom prst="rect">
            <a:avLst/>
          </a:prstGeom>
          <a:noFill/>
        </p:spPr>
        <p:txBody>
          <a:bodyPr wrap="square" lIns="0" rIns="0" tIns="0" bIns="0" anchor="t">
            <a:noAutofit/>
          </a:bodyPr>
          <a:lstStyle/>
          <a:p>
            <a:pPr algn="l">
              <a:lnSpc>
                <a:spcPct val="100000"/>
              </a:lnSpc>
            </a:pPr>
            <a:r>
              <a:rPr sz="819" b="0">
                <a:solidFill>
                  <a:srgbClr val="1F3326"/>
                </a:solidFill>
                <a:latin typeface="Arial"/>
              </a:rPr>
              <a:t>11.0%</a:t>
            </a:r>
          </a:p>
        </p:txBody>
      </p:sp>
      <p:sp>
        <p:nvSpPr>
          <p:cNvPr id="22" name="TextBox 21"/>
          <p:cNvSpPr txBox="1"/>
          <p:nvPr/>
        </p:nvSpPr>
        <p:spPr>
          <a:xfrm>
            <a:off x="5833871" y="2316449"/>
            <a:ext cx="2761488" cy="196595"/>
          </a:xfrm>
          <a:prstGeom prst="rect">
            <a:avLst/>
          </a:prstGeom>
          <a:noFill/>
        </p:spPr>
        <p:txBody>
          <a:bodyPr wrap="square" lIns="0" rIns="0" tIns="0" bIns="0" anchor="t">
            <a:noAutofit/>
          </a:bodyPr>
          <a:lstStyle/>
          <a:p>
            <a:pPr algn="l">
              <a:lnSpc>
                <a:spcPct val="100000"/>
              </a:lnSpc>
            </a:pPr>
            <a:r>
              <a:rPr sz="819" b="0">
                <a:solidFill>
                  <a:srgbClr val="1F3326"/>
                </a:solidFill>
                <a:latin typeface="Arial"/>
              </a:rPr>
              <a:t>Assumed. Three fields, no purchase</a:t>
            </a:r>
          </a:p>
        </p:txBody>
      </p:sp>
      <p:sp>
        <p:nvSpPr>
          <p:cNvPr id="23" name="Rectangle 22"/>
          <p:cNvSpPr/>
          <p:nvPr/>
        </p:nvSpPr>
        <p:spPr>
          <a:xfrm>
            <a:off x="512064" y="2535905"/>
            <a:ext cx="8119872" cy="2697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4" name="TextBox 23"/>
          <p:cNvSpPr txBox="1"/>
          <p:nvPr/>
        </p:nvSpPr>
        <p:spPr>
          <a:xfrm>
            <a:off x="603504" y="2586197"/>
            <a:ext cx="2066543" cy="196595"/>
          </a:xfrm>
          <a:prstGeom prst="rect">
            <a:avLst/>
          </a:prstGeom>
          <a:noFill/>
        </p:spPr>
        <p:txBody>
          <a:bodyPr wrap="square" lIns="0" rIns="0" tIns="0" bIns="0" anchor="t">
            <a:noAutofit/>
          </a:bodyPr>
          <a:lstStyle/>
          <a:p>
            <a:pPr algn="l">
              <a:lnSpc>
                <a:spcPct val="100000"/>
              </a:lnSpc>
            </a:pPr>
            <a:r>
              <a:rPr sz="819" b="1">
                <a:solidFill>
                  <a:srgbClr val="006838"/>
                </a:solidFill>
                <a:latin typeface="Arial"/>
              </a:rPr>
              <a:t>Registered profiles</a:t>
            </a:r>
          </a:p>
        </p:txBody>
      </p:sp>
      <p:sp>
        <p:nvSpPr>
          <p:cNvPr id="25" name="TextBox 24"/>
          <p:cNvSpPr txBox="1"/>
          <p:nvPr/>
        </p:nvSpPr>
        <p:spPr>
          <a:xfrm>
            <a:off x="2798064" y="2586197"/>
            <a:ext cx="1024128" cy="196595"/>
          </a:xfrm>
          <a:prstGeom prst="rect">
            <a:avLst/>
          </a:prstGeom>
          <a:noFill/>
        </p:spPr>
        <p:txBody>
          <a:bodyPr wrap="square" lIns="0" rIns="0" tIns="0" bIns="0" anchor="t">
            <a:noAutofit/>
          </a:bodyPr>
          <a:lstStyle/>
          <a:p>
            <a:pPr algn="l">
              <a:lnSpc>
                <a:spcPct val="100000"/>
              </a:lnSpc>
            </a:pPr>
            <a:r>
              <a:rPr sz="819" b="0">
                <a:solidFill>
                  <a:srgbClr val="1F3326"/>
                </a:solidFill>
                <a:latin typeface="Arial"/>
              </a:rPr>
              <a:t>8,000</a:t>
            </a:r>
          </a:p>
        </p:txBody>
      </p:sp>
      <p:sp>
        <p:nvSpPr>
          <p:cNvPr id="26" name="TextBox 25"/>
          <p:cNvSpPr txBox="1"/>
          <p:nvPr/>
        </p:nvSpPr>
        <p:spPr>
          <a:xfrm>
            <a:off x="3950207" y="2586197"/>
            <a:ext cx="786384" cy="196595"/>
          </a:xfrm>
          <a:prstGeom prst="rect">
            <a:avLst/>
          </a:prstGeom>
          <a:noFill/>
        </p:spPr>
        <p:txBody>
          <a:bodyPr wrap="square" lIns="0" rIns="0" tIns="0" bIns="0" anchor="t">
            <a:noAutofit/>
          </a:bodyPr>
          <a:lstStyle/>
          <a:p>
            <a:pPr algn="l">
              <a:lnSpc>
                <a:spcPct val="100000"/>
              </a:lnSpc>
            </a:pPr>
            <a:r>
              <a:rPr sz="819" b="0">
                <a:solidFill>
                  <a:srgbClr val="1F3326"/>
                </a:solidFill>
                <a:latin typeface="Arial"/>
              </a:rPr>
              <a:t>12,000</a:t>
            </a:r>
          </a:p>
        </p:txBody>
      </p:sp>
      <p:sp>
        <p:nvSpPr>
          <p:cNvPr id="27" name="TextBox 26"/>
          <p:cNvSpPr txBox="1"/>
          <p:nvPr/>
        </p:nvSpPr>
        <p:spPr>
          <a:xfrm>
            <a:off x="4864607" y="2586197"/>
            <a:ext cx="841248" cy="196595"/>
          </a:xfrm>
          <a:prstGeom prst="rect">
            <a:avLst/>
          </a:prstGeom>
          <a:noFill/>
        </p:spPr>
        <p:txBody>
          <a:bodyPr wrap="square" lIns="0" rIns="0" tIns="0" bIns="0" anchor="t">
            <a:noAutofit/>
          </a:bodyPr>
          <a:lstStyle/>
          <a:p>
            <a:pPr algn="l">
              <a:lnSpc>
                <a:spcPct val="100000"/>
              </a:lnSpc>
            </a:pPr>
            <a:r>
              <a:rPr sz="819" b="0">
                <a:solidFill>
                  <a:srgbClr val="1F3326"/>
                </a:solidFill>
                <a:latin typeface="Arial"/>
              </a:rPr>
              <a:t>17,600</a:t>
            </a:r>
          </a:p>
        </p:txBody>
      </p:sp>
      <p:sp>
        <p:nvSpPr>
          <p:cNvPr id="28" name="TextBox 27"/>
          <p:cNvSpPr txBox="1"/>
          <p:nvPr/>
        </p:nvSpPr>
        <p:spPr>
          <a:xfrm>
            <a:off x="5833871" y="2586197"/>
            <a:ext cx="2761488" cy="196595"/>
          </a:xfrm>
          <a:prstGeom prst="rect">
            <a:avLst/>
          </a:prstGeom>
          <a:noFill/>
        </p:spPr>
        <p:txBody>
          <a:bodyPr wrap="square" lIns="0" rIns="0" tIns="0" bIns="0" anchor="t">
            <a:noAutofit/>
          </a:bodyPr>
          <a:lstStyle/>
          <a:p>
            <a:pPr algn="l">
              <a:lnSpc>
                <a:spcPct val="100000"/>
              </a:lnSpc>
            </a:pPr>
            <a:r>
              <a:rPr sz="819" b="0">
                <a:solidFill>
                  <a:srgbClr val="1F3326"/>
                </a:solidFill>
                <a:latin typeface="Arial"/>
              </a:rPr>
              <a:t>Derived</a:t>
            </a:r>
          </a:p>
        </p:txBody>
      </p:sp>
      <p:sp>
        <p:nvSpPr>
          <p:cNvPr id="29" name="Rectangle 28"/>
          <p:cNvSpPr/>
          <p:nvPr/>
        </p:nvSpPr>
        <p:spPr>
          <a:xfrm>
            <a:off x="512064" y="2805653"/>
            <a:ext cx="8119872" cy="269748"/>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0" name="TextBox 29"/>
          <p:cNvSpPr txBox="1"/>
          <p:nvPr/>
        </p:nvSpPr>
        <p:spPr>
          <a:xfrm>
            <a:off x="603504" y="2855945"/>
            <a:ext cx="2066543" cy="196595"/>
          </a:xfrm>
          <a:prstGeom prst="rect">
            <a:avLst/>
          </a:prstGeom>
          <a:noFill/>
        </p:spPr>
        <p:txBody>
          <a:bodyPr wrap="square" lIns="0" rIns="0" tIns="0" bIns="0" anchor="t">
            <a:noAutofit/>
          </a:bodyPr>
          <a:lstStyle/>
          <a:p>
            <a:pPr algn="l">
              <a:lnSpc>
                <a:spcPct val="100000"/>
              </a:lnSpc>
            </a:pPr>
            <a:r>
              <a:rPr sz="819" b="1">
                <a:solidFill>
                  <a:srgbClr val="006838"/>
                </a:solidFill>
                <a:latin typeface="Arial"/>
              </a:rPr>
              <a:t>Registrants who upload a receipt</a:t>
            </a:r>
          </a:p>
        </p:txBody>
      </p:sp>
      <p:sp>
        <p:nvSpPr>
          <p:cNvPr id="31" name="TextBox 30"/>
          <p:cNvSpPr txBox="1"/>
          <p:nvPr/>
        </p:nvSpPr>
        <p:spPr>
          <a:xfrm>
            <a:off x="2798064" y="2855945"/>
            <a:ext cx="1024128" cy="196595"/>
          </a:xfrm>
          <a:prstGeom prst="rect">
            <a:avLst/>
          </a:prstGeom>
          <a:noFill/>
        </p:spPr>
        <p:txBody>
          <a:bodyPr wrap="square" lIns="0" rIns="0" tIns="0" bIns="0" anchor="t">
            <a:noAutofit/>
          </a:bodyPr>
          <a:lstStyle/>
          <a:p>
            <a:pPr algn="l">
              <a:lnSpc>
                <a:spcPct val="100000"/>
              </a:lnSpc>
            </a:pPr>
            <a:r>
              <a:rPr sz="819" b="0">
                <a:solidFill>
                  <a:srgbClr val="1F3326"/>
                </a:solidFill>
                <a:latin typeface="Arial"/>
              </a:rPr>
              <a:t>35%</a:t>
            </a:r>
          </a:p>
        </p:txBody>
      </p:sp>
      <p:sp>
        <p:nvSpPr>
          <p:cNvPr id="32" name="TextBox 31"/>
          <p:cNvSpPr txBox="1"/>
          <p:nvPr/>
        </p:nvSpPr>
        <p:spPr>
          <a:xfrm>
            <a:off x="3950207" y="2855945"/>
            <a:ext cx="786384" cy="196595"/>
          </a:xfrm>
          <a:prstGeom prst="rect">
            <a:avLst/>
          </a:prstGeom>
          <a:noFill/>
        </p:spPr>
        <p:txBody>
          <a:bodyPr wrap="square" lIns="0" rIns="0" tIns="0" bIns="0" anchor="t">
            <a:noAutofit/>
          </a:bodyPr>
          <a:lstStyle/>
          <a:p>
            <a:pPr algn="l">
              <a:lnSpc>
                <a:spcPct val="100000"/>
              </a:lnSpc>
            </a:pPr>
            <a:r>
              <a:rPr sz="819" b="0">
                <a:solidFill>
                  <a:srgbClr val="1F3326"/>
                </a:solidFill>
                <a:latin typeface="Arial"/>
              </a:rPr>
              <a:t>42%</a:t>
            </a:r>
          </a:p>
        </p:txBody>
      </p:sp>
      <p:sp>
        <p:nvSpPr>
          <p:cNvPr id="33" name="TextBox 32"/>
          <p:cNvSpPr txBox="1"/>
          <p:nvPr/>
        </p:nvSpPr>
        <p:spPr>
          <a:xfrm>
            <a:off x="4864607" y="2855945"/>
            <a:ext cx="841248" cy="196595"/>
          </a:xfrm>
          <a:prstGeom prst="rect">
            <a:avLst/>
          </a:prstGeom>
          <a:noFill/>
        </p:spPr>
        <p:txBody>
          <a:bodyPr wrap="square" lIns="0" rIns="0" tIns="0" bIns="0" anchor="t">
            <a:noAutofit/>
          </a:bodyPr>
          <a:lstStyle/>
          <a:p>
            <a:pPr algn="l">
              <a:lnSpc>
                <a:spcPct val="100000"/>
              </a:lnSpc>
            </a:pPr>
            <a:r>
              <a:rPr sz="819" b="0">
                <a:solidFill>
                  <a:srgbClr val="1F3326"/>
                </a:solidFill>
                <a:latin typeface="Arial"/>
              </a:rPr>
              <a:t>50%</a:t>
            </a:r>
          </a:p>
        </p:txBody>
      </p:sp>
      <p:sp>
        <p:nvSpPr>
          <p:cNvPr id="34" name="TextBox 33"/>
          <p:cNvSpPr txBox="1"/>
          <p:nvPr/>
        </p:nvSpPr>
        <p:spPr>
          <a:xfrm>
            <a:off x="5833871" y="2855945"/>
            <a:ext cx="2761488" cy="196595"/>
          </a:xfrm>
          <a:prstGeom prst="rect">
            <a:avLst/>
          </a:prstGeom>
          <a:noFill/>
        </p:spPr>
        <p:txBody>
          <a:bodyPr wrap="square" lIns="0" rIns="0" tIns="0" bIns="0" anchor="t">
            <a:noAutofit/>
          </a:bodyPr>
          <a:lstStyle/>
          <a:p>
            <a:pPr algn="l">
              <a:lnSpc>
                <a:spcPct val="100000"/>
              </a:lnSpc>
            </a:pPr>
            <a:r>
              <a:rPr sz="819" b="0">
                <a:solidFill>
                  <a:srgbClr val="1F3326"/>
                </a:solidFill>
                <a:latin typeface="Arial"/>
              </a:rPr>
              <a:t>Assumed</a:t>
            </a:r>
          </a:p>
        </p:txBody>
      </p:sp>
      <p:sp>
        <p:nvSpPr>
          <p:cNvPr id="35" name="Rectangle 34"/>
          <p:cNvSpPr/>
          <p:nvPr/>
        </p:nvSpPr>
        <p:spPr>
          <a:xfrm>
            <a:off x="512064" y="3075401"/>
            <a:ext cx="8119872" cy="2697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6" name="TextBox 35"/>
          <p:cNvSpPr txBox="1"/>
          <p:nvPr/>
        </p:nvSpPr>
        <p:spPr>
          <a:xfrm>
            <a:off x="603504" y="3125693"/>
            <a:ext cx="2066543" cy="196595"/>
          </a:xfrm>
          <a:prstGeom prst="rect">
            <a:avLst/>
          </a:prstGeom>
          <a:noFill/>
        </p:spPr>
        <p:txBody>
          <a:bodyPr wrap="square" lIns="0" rIns="0" tIns="0" bIns="0" anchor="t">
            <a:noAutofit/>
          </a:bodyPr>
          <a:lstStyle/>
          <a:p>
            <a:pPr algn="l">
              <a:lnSpc>
                <a:spcPct val="100000"/>
              </a:lnSpc>
            </a:pPr>
            <a:r>
              <a:rPr sz="819" b="1">
                <a:solidFill>
                  <a:srgbClr val="006838"/>
                </a:solidFill>
                <a:latin typeface="Arial"/>
              </a:rPr>
              <a:t>Contest entrants</a:t>
            </a:r>
          </a:p>
        </p:txBody>
      </p:sp>
      <p:sp>
        <p:nvSpPr>
          <p:cNvPr id="37" name="TextBox 36"/>
          <p:cNvSpPr txBox="1"/>
          <p:nvPr/>
        </p:nvSpPr>
        <p:spPr>
          <a:xfrm>
            <a:off x="2798064" y="3125693"/>
            <a:ext cx="1024128" cy="196595"/>
          </a:xfrm>
          <a:prstGeom prst="rect">
            <a:avLst/>
          </a:prstGeom>
          <a:noFill/>
        </p:spPr>
        <p:txBody>
          <a:bodyPr wrap="square" lIns="0" rIns="0" tIns="0" bIns="0" anchor="t">
            <a:noAutofit/>
          </a:bodyPr>
          <a:lstStyle/>
          <a:p>
            <a:pPr algn="l">
              <a:lnSpc>
                <a:spcPct val="100000"/>
              </a:lnSpc>
            </a:pPr>
            <a:r>
              <a:rPr sz="819" b="0">
                <a:solidFill>
                  <a:srgbClr val="1F3326"/>
                </a:solidFill>
                <a:latin typeface="Arial"/>
              </a:rPr>
              <a:t>2,800</a:t>
            </a:r>
          </a:p>
        </p:txBody>
      </p:sp>
      <p:sp>
        <p:nvSpPr>
          <p:cNvPr id="38" name="TextBox 37"/>
          <p:cNvSpPr txBox="1"/>
          <p:nvPr/>
        </p:nvSpPr>
        <p:spPr>
          <a:xfrm>
            <a:off x="3950207" y="3125693"/>
            <a:ext cx="786384" cy="196595"/>
          </a:xfrm>
          <a:prstGeom prst="rect">
            <a:avLst/>
          </a:prstGeom>
          <a:noFill/>
        </p:spPr>
        <p:txBody>
          <a:bodyPr wrap="square" lIns="0" rIns="0" tIns="0" bIns="0" anchor="t">
            <a:noAutofit/>
          </a:bodyPr>
          <a:lstStyle/>
          <a:p>
            <a:pPr algn="l">
              <a:lnSpc>
                <a:spcPct val="100000"/>
              </a:lnSpc>
            </a:pPr>
            <a:r>
              <a:rPr sz="819" b="0">
                <a:solidFill>
                  <a:srgbClr val="1F3326"/>
                </a:solidFill>
                <a:latin typeface="Arial"/>
              </a:rPr>
              <a:t>5,040</a:t>
            </a:r>
          </a:p>
        </p:txBody>
      </p:sp>
      <p:sp>
        <p:nvSpPr>
          <p:cNvPr id="39" name="TextBox 38"/>
          <p:cNvSpPr txBox="1"/>
          <p:nvPr/>
        </p:nvSpPr>
        <p:spPr>
          <a:xfrm>
            <a:off x="4864607" y="3125693"/>
            <a:ext cx="841248" cy="196595"/>
          </a:xfrm>
          <a:prstGeom prst="rect">
            <a:avLst/>
          </a:prstGeom>
          <a:noFill/>
        </p:spPr>
        <p:txBody>
          <a:bodyPr wrap="square" lIns="0" rIns="0" tIns="0" bIns="0" anchor="t">
            <a:noAutofit/>
          </a:bodyPr>
          <a:lstStyle/>
          <a:p>
            <a:pPr algn="l">
              <a:lnSpc>
                <a:spcPct val="100000"/>
              </a:lnSpc>
            </a:pPr>
            <a:r>
              <a:rPr sz="819" b="0">
                <a:solidFill>
                  <a:srgbClr val="1F3326"/>
                </a:solidFill>
                <a:latin typeface="Arial"/>
              </a:rPr>
              <a:t>8,800</a:t>
            </a:r>
          </a:p>
        </p:txBody>
      </p:sp>
      <p:sp>
        <p:nvSpPr>
          <p:cNvPr id="40" name="TextBox 39"/>
          <p:cNvSpPr txBox="1"/>
          <p:nvPr/>
        </p:nvSpPr>
        <p:spPr>
          <a:xfrm>
            <a:off x="5833871" y="3125693"/>
            <a:ext cx="2761488" cy="196595"/>
          </a:xfrm>
          <a:prstGeom prst="rect">
            <a:avLst/>
          </a:prstGeom>
          <a:noFill/>
        </p:spPr>
        <p:txBody>
          <a:bodyPr wrap="square" lIns="0" rIns="0" tIns="0" bIns="0" anchor="t">
            <a:noAutofit/>
          </a:bodyPr>
          <a:lstStyle/>
          <a:p>
            <a:pPr algn="l">
              <a:lnSpc>
                <a:spcPct val="100000"/>
              </a:lnSpc>
            </a:pPr>
            <a:r>
              <a:rPr sz="819" b="0">
                <a:solidFill>
                  <a:srgbClr val="1F3326"/>
                </a:solidFill>
                <a:latin typeface="Arial"/>
              </a:rPr>
              <a:t>Derived. Brief target is 4,000</a:t>
            </a:r>
          </a:p>
        </p:txBody>
      </p:sp>
      <p:sp>
        <p:nvSpPr>
          <p:cNvPr id="41" name="Rectangle 40"/>
          <p:cNvSpPr/>
          <p:nvPr/>
        </p:nvSpPr>
        <p:spPr>
          <a:xfrm>
            <a:off x="512064" y="3345149"/>
            <a:ext cx="8119872" cy="269748"/>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2" name="TextBox 41"/>
          <p:cNvSpPr txBox="1"/>
          <p:nvPr/>
        </p:nvSpPr>
        <p:spPr>
          <a:xfrm>
            <a:off x="603504" y="3395441"/>
            <a:ext cx="2066543" cy="196595"/>
          </a:xfrm>
          <a:prstGeom prst="rect">
            <a:avLst/>
          </a:prstGeom>
          <a:noFill/>
        </p:spPr>
        <p:txBody>
          <a:bodyPr wrap="square" lIns="0" rIns="0" tIns="0" bIns="0" anchor="t">
            <a:noAutofit/>
          </a:bodyPr>
          <a:lstStyle/>
          <a:p>
            <a:pPr algn="l">
              <a:lnSpc>
                <a:spcPct val="100000"/>
              </a:lnSpc>
            </a:pPr>
            <a:r>
              <a:rPr sz="819" b="1">
                <a:solidFill>
                  <a:srgbClr val="006838"/>
                </a:solidFill>
                <a:latin typeface="Arial"/>
              </a:rPr>
              <a:t>Receipts per entrant</a:t>
            </a:r>
          </a:p>
        </p:txBody>
      </p:sp>
      <p:sp>
        <p:nvSpPr>
          <p:cNvPr id="43" name="TextBox 42"/>
          <p:cNvSpPr txBox="1"/>
          <p:nvPr/>
        </p:nvSpPr>
        <p:spPr>
          <a:xfrm>
            <a:off x="2798064" y="3395441"/>
            <a:ext cx="1024128" cy="196595"/>
          </a:xfrm>
          <a:prstGeom prst="rect">
            <a:avLst/>
          </a:prstGeom>
          <a:noFill/>
        </p:spPr>
        <p:txBody>
          <a:bodyPr wrap="square" lIns="0" rIns="0" tIns="0" bIns="0" anchor="t">
            <a:noAutofit/>
          </a:bodyPr>
          <a:lstStyle/>
          <a:p>
            <a:pPr algn="l">
              <a:lnSpc>
                <a:spcPct val="100000"/>
              </a:lnSpc>
            </a:pPr>
            <a:r>
              <a:rPr sz="819" b="0">
                <a:solidFill>
                  <a:srgbClr val="1F3326"/>
                </a:solidFill>
                <a:latin typeface="Arial"/>
              </a:rPr>
              <a:t>2.0</a:t>
            </a:r>
          </a:p>
        </p:txBody>
      </p:sp>
      <p:sp>
        <p:nvSpPr>
          <p:cNvPr id="44" name="TextBox 43"/>
          <p:cNvSpPr txBox="1"/>
          <p:nvPr/>
        </p:nvSpPr>
        <p:spPr>
          <a:xfrm>
            <a:off x="3950207" y="3395441"/>
            <a:ext cx="786384" cy="196595"/>
          </a:xfrm>
          <a:prstGeom prst="rect">
            <a:avLst/>
          </a:prstGeom>
          <a:noFill/>
        </p:spPr>
        <p:txBody>
          <a:bodyPr wrap="square" lIns="0" rIns="0" tIns="0" bIns="0" anchor="t">
            <a:noAutofit/>
          </a:bodyPr>
          <a:lstStyle/>
          <a:p>
            <a:pPr algn="l">
              <a:lnSpc>
                <a:spcPct val="100000"/>
              </a:lnSpc>
            </a:pPr>
            <a:r>
              <a:rPr sz="819" b="0">
                <a:solidFill>
                  <a:srgbClr val="1F3326"/>
                </a:solidFill>
                <a:latin typeface="Arial"/>
              </a:rPr>
              <a:t>2.6</a:t>
            </a:r>
          </a:p>
        </p:txBody>
      </p:sp>
      <p:sp>
        <p:nvSpPr>
          <p:cNvPr id="45" name="TextBox 44"/>
          <p:cNvSpPr txBox="1"/>
          <p:nvPr/>
        </p:nvSpPr>
        <p:spPr>
          <a:xfrm>
            <a:off x="4864607" y="3395441"/>
            <a:ext cx="841248" cy="196595"/>
          </a:xfrm>
          <a:prstGeom prst="rect">
            <a:avLst/>
          </a:prstGeom>
          <a:noFill/>
        </p:spPr>
        <p:txBody>
          <a:bodyPr wrap="square" lIns="0" rIns="0" tIns="0" bIns="0" anchor="t">
            <a:noAutofit/>
          </a:bodyPr>
          <a:lstStyle/>
          <a:p>
            <a:pPr algn="l">
              <a:lnSpc>
                <a:spcPct val="100000"/>
              </a:lnSpc>
            </a:pPr>
            <a:r>
              <a:rPr sz="819" b="0">
                <a:solidFill>
                  <a:srgbClr val="1F3326"/>
                </a:solidFill>
                <a:latin typeface="Arial"/>
              </a:rPr>
              <a:t>3.2</a:t>
            </a:r>
          </a:p>
        </p:txBody>
      </p:sp>
      <p:sp>
        <p:nvSpPr>
          <p:cNvPr id="46" name="TextBox 45"/>
          <p:cNvSpPr txBox="1"/>
          <p:nvPr/>
        </p:nvSpPr>
        <p:spPr>
          <a:xfrm>
            <a:off x="5833871" y="3395441"/>
            <a:ext cx="2761488" cy="196595"/>
          </a:xfrm>
          <a:prstGeom prst="rect">
            <a:avLst/>
          </a:prstGeom>
          <a:noFill/>
        </p:spPr>
        <p:txBody>
          <a:bodyPr wrap="square" lIns="0" rIns="0" tIns="0" bIns="0" anchor="t">
            <a:noAutofit/>
          </a:bodyPr>
          <a:lstStyle/>
          <a:p>
            <a:pPr algn="l">
              <a:lnSpc>
                <a:spcPct val="100000"/>
              </a:lnSpc>
            </a:pPr>
            <a:r>
              <a:rPr sz="819" b="0">
                <a:solidFill>
                  <a:srgbClr val="1F3326"/>
                </a:solidFill>
                <a:latin typeface="Arial"/>
              </a:rPr>
              <a:t>Assumed. Milestones drive repeats</a:t>
            </a:r>
          </a:p>
        </p:txBody>
      </p:sp>
      <p:sp>
        <p:nvSpPr>
          <p:cNvPr id="47" name="Rectangle 46"/>
          <p:cNvSpPr/>
          <p:nvPr/>
        </p:nvSpPr>
        <p:spPr>
          <a:xfrm>
            <a:off x="512064" y="3614897"/>
            <a:ext cx="8119872" cy="2697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8" name="TextBox 47"/>
          <p:cNvSpPr txBox="1"/>
          <p:nvPr/>
        </p:nvSpPr>
        <p:spPr>
          <a:xfrm>
            <a:off x="603504" y="3665189"/>
            <a:ext cx="2066543" cy="196595"/>
          </a:xfrm>
          <a:prstGeom prst="rect">
            <a:avLst/>
          </a:prstGeom>
          <a:noFill/>
        </p:spPr>
        <p:txBody>
          <a:bodyPr wrap="square" lIns="0" rIns="0" tIns="0" bIns="0" anchor="t">
            <a:noAutofit/>
          </a:bodyPr>
          <a:lstStyle/>
          <a:p>
            <a:pPr algn="l">
              <a:lnSpc>
                <a:spcPct val="100000"/>
              </a:lnSpc>
            </a:pPr>
            <a:r>
              <a:rPr sz="819" b="1">
                <a:solidFill>
                  <a:srgbClr val="006838"/>
                </a:solidFill>
                <a:latin typeface="Arial"/>
              </a:rPr>
              <a:t>Qualifying receipts</a:t>
            </a:r>
          </a:p>
        </p:txBody>
      </p:sp>
      <p:sp>
        <p:nvSpPr>
          <p:cNvPr id="49" name="TextBox 48"/>
          <p:cNvSpPr txBox="1"/>
          <p:nvPr/>
        </p:nvSpPr>
        <p:spPr>
          <a:xfrm>
            <a:off x="2798064" y="3665189"/>
            <a:ext cx="1024128" cy="196595"/>
          </a:xfrm>
          <a:prstGeom prst="rect">
            <a:avLst/>
          </a:prstGeom>
          <a:noFill/>
        </p:spPr>
        <p:txBody>
          <a:bodyPr wrap="square" lIns="0" rIns="0" tIns="0" bIns="0" anchor="t">
            <a:noAutofit/>
          </a:bodyPr>
          <a:lstStyle/>
          <a:p>
            <a:pPr algn="l">
              <a:lnSpc>
                <a:spcPct val="100000"/>
              </a:lnSpc>
            </a:pPr>
            <a:r>
              <a:rPr sz="819" b="0">
                <a:solidFill>
                  <a:srgbClr val="1F3326"/>
                </a:solidFill>
                <a:latin typeface="Arial"/>
              </a:rPr>
              <a:t>5,600</a:t>
            </a:r>
          </a:p>
        </p:txBody>
      </p:sp>
      <p:sp>
        <p:nvSpPr>
          <p:cNvPr id="50" name="TextBox 49"/>
          <p:cNvSpPr txBox="1"/>
          <p:nvPr/>
        </p:nvSpPr>
        <p:spPr>
          <a:xfrm>
            <a:off x="3950207" y="3665189"/>
            <a:ext cx="786384" cy="196595"/>
          </a:xfrm>
          <a:prstGeom prst="rect">
            <a:avLst/>
          </a:prstGeom>
          <a:noFill/>
        </p:spPr>
        <p:txBody>
          <a:bodyPr wrap="square" lIns="0" rIns="0" tIns="0" bIns="0" anchor="t">
            <a:noAutofit/>
          </a:bodyPr>
          <a:lstStyle/>
          <a:p>
            <a:pPr algn="l">
              <a:lnSpc>
                <a:spcPct val="100000"/>
              </a:lnSpc>
            </a:pPr>
            <a:r>
              <a:rPr sz="819" b="0">
                <a:solidFill>
                  <a:srgbClr val="1F3326"/>
                </a:solidFill>
                <a:latin typeface="Arial"/>
              </a:rPr>
              <a:t>13,100</a:t>
            </a:r>
          </a:p>
        </p:txBody>
      </p:sp>
      <p:sp>
        <p:nvSpPr>
          <p:cNvPr id="51" name="TextBox 50"/>
          <p:cNvSpPr txBox="1"/>
          <p:nvPr/>
        </p:nvSpPr>
        <p:spPr>
          <a:xfrm>
            <a:off x="4864607" y="3665189"/>
            <a:ext cx="841248" cy="196595"/>
          </a:xfrm>
          <a:prstGeom prst="rect">
            <a:avLst/>
          </a:prstGeom>
          <a:noFill/>
        </p:spPr>
        <p:txBody>
          <a:bodyPr wrap="square" lIns="0" rIns="0" tIns="0" bIns="0" anchor="t">
            <a:noAutofit/>
          </a:bodyPr>
          <a:lstStyle/>
          <a:p>
            <a:pPr algn="l">
              <a:lnSpc>
                <a:spcPct val="100000"/>
              </a:lnSpc>
            </a:pPr>
            <a:r>
              <a:rPr sz="819" b="0">
                <a:solidFill>
                  <a:srgbClr val="1F3326"/>
                </a:solidFill>
                <a:latin typeface="Arial"/>
              </a:rPr>
              <a:t>28,200</a:t>
            </a:r>
          </a:p>
        </p:txBody>
      </p:sp>
      <p:sp>
        <p:nvSpPr>
          <p:cNvPr id="52" name="TextBox 51"/>
          <p:cNvSpPr txBox="1"/>
          <p:nvPr/>
        </p:nvSpPr>
        <p:spPr>
          <a:xfrm>
            <a:off x="5833871" y="3665189"/>
            <a:ext cx="2761488" cy="196595"/>
          </a:xfrm>
          <a:prstGeom prst="rect">
            <a:avLst/>
          </a:prstGeom>
          <a:noFill/>
        </p:spPr>
        <p:txBody>
          <a:bodyPr wrap="square" lIns="0" rIns="0" tIns="0" bIns="0" anchor="t">
            <a:noAutofit/>
          </a:bodyPr>
          <a:lstStyle/>
          <a:p>
            <a:pPr algn="l">
              <a:lnSpc>
                <a:spcPct val="100000"/>
              </a:lnSpc>
            </a:pPr>
            <a:r>
              <a:rPr sz="819" b="0">
                <a:solidFill>
                  <a:srgbClr val="1F3326"/>
                </a:solidFill>
                <a:latin typeface="Arial"/>
              </a:rPr>
              <a:t>Derived</a:t>
            </a:r>
          </a:p>
        </p:txBody>
      </p:sp>
      <p:sp>
        <p:nvSpPr>
          <p:cNvPr id="53" name="Rectangle 52"/>
          <p:cNvSpPr/>
          <p:nvPr/>
        </p:nvSpPr>
        <p:spPr>
          <a:xfrm>
            <a:off x="438912" y="4443984"/>
            <a:ext cx="8266175" cy="402336"/>
          </a:xfrm>
          <a:prstGeom prst="rect">
            <a:avLst/>
          </a:prstGeom>
          <a:solidFill>
            <a:srgbClr val="052B1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4" name="TextBox 53"/>
          <p:cNvSpPr txBox="1"/>
          <p:nvPr/>
        </p:nvSpPr>
        <p:spPr>
          <a:xfrm>
            <a:off x="658368" y="4480560"/>
            <a:ext cx="7827264" cy="347472"/>
          </a:xfrm>
          <a:prstGeom prst="rect">
            <a:avLst/>
          </a:prstGeom>
          <a:noFill/>
        </p:spPr>
        <p:txBody>
          <a:bodyPr wrap="square" lIns="0" rIns="0" tIns="0" bIns="0" anchor="ctr">
            <a:noAutofit/>
          </a:bodyPr>
          <a:lstStyle/>
          <a:p>
            <a:pPr algn="l">
              <a:lnSpc>
                <a:spcPct val="100000"/>
              </a:lnSpc>
            </a:pPr>
            <a:r>
              <a:rPr sz="950" b="1">
                <a:solidFill>
                  <a:srgbClr val="F5EC2E"/>
                </a:solidFill>
                <a:latin typeface="Arial"/>
              </a:rPr>
              <a:t>Why the entrant count can clear 2026 by this much: </a:t>
            </a:r>
            <a:r>
              <a:rPr sz="950" b="0">
                <a:solidFill>
                  <a:srgbClr val="FFFFFF"/>
                </a:solidFill>
                <a:latin typeface="Arial"/>
              </a:rPr>
              <a:t>qualifying spend falls from RM175 across two brands to RM25 of Saji at any grocer, and registration no longer waits for a receipt to exist.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6FAEC"/>
        </a:solidFill>
        <a:effectLst/>
      </p:bgPr>
    </p:bg>
    <p:spTree>
      <p:nvGrpSpPr>
        <p:cNvPr id="1" name=""/>
        <p:cNvGrpSpPr/>
        <p:nvPr/>
      </p:nvGrpSpPr>
      <p:grpSpPr/>
      <p:sp>
        <p:nvSpPr>
          <p:cNvPr id="2" name="Rectangle 1"/>
          <p:cNvSpPr/>
          <p:nvPr/>
        </p:nvSpPr>
        <p:spPr>
          <a:xfrm>
            <a:off x="512064" y="365760"/>
            <a:ext cx="219456" cy="73152"/>
          </a:xfrm>
          <a:prstGeom prst="rect">
            <a:avLst/>
          </a:prstGeom>
          <a:solidFill>
            <a:srgbClr val="C51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 name="TextBox 2"/>
          <p:cNvSpPr txBox="1"/>
          <p:nvPr/>
        </p:nvSpPr>
        <p:spPr>
          <a:xfrm>
            <a:off x="512064" y="566928"/>
            <a:ext cx="8119872" cy="475488"/>
          </a:xfrm>
          <a:prstGeom prst="rect">
            <a:avLst/>
          </a:prstGeom>
          <a:noFill/>
        </p:spPr>
        <p:txBody>
          <a:bodyPr wrap="square" lIns="0" rIns="0" tIns="0" bIns="0" anchor="t">
            <a:noAutofit/>
          </a:bodyPr>
          <a:lstStyle/>
          <a:p>
            <a:pPr algn="l">
              <a:lnSpc>
                <a:spcPct val="96000"/>
              </a:lnSpc>
            </a:pPr>
            <a:r>
              <a:rPr sz="2400" b="0">
                <a:solidFill>
                  <a:srgbClr val="006838"/>
                </a:solidFill>
                <a:latin typeface="Arial Black"/>
              </a:rPr>
              <a:t>RM145,000, and what it delivers.</a:t>
            </a:r>
          </a:p>
        </p:txBody>
      </p:sp>
      <p:sp>
        <p:nvSpPr>
          <p:cNvPr id="4" name="TextBox 3"/>
          <p:cNvSpPr txBox="1"/>
          <p:nvPr/>
        </p:nvSpPr>
        <p:spPr>
          <a:xfrm>
            <a:off x="512064" y="1060704"/>
            <a:ext cx="8119872" cy="365760"/>
          </a:xfrm>
          <a:prstGeom prst="rect">
            <a:avLst/>
          </a:prstGeom>
          <a:noFill/>
        </p:spPr>
        <p:txBody>
          <a:bodyPr wrap="square" lIns="0" rIns="0" tIns="0" bIns="0" anchor="t">
            <a:noAutofit/>
          </a:bodyPr>
          <a:lstStyle/>
          <a:p>
            <a:pPr algn="l">
              <a:lnSpc>
                <a:spcPct val="112000"/>
              </a:lnSpc>
            </a:pPr>
            <a:r>
              <a:rPr sz="1100" b="0">
                <a:solidFill>
                  <a:srgbClr val="6E8A76"/>
                </a:solidFill>
                <a:latin typeface="Arial"/>
              </a:rPr>
              <a:t>The total campaign investment covering the media buy, production, creative and campaign management across the full ten week window. This sits separate from the RM145,000 contest prize pool, which the client funds directly.</a:t>
            </a:r>
          </a:p>
        </p:txBody>
      </p:sp>
      <p:sp>
        <p:nvSpPr>
          <p:cNvPr id="5" name="Rectangle 4"/>
          <p:cNvSpPr/>
          <p:nvPr/>
        </p:nvSpPr>
        <p:spPr>
          <a:xfrm>
            <a:off x="512064" y="1536192"/>
            <a:ext cx="2584704" cy="512064"/>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Rectangle 5"/>
          <p:cNvSpPr/>
          <p:nvPr/>
        </p:nvSpPr>
        <p:spPr>
          <a:xfrm>
            <a:off x="512064" y="1536192"/>
            <a:ext cx="45720" cy="512064"/>
          </a:xfrm>
          <a:prstGeom prst="rect">
            <a:avLst/>
          </a:prstGeom>
          <a:solidFill>
            <a:srgbClr val="0068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7" name="TextBox 6"/>
          <p:cNvSpPr txBox="1"/>
          <p:nvPr/>
        </p:nvSpPr>
        <p:spPr>
          <a:xfrm>
            <a:off x="658368" y="1609344"/>
            <a:ext cx="914400" cy="274320"/>
          </a:xfrm>
          <a:prstGeom prst="rect">
            <a:avLst/>
          </a:prstGeom>
          <a:noFill/>
        </p:spPr>
        <p:txBody>
          <a:bodyPr wrap="square" lIns="0" rIns="0" tIns="0" bIns="0" anchor="t">
            <a:noAutofit/>
          </a:bodyPr>
          <a:lstStyle/>
          <a:p>
            <a:pPr algn="l">
              <a:lnSpc>
                <a:spcPct val="94000"/>
              </a:lnSpc>
            </a:pPr>
            <a:r>
              <a:rPr sz="1700" b="0">
                <a:solidFill>
                  <a:srgbClr val="006838"/>
                </a:solidFill>
                <a:latin typeface="Arial Black"/>
              </a:rPr>
              <a:t>40%</a:t>
            </a:r>
          </a:p>
        </p:txBody>
      </p:sp>
      <p:sp>
        <p:nvSpPr>
          <p:cNvPr id="8" name="TextBox 7"/>
          <p:cNvSpPr txBox="1"/>
          <p:nvPr/>
        </p:nvSpPr>
        <p:spPr>
          <a:xfrm>
            <a:off x="1444752" y="1664208"/>
            <a:ext cx="1524000" cy="274320"/>
          </a:xfrm>
          <a:prstGeom prst="rect">
            <a:avLst/>
          </a:prstGeom>
          <a:noFill/>
        </p:spPr>
        <p:txBody>
          <a:bodyPr wrap="square" lIns="0" rIns="0" tIns="0" bIns="0" anchor="t">
            <a:noAutofit/>
          </a:bodyPr>
          <a:lstStyle/>
          <a:p>
            <a:pPr algn="l">
              <a:lnSpc>
                <a:spcPct val="100000"/>
              </a:lnSpc>
            </a:pPr>
            <a:r>
              <a:rPr sz="950" b="1">
                <a:solidFill>
                  <a:srgbClr val="1F3326"/>
                </a:solidFill>
                <a:latin typeface="Arial"/>
              </a:rPr>
              <a:t>Contest conversion</a:t>
            </a:r>
          </a:p>
        </p:txBody>
      </p:sp>
      <p:sp>
        <p:nvSpPr>
          <p:cNvPr id="9" name="Rectangle 8"/>
          <p:cNvSpPr/>
          <p:nvPr/>
        </p:nvSpPr>
        <p:spPr>
          <a:xfrm>
            <a:off x="3279648" y="1536192"/>
            <a:ext cx="2584704" cy="512064"/>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0" name="Rectangle 9"/>
          <p:cNvSpPr/>
          <p:nvPr/>
        </p:nvSpPr>
        <p:spPr>
          <a:xfrm>
            <a:off x="3279648" y="1536192"/>
            <a:ext cx="45720" cy="512064"/>
          </a:xfrm>
          <a:prstGeom prst="rect">
            <a:avLst/>
          </a:prstGeom>
          <a:solidFill>
            <a:srgbClr val="E891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1" name="TextBox 10"/>
          <p:cNvSpPr txBox="1"/>
          <p:nvPr/>
        </p:nvSpPr>
        <p:spPr>
          <a:xfrm>
            <a:off x="3425952" y="1609344"/>
            <a:ext cx="914400" cy="274320"/>
          </a:xfrm>
          <a:prstGeom prst="rect">
            <a:avLst/>
          </a:prstGeom>
          <a:noFill/>
        </p:spPr>
        <p:txBody>
          <a:bodyPr wrap="square" lIns="0" rIns="0" tIns="0" bIns="0" anchor="t">
            <a:noAutofit/>
          </a:bodyPr>
          <a:lstStyle/>
          <a:p>
            <a:pPr algn="l">
              <a:lnSpc>
                <a:spcPct val="94000"/>
              </a:lnSpc>
            </a:pPr>
            <a:r>
              <a:rPr sz="1700" b="0">
                <a:solidFill>
                  <a:srgbClr val="E8912C"/>
                </a:solidFill>
                <a:latin typeface="Arial Black"/>
              </a:rPr>
              <a:t>52%</a:t>
            </a:r>
          </a:p>
        </p:txBody>
      </p:sp>
      <p:sp>
        <p:nvSpPr>
          <p:cNvPr id="12" name="TextBox 11"/>
          <p:cNvSpPr txBox="1"/>
          <p:nvPr/>
        </p:nvSpPr>
        <p:spPr>
          <a:xfrm>
            <a:off x="4212336" y="1664208"/>
            <a:ext cx="1524000" cy="274320"/>
          </a:xfrm>
          <a:prstGeom prst="rect">
            <a:avLst/>
          </a:prstGeom>
          <a:noFill/>
        </p:spPr>
        <p:txBody>
          <a:bodyPr wrap="square" lIns="0" rIns="0" tIns="0" bIns="0" anchor="t">
            <a:noAutofit/>
          </a:bodyPr>
          <a:lstStyle/>
          <a:p>
            <a:pPr algn="l">
              <a:lnSpc>
                <a:spcPct val="100000"/>
              </a:lnSpc>
            </a:pPr>
            <a:r>
              <a:rPr sz="950" b="1">
                <a:solidFill>
                  <a:srgbClr val="1F3326"/>
                </a:solidFill>
                <a:latin typeface="Arial"/>
              </a:rPr>
              <a:t>Video and reach</a:t>
            </a:r>
          </a:p>
        </p:txBody>
      </p:sp>
      <p:sp>
        <p:nvSpPr>
          <p:cNvPr id="13" name="Rectangle 12"/>
          <p:cNvSpPr/>
          <p:nvPr/>
        </p:nvSpPr>
        <p:spPr>
          <a:xfrm>
            <a:off x="6047232" y="1536192"/>
            <a:ext cx="2584704" cy="512064"/>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4" name="Rectangle 13"/>
          <p:cNvSpPr/>
          <p:nvPr/>
        </p:nvSpPr>
        <p:spPr>
          <a:xfrm>
            <a:off x="6047232" y="1536192"/>
            <a:ext cx="45720" cy="512064"/>
          </a:xfrm>
          <a:prstGeom prst="rect">
            <a:avLst/>
          </a:prstGeom>
          <a:solidFill>
            <a:srgbClr val="C51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5" name="TextBox 14"/>
          <p:cNvSpPr txBox="1"/>
          <p:nvPr/>
        </p:nvSpPr>
        <p:spPr>
          <a:xfrm>
            <a:off x="6193536" y="1609344"/>
            <a:ext cx="914400" cy="274320"/>
          </a:xfrm>
          <a:prstGeom prst="rect">
            <a:avLst/>
          </a:prstGeom>
          <a:noFill/>
        </p:spPr>
        <p:txBody>
          <a:bodyPr wrap="square" lIns="0" rIns="0" tIns="0" bIns="0" anchor="t">
            <a:noAutofit/>
          </a:bodyPr>
          <a:lstStyle/>
          <a:p>
            <a:pPr algn="l">
              <a:lnSpc>
                <a:spcPct val="94000"/>
              </a:lnSpc>
            </a:pPr>
            <a:r>
              <a:rPr sz="1700" b="0">
                <a:solidFill>
                  <a:srgbClr val="C5192B"/>
                </a:solidFill>
                <a:latin typeface="Arial Black"/>
              </a:rPr>
              <a:t>8%</a:t>
            </a:r>
          </a:p>
        </p:txBody>
      </p:sp>
      <p:sp>
        <p:nvSpPr>
          <p:cNvPr id="16" name="TextBox 15"/>
          <p:cNvSpPr txBox="1"/>
          <p:nvPr/>
        </p:nvSpPr>
        <p:spPr>
          <a:xfrm>
            <a:off x="6979920" y="1664208"/>
            <a:ext cx="1524000" cy="274320"/>
          </a:xfrm>
          <a:prstGeom prst="rect">
            <a:avLst/>
          </a:prstGeom>
          <a:noFill/>
        </p:spPr>
        <p:txBody>
          <a:bodyPr wrap="square" lIns="0" rIns="0" tIns="0" bIns="0" anchor="t">
            <a:noAutofit/>
          </a:bodyPr>
          <a:lstStyle/>
          <a:p>
            <a:pPr algn="l">
              <a:lnSpc>
                <a:spcPct val="100000"/>
              </a:lnSpc>
            </a:pPr>
            <a:r>
              <a:rPr sz="950" b="1">
                <a:solidFill>
                  <a:srgbClr val="1F3326"/>
                </a:solidFill>
                <a:latin typeface="Arial"/>
              </a:rPr>
              <a:t>KOL Spark Ads</a:t>
            </a:r>
          </a:p>
        </p:txBody>
      </p:sp>
      <p:sp>
        <p:nvSpPr>
          <p:cNvPr id="17" name="Rectangle 16"/>
          <p:cNvSpPr/>
          <p:nvPr/>
        </p:nvSpPr>
        <p:spPr>
          <a:xfrm>
            <a:off x="512064" y="2212848"/>
            <a:ext cx="8119871" cy="274320"/>
          </a:xfrm>
          <a:prstGeom prst="rect">
            <a:avLst/>
          </a:prstGeom>
          <a:solidFill>
            <a:srgbClr val="0068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8" name="TextBox 17"/>
          <p:cNvSpPr txBox="1"/>
          <p:nvPr/>
        </p:nvSpPr>
        <p:spPr>
          <a:xfrm>
            <a:off x="603504" y="2267712"/>
            <a:ext cx="2121408" cy="182880"/>
          </a:xfrm>
          <a:prstGeom prst="rect">
            <a:avLst/>
          </a:prstGeom>
          <a:noFill/>
        </p:spPr>
        <p:txBody>
          <a:bodyPr wrap="square" lIns="0" rIns="0" tIns="0" bIns="0" anchor="t">
            <a:noAutofit/>
          </a:bodyPr>
          <a:lstStyle/>
          <a:p>
            <a:pPr algn="l">
              <a:lnSpc>
                <a:spcPct val="100000"/>
              </a:lnSpc>
            </a:pPr>
            <a:r>
              <a:rPr sz="680" b="1">
                <a:solidFill>
                  <a:srgbClr val="FFFFFF"/>
                </a:solidFill>
                <a:latin typeface="Arial"/>
              </a:rPr>
              <a:t>DELIVERS</a:t>
            </a:r>
          </a:p>
        </p:txBody>
      </p:sp>
      <p:sp>
        <p:nvSpPr>
          <p:cNvPr id="19" name="TextBox 18"/>
          <p:cNvSpPr txBox="1"/>
          <p:nvPr/>
        </p:nvSpPr>
        <p:spPr>
          <a:xfrm>
            <a:off x="2852928" y="2267712"/>
            <a:ext cx="1975103" cy="182880"/>
          </a:xfrm>
          <a:prstGeom prst="rect">
            <a:avLst/>
          </a:prstGeom>
          <a:noFill/>
        </p:spPr>
        <p:txBody>
          <a:bodyPr wrap="square" lIns="0" rIns="0" tIns="0" bIns="0" anchor="t">
            <a:noAutofit/>
          </a:bodyPr>
          <a:lstStyle/>
          <a:p>
            <a:pPr algn="l">
              <a:lnSpc>
                <a:spcPct val="100000"/>
              </a:lnSpc>
            </a:pPr>
            <a:r>
              <a:rPr sz="680" b="1">
                <a:solidFill>
                  <a:srgbClr val="FFFFFF"/>
                </a:solidFill>
                <a:latin typeface="Arial"/>
              </a:rPr>
              <a:t>AGAINST THE BRIEF</a:t>
            </a:r>
          </a:p>
        </p:txBody>
      </p:sp>
      <p:sp>
        <p:nvSpPr>
          <p:cNvPr id="20" name="TextBox 19"/>
          <p:cNvSpPr txBox="1"/>
          <p:nvPr/>
        </p:nvSpPr>
        <p:spPr>
          <a:xfrm>
            <a:off x="4956048" y="2267712"/>
            <a:ext cx="3639312" cy="182880"/>
          </a:xfrm>
          <a:prstGeom prst="rect">
            <a:avLst/>
          </a:prstGeom>
          <a:noFill/>
        </p:spPr>
        <p:txBody>
          <a:bodyPr wrap="square" lIns="0" rIns="0" tIns="0" bIns="0" anchor="t">
            <a:noAutofit/>
          </a:bodyPr>
          <a:lstStyle/>
          <a:p>
            <a:pPr algn="l">
              <a:lnSpc>
                <a:spcPct val="100000"/>
              </a:lnSpc>
            </a:pPr>
            <a:r>
              <a:rPr sz="680" b="1">
                <a:solidFill>
                  <a:srgbClr val="FFFFFF"/>
                </a:solidFill>
                <a:latin typeface="Arial"/>
              </a:rPr>
              <a:t>VERDICT</a:t>
            </a:r>
          </a:p>
        </p:txBody>
      </p:sp>
      <p:sp>
        <p:nvSpPr>
          <p:cNvPr id="21" name="Rectangle 20"/>
          <p:cNvSpPr/>
          <p:nvPr/>
        </p:nvSpPr>
        <p:spPr>
          <a:xfrm>
            <a:off x="512064" y="2487168"/>
            <a:ext cx="8119871" cy="2697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2" name="TextBox 21"/>
          <p:cNvSpPr txBox="1"/>
          <p:nvPr/>
        </p:nvSpPr>
        <p:spPr>
          <a:xfrm>
            <a:off x="603504" y="2537460"/>
            <a:ext cx="2121408" cy="196595"/>
          </a:xfrm>
          <a:prstGeom prst="rect">
            <a:avLst/>
          </a:prstGeom>
          <a:noFill/>
        </p:spPr>
        <p:txBody>
          <a:bodyPr wrap="square" lIns="0" rIns="0" tIns="0" bIns="0" anchor="t">
            <a:noAutofit/>
          </a:bodyPr>
          <a:lstStyle/>
          <a:p>
            <a:pPr algn="l">
              <a:lnSpc>
                <a:spcPct val="100000"/>
              </a:lnSpc>
            </a:pPr>
            <a:r>
              <a:rPr sz="850" b="1">
                <a:solidFill>
                  <a:srgbClr val="006838"/>
                </a:solidFill>
                <a:latin typeface="Arial"/>
              </a:rPr>
              <a:t>5,040 contest entrants</a:t>
            </a:r>
          </a:p>
        </p:txBody>
      </p:sp>
      <p:sp>
        <p:nvSpPr>
          <p:cNvPr id="23" name="TextBox 22"/>
          <p:cNvSpPr txBox="1"/>
          <p:nvPr/>
        </p:nvSpPr>
        <p:spPr>
          <a:xfrm>
            <a:off x="2852928" y="2537460"/>
            <a:ext cx="1975103" cy="196595"/>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Target 4,000</a:t>
            </a:r>
          </a:p>
        </p:txBody>
      </p:sp>
      <p:sp>
        <p:nvSpPr>
          <p:cNvPr id="24" name="TextBox 23"/>
          <p:cNvSpPr txBox="1"/>
          <p:nvPr/>
        </p:nvSpPr>
        <p:spPr>
          <a:xfrm>
            <a:off x="4956048" y="2537460"/>
            <a:ext cx="3639312" cy="196595"/>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126% of target, and reported daily from week one</a:t>
            </a:r>
          </a:p>
        </p:txBody>
      </p:sp>
      <p:sp>
        <p:nvSpPr>
          <p:cNvPr id="25" name="Rectangle 24"/>
          <p:cNvSpPr/>
          <p:nvPr/>
        </p:nvSpPr>
        <p:spPr>
          <a:xfrm>
            <a:off x="512064" y="2756915"/>
            <a:ext cx="8119871" cy="269748"/>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6" name="TextBox 25"/>
          <p:cNvSpPr txBox="1"/>
          <p:nvPr/>
        </p:nvSpPr>
        <p:spPr>
          <a:xfrm>
            <a:off x="603504" y="2807208"/>
            <a:ext cx="2121408" cy="196595"/>
          </a:xfrm>
          <a:prstGeom prst="rect">
            <a:avLst/>
          </a:prstGeom>
          <a:noFill/>
        </p:spPr>
        <p:txBody>
          <a:bodyPr wrap="square" lIns="0" rIns="0" tIns="0" bIns="0" anchor="t">
            <a:noAutofit/>
          </a:bodyPr>
          <a:lstStyle/>
          <a:p>
            <a:pPr algn="l">
              <a:lnSpc>
                <a:spcPct val="100000"/>
              </a:lnSpc>
            </a:pPr>
            <a:r>
              <a:rPr sz="850" b="1">
                <a:solidFill>
                  <a:srgbClr val="006838"/>
                </a:solidFill>
                <a:latin typeface="Arial"/>
              </a:rPr>
              <a:t>12,000 registered profiles</a:t>
            </a:r>
          </a:p>
        </p:txBody>
      </p:sp>
      <p:sp>
        <p:nvSpPr>
          <p:cNvPr id="27" name="TextBox 26"/>
          <p:cNvSpPr txBox="1"/>
          <p:nvPr/>
        </p:nvSpPr>
        <p:spPr>
          <a:xfrm>
            <a:off x="2852928" y="2807208"/>
            <a:ext cx="1975103" cy="196595"/>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No target set</a:t>
            </a:r>
          </a:p>
        </p:txBody>
      </p:sp>
      <p:sp>
        <p:nvSpPr>
          <p:cNvPr id="28" name="TextBox 27"/>
          <p:cNvSpPr txBox="1"/>
          <p:nvPr/>
        </p:nvSpPr>
        <p:spPr>
          <a:xfrm>
            <a:off x="4956048" y="2807208"/>
            <a:ext cx="3639312" cy="196595"/>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The asset the 2026 campaign produced none of</a:t>
            </a:r>
          </a:p>
        </p:txBody>
      </p:sp>
      <p:sp>
        <p:nvSpPr>
          <p:cNvPr id="29" name="Rectangle 28"/>
          <p:cNvSpPr/>
          <p:nvPr/>
        </p:nvSpPr>
        <p:spPr>
          <a:xfrm>
            <a:off x="512064" y="3026663"/>
            <a:ext cx="8119871" cy="2697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0" name="TextBox 29"/>
          <p:cNvSpPr txBox="1"/>
          <p:nvPr/>
        </p:nvSpPr>
        <p:spPr>
          <a:xfrm>
            <a:off x="603504" y="3076956"/>
            <a:ext cx="2121408" cy="196595"/>
          </a:xfrm>
          <a:prstGeom prst="rect">
            <a:avLst/>
          </a:prstGeom>
          <a:noFill/>
        </p:spPr>
        <p:txBody>
          <a:bodyPr wrap="square" lIns="0" rIns="0" tIns="0" bIns="0" anchor="t">
            <a:noAutofit/>
          </a:bodyPr>
          <a:lstStyle/>
          <a:p>
            <a:pPr algn="l">
              <a:lnSpc>
                <a:spcPct val="100000"/>
              </a:lnSpc>
            </a:pPr>
            <a:r>
              <a:rPr sz="850" b="1">
                <a:solidFill>
                  <a:srgbClr val="006838"/>
                </a:solidFill>
                <a:latin typeface="Arial"/>
              </a:rPr>
              <a:t>13.9M paid reach</a:t>
            </a:r>
          </a:p>
        </p:txBody>
      </p:sp>
      <p:sp>
        <p:nvSpPr>
          <p:cNvPr id="31" name="TextBox 30"/>
          <p:cNvSpPr txBox="1"/>
          <p:nvPr/>
        </p:nvSpPr>
        <p:spPr>
          <a:xfrm>
            <a:off x="2852928" y="3076956"/>
            <a:ext cx="1975103" cy="196595"/>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Target 15M</a:t>
            </a:r>
          </a:p>
        </p:txBody>
      </p:sp>
      <p:sp>
        <p:nvSpPr>
          <p:cNvPr id="32" name="TextBox 31"/>
          <p:cNvSpPr txBox="1"/>
          <p:nvPr/>
        </p:nvSpPr>
        <p:spPr>
          <a:xfrm>
            <a:off x="4956048" y="3076956"/>
            <a:ext cx="3639312" cy="196595"/>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Paid gets 93% there. Roadshow and KOL close the gap</a:t>
            </a:r>
          </a:p>
        </p:txBody>
      </p:sp>
      <p:sp>
        <p:nvSpPr>
          <p:cNvPr id="33" name="Rectangle 32"/>
          <p:cNvSpPr/>
          <p:nvPr/>
        </p:nvSpPr>
        <p:spPr>
          <a:xfrm>
            <a:off x="512064" y="3296411"/>
            <a:ext cx="8119871" cy="269748"/>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4" name="TextBox 33"/>
          <p:cNvSpPr txBox="1"/>
          <p:nvPr/>
        </p:nvSpPr>
        <p:spPr>
          <a:xfrm>
            <a:off x="603504" y="3346703"/>
            <a:ext cx="2121408" cy="196595"/>
          </a:xfrm>
          <a:prstGeom prst="rect">
            <a:avLst/>
          </a:prstGeom>
          <a:noFill/>
        </p:spPr>
        <p:txBody>
          <a:bodyPr wrap="square" lIns="0" rIns="0" tIns="0" bIns="0" anchor="t">
            <a:noAutofit/>
          </a:bodyPr>
          <a:lstStyle/>
          <a:p>
            <a:pPr algn="l">
              <a:lnSpc>
                <a:spcPct val="100000"/>
              </a:lnSpc>
            </a:pPr>
            <a:r>
              <a:rPr sz="850" b="1">
                <a:solidFill>
                  <a:srgbClr val="006838"/>
                </a:solidFill>
                <a:latin typeface="Arial"/>
              </a:rPr>
              <a:t>15.1M paid views</a:t>
            </a:r>
          </a:p>
        </p:txBody>
      </p:sp>
      <p:sp>
        <p:nvSpPr>
          <p:cNvPr id="35" name="TextBox 34"/>
          <p:cNvSpPr txBox="1"/>
          <p:nvPr/>
        </p:nvSpPr>
        <p:spPr>
          <a:xfrm>
            <a:off x="2852928" y="3346703"/>
            <a:ext cx="1975103" cy="196595"/>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Target 40M campaign wide</a:t>
            </a:r>
          </a:p>
        </p:txBody>
      </p:sp>
      <p:sp>
        <p:nvSpPr>
          <p:cNvPr id="36" name="TextBox 35"/>
          <p:cNvSpPr txBox="1"/>
          <p:nvPr/>
        </p:nvSpPr>
        <p:spPr>
          <a:xfrm>
            <a:off x="4956048" y="3346703"/>
            <a:ext cx="3639312" cy="196595"/>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Paid share only. KOL and organic carry the rest</a:t>
            </a:r>
          </a:p>
        </p:txBody>
      </p:sp>
      <p:sp>
        <p:nvSpPr>
          <p:cNvPr id="37" name="Rectangle 36"/>
          <p:cNvSpPr/>
          <p:nvPr/>
        </p:nvSpPr>
        <p:spPr>
          <a:xfrm>
            <a:off x="512064" y="3566159"/>
            <a:ext cx="8119871" cy="2697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8" name="TextBox 37"/>
          <p:cNvSpPr txBox="1"/>
          <p:nvPr/>
        </p:nvSpPr>
        <p:spPr>
          <a:xfrm>
            <a:off x="603504" y="3616451"/>
            <a:ext cx="2121408" cy="196595"/>
          </a:xfrm>
          <a:prstGeom prst="rect">
            <a:avLst/>
          </a:prstGeom>
          <a:noFill/>
        </p:spPr>
        <p:txBody>
          <a:bodyPr wrap="square" lIns="0" rIns="0" tIns="0" bIns="0" anchor="t">
            <a:noAutofit/>
          </a:bodyPr>
          <a:lstStyle/>
          <a:p>
            <a:pPr algn="l">
              <a:lnSpc>
                <a:spcPct val="100000"/>
              </a:lnSpc>
            </a:pPr>
            <a:r>
              <a:rPr sz="850" b="1">
                <a:solidFill>
                  <a:srgbClr val="006838"/>
                </a:solidFill>
                <a:latin typeface="Arial"/>
              </a:rPr>
              <a:t>25.7M impressions</a:t>
            </a:r>
          </a:p>
        </p:txBody>
      </p:sp>
      <p:sp>
        <p:nvSpPr>
          <p:cNvPr id="39" name="TextBox 38"/>
          <p:cNvSpPr txBox="1"/>
          <p:nvPr/>
        </p:nvSpPr>
        <p:spPr>
          <a:xfrm>
            <a:off x="2852928" y="3616451"/>
            <a:ext cx="1975103" cy="196595"/>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No target set</a:t>
            </a:r>
          </a:p>
        </p:txBody>
      </p:sp>
      <p:sp>
        <p:nvSpPr>
          <p:cNvPr id="40" name="TextBox 39"/>
          <p:cNvSpPr txBox="1"/>
          <p:nvPr/>
        </p:nvSpPr>
        <p:spPr>
          <a:xfrm>
            <a:off x="4956048" y="3616451"/>
            <a:ext cx="3639312" cy="196595"/>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Frequency around 1.85 across the whole buy</a:t>
            </a:r>
          </a:p>
        </p:txBody>
      </p:sp>
      <p:sp>
        <p:nvSpPr>
          <p:cNvPr id="41" name="Rectangle 40"/>
          <p:cNvSpPr/>
          <p:nvPr/>
        </p:nvSpPr>
        <p:spPr>
          <a:xfrm>
            <a:off x="438912" y="4443984"/>
            <a:ext cx="8266175" cy="402336"/>
          </a:xfrm>
          <a:prstGeom prst="rect">
            <a:avLst/>
          </a:prstGeom>
          <a:solidFill>
            <a:srgbClr val="052B1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2" name="TextBox 41"/>
          <p:cNvSpPr txBox="1"/>
          <p:nvPr/>
        </p:nvSpPr>
        <p:spPr>
          <a:xfrm>
            <a:off x="658368" y="4480560"/>
            <a:ext cx="7827264" cy="347472"/>
          </a:xfrm>
          <a:prstGeom prst="rect">
            <a:avLst/>
          </a:prstGeom>
          <a:noFill/>
        </p:spPr>
        <p:txBody>
          <a:bodyPr wrap="square" lIns="0" rIns="0" tIns="0" bIns="0" anchor="ctr">
            <a:noAutofit/>
          </a:bodyPr>
          <a:lstStyle/>
          <a:p>
            <a:pPr algn="l">
              <a:lnSpc>
                <a:spcPct val="100000"/>
              </a:lnSpc>
            </a:pPr>
            <a:r>
              <a:rPr sz="950" b="1">
                <a:solidFill>
                  <a:srgbClr val="F5EC2E"/>
                </a:solidFill>
                <a:latin typeface="Arial"/>
              </a:rPr>
              <a:t>What the number covers: </a:t>
            </a:r>
            <a:r>
              <a:rPr sz="950" b="0">
                <a:solidFill>
                  <a:srgbClr val="FFFFFF"/>
                </a:solidFill>
                <a:latin typeface="Arial"/>
              </a:rPr>
              <a:t>the media buy, the production, the creative and the campaign management for all ten weeks. The prize pool and the on-ground build both sit outside it.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6FAEC"/>
        </a:solidFill>
        <a:effectLst/>
      </p:bgPr>
    </p:bg>
    <p:spTree>
      <p:nvGrpSpPr>
        <p:cNvPr id="1" name=""/>
        <p:cNvGrpSpPr/>
        <p:nvPr/>
      </p:nvGrpSpPr>
      <p:grpSpPr/>
      <p:sp>
        <p:nvSpPr>
          <p:cNvPr id="2" name="Rectangle 1"/>
          <p:cNvSpPr/>
          <p:nvPr/>
        </p:nvSpPr>
        <p:spPr>
          <a:xfrm>
            <a:off x="512064" y="365760"/>
            <a:ext cx="219456" cy="73152"/>
          </a:xfrm>
          <a:prstGeom prst="rect">
            <a:avLst/>
          </a:prstGeom>
          <a:solidFill>
            <a:srgbClr val="C51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 name="TextBox 2"/>
          <p:cNvSpPr txBox="1"/>
          <p:nvPr/>
        </p:nvSpPr>
        <p:spPr>
          <a:xfrm>
            <a:off x="512064" y="566928"/>
            <a:ext cx="8119872" cy="475488"/>
          </a:xfrm>
          <a:prstGeom prst="rect">
            <a:avLst/>
          </a:prstGeom>
          <a:noFill/>
        </p:spPr>
        <p:txBody>
          <a:bodyPr wrap="square" lIns="0" rIns="0" tIns="0" bIns="0" anchor="t">
            <a:noAutofit/>
          </a:bodyPr>
          <a:lstStyle/>
          <a:p>
            <a:pPr algn="l">
              <a:lnSpc>
                <a:spcPct val="96000"/>
              </a:lnSpc>
            </a:pPr>
            <a:r>
              <a:rPr sz="2400" b="0">
                <a:solidFill>
                  <a:srgbClr val="006838"/>
                </a:solidFill>
                <a:latin typeface="Arial Black"/>
              </a:rPr>
              <a:t>Against the brief, and against 2026.</a:t>
            </a:r>
          </a:p>
        </p:txBody>
      </p:sp>
      <p:sp>
        <p:nvSpPr>
          <p:cNvPr id="4" name="TextBox 3"/>
          <p:cNvSpPr txBox="1"/>
          <p:nvPr/>
        </p:nvSpPr>
        <p:spPr>
          <a:xfrm>
            <a:off x="512064" y="1060704"/>
            <a:ext cx="8119872" cy="365760"/>
          </a:xfrm>
          <a:prstGeom prst="rect">
            <a:avLst/>
          </a:prstGeom>
          <a:noFill/>
        </p:spPr>
        <p:txBody>
          <a:bodyPr wrap="square" lIns="0" rIns="0" tIns="0" bIns="0" anchor="t">
            <a:noAutofit/>
          </a:bodyPr>
          <a:lstStyle/>
          <a:p>
            <a:pPr algn="l">
              <a:lnSpc>
                <a:spcPct val="112000"/>
              </a:lnSpc>
            </a:pPr>
            <a:r>
              <a:rPr sz="1100" b="0">
                <a:solidFill>
                  <a:srgbClr val="6E8A76"/>
                </a:solidFill>
                <a:latin typeface="Arial"/>
              </a:rPr>
              <a:t>Every figure in the plan column is paid media only. Anything the campaign earns for free sits on top of it, so the actual outcome should land above this table.</a:t>
            </a:r>
          </a:p>
        </p:txBody>
      </p:sp>
      <p:sp>
        <p:nvSpPr>
          <p:cNvPr id="5" name="Rectangle 4"/>
          <p:cNvSpPr/>
          <p:nvPr/>
        </p:nvSpPr>
        <p:spPr>
          <a:xfrm>
            <a:off x="512064" y="1546778"/>
            <a:ext cx="8119871" cy="274320"/>
          </a:xfrm>
          <a:prstGeom prst="rect">
            <a:avLst/>
          </a:prstGeom>
          <a:solidFill>
            <a:srgbClr val="0068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TextBox 5"/>
          <p:cNvSpPr txBox="1"/>
          <p:nvPr/>
        </p:nvSpPr>
        <p:spPr>
          <a:xfrm>
            <a:off x="603504" y="1601642"/>
            <a:ext cx="2121408" cy="182880"/>
          </a:xfrm>
          <a:prstGeom prst="rect">
            <a:avLst/>
          </a:prstGeom>
          <a:noFill/>
        </p:spPr>
        <p:txBody>
          <a:bodyPr wrap="square" lIns="0" rIns="0" tIns="0" bIns="0" anchor="t">
            <a:noAutofit/>
          </a:bodyPr>
          <a:lstStyle/>
          <a:p>
            <a:pPr algn="l">
              <a:lnSpc>
                <a:spcPct val="100000"/>
              </a:lnSpc>
            </a:pPr>
            <a:r>
              <a:rPr sz="680" b="1">
                <a:solidFill>
                  <a:srgbClr val="FFFFFF"/>
                </a:solidFill>
                <a:latin typeface="Arial"/>
              </a:rPr>
              <a:t/>
            </a:r>
          </a:p>
        </p:txBody>
      </p:sp>
      <p:sp>
        <p:nvSpPr>
          <p:cNvPr id="7" name="TextBox 6"/>
          <p:cNvSpPr txBox="1"/>
          <p:nvPr/>
        </p:nvSpPr>
        <p:spPr>
          <a:xfrm>
            <a:off x="2852928" y="1601642"/>
            <a:ext cx="1755648" cy="182880"/>
          </a:xfrm>
          <a:prstGeom prst="rect">
            <a:avLst/>
          </a:prstGeom>
          <a:noFill/>
        </p:spPr>
        <p:txBody>
          <a:bodyPr wrap="square" lIns="0" rIns="0" tIns="0" bIns="0" anchor="t">
            <a:noAutofit/>
          </a:bodyPr>
          <a:lstStyle/>
          <a:p>
            <a:pPr algn="l">
              <a:lnSpc>
                <a:spcPct val="100000"/>
              </a:lnSpc>
            </a:pPr>
            <a:r>
              <a:rPr sz="680" b="1">
                <a:solidFill>
                  <a:srgbClr val="FFFFFF"/>
                </a:solidFill>
                <a:latin typeface="Arial"/>
              </a:rPr>
              <a:t>BRIEF TARGET</a:t>
            </a:r>
          </a:p>
        </p:txBody>
      </p:sp>
      <p:sp>
        <p:nvSpPr>
          <p:cNvPr id="8" name="TextBox 7"/>
          <p:cNvSpPr txBox="1"/>
          <p:nvPr/>
        </p:nvSpPr>
        <p:spPr>
          <a:xfrm>
            <a:off x="4736592" y="1601642"/>
            <a:ext cx="1975103" cy="182880"/>
          </a:xfrm>
          <a:prstGeom prst="rect">
            <a:avLst/>
          </a:prstGeom>
          <a:noFill/>
        </p:spPr>
        <p:txBody>
          <a:bodyPr wrap="square" lIns="0" rIns="0" tIns="0" bIns="0" anchor="t">
            <a:noAutofit/>
          </a:bodyPr>
          <a:lstStyle/>
          <a:p>
            <a:pPr algn="l">
              <a:lnSpc>
                <a:spcPct val="100000"/>
              </a:lnSpc>
            </a:pPr>
            <a:r>
              <a:rPr sz="680" b="1">
                <a:solidFill>
                  <a:srgbClr val="FFFFFF"/>
                </a:solidFill>
                <a:latin typeface="Arial"/>
              </a:rPr>
              <a:t>THIS PLAN, PAID</a:t>
            </a:r>
          </a:p>
        </p:txBody>
      </p:sp>
      <p:sp>
        <p:nvSpPr>
          <p:cNvPr id="9" name="TextBox 8"/>
          <p:cNvSpPr txBox="1"/>
          <p:nvPr/>
        </p:nvSpPr>
        <p:spPr>
          <a:xfrm>
            <a:off x="6839712" y="1601642"/>
            <a:ext cx="1755648" cy="182880"/>
          </a:xfrm>
          <a:prstGeom prst="rect">
            <a:avLst/>
          </a:prstGeom>
          <a:noFill/>
        </p:spPr>
        <p:txBody>
          <a:bodyPr wrap="square" lIns="0" rIns="0" tIns="0" bIns="0" anchor="t">
            <a:noAutofit/>
          </a:bodyPr>
          <a:lstStyle/>
          <a:p>
            <a:pPr algn="l">
              <a:lnSpc>
                <a:spcPct val="100000"/>
              </a:lnSpc>
            </a:pPr>
            <a:r>
              <a:rPr sz="680" b="1">
                <a:solidFill>
                  <a:srgbClr val="FFFFFF"/>
                </a:solidFill>
                <a:latin typeface="Arial"/>
              </a:rPr>
              <a:t>2026 ACTUAL</a:t>
            </a:r>
          </a:p>
        </p:txBody>
      </p:sp>
      <p:sp>
        <p:nvSpPr>
          <p:cNvPr id="10" name="Rectangle 9"/>
          <p:cNvSpPr/>
          <p:nvPr/>
        </p:nvSpPr>
        <p:spPr>
          <a:xfrm>
            <a:off x="512064" y="1821098"/>
            <a:ext cx="8119871" cy="26060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1" name="TextBox 10"/>
          <p:cNvSpPr txBox="1"/>
          <p:nvPr/>
        </p:nvSpPr>
        <p:spPr>
          <a:xfrm>
            <a:off x="603504" y="1871390"/>
            <a:ext cx="2121408" cy="187451"/>
          </a:xfrm>
          <a:prstGeom prst="rect">
            <a:avLst/>
          </a:prstGeom>
          <a:noFill/>
        </p:spPr>
        <p:txBody>
          <a:bodyPr wrap="square" lIns="0" rIns="0" tIns="0" bIns="0" anchor="t">
            <a:noAutofit/>
          </a:bodyPr>
          <a:lstStyle/>
          <a:p>
            <a:pPr algn="l">
              <a:lnSpc>
                <a:spcPct val="100000"/>
              </a:lnSpc>
            </a:pPr>
            <a:r>
              <a:rPr sz="850" b="1">
                <a:solidFill>
                  <a:srgbClr val="006838"/>
                </a:solidFill>
                <a:latin typeface="Arial"/>
              </a:rPr>
              <a:t>Contest entrants</a:t>
            </a:r>
          </a:p>
        </p:txBody>
      </p:sp>
      <p:sp>
        <p:nvSpPr>
          <p:cNvPr id="12" name="TextBox 11"/>
          <p:cNvSpPr txBox="1"/>
          <p:nvPr/>
        </p:nvSpPr>
        <p:spPr>
          <a:xfrm>
            <a:off x="2852928" y="1871390"/>
            <a:ext cx="1755648" cy="187451"/>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4,000</a:t>
            </a:r>
          </a:p>
        </p:txBody>
      </p:sp>
      <p:sp>
        <p:nvSpPr>
          <p:cNvPr id="13" name="TextBox 12"/>
          <p:cNvSpPr txBox="1"/>
          <p:nvPr/>
        </p:nvSpPr>
        <p:spPr>
          <a:xfrm>
            <a:off x="4736592" y="1871390"/>
            <a:ext cx="1975103" cy="187451"/>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5,040</a:t>
            </a:r>
          </a:p>
        </p:txBody>
      </p:sp>
      <p:sp>
        <p:nvSpPr>
          <p:cNvPr id="14" name="TextBox 13"/>
          <p:cNvSpPr txBox="1"/>
          <p:nvPr/>
        </p:nvSpPr>
        <p:spPr>
          <a:xfrm>
            <a:off x="6839712" y="1871390"/>
            <a:ext cx="1755648" cy="187451"/>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3,765</a:t>
            </a:r>
          </a:p>
        </p:txBody>
      </p:sp>
      <p:sp>
        <p:nvSpPr>
          <p:cNvPr id="15" name="Rectangle 14"/>
          <p:cNvSpPr/>
          <p:nvPr/>
        </p:nvSpPr>
        <p:spPr>
          <a:xfrm>
            <a:off x="512064" y="2081702"/>
            <a:ext cx="8119871" cy="260603"/>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6" name="TextBox 15"/>
          <p:cNvSpPr txBox="1"/>
          <p:nvPr/>
        </p:nvSpPr>
        <p:spPr>
          <a:xfrm>
            <a:off x="603504" y="2131994"/>
            <a:ext cx="2121408" cy="187451"/>
          </a:xfrm>
          <a:prstGeom prst="rect">
            <a:avLst/>
          </a:prstGeom>
          <a:noFill/>
        </p:spPr>
        <p:txBody>
          <a:bodyPr wrap="square" lIns="0" rIns="0" tIns="0" bIns="0" anchor="t">
            <a:noAutofit/>
          </a:bodyPr>
          <a:lstStyle/>
          <a:p>
            <a:pPr algn="l">
              <a:lnSpc>
                <a:spcPct val="100000"/>
              </a:lnSpc>
            </a:pPr>
            <a:r>
              <a:rPr sz="850" b="1">
                <a:solidFill>
                  <a:srgbClr val="006838"/>
                </a:solidFill>
                <a:latin typeface="Arial"/>
              </a:rPr>
              <a:t>Qualifying receipts</a:t>
            </a:r>
          </a:p>
        </p:txBody>
      </p:sp>
      <p:sp>
        <p:nvSpPr>
          <p:cNvPr id="17" name="TextBox 16"/>
          <p:cNvSpPr txBox="1"/>
          <p:nvPr/>
        </p:nvSpPr>
        <p:spPr>
          <a:xfrm>
            <a:off x="2852928" y="2131994"/>
            <a:ext cx="1755648" cy="187451"/>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Not set</a:t>
            </a:r>
          </a:p>
        </p:txBody>
      </p:sp>
      <p:sp>
        <p:nvSpPr>
          <p:cNvPr id="18" name="TextBox 17"/>
          <p:cNvSpPr txBox="1"/>
          <p:nvPr/>
        </p:nvSpPr>
        <p:spPr>
          <a:xfrm>
            <a:off x="4736592" y="2131994"/>
            <a:ext cx="1975103" cy="187451"/>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13,100</a:t>
            </a:r>
          </a:p>
        </p:txBody>
      </p:sp>
      <p:sp>
        <p:nvSpPr>
          <p:cNvPr id="19" name="TextBox 18"/>
          <p:cNvSpPr txBox="1"/>
          <p:nvPr/>
        </p:nvSpPr>
        <p:spPr>
          <a:xfrm>
            <a:off x="6839712" y="2131994"/>
            <a:ext cx="1755648" cy="187451"/>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Not tracked</a:t>
            </a:r>
          </a:p>
        </p:txBody>
      </p:sp>
      <p:sp>
        <p:nvSpPr>
          <p:cNvPr id="20" name="Rectangle 19"/>
          <p:cNvSpPr/>
          <p:nvPr/>
        </p:nvSpPr>
        <p:spPr>
          <a:xfrm>
            <a:off x="512064" y="2342306"/>
            <a:ext cx="8119871" cy="26060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1" name="TextBox 20"/>
          <p:cNvSpPr txBox="1"/>
          <p:nvPr/>
        </p:nvSpPr>
        <p:spPr>
          <a:xfrm>
            <a:off x="603504" y="2392598"/>
            <a:ext cx="2121408" cy="187451"/>
          </a:xfrm>
          <a:prstGeom prst="rect">
            <a:avLst/>
          </a:prstGeom>
          <a:noFill/>
        </p:spPr>
        <p:txBody>
          <a:bodyPr wrap="square" lIns="0" rIns="0" tIns="0" bIns="0" anchor="t">
            <a:noAutofit/>
          </a:bodyPr>
          <a:lstStyle/>
          <a:p>
            <a:pPr algn="l">
              <a:lnSpc>
                <a:spcPct val="100000"/>
              </a:lnSpc>
            </a:pPr>
            <a:r>
              <a:rPr sz="850" b="1">
                <a:solidFill>
                  <a:srgbClr val="006838"/>
                </a:solidFill>
                <a:latin typeface="Arial"/>
              </a:rPr>
              <a:t>Registered profiles</a:t>
            </a:r>
          </a:p>
        </p:txBody>
      </p:sp>
      <p:sp>
        <p:nvSpPr>
          <p:cNvPr id="22" name="TextBox 21"/>
          <p:cNvSpPr txBox="1"/>
          <p:nvPr/>
        </p:nvSpPr>
        <p:spPr>
          <a:xfrm>
            <a:off x="2852928" y="2392598"/>
            <a:ext cx="1755648" cy="187451"/>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Not set</a:t>
            </a:r>
          </a:p>
        </p:txBody>
      </p:sp>
      <p:sp>
        <p:nvSpPr>
          <p:cNvPr id="23" name="TextBox 22"/>
          <p:cNvSpPr txBox="1"/>
          <p:nvPr/>
        </p:nvSpPr>
        <p:spPr>
          <a:xfrm>
            <a:off x="4736592" y="2392598"/>
            <a:ext cx="1975103" cy="187451"/>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12,000</a:t>
            </a:r>
          </a:p>
        </p:txBody>
      </p:sp>
      <p:sp>
        <p:nvSpPr>
          <p:cNvPr id="24" name="TextBox 23"/>
          <p:cNvSpPr txBox="1"/>
          <p:nvPr/>
        </p:nvSpPr>
        <p:spPr>
          <a:xfrm>
            <a:off x="6839712" y="2392598"/>
            <a:ext cx="1755648" cy="187451"/>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0</a:t>
            </a:r>
          </a:p>
        </p:txBody>
      </p:sp>
      <p:sp>
        <p:nvSpPr>
          <p:cNvPr id="25" name="Rectangle 24"/>
          <p:cNvSpPr/>
          <p:nvPr/>
        </p:nvSpPr>
        <p:spPr>
          <a:xfrm>
            <a:off x="512064" y="2602910"/>
            <a:ext cx="8119871" cy="260603"/>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6" name="TextBox 25"/>
          <p:cNvSpPr txBox="1"/>
          <p:nvPr/>
        </p:nvSpPr>
        <p:spPr>
          <a:xfrm>
            <a:off x="603504" y="2653202"/>
            <a:ext cx="2121408" cy="187451"/>
          </a:xfrm>
          <a:prstGeom prst="rect">
            <a:avLst/>
          </a:prstGeom>
          <a:noFill/>
        </p:spPr>
        <p:txBody>
          <a:bodyPr wrap="square" lIns="0" rIns="0" tIns="0" bIns="0" anchor="t">
            <a:noAutofit/>
          </a:bodyPr>
          <a:lstStyle/>
          <a:p>
            <a:pPr algn="l">
              <a:lnSpc>
                <a:spcPct val="100000"/>
              </a:lnSpc>
            </a:pPr>
            <a:r>
              <a:rPr sz="850" b="1">
                <a:solidFill>
                  <a:srgbClr val="006838"/>
                </a:solidFill>
                <a:latin typeface="Arial"/>
              </a:rPr>
              <a:t>Paid reach</a:t>
            </a:r>
          </a:p>
        </p:txBody>
      </p:sp>
      <p:sp>
        <p:nvSpPr>
          <p:cNvPr id="27" name="TextBox 26"/>
          <p:cNvSpPr txBox="1"/>
          <p:nvPr/>
        </p:nvSpPr>
        <p:spPr>
          <a:xfrm>
            <a:off x="2852928" y="2653202"/>
            <a:ext cx="1755648" cy="187451"/>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15M</a:t>
            </a:r>
          </a:p>
        </p:txBody>
      </p:sp>
      <p:sp>
        <p:nvSpPr>
          <p:cNvPr id="28" name="TextBox 27"/>
          <p:cNvSpPr txBox="1"/>
          <p:nvPr/>
        </p:nvSpPr>
        <p:spPr>
          <a:xfrm>
            <a:off x="4736592" y="2653202"/>
            <a:ext cx="1975103" cy="187451"/>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13.9M</a:t>
            </a:r>
          </a:p>
        </p:txBody>
      </p:sp>
      <p:sp>
        <p:nvSpPr>
          <p:cNvPr id="29" name="TextBox 28"/>
          <p:cNvSpPr txBox="1"/>
          <p:nvPr/>
        </p:nvSpPr>
        <p:spPr>
          <a:xfrm>
            <a:off x="6839712" y="2653202"/>
            <a:ext cx="1755648" cy="187451"/>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13.8M</a:t>
            </a:r>
          </a:p>
        </p:txBody>
      </p:sp>
      <p:sp>
        <p:nvSpPr>
          <p:cNvPr id="30" name="Rectangle 29"/>
          <p:cNvSpPr/>
          <p:nvPr/>
        </p:nvSpPr>
        <p:spPr>
          <a:xfrm>
            <a:off x="512064" y="2863514"/>
            <a:ext cx="8119871" cy="26060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1" name="TextBox 30"/>
          <p:cNvSpPr txBox="1"/>
          <p:nvPr/>
        </p:nvSpPr>
        <p:spPr>
          <a:xfrm>
            <a:off x="603504" y="2913806"/>
            <a:ext cx="2121408" cy="187451"/>
          </a:xfrm>
          <a:prstGeom prst="rect">
            <a:avLst/>
          </a:prstGeom>
          <a:noFill/>
        </p:spPr>
        <p:txBody>
          <a:bodyPr wrap="square" lIns="0" rIns="0" tIns="0" bIns="0" anchor="t">
            <a:noAutofit/>
          </a:bodyPr>
          <a:lstStyle/>
          <a:p>
            <a:pPr algn="l">
              <a:lnSpc>
                <a:spcPct val="100000"/>
              </a:lnSpc>
            </a:pPr>
            <a:r>
              <a:rPr sz="850" b="1">
                <a:solidFill>
                  <a:srgbClr val="006838"/>
                </a:solidFill>
                <a:latin typeface="Arial"/>
              </a:rPr>
              <a:t>Video views</a:t>
            </a:r>
          </a:p>
        </p:txBody>
      </p:sp>
      <p:sp>
        <p:nvSpPr>
          <p:cNvPr id="32" name="TextBox 31"/>
          <p:cNvSpPr txBox="1"/>
          <p:nvPr/>
        </p:nvSpPr>
        <p:spPr>
          <a:xfrm>
            <a:off x="2852928" y="2913806"/>
            <a:ext cx="1755648" cy="187451"/>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40M campaign wide</a:t>
            </a:r>
          </a:p>
        </p:txBody>
      </p:sp>
      <p:sp>
        <p:nvSpPr>
          <p:cNvPr id="33" name="TextBox 32"/>
          <p:cNvSpPr txBox="1"/>
          <p:nvPr/>
        </p:nvSpPr>
        <p:spPr>
          <a:xfrm>
            <a:off x="4736592" y="2913806"/>
            <a:ext cx="1975103" cy="187451"/>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15.1M paid</a:t>
            </a:r>
          </a:p>
        </p:txBody>
      </p:sp>
      <p:sp>
        <p:nvSpPr>
          <p:cNvPr id="34" name="TextBox 33"/>
          <p:cNvSpPr txBox="1"/>
          <p:nvPr/>
        </p:nvSpPr>
        <p:spPr>
          <a:xfrm>
            <a:off x="6839712" y="2913806"/>
            <a:ext cx="1755648" cy="187451"/>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38.8M campaign wide</a:t>
            </a:r>
          </a:p>
        </p:txBody>
      </p:sp>
      <p:sp>
        <p:nvSpPr>
          <p:cNvPr id="35" name="Rectangle 34"/>
          <p:cNvSpPr/>
          <p:nvPr/>
        </p:nvSpPr>
        <p:spPr>
          <a:xfrm>
            <a:off x="512064" y="3124118"/>
            <a:ext cx="8119871" cy="260603"/>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6" name="TextBox 35"/>
          <p:cNvSpPr txBox="1"/>
          <p:nvPr/>
        </p:nvSpPr>
        <p:spPr>
          <a:xfrm>
            <a:off x="603504" y="3174410"/>
            <a:ext cx="2121408" cy="187451"/>
          </a:xfrm>
          <a:prstGeom prst="rect">
            <a:avLst/>
          </a:prstGeom>
          <a:noFill/>
        </p:spPr>
        <p:txBody>
          <a:bodyPr wrap="square" lIns="0" rIns="0" tIns="0" bIns="0" anchor="t">
            <a:noAutofit/>
          </a:bodyPr>
          <a:lstStyle/>
          <a:p>
            <a:pPr algn="l">
              <a:lnSpc>
                <a:spcPct val="100000"/>
              </a:lnSpc>
            </a:pPr>
            <a:r>
              <a:rPr sz="850" b="1">
                <a:solidFill>
                  <a:srgbClr val="006838"/>
                </a:solidFill>
                <a:latin typeface="Arial"/>
              </a:rPr>
              <a:t>Impressions</a:t>
            </a:r>
          </a:p>
        </p:txBody>
      </p:sp>
      <p:sp>
        <p:nvSpPr>
          <p:cNvPr id="37" name="TextBox 36"/>
          <p:cNvSpPr txBox="1"/>
          <p:nvPr/>
        </p:nvSpPr>
        <p:spPr>
          <a:xfrm>
            <a:off x="2852928" y="3174410"/>
            <a:ext cx="1755648" cy="187451"/>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Not set</a:t>
            </a:r>
          </a:p>
        </p:txBody>
      </p:sp>
      <p:sp>
        <p:nvSpPr>
          <p:cNvPr id="38" name="TextBox 37"/>
          <p:cNvSpPr txBox="1"/>
          <p:nvPr/>
        </p:nvSpPr>
        <p:spPr>
          <a:xfrm>
            <a:off x="4736592" y="3174410"/>
            <a:ext cx="1975103" cy="187451"/>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25.7M</a:t>
            </a:r>
          </a:p>
        </p:txBody>
      </p:sp>
      <p:sp>
        <p:nvSpPr>
          <p:cNvPr id="39" name="TextBox 38"/>
          <p:cNvSpPr txBox="1"/>
          <p:nvPr/>
        </p:nvSpPr>
        <p:spPr>
          <a:xfrm>
            <a:off x="6839712" y="3174410"/>
            <a:ext cx="1755648" cy="187451"/>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51.0M</a:t>
            </a:r>
          </a:p>
        </p:txBody>
      </p:sp>
      <p:sp>
        <p:nvSpPr>
          <p:cNvPr id="40" name="Rectangle 39"/>
          <p:cNvSpPr/>
          <p:nvPr/>
        </p:nvSpPr>
        <p:spPr>
          <a:xfrm>
            <a:off x="512064" y="3384722"/>
            <a:ext cx="8119871" cy="26060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1" name="TextBox 40"/>
          <p:cNvSpPr txBox="1"/>
          <p:nvPr/>
        </p:nvSpPr>
        <p:spPr>
          <a:xfrm>
            <a:off x="603504" y="3435014"/>
            <a:ext cx="2121408" cy="187451"/>
          </a:xfrm>
          <a:prstGeom prst="rect">
            <a:avLst/>
          </a:prstGeom>
          <a:noFill/>
        </p:spPr>
        <p:txBody>
          <a:bodyPr wrap="square" lIns="0" rIns="0" tIns="0" bIns="0" anchor="t">
            <a:noAutofit/>
          </a:bodyPr>
          <a:lstStyle/>
          <a:p>
            <a:pPr algn="l">
              <a:lnSpc>
                <a:spcPct val="100000"/>
              </a:lnSpc>
            </a:pPr>
            <a:r>
              <a:rPr sz="850" b="1">
                <a:solidFill>
                  <a:srgbClr val="006838"/>
                </a:solidFill>
                <a:latin typeface="Arial"/>
              </a:rPr>
              <a:t>Engagement rate</a:t>
            </a:r>
          </a:p>
        </p:txBody>
      </p:sp>
      <p:sp>
        <p:nvSpPr>
          <p:cNvPr id="42" name="TextBox 41"/>
          <p:cNvSpPr txBox="1"/>
          <p:nvPr/>
        </p:nvSpPr>
        <p:spPr>
          <a:xfrm>
            <a:off x="2852928" y="3435014"/>
            <a:ext cx="1755648" cy="187451"/>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3%</a:t>
            </a:r>
          </a:p>
        </p:txBody>
      </p:sp>
      <p:sp>
        <p:nvSpPr>
          <p:cNvPr id="43" name="TextBox 42"/>
          <p:cNvSpPr txBox="1"/>
          <p:nvPr/>
        </p:nvSpPr>
        <p:spPr>
          <a:xfrm>
            <a:off x="4736592" y="3435014"/>
            <a:ext cx="1975103" cy="187451"/>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2.3% impr / 4.2% reach</a:t>
            </a:r>
          </a:p>
        </p:txBody>
      </p:sp>
      <p:sp>
        <p:nvSpPr>
          <p:cNvPr id="44" name="TextBox 43"/>
          <p:cNvSpPr txBox="1"/>
          <p:nvPr/>
        </p:nvSpPr>
        <p:spPr>
          <a:xfrm>
            <a:off x="6839712" y="3435014"/>
            <a:ext cx="1755648" cy="187451"/>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0.08% impr</a:t>
            </a:r>
          </a:p>
        </p:txBody>
      </p:sp>
      <p:sp>
        <p:nvSpPr>
          <p:cNvPr id="45" name="Rectangle 44"/>
          <p:cNvSpPr/>
          <p:nvPr/>
        </p:nvSpPr>
        <p:spPr>
          <a:xfrm>
            <a:off x="512064" y="3645326"/>
            <a:ext cx="8119871" cy="260603"/>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6" name="TextBox 45"/>
          <p:cNvSpPr txBox="1"/>
          <p:nvPr/>
        </p:nvSpPr>
        <p:spPr>
          <a:xfrm>
            <a:off x="603504" y="3695618"/>
            <a:ext cx="2121408" cy="187451"/>
          </a:xfrm>
          <a:prstGeom prst="rect">
            <a:avLst/>
          </a:prstGeom>
          <a:noFill/>
        </p:spPr>
        <p:txBody>
          <a:bodyPr wrap="square" lIns="0" rIns="0" tIns="0" bIns="0" anchor="t">
            <a:noAutofit/>
          </a:bodyPr>
          <a:lstStyle/>
          <a:p>
            <a:pPr algn="l">
              <a:lnSpc>
                <a:spcPct val="100000"/>
              </a:lnSpc>
            </a:pPr>
            <a:r>
              <a:rPr sz="850" b="1">
                <a:solidFill>
                  <a:srgbClr val="006838"/>
                </a:solidFill>
                <a:latin typeface="Arial"/>
              </a:rPr>
              <a:t>Entries per 1M reached</a:t>
            </a:r>
          </a:p>
        </p:txBody>
      </p:sp>
      <p:sp>
        <p:nvSpPr>
          <p:cNvPr id="47" name="TextBox 46"/>
          <p:cNvSpPr txBox="1"/>
          <p:nvPr/>
        </p:nvSpPr>
        <p:spPr>
          <a:xfrm>
            <a:off x="2852928" y="3695618"/>
            <a:ext cx="1755648" cy="187451"/>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Not set</a:t>
            </a:r>
          </a:p>
        </p:txBody>
      </p:sp>
      <p:sp>
        <p:nvSpPr>
          <p:cNvPr id="48" name="TextBox 47"/>
          <p:cNvSpPr txBox="1"/>
          <p:nvPr/>
        </p:nvSpPr>
        <p:spPr>
          <a:xfrm>
            <a:off x="4736592" y="3695618"/>
            <a:ext cx="1975103" cy="187451"/>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363</a:t>
            </a:r>
          </a:p>
        </p:txBody>
      </p:sp>
      <p:sp>
        <p:nvSpPr>
          <p:cNvPr id="49" name="TextBox 48"/>
          <p:cNvSpPr txBox="1"/>
          <p:nvPr/>
        </p:nvSpPr>
        <p:spPr>
          <a:xfrm>
            <a:off x="6839712" y="3695618"/>
            <a:ext cx="1755648" cy="187451"/>
          </a:xfrm>
          <a:prstGeom prst="rect">
            <a:avLst/>
          </a:prstGeom>
          <a:noFill/>
        </p:spPr>
        <p:txBody>
          <a:bodyPr wrap="square" lIns="0" rIns="0" tIns="0" bIns="0" anchor="t">
            <a:noAutofit/>
          </a:bodyPr>
          <a:lstStyle/>
          <a:p>
            <a:pPr algn="l">
              <a:lnSpc>
                <a:spcPct val="100000"/>
              </a:lnSpc>
            </a:pPr>
            <a:r>
              <a:rPr sz="850" b="0">
                <a:solidFill>
                  <a:srgbClr val="1F3326"/>
                </a:solidFill>
                <a:latin typeface="Arial"/>
              </a:rPr>
              <a:t>273</a:t>
            </a:r>
          </a:p>
        </p:txBody>
      </p:sp>
      <p:sp>
        <p:nvSpPr>
          <p:cNvPr id="50" name="TextBox 49"/>
          <p:cNvSpPr txBox="1"/>
          <p:nvPr/>
        </p:nvSpPr>
        <p:spPr>
          <a:xfrm>
            <a:off x="512064" y="3997370"/>
            <a:ext cx="8119871" cy="282448"/>
          </a:xfrm>
          <a:prstGeom prst="rect">
            <a:avLst/>
          </a:prstGeom>
          <a:noFill/>
        </p:spPr>
        <p:txBody>
          <a:bodyPr wrap="square" lIns="0" rIns="0" tIns="0" bIns="0" anchor="t">
            <a:noAutofit/>
          </a:bodyPr>
          <a:lstStyle/>
          <a:p>
            <a:pPr algn="l">
              <a:lnSpc>
                <a:spcPct val="112000"/>
              </a:lnSpc>
            </a:pPr>
            <a:r>
              <a:rPr sz="800" b="0">
                <a:solidFill>
                  <a:srgbClr val="6E8A76"/>
                </a:solidFill>
                <a:latin typeface="Arial"/>
              </a:rPr>
              <a:t>The plan column excludes KOL and organic views from the 30 influencers, both brands' owned channels, walk-in entries from 320 sampling days across 120 outlets and 96 roadshow days across 32 outlets, POSM and on-pack codes, the 300,000 sample packs, the Sampul Raya, and all earned media.</a:t>
            </a:r>
          </a:p>
        </p:txBody>
      </p:sp>
      <p:sp>
        <p:nvSpPr>
          <p:cNvPr id="51" name="Rectangle 50"/>
          <p:cNvSpPr/>
          <p:nvPr/>
        </p:nvSpPr>
        <p:spPr>
          <a:xfrm>
            <a:off x="438912" y="4443984"/>
            <a:ext cx="8266175" cy="402336"/>
          </a:xfrm>
          <a:prstGeom prst="rect">
            <a:avLst/>
          </a:prstGeom>
          <a:solidFill>
            <a:srgbClr val="052B1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2" name="TextBox 51"/>
          <p:cNvSpPr txBox="1"/>
          <p:nvPr/>
        </p:nvSpPr>
        <p:spPr>
          <a:xfrm>
            <a:off x="658368" y="4480560"/>
            <a:ext cx="7827264" cy="347472"/>
          </a:xfrm>
          <a:prstGeom prst="rect">
            <a:avLst/>
          </a:prstGeom>
          <a:noFill/>
        </p:spPr>
        <p:txBody>
          <a:bodyPr wrap="square" lIns="0" rIns="0" tIns="0" bIns="0" anchor="ctr">
            <a:noAutofit/>
          </a:bodyPr>
          <a:lstStyle/>
          <a:p>
            <a:pPr algn="l">
              <a:lnSpc>
                <a:spcPct val="100000"/>
              </a:lnSpc>
            </a:pPr>
            <a:r>
              <a:rPr sz="950" b="1">
                <a:solidFill>
                  <a:srgbClr val="F5EC2E"/>
                </a:solidFill>
                <a:latin typeface="Arial"/>
              </a:rPr>
              <a:t>Read this line first: </a:t>
            </a:r>
            <a:r>
              <a:rPr sz="950" b="0">
                <a:solidFill>
                  <a:srgbClr val="FFFFFF"/>
                </a:solidFill>
                <a:latin typeface="Arial"/>
              </a:rPr>
              <a:t>paid is the floor. Everything the campaign earns for free stacks on top of this column.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6FAEC"/>
        </a:solidFill>
        <a:effectLst/>
      </p:bgPr>
    </p:bg>
    <p:spTree>
      <p:nvGrpSpPr>
        <p:cNvPr id="1" name=""/>
        <p:cNvGrpSpPr/>
        <p:nvPr/>
      </p:nvGrpSpPr>
      <p:grpSpPr/>
      <p:sp>
        <p:nvSpPr>
          <p:cNvPr id="2" name="Rectangle 1"/>
          <p:cNvSpPr/>
          <p:nvPr/>
        </p:nvSpPr>
        <p:spPr>
          <a:xfrm>
            <a:off x="512064" y="365760"/>
            <a:ext cx="219456" cy="73152"/>
          </a:xfrm>
          <a:prstGeom prst="rect">
            <a:avLst/>
          </a:prstGeom>
          <a:solidFill>
            <a:srgbClr val="C51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 name="TextBox 2"/>
          <p:cNvSpPr txBox="1"/>
          <p:nvPr/>
        </p:nvSpPr>
        <p:spPr>
          <a:xfrm>
            <a:off x="512064" y="566928"/>
            <a:ext cx="8119872" cy="475488"/>
          </a:xfrm>
          <a:prstGeom prst="rect">
            <a:avLst/>
          </a:prstGeom>
          <a:noFill/>
        </p:spPr>
        <p:txBody>
          <a:bodyPr wrap="square" lIns="0" rIns="0" tIns="0" bIns="0" anchor="t">
            <a:noAutofit/>
          </a:bodyPr>
          <a:lstStyle/>
          <a:p>
            <a:pPr algn="l">
              <a:lnSpc>
                <a:spcPct val="96000"/>
              </a:lnSpc>
            </a:pPr>
            <a:r>
              <a:rPr sz="2400" b="0">
                <a:solidFill>
                  <a:srgbClr val="006838"/>
                </a:solidFill>
                <a:latin typeface="Arial Black"/>
              </a:rPr>
              <a:t>Each platform has one job.</a:t>
            </a:r>
          </a:p>
        </p:txBody>
      </p:sp>
      <p:sp>
        <p:nvSpPr>
          <p:cNvPr id="4" name="TextBox 3"/>
          <p:cNvSpPr txBox="1"/>
          <p:nvPr/>
        </p:nvSpPr>
        <p:spPr>
          <a:xfrm>
            <a:off x="512064" y="1060704"/>
            <a:ext cx="8119872" cy="365760"/>
          </a:xfrm>
          <a:prstGeom prst="rect">
            <a:avLst/>
          </a:prstGeom>
          <a:noFill/>
        </p:spPr>
        <p:txBody>
          <a:bodyPr wrap="square" lIns="0" rIns="0" tIns="0" bIns="0" anchor="t">
            <a:noAutofit/>
          </a:bodyPr>
          <a:lstStyle/>
          <a:p>
            <a:pPr algn="l">
              <a:lnSpc>
                <a:spcPct val="112000"/>
              </a:lnSpc>
            </a:pPr>
            <a:r>
              <a:rPr sz="1100" b="0">
                <a:solidFill>
                  <a:srgbClr val="6E8A76"/>
                </a:solidFill>
                <a:latin typeface="Arial"/>
              </a:rPr>
              <a:t>Taken from what each platform actually delivered for Saji in 2025 rather than from a generic channel plan. Contest conversion runs on Meta and TikTok only.</a:t>
            </a:r>
          </a:p>
        </p:txBody>
      </p:sp>
      <p:sp>
        <p:nvSpPr>
          <p:cNvPr id="5" name="Rectangle 4"/>
          <p:cNvSpPr/>
          <p:nvPr/>
        </p:nvSpPr>
        <p:spPr>
          <a:xfrm>
            <a:off x="512064" y="1754474"/>
            <a:ext cx="2584704" cy="2067306"/>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Rectangle 5"/>
          <p:cNvSpPr/>
          <p:nvPr/>
        </p:nvSpPr>
        <p:spPr>
          <a:xfrm>
            <a:off x="512064" y="1754474"/>
            <a:ext cx="2584704" cy="54864"/>
          </a:xfrm>
          <a:prstGeom prst="rect">
            <a:avLst/>
          </a:prstGeom>
          <a:solidFill>
            <a:srgbClr val="0068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7" name="TextBox 6"/>
          <p:cNvSpPr txBox="1"/>
          <p:nvPr/>
        </p:nvSpPr>
        <p:spPr>
          <a:xfrm>
            <a:off x="676656" y="1937354"/>
            <a:ext cx="2255520" cy="310896"/>
          </a:xfrm>
          <a:prstGeom prst="rect">
            <a:avLst/>
          </a:prstGeom>
          <a:noFill/>
        </p:spPr>
        <p:txBody>
          <a:bodyPr wrap="square" lIns="0" rIns="0" tIns="0" bIns="0" anchor="t">
            <a:noAutofit/>
          </a:bodyPr>
          <a:lstStyle/>
          <a:p>
            <a:pPr algn="l">
              <a:lnSpc>
                <a:spcPct val="94000"/>
              </a:lnSpc>
            </a:pPr>
            <a:r>
              <a:rPr sz="2000" b="0">
                <a:solidFill>
                  <a:srgbClr val="006838"/>
                </a:solidFill>
                <a:latin typeface="Arial Black"/>
              </a:rPr>
              <a:t>62%</a:t>
            </a:r>
          </a:p>
        </p:txBody>
      </p:sp>
      <p:sp>
        <p:nvSpPr>
          <p:cNvPr id="8" name="TextBox 7"/>
          <p:cNvSpPr txBox="1"/>
          <p:nvPr/>
        </p:nvSpPr>
        <p:spPr>
          <a:xfrm>
            <a:off x="676656" y="2266538"/>
            <a:ext cx="2255520" cy="182880"/>
          </a:xfrm>
          <a:prstGeom prst="rect">
            <a:avLst/>
          </a:prstGeom>
          <a:noFill/>
        </p:spPr>
        <p:txBody>
          <a:bodyPr wrap="square" lIns="0" rIns="0" tIns="0" bIns="0" anchor="t">
            <a:noAutofit/>
          </a:bodyPr>
          <a:lstStyle/>
          <a:p>
            <a:pPr algn="l">
              <a:lnSpc>
                <a:spcPct val="100000"/>
              </a:lnSpc>
            </a:pPr>
            <a:r>
              <a:rPr sz="800" b="1">
                <a:solidFill>
                  <a:srgbClr val="6E8A76"/>
                </a:solidFill>
                <a:latin typeface="Arial"/>
              </a:rPr>
              <a:t>TIKTOK</a:t>
            </a:r>
          </a:p>
        </p:txBody>
      </p:sp>
      <p:sp>
        <p:nvSpPr>
          <p:cNvPr id="9" name="TextBox 8"/>
          <p:cNvSpPr txBox="1"/>
          <p:nvPr/>
        </p:nvSpPr>
        <p:spPr>
          <a:xfrm>
            <a:off x="676656" y="2476850"/>
            <a:ext cx="2255520" cy="359664"/>
          </a:xfrm>
          <a:prstGeom prst="rect">
            <a:avLst/>
          </a:prstGeom>
          <a:noFill/>
        </p:spPr>
        <p:txBody>
          <a:bodyPr wrap="square" lIns="0" rIns="0" tIns="0" bIns="0" anchor="t">
            <a:noAutofit/>
          </a:bodyPr>
          <a:lstStyle/>
          <a:p>
            <a:pPr algn="l">
              <a:lnSpc>
                <a:spcPct val="96000"/>
              </a:lnSpc>
            </a:pPr>
            <a:r>
              <a:rPr sz="1250" b="0">
                <a:solidFill>
                  <a:srgbClr val="006838"/>
                </a:solidFill>
                <a:latin typeface="Arial Black"/>
              </a:rPr>
              <a:t>Views, engagement, half the contest</a:t>
            </a:r>
          </a:p>
        </p:txBody>
      </p:sp>
      <p:sp>
        <p:nvSpPr>
          <p:cNvPr id="10" name="TextBox 9"/>
          <p:cNvSpPr txBox="1"/>
          <p:nvPr/>
        </p:nvSpPr>
        <p:spPr>
          <a:xfrm>
            <a:off x="676656" y="2836514"/>
            <a:ext cx="2255520" cy="793242"/>
          </a:xfrm>
          <a:prstGeom prst="rect">
            <a:avLst/>
          </a:prstGeom>
          <a:noFill/>
        </p:spPr>
        <p:txBody>
          <a:bodyPr wrap="square" lIns="0" rIns="0" tIns="0" bIns="0" anchor="t">
            <a:noAutofit/>
          </a:bodyPr>
          <a:lstStyle/>
          <a:p>
            <a:pPr algn="l">
              <a:lnSpc>
                <a:spcPct val="114000"/>
              </a:lnSpc>
            </a:pPr>
            <a:r>
              <a:rPr sz="850" b="0">
                <a:solidFill>
                  <a:srgbClr val="1F3326"/>
                </a:solidFill>
                <a:latin typeface="Arial"/>
              </a:rPr>
              <a:t>In 2025 TikTok turned 11.5M impressions into 7.26M views at a 63% view rate, six times cheaper per view than YouTube. It carries the view KPI, the Spark Ads on KOL content and the cheaper half of the contest buy.</a:t>
            </a:r>
          </a:p>
        </p:txBody>
      </p:sp>
      <p:sp>
        <p:nvSpPr>
          <p:cNvPr id="11" name="Rectangle 10"/>
          <p:cNvSpPr/>
          <p:nvPr/>
        </p:nvSpPr>
        <p:spPr>
          <a:xfrm>
            <a:off x="3279648" y="1754474"/>
            <a:ext cx="2584704" cy="2067306"/>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2" name="Rectangle 11"/>
          <p:cNvSpPr/>
          <p:nvPr/>
        </p:nvSpPr>
        <p:spPr>
          <a:xfrm>
            <a:off x="3279648" y="1754474"/>
            <a:ext cx="2584704" cy="54864"/>
          </a:xfrm>
          <a:prstGeom prst="rect">
            <a:avLst/>
          </a:prstGeom>
          <a:solidFill>
            <a:srgbClr val="E891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3" name="TextBox 12"/>
          <p:cNvSpPr txBox="1"/>
          <p:nvPr/>
        </p:nvSpPr>
        <p:spPr>
          <a:xfrm>
            <a:off x="3444240" y="1937354"/>
            <a:ext cx="2255520" cy="310896"/>
          </a:xfrm>
          <a:prstGeom prst="rect">
            <a:avLst/>
          </a:prstGeom>
          <a:noFill/>
        </p:spPr>
        <p:txBody>
          <a:bodyPr wrap="square" lIns="0" rIns="0" tIns="0" bIns="0" anchor="t">
            <a:noAutofit/>
          </a:bodyPr>
          <a:lstStyle/>
          <a:p>
            <a:pPr algn="l">
              <a:lnSpc>
                <a:spcPct val="94000"/>
              </a:lnSpc>
            </a:pPr>
            <a:r>
              <a:rPr sz="2000" b="0">
                <a:solidFill>
                  <a:srgbClr val="E8912C"/>
                </a:solidFill>
                <a:latin typeface="Arial Black"/>
              </a:rPr>
              <a:t>30%</a:t>
            </a:r>
          </a:p>
        </p:txBody>
      </p:sp>
      <p:sp>
        <p:nvSpPr>
          <p:cNvPr id="14" name="TextBox 13"/>
          <p:cNvSpPr txBox="1"/>
          <p:nvPr/>
        </p:nvSpPr>
        <p:spPr>
          <a:xfrm>
            <a:off x="3444240" y="2266538"/>
            <a:ext cx="2255520" cy="182880"/>
          </a:xfrm>
          <a:prstGeom prst="rect">
            <a:avLst/>
          </a:prstGeom>
          <a:noFill/>
        </p:spPr>
        <p:txBody>
          <a:bodyPr wrap="square" lIns="0" rIns="0" tIns="0" bIns="0" anchor="t">
            <a:noAutofit/>
          </a:bodyPr>
          <a:lstStyle/>
          <a:p>
            <a:pPr algn="l">
              <a:lnSpc>
                <a:spcPct val="100000"/>
              </a:lnSpc>
            </a:pPr>
            <a:r>
              <a:rPr sz="800" b="1">
                <a:solidFill>
                  <a:srgbClr val="6E8A76"/>
                </a:solidFill>
                <a:latin typeface="Arial"/>
              </a:rPr>
              <a:t>META</a:t>
            </a:r>
          </a:p>
        </p:txBody>
      </p:sp>
      <p:sp>
        <p:nvSpPr>
          <p:cNvPr id="15" name="TextBox 14"/>
          <p:cNvSpPr txBox="1"/>
          <p:nvPr/>
        </p:nvSpPr>
        <p:spPr>
          <a:xfrm>
            <a:off x="3444240" y="2476850"/>
            <a:ext cx="2255520" cy="359664"/>
          </a:xfrm>
          <a:prstGeom prst="rect">
            <a:avLst/>
          </a:prstGeom>
          <a:noFill/>
        </p:spPr>
        <p:txBody>
          <a:bodyPr wrap="square" lIns="0" rIns="0" tIns="0" bIns="0" anchor="t">
            <a:noAutofit/>
          </a:bodyPr>
          <a:lstStyle/>
          <a:p>
            <a:pPr algn="l">
              <a:lnSpc>
                <a:spcPct val="96000"/>
              </a:lnSpc>
            </a:pPr>
            <a:r>
              <a:rPr sz="1250" b="0">
                <a:solidFill>
                  <a:srgbClr val="006838"/>
                </a:solidFill>
                <a:latin typeface="Arial Black"/>
              </a:rPr>
              <a:t>Reach and the higher intent half</a:t>
            </a:r>
          </a:p>
        </p:txBody>
      </p:sp>
      <p:sp>
        <p:nvSpPr>
          <p:cNvPr id="16" name="TextBox 15"/>
          <p:cNvSpPr txBox="1"/>
          <p:nvPr/>
        </p:nvSpPr>
        <p:spPr>
          <a:xfrm>
            <a:off x="3444240" y="2836514"/>
            <a:ext cx="2255520" cy="670179"/>
          </a:xfrm>
          <a:prstGeom prst="rect">
            <a:avLst/>
          </a:prstGeom>
          <a:noFill/>
        </p:spPr>
        <p:txBody>
          <a:bodyPr wrap="square" lIns="0" rIns="0" tIns="0" bIns="0" anchor="t">
            <a:noAutofit/>
          </a:bodyPr>
          <a:lstStyle/>
          <a:p>
            <a:pPr algn="l">
              <a:lnSpc>
                <a:spcPct val="114000"/>
              </a:lnSpc>
            </a:pPr>
            <a:r>
              <a:rPr sz="850" b="0">
                <a:solidFill>
                  <a:srgbClr val="1F3326"/>
                </a:solidFill>
                <a:latin typeface="Arial"/>
              </a:rPr>
              <a:t>In 2025 Meta delivered 14.17M reach on its own. It carries the reach KPI and the higher intent half of the contest buy, with Advantage+ and a real pixel behind it for the first time.</a:t>
            </a:r>
          </a:p>
        </p:txBody>
      </p:sp>
      <p:sp>
        <p:nvSpPr>
          <p:cNvPr id="17" name="Rectangle 16"/>
          <p:cNvSpPr/>
          <p:nvPr/>
        </p:nvSpPr>
        <p:spPr>
          <a:xfrm>
            <a:off x="6047232" y="1754474"/>
            <a:ext cx="2584704" cy="2067306"/>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8" name="Rectangle 17"/>
          <p:cNvSpPr/>
          <p:nvPr/>
        </p:nvSpPr>
        <p:spPr>
          <a:xfrm>
            <a:off x="6047232" y="1754474"/>
            <a:ext cx="2584704" cy="54864"/>
          </a:xfrm>
          <a:prstGeom prst="rect">
            <a:avLst/>
          </a:prstGeom>
          <a:solidFill>
            <a:srgbClr val="C51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9" name="TextBox 18"/>
          <p:cNvSpPr txBox="1"/>
          <p:nvPr/>
        </p:nvSpPr>
        <p:spPr>
          <a:xfrm>
            <a:off x="6211824" y="1937354"/>
            <a:ext cx="2255520" cy="310896"/>
          </a:xfrm>
          <a:prstGeom prst="rect">
            <a:avLst/>
          </a:prstGeom>
          <a:noFill/>
        </p:spPr>
        <p:txBody>
          <a:bodyPr wrap="square" lIns="0" rIns="0" tIns="0" bIns="0" anchor="t">
            <a:noAutofit/>
          </a:bodyPr>
          <a:lstStyle/>
          <a:p>
            <a:pPr algn="l">
              <a:lnSpc>
                <a:spcPct val="94000"/>
              </a:lnSpc>
            </a:pPr>
            <a:r>
              <a:rPr sz="2000" b="0">
                <a:solidFill>
                  <a:srgbClr val="C5192B"/>
                </a:solidFill>
                <a:latin typeface="Arial Black"/>
              </a:rPr>
              <a:t>8%</a:t>
            </a:r>
          </a:p>
        </p:txBody>
      </p:sp>
      <p:sp>
        <p:nvSpPr>
          <p:cNvPr id="20" name="TextBox 19"/>
          <p:cNvSpPr txBox="1"/>
          <p:nvPr/>
        </p:nvSpPr>
        <p:spPr>
          <a:xfrm>
            <a:off x="6211824" y="2266538"/>
            <a:ext cx="2255520" cy="182880"/>
          </a:xfrm>
          <a:prstGeom prst="rect">
            <a:avLst/>
          </a:prstGeom>
          <a:noFill/>
        </p:spPr>
        <p:txBody>
          <a:bodyPr wrap="square" lIns="0" rIns="0" tIns="0" bIns="0" anchor="t">
            <a:noAutofit/>
          </a:bodyPr>
          <a:lstStyle/>
          <a:p>
            <a:pPr algn="l">
              <a:lnSpc>
                <a:spcPct val="100000"/>
              </a:lnSpc>
            </a:pPr>
            <a:r>
              <a:rPr sz="800" b="1">
                <a:solidFill>
                  <a:srgbClr val="6E8A76"/>
                </a:solidFill>
                <a:latin typeface="Arial"/>
              </a:rPr>
              <a:t>GOOGLE AND YOUTUBE</a:t>
            </a:r>
          </a:p>
        </p:txBody>
      </p:sp>
      <p:sp>
        <p:nvSpPr>
          <p:cNvPr id="21" name="TextBox 20"/>
          <p:cNvSpPr txBox="1"/>
          <p:nvPr/>
        </p:nvSpPr>
        <p:spPr>
          <a:xfrm>
            <a:off x="6211824" y="2476850"/>
            <a:ext cx="2255520" cy="207264"/>
          </a:xfrm>
          <a:prstGeom prst="rect">
            <a:avLst/>
          </a:prstGeom>
          <a:noFill/>
        </p:spPr>
        <p:txBody>
          <a:bodyPr wrap="square" lIns="0" rIns="0" tIns="0" bIns="0" anchor="t">
            <a:noAutofit/>
          </a:bodyPr>
          <a:lstStyle/>
          <a:p>
            <a:pPr algn="l">
              <a:lnSpc>
                <a:spcPct val="96000"/>
              </a:lnSpc>
            </a:pPr>
            <a:r>
              <a:rPr sz="1250" b="0">
                <a:solidFill>
                  <a:srgbClr val="006838"/>
                </a:solidFill>
                <a:latin typeface="Arial Black"/>
              </a:rPr>
              <a:t>The brand film only</a:t>
            </a:r>
          </a:p>
        </p:txBody>
      </p:sp>
      <p:sp>
        <p:nvSpPr>
          <p:cNvPr id="22" name="TextBox 21"/>
          <p:cNvSpPr txBox="1"/>
          <p:nvPr/>
        </p:nvSpPr>
        <p:spPr>
          <a:xfrm>
            <a:off x="6211824" y="2684114"/>
            <a:ext cx="2255520" cy="670179"/>
          </a:xfrm>
          <a:prstGeom prst="rect">
            <a:avLst/>
          </a:prstGeom>
          <a:noFill/>
        </p:spPr>
        <p:txBody>
          <a:bodyPr wrap="square" lIns="0" rIns="0" tIns="0" bIns="0" anchor="t">
            <a:noAutofit/>
          </a:bodyPr>
          <a:lstStyle/>
          <a:p>
            <a:pPr algn="l">
              <a:lnSpc>
                <a:spcPct val="114000"/>
              </a:lnSpc>
            </a:pPr>
            <a:r>
              <a:rPr sz="850" b="0">
                <a:solidFill>
                  <a:srgbClr val="1F3326"/>
                </a:solidFill>
                <a:latin typeface="Arial"/>
              </a:rPr>
              <a:t>At roughly RM0.012 per view it costs four times TikTok. It earns its place for the six minute film and for recall among the Balik Kampung Provider, not for volume.</a:t>
            </a:r>
          </a:p>
        </p:txBody>
      </p:sp>
      <p:sp>
        <p:nvSpPr>
          <p:cNvPr id="23" name="Rectangle 22"/>
          <p:cNvSpPr/>
          <p:nvPr/>
        </p:nvSpPr>
        <p:spPr>
          <a:xfrm>
            <a:off x="512064" y="3950208"/>
            <a:ext cx="8119872" cy="402336"/>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4" name="Rectangle 23"/>
          <p:cNvSpPr/>
          <p:nvPr/>
        </p:nvSpPr>
        <p:spPr>
          <a:xfrm>
            <a:off x="512064" y="3950208"/>
            <a:ext cx="45720" cy="402336"/>
          </a:xfrm>
          <a:prstGeom prst="rect">
            <a:avLst/>
          </a:prstGeom>
          <a:solidFill>
            <a:srgbClr val="0068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5" name="TextBox 24"/>
          <p:cNvSpPr txBox="1"/>
          <p:nvPr/>
        </p:nvSpPr>
        <p:spPr>
          <a:xfrm>
            <a:off x="676656" y="4023360"/>
            <a:ext cx="7827264" cy="274320"/>
          </a:xfrm>
          <a:prstGeom prst="rect">
            <a:avLst/>
          </a:prstGeom>
          <a:noFill/>
        </p:spPr>
        <p:txBody>
          <a:bodyPr wrap="square" lIns="0" rIns="0" tIns="0" bIns="0" anchor="t">
            <a:noAutofit/>
          </a:bodyPr>
          <a:lstStyle/>
          <a:p>
            <a:pPr algn="l">
              <a:lnSpc>
                <a:spcPct val="108000"/>
              </a:lnSpc>
            </a:pPr>
            <a:r>
              <a:rPr sz="850" b="1">
                <a:solidFill>
                  <a:srgbClr val="006838"/>
                </a:solidFill>
                <a:latin typeface="Arial"/>
              </a:rPr>
              <a:t>Geo: </a:t>
            </a:r>
            <a:r>
              <a:rPr sz="850" b="0">
                <a:solidFill>
                  <a:srgbClr val="1F3326"/>
                </a:solidFill>
                <a:latin typeface="Arial"/>
              </a:rPr>
              <a:t>the contest runs as two separate campaigns so budget cannot leak to the cheapest inventory. KL and Selangor take 30%, the other states 70%. Inside one campaign the algorithm spends where conversions are cheapest, which is KL, and the outer states quietly starve.</a:t>
            </a:r>
          </a:p>
        </p:txBody>
      </p:sp>
      <p:sp>
        <p:nvSpPr>
          <p:cNvPr id="26" name="Rectangle 25"/>
          <p:cNvSpPr/>
          <p:nvPr/>
        </p:nvSpPr>
        <p:spPr>
          <a:xfrm>
            <a:off x="438912" y="4443984"/>
            <a:ext cx="8266175" cy="402336"/>
          </a:xfrm>
          <a:prstGeom prst="rect">
            <a:avLst/>
          </a:prstGeom>
          <a:solidFill>
            <a:srgbClr val="052B1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7" name="TextBox 26"/>
          <p:cNvSpPr txBox="1"/>
          <p:nvPr/>
        </p:nvSpPr>
        <p:spPr>
          <a:xfrm>
            <a:off x="658368" y="4480560"/>
            <a:ext cx="7827264" cy="347472"/>
          </a:xfrm>
          <a:prstGeom prst="rect">
            <a:avLst/>
          </a:prstGeom>
          <a:noFill/>
        </p:spPr>
        <p:txBody>
          <a:bodyPr wrap="square" lIns="0" rIns="0" tIns="0" bIns="0" anchor="ctr">
            <a:noAutofit/>
          </a:bodyPr>
          <a:lstStyle/>
          <a:p>
            <a:pPr algn="l">
              <a:lnSpc>
                <a:spcPct val="100000"/>
              </a:lnSpc>
            </a:pPr>
            <a:r>
              <a:rPr sz="950" b="1">
                <a:solidFill>
                  <a:srgbClr val="F5EC2E"/>
                </a:solidFill>
                <a:latin typeface="Arial"/>
              </a:rPr>
              <a:t>Please note: </a:t>
            </a:r>
            <a:r>
              <a:rPr sz="950" b="0">
                <a:solidFill>
                  <a:srgbClr val="FFFFFF"/>
                </a:solidFill>
                <a:latin typeface="Arial"/>
              </a:rPr>
              <a:t>these are planning percentages. The split moves once the campaign is live, because we optimize against real time results rather than against this table.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6FAEC"/>
        </a:solidFill>
        <a:effectLst/>
      </p:bgPr>
    </p:bg>
    <p:spTree>
      <p:nvGrpSpPr>
        <p:cNvPr id="1" name=""/>
        <p:cNvGrpSpPr/>
        <p:nvPr/>
      </p:nvGrpSpPr>
      <p:grpSpPr/>
      <p:sp>
        <p:nvSpPr>
          <p:cNvPr id="2" name="Rectangle 1"/>
          <p:cNvSpPr/>
          <p:nvPr/>
        </p:nvSpPr>
        <p:spPr>
          <a:xfrm>
            <a:off x="512064" y="365760"/>
            <a:ext cx="219456" cy="73152"/>
          </a:xfrm>
          <a:prstGeom prst="rect">
            <a:avLst/>
          </a:prstGeom>
          <a:solidFill>
            <a:srgbClr val="C51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 name="TextBox 2"/>
          <p:cNvSpPr txBox="1"/>
          <p:nvPr/>
        </p:nvSpPr>
        <p:spPr>
          <a:xfrm>
            <a:off x="512064" y="566928"/>
            <a:ext cx="8119872" cy="475488"/>
          </a:xfrm>
          <a:prstGeom prst="rect">
            <a:avLst/>
          </a:prstGeom>
          <a:noFill/>
        </p:spPr>
        <p:txBody>
          <a:bodyPr wrap="square" lIns="0" rIns="0" tIns="0" bIns="0" anchor="t">
            <a:noAutofit/>
          </a:bodyPr>
          <a:lstStyle/>
          <a:p>
            <a:pPr algn="l">
              <a:lnSpc>
                <a:spcPct val="96000"/>
              </a:lnSpc>
            </a:pPr>
            <a:r>
              <a:rPr sz="2400" b="0">
                <a:solidFill>
                  <a:srgbClr val="006838"/>
                </a:solidFill>
                <a:latin typeface="Arial Black"/>
              </a:rPr>
              <a:t>From presentation to close.</a:t>
            </a:r>
          </a:p>
        </p:txBody>
      </p:sp>
      <p:sp>
        <p:nvSpPr>
          <p:cNvPr id="4" name="TextBox 3"/>
          <p:cNvSpPr txBox="1"/>
          <p:nvPr/>
        </p:nvSpPr>
        <p:spPr>
          <a:xfrm>
            <a:off x="512064" y="1060704"/>
            <a:ext cx="8119872" cy="365760"/>
          </a:xfrm>
          <a:prstGeom prst="rect">
            <a:avLst/>
          </a:prstGeom>
          <a:noFill/>
        </p:spPr>
        <p:txBody>
          <a:bodyPr wrap="square" lIns="0" rIns="0" tIns="0" bIns="0" anchor="t">
            <a:noAutofit/>
          </a:bodyPr>
          <a:lstStyle/>
          <a:p>
            <a:pPr algn="l">
              <a:lnSpc>
                <a:spcPct val="112000"/>
              </a:lnSpc>
            </a:pPr>
            <a:r>
              <a:rPr sz="1100" b="0">
                <a:solidFill>
                  <a:srgbClr val="6E8A76"/>
                </a:solidFill>
                <a:latin typeface="Arial"/>
              </a:rPr>
              <a:t>The 24 September discussion moved the presentation to 14 or 15 October. Everything after it holds, and the 15 January page date is the one that cannot move.</a:t>
            </a:r>
          </a:p>
        </p:txBody>
      </p:sp>
      <p:sp>
        <p:nvSpPr>
          <p:cNvPr id="5" name="Rectangle 4"/>
          <p:cNvSpPr/>
          <p:nvPr/>
        </p:nvSpPr>
        <p:spPr>
          <a:xfrm>
            <a:off x="512064" y="1755648"/>
            <a:ext cx="8119872" cy="32004"/>
          </a:xfrm>
          <a:prstGeom prst="rect">
            <a:avLst/>
          </a:prstGeom>
          <a:solidFill>
            <a:srgbClr val="B8CFB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Rectangle 5"/>
          <p:cNvSpPr/>
          <p:nvPr/>
        </p:nvSpPr>
        <p:spPr>
          <a:xfrm>
            <a:off x="999308" y="1700784"/>
            <a:ext cx="91440" cy="137160"/>
          </a:xfrm>
          <a:prstGeom prst="rect">
            <a:avLst/>
          </a:prstGeom>
          <a:solidFill>
            <a:srgbClr val="6E8A7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7" name="TextBox 6"/>
          <p:cNvSpPr txBox="1"/>
          <p:nvPr/>
        </p:nvSpPr>
        <p:spPr>
          <a:xfrm>
            <a:off x="512064" y="1517904"/>
            <a:ext cx="1065929" cy="182880"/>
          </a:xfrm>
          <a:prstGeom prst="rect">
            <a:avLst/>
          </a:prstGeom>
          <a:noFill/>
        </p:spPr>
        <p:txBody>
          <a:bodyPr wrap="square" lIns="0" rIns="0" tIns="0" bIns="0" anchor="t">
            <a:noAutofit/>
          </a:bodyPr>
          <a:lstStyle/>
          <a:p>
            <a:pPr algn="ctr">
              <a:lnSpc>
                <a:spcPct val="100000"/>
              </a:lnSpc>
            </a:pPr>
            <a:r>
              <a:rPr sz="950" b="0">
                <a:solidFill>
                  <a:srgbClr val="6E8A76"/>
                </a:solidFill>
                <a:latin typeface="Arial Black"/>
              </a:rPr>
              <a:t>14 Oct</a:t>
            </a:r>
          </a:p>
        </p:txBody>
      </p:sp>
      <p:sp>
        <p:nvSpPr>
          <p:cNvPr id="8" name="TextBox 7"/>
          <p:cNvSpPr txBox="1"/>
          <p:nvPr/>
        </p:nvSpPr>
        <p:spPr>
          <a:xfrm>
            <a:off x="512064" y="1956816"/>
            <a:ext cx="1065929" cy="402336"/>
          </a:xfrm>
          <a:prstGeom prst="rect">
            <a:avLst/>
          </a:prstGeom>
          <a:noFill/>
        </p:spPr>
        <p:txBody>
          <a:bodyPr wrap="square" lIns="0" rIns="0" tIns="0" bIns="0" anchor="t">
            <a:noAutofit/>
          </a:bodyPr>
          <a:lstStyle/>
          <a:p>
            <a:pPr algn="ctr">
              <a:lnSpc>
                <a:spcPct val="108000"/>
              </a:lnSpc>
            </a:pPr>
            <a:r>
              <a:rPr sz="780" b="0">
                <a:solidFill>
                  <a:srgbClr val="1F3326"/>
                </a:solidFill>
                <a:latin typeface="Arial"/>
              </a:rPr>
              <a:t>Present to Saji</a:t>
            </a:r>
          </a:p>
        </p:txBody>
      </p:sp>
      <p:sp>
        <p:nvSpPr>
          <p:cNvPr id="9" name="Rectangle 8"/>
          <p:cNvSpPr/>
          <p:nvPr/>
        </p:nvSpPr>
        <p:spPr>
          <a:xfrm>
            <a:off x="2174965" y="1700784"/>
            <a:ext cx="91440" cy="137160"/>
          </a:xfrm>
          <a:prstGeom prst="rect">
            <a:avLst/>
          </a:prstGeom>
          <a:solidFill>
            <a:srgbClr val="6E8A7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0" name="TextBox 9"/>
          <p:cNvSpPr txBox="1"/>
          <p:nvPr/>
        </p:nvSpPr>
        <p:spPr>
          <a:xfrm>
            <a:off x="1687721" y="1517904"/>
            <a:ext cx="1065929" cy="182880"/>
          </a:xfrm>
          <a:prstGeom prst="rect">
            <a:avLst/>
          </a:prstGeom>
          <a:noFill/>
        </p:spPr>
        <p:txBody>
          <a:bodyPr wrap="square" lIns="0" rIns="0" tIns="0" bIns="0" anchor="t">
            <a:noAutofit/>
          </a:bodyPr>
          <a:lstStyle/>
          <a:p>
            <a:pPr algn="ctr">
              <a:lnSpc>
                <a:spcPct val="100000"/>
              </a:lnSpc>
            </a:pPr>
            <a:r>
              <a:rPr sz="950" b="0">
                <a:solidFill>
                  <a:srgbClr val="6E8A76"/>
                </a:solidFill>
                <a:latin typeface="Arial Black"/>
              </a:rPr>
              <a:t>Late Oct</a:t>
            </a:r>
          </a:p>
        </p:txBody>
      </p:sp>
      <p:sp>
        <p:nvSpPr>
          <p:cNvPr id="11" name="TextBox 10"/>
          <p:cNvSpPr txBox="1"/>
          <p:nvPr/>
        </p:nvSpPr>
        <p:spPr>
          <a:xfrm>
            <a:off x="1687721" y="1956816"/>
            <a:ext cx="1065929" cy="402336"/>
          </a:xfrm>
          <a:prstGeom prst="rect">
            <a:avLst/>
          </a:prstGeom>
          <a:noFill/>
        </p:spPr>
        <p:txBody>
          <a:bodyPr wrap="square" lIns="0" rIns="0" tIns="0" bIns="0" anchor="t">
            <a:noAutofit/>
          </a:bodyPr>
          <a:lstStyle/>
          <a:p>
            <a:pPr algn="ctr">
              <a:lnSpc>
                <a:spcPct val="108000"/>
              </a:lnSpc>
            </a:pPr>
            <a:r>
              <a:rPr sz="780" b="0">
                <a:solidFill>
                  <a:srgbClr val="1F3326"/>
                </a:solidFill>
                <a:latin typeface="Arial"/>
              </a:rPr>
              <a:t>Project award</a:t>
            </a:r>
          </a:p>
        </p:txBody>
      </p:sp>
      <p:sp>
        <p:nvSpPr>
          <p:cNvPr id="12" name="Rectangle 11"/>
          <p:cNvSpPr/>
          <p:nvPr/>
        </p:nvSpPr>
        <p:spPr>
          <a:xfrm>
            <a:off x="3350622" y="1700784"/>
            <a:ext cx="91440" cy="137160"/>
          </a:xfrm>
          <a:prstGeom prst="rect">
            <a:avLst/>
          </a:prstGeom>
          <a:solidFill>
            <a:srgbClr val="6E8A7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3" name="TextBox 12"/>
          <p:cNvSpPr txBox="1"/>
          <p:nvPr/>
        </p:nvSpPr>
        <p:spPr>
          <a:xfrm>
            <a:off x="2863378" y="1517904"/>
            <a:ext cx="1065929" cy="182880"/>
          </a:xfrm>
          <a:prstGeom prst="rect">
            <a:avLst/>
          </a:prstGeom>
          <a:noFill/>
        </p:spPr>
        <p:txBody>
          <a:bodyPr wrap="square" lIns="0" rIns="0" tIns="0" bIns="0" anchor="t">
            <a:noAutofit/>
          </a:bodyPr>
          <a:lstStyle/>
          <a:p>
            <a:pPr algn="ctr">
              <a:lnSpc>
                <a:spcPct val="100000"/>
              </a:lnSpc>
            </a:pPr>
            <a:r>
              <a:rPr sz="950" b="0">
                <a:solidFill>
                  <a:srgbClr val="6E8A76"/>
                </a:solidFill>
                <a:latin typeface="Arial Black"/>
              </a:rPr>
              <a:t>Mid Dec</a:t>
            </a:r>
          </a:p>
        </p:txBody>
      </p:sp>
      <p:sp>
        <p:nvSpPr>
          <p:cNvPr id="14" name="TextBox 13"/>
          <p:cNvSpPr txBox="1"/>
          <p:nvPr/>
        </p:nvSpPr>
        <p:spPr>
          <a:xfrm>
            <a:off x="2863378" y="1956816"/>
            <a:ext cx="1065929" cy="402336"/>
          </a:xfrm>
          <a:prstGeom prst="rect">
            <a:avLst/>
          </a:prstGeom>
          <a:noFill/>
        </p:spPr>
        <p:txBody>
          <a:bodyPr wrap="square" lIns="0" rIns="0" tIns="0" bIns="0" anchor="t">
            <a:noAutofit/>
          </a:bodyPr>
          <a:lstStyle/>
          <a:p>
            <a:pPr algn="ctr">
              <a:lnSpc>
                <a:spcPct val="108000"/>
              </a:lnSpc>
            </a:pPr>
            <a:r>
              <a:rPr sz="780" b="0">
                <a:solidFill>
                  <a:srgbClr val="1F3326"/>
                </a:solidFill>
                <a:latin typeface="Arial"/>
              </a:rPr>
              <a:t>Permit and packaging locked</a:t>
            </a:r>
          </a:p>
        </p:txBody>
      </p:sp>
      <p:sp>
        <p:nvSpPr>
          <p:cNvPr id="15" name="Rectangle 14"/>
          <p:cNvSpPr/>
          <p:nvPr/>
        </p:nvSpPr>
        <p:spPr>
          <a:xfrm>
            <a:off x="4526279" y="1700784"/>
            <a:ext cx="91440" cy="137160"/>
          </a:xfrm>
          <a:prstGeom prst="rect">
            <a:avLst/>
          </a:prstGeom>
          <a:solidFill>
            <a:srgbClr val="0068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6" name="TextBox 15"/>
          <p:cNvSpPr txBox="1"/>
          <p:nvPr/>
        </p:nvSpPr>
        <p:spPr>
          <a:xfrm>
            <a:off x="4039035" y="1517904"/>
            <a:ext cx="1065929" cy="182880"/>
          </a:xfrm>
          <a:prstGeom prst="rect">
            <a:avLst/>
          </a:prstGeom>
          <a:noFill/>
        </p:spPr>
        <p:txBody>
          <a:bodyPr wrap="square" lIns="0" rIns="0" tIns="0" bIns="0" anchor="t">
            <a:noAutofit/>
          </a:bodyPr>
          <a:lstStyle/>
          <a:p>
            <a:pPr algn="ctr">
              <a:lnSpc>
                <a:spcPct val="100000"/>
              </a:lnSpc>
            </a:pPr>
            <a:r>
              <a:rPr sz="950" b="0">
                <a:solidFill>
                  <a:srgbClr val="006838"/>
                </a:solidFill>
                <a:latin typeface="Arial Black"/>
              </a:rPr>
              <a:t>15 Jan</a:t>
            </a:r>
          </a:p>
        </p:txBody>
      </p:sp>
      <p:sp>
        <p:nvSpPr>
          <p:cNvPr id="17" name="TextBox 16"/>
          <p:cNvSpPr txBox="1"/>
          <p:nvPr/>
        </p:nvSpPr>
        <p:spPr>
          <a:xfrm>
            <a:off x="4039035" y="1956816"/>
            <a:ext cx="1065929" cy="402336"/>
          </a:xfrm>
          <a:prstGeom prst="rect">
            <a:avLst/>
          </a:prstGeom>
          <a:noFill/>
        </p:spPr>
        <p:txBody>
          <a:bodyPr wrap="square" lIns="0" rIns="0" tIns="0" bIns="0" anchor="t">
            <a:noAutofit/>
          </a:bodyPr>
          <a:lstStyle/>
          <a:p>
            <a:pPr algn="ctr">
              <a:lnSpc>
                <a:spcPct val="108000"/>
              </a:lnSpc>
            </a:pPr>
            <a:r>
              <a:rPr sz="780" b="0">
                <a:solidFill>
                  <a:srgbClr val="1F3326"/>
                </a:solidFill>
                <a:latin typeface="Arial"/>
              </a:rPr>
              <a:t>Page and Mata engine live</a:t>
            </a:r>
          </a:p>
        </p:txBody>
      </p:sp>
      <p:sp>
        <p:nvSpPr>
          <p:cNvPr id="18" name="Rectangle 17"/>
          <p:cNvSpPr/>
          <p:nvPr/>
        </p:nvSpPr>
        <p:spPr>
          <a:xfrm>
            <a:off x="5701937" y="1700784"/>
            <a:ext cx="91440" cy="137160"/>
          </a:xfrm>
          <a:prstGeom prst="rect">
            <a:avLst/>
          </a:prstGeom>
          <a:solidFill>
            <a:srgbClr val="6E8A7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9" name="TextBox 18"/>
          <p:cNvSpPr txBox="1"/>
          <p:nvPr/>
        </p:nvSpPr>
        <p:spPr>
          <a:xfrm>
            <a:off x="5214692" y="1517904"/>
            <a:ext cx="1065929" cy="182880"/>
          </a:xfrm>
          <a:prstGeom prst="rect">
            <a:avLst/>
          </a:prstGeom>
          <a:noFill/>
        </p:spPr>
        <p:txBody>
          <a:bodyPr wrap="square" lIns="0" rIns="0" tIns="0" bIns="0" anchor="t">
            <a:noAutofit/>
          </a:bodyPr>
          <a:lstStyle/>
          <a:p>
            <a:pPr algn="ctr">
              <a:lnSpc>
                <a:spcPct val="100000"/>
              </a:lnSpc>
            </a:pPr>
            <a:r>
              <a:rPr sz="950" b="0">
                <a:solidFill>
                  <a:srgbClr val="6E8A76"/>
                </a:solidFill>
                <a:latin typeface="Arial Black"/>
              </a:rPr>
              <a:t>25 Jan</a:t>
            </a:r>
          </a:p>
        </p:txBody>
      </p:sp>
      <p:sp>
        <p:nvSpPr>
          <p:cNvPr id="20" name="TextBox 19"/>
          <p:cNvSpPr txBox="1"/>
          <p:nvPr/>
        </p:nvSpPr>
        <p:spPr>
          <a:xfrm>
            <a:off x="5214692" y="1956816"/>
            <a:ext cx="1065929" cy="402336"/>
          </a:xfrm>
          <a:prstGeom prst="rect">
            <a:avLst/>
          </a:prstGeom>
          <a:noFill/>
        </p:spPr>
        <p:txBody>
          <a:bodyPr wrap="square" lIns="0" rIns="0" tIns="0" bIns="0" anchor="t">
            <a:noAutofit/>
          </a:bodyPr>
          <a:lstStyle/>
          <a:p>
            <a:pPr algn="ctr">
              <a:lnSpc>
                <a:spcPct val="108000"/>
              </a:lnSpc>
            </a:pPr>
            <a:r>
              <a:rPr sz="780" b="0">
                <a:solidFill>
                  <a:srgbClr val="1F3326"/>
                </a:solidFill>
                <a:latin typeface="Arial"/>
              </a:rPr>
              <a:t>TerSaji Raya launch</a:t>
            </a:r>
          </a:p>
        </p:txBody>
      </p:sp>
      <p:sp>
        <p:nvSpPr>
          <p:cNvPr id="21" name="Rectangle 20"/>
          <p:cNvSpPr/>
          <p:nvPr/>
        </p:nvSpPr>
        <p:spPr>
          <a:xfrm>
            <a:off x="6877594" y="1700784"/>
            <a:ext cx="91440" cy="137160"/>
          </a:xfrm>
          <a:prstGeom prst="rect">
            <a:avLst/>
          </a:prstGeom>
          <a:solidFill>
            <a:srgbClr val="0068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2" name="TextBox 21"/>
          <p:cNvSpPr txBox="1"/>
          <p:nvPr/>
        </p:nvSpPr>
        <p:spPr>
          <a:xfrm>
            <a:off x="6390349" y="1517904"/>
            <a:ext cx="1065929" cy="182880"/>
          </a:xfrm>
          <a:prstGeom prst="rect">
            <a:avLst/>
          </a:prstGeom>
          <a:noFill/>
        </p:spPr>
        <p:txBody>
          <a:bodyPr wrap="square" lIns="0" rIns="0" tIns="0" bIns="0" anchor="t">
            <a:noAutofit/>
          </a:bodyPr>
          <a:lstStyle/>
          <a:p>
            <a:pPr algn="ctr">
              <a:lnSpc>
                <a:spcPct val="100000"/>
              </a:lnSpc>
            </a:pPr>
            <a:r>
              <a:rPr sz="950" b="0">
                <a:solidFill>
                  <a:srgbClr val="006838"/>
                </a:solidFill>
                <a:latin typeface="Arial Black"/>
              </a:rPr>
              <a:t>1 Feb</a:t>
            </a:r>
          </a:p>
        </p:txBody>
      </p:sp>
      <p:sp>
        <p:nvSpPr>
          <p:cNvPr id="23" name="TextBox 22"/>
          <p:cNvSpPr txBox="1"/>
          <p:nvPr/>
        </p:nvSpPr>
        <p:spPr>
          <a:xfrm>
            <a:off x="6390349" y="1956816"/>
            <a:ext cx="1065929" cy="402336"/>
          </a:xfrm>
          <a:prstGeom prst="rect">
            <a:avLst/>
          </a:prstGeom>
          <a:noFill/>
        </p:spPr>
        <p:txBody>
          <a:bodyPr wrap="square" lIns="0" rIns="0" tIns="0" bIns="0" anchor="t">
            <a:noAutofit/>
          </a:bodyPr>
          <a:lstStyle/>
          <a:p>
            <a:pPr algn="ctr">
              <a:lnSpc>
                <a:spcPct val="108000"/>
              </a:lnSpc>
            </a:pPr>
            <a:r>
              <a:rPr sz="780" b="0">
                <a:solidFill>
                  <a:srgbClr val="1F3326"/>
                </a:solidFill>
                <a:latin typeface="Arial"/>
              </a:rPr>
              <a:t>Contest ads live</a:t>
            </a:r>
          </a:p>
        </p:txBody>
      </p:sp>
      <p:sp>
        <p:nvSpPr>
          <p:cNvPr id="24" name="Rectangle 23"/>
          <p:cNvSpPr/>
          <p:nvPr/>
        </p:nvSpPr>
        <p:spPr>
          <a:xfrm>
            <a:off x="8053251" y="1700784"/>
            <a:ext cx="91440" cy="137160"/>
          </a:xfrm>
          <a:prstGeom prst="rect">
            <a:avLst/>
          </a:prstGeom>
          <a:solidFill>
            <a:srgbClr val="C51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5" name="TextBox 24"/>
          <p:cNvSpPr txBox="1"/>
          <p:nvPr/>
        </p:nvSpPr>
        <p:spPr>
          <a:xfrm>
            <a:off x="7566006" y="1517904"/>
            <a:ext cx="1065929" cy="182880"/>
          </a:xfrm>
          <a:prstGeom prst="rect">
            <a:avLst/>
          </a:prstGeom>
          <a:noFill/>
        </p:spPr>
        <p:txBody>
          <a:bodyPr wrap="square" lIns="0" rIns="0" tIns="0" bIns="0" anchor="t">
            <a:noAutofit/>
          </a:bodyPr>
          <a:lstStyle/>
          <a:p>
            <a:pPr algn="ctr">
              <a:lnSpc>
                <a:spcPct val="100000"/>
              </a:lnSpc>
            </a:pPr>
            <a:r>
              <a:rPr sz="950" b="0">
                <a:solidFill>
                  <a:srgbClr val="C5192B"/>
                </a:solidFill>
                <a:latin typeface="Arial Black"/>
              </a:rPr>
              <a:t>5 Apr</a:t>
            </a:r>
          </a:p>
        </p:txBody>
      </p:sp>
      <p:sp>
        <p:nvSpPr>
          <p:cNvPr id="26" name="TextBox 25"/>
          <p:cNvSpPr txBox="1"/>
          <p:nvPr/>
        </p:nvSpPr>
        <p:spPr>
          <a:xfrm>
            <a:off x="7566006" y="1956816"/>
            <a:ext cx="1065929" cy="402336"/>
          </a:xfrm>
          <a:prstGeom prst="rect">
            <a:avLst/>
          </a:prstGeom>
          <a:noFill/>
        </p:spPr>
        <p:txBody>
          <a:bodyPr wrap="square" lIns="0" rIns="0" tIns="0" bIns="0" anchor="t">
            <a:noAutofit/>
          </a:bodyPr>
          <a:lstStyle/>
          <a:p>
            <a:pPr algn="ctr">
              <a:lnSpc>
                <a:spcPct val="108000"/>
              </a:lnSpc>
            </a:pPr>
            <a:r>
              <a:rPr sz="780" b="0">
                <a:solidFill>
                  <a:srgbClr val="1F3326"/>
                </a:solidFill>
                <a:latin typeface="Arial"/>
              </a:rPr>
              <a:t>Contest closes</a:t>
            </a:r>
          </a:p>
        </p:txBody>
      </p:sp>
      <p:sp>
        <p:nvSpPr>
          <p:cNvPr id="27" name="Rectangle 26"/>
          <p:cNvSpPr/>
          <p:nvPr/>
        </p:nvSpPr>
        <p:spPr>
          <a:xfrm>
            <a:off x="512064" y="2468880"/>
            <a:ext cx="2584704" cy="1585722"/>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8" name="Rectangle 27"/>
          <p:cNvSpPr/>
          <p:nvPr/>
        </p:nvSpPr>
        <p:spPr>
          <a:xfrm>
            <a:off x="512064" y="2468880"/>
            <a:ext cx="2584704" cy="54864"/>
          </a:xfrm>
          <a:prstGeom prst="rect">
            <a:avLst/>
          </a:prstGeom>
          <a:solidFill>
            <a:srgbClr val="0068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9" name="TextBox 28"/>
          <p:cNvSpPr txBox="1"/>
          <p:nvPr/>
        </p:nvSpPr>
        <p:spPr>
          <a:xfrm>
            <a:off x="676656" y="2651760"/>
            <a:ext cx="2255520" cy="182880"/>
          </a:xfrm>
          <a:prstGeom prst="rect">
            <a:avLst/>
          </a:prstGeom>
          <a:noFill/>
        </p:spPr>
        <p:txBody>
          <a:bodyPr wrap="square" lIns="0" rIns="0" tIns="0" bIns="0" anchor="t">
            <a:noAutofit/>
          </a:bodyPr>
          <a:lstStyle/>
          <a:p>
            <a:pPr algn="l">
              <a:lnSpc>
                <a:spcPct val="100000"/>
              </a:lnSpc>
            </a:pPr>
            <a:r>
              <a:rPr sz="800" b="1">
                <a:solidFill>
                  <a:srgbClr val="6E8A76"/>
                </a:solidFill>
                <a:latin typeface="Arial"/>
              </a:rPr>
              <a:t>WEEKS 1 TO 3</a:t>
            </a:r>
          </a:p>
        </p:txBody>
      </p:sp>
      <p:sp>
        <p:nvSpPr>
          <p:cNvPr id="30" name="TextBox 29"/>
          <p:cNvSpPr txBox="1"/>
          <p:nvPr/>
        </p:nvSpPr>
        <p:spPr>
          <a:xfrm>
            <a:off x="676656" y="2862072"/>
            <a:ext cx="2255520" cy="207264"/>
          </a:xfrm>
          <a:prstGeom prst="rect">
            <a:avLst/>
          </a:prstGeom>
          <a:noFill/>
        </p:spPr>
        <p:txBody>
          <a:bodyPr wrap="square" lIns="0" rIns="0" tIns="0" bIns="0" anchor="t">
            <a:noAutofit/>
          </a:bodyPr>
          <a:lstStyle/>
          <a:p>
            <a:pPr algn="l">
              <a:lnSpc>
                <a:spcPct val="96000"/>
              </a:lnSpc>
            </a:pPr>
            <a:r>
              <a:rPr sz="1250" b="0">
                <a:solidFill>
                  <a:srgbClr val="006838"/>
                </a:solidFill>
                <a:latin typeface="Arial Black"/>
              </a:rPr>
              <a:t>1 to 23 February</a:t>
            </a:r>
          </a:p>
        </p:txBody>
      </p:sp>
      <p:sp>
        <p:nvSpPr>
          <p:cNvPr id="31" name="TextBox 30"/>
          <p:cNvSpPr txBox="1"/>
          <p:nvPr/>
        </p:nvSpPr>
        <p:spPr>
          <a:xfrm>
            <a:off x="676656" y="3069336"/>
            <a:ext cx="2255520" cy="793242"/>
          </a:xfrm>
          <a:prstGeom prst="rect">
            <a:avLst/>
          </a:prstGeom>
          <a:noFill/>
        </p:spPr>
        <p:txBody>
          <a:bodyPr wrap="square" lIns="0" rIns="0" tIns="0" bIns="0" anchor="t">
            <a:noAutofit/>
          </a:bodyPr>
          <a:lstStyle/>
          <a:p>
            <a:pPr algn="l">
              <a:lnSpc>
                <a:spcPct val="114000"/>
              </a:lnSpc>
            </a:pPr>
            <a:r>
              <a:rPr sz="850" b="0">
                <a:solidFill>
                  <a:srgbClr val="1F3326"/>
                </a:solidFill>
                <a:latin typeface="Arial"/>
              </a:rPr>
              <a:t>The contest engine runs alone with no film yet. Chinese New Year lands on 6 February, so hold bid caps and cut weight about 30% for three days. Ramadan opens 8 February and Mata earning ramps. First four winners announced 19 February.</a:t>
            </a:r>
          </a:p>
        </p:txBody>
      </p:sp>
      <p:sp>
        <p:nvSpPr>
          <p:cNvPr id="32" name="Rectangle 31"/>
          <p:cNvSpPr/>
          <p:nvPr/>
        </p:nvSpPr>
        <p:spPr>
          <a:xfrm>
            <a:off x="3279648" y="2468880"/>
            <a:ext cx="2584704" cy="1585722"/>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3" name="Rectangle 32"/>
          <p:cNvSpPr/>
          <p:nvPr/>
        </p:nvSpPr>
        <p:spPr>
          <a:xfrm>
            <a:off x="3279648" y="2468880"/>
            <a:ext cx="2584704" cy="54864"/>
          </a:xfrm>
          <a:prstGeom prst="rect">
            <a:avLst/>
          </a:prstGeom>
          <a:solidFill>
            <a:srgbClr val="E891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4" name="TextBox 33"/>
          <p:cNvSpPr txBox="1"/>
          <p:nvPr/>
        </p:nvSpPr>
        <p:spPr>
          <a:xfrm>
            <a:off x="3444240" y="2651760"/>
            <a:ext cx="2255520" cy="182880"/>
          </a:xfrm>
          <a:prstGeom prst="rect">
            <a:avLst/>
          </a:prstGeom>
          <a:noFill/>
        </p:spPr>
        <p:txBody>
          <a:bodyPr wrap="square" lIns="0" rIns="0" tIns="0" bIns="0" anchor="t">
            <a:noAutofit/>
          </a:bodyPr>
          <a:lstStyle/>
          <a:p>
            <a:pPr algn="l">
              <a:lnSpc>
                <a:spcPct val="100000"/>
              </a:lnSpc>
            </a:pPr>
            <a:r>
              <a:rPr sz="800" b="1">
                <a:solidFill>
                  <a:srgbClr val="6E8A76"/>
                </a:solidFill>
                <a:latin typeface="Arial"/>
              </a:rPr>
              <a:t>WEEKS 4 TO 6</a:t>
            </a:r>
          </a:p>
        </p:txBody>
      </p:sp>
      <p:sp>
        <p:nvSpPr>
          <p:cNvPr id="35" name="TextBox 34"/>
          <p:cNvSpPr txBox="1"/>
          <p:nvPr/>
        </p:nvSpPr>
        <p:spPr>
          <a:xfrm>
            <a:off x="3444240" y="2862072"/>
            <a:ext cx="2255520" cy="207264"/>
          </a:xfrm>
          <a:prstGeom prst="rect">
            <a:avLst/>
          </a:prstGeom>
          <a:noFill/>
        </p:spPr>
        <p:txBody>
          <a:bodyPr wrap="square" lIns="0" rIns="0" tIns="0" bIns="0" anchor="t">
            <a:noAutofit/>
          </a:bodyPr>
          <a:lstStyle/>
          <a:p>
            <a:pPr algn="l">
              <a:lnSpc>
                <a:spcPct val="96000"/>
              </a:lnSpc>
            </a:pPr>
            <a:r>
              <a:rPr sz="1250" b="0">
                <a:solidFill>
                  <a:srgbClr val="006838"/>
                </a:solidFill>
                <a:latin typeface="Arial Black"/>
              </a:rPr>
              <a:t>24 February to 9 March</a:t>
            </a:r>
          </a:p>
        </p:txBody>
      </p:sp>
      <p:sp>
        <p:nvSpPr>
          <p:cNvPr id="36" name="TextBox 35"/>
          <p:cNvSpPr txBox="1"/>
          <p:nvPr/>
        </p:nvSpPr>
        <p:spPr>
          <a:xfrm>
            <a:off x="3444240" y="3069336"/>
            <a:ext cx="2255520" cy="793242"/>
          </a:xfrm>
          <a:prstGeom prst="rect">
            <a:avLst/>
          </a:prstGeom>
          <a:noFill/>
        </p:spPr>
        <p:txBody>
          <a:bodyPr wrap="square" lIns="0" rIns="0" tIns="0" bIns="0" anchor="t">
            <a:noAutofit/>
          </a:bodyPr>
          <a:lstStyle/>
          <a:p>
            <a:pPr algn="l">
              <a:lnSpc>
                <a:spcPct val="114000"/>
              </a:lnSpc>
            </a:pPr>
            <a:r>
              <a:rPr sz="850" b="0">
                <a:solidFill>
                  <a:srgbClr val="1F3326"/>
                </a:solidFill>
                <a:latin typeface="Arial"/>
              </a:rPr>
              <a:t>Teasers on 17 and 22 February and the film launches 24 February. Both engines at full weight. Retarget film viewers into the contest, which will be the highest converting audience the campaign has because they are already registered.</a:t>
            </a:r>
          </a:p>
        </p:txBody>
      </p:sp>
      <p:sp>
        <p:nvSpPr>
          <p:cNvPr id="37" name="Rectangle 36"/>
          <p:cNvSpPr/>
          <p:nvPr/>
        </p:nvSpPr>
        <p:spPr>
          <a:xfrm>
            <a:off x="6047232" y="2468880"/>
            <a:ext cx="2584704" cy="1585722"/>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8" name="Rectangle 37"/>
          <p:cNvSpPr/>
          <p:nvPr/>
        </p:nvSpPr>
        <p:spPr>
          <a:xfrm>
            <a:off x="6047232" y="2468880"/>
            <a:ext cx="2584704" cy="54864"/>
          </a:xfrm>
          <a:prstGeom prst="rect">
            <a:avLst/>
          </a:prstGeom>
          <a:solidFill>
            <a:srgbClr val="C51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9" name="TextBox 38"/>
          <p:cNvSpPr txBox="1"/>
          <p:nvPr/>
        </p:nvSpPr>
        <p:spPr>
          <a:xfrm>
            <a:off x="6211824" y="2651760"/>
            <a:ext cx="2255520" cy="182880"/>
          </a:xfrm>
          <a:prstGeom prst="rect">
            <a:avLst/>
          </a:prstGeom>
          <a:noFill/>
        </p:spPr>
        <p:txBody>
          <a:bodyPr wrap="square" lIns="0" rIns="0" tIns="0" bIns="0" anchor="t">
            <a:noAutofit/>
          </a:bodyPr>
          <a:lstStyle/>
          <a:p>
            <a:pPr algn="l">
              <a:lnSpc>
                <a:spcPct val="100000"/>
              </a:lnSpc>
            </a:pPr>
            <a:r>
              <a:rPr sz="800" b="1">
                <a:solidFill>
                  <a:srgbClr val="6E8A76"/>
                </a:solidFill>
                <a:latin typeface="Arial"/>
              </a:rPr>
              <a:t>WEEKS 7 TO 10</a:t>
            </a:r>
          </a:p>
        </p:txBody>
      </p:sp>
      <p:sp>
        <p:nvSpPr>
          <p:cNvPr id="40" name="TextBox 39"/>
          <p:cNvSpPr txBox="1"/>
          <p:nvPr/>
        </p:nvSpPr>
        <p:spPr>
          <a:xfrm>
            <a:off x="6211824" y="2862072"/>
            <a:ext cx="2255520" cy="207264"/>
          </a:xfrm>
          <a:prstGeom prst="rect">
            <a:avLst/>
          </a:prstGeom>
          <a:noFill/>
        </p:spPr>
        <p:txBody>
          <a:bodyPr wrap="square" lIns="0" rIns="0" tIns="0" bIns="0" anchor="t">
            <a:noAutofit/>
          </a:bodyPr>
          <a:lstStyle/>
          <a:p>
            <a:pPr algn="l">
              <a:lnSpc>
                <a:spcPct val="96000"/>
              </a:lnSpc>
            </a:pPr>
            <a:r>
              <a:rPr sz="1250" b="0">
                <a:solidFill>
                  <a:srgbClr val="006838"/>
                </a:solidFill>
                <a:latin typeface="Arial Black"/>
              </a:rPr>
              <a:t>10 March to 5 April</a:t>
            </a:r>
          </a:p>
        </p:txBody>
      </p:sp>
      <p:sp>
        <p:nvSpPr>
          <p:cNvPr id="41" name="TextBox 40"/>
          <p:cNvSpPr txBox="1"/>
          <p:nvPr/>
        </p:nvSpPr>
        <p:spPr>
          <a:xfrm>
            <a:off x="6211824" y="3069336"/>
            <a:ext cx="2255520" cy="793242"/>
          </a:xfrm>
          <a:prstGeom prst="rect">
            <a:avLst/>
          </a:prstGeom>
          <a:noFill/>
        </p:spPr>
        <p:txBody>
          <a:bodyPr wrap="square" lIns="0" rIns="0" tIns="0" bIns="0" anchor="t">
            <a:noAutofit/>
          </a:bodyPr>
          <a:lstStyle/>
          <a:p>
            <a:pPr algn="l">
              <a:lnSpc>
                <a:spcPct val="114000"/>
              </a:lnSpc>
            </a:pPr>
            <a:r>
              <a:rPr sz="850" b="0">
                <a:solidFill>
                  <a:srgbClr val="1F3326"/>
                </a:solidFill>
                <a:latin typeface="Arial"/>
              </a:rPr>
              <a:t>Raya lands 10 March, so pull contest spend for three days and let the film carry emotional reach. Balik kampung and open house through Syawal. Last chance creative from 29 March, grand draw 9 April, report by 17 April.</a:t>
            </a:r>
          </a:p>
        </p:txBody>
      </p:sp>
      <p:sp>
        <p:nvSpPr>
          <p:cNvPr id="42" name="Rectangle 41"/>
          <p:cNvSpPr/>
          <p:nvPr/>
        </p:nvSpPr>
        <p:spPr>
          <a:xfrm>
            <a:off x="438912" y="4443984"/>
            <a:ext cx="8266175" cy="402336"/>
          </a:xfrm>
          <a:prstGeom prst="rect">
            <a:avLst/>
          </a:prstGeom>
          <a:solidFill>
            <a:srgbClr val="052B1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3" name="TextBox 42"/>
          <p:cNvSpPr txBox="1"/>
          <p:nvPr/>
        </p:nvSpPr>
        <p:spPr>
          <a:xfrm>
            <a:off x="658368" y="4480560"/>
            <a:ext cx="7827264" cy="347472"/>
          </a:xfrm>
          <a:prstGeom prst="rect">
            <a:avLst/>
          </a:prstGeom>
          <a:noFill/>
        </p:spPr>
        <p:txBody>
          <a:bodyPr wrap="square" lIns="0" rIns="0" tIns="0" bIns="0" anchor="ctr">
            <a:noAutofit/>
          </a:bodyPr>
          <a:lstStyle/>
          <a:p>
            <a:pPr algn="l">
              <a:lnSpc>
                <a:spcPct val="100000"/>
              </a:lnSpc>
            </a:pPr>
            <a:r>
              <a:rPr sz="950" b="1">
                <a:solidFill>
                  <a:srgbClr val="F5EC2E"/>
                </a:solidFill>
                <a:latin typeface="Arial"/>
              </a:rPr>
              <a:t>The date that cannot move: </a:t>
            </a:r>
            <a:r>
              <a:rPr sz="950" b="0">
                <a:solidFill>
                  <a:srgbClr val="FFFFFF"/>
                </a:solidFill>
                <a:latin typeface="Arial"/>
              </a:rPr>
              <a:t>15 January. The page, the Mata engine and every printed code have to be live and load tested before the 25 January launch event.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52B18"/>
        </a:solidFill>
        <a:effectLst/>
      </p:bgPr>
    </p:bg>
    <p:spTree>
      <p:nvGrpSpPr>
        <p:cNvPr id="1" name=""/>
        <p:cNvGrpSpPr/>
        <p:nvPr/>
      </p:nvGrpSpPr>
      <p:grpSpPr/>
      <p:sp>
        <p:nvSpPr>
          <p:cNvPr id="2" name="Rectangle 1"/>
          <p:cNvSpPr/>
          <p:nvPr/>
        </p:nvSpPr>
        <p:spPr>
          <a:xfrm>
            <a:off x="0" y="0"/>
            <a:ext cx="128016" cy="5143500"/>
          </a:xfrm>
          <a:prstGeom prst="rect">
            <a:avLst/>
          </a:prstGeom>
          <a:solidFill>
            <a:srgbClr val="C51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 name="TextBox 2"/>
          <p:cNvSpPr txBox="1"/>
          <p:nvPr/>
        </p:nvSpPr>
        <p:spPr>
          <a:xfrm>
            <a:off x="640080" y="1554480"/>
            <a:ext cx="3657600" cy="365760"/>
          </a:xfrm>
          <a:prstGeom prst="rect">
            <a:avLst/>
          </a:prstGeom>
          <a:noFill/>
        </p:spPr>
        <p:txBody>
          <a:bodyPr wrap="square" lIns="0" rIns="0" tIns="0" bIns="0" anchor="t">
            <a:noAutofit/>
          </a:bodyPr>
          <a:lstStyle/>
          <a:p>
            <a:pPr algn="l">
              <a:lnSpc>
                <a:spcPct val="92000"/>
              </a:lnSpc>
            </a:pPr>
            <a:r>
              <a:rPr sz="2100" b="0">
                <a:solidFill>
                  <a:srgbClr val="FFFFFF"/>
                </a:solidFill>
                <a:latin typeface="Arial Black"/>
              </a:rPr>
              <a:t>05.</a:t>
            </a:r>
          </a:p>
        </p:txBody>
      </p:sp>
      <p:sp>
        <p:nvSpPr>
          <p:cNvPr id="4" name="TextBox 3"/>
          <p:cNvSpPr txBox="1"/>
          <p:nvPr/>
        </p:nvSpPr>
        <p:spPr>
          <a:xfrm>
            <a:off x="640080" y="2121408"/>
            <a:ext cx="6949440" cy="822960"/>
          </a:xfrm>
          <a:prstGeom prst="rect">
            <a:avLst/>
          </a:prstGeom>
          <a:noFill/>
        </p:spPr>
        <p:txBody>
          <a:bodyPr wrap="square" lIns="0" rIns="0" tIns="0" bIns="0" anchor="t">
            <a:noAutofit/>
          </a:bodyPr>
          <a:lstStyle/>
          <a:p>
            <a:pPr algn="l">
              <a:lnSpc>
                <a:spcPct val="94000"/>
              </a:lnSpc>
            </a:pPr>
            <a:r>
              <a:rPr sz="3800" b="0">
                <a:solidFill>
                  <a:srgbClr val="FFFFFF"/>
                </a:solidFill>
                <a:latin typeface="Arial Black"/>
              </a:rPr>
              <a:t>Before this locks</a:t>
            </a:r>
          </a:p>
        </p:txBody>
      </p:sp>
      <p:sp>
        <p:nvSpPr>
          <p:cNvPr id="5" name="TextBox 4"/>
          <p:cNvSpPr txBox="1"/>
          <p:nvPr/>
        </p:nvSpPr>
        <p:spPr>
          <a:xfrm>
            <a:off x="640080" y="3063240"/>
            <a:ext cx="7863840" cy="822960"/>
          </a:xfrm>
          <a:prstGeom prst="rect">
            <a:avLst/>
          </a:prstGeom>
          <a:noFill/>
        </p:spPr>
        <p:txBody>
          <a:bodyPr wrap="square" lIns="0" rIns="0" tIns="0" bIns="0" anchor="t">
            <a:noAutofit/>
          </a:bodyPr>
          <a:lstStyle/>
          <a:p>
            <a:pPr algn="l">
              <a:lnSpc>
                <a:spcPct val="118000"/>
              </a:lnSpc>
            </a:pPr>
            <a:r>
              <a:rPr sz="1500" b="0">
                <a:solidFill>
                  <a:srgbClr val="F8C84A"/>
                </a:solidFill>
                <a:latin typeface="Arial"/>
              </a:rPr>
              <a:t>What we are not sure of, the questions only you can answer, and the fifteen permissions that decide whether the page is live on 15 January.</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6FAEC"/>
        </a:solidFill>
        <a:effectLst/>
      </p:bgPr>
    </p:bg>
    <p:spTree>
      <p:nvGrpSpPr>
        <p:cNvPr id="1" name=""/>
        <p:cNvGrpSpPr/>
        <p:nvPr/>
      </p:nvGrpSpPr>
      <p:grpSpPr/>
      <p:sp>
        <p:nvSpPr>
          <p:cNvPr id="2" name="Rectangle 1"/>
          <p:cNvSpPr/>
          <p:nvPr/>
        </p:nvSpPr>
        <p:spPr>
          <a:xfrm>
            <a:off x="512064" y="365760"/>
            <a:ext cx="219456" cy="73152"/>
          </a:xfrm>
          <a:prstGeom prst="rect">
            <a:avLst/>
          </a:prstGeom>
          <a:solidFill>
            <a:srgbClr val="C51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 name="TextBox 2"/>
          <p:cNvSpPr txBox="1"/>
          <p:nvPr/>
        </p:nvSpPr>
        <p:spPr>
          <a:xfrm>
            <a:off x="512064" y="566928"/>
            <a:ext cx="8119872" cy="475488"/>
          </a:xfrm>
          <a:prstGeom prst="rect">
            <a:avLst/>
          </a:prstGeom>
          <a:noFill/>
        </p:spPr>
        <p:txBody>
          <a:bodyPr wrap="square" lIns="0" rIns="0" tIns="0" bIns="0" anchor="t">
            <a:noAutofit/>
          </a:bodyPr>
          <a:lstStyle/>
          <a:p>
            <a:pPr algn="l">
              <a:lnSpc>
                <a:spcPct val="96000"/>
              </a:lnSpc>
            </a:pPr>
            <a:r>
              <a:rPr sz="2400" b="0">
                <a:solidFill>
                  <a:srgbClr val="006838"/>
                </a:solidFill>
                <a:latin typeface="Arial Black"/>
              </a:rPr>
              <a:t>What we are not sure of, and what we need you to settle.</a:t>
            </a:r>
          </a:p>
        </p:txBody>
      </p:sp>
      <p:sp>
        <p:nvSpPr>
          <p:cNvPr id="4" name="TextBox 3"/>
          <p:cNvSpPr txBox="1"/>
          <p:nvPr/>
        </p:nvSpPr>
        <p:spPr>
          <a:xfrm>
            <a:off x="512064" y="1060704"/>
            <a:ext cx="8119872" cy="365760"/>
          </a:xfrm>
          <a:prstGeom prst="rect">
            <a:avLst/>
          </a:prstGeom>
          <a:noFill/>
        </p:spPr>
        <p:txBody>
          <a:bodyPr wrap="square" lIns="0" rIns="0" tIns="0" bIns="0" anchor="t">
            <a:noAutofit/>
          </a:bodyPr>
          <a:lstStyle/>
          <a:p>
            <a:pPr algn="l">
              <a:lnSpc>
                <a:spcPct val="112000"/>
              </a:lnSpc>
            </a:pPr>
            <a:r>
              <a:rPr sz="1100" b="0">
                <a:solidFill>
                  <a:srgbClr val="6E8A76"/>
                </a:solidFill>
                <a:latin typeface="Arial"/>
              </a:rPr>
              <a:t>Everything below is either an assumption we have labeled or a decision that belongs to Saji rather than to us.</a:t>
            </a:r>
          </a:p>
        </p:txBody>
      </p:sp>
      <p:sp>
        <p:nvSpPr>
          <p:cNvPr id="5" name="Rectangle 4"/>
          <p:cNvSpPr/>
          <p:nvPr/>
        </p:nvSpPr>
        <p:spPr>
          <a:xfrm>
            <a:off x="512064" y="1481328"/>
            <a:ext cx="3968496" cy="2834640"/>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Rectangle 5"/>
          <p:cNvSpPr/>
          <p:nvPr/>
        </p:nvSpPr>
        <p:spPr>
          <a:xfrm>
            <a:off x="512064" y="1481328"/>
            <a:ext cx="3968496" cy="54864"/>
          </a:xfrm>
          <a:prstGeom prst="rect">
            <a:avLst/>
          </a:prstGeom>
          <a:solidFill>
            <a:srgbClr val="C51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7" name="TextBox 6"/>
          <p:cNvSpPr txBox="1"/>
          <p:nvPr/>
        </p:nvSpPr>
        <p:spPr>
          <a:xfrm>
            <a:off x="676656" y="1664208"/>
            <a:ext cx="3639312" cy="182880"/>
          </a:xfrm>
          <a:prstGeom prst="rect">
            <a:avLst/>
          </a:prstGeom>
          <a:noFill/>
        </p:spPr>
        <p:txBody>
          <a:bodyPr wrap="square" lIns="0" rIns="0" tIns="0" bIns="0" anchor="t">
            <a:noAutofit/>
          </a:bodyPr>
          <a:lstStyle/>
          <a:p>
            <a:pPr algn="l">
              <a:lnSpc>
                <a:spcPct val="92000"/>
              </a:lnSpc>
            </a:pPr>
            <a:r>
              <a:rPr sz="800" b="1">
                <a:solidFill>
                  <a:srgbClr val="6E8A76"/>
                </a:solidFill>
                <a:latin typeface="Arial"/>
              </a:rPr>
              <a:t>CAVEATS</a:t>
            </a:r>
          </a:p>
        </p:txBody>
      </p:sp>
      <p:sp>
        <p:nvSpPr>
          <p:cNvPr id="8" name="TextBox 7"/>
          <p:cNvSpPr txBox="1"/>
          <p:nvPr/>
        </p:nvSpPr>
        <p:spPr>
          <a:xfrm>
            <a:off x="676656" y="1901952"/>
            <a:ext cx="3639312" cy="2286000"/>
          </a:xfrm>
          <a:prstGeom prst="rect">
            <a:avLst/>
          </a:prstGeom>
          <a:noFill/>
        </p:spPr>
        <p:txBody>
          <a:bodyPr wrap="square" lIns="0" rIns="0" tIns="0" bIns="0">
            <a:noAutofit/>
          </a:bodyPr>
          <a:lstStyle/>
          <a:p>
            <a:pPr>
              <a:lnSpc>
                <a:spcPct val="106000"/>
              </a:lnSpc>
              <a:spcAft>
                <a:spcPts val="500"/>
              </a:spcAft>
            </a:pPr>
            <a:r>
              <a:rPr sz="760" b="1">
                <a:solidFill>
                  <a:srgbClr val="C5192B"/>
                </a:solidFill>
                <a:latin typeface="Arial"/>
              </a:rPr>
              <a:t>▪  </a:t>
            </a:r>
            <a:r>
              <a:rPr sz="760">
                <a:solidFill>
                  <a:srgbClr val="1F3326"/>
                </a:solidFill>
                <a:latin typeface="Arial"/>
              </a:rPr>
              <a:t>The RM50,000 floated on 24 September reads as the Bulan Bintang sponsorship tier, not the campaign budget. We have built on RM145,000.</a:t>
            </a:r>
          </a:p>
          <a:p>
            <a:pPr>
              <a:lnSpc>
                <a:spcPct val="106000"/>
              </a:lnSpc>
              <a:spcAft>
                <a:spcPts val="500"/>
              </a:spcAft>
            </a:pPr>
            <a:r>
              <a:rPr sz="760" b="1">
                <a:solidFill>
                  <a:srgbClr val="C5192B"/>
                </a:solidFill>
                <a:latin typeface="Arial"/>
              </a:rPr>
              <a:t>▪  </a:t>
            </a:r>
            <a:r>
              <a:rPr sz="760">
                <a:solidFill>
                  <a:srgbClr val="1F3326"/>
                </a:solidFill>
                <a:latin typeface="Arial"/>
              </a:rPr>
              <a:t>The 22 September note records one golden ticket per week. Ten at RM29,000 is double the pool, so we have planned one grand draw.</a:t>
            </a:r>
          </a:p>
          <a:p>
            <a:pPr>
              <a:lnSpc>
                <a:spcPct val="106000"/>
              </a:lnSpc>
              <a:spcAft>
                <a:spcPts val="500"/>
              </a:spcAft>
            </a:pPr>
            <a:r>
              <a:rPr sz="760" b="1">
                <a:solidFill>
                  <a:srgbClr val="C5192B"/>
                </a:solidFill>
                <a:latin typeface="Arial"/>
              </a:rPr>
              <a:t>▪  </a:t>
            </a:r>
            <a:r>
              <a:rPr sz="760">
                <a:solidFill>
                  <a:srgbClr val="1F3326"/>
                </a:solidFill>
                <a:latin typeface="Arial"/>
              </a:rPr>
              <a:t>Are the 40M view and 15M reach KPIs paid only or campaign wide? We have assumed campaign wide.</a:t>
            </a:r>
          </a:p>
          <a:p>
            <a:pPr>
              <a:lnSpc>
                <a:spcPct val="106000"/>
              </a:lnSpc>
              <a:spcAft>
                <a:spcPts val="500"/>
              </a:spcAft>
            </a:pPr>
            <a:r>
              <a:rPr sz="760" b="1">
                <a:solidFill>
                  <a:srgbClr val="C5192B"/>
                </a:solidFill>
                <a:latin typeface="Arial"/>
              </a:rPr>
              <a:t>▪  </a:t>
            </a:r>
            <a:r>
              <a:rPr sz="760">
                <a:solidFill>
                  <a:srgbClr val="1F3326"/>
                </a:solidFill>
                <a:latin typeface="Arial"/>
              </a:rPr>
              <a:t>The 7.5% registration rate is argued, not measured. At 5.0% entrants land at 2,800 instead of 5,040.</a:t>
            </a:r>
          </a:p>
          <a:p>
            <a:pPr>
              <a:lnSpc>
                <a:spcPct val="106000"/>
              </a:lnSpc>
              <a:spcAft>
                <a:spcPts val="500"/>
              </a:spcAft>
            </a:pPr>
            <a:r>
              <a:rPr sz="760" b="1">
                <a:solidFill>
                  <a:srgbClr val="C5192B"/>
                </a:solidFill>
                <a:latin typeface="Arial"/>
              </a:rPr>
              <a:t>▪  </a:t>
            </a:r>
            <a:r>
              <a:rPr sz="760">
                <a:solidFill>
                  <a:srgbClr val="1F3326"/>
                </a:solidFill>
                <a:latin typeface="Arial"/>
              </a:rPr>
              <a:t>If you want a physical Tiket Emas instant win alongside the weighted draw, that is likely two games of chance under one permit.</a:t>
            </a:r>
          </a:p>
          <a:p>
            <a:pPr>
              <a:lnSpc>
                <a:spcPct val="106000"/>
              </a:lnSpc>
              <a:spcAft>
                <a:spcPts val="500"/>
              </a:spcAft>
            </a:pPr>
            <a:r>
              <a:rPr sz="760" b="1">
                <a:solidFill>
                  <a:srgbClr val="C5192B"/>
                </a:solidFill>
                <a:latin typeface="Arial"/>
              </a:rPr>
              <a:t>▪  </a:t>
            </a:r>
            <a:r>
              <a:rPr sz="760">
                <a:solidFill>
                  <a:srgbClr val="1F3326"/>
                </a:solidFill>
                <a:latin typeface="Arial"/>
              </a:rPr>
              <a:t>Roda Rezeki stock, truck count, bazaar space and promoter cost all sit with on-ground, outside this investment.</a:t>
            </a:r>
          </a:p>
        </p:txBody>
      </p:sp>
      <p:sp>
        <p:nvSpPr>
          <p:cNvPr id="9" name="Rectangle 8"/>
          <p:cNvSpPr/>
          <p:nvPr/>
        </p:nvSpPr>
        <p:spPr>
          <a:xfrm>
            <a:off x="4663440" y="1481328"/>
            <a:ext cx="3968496" cy="2834640"/>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0" name="Rectangle 9"/>
          <p:cNvSpPr/>
          <p:nvPr/>
        </p:nvSpPr>
        <p:spPr>
          <a:xfrm>
            <a:off x="4663440" y="1481328"/>
            <a:ext cx="3968496" cy="54864"/>
          </a:xfrm>
          <a:prstGeom prst="rect">
            <a:avLst/>
          </a:prstGeom>
          <a:solidFill>
            <a:srgbClr val="0068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1" name="TextBox 10"/>
          <p:cNvSpPr txBox="1"/>
          <p:nvPr/>
        </p:nvSpPr>
        <p:spPr>
          <a:xfrm>
            <a:off x="4828032" y="1664208"/>
            <a:ext cx="3639312" cy="182880"/>
          </a:xfrm>
          <a:prstGeom prst="rect">
            <a:avLst/>
          </a:prstGeom>
          <a:noFill/>
        </p:spPr>
        <p:txBody>
          <a:bodyPr wrap="square" lIns="0" rIns="0" tIns="0" bIns="0" anchor="t">
            <a:noAutofit/>
          </a:bodyPr>
          <a:lstStyle/>
          <a:p>
            <a:pPr algn="l">
              <a:lnSpc>
                <a:spcPct val="92000"/>
              </a:lnSpc>
            </a:pPr>
            <a:r>
              <a:rPr sz="800" b="1">
                <a:solidFill>
                  <a:srgbClr val="6E8A76"/>
                </a:solidFill>
                <a:latin typeface="Arial"/>
              </a:rPr>
              <a:t>QUESTIONS FOR THE CLIENT</a:t>
            </a:r>
          </a:p>
        </p:txBody>
      </p:sp>
      <p:sp>
        <p:nvSpPr>
          <p:cNvPr id="12" name="TextBox 11"/>
          <p:cNvSpPr txBox="1"/>
          <p:nvPr/>
        </p:nvSpPr>
        <p:spPr>
          <a:xfrm>
            <a:off x="4828032" y="1901952"/>
            <a:ext cx="3639312" cy="2286000"/>
          </a:xfrm>
          <a:prstGeom prst="rect">
            <a:avLst/>
          </a:prstGeom>
          <a:noFill/>
        </p:spPr>
        <p:txBody>
          <a:bodyPr wrap="square" lIns="0" rIns="0" tIns="0" bIns="0">
            <a:noAutofit/>
          </a:bodyPr>
          <a:lstStyle/>
          <a:p>
            <a:pPr>
              <a:lnSpc>
                <a:spcPct val="106000"/>
              </a:lnSpc>
              <a:spcAft>
                <a:spcPts val="400"/>
              </a:spcAft>
            </a:pPr>
            <a:r>
              <a:rPr sz="760" b="1">
                <a:solidFill>
                  <a:srgbClr val="006838"/>
                </a:solidFill>
                <a:latin typeface="Arial"/>
              </a:rPr>
              <a:t>▪  </a:t>
            </a:r>
            <a:r>
              <a:rPr sz="760">
                <a:solidFill>
                  <a:srgbClr val="1F3326"/>
                </a:solidFill>
                <a:latin typeface="Arial"/>
              </a:rPr>
              <a:t>Is RM50,000 the campaign budget, or the Bulan Bintang tier you are considering?</a:t>
            </a:r>
          </a:p>
          <a:p>
            <a:pPr>
              <a:lnSpc>
                <a:spcPct val="106000"/>
              </a:lnSpc>
              <a:spcAft>
                <a:spcPts val="400"/>
              </a:spcAft>
            </a:pPr>
            <a:r>
              <a:rPr sz="760" b="1">
                <a:solidFill>
                  <a:srgbClr val="006838"/>
                </a:solidFill>
                <a:latin typeface="Arial"/>
              </a:rPr>
              <a:t>▪  </a:t>
            </a:r>
            <a:r>
              <a:rPr sz="760">
                <a:solidFill>
                  <a:srgbClr val="1F3326"/>
                </a:solidFill>
                <a:latin typeface="Arial"/>
              </a:rPr>
              <a:t>What did the 2026 campaign spend on digital, broken down by platform?</a:t>
            </a:r>
          </a:p>
          <a:p>
            <a:pPr>
              <a:lnSpc>
                <a:spcPct val="106000"/>
              </a:lnSpc>
              <a:spcAft>
                <a:spcPts val="400"/>
              </a:spcAft>
            </a:pPr>
            <a:r>
              <a:rPr sz="760" b="1">
                <a:solidFill>
                  <a:srgbClr val="006838"/>
                </a:solidFill>
                <a:latin typeface="Arial"/>
              </a:rPr>
              <a:t>▪  </a:t>
            </a:r>
            <a:r>
              <a:rPr sz="760">
                <a:solidFill>
                  <a:srgbClr val="1F3326"/>
                </a:solidFill>
                <a:latin typeface="Arial"/>
              </a:rPr>
              <a:t>Which SKUs carry the Mata multiplier, and who signs off the calendar each Monday?</a:t>
            </a:r>
          </a:p>
          <a:p>
            <a:pPr>
              <a:lnSpc>
                <a:spcPct val="106000"/>
              </a:lnSpc>
              <a:spcAft>
                <a:spcPts val="400"/>
              </a:spcAft>
            </a:pPr>
            <a:r>
              <a:rPr sz="760" b="1">
                <a:solidFill>
                  <a:srgbClr val="006838"/>
                </a:solidFill>
                <a:latin typeface="Arial"/>
              </a:rPr>
              <a:t>▪  </a:t>
            </a:r>
            <a:r>
              <a:rPr sz="760">
                <a:solidFill>
                  <a:srgbClr val="1F3326"/>
                </a:solidFill>
                <a:latin typeface="Arial"/>
              </a:rPr>
              <a:t>One season-end grand draw of RM29,000, or a smaller grand prize every week?</a:t>
            </a:r>
          </a:p>
          <a:p>
            <a:pPr>
              <a:lnSpc>
                <a:spcPct val="106000"/>
              </a:lnSpc>
              <a:spcAft>
                <a:spcPts val="400"/>
              </a:spcAft>
            </a:pPr>
            <a:r>
              <a:rPr sz="760" b="1">
                <a:solidFill>
                  <a:srgbClr val="006838"/>
                </a:solidFill>
                <a:latin typeface="Arial"/>
              </a:rPr>
              <a:t>▪  </a:t>
            </a:r>
            <a:r>
              <a:rPr sz="760">
                <a:solidFill>
                  <a:srgbClr val="1F3326"/>
                </a:solidFill>
                <a:latin typeface="Arial"/>
              </a:rPr>
              <a:t>Does Bulan Bintang participate at all, and at which tier, and by what date do you need to know?</a:t>
            </a:r>
          </a:p>
          <a:p>
            <a:pPr>
              <a:lnSpc>
                <a:spcPct val="106000"/>
              </a:lnSpc>
              <a:spcAft>
                <a:spcPts val="400"/>
              </a:spcAft>
            </a:pPr>
            <a:r>
              <a:rPr sz="760" b="1">
                <a:solidFill>
                  <a:srgbClr val="006838"/>
                </a:solidFill>
                <a:latin typeface="Arial"/>
              </a:rPr>
              <a:t>▪  </a:t>
            </a:r>
            <a:r>
              <a:rPr sz="760">
                <a:solidFill>
                  <a:srgbClr val="1F3326"/>
                </a:solidFill>
                <a:latin typeface="Arial"/>
              </a:rPr>
              <a:t>How many roadshow and bazaar stops, and how many trucks are committed?</a:t>
            </a:r>
          </a:p>
          <a:p>
            <a:pPr>
              <a:lnSpc>
                <a:spcPct val="106000"/>
              </a:lnSpc>
              <a:spcAft>
                <a:spcPts val="400"/>
              </a:spcAft>
            </a:pPr>
            <a:r>
              <a:rPr sz="760" b="1">
                <a:solidFill>
                  <a:srgbClr val="006838"/>
                </a:solidFill>
                <a:latin typeface="Arial"/>
              </a:rPr>
              <a:t>▪  </a:t>
            </a:r>
            <a:r>
              <a:rPr sz="760">
                <a:solidFill>
                  <a:srgbClr val="1F3326"/>
                </a:solidFill>
                <a:latin typeface="Arial"/>
              </a:rPr>
              <a:t>Who owns the entry database, and who is named PDPA data controller?</a:t>
            </a:r>
          </a:p>
          <a:p>
            <a:pPr>
              <a:lnSpc>
                <a:spcPct val="106000"/>
              </a:lnSpc>
              <a:spcAft>
                <a:spcPts val="400"/>
              </a:spcAft>
            </a:pPr>
            <a:r>
              <a:rPr sz="760" b="1">
                <a:solidFill>
                  <a:srgbClr val="006838"/>
                </a:solidFill>
                <a:latin typeface="Arial"/>
              </a:rPr>
              <a:t>▪  </a:t>
            </a:r>
            <a:r>
              <a:rPr sz="760">
                <a:solidFill>
                  <a:srgbClr val="1F3326"/>
                </a:solidFill>
                <a:latin typeface="Arial"/>
              </a:rPr>
              <a:t>Does a Saji e-commerce receipt qualify, or does entry need a physical store receipt?</a:t>
            </a:r>
          </a:p>
        </p:txBody>
      </p:sp>
      <p:sp>
        <p:nvSpPr>
          <p:cNvPr id="13" name="Rectangle 12"/>
          <p:cNvSpPr/>
          <p:nvPr/>
        </p:nvSpPr>
        <p:spPr>
          <a:xfrm>
            <a:off x="438912" y="4443984"/>
            <a:ext cx="8266175" cy="402336"/>
          </a:xfrm>
          <a:prstGeom prst="rect">
            <a:avLst/>
          </a:prstGeom>
          <a:solidFill>
            <a:srgbClr val="052B1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4" name="TextBox 13"/>
          <p:cNvSpPr txBox="1"/>
          <p:nvPr/>
        </p:nvSpPr>
        <p:spPr>
          <a:xfrm>
            <a:off x="658368" y="4480560"/>
            <a:ext cx="7827264" cy="347472"/>
          </a:xfrm>
          <a:prstGeom prst="rect">
            <a:avLst/>
          </a:prstGeom>
          <a:noFill/>
        </p:spPr>
        <p:txBody>
          <a:bodyPr wrap="square" lIns="0" rIns="0" tIns="0" bIns="0" anchor="ctr">
            <a:noAutofit/>
          </a:bodyPr>
          <a:lstStyle/>
          <a:p>
            <a:pPr algn="l">
              <a:lnSpc>
                <a:spcPct val="100000"/>
              </a:lnSpc>
            </a:pPr>
            <a:r>
              <a:rPr sz="950" b="1">
                <a:solidFill>
                  <a:srgbClr val="F5EC2E"/>
                </a:solidFill>
                <a:latin typeface="Arial"/>
              </a:rPr>
              <a:t>What we need to start: </a:t>
            </a:r>
            <a:r>
              <a:rPr sz="950" b="0">
                <a:solidFill>
                  <a:srgbClr val="FFFFFF"/>
                </a:solidFill>
                <a:latin typeface="Arial"/>
              </a:rPr>
              <a:t>the budget basis and the access list on the next slide. Every other open item we can design around while you decide.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6FAEC"/>
        </a:solidFill>
        <a:effectLst/>
      </p:bgPr>
    </p:bg>
    <p:spTree>
      <p:nvGrpSpPr>
        <p:cNvPr id="1" name=""/>
        <p:cNvGrpSpPr/>
        <p:nvPr/>
      </p:nvGrpSpPr>
      <p:grpSpPr/>
      <p:sp>
        <p:nvSpPr>
          <p:cNvPr id="2" name="Rectangle 1"/>
          <p:cNvSpPr/>
          <p:nvPr/>
        </p:nvSpPr>
        <p:spPr>
          <a:xfrm>
            <a:off x="512064" y="365760"/>
            <a:ext cx="219456" cy="73152"/>
          </a:xfrm>
          <a:prstGeom prst="rect">
            <a:avLst/>
          </a:prstGeom>
          <a:solidFill>
            <a:srgbClr val="C51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 name="TextBox 2"/>
          <p:cNvSpPr txBox="1"/>
          <p:nvPr/>
        </p:nvSpPr>
        <p:spPr>
          <a:xfrm>
            <a:off x="512064" y="566928"/>
            <a:ext cx="8119872" cy="475488"/>
          </a:xfrm>
          <a:prstGeom prst="rect">
            <a:avLst/>
          </a:prstGeom>
          <a:noFill/>
        </p:spPr>
        <p:txBody>
          <a:bodyPr wrap="square" lIns="0" rIns="0" tIns="0" bIns="0" anchor="t">
            <a:noAutofit/>
          </a:bodyPr>
          <a:lstStyle/>
          <a:p>
            <a:pPr algn="l">
              <a:lnSpc>
                <a:spcPct val="96000"/>
              </a:lnSpc>
            </a:pPr>
            <a:r>
              <a:rPr sz="2400" b="0">
                <a:solidFill>
                  <a:srgbClr val="006838"/>
                </a:solidFill>
                <a:latin typeface="Arial Black"/>
              </a:rPr>
              <a:t>Fifteen permissions, and none of them cost money.</a:t>
            </a:r>
          </a:p>
        </p:txBody>
      </p:sp>
      <p:sp>
        <p:nvSpPr>
          <p:cNvPr id="4" name="TextBox 3"/>
          <p:cNvSpPr txBox="1"/>
          <p:nvPr/>
        </p:nvSpPr>
        <p:spPr>
          <a:xfrm>
            <a:off x="512064" y="1060704"/>
            <a:ext cx="8119872" cy="365760"/>
          </a:xfrm>
          <a:prstGeom prst="rect">
            <a:avLst/>
          </a:prstGeom>
          <a:noFill/>
        </p:spPr>
        <p:txBody>
          <a:bodyPr wrap="square" lIns="0" rIns="0" tIns="0" bIns="0" anchor="t">
            <a:noAutofit/>
          </a:bodyPr>
          <a:lstStyle/>
          <a:p>
            <a:pPr algn="l">
              <a:lnSpc>
                <a:spcPct val="112000"/>
              </a:lnSpc>
            </a:pPr>
            <a:r>
              <a:rPr sz="1100" b="0">
                <a:solidFill>
                  <a:srgbClr val="6E8A76"/>
                </a:solidFill>
                <a:latin typeface="Arial"/>
              </a:rPr>
              <a:t>These are files and access rights. Each carries a two to three week lead time if it starts late, against a page that has to be live on 15 January.</a:t>
            </a:r>
          </a:p>
        </p:txBody>
      </p:sp>
      <p:sp>
        <p:nvSpPr>
          <p:cNvPr id="5" name="Rectangle 4"/>
          <p:cNvSpPr/>
          <p:nvPr/>
        </p:nvSpPr>
        <p:spPr>
          <a:xfrm>
            <a:off x="512064" y="1814840"/>
            <a:ext cx="2584704" cy="1889760"/>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Rectangle 5"/>
          <p:cNvSpPr/>
          <p:nvPr/>
        </p:nvSpPr>
        <p:spPr>
          <a:xfrm>
            <a:off x="512064" y="1814840"/>
            <a:ext cx="2584704" cy="54864"/>
          </a:xfrm>
          <a:prstGeom prst="rect">
            <a:avLst/>
          </a:prstGeom>
          <a:solidFill>
            <a:srgbClr val="0068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7" name="TextBox 6"/>
          <p:cNvSpPr txBox="1"/>
          <p:nvPr/>
        </p:nvSpPr>
        <p:spPr>
          <a:xfrm>
            <a:off x="676656" y="1997720"/>
            <a:ext cx="2255520" cy="182880"/>
          </a:xfrm>
          <a:prstGeom prst="rect">
            <a:avLst/>
          </a:prstGeom>
          <a:noFill/>
        </p:spPr>
        <p:txBody>
          <a:bodyPr wrap="square" lIns="0" rIns="0" tIns="0" bIns="0" anchor="t">
            <a:noAutofit/>
          </a:bodyPr>
          <a:lstStyle/>
          <a:p>
            <a:pPr algn="l">
              <a:lnSpc>
                <a:spcPct val="100000"/>
              </a:lnSpc>
            </a:pPr>
            <a:r>
              <a:rPr sz="800" b="1">
                <a:solidFill>
                  <a:srgbClr val="6E8A76"/>
                </a:solidFill>
                <a:latin typeface="Arial"/>
              </a:rPr>
              <a:t>PLATFORM ACCESS</a:t>
            </a:r>
          </a:p>
        </p:txBody>
      </p:sp>
      <p:sp>
        <p:nvSpPr>
          <p:cNvPr id="8" name="TextBox 7"/>
          <p:cNvSpPr txBox="1"/>
          <p:nvPr/>
        </p:nvSpPr>
        <p:spPr>
          <a:xfrm>
            <a:off x="676656" y="2208032"/>
            <a:ext cx="2255520" cy="207264"/>
          </a:xfrm>
          <a:prstGeom prst="rect">
            <a:avLst/>
          </a:prstGeom>
          <a:noFill/>
        </p:spPr>
        <p:txBody>
          <a:bodyPr wrap="square" lIns="0" rIns="0" tIns="0" bIns="0" anchor="t">
            <a:noAutofit/>
          </a:bodyPr>
          <a:lstStyle/>
          <a:p>
            <a:pPr algn="l">
              <a:lnSpc>
                <a:spcPct val="96000"/>
              </a:lnSpc>
            </a:pPr>
            <a:r>
              <a:rPr sz="1250" b="0">
                <a:solidFill>
                  <a:srgbClr val="006838"/>
                </a:solidFill>
                <a:latin typeface="Arial Black"/>
              </a:rPr>
              <a:t>Six items</a:t>
            </a:r>
          </a:p>
        </p:txBody>
      </p:sp>
      <p:sp>
        <p:nvSpPr>
          <p:cNvPr id="9" name="TextBox 8"/>
          <p:cNvSpPr txBox="1"/>
          <p:nvPr/>
        </p:nvSpPr>
        <p:spPr>
          <a:xfrm>
            <a:off x="676656" y="2415296"/>
            <a:ext cx="2255520" cy="1097280"/>
          </a:xfrm>
          <a:prstGeom prst="rect">
            <a:avLst/>
          </a:prstGeom>
          <a:noFill/>
        </p:spPr>
        <p:txBody>
          <a:bodyPr wrap="square" lIns="0" rIns="0" tIns="0" bIns="0" anchor="t">
            <a:noAutofit/>
          </a:bodyPr>
          <a:lstStyle/>
          <a:p>
            <a:pPr algn="l">
              <a:lnSpc>
                <a:spcPct val="114000"/>
              </a:lnSpc>
            </a:pPr>
            <a:r>
              <a:rPr sz="800" b="0">
                <a:solidFill>
                  <a:srgbClr val="1F3326"/>
                </a:solidFill>
                <a:latin typeface="Arial"/>
              </a:rPr>
              <a:t>Meta Business Manager with partner access to the Saji page and Instagram. Meta ad account admin plus the Pixel and Conversions API on the contest domain. TikTok Business Center and Ads Manager. TikTok Pixel and Events API with Spark Ads codes from every KOL. Google Ads linked to our manager account. YouTube channel manager, a GA4 property and a Tag Manager container.</a:t>
            </a:r>
          </a:p>
        </p:txBody>
      </p:sp>
      <p:sp>
        <p:nvSpPr>
          <p:cNvPr id="10" name="Rectangle 9"/>
          <p:cNvSpPr/>
          <p:nvPr/>
        </p:nvSpPr>
        <p:spPr>
          <a:xfrm>
            <a:off x="3279648" y="1814840"/>
            <a:ext cx="2584704" cy="1889760"/>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1" name="Rectangle 10"/>
          <p:cNvSpPr/>
          <p:nvPr/>
        </p:nvSpPr>
        <p:spPr>
          <a:xfrm>
            <a:off x="3279648" y="1814840"/>
            <a:ext cx="2584704" cy="54864"/>
          </a:xfrm>
          <a:prstGeom prst="rect">
            <a:avLst/>
          </a:prstGeom>
          <a:solidFill>
            <a:srgbClr val="E891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2" name="TextBox 11"/>
          <p:cNvSpPr txBox="1"/>
          <p:nvPr/>
        </p:nvSpPr>
        <p:spPr>
          <a:xfrm>
            <a:off x="3444240" y="1997720"/>
            <a:ext cx="2255520" cy="182880"/>
          </a:xfrm>
          <a:prstGeom prst="rect">
            <a:avLst/>
          </a:prstGeom>
          <a:noFill/>
        </p:spPr>
        <p:txBody>
          <a:bodyPr wrap="square" lIns="0" rIns="0" tIns="0" bIns="0" anchor="t">
            <a:noAutofit/>
          </a:bodyPr>
          <a:lstStyle/>
          <a:p>
            <a:pPr algn="l">
              <a:lnSpc>
                <a:spcPct val="100000"/>
              </a:lnSpc>
            </a:pPr>
            <a:r>
              <a:rPr sz="800" b="1">
                <a:solidFill>
                  <a:srgbClr val="6E8A76"/>
                </a:solidFill>
                <a:latin typeface="Arial"/>
              </a:rPr>
              <a:t>PAGE, DOMAIN AND DATA</a:t>
            </a:r>
          </a:p>
        </p:txBody>
      </p:sp>
      <p:sp>
        <p:nvSpPr>
          <p:cNvPr id="13" name="TextBox 12"/>
          <p:cNvSpPr txBox="1"/>
          <p:nvPr/>
        </p:nvSpPr>
        <p:spPr>
          <a:xfrm>
            <a:off x="3444240" y="2208032"/>
            <a:ext cx="2255520" cy="207264"/>
          </a:xfrm>
          <a:prstGeom prst="rect">
            <a:avLst/>
          </a:prstGeom>
          <a:noFill/>
        </p:spPr>
        <p:txBody>
          <a:bodyPr wrap="square" lIns="0" rIns="0" tIns="0" bIns="0" anchor="t">
            <a:noAutofit/>
          </a:bodyPr>
          <a:lstStyle/>
          <a:p>
            <a:pPr algn="l">
              <a:lnSpc>
                <a:spcPct val="96000"/>
              </a:lnSpc>
            </a:pPr>
            <a:r>
              <a:rPr sz="1250" b="0">
                <a:solidFill>
                  <a:srgbClr val="006838"/>
                </a:solidFill>
                <a:latin typeface="Arial Black"/>
              </a:rPr>
              <a:t>Five items</a:t>
            </a:r>
          </a:p>
        </p:txBody>
      </p:sp>
      <p:sp>
        <p:nvSpPr>
          <p:cNvPr id="14" name="TextBox 13"/>
          <p:cNvSpPr txBox="1"/>
          <p:nvPr/>
        </p:nvSpPr>
        <p:spPr>
          <a:xfrm>
            <a:off x="3444240" y="2415296"/>
            <a:ext cx="2255520" cy="981455"/>
          </a:xfrm>
          <a:prstGeom prst="rect">
            <a:avLst/>
          </a:prstGeom>
          <a:noFill/>
        </p:spPr>
        <p:txBody>
          <a:bodyPr wrap="square" lIns="0" rIns="0" tIns="0" bIns="0" anchor="t">
            <a:noAutofit/>
          </a:bodyPr>
          <a:lstStyle/>
          <a:p>
            <a:pPr algn="l">
              <a:lnSpc>
                <a:spcPct val="114000"/>
              </a:lnSpc>
            </a:pPr>
            <a:r>
              <a:rPr sz="800" b="0">
                <a:solidFill>
                  <a:srgbClr val="1F3326"/>
                </a:solidFill>
                <a:latin typeface="Arial"/>
              </a:rPr>
              <a:t>The domain or subdomain the contest page runs on. DNS and hosting access, SSL, and a load test window before 15 January. Who owns the entry database and who is named PDPA data controller. Who verifies receipts and the turnaround they commit to. Who fulfills the cash, the product and the milestone rewards.</a:t>
            </a:r>
          </a:p>
        </p:txBody>
      </p:sp>
      <p:sp>
        <p:nvSpPr>
          <p:cNvPr id="15" name="Rectangle 14"/>
          <p:cNvSpPr/>
          <p:nvPr/>
        </p:nvSpPr>
        <p:spPr>
          <a:xfrm>
            <a:off x="6047232" y="1814840"/>
            <a:ext cx="2584704" cy="1889760"/>
          </a:xfrm>
          <a:prstGeom prst="rect">
            <a:avLst/>
          </a:prstGeom>
          <a:solidFill>
            <a:srgbClr val="E9F3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6" name="Rectangle 15"/>
          <p:cNvSpPr/>
          <p:nvPr/>
        </p:nvSpPr>
        <p:spPr>
          <a:xfrm>
            <a:off x="6047232" y="1814840"/>
            <a:ext cx="2584704" cy="54864"/>
          </a:xfrm>
          <a:prstGeom prst="rect">
            <a:avLst/>
          </a:prstGeom>
          <a:solidFill>
            <a:srgbClr val="C51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7" name="TextBox 16"/>
          <p:cNvSpPr txBox="1"/>
          <p:nvPr/>
        </p:nvSpPr>
        <p:spPr>
          <a:xfrm>
            <a:off x="6211824" y="1997720"/>
            <a:ext cx="2255520" cy="182880"/>
          </a:xfrm>
          <a:prstGeom prst="rect">
            <a:avLst/>
          </a:prstGeom>
          <a:noFill/>
        </p:spPr>
        <p:txBody>
          <a:bodyPr wrap="square" lIns="0" rIns="0" tIns="0" bIns="0" anchor="t">
            <a:noAutofit/>
          </a:bodyPr>
          <a:lstStyle/>
          <a:p>
            <a:pPr algn="l">
              <a:lnSpc>
                <a:spcPct val="100000"/>
              </a:lnSpc>
            </a:pPr>
            <a:r>
              <a:rPr sz="800" b="1">
                <a:solidFill>
                  <a:srgbClr val="6E8A76"/>
                </a:solidFill>
                <a:latin typeface="Arial"/>
              </a:rPr>
              <a:t>BRAND, MECHANIC AND LEGAL</a:t>
            </a:r>
          </a:p>
        </p:txBody>
      </p:sp>
      <p:sp>
        <p:nvSpPr>
          <p:cNvPr id="18" name="TextBox 17"/>
          <p:cNvSpPr txBox="1"/>
          <p:nvPr/>
        </p:nvSpPr>
        <p:spPr>
          <a:xfrm>
            <a:off x="6211824" y="2208032"/>
            <a:ext cx="2255520" cy="207264"/>
          </a:xfrm>
          <a:prstGeom prst="rect">
            <a:avLst/>
          </a:prstGeom>
          <a:noFill/>
        </p:spPr>
        <p:txBody>
          <a:bodyPr wrap="square" lIns="0" rIns="0" tIns="0" bIns="0" anchor="t">
            <a:noAutofit/>
          </a:bodyPr>
          <a:lstStyle/>
          <a:p>
            <a:pPr algn="l">
              <a:lnSpc>
                <a:spcPct val="96000"/>
              </a:lnSpc>
            </a:pPr>
            <a:r>
              <a:rPr sz="1250" b="0">
                <a:solidFill>
                  <a:srgbClr val="006838"/>
                </a:solidFill>
                <a:latin typeface="Arial Black"/>
              </a:rPr>
              <a:t>Four items</a:t>
            </a:r>
          </a:p>
        </p:txBody>
      </p:sp>
      <p:sp>
        <p:nvSpPr>
          <p:cNvPr id="19" name="TextBox 18"/>
          <p:cNvSpPr txBox="1"/>
          <p:nvPr/>
        </p:nvSpPr>
        <p:spPr>
          <a:xfrm>
            <a:off x="6211824" y="2415296"/>
            <a:ext cx="2255520" cy="981455"/>
          </a:xfrm>
          <a:prstGeom prst="rect">
            <a:avLst/>
          </a:prstGeom>
          <a:noFill/>
        </p:spPr>
        <p:txBody>
          <a:bodyPr wrap="square" lIns="0" rIns="0" tIns="0" bIns="0" anchor="t">
            <a:noAutofit/>
          </a:bodyPr>
          <a:lstStyle/>
          <a:p>
            <a:pPr algn="l">
              <a:lnSpc>
                <a:spcPct val="114000"/>
              </a:lnSpc>
            </a:pPr>
            <a:r>
              <a:rPr sz="800" b="0">
                <a:solidFill>
                  <a:srgbClr val="1F3326"/>
                </a:solidFill>
                <a:latin typeface="Arial"/>
              </a:rPr>
              <a:t>Brand asset library including Kak Ji files and product photography. The qualifying SKU list and the first six weeks of the Mata multiplier calendar. Contest permit applicant and filing owner, locked by mid December. The Bulan Bintang decision and, if it is yes, the floor space agreement and 14 store addresses.</a:t>
            </a:r>
          </a:p>
        </p:txBody>
      </p:sp>
      <p:sp>
        <p:nvSpPr>
          <p:cNvPr id="20" name="Rectangle 19"/>
          <p:cNvSpPr/>
          <p:nvPr/>
        </p:nvSpPr>
        <p:spPr>
          <a:xfrm>
            <a:off x="438912" y="4443984"/>
            <a:ext cx="8266175" cy="402336"/>
          </a:xfrm>
          <a:prstGeom prst="rect">
            <a:avLst/>
          </a:prstGeom>
          <a:solidFill>
            <a:srgbClr val="052B1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1" name="TextBox 20"/>
          <p:cNvSpPr txBox="1"/>
          <p:nvPr/>
        </p:nvSpPr>
        <p:spPr>
          <a:xfrm>
            <a:off x="658368" y="4480560"/>
            <a:ext cx="7827264" cy="347472"/>
          </a:xfrm>
          <a:prstGeom prst="rect">
            <a:avLst/>
          </a:prstGeom>
          <a:noFill/>
        </p:spPr>
        <p:txBody>
          <a:bodyPr wrap="square" lIns="0" rIns="0" tIns="0" bIns="0" anchor="ctr">
            <a:noAutofit/>
          </a:bodyPr>
          <a:lstStyle/>
          <a:p>
            <a:pPr algn="l">
              <a:lnSpc>
                <a:spcPct val="100000"/>
              </a:lnSpc>
            </a:pPr>
            <a:r>
              <a:rPr sz="950" b="1">
                <a:solidFill>
                  <a:srgbClr val="F5EC2E"/>
                </a:solidFill>
                <a:latin typeface="Arial"/>
              </a:rPr>
              <a:t>The critical path is two items: </a:t>
            </a:r>
            <a:r>
              <a:rPr sz="950" b="0">
                <a:solidFill>
                  <a:srgbClr val="FFFFFF"/>
                </a:solidFill>
                <a:latin typeface="Arial"/>
              </a:rPr>
              <a:t>pixel access and the domain. Without them the page cannot report a conversion, and without that every measurement argument in this deck stops working.</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52B18"/>
        </a:solidFill>
        <a:effectLst/>
      </p:bgPr>
    </p:bg>
    <p:spTree>
      <p:nvGrpSpPr>
        <p:cNvPr id="1" name=""/>
        <p:cNvGrpSpPr/>
        <p:nvPr/>
      </p:nvGrpSpPr>
      <p:grpSpPr/>
      <p:sp>
        <p:nvSpPr>
          <p:cNvPr id="2" name="Rectangle 1"/>
          <p:cNvSpPr/>
          <p:nvPr/>
        </p:nvSpPr>
        <p:spPr>
          <a:xfrm>
            <a:off x="0" y="0"/>
            <a:ext cx="128016" cy="5143500"/>
          </a:xfrm>
          <a:prstGeom prst="rect">
            <a:avLst/>
          </a:prstGeom>
          <a:solidFill>
            <a:srgbClr val="C51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 name="Rectangle 2"/>
          <p:cNvSpPr/>
          <p:nvPr/>
        </p:nvSpPr>
        <p:spPr>
          <a:xfrm>
            <a:off x="640080" y="1005840"/>
            <a:ext cx="310896" cy="64008"/>
          </a:xfrm>
          <a:prstGeom prst="rect">
            <a:avLst/>
          </a:prstGeom>
          <a:solidFill>
            <a:srgbClr val="F8C8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4" name="TextBox 3"/>
          <p:cNvSpPr txBox="1"/>
          <p:nvPr/>
        </p:nvSpPr>
        <p:spPr>
          <a:xfrm>
            <a:off x="640080" y="1243584"/>
            <a:ext cx="7680960" cy="274320"/>
          </a:xfrm>
          <a:prstGeom prst="rect">
            <a:avLst/>
          </a:prstGeom>
          <a:noFill/>
        </p:spPr>
        <p:txBody>
          <a:bodyPr wrap="square" lIns="0" rIns="0" tIns="0" bIns="0" anchor="t">
            <a:noAutofit/>
          </a:bodyPr>
          <a:lstStyle/>
          <a:p>
            <a:pPr algn="l">
              <a:lnSpc>
                <a:spcPct val="92000"/>
              </a:lnSpc>
            </a:pPr>
            <a:r>
              <a:rPr sz="950" b="1">
                <a:solidFill>
                  <a:srgbClr val="F8C84A"/>
                </a:solidFill>
                <a:latin typeface="Arial"/>
              </a:rPr>
              <a:t>WHAT REV3 ASKS FOR</a:t>
            </a:r>
          </a:p>
        </p:txBody>
      </p:sp>
      <p:sp>
        <p:nvSpPr>
          <p:cNvPr id="5" name="TextBox 4"/>
          <p:cNvSpPr txBox="1"/>
          <p:nvPr/>
        </p:nvSpPr>
        <p:spPr>
          <a:xfrm>
            <a:off x="640080" y="1609344"/>
            <a:ext cx="7680960" cy="1097280"/>
          </a:xfrm>
          <a:prstGeom prst="rect">
            <a:avLst/>
          </a:prstGeom>
          <a:noFill/>
        </p:spPr>
        <p:txBody>
          <a:bodyPr wrap="square" lIns="0" rIns="0" tIns="0" bIns="0" anchor="t">
            <a:noAutofit/>
          </a:bodyPr>
          <a:lstStyle/>
          <a:p>
            <a:pPr algn="l">
              <a:lnSpc>
                <a:spcPct val="106000"/>
              </a:lnSpc>
            </a:pPr>
            <a:r>
              <a:rPr sz="3000" b="0">
                <a:solidFill>
                  <a:srgbClr val="FFFFFF"/>
                </a:solidFill>
                <a:latin typeface="Arial Black"/>
              </a:rPr>
              <a:t>One page, one balance,
and a partner who is welcome
rather than required.</a:t>
            </a:r>
          </a:p>
        </p:txBody>
      </p:sp>
      <p:sp>
        <p:nvSpPr>
          <p:cNvPr id="6" name="TextBox 5"/>
          <p:cNvSpPr txBox="1"/>
          <p:nvPr/>
        </p:nvSpPr>
        <p:spPr>
          <a:xfrm>
            <a:off x="640080" y="3127248"/>
            <a:ext cx="7772400" cy="822960"/>
          </a:xfrm>
          <a:prstGeom prst="rect">
            <a:avLst/>
          </a:prstGeom>
          <a:noFill/>
        </p:spPr>
        <p:txBody>
          <a:bodyPr wrap="square" lIns="0" rIns="0" tIns="0" bIns="0" anchor="t">
            <a:noAutofit/>
          </a:bodyPr>
          <a:lstStyle/>
          <a:p>
            <a:pPr algn="l">
              <a:lnSpc>
                <a:spcPct val="126000"/>
              </a:lnSpc>
            </a:pPr>
            <a:r>
              <a:rPr sz="1200" b="0">
                <a:solidFill>
                  <a:srgbClr val="CEE3D5"/>
                </a:solidFill>
                <a:latin typeface="Arial"/>
              </a:rPr>
              <a:t>Mata Raya holds the part of the idea that works, which is that spending more improves your odds. It drops the part that does not, which is a two-brand gate no Malaysian contest has ever asked a shopper to walk through.</a:t>
            </a:r>
          </a:p>
        </p:txBody>
      </p:sp>
      <p:sp>
        <p:nvSpPr>
          <p:cNvPr id="7" name="Rectangle 6"/>
          <p:cNvSpPr/>
          <p:nvPr/>
        </p:nvSpPr>
        <p:spPr>
          <a:xfrm>
            <a:off x="640080" y="4059936"/>
            <a:ext cx="7863840" cy="18288"/>
          </a:xfrm>
          <a:prstGeom prst="rect">
            <a:avLst/>
          </a:prstGeom>
          <a:solidFill>
            <a:srgbClr val="1D4A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8" name="TextBox 7"/>
          <p:cNvSpPr txBox="1"/>
          <p:nvPr/>
        </p:nvSpPr>
        <p:spPr>
          <a:xfrm>
            <a:off x="640080" y="4224528"/>
            <a:ext cx="7863840" cy="274320"/>
          </a:xfrm>
          <a:prstGeom prst="rect">
            <a:avLst/>
          </a:prstGeom>
          <a:noFill/>
        </p:spPr>
        <p:txBody>
          <a:bodyPr wrap="square" lIns="0" rIns="0" tIns="0" bIns="0" anchor="t">
            <a:noAutofit/>
          </a:bodyPr>
          <a:lstStyle/>
          <a:p>
            <a:pPr algn="l">
              <a:lnSpc>
                <a:spcPct val="92000"/>
              </a:lnSpc>
            </a:pPr>
            <a:r>
              <a:rPr sz="1000" b="0">
                <a:solidFill>
                  <a:srgbClr val="9FBFA9"/>
                </a:solidFill>
                <a:latin typeface="Arial"/>
              </a:rPr>
              <a:t>Toggle Solutions   ·   hello@toggle.solutions   ·   toggle.solutions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