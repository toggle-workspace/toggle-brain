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ectangle 2"/>
          <p:cNvSpPr/>
          <p:nvPr/>
        </p:nvSpPr>
        <p:spPr>
          <a:xfrm>
            <a:off x="640080" y="1097280"/>
            <a:ext cx="310896" cy="64008"/>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TextBox 3"/>
          <p:cNvSpPr txBox="1"/>
          <p:nvPr/>
        </p:nvSpPr>
        <p:spPr>
          <a:xfrm>
            <a:off x="640080" y="1335024"/>
            <a:ext cx="6400800" cy="237744"/>
          </a:xfrm>
          <a:prstGeom prst="rect">
            <a:avLst/>
          </a:prstGeom>
          <a:noFill/>
        </p:spPr>
        <p:txBody>
          <a:bodyPr wrap="square" lIns="0" rIns="0" tIns="0" bIns="0" anchor="t">
            <a:noAutofit/>
          </a:bodyPr>
          <a:lstStyle/>
          <a:p>
            <a:pPr algn="l">
              <a:lnSpc>
                <a:spcPct val="92000"/>
              </a:lnSpc>
            </a:pPr>
            <a:r>
              <a:rPr sz="950" b="1">
                <a:solidFill>
                  <a:srgbClr val="F8C84A"/>
                </a:solidFill>
                <a:latin typeface="Arial"/>
              </a:rPr>
              <a:t>INTERNAL WORKING DECK  ·  REV3-CLEANED  ·  30 SEPTEMBER 2026</a:t>
            </a:r>
          </a:p>
        </p:txBody>
      </p:sp>
      <p:sp>
        <p:nvSpPr>
          <p:cNvPr id="5" name="TextBox 4"/>
          <p:cNvSpPr txBox="1"/>
          <p:nvPr/>
        </p:nvSpPr>
        <p:spPr>
          <a:xfrm>
            <a:off x="640080" y="1719072"/>
            <a:ext cx="7680960" cy="585216"/>
          </a:xfrm>
          <a:prstGeom prst="rect">
            <a:avLst/>
          </a:prstGeom>
          <a:noFill/>
        </p:spPr>
        <p:txBody>
          <a:bodyPr wrap="square" lIns="0" rIns="0" tIns="0" bIns="0" anchor="t">
            <a:noAutofit/>
          </a:bodyPr>
          <a:lstStyle/>
          <a:p>
            <a:pPr algn="l">
              <a:lnSpc>
                <a:spcPct val="94000"/>
              </a:lnSpc>
            </a:pPr>
            <a:r>
              <a:rPr sz="4400" b="0">
                <a:solidFill>
                  <a:srgbClr val="FFFFFF"/>
                </a:solidFill>
                <a:latin typeface="Arial Black"/>
              </a:rPr>
              <a:t>TerSaji Raya 2027</a:t>
            </a:r>
          </a:p>
        </p:txBody>
      </p:sp>
      <p:sp>
        <p:nvSpPr>
          <p:cNvPr id="6" name="TextBox 5"/>
          <p:cNvSpPr txBox="1"/>
          <p:nvPr/>
        </p:nvSpPr>
        <p:spPr>
          <a:xfrm>
            <a:off x="640080" y="2468880"/>
            <a:ext cx="7680960" cy="402336"/>
          </a:xfrm>
          <a:prstGeom prst="rect">
            <a:avLst/>
          </a:prstGeom>
          <a:noFill/>
        </p:spPr>
        <p:txBody>
          <a:bodyPr wrap="square" lIns="0" rIns="0" tIns="0" bIns="0" anchor="t">
            <a:noAutofit/>
          </a:bodyPr>
          <a:lstStyle/>
          <a:p>
            <a:pPr algn="l">
              <a:lnSpc>
                <a:spcPct val="100000"/>
              </a:lnSpc>
            </a:pPr>
            <a:r>
              <a:rPr sz="1900" b="0">
                <a:solidFill>
                  <a:srgbClr val="FFFFFF"/>
                </a:solidFill>
                <a:latin typeface="Arial"/>
              </a:rPr>
              <a:t>Saji Ramadan Raya contest, digital plan</a:t>
            </a:r>
          </a:p>
        </p:txBody>
      </p:sp>
      <p:sp>
        <p:nvSpPr>
          <p:cNvPr id="7" name="TextBox 6"/>
          <p:cNvSpPr txBox="1"/>
          <p:nvPr/>
        </p:nvSpPr>
        <p:spPr>
          <a:xfrm>
            <a:off x="640080" y="2980944"/>
            <a:ext cx="7772400" cy="804672"/>
          </a:xfrm>
          <a:prstGeom prst="rect">
            <a:avLst/>
          </a:prstGeom>
          <a:noFill/>
        </p:spPr>
        <p:txBody>
          <a:bodyPr wrap="square" lIns="0" rIns="0" tIns="0" bIns="0" anchor="t">
            <a:noAutofit/>
          </a:bodyPr>
          <a:lstStyle/>
          <a:p>
            <a:pPr algn="l">
              <a:lnSpc>
                <a:spcPct val="122000"/>
              </a:lnSpc>
            </a:pPr>
            <a:r>
              <a:rPr sz="1350" b="0">
                <a:solidFill>
                  <a:srgbClr val="F8C84A"/>
                </a:solidFill>
                <a:latin typeface="Arial"/>
              </a:rPr>
              <a:t>The Mata Raya point system, how people move from ads to shops, and what we need Saji to answer.</a:t>
            </a:r>
          </a:p>
        </p:txBody>
      </p:sp>
      <p:sp>
        <p:nvSpPr>
          <p:cNvPr id="8" name="Rectangle 7"/>
          <p:cNvSpPr/>
          <p:nvPr/>
        </p:nvSpPr>
        <p:spPr>
          <a:xfrm>
            <a:off x="640080" y="4041648"/>
            <a:ext cx="7863840" cy="18288"/>
          </a:xfrm>
          <a:prstGeom prst="rect">
            <a:avLst/>
          </a:prstGeom>
          <a:solidFill>
            <a:srgbClr val="1D4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40080" y="4206240"/>
            <a:ext cx="7863840" cy="274320"/>
          </a:xfrm>
          <a:prstGeom prst="rect">
            <a:avLst/>
          </a:prstGeom>
          <a:noFill/>
        </p:spPr>
        <p:txBody>
          <a:bodyPr wrap="square" lIns="0" rIns="0" tIns="0" bIns="0" anchor="t">
            <a:noAutofit/>
          </a:bodyPr>
          <a:lstStyle/>
          <a:p>
            <a:pPr algn="l">
              <a:lnSpc>
                <a:spcPct val="92000"/>
              </a:lnSpc>
            </a:pPr>
            <a:r>
              <a:rPr sz="1000" b="0">
                <a:solidFill>
                  <a:srgbClr val="9FBFA9"/>
                </a:solidFill>
                <a:latin typeface="Arial"/>
              </a:rPr>
              <a:t>Toggle Solutions and COO   ·   For the 14 October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Where we landed.</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We wrote rev2 on 15 September. Two meetings after that changed the plan.</a:t>
            </a:r>
          </a:p>
        </p:txBody>
      </p:sp>
      <p:sp>
        <p:nvSpPr>
          <p:cNvPr id="5" name="Rectangle 4"/>
          <p:cNvSpPr/>
          <p:nvPr/>
        </p:nvSpPr>
        <p:spPr>
          <a:xfrm>
            <a:off x="512064" y="1944855"/>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22 SEPTEMBER</a:t>
            </a:r>
          </a:p>
          <a:p>
            <a:pPr algn="l">
              <a:lnSpc>
                <a:spcPct val="96000"/>
              </a:lnSpc>
              <a:spcAft>
                <a:spcPts val="700"/>
              </a:spcAft>
            </a:pPr>
            <a:r>
              <a:rPr sz="1250" b="0">
                <a:solidFill>
                  <a:srgbClr val="006838"/>
                </a:solidFill>
                <a:latin typeface="Arial Black"/>
              </a:rPr>
              <a:t>We met Bulan Bintang</a:t>
            </a:r>
          </a:p>
          <a:p>
            <a:pPr algn="l">
              <a:lnSpc>
                <a:spcPct val="114000"/>
              </a:lnSpc>
              <a:spcAft>
                <a:spcPts val="800"/>
              </a:spcAft>
            </a:pPr>
            <a:r>
              <a:rPr sz="850" b="0">
                <a:solidFill>
                  <a:srgbClr val="1F3326"/>
                </a:solidFill>
                <a:latin typeface="Arial"/>
              </a:rPr>
              <a:t>They asked for a title sponsorship worth at least RM1.5 million. The split is 40% product and 60% cash. Saji committed 300,000 sampling packs worth about RM500,000.</a:t>
            </a:r>
          </a:p>
        </p:txBody>
      </p:sp>
      <p:sp>
        <p:nvSpPr>
          <p:cNvPr id="6" name="Rectangle 5"/>
          <p:cNvSpPr/>
          <p:nvPr/>
        </p:nvSpPr>
        <p:spPr>
          <a:xfrm>
            <a:off x="512064" y="1944855"/>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3279648" y="1944855"/>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24 SEPTEMBER</a:t>
            </a:r>
          </a:p>
          <a:p>
            <a:pPr algn="l">
              <a:lnSpc>
                <a:spcPct val="96000"/>
              </a:lnSpc>
              <a:spcAft>
                <a:spcPts val="700"/>
              </a:spcAft>
            </a:pPr>
            <a:r>
              <a:rPr sz="1250" b="0">
                <a:solidFill>
                  <a:srgbClr val="006838"/>
                </a:solidFill>
                <a:latin typeface="Arial Black"/>
              </a:rPr>
              <a:t>Saji narrowed the ask</a:t>
            </a:r>
          </a:p>
          <a:p>
            <a:pPr algn="l">
              <a:lnSpc>
                <a:spcPct val="114000"/>
              </a:lnSpc>
              <a:spcAft>
                <a:spcPts val="800"/>
              </a:spcAft>
            </a:pPr>
            <a:r>
              <a:rPr sz="850" b="0">
                <a:solidFill>
                  <a:srgbClr val="1F3326"/>
                </a:solidFill>
                <a:latin typeface="Arial"/>
              </a:rPr>
              <a:t>Saji wants to push new product sampling. They will focus on bazaars and roadshows. They are unlikely to take the Gold tier. The mechanic must work with or without Bulan Bintang.</a:t>
            </a:r>
          </a:p>
        </p:txBody>
      </p:sp>
      <p:sp>
        <p:nvSpPr>
          <p:cNvPr id="8" name="Rectangle 7"/>
          <p:cNvSpPr/>
          <p:nvPr/>
        </p:nvSpPr>
        <p:spPr>
          <a:xfrm>
            <a:off x="3279648" y="1944855"/>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6047232" y="1944855"/>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WHAT THIS CHANGED</a:t>
            </a:r>
          </a:p>
          <a:p>
            <a:pPr algn="l">
              <a:lnSpc>
                <a:spcPct val="96000"/>
              </a:lnSpc>
              <a:spcAft>
                <a:spcPts val="700"/>
              </a:spcAft>
            </a:pPr>
            <a:r>
              <a:rPr sz="1250" b="0">
                <a:solidFill>
                  <a:srgbClr val="006838"/>
                </a:solidFill>
                <a:latin typeface="Arial Black"/>
              </a:rPr>
              <a:t>The pop-up is gone</a:t>
            </a:r>
          </a:p>
          <a:p>
            <a:pPr algn="l">
              <a:lnSpc>
                <a:spcPct val="114000"/>
              </a:lnSpc>
              <a:spcAft>
                <a:spcPts val="800"/>
              </a:spcAft>
            </a:pPr>
            <a:r>
              <a:rPr sz="850" b="0">
                <a:solidFill>
                  <a:srgbClr val="1F3326"/>
                </a:solidFill>
                <a:latin typeface="Arial"/>
              </a:rPr>
              <a:t>Our rev2 plan put a Saji counter inside all 14 boutiques. Everything depended on that one yes. We now build a point system that runs on Saji alone.</a:t>
            </a:r>
          </a:p>
        </p:txBody>
      </p:sp>
      <p:sp>
        <p:nvSpPr>
          <p:cNvPr id="10" name="Rectangle 9"/>
          <p:cNvSpPr/>
          <p:nvPr/>
        </p:nvSpPr>
        <p:spPr>
          <a:xfrm>
            <a:off x="6047232" y="1944855"/>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fix: </a:t>
            </a:r>
            <a:r>
              <a:rPr sz="950" b="0">
                <a:solidFill>
                  <a:srgbClr val="FFFFFF"/>
                </a:solidFill>
                <a:latin typeface="Arial"/>
              </a:rPr>
              <a:t>Bulan Bintang now adds Mata instead of blocking entry.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65836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Reach went up every year. Entries went down every year.</a:t>
            </a:r>
          </a:p>
        </p:txBody>
      </p:sp>
      <p:sp>
        <p:nvSpPr>
          <p:cNvPr id="4" name="TextBox 3"/>
          <p:cNvSpPr txBox="1"/>
          <p:nvPr/>
        </p:nvSpPr>
        <p:spPr>
          <a:xfrm>
            <a:off x="512064" y="1298448"/>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last column counts entries for every million people reached. It has fallen 90% since 2022.</a:t>
            </a:r>
          </a:p>
        </p:txBody>
      </p:sp>
      <p:sp>
        <p:nvSpPr>
          <p:cNvPr id="5" name="Rectangle 4"/>
          <p:cNvSpPr/>
          <p:nvPr/>
        </p:nvSpPr>
        <p:spPr>
          <a:xfrm>
            <a:off x="512064" y="1937268"/>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992132"/>
            <a:ext cx="585216"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YEAR</a:t>
            </a:r>
          </a:p>
        </p:txBody>
      </p:sp>
      <p:sp>
        <p:nvSpPr>
          <p:cNvPr id="7" name="TextBox 6"/>
          <p:cNvSpPr txBox="1"/>
          <p:nvPr/>
        </p:nvSpPr>
        <p:spPr>
          <a:xfrm>
            <a:off x="1316736" y="1992132"/>
            <a:ext cx="111556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IMPRESSIONS</a:t>
            </a:r>
          </a:p>
        </p:txBody>
      </p:sp>
      <p:sp>
        <p:nvSpPr>
          <p:cNvPr id="8" name="TextBox 7"/>
          <p:cNvSpPr txBox="1"/>
          <p:nvPr/>
        </p:nvSpPr>
        <p:spPr>
          <a:xfrm>
            <a:off x="2560320" y="1992132"/>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VIEWS</a:t>
            </a:r>
          </a:p>
        </p:txBody>
      </p:sp>
      <p:sp>
        <p:nvSpPr>
          <p:cNvPr id="9" name="TextBox 8"/>
          <p:cNvSpPr txBox="1"/>
          <p:nvPr/>
        </p:nvSpPr>
        <p:spPr>
          <a:xfrm>
            <a:off x="3602736" y="1992132"/>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REACH</a:t>
            </a:r>
          </a:p>
        </p:txBody>
      </p:sp>
      <p:sp>
        <p:nvSpPr>
          <p:cNvPr id="10" name="TextBox 9"/>
          <p:cNvSpPr txBox="1"/>
          <p:nvPr/>
        </p:nvSpPr>
        <p:spPr>
          <a:xfrm>
            <a:off x="4645151" y="1992132"/>
            <a:ext cx="1170431"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ENGAGEMENT</a:t>
            </a:r>
          </a:p>
        </p:txBody>
      </p:sp>
      <p:sp>
        <p:nvSpPr>
          <p:cNvPr id="11" name="TextBox 10"/>
          <p:cNvSpPr txBox="1"/>
          <p:nvPr/>
        </p:nvSpPr>
        <p:spPr>
          <a:xfrm>
            <a:off x="5943599" y="1992132"/>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ENTRIES</a:t>
            </a:r>
          </a:p>
        </p:txBody>
      </p:sp>
      <p:sp>
        <p:nvSpPr>
          <p:cNvPr id="12" name="TextBox 11"/>
          <p:cNvSpPr txBox="1"/>
          <p:nvPr/>
        </p:nvSpPr>
        <p:spPr>
          <a:xfrm>
            <a:off x="6986015" y="1992132"/>
            <a:ext cx="1609343"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ENTRIES PER 1M REACHED</a:t>
            </a:r>
          </a:p>
        </p:txBody>
      </p:sp>
      <p:sp>
        <p:nvSpPr>
          <p:cNvPr id="13" name="Rectangle 12"/>
          <p:cNvSpPr/>
          <p:nvPr/>
        </p:nvSpPr>
        <p:spPr>
          <a:xfrm>
            <a:off x="512064" y="2211588"/>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3504" y="2261880"/>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2022</a:t>
            </a:r>
          </a:p>
        </p:txBody>
      </p:sp>
      <p:sp>
        <p:nvSpPr>
          <p:cNvPr id="15" name="TextBox 14"/>
          <p:cNvSpPr txBox="1"/>
          <p:nvPr/>
        </p:nvSpPr>
        <p:spPr>
          <a:xfrm>
            <a:off x="1316736" y="2261880"/>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15.06M</a:t>
            </a:r>
          </a:p>
        </p:txBody>
      </p:sp>
      <p:sp>
        <p:nvSpPr>
          <p:cNvPr id="16" name="TextBox 15"/>
          <p:cNvSpPr txBox="1"/>
          <p:nvPr/>
        </p:nvSpPr>
        <p:spPr>
          <a:xfrm>
            <a:off x="2560320" y="226188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3.40M</a:t>
            </a:r>
          </a:p>
        </p:txBody>
      </p:sp>
      <p:sp>
        <p:nvSpPr>
          <p:cNvPr id="17" name="TextBox 16"/>
          <p:cNvSpPr txBox="1"/>
          <p:nvPr/>
        </p:nvSpPr>
        <p:spPr>
          <a:xfrm>
            <a:off x="3602736" y="226188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4.46M</a:t>
            </a:r>
          </a:p>
        </p:txBody>
      </p:sp>
      <p:sp>
        <p:nvSpPr>
          <p:cNvPr id="18" name="TextBox 17"/>
          <p:cNvSpPr txBox="1"/>
          <p:nvPr/>
        </p:nvSpPr>
        <p:spPr>
          <a:xfrm>
            <a:off x="4645151" y="2261880"/>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0.94M</a:t>
            </a:r>
          </a:p>
        </p:txBody>
      </p:sp>
      <p:sp>
        <p:nvSpPr>
          <p:cNvPr id="19" name="TextBox 18"/>
          <p:cNvSpPr txBox="1"/>
          <p:nvPr/>
        </p:nvSpPr>
        <p:spPr>
          <a:xfrm>
            <a:off x="5943599" y="226188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11,834</a:t>
            </a:r>
          </a:p>
        </p:txBody>
      </p:sp>
      <p:sp>
        <p:nvSpPr>
          <p:cNvPr id="20" name="TextBox 19"/>
          <p:cNvSpPr txBox="1"/>
          <p:nvPr/>
        </p:nvSpPr>
        <p:spPr>
          <a:xfrm>
            <a:off x="6986015" y="2261880"/>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2,653</a:t>
            </a:r>
          </a:p>
        </p:txBody>
      </p:sp>
      <p:sp>
        <p:nvSpPr>
          <p:cNvPr id="21" name="Rectangle 20"/>
          <p:cNvSpPr/>
          <p:nvPr/>
        </p:nvSpPr>
        <p:spPr>
          <a:xfrm>
            <a:off x="512064" y="2485908"/>
            <a:ext cx="8119871" cy="27432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03504" y="2536200"/>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2023</a:t>
            </a:r>
          </a:p>
        </p:txBody>
      </p:sp>
      <p:sp>
        <p:nvSpPr>
          <p:cNvPr id="23" name="TextBox 22"/>
          <p:cNvSpPr txBox="1"/>
          <p:nvPr/>
        </p:nvSpPr>
        <p:spPr>
          <a:xfrm>
            <a:off x="1316736" y="2536200"/>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40.03M</a:t>
            </a:r>
          </a:p>
        </p:txBody>
      </p:sp>
      <p:sp>
        <p:nvSpPr>
          <p:cNvPr id="24" name="TextBox 23"/>
          <p:cNvSpPr txBox="1"/>
          <p:nvPr/>
        </p:nvSpPr>
        <p:spPr>
          <a:xfrm>
            <a:off x="2560320" y="253620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13.81M</a:t>
            </a:r>
          </a:p>
        </p:txBody>
      </p:sp>
      <p:sp>
        <p:nvSpPr>
          <p:cNvPr id="25" name="TextBox 24"/>
          <p:cNvSpPr txBox="1"/>
          <p:nvPr/>
        </p:nvSpPr>
        <p:spPr>
          <a:xfrm>
            <a:off x="3602736" y="253620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15.61M</a:t>
            </a:r>
          </a:p>
        </p:txBody>
      </p:sp>
      <p:sp>
        <p:nvSpPr>
          <p:cNvPr id="26" name="TextBox 25"/>
          <p:cNvSpPr txBox="1"/>
          <p:nvPr/>
        </p:nvSpPr>
        <p:spPr>
          <a:xfrm>
            <a:off x="4645151" y="2536200"/>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17.35M</a:t>
            </a:r>
          </a:p>
        </p:txBody>
      </p:sp>
      <p:sp>
        <p:nvSpPr>
          <p:cNvPr id="27" name="TextBox 26"/>
          <p:cNvSpPr txBox="1"/>
          <p:nvPr/>
        </p:nvSpPr>
        <p:spPr>
          <a:xfrm>
            <a:off x="5943599" y="253620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8,464</a:t>
            </a:r>
          </a:p>
        </p:txBody>
      </p:sp>
      <p:sp>
        <p:nvSpPr>
          <p:cNvPr id="28" name="TextBox 27"/>
          <p:cNvSpPr txBox="1"/>
          <p:nvPr/>
        </p:nvSpPr>
        <p:spPr>
          <a:xfrm>
            <a:off x="6986015" y="2536200"/>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542</a:t>
            </a:r>
          </a:p>
        </p:txBody>
      </p:sp>
      <p:sp>
        <p:nvSpPr>
          <p:cNvPr id="29" name="Rectangle 28"/>
          <p:cNvSpPr/>
          <p:nvPr/>
        </p:nvSpPr>
        <p:spPr>
          <a:xfrm>
            <a:off x="512064" y="2760228"/>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2810520"/>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2024</a:t>
            </a:r>
          </a:p>
        </p:txBody>
      </p:sp>
      <p:sp>
        <p:nvSpPr>
          <p:cNvPr id="31" name="TextBox 30"/>
          <p:cNvSpPr txBox="1"/>
          <p:nvPr/>
        </p:nvSpPr>
        <p:spPr>
          <a:xfrm>
            <a:off x="1316736" y="2810520"/>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50.40M</a:t>
            </a:r>
          </a:p>
        </p:txBody>
      </p:sp>
      <p:sp>
        <p:nvSpPr>
          <p:cNvPr id="32" name="TextBox 31"/>
          <p:cNvSpPr txBox="1"/>
          <p:nvPr/>
        </p:nvSpPr>
        <p:spPr>
          <a:xfrm>
            <a:off x="2560320" y="281052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10.43M</a:t>
            </a:r>
          </a:p>
        </p:txBody>
      </p:sp>
      <p:sp>
        <p:nvSpPr>
          <p:cNvPr id="33" name="TextBox 32"/>
          <p:cNvSpPr txBox="1"/>
          <p:nvPr/>
        </p:nvSpPr>
        <p:spPr>
          <a:xfrm>
            <a:off x="3602736" y="281052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15.66M</a:t>
            </a:r>
          </a:p>
        </p:txBody>
      </p:sp>
      <p:sp>
        <p:nvSpPr>
          <p:cNvPr id="34" name="TextBox 33"/>
          <p:cNvSpPr txBox="1"/>
          <p:nvPr/>
        </p:nvSpPr>
        <p:spPr>
          <a:xfrm>
            <a:off x="4645151" y="2810520"/>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6.85M</a:t>
            </a:r>
          </a:p>
        </p:txBody>
      </p:sp>
      <p:sp>
        <p:nvSpPr>
          <p:cNvPr id="35" name="TextBox 34"/>
          <p:cNvSpPr txBox="1"/>
          <p:nvPr/>
        </p:nvSpPr>
        <p:spPr>
          <a:xfrm>
            <a:off x="5943599" y="281052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7,576</a:t>
            </a:r>
          </a:p>
        </p:txBody>
      </p:sp>
      <p:sp>
        <p:nvSpPr>
          <p:cNvPr id="36" name="TextBox 35"/>
          <p:cNvSpPr txBox="1"/>
          <p:nvPr/>
        </p:nvSpPr>
        <p:spPr>
          <a:xfrm>
            <a:off x="6986015" y="2810520"/>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484</a:t>
            </a:r>
          </a:p>
        </p:txBody>
      </p:sp>
      <p:sp>
        <p:nvSpPr>
          <p:cNvPr id="37" name="Rectangle 36"/>
          <p:cNvSpPr/>
          <p:nvPr/>
        </p:nvSpPr>
        <p:spPr>
          <a:xfrm>
            <a:off x="512064" y="3034548"/>
            <a:ext cx="8119871" cy="27432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603504" y="3084840"/>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2025</a:t>
            </a:r>
          </a:p>
        </p:txBody>
      </p:sp>
      <p:sp>
        <p:nvSpPr>
          <p:cNvPr id="39" name="TextBox 38"/>
          <p:cNvSpPr txBox="1"/>
          <p:nvPr/>
        </p:nvSpPr>
        <p:spPr>
          <a:xfrm>
            <a:off x="1316736" y="3084840"/>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51.60M</a:t>
            </a:r>
          </a:p>
        </p:txBody>
      </p:sp>
      <p:sp>
        <p:nvSpPr>
          <p:cNvPr id="40" name="TextBox 39"/>
          <p:cNvSpPr txBox="1"/>
          <p:nvPr/>
        </p:nvSpPr>
        <p:spPr>
          <a:xfrm>
            <a:off x="2560320" y="308484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11.21M</a:t>
            </a:r>
          </a:p>
        </p:txBody>
      </p:sp>
      <p:sp>
        <p:nvSpPr>
          <p:cNvPr id="41" name="TextBox 40"/>
          <p:cNvSpPr txBox="1"/>
          <p:nvPr/>
        </p:nvSpPr>
        <p:spPr>
          <a:xfrm>
            <a:off x="3602736" y="308484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20.12M</a:t>
            </a:r>
          </a:p>
        </p:txBody>
      </p:sp>
      <p:sp>
        <p:nvSpPr>
          <p:cNvPr id="42" name="TextBox 41"/>
          <p:cNvSpPr txBox="1"/>
          <p:nvPr/>
        </p:nvSpPr>
        <p:spPr>
          <a:xfrm>
            <a:off x="4645151" y="3084840"/>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1.88M</a:t>
            </a:r>
          </a:p>
        </p:txBody>
      </p:sp>
      <p:sp>
        <p:nvSpPr>
          <p:cNvPr id="43" name="TextBox 42"/>
          <p:cNvSpPr txBox="1"/>
          <p:nvPr/>
        </p:nvSpPr>
        <p:spPr>
          <a:xfrm>
            <a:off x="5943599" y="308484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4,179</a:t>
            </a:r>
          </a:p>
        </p:txBody>
      </p:sp>
      <p:sp>
        <p:nvSpPr>
          <p:cNvPr id="44" name="TextBox 43"/>
          <p:cNvSpPr txBox="1"/>
          <p:nvPr/>
        </p:nvSpPr>
        <p:spPr>
          <a:xfrm>
            <a:off x="6986015" y="3084840"/>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208</a:t>
            </a:r>
          </a:p>
        </p:txBody>
      </p:sp>
      <p:sp>
        <p:nvSpPr>
          <p:cNvPr id="45" name="Rectangle 44"/>
          <p:cNvSpPr/>
          <p:nvPr/>
        </p:nvSpPr>
        <p:spPr>
          <a:xfrm>
            <a:off x="512064" y="3308868"/>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03504" y="3359160"/>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2026</a:t>
            </a:r>
          </a:p>
        </p:txBody>
      </p:sp>
      <p:sp>
        <p:nvSpPr>
          <p:cNvPr id="47" name="TextBox 46"/>
          <p:cNvSpPr txBox="1"/>
          <p:nvPr/>
        </p:nvSpPr>
        <p:spPr>
          <a:xfrm>
            <a:off x="1316736" y="3359160"/>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51.00M</a:t>
            </a:r>
          </a:p>
        </p:txBody>
      </p:sp>
      <p:sp>
        <p:nvSpPr>
          <p:cNvPr id="48" name="TextBox 47"/>
          <p:cNvSpPr txBox="1"/>
          <p:nvPr/>
        </p:nvSpPr>
        <p:spPr>
          <a:xfrm>
            <a:off x="2560320" y="335916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38.82M</a:t>
            </a:r>
          </a:p>
        </p:txBody>
      </p:sp>
      <p:sp>
        <p:nvSpPr>
          <p:cNvPr id="49" name="TextBox 48"/>
          <p:cNvSpPr txBox="1"/>
          <p:nvPr/>
        </p:nvSpPr>
        <p:spPr>
          <a:xfrm>
            <a:off x="3602736" y="335916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13.80M</a:t>
            </a:r>
          </a:p>
        </p:txBody>
      </p:sp>
      <p:sp>
        <p:nvSpPr>
          <p:cNvPr id="50" name="TextBox 49"/>
          <p:cNvSpPr txBox="1"/>
          <p:nvPr/>
        </p:nvSpPr>
        <p:spPr>
          <a:xfrm>
            <a:off x="4645151" y="3359160"/>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0.04M</a:t>
            </a:r>
          </a:p>
        </p:txBody>
      </p:sp>
      <p:sp>
        <p:nvSpPr>
          <p:cNvPr id="51" name="TextBox 50"/>
          <p:cNvSpPr txBox="1"/>
          <p:nvPr/>
        </p:nvSpPr>
        <p:spPr>
          <a:xfrm>
            <a:off x="5943599" y="3359160"/>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3,765</a:t>
            </a:r>
          </a:p>
        </p:txBody>
      </p:sp>
      <p:sp>
        <p:nvSpPr>
          <p:cNvPr id="52" name="TextBox 51"/>
          <p:cNvSpPr txBox="1"/>
          <p:nvPr/>
        </p:nvSpPr>
        <p:spPr>
          <a:xfrm>
            <a:off x="6986015" y="3359160"/>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273</a:t>
            </a:r>
          </a:p>
        </p:txBody>
      </p:sp>
      <p:sp>
        <p:nvSpPr>
          <p:cNvPr id="53" name="TextBox 52"/>
          <p:cNvSpPr txBox="1"/>
          <p:nvPr/>
        </p:nvSpPr>
        <p:spPr>
          <a:xfrm>
            <a:off x="512064" y="3674628"/>
            <a:ext cx="8119871" cy="168656"/>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Source: the RARA 2025 and RARA 2026 decks.</a:t>
            </a:r>
          </a:p>
        </p:txBody>
      </p:sp>
      <p:sp>
        <p:nvSpPr>
          <p:cNvPr id="54" name="Rectangle 53"/>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5" name="TextBox 54"/>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cause: </a:t>
            </a:r>
            <a:r>
              <a:rPr sz="950" b="0">
                <a:solidFill>
                  <a:srgbClr val="FFFFFF"/>
                </a:solidFill>
                <a:latin typeface="Arial"/>
              </a:rPr>
              <a:t>entering cost RM175 across two brands and two shops. We are fixing the price of entry rather than the media budget.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mechanic is one balance and four rules.</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We call the points Mata. Every shopper has one Mata balance that runs for ten weeks.</a:t>
            </a:r>
          </a:p>
        </p:txBody>
      </p:sp>
      <p:sp>
        <p:nvSpPr>
          <p:cNvPr id="5" name="Rectangle 4"/>
          <p:cNvSpPr/>
          <p:nvPr/>
        </p:nvSpPr>
        <p:spPr>
          <a:xfrm>
            <a:off x="512064" y="1928446"/>
            <a:ext cx="1892808" cy="155562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006838"/>
                </a:solidFill>
                <a:latin typeface="Arial Black"/>
              </a:rPr>
              <a:t>01</a:t>
            </a:r>
          </a:p>
          <a:p>
            <a:pPr algn="l">
              <a:lnSpc>
                <a:spcPct val="100000"/>
              </a:lnSpc>
              <a:spcAft>
                <a:spcPts val="500"/>
              </a:spcAft>
            </a:pPr>
            <a:r>
              <a:rPr sz="800" b="1">
                <a:solidFill>
                  <a:srgbClr val="6E8A76"/>
                </a:solidFill>
                <a:latin typeface="Arial"/>
              </a:rPr>
              <a:t>EARN</a:t>
            </a:r>
          </a:p>
          <a:p>
            <a:pPr algn="l">
              <a:lnSpc>
                <a:spcPct val="114000"/>
              </a:lnSpc>
              <a:spcAft>
                <a:spcPts val="800"/>
              </a:spcAft>
            </a:pPr>
            <a:r>
              <a:rPr sz="850" b="0">
                <a:solidFill>
                  <a:srgbClr val="1F3326"/>
                </a:solidFill>
                <a:latin typeface="Arial"/>
              </a:rPr>
              <a:t>Every RM1 of Saji earns 1 Mata. Receipts, bonus codes and featured products all pay into the same balance.</a:t>
            </a:r>
          </a:p>
        </p:txBody>
      </p:sp>
      <p:sp>
        <p:nvSpPr>
          <p:cNvPr id="6" name="Rectangle 5"/>
          <p:cNvSpPr/>
          <p:nvPr/>
        </p:nvSpPr>
        <p:spPr>
          <a:xfrm>
            <a:off x="512064" y="1928446"/>
            <a:ext cx="1892808"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2587752" y="1928446"/>
            <a:ext cx="1892808" cy="155562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E8912C"/>
                </a:solidFill>
                <a:latin typeface="Arial Black"/>
              </a:rPr>
              <a:t>02</a:t>
            </a:r>
          </a:p>
          <a:p>
            <a:pPr algn="l">
              <a:lnSpc>
                <a:spcPct val="100000"/>
              </a:lnSpc>
              <a:spcAft>
                <a:spcPts val="500"/>
              </a:spcAft>
            </a:pPr>
            <a:r>
              <a:rPr sz="800" b="1">
                <a:solidFill>
                  <a:srgbClr val="6E8A76"/>
                </a:solidFill>
                <a:latin typeface="Arial"/>
              </a:rPr>
              <a:t>QUALIFY</a:t>
            </a:r>
          </a:p>
          <a:p>
            <a:pPr algn="l">
              <a:lnSpc>
                <a:spcPct val="114000"/>
              </a:lnSpc>
              <a:spcAft>
                <a:spcPts val="800"/>
              </a:spcAft>
            </a:pPr>
            <a:r>
              <a:rPr sz="850" b="0">
                <a:solidFill>
                  <a:srgbClr val="1F3326"/>
                </a:solidFill>
                <a:latin typeface="Arial"/>
              </a:rPr>
              <a:t>Every 25 Mata gives one chance in that week's draw. More Mata means more chances in the same draw.</a:t>
            </a:r>
          </a:p>
        </p:txBody>
      </p:sp>
      <p:sp>
        <p:nvSpPr>
          <p:cNvPr id="8" name="Rectangle 7"/>
          <p:cNvSpPr/>
          <p:nvPr/>
        </p:nvSpPr>
        <p:spPr>
          <a:xfrm>
            <a:off x="2587752" y="1928446"/>
            <a:ext cx="1892808"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4663440" y="1928446"/>
            <a:ext cx="1892808" cy="155562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C5192B"/>
                </a:solidFill>
                <a:latin typeface="Arial Black"/>
              </a:rPr>
              <a:t>03</a:t>
            </a:r>
          </a:p>
          <a:p>
            <a:pPr algn="l">
              <a:lnSpc>
                <a:spcPct val="100000"/>
              </a:lnSpc>
              <a:spcAft>
                <a:spcPts val="500"/>
              </a:spcAft>
            </a:pPr>
            <a:r>
              <a:rPr sz="800" b="1">
                <a:solidFill>
                  <a:srgbClr val="6E8A76"/>
                </a:solidFill>
                <a:latin typeface="Arial"/>
              </a:rPr>
              <a:t>KEEP</a:t>
            </a:r>
          </a:p>
          <a:p>
            <a:pPr algn="l">
              <a:lnSpc>
                <a:spcPct val="114000"/>
              </a:lnSpc>
              <a:spcAft>
                <a:spcPts val="800"/>
              </a:spcAft>
            </a:pPr>
            <a:r>
              <a:rPr sz="850" b="0">
                <a:solidFill>
                  <a:srgbClr val="1F3326"/>
                </a:solidFill>
                <a:latin typeface="Arial"/>
              </a:rPr>
              <a:t>The balance never resets. Mata earned in February still count in the final draw on 9 April.</a:t>
            </a:r>
          </a:p>
        </p:txBody>
      </p:sp>
      <p:sp>
        <p:nvSpPr>
          <p:cNvPr id="10" name="Rectangle 9"/>
          <p:cNvSpPr/>
          <p:nvPr/>
        </p:nvSpPr>
        <p:spPr>
          <a:xfrm>
            <a:off x="4663440" y="1928446"/>
            <a:ext cx="1892808"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6739128" y="1928446"/>
            <a:ext cx="1892808" cy="155562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F8C84A"/>
                </a:solidFill>
                <a:latin typeface="Arial Black"/>
              </a:rPr>
              <a:t>04</a:t>
            </a:r>
          </a:p>
          <a:p>
            <a:pPr algn="l">
              <a:lnSpc>
                <a:spcPct val="100000"/>
              </a:lnSpc>
              <a:spcAft>
                <a:spcPts val="500"/>
              </a:spcAft>
            </a:pPr>
            <a:r>
              <a:rPr sz="800" b="1">
                <a:solidFill>
                  <a:srgbClr val="6E8A76"/>
                </a:solidFill>
                <a:latin typeface="Arial"/>
              </a:rPr>
              <a:t>UNLOCK</a:t>
            </a:r>
          </a:p>
          <a:p>
            <a:pPr algn="l">
              <a:lnSpc>
                <a:spcPct val="114000"/>
              </a:lnSpc>
              <a:spcAft>
                <a:spcPts val="800"/>
              </a:spcAft>
            </a:pPr>
            <a:r>
              <a:rPr sz="850" b="0">
                <a:solidFill>
                  <a:srgbClr val="1F3326"/>
                </a:solidFill>
                <a:latin typeface="Arial"/>
              </a:rPr>
              <a:t>At 50, 150 and 300 Mata a shopper gets a reward. These rewards need no luck at all.</a:t>
            </a:r>
          </a:p>
        </p:txBody>
      </p:sp>
      <p:sp>
        <p:nvSpPr>
          <p:cNvPr id="12" name="Rectangle 11"/>
          <p:cNvSpPr/>
          <p:nvPr/>
        </p:nvSpPr>
        <p:spPr>
          <a:xfrm>
            <a:off x="6739128" y="1928446"/>
            <a:ext cx="1892808"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One rule protects the sales logic: </a:t>
            </a:r>
            <a:r>
              <a:rPr sz="950" b="0">
                <a:solidFill>
                  <a:srgbClr val="FFFFFF"/>
                </a:solidFill>
                <a:latin typeface="Arial"/>
              </a:rPr>
              <a:t>a shopper needs at least one Saji receipt before Mata turn into chances.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Four ways to earn Mata.</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Each route pays into the same balance. Each one carries its own tracking tag.</a:t>
            </a:r>
          </a:p>
        </p:txBody>
      </p:sp>
      <p:sp>
        <p:nvSpPr>
          <p:cNvPr id="5" name="Rectangle 4"/>
          <p:cNvSpPr/>
          <p:nvPr/>
        </p:nvSpPr>
        <p:spPr>
          <a:xfrm>
            <a:off x="512064" y="1841784"/>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896648"/>
            <a:ext cx="1335024"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ROUTE</a:t>
            </a:r>
          </a:p>
        </p:txBody>
      </p:sp>
      <p:sp>
        <p:nvSpPr>
          <p:cNvPr id="7" name="TextBox 6"/>
          <p:cNvSpPr txBox="1"/>
          <p:nvPr/>
        </p:nvSpPr>
        <p:spPr>
          <a:xfrm>
            <a:off x="2066544" y="1896648"/>
            <a:ext cx="1207007"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IT PAYS</a:t>
            </a:r>
          </a:p>
        </p:txBody>
      </p:sp>
      <p:sp>
        <p:nvSpPr>
          <p:cNvPr id="8" name="TextBox 7"/>
          <p:cNvSpPr txBox="1"/>
          <p:nvPr/>
        </p:nvSpPr>
        <p:spPr>
          <a:xfrm>
            <a:off x="3401568" y="1896648"/>
            <a:ext cx="2084831"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WHERE IT HAPPENS</a:t>
            </a:r>
          </a:p>
        </p:txBody>
      </p:sp>
      <p:sp>
        <p:nvSpPr>
          <p:cNvPr id="9" name="TextBox 8"/>
          <p:cNvSpPr txBox="1"/>
          <p:nvPr/>
        </p:nvSpPr>
        <p:spPr>
          <a:xfrm>
            <a:off x="5614416" y="1896648"/>
            <a:ext cx="2980944"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SAJI GETS BACK</a:t>
            </a:r>
          </a:p>
        </p:txBody>
      </p:sp>
      <p:sp>
        <p:nvSpPr>
          <p:cNvPr id="10" name="Rectangle 9"/>
          <p:cNvSpPr/>
          <p:nvPr/>
        </p:nvSpPr>
        <p:spPr>
          <a:xfrm>
            <a:off x="512064" y="2116104"/>
            <a:ext cx="8119871"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2166396"/>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Saji receipt</a:t>
            </a:r>
          </a:p>
        </p:txBody>
      </p:sp>
      <p:sp>
        <p:nvSpPr>
          <p:cNvPr id="12" name="TextBox 11"/>
          <p:cNvSpPr txBox="1"/>
          <p:nvPr/>
        </p:nvSpPr>
        <p:spPr>
          <a:xfrm>
            <a:off x="2066544" y="2166396"/>
            <a:ext cx="1207007"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RM1 = 1 Mata</a:t>
            </a:r>
          </a:p>
        </p:txBody>
      </p:sp>
      <p:sp>
        <p:nvSpPr>
          <p:cNvPr id="13" name="TextBox 12"/>
          <p:cNvSpPr txBox="1"/>
          <p:nvPr/>
        </p:nvSpPr>
        <p:spPr>
          <a:xfrm>
            <a:off x="3401568" y="2166396"/>
            <a:ext cx="2084831"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Any shop that sells Saji</a:t>
            </a:r>
          </a:p>
        </p:txBody>
      </p:sp>
      <p:sp>
        <p:nvSpPr>
          <p:cNvPr id="14" name="TextBox 13"/>
          <p:cNvSpPr txBox="1"/>
          <p:nvPr/>
        </p:nvSpPr>
        <p:spPr>
          <a:xfrm>
            <a:off x="5614416" y="2166396"/>
            <a:ext cx="2980944"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Basket size and which products people buy</a:t>
            </a:r>
          </a:p>
        </p:txBody>
      </p:sp>
      <p:sp>
        <p:nvSpPr>
          <p:cNvPr id="15" name="Rectangle 14"/>
          <p:cNvSpPr/>
          <p:nvPr/>
        </p:nvSpPr>
        <p:spPr>
          <a:xfrm>
            <a:off x="512064" y="2500152"/>
            <a:ext cx="8119871" cy="3840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550444"/>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Featured product</a:t>
            </a:r>
          </a:p>
        </p:txBody>
      </p:sp>
      <p:sp>
        <p:nvSpPr>
          <p:cNvPr id="17" name="TextBox 16"/>
          <p:cNvSpPr txBox="1"/>
          <p:nvPr/>
        </p:nvSpPr>
        <p:spPr>
          <a:xfrm>
            <a:off x="2066544" y="2550444"/>
            <a:ext cx="1207007"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2x or 3x Mata</a:t>
            </a:r>
          </a:p>
        </p:txBody>
      </p:sp>
      <p:sp>
        <p:nvSpPr>
          <p:cNvPr id="18" name="TextBox 17"/>
          <p:cNvSpPr txBox="1"/>
          <p:nvPr/>
        </p:nvSpPr>
        <p:spPr>
          <a:xfrm>
            <a:off x="3401568" y="2550444"/>
            <a:ext cx="2084831"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Saji picks one product each Monday</a:t>
            </a:r>
          </a:p>
        </p:txBody>
      </p:sp>
      <p:sp>
        <p:nvSpPr>
          <p:cNvPr id="19" name="TextBox 18"/>
          <p:cNvSpPr txBox="1"/>
          <p:nvPr/>
        </p:nvSpPr>
        <p:spPr>
          <a:xfrm>
            <a:off x="5614416" y="2550444"/>
            <a:ext cx="2980944"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Trial of a new product with no price cut</a:t>
            </a:r>
          </a:p>
        </p:txBody>
      </p:sp>
      <p:sp>
        <p:nvSpPr>
          <p:cNvPr id="20" name="Rectangle 19"/>
          <p:cNvSpPr/>
          <p:nvPr/>
        </p:nvSpPr>
        <p:spPr>
          <a:xfrm>
            <a:off x="512064" y="2884200"/>
            <a:ext cx="8119871"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934492"/>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Bonus QR code</a:t>
            </a:r>
          </a:p>
        </p:txBody>
      </p:sp>
      <p:sp>
        <p:nvSpPr>
          <p:cNvPr id="22" name="TextBox 21"/>
          <p:cNvSpPr txBox="1"/>
          <p:nvPr/>
        </p:nvSpPr>
        <p:spPr>
          <a:xfrm>
            <a:off x="2066544" y="2934492"/>
            <a:ext cx="1207007"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to 50 Mata</a:t>
            </a:r>
          </a:p>
        </p:txBody>
      </p:sp>
      <p:sp>
        <p:nvSpPr>
          <p:cNvPr id="23" name="TextBox 22"/>
          <p:cNvSpPr txBox="1"/>
          <p:nvPr/>
        </p:nvSpPr>
        <p:spPr>
          <a:xfrm>
            <a:off x="3401568" y="2934492"/>
            <a:ext cx="2084831"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Roadshows, bazaars, packs, shelves</a:t>
            </a:r>
          </a:p>
        </p:txBody>
      </p:sp>
      <p:sp>
        <p:nvSpPr>
          <p:cNvPr id="24" name="TextBox 23"/>
          <p:cNvSpPr txBox="1"/>
          <p:nvPr/>
        </p:nvSpPr>
        <p:spPr>
          <a:xfrm>
            <a:off x="5614416" y="2934492"/>
            <a:ext cx="2980944"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Footfall turned into a contact we can reach again</a:t>
            </a:r>
          </a:p>
        </p:txBody>
      </p:sp>
      <p:sp>
        <p:nvSpPr>
          <p:cNvPr id="25" name="Rectangle 24"/>
          <p:cNvSpPr/>
          <p:nvPr/>
        </p:nvSpPr>
        <p:spPr>
          <a:xfrm>
            <a:off x="512064" y="3268248"/>
            <a:ext cx="8119871" cy="3840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3318540"/>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Streak and referral</a:t>
            </a:r>
          </a:p>
        </p:txBody>
      </p:sp>
      <p:sp>
        <p:nvSpPr>
          <p:cNvPr id="27" name="TextBox 26"/>
          <p:cNvSpPr txBox="1"/>
          <p:nvPr/>
        </p:nvSpPr>
        <p:spPr>
          <a:xfrm>
            <a:off x="2066544" y="3318540"/>
            <a:ext cx="1207007"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8" name="TextBox 27"/>
          <p:cNvSpPr txBox="1"/>
          <p:nvPr/>
        </p:nvSpPr>
        <p:spPr>
          <a:xfrm>
            <a:off x="3401568" y="3318540"/>
            <a:ext cx="2084831"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The contest page</a:t>
            </a:r>
          </a:p>
        </p:txBody>
      </p:sp>
      <p:sp>
        <p:nvSpPr>
          <p:cNvPr id="29" name="TextBox 28"/>
          <p:cNvSpPr txBox="1"/>
          <p:nvPr/>
        </p:nvSpPr>
        <p:spPr>
          <a:xfrm>
            <a:off x="5614416" y="3318540"/>
            <a:ext cx="2980944"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Repeat visits and free reach</a:t>
            </a:r>
          </a:p>
        </p:txBody>
      </p:sp>
      <p:sp>
        <p:nvSpPr>
          <p:cNvPr id="30" name="Rectangle 2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featured product is the strongest part: </a:t>
            </a:r>
            <a:r>
              <a:rPr sz="950" b="0">
                <a:solidFill>
                  <a:srgbClr val="FFFFFF"/>
                </a:solidFill>
                <a:latin typeface="Arial"/>
              </a:rPr>
              <a:t>Saji can push a different product every week and never cut the price.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What people win.</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prize pool is RM70,000. Milestones and the leaderboard add no cash cost.</a:t>
            </a:r>
          </a:p>
        </p:txBody>
      </p:sp>
      <p:sp>
        <p:nvSpPr>
          <p:cNvPr id="5" name="Rectangle 4"/>
          <p:cNvSpPr/>
          <p:nvPr/>
        </p:nvSpPr>
        <p:spPr>
          <a:xfrm>
            <a:off x="512064" y="1836430"/>
            <a:ext cx="2584704" cy="18262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006838"/>
                </a:solidFill>
                <a:latin typeface="Arial Black"/>
              </a:rPr>
              <a:t>RM56,000</a:t>
            </a:r>
          </a:p>
          <a:p>
            <a:pPr algn="l">
              <a:lnSpc>
                <a:spcPct val="100000"/>
              </a:lnSpc>
              <a:spcAft>
                <a:spcPts val="500"/>
              </a:spcAft>
            </a:pPr>
            <a:r>
              <a:rPr sz="800" b="1">
                <a:solidFill>
                  <a:srgbClr val="6E8A76"/>
                </a:solidFill>
                <a:latin typeface="Arial"/>
              </a:rPr>
              <a:t>40 WEEKLY WINNERS</a:t>
            </a:r>
          </a:p>
          <a:p>
            <a:pPr algn="l">
              <a:lnSpc>
                <a:spcPct val="96000"/>
              </a:lnSpc>
              <a:spcAft>
                <a:spcPts val="700"/>
              </a:spcAft>
            </a:pPr>
            <a:r>
              <a:rPr sz="1250" b="0">
                <a:solidFill>
                  <a:srgbClr val="006838"/>
                </a:solidFill>
                <a:latin typeface="Arial Black"/>
              </a:rPr>
              <a:t>Four a week, ten weeks</a:t>
            </a:r>
          </a:p>
          <a:p>
            <a:pPr algn="l">
              <a:lnSpc>
                <a:spcPct val="114000"/>
              </a:lnSpc>
              <a:spcAft>
                <a:spcPts val="800"/>
              </a:spcAft>
            </a:pPr>
            <a:r>
              <a:rPr sz="850" b="0">
                <a:solidFill>
                  <a:srgbClr val="1F3326"/>
                </a:solidFill>
                <a:latin typeface="Arial"/>
              </a:rPr>
              <a:t>Each winner gets RM500 cash and RM900 of Saji products. More Mata means more chances in the weekly draw.</a:t>
            </a:r>
          </a:p>
        </p:txBody>
      </p:sp>
      <p:sp>
        <p:nvSpPr>
          <p:cNvPr id="6" name="Rectangle 5"/>
          <p:cNvSpPr/>
          <p:nvPr/>
        </p:nvSpPr>
        <p:spPr>
          <a:xfrm>
            <a:off x="512064" y="1836430"/>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3279648" y="1836430"/>
            <a:ext cx="2584704" cy="18262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F8C84A"/>
                </a:solidFill>
                <a:latin typeface="Arial Black"/>
              </a:rPr>
              <a:t>RM14,000</a:t>
            </a:r>
          </a:p>
          <a:p>
            <a:pPr algn="l">
              <a:lnSpc>
                <a:spcPct val="100000"/>
              </a:lnSpc>
              <a:spcAft>
                <a:spcPts val="500"/>
              </a:spcAft>
            </a:pPr>
            <a:r>
              <a:rPr sz="800" b="1">
                <a:solidFill>
                  <a:srgbClr val="6E8A76"/>
                </a:solidFill>
                <a:latin typeface="Arial"/>
              </a:rPr>
              <a:t>ONE GRAND DRAW</a:t>
            </a:r>
          </a:p>
          <a:p>
            <a:pPr algn="l">
              <a:lnSpc>
                <a:spcPct val="96000"/>
              </a:lnSpc>
              <a:spcAft>
                <a:spcPts val="700"/>
              </a:spcAft>
            </a:pPr>
            <a:r>
              <a:rPr sz="1250" b="0">
                <a:solidFill>
                  <a:srgbClr val="006838"/>
                </a:solidFill>
                <a:latin typeface="Arial Black"/>
              </a:rPr>
              <a:t>Drawn on 9 April</a:t>
            </a:r>
          </a:p>
          <a:p>
            <a:pPr algn="l">
              <a:lnSpc>
                <a:spcPct val="114000"/>
              </a:lnSpc>
              <a:spcAft>
                <a:spcPts val="800"/>
              </a:spcAft>
            </a:pPr>
            <a:r>
              <a:rPr sz="850" b="0">
                <a:solidFill>
                  <a:srgbClr val="1F3326"/>
                </a:solidFill>
                <a:latin typeface="Arial"/>
              </a:rPr>
              <a:t>This draw uses every Mata a shopper earned across all ten weeks. Week one spending still counts in April.</a:t>
            </a:r>
          </a:p>
        </p:txBody>
      </p:sp>
      <p:sp>
        <p:nvSpPr>
          <p:cNvPr id="8" name="Rectangle 7"/>
          <p:cNvSpPr/>
          <p:nvPr/>
        </p:nvSpPr>
        <p:spPr>
          <a:xfrm>
            <a:off x="3279648" y="1836430"/>
            <a:ext cx="2584704"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6047232" y="1836430"/>
            <a:ext cx="2584704" cy="18262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94000"/>
              </a:lnSpc>
              <a:spcAft>
                <a:spcPts val="400"/>
              </a:spcAft>
            </a:pPr>
            <a:r>
              <a:rPr sz="2000" b="0">
                <a:solidFill>
                  <a:srgbClr val="E8912C"/>
                </a:solidFill>
                <a:latin typeface="Arial Black"/>
              </a:rPr>
              <a:t>Top 10</a:t>
            </a:r>
          </a:p>
          <a:p>
            <a:pPr algn="l">
              <a:lnSpc>
                <a:spcPct val="100000"/>
              </a:lnSpc>
              <a:spcAft>
                <a:spcPts val="500"/>
              </a:spcAft>
            </a:pPr>
            <a:r>
              <a:rPr sz="800" b="1">
                <a:solidFill>
                  <a:srgbClr val="6E8A76"/>
                </a:solidFill>
                <a:latin typeface="Arial"/>
              </a:rPr>
              <a:t>ONE NATIONAL BOARD</a:t>
            </a:r>
          </a:p>
          <a:p>
            <a:pPr algn="l">
              <a:lnSpc>
                <a:spcPct val="96000"/>
              </a:lnSpc>
              <a:spcAft>
                <a:spcPts val="700"/>
              </a:spcAft>
            </a:pPr>
            <a:r>
              <a:rPr sz="1250" b="0">
                <a:solidFill>
                  <a:srgbClr val="006838"/>
                </a:solidFill>
                <a:latin typeface="Arial Black"/>
              </a:rPr>
              <a:t>Rank and the gap above you</a:t>
            </a:r>
          </a:p>
          <a:p>
            <a:pPr algn="l">
              <a:lnSpc>
                <a:spcPct val="114000"/>
              </a:lnSpc>
              <a:spcAft>
                <a:spcPts val="800"/>
              </a:spcAft>
            </a:pPr>
            <a:r>
              <a:rPr sz="850" b="0">
                <a:solidFill>
                  <a:srgbClr val="1F3326"/>
                </a:solidFill>
                <a:latin typeface="Arial"/>
              </a:rPr>
              <a:t>We show the top five, your own rank, and the Mata gap to the person above you. The top ten at the close win the Campaign Pack.</a:t>
            </a:r>
          </a:p>
        </p:txBody>
      </p:sp>
      <p:sp>
        <p:nvSpPr>
          <p:cNvPr id="10" name="Rectangle 9"/>
          <p:cNvSpPr/>
          <p:nvPr/>
        </p:nvSpPr>
        <p:spPr>
          <a:xfrm>
            <a:off x="6047232" y="1836430"/>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512064" y="3895344"/>
            <a:ext cx="8119872" cy="40233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512064" y="3895344"/>
            <a:ext cx="45720" cy="402336"/>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676656" y="3968496"/>
            <a:ext cx="7827264" cy="274320"/>
          </a:xfrm>
          <a:prstGeom prst="rect">
            <a:avLst/>
          </a:prstGeom>
          <a:noFill/>
        </p:spPr>
        <p:txBody>
          <a:bodyPr wrap="square" lIns="0" rIns="0" tIns="0" bIns="0" anchor="t">
            <a:noAutofit/>
          </a:bodyPr>
          <a:lstStyle/>
          <a:p>
            <a:pPr algn="l">
              <a:lnSpc>
                <a:spcPct val="108000"/>
              </a:lnSpc>
            </a:pPr>
            <a:r>
              <a:rPr sz="850" b="1">
                <a:solidFill>
                  <a:srgbClr val="006838"/>
                </a:solidFill>
                <a:latin typeface="Arial"/>
              </a:rPr>
              <a:t>Milestones: </a:t>
            </a:r>
            <a:r>
              <a:rPr sz="850" b="0">
                <a:solidFill>
                  <a:srgbClr val="1F3326"/>
                </a:solidFill>
                <a:latin typeface="Arial"/>
              </a:rPr>
              <a:t>a shopper gets the Mystery Gift at 50 Mata and the Campaign Pack at 150. At 300 Mata she gets a guaranteed spin. Nobody needs luck to collect these.</a:t>
            </a:r>
          </a:p>
        </p:txBody>
      </p:sp>
      <p:sp>
        <p:nvSpPr>
          <p:cNvPr id="14" name="Rectangle 13"/>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the board is national: </a:t>
            </a:r>
            <a:r>
              <a:rPr sz="950" b="0">
                <a:solidFill>
                  <a:srgbClr val="FFFFFF"/>
                </a:solidFill>
                <a:latin typeface="Arial"/>
              </a:rPr>
              <a:t>Selangor has about 1,176 collectors and Perlis about 38. One state prize for both is unfair and easy to game.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65836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contest works with or without Bulan Bintang.</a:t>
            </a:r>
          </a:p>
        </p:txBody>
      </p:sp>
      <p:sp>
        <p:nvSpPr>
          <p:cNvPr id="4" name="TextBox 3"/>
          <p:cNvSpPr txBox="1"/>
          <p:nvPr/>
        </p:nvSpPr>
        <p:spPr>
          <a:xfrm>
            <a:off x="512064" y="1298448"/>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Saji asked for this on 24 September. Config A ships alone. Config B switches on the day they sign.</a:t>
            </a:r>
          </a:p>
        </p:txBody>
      </p:sp>
      <p:sp>
        <p:nvSpPr>
          <p:cNvPr id="5" name="Rectangle 4"/>
          <p:cNvSpPr/>
          <p:nvPr/>
        </p:nvSpPr>
        <p:spPr>
          <a:xfrm>
            <a:off x="512064" y="2095997"/>
            <a:ext cx="3968496" cy="138430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CONFIG A  ·  WE BUILD THIS ONE</a:t>
            </a:r>
          </a:p>
          <a:p>
            <a:pPr algn="l">
              <a:lnSpc>
                <a:spcPct val="96000"/>
              </a:lnSpc>
              <a:spcAft>
                <a:spcPts val="700"/>
              </a:spcAft>
            </a:pPr>
            <a:r>
              <a:rPr sz="1250" b="0">
                <a:solidFill>
                  <a:srgbClr val="006838"/>
                </a:solidFill>
                <a:latin typeface="Arial Black"/>
              </a:rPr>
              <a:t>Saji only</a:t>
            </a:r>
          </a:p>
          <a:p>
            <a:pPr algn="l">
              <a:lnSpc>
                <a:spcPct val="114000"/>
              </a:lnSpc>
              <a:spcAft>
                <a:spcPts val="800"/>
              </a:spcAft>
            </a:pPr>
            <a:r>
              <a:rPr sz="850" b="0">
                <a:solidFill>
                  <a:srgbClr val="1F3326"/>
                </a:solidFill>
                <a:latin typeface="Arial"/>
              </a:rPr>
              <a:t>RM1 of Saji earns 1 Mata at any shop. Roadshow trucks, bazaars, shelf displays and the 300,000 sample packs carry the codes. Prizes, draws and milestones all run as planned. Nothing waits for a partner signature.</a:t>
            </a:r>
          </a:p>
        </p:txBody>
      </p:sp>
      <p:sp>
        <p:nvSpPr>
          <p:cNvPr id="6" name="Rectangle 5"/>
          <p:cNvSpPr/>
          <p:nvPr/>
        </p:nvSpPr>
        <p:spPr>
          <a:xfrm>
            <a:off x="512064" y="2095997"/>
            <a:ext cx="3968496"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4663440" y="2095997"/>
            <a:ext cx="3968496" cy="138430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CONFIG B  ·  WE SWITCH THIS ON</a:t>
            </a:r>
          </a:p>
          <a:p>
            <a:pPr algn="l">
              <a:lnSpc>
                <a:spcPct val="96000"/>
              </a:lnSpc>
              <a:spcAft>
                <a:spcPts val="700"/>
              </a:spcAft>
            </a:pPr>
            <a:r>
              <a:rPr sz="1250" b="0">
                <a:solidFill>
                  <a:srgbClr val="006838"/>
                </a:solidFill>
                <a:latin typeface="Arial Black"/>
              </a:rPr>
              <a:t>With Bulan Bintang</a:t>
            </a:r>
          </a:p>
          <a:p>
            <a:pPr algn="l">
              <a:lnSpc>
                <a:spcPct val="114000"/>
              </a:lnSpc>
              <a:spcAft>
                <a:spcPts val="800"/>
              </a:spcAft>
            </a:pPr>
            <a:r>
              <a:rPr sz="850" b="0">
                <a:solidFill>
                  <a:srgbClr val="1F3326"/>
                </a:solidFill>
                <a:latin typeface="Arial"/>
              </a:rPr>
              <a:t>A boutique receipt earns bonus Mata up to a cap. Each of the 14 stores carries a 50 Mata code. Their footfall and their 400,000 data records come in as extra reach. The pop-up kiosk becomes a bonus.</a:t>
            </a:r>
          </a:p>
        </p:txBody>
      </p:sp>
      <p:sp>
        <p:nvSpPr>
          <p:cNvPr id="8" name="Rectangle 7"/>
          <p:cNvSpPr/>
          <p:nvPr/>
        </p:nvSpPr>
        <p:spPr>
          <a:xfrm>
            <a:off x="4663440" y="2095997"/>
            <a:ext cx="3968496"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this buys us: </a:t>
            </a:r>
            <a:r>
              <a:rPr sz="950" b="0">
                <a:solidFill>
                  <a:srgbClr val="FFFFFF"/>
                </a:solidFill>
                <a:latin typeface="Arial"/>
              </a:rPr>
              <a:t>we can lock the build in December without knowing their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Online to offline, and back again.</a:t>
            </a:r>
          </a:p>
        </p:txBody>
      </p:sp>
      <p:sp>
        <p:nvSpPr>
          <p:cNvPr id="4" name="TextBox 3"/>
          <p:cNvSpPr txBox="1"/>
          <p:nvPr/>
        </p:nvSpPr>
        <p:spPr>
          <a:xfrm>
            <a:off x="512064" y="1005839"/>
            <a:ext cx="8119872" cy="38608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Ads send people to the page. Codes at every physical stop bring them back. Every code below lands on the same page.</a:t>
            </a:r>
          </a:p>
        </p:txBody>
      </p:sp>
      <p:sp>
        <p:nvSpPr>
          <p:cNvPr id="5" name="Rectangle 4"/>
          <p:cNvSpPr/>
          <p:nvPr/>
        </p:nvSpPr>
        <p:spPr>
          <a:xfrm>
            <a:off x="512064" y="1741535"/>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96399"/>
            <a:ext cx="212140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TOUCHPOINT</a:t>
            </a:r>
          </a:p>
        </p:txBody>
      </p:sp>
      <p:sp>
        <p:nvSpPr>
          <p:cNvPr id="7" name="TextBox 6"/>
          <p:cNvSpPr txBox="1"/>
          <p:nvPr/>
        </p:nvSpPr>
        <p:spPr>
          <a:xfrm>
            <a:off x="2852928" y="1796399"/>
            <a:ext cx="157276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IT PAYS</a:t>
            </a:r>
          </a:p>
        </p:txBody>
      </p:sp>
      <p:sp>
        <p:nvSpPr>
          <p:cNvPr id="8" name="TextBox 7"/>
          <p:cNvSpPr txBox="1"/>
          <p:nvPr/>
        </p:nvSpPr>
        <p:spPr>
          <a:xfrm>
            <a:off x="4553712" y="1796399"/>
            <a:ext cx="713232"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TAG</a:t>
            </a:r>
          </a:p>
        </p:txBody>
      </p:sp>
      <p:sp>
        <p:nvSpPr>
          <p:cNvPr id="9" name="TextBox 8"/>
          <p:cNvSpPr txBox="1"/>
          <p:nvPr/>
        </p:nvSpPr>
        <p:spPr>
          <a:xfrm>
            <a:off x="5394959" y="1796399"/>
            <a:ext cx="3200400"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HOW MUCH WE HAVE IN 2027</a:t>
            </a:r>
          </a:p>
        </p:txBody>
      </p:sp>
      <p:sp>
        <p:nvSpPr>
          <p:cNvPr id="10" name="Rectangle 9"/>
          <p:cNvSpPr/>
          <p:nvPr/>
        </p:nvSpPr>
        <p:spPr>
          <a:xfrm>
            <a:off x="512064" y="2015855"/>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2066147"/>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Saji receipt, any shop</a:t>
            </a:r>
          </a:p>
        </p:txBody>
      </p:sp>
      <p:sp>
        <p:nvSpPr>
          <p:cNvPr id="12" name="TextBox 11"/>
          <p:cNvSpPr txBox="1"/>
          <p:nvPr/>
        </p:nvSpPr>
        <p:spPr>
          <a:xfrm>
            <a:off x="2852928" y="2066147"/>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RM1 = 1 Mata</a:t>
            </a:r>
          </a:p>
        </p:txBody>
      </p:sp>
      <p:sp>
        <p:nvSpPr>
          <p:cNvPr id="13" name="TextBox 12"/>
          <p:cNvSpPr txBox="1"/>
          <p:nvPr/>
        </p:nvSpPr>
        <p:spPr>
          <a:xfrm>
            <a:off x="4553712" y="2066147"/>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receipt</a:t>
            </a:r>
          </a:p>
        </p:txBody>
      </p:sp>
      <p:sp>
        <p:nvSpPr>
          <p:cNvPr id="14" name="TextBox 13"/>
          <p:cNvSpPr txBox="1"/>
          <p:nvPr/>
        </p:nvSpPr>
        <p:spPr>
          <a:xfrm>
            <a:off x="5394959" y="2066147"/>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Every shop that sells Saji</a:t>
            </a:r>
          </a:p>
        </p:txBody>
      </p:sp>
      <p:sp>
        <p:nvSpPr>
          <p:cNvPr id="15" name="Rectangle 14"/>
          <p:cNvSpPr/>
          <p:nvPr/>
        </p:nvSpPr>
        <p:spPr>
          <a:xfrm>
            <a:off x="512064" y="2285603"/>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335895"/>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Roadshow truck QR</a:t>
            </a:r>
          </a:p>
        </p:txBody>
      </p:sp>
      <p:sp>
        <p:nvSpPr>
          <p:cNvPr id="17" name="TextBox 16"/>
          <p:cNvSpPr txBox="1"/>
          <p:nvPr/>
        </p:nvSpPr>
        <p:spPr>
          <a:xfrm>
            <a:off x="2852928" y="2335895"/>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 and one spin</a:t>
            </a:r>
          </a:p>
        </p:txBody>
      </p:sp>
      <p:sp>
        <p:nvSpPr>
          <p:cNvPr id="18" name="TextBox 17"/>
          <p:cNvSpPr txBox="1"/>
          <p:nvPr/>
        </p:nvSpPr>
        <p:spPr>
          <a:xfrm>
            <a:off x="4553712" y="2335895"/>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roadshow</a:t>
            </a:r>
          </a:p>
        </p:txBody>
      </p:sp>
      <p:sp>
        <p:nvSpPr>
          <p:cNvPr id="19" name="TextBox 18"/>
          <p:cNvSpPr txBox="1"/>
          <p:nvPr/>
        </p:nvSpPr>
        <p:spPr>
          <a:xfrm>
            <a:off x="5394959" y="2335895"/>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96 roadshow days at 32 shops</a:t>
            </a:r>
          </a:p>
        </p:txBody>
      </p:sp>
      <p:sp>
        <p:nvSpPr>
          <p:cNvPr id="20" name="Rectangle 19"/>
          <p:cNvSpPr/>
          <p:nvPr/>
        </p:nvSpPr>
        <p:spPr>
          <a:xfrm>
            <a:off x="512064" y="2555351"/>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605643"/>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Shelf display QR</a:t>
            </a:r>
          </a:p>
        </p:txBody>
      </p:sp>
      <p:sp>
        <p:nvSpPr>
          <p:cNvPr id="22" name="TextBox 21"/>
          <p:cNvSpPr txBox="1"/>
          <p:nvPr/>
        </p:nvSpPr>
        <p:spPr>
          <a:xfrm>
            <a:off x="2852928" y="2605643"/>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3" name="TextBox 22"/>
          <p:cNvSpPr txBox="1"/>
          <p:nvPr/>
        </p:nvSpPr>
        <p:spPr>
          <a:xfrm>
            <a:off x="4553712" y="2605643"/>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posm</a:t>
            </a:r>
          </a:p>
        </p:txBody>
      </p:sp>
      <p:sp>
        <p:nvSpPr>
          <p:cNvPr id="24" name="TextBox 23"/>
          <p:cNvSpPr txBox="1"/>
          <p:nvPr/>
        </p:nvSpPr>
        <p:spPr>
          <a:xfrm>
            <a:off x="5394959" y="2605643"/>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320 sampling days at 120 shops</a:t>
            </a:r>
          </a:p>
        </p:txBody>
      </p:sp>
      <p:sp>
        <p:nvSpPr>
          <p:cNvPr id="25" name="Rectangle 24"/>
          <p:cNvSpPr/>
          <p:nvPr/>
        </p:nvSpPr>
        <p:spPr>
          <a:xfrm>
            <a:off x="512064" y="2825099"/>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875391"/>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Sample pack code</a:t>
            </a:r>
          </a:p>
        </p:txBody>
      </p:sp>
      <p:sp>
        <p:nvSpPr>
          <p:cNvPr id="27" name="TextBox 26"/>
          <p:cNvSpPr txBox="1"/>
          <p:nvPr/>
        </p:nvSpPr>
        <p:spPr>
          <a:xfrm>
            <a:off x="2852928" y="2875391"/>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8" name="TextBox 27"/>
          <p:cNvSpPr txBox="1"/>
          <p:nvPr/>
        </p:nvSpPr>
        <p:spPr>
          <a:xfrm>
            <a:off x="4553712" y="2875391"/>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sampling</a:t>
            </a:r>
          </a:p>
        </p:txBody>
      </p:sp>
      <p:sp>
        <p:nvSpPr>
          <p:cNvPr id="29" name="TextBox 28"/>
          <p:cNvSpPr txBox="1"/>
          <p:nvPr/>
        </p:nvSpPr>
        <p:spPr>
          <a:xfrm>
            <a:off x="5394959" y="2875391"/>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300,000 packs</a:t>
            </a:r>
          </a:p>
        </p:txBody>
      </p:sp>
      <p:sp>
        <p:nvSpPr>
          <p:cNvPr id="30" name="Rectangle 29"/>
          <p:cNvSpPr/>
          <p:nvPr/>
        </p:nvSpPr>
        <p:spPr>
          <a:xfrm>
            <a:off x="512064" y="3094847"/>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03504" y="3145139"/>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Campaign pack code</a:t>
            </a:r>
          </a:p>
        </p:txBody>
      </p:sp>
      <p:sp>
        <p:nvSpPr>
          <p:cNvPr id="32" name="TextBox 31"/>
          <p:cNvSpPr txBox="1"/>
          <p:nvPr/>
        </p:nvSpPr>
        <p:spPr>
          <a:xfrm>
            <a:off x="2852928" y="3145139"/>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a:t>
            </a:r>
          </a:p>
        </p:txBody>
      </p:sp>
      <p:sp>
        <p:nvSpPr>
          <p:cNvPr id="33" name="TextBox 32"/>
          <p:cNvSpPr txBox="1"/>
          <p:nvPr/>
        </p:nvSpPr>
        <p:spPr>
          <a:xfrm>
            <a:off x="4553712" y="3145139"/>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pack</a:t>
            </a:r>
          </a:p>
        </p:txBody>
      </p:sp>
      <p:sp>
        <p:nvSpPr>
          <p:cNvPr id="34" name="TextBox 33"/>
          <p:cNvSpPr txBox="1"/>
          <p:nvPr/>
        </p:nvSpPr>
        <p:spPr>
          <a:xfrm>
            <a:off x="5394959" y="3145139"/>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Limited run, volume to confirm</a:t>
            </a:r>
          </a:p>
        </p:txBody>
      </p:sp>
      <p:sp>
        <p:nvSpPr>
          <p:cNvPr id="35" name="Rectangle 34"/>
          <p:cNvSpPr/>
          <p:nvPr/>
        </p:nvSpPr>
        <p:spPr>
          <a:xfrm>
            <a:off x="512064" y="3364595"/>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414887"/>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Weekly WhatsApp code</a:t>
            </a:r>
          </a:p>
        </p:txBody>
      </p:sp>
      <p:sp>
        <p:nvSpPr>
          <p:cNvPr id="37" name="TextBox 36"/>
          <p:cNvSpPr txBox="1"/>
          <p:nvPr/>
        </p:nvSpPr>
        <p:spPr>
          <a:xfrm>
            <a:off x="2852928" y="3414887"/>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38" name="TextBox 37"/>
          <p:cNvSpPr txBox="1"/>
          <p:nvPr/>
        </p:nvSpPr>
        <p:spPr>
          <a:xfrm>
            <a:off x="4553712" y="3414887"/>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crm</a:t>
            </a:r>
          </a:p>
        </p:txBody>
      </p:sp>
      <p:sp>
        <p:nvSpPr>
          <p:cNvPr id="39" name="TextBox 38"/>
          <p:cNvSpPr txBox="1"/>
          <p:nvPr/>
        </p:nvSpPr>
        <p:spPr>
          <a:xfrm>
            <a:off x="5394959" y="3414887"/>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Everyone who registered</a:t>
            </a:r>
          </a:p>
        </p:txBody>
      </p:sp>
      <p:sp>
        <p:nvSpPr>
          <p:cNvPr id="40" name="Rectangle 39"/>
          <p:cNvSpPr/>
          <p:nvPr/>
        </p:nvSpPr>
        <p:spPr>
          <a:xfrm>
            <a:off x="512064" y="3634343"/>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603504" y="3684635"/>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Bulan Bintang store QR</a:t>
            </a:r>
          </a:p>
        </p:txBody>
      </p:sp>
      <p:sp>
        <p:nvSpPr>
          <p:cNvPr id="42" name="TextBox 41"/>
          <p:cNvSpPr txBox="1"/>
          <p:nvPr/>
        </p:nvSpPr>
        <p:spPr>
          <a:xfrm>
            <a:off x="2852928" y="3684635"/>
            <a:ext cx="157276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a:t>
            </a:r>
          </a:p>
        </p:txBody>
      </p:sp>
      <p:sp>
        <p:nvSpPr>
          <p:cNvPr id="43" name="TextBox 42"/>
          <p:cNvSpPr txBox="1"/>
          <p:nvPr/>
        </p:nvSpPr>
        <p:spPr>
          <a:xfrm>
            <a:off x="4553712" y="3684635"/>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partner</a:t>
            </a:r>
          </a:p>
        </p:txBody>
      </p:sp>
      <p:sp>
        <p:nvSpPr>
          <p:cNvPr id="44" name="TextBox 43"/>
          <p:cNvSpPr txBox="1"/>
          <p:nvPr/>
        </p:nvSpPr>
        <p:spPr>
          <a:xfrm>
            <a:off x="5394959" y="3684635"/>
            <a:ext cx="320040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14 stores, Config B only</a:t>
            </a:r>
          </a:p>
        </p:txBody>
      </p:sp>
      <p:sp>
        <p:nvSpPr>
          <p:cNvPr id="45" name="Rectangle 4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2026 was missing: </a:t>
            </a:r>
            <a:r>
              <a:rPr sz="950" b="0">
                <a:solidFill>
                  <a:srgbClr val="FFFFFF"/>
                </a:solidFill>
                <a:latin typeface="Arial"/>
              </a:rPr>
              <a:t>entries came by WhatsApp, so Meta and TikTok never saw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Ten weeks with one shopper.</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Puan Noraini is 38 and lives in Sungai Petani. Every number below follows the rules on slide 4.</a:t>
            </a:r>
          </a:p>
        </p:txBody>
      </p:sp>
      <p:sp>
        <p:nvSpPr>
          <p:cNvPr id="5" name="Rectangle 4"/>
          <p:cNvSpPr/>
          <p:nvPr/>
        </p:nvSpPr>
        <p:spPr>
          <a:xfrm>
            <a:off x="512064" y="1655246"/>
            <a:ext cx="7626096"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10110"/>
            <a:ext cx="43891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WEEK</a:t>
            </a:r>
          </a:p>
        </p:txBody>
      </p:sp>
      <p:sp>
        <p:nvSpPr>
          <p:cNvPr id="7" name="TextBox 6"/>
          <p:cNvSpPr txBox="1"/>
          <p:nvPr/>
        </p:nvSpPr>
        <p:spPr>
          <a:xfrm>
            <a:off x="1170432" y="1710110"/>
            <a:ext cx="318211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WHAT SHE DOES</a:t>
            </a:r>
          </a:p>
        </p:txBody>
      </p:sp>
      <p:sp>
        <p:nvSpPr>
          <p:cNvPr id="8" name="TextBox 7"/>
          <p:cNvSpPr txBox="1"/>
          <p:nvPr/>
        </p:nvSpPr>
        <p:spPr>
          <a:xfrm>
            <a:off x="4480560" y="1710110"/>
            <a:ext cx="53035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MATA</a:t>
            </a:r>
          </a:p>
        </p:txBody>
      </p:sp>
      <p:sp>
        <p:nvSpPr>
          <p:cNvPr id="9" name="TextBox 8"/>
          <p:cNvSpPr txBox="1"/>
          <p:nvPr/>
        </p:nvSpPr>
        <p:spPr>
          <a:xfrm>
            <a:off x="5138928" y="1710110"/>
            <a:ext cx="71323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BALANCE</a:t>
            </a:r>
          </a:p>
        </p:txBody>
      </p:sp>
      <p:sp>
        <p:nvSpPr>
          <p:cNvPr id="10" name="TextBox 9"/>
          <p:cNvSpPr txBox="1"/>
          <p:nvPr/>
        </p:nvSpPr>
        <p:spPr>
          <a:xfrm>
            <a:off x="5980176" y="1710110"/>
            <a:ext cx="212140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WHAT SAJI LEARNS</a:t>
            </a:r>
          </a:p>
        </p:txBody>
      </p:sp>
      <p:sp>
        <p:nvSpPr>
          <p:cNvPr id="11" name="Rectangle 10"/>
          <p:cNvSpPr/>
          <p:nvPr/>
        </p:nvSpPr>
        <p:spPr>
          <a:xfrm>
            <a:off x="512064" y="1929566"/>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03504" y="1979858"/>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1</a:t>
            </a:r>
          </a:p>
        </p:txBody>
      </p:sp>
      <p:sp>
        <p:nvSpPr>
          <p:cNvPr id="13" name="TextBox 12"/>
          <p:cNvSpPr txBox="1"/>
          <p:nvPr/>
        </p:nvSpPr>
        <p:spPr>
          <a:xfrm>
            <a:off x="1170432" y="1979858"/>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Taps a TikTok ad and registers in 40 seconds</a:t>
            </a:r>
          </a:p>
        </p:txBody>
      </p:sp>
      <p:sp>
        <p:nvSpPr>
          <p:cNvPr id="14" name="TextBox 13"/>
          <p:cNvSpPr txBox="1"/>
          <p:nvPr/>
        </p:nvSpPr>
        <p:spPr>
          <a:xfrm>
            <a:off x="4480560" y="1979858"/>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15" name="TextBox 14"/>
          <p:cNvSpPr txBox="1"/>
          <p:nvPr/>
        </p:nvSpPr>
        <p:spPr>
          <a:xfrm>
            <a:off x="5138928" y="1979858"/>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16" name="TextBox 15"/>
          <p:cNvSpPr txBox="1"/>
          <p:nvPr/>
        </p:nvSpPr>
        <p:spPr>
          <a:xfrm>
            <a:off x="5980176" y="1979858"/>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Name, phone, Kedah</a:t>
            </a:r>
          </a:p>
        </p:txBody>
      </p:sp>
      <p:sp>
        <p:nvSpPr>
          <p:cNvPr id="17" name="Rectangle 16"/>
          <p:cNvSpPr/>
          <p:nvPr/>
        </p:nvSpPr>
        <p:spPr>
          <a:xfrm>
            <a:off x="512064" y="2190170"/>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03504" y="2240462"/>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2</a:t>
            </a:r>
          </a:p>
        </p:txBody>
      </p:sp>
      <p:sp>
        <p:nvSpPr>
          <p:cNvPr id="19" name="TextBox 18"/>
          <p:cNvSpPr txBox="1"/>
          <p:nvPr/>
        </p:nvSpPr>
        <p:spPr>
          <a:xfrm>
            <a:off x="1170432" y="2240462"/>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Buys RM38 of Saji and uploads the receipt</a:t>
            </a:r>
          </a:p>
        </p:txBody>
      </p:sp>
      <p:sp>
        <p:nvSpPr>
          <p:cNvPr id="20" name="TextBox 19"/>
          <p:cNvSpPr txBox="1"/>
          <p:nvPr/>
        </p:nvSpPr>
        <p:spPr>
          <a:xfrm>
            <a:off x="4480560" y="2240462"/>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+38</a:t>
            </a:r>
          </a:p>
        </p:txBody>
      </p:sp>
      <p:sp>
        <p:nvSpPr>
          <p:cNvPr id="21" name="TextBox 20"/>
          <p:cNvSpPr txBox="1"/>
          <p:nvPr/>
        </p:nvSpPr>
        <p:spPr>
          <a:xfrm>
            <a:off x="5138928" y="2240462"/>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38</a:t>
            </a:r>
          </a:p>
        </p:txBody>
      </p:sp>
      <p:sp>
        <p:nvSpPr>
          <p:cNvPr id="22" name="TextBox 21"/>
          <p:cNvSpPr txBox="1"/>
          <p:nvPr/>
        </p:nvSpPr>
        <p:spPr>
          <a:xfrm>
            <a:off x="5980176" y="2240462"/>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Her first basket size</a:t>
            </a:r>
          </a:p>
        </p:txBody>
      </p:sp>
      <p:sp>
        <p:nvSpPr>
          <p:cNvPr id="23" name="Rectangle 22"/>
          <p:cNvSpPr/>
          <p:nvPr/>
        </p:nvSpPr>
        <p:spPr>
          <a:xfrm>
            <a:off x="512064" y="2450774"/>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03504" y="2501066"/>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3</a:t>
            </a:r>
          </a:p>
        </p:txBody>
      </p:sp>
      <p:sp>
        <p:nvSpPr>
          <p:cNvPr id="25" name="TextBox 24"/>
          <p:cNvSpPr txBox="1"/>
          <p:nvPr/>
        </p:nvSpPr>
        <p:spPr>
          <a:xfrm>
            <a:off x="1170432" y="2501066"/>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Buys the new Ketupat product on a 2x week</a:t>
            </a:r>
          </a:p>
        </p:txBody>
      </p:sp>
      <p:sp>
        <p:nvSpPr>
          <p:cNvPr id="26" name="TextBox 25"/>
          <p:cNvSpPr txBox="1"/>
          <p:nvPr/>
        </p:nvSpPr>
        <p:spPr>
          <a:xfrm>
            <a:off x="4480560" y="2501066"/>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+40</a:t>
            </a:r>
          </a:p>
        </p:txBody>
      </p:sp>
      <p:sp>
        <p:nvSpPr>
          <p:cNvPr id="27" name="TextBox 26"/>
          <p:cNvSpPr txBox="1"/>
          <p:nvPr/>
        </p:nvSpPr>
        <p:spPr>
          <a:xfrm>
            <a:off x="5138928" y="2501066"/>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78</a:t>
            </a:r>
          </a:p>
        </p:txBody>
      </p:sp>
      <p:sp>
        <p:nvSpPr>
          <p:cNvPr id="28" name="TextBox 27"/>
          <p:cNvSpPr txBox="1"/>
          <p:nvPr/>
        </p:nvSpPr>
        <p:spPr>
          <a:xfrm>
            <a:off x="5980176" y="2501066"/>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She tried a new product</a:t>
            </a:r>
          </a:p>
        </p:txBody>
      </p:sp>
      <p:sp>
        <p:nvSpPr>
          <p:cNvPr id="29" name="Rectangle 28"/>
          <p:cNvSpPr/>
          <p:nvPr/>
        </p:nvSpPr>
        <p:spPr>
          <a:xfrm>
            <a:off x="512064" y="2711378"/>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2761670"/>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4</a:t>
            </a:r>
          </a:p>
        </p:txBody>
      </p:sp>
      <p:sp>
        <p:nvSpPr>
          <p:cNvPr id="31" name="TextBox 30"/>
          <p:cNvSpPr txBox="1"/>
          <p:nvPr/>
        </p:nvSpPr>
        <p:spPr>
          <a:xfrm>
            <a:off x="1170432" y="2761670"/>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Scans the truck at the bazaar and wins an apron</a:t>
            </a:r>
          </a:p>
        </p:txBody>
      </p:sp>
      <p:sp>
        <p:nvSpPr>
          <p:cNvPr id="32" name="TextBox 31"/>
          <p:cNvSpPr txBox="1"/>
          <p:nvPr/>
        </p:nvSpPr>
        <p:spPr>
          <a:xfrm>
            <a:off x="4480560" y="2761670"/>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+50</a:t>
            </a:r>
          </a:p>
        </p:txBody>
      </p:sp>
      <p:sp>
        <p:nvSpPr>
          <p:cNvPr id="33" name="TextBox 32"/>
          <p:cNvSpPr txBox="1"/>
          <p:nvPr/>
        </p:nvSpPr>
        <p:spPr>
          <a:xfrm>
            <a:off x="5138928" y="2761670"/>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128</a:t>
            </a:r>
          </a:p>
        </p:txBody>
      </p:sp>
      <p:sp>
        <p:nvSpPr>
          <p:cNvPr id="34" name="TextBox 33"/>
          <p:cNvSpPr txBox="1"/>
          <p:nvPr/>
        </p:nvSpPr>
        <p:spPr>
          <a:xfrm>
            <a:off x="5980176" y="2761670"/>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The roadshow worked</a:t>
            </a:r>
          </a:p>
        </p:txBody>
      </p:sp>
      <p:sp>
        <p:nvSpPr>
          <p:cNvPr id="35" name="Rectangle 34"/>
          <p:cNvSpPr/>
          <p:nvPr/>
        </p:nvSpPr>
        <p:spPr>
          <a:xfrm>
            <a:off x="512064" y="2971982"/>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022274"/>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5</a:t>
            </a:r>
          </a:p>
        </p:txBody>
      </p:sp>
      <p:sp>
        <p:nvSpPr>
          <p:cNvPr id="37" name="TextBox 36"/>
          <p:cNvSpPr txBox="1"/>
          <p:nvPr/>
        </p:nvSpPr>
        <p:spPr>
          <a:xfrm>
            <a:off x="1170432" y="3022274"/>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Enters the weekly code from her WhatsApp</a:t>
            </a:r>
          </a:p>
        </p:txBody>
      </p:sp>
      <p:sp>
        <p:nvSpPr>
          <p:cNvPr id="38" name="TextBox 37"/>
          <p:cNvSpPr txBox="1"/>
          <p:nvPr/>
        </p:nvSpPr>
        <p:spPr>
          <a:xfrm>
            <a:off x="4480560" y="3022274"/>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+25</a:t>
            </a:r>
          </a:p>
        </p:txBody>
      </p:sp>
      <p:sp>
        <p:nvSpPr>
          <p:cNvPr id="39" name="TextBox 38"/>
          <p:cNvSpPr txBox="1"/>
          <p:nvPr/>
        </p:nvSpPr>
        <p:spPr>
          <a:xfrm>
            <a:off x="5138928" y="3022274"/>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153</a:t>
            </a:r>
          </a:p>
        </p:txBody>
      </p:sp>
      <p:sp>
        <p:nvSpPr>
          <p:cNvPr id="40" name="TextBox 39"/>
          <p:cNvSpPr txBox="1"/>
          <p:nvPr/>
        </p:nvSpPr>
        <p:spPr>
          <a:xfrm>
            <a:off x="5980176" y="3022274"/>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We reach her for free</a:t>
            </a:r>
          </a:p>
        </p:txBody>
      </p:sp>
      <p:sp>
        <p:nvSpPr>
          <p:cNvPr id="41" name="Rectangle 40"/>
          <p:cNvSpPr/>
          <p:nvPr/>
        </p:nvSpPr>
        <p:spPr>
          <a:xfrm>
            <a:off x="512064" y="3232586"/>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03504" y="3282878"/>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6</a:t>
            </a:r>
          </a:p>
        </p:txBody>
      </p:sp>
      <p:sp>
        <p:nvSpPr>
          <p:cNvPr id="43" name="TextBox 42"/>
          <p:cNvSpPr txBox="1"/>
          <p:nvPr/>
        </p:nvSpPr>
        <p:spPr>
          <a:xfrm>
            <a:off x="1170432" y="3282878"/>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Sees the brand film as a retargeted view</a:t>
            </a:r>
          </a:p>
        </p:txBody>
      </p:sp>
      <p:sp>
        <p:nvSpPr>
          <p:cNvPr id="44" name="TextBox 43"/>
          <p:cNvSpPr txBox="1"/>
          <p:nvPr/>
        </p:nvSpPr>
        <p:spPr>
          <a:xfrm>
            <a:off x="4480560" y="3282878"/>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45" name="TextBox 44"/>
          <p:cNvSpPr txBox="1"/>
          <p:nvPr/>
        </p:nvSpPr>
        <p:spPr>
          <a:xfrm>
            <a:off x="5138928" y="3282878"/>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153</a:t>
            </a:r>
          </a:p>
        </p:txBody>
      </p:sp>
      <p:sp>
        <p:nvSpPr>
          <p:cNvPr id="46" name="TextBox 45"/>
          <p:cNvSpPr txBox="1"/>
          <p:nvPr/>
        </p:nvSpPr>
        <p:spPr>
          <a:xfrm>
            <a:off x="5980176" y="3282878"/>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Cheaper film delivery</a:t>
            </a:r>
          </a:p>
        </p:txBody>
      </p:sp>
      <p:sp>
        <p:nvSpPr>
          <p:cNvPr id="47" name="Rectangle 46"/>
          <p:cNvSpPr/>
          <p:nvPr/>
        </p:nvSpPr>
        <p:spPr>
          <a:xfrm>
            <a:off x="512064" y="3493190"/>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603504" y="3543482"/>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8</a:t>
            </a:r>
          </a:p>
        </p:txBody>
      </p:sp>
      <p:sp>
        <p:nvSpPr>
          <p:cNvPr id="49" name="TextBox 48"/>
          <p:cNvSpPr txBox="1"/>
          <p:nvPr/>
        </p:nvSpPr>
        <p:spPr>
          <a:xfrm>
            <a:off x="1170432" y="3543482"/>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Buys RM60 of Raya food with a 2x product</a:t>
            </a:r>
          </a:p>
        </p:txBody>
      </p:sp>
      <p:sp>
        <p:nvSpPr>
          <p:cNvPr id="50" name="TextBox 49"/>
          <p:cNvSpPr txBox="1"/>
          <p:nvPr/>
        </p:nvSpPr>
        <p:spPr>
          <a:xfrm>
            <a:off x="4480560" y="3543482"/>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+120</a:t>
            </a:r>
          </a:p>
        </p:txBody>
      </p:sp>
      <p:sp>
        <p:nvSpPr>
          <p:cNvPr id="51" name="TextBox 50"/>
          <p:cNvSpPr txBox="1"/>
          <p:nvPr/>
        </p:nvSpPr>
        <p:spPr>
          <a:xfrm>
            <a:off x="5138928" y="3543482"/>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273</a:t>
            </a:r>
          </a:p>
        </p:txBody>
      </p:sp>
      <p:sp>
        <p:nvSpPr>
          <p:cNvPr id="52" name="TextBox 51"/>
          <p:cNvSpPr txBox="1"/>
          <p:nvPr/>
        </p:nvSpPr>
        <p:spPr>
          <a:xfrm>
            <a:off x="5980176" y="3543482"/>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A second new product</a:t>
            </a:r>
          </a:p>
        </p:txBody>
      </p:sp>
      <p:sp>
        <p:nvSpPr>
          <p:cNvPr id="53" name="Rectangle 52"/>
          <p:cNvSpPr/>
          <p:nvPr/>
        </p:nvSpPr>
        <p:spPr>
          <a:xfrm>
            <a:off x="512064" y="3753794"/>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603504" y="3804086"/>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10</a:t>
            </a:r>
          </a:p>
        </p:txBody>
      </p:sp>
      <p:sp>
        <p:nvSpPr>
          <p:cNvPr id="55" name="TextBox 54"/>
          <p:cNvSpPr txBox="1"/>
          <p:nvPr/>
        </p:nvSpPr>
        <p:spPr>
          <a:xfrm>
            <a:off x="1170432" y="3804086"/>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Buys RM55 more before the contest closes</a:t>
            </a:r>
          </a:p>
        </p:txBody>
      </p:sp>
      <p:sp>
        <p:nvSpPr>
          <p:cNvPr id="56" name="TextBox 55"/>
          <p:cNvSpPr txBox="1"/>
          <p:nvPr/>
        </p:nvSpPr>
        <p:spPr>
          <a:xfrm>
            <a:off x="4480560" y="3804086"/>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+55</a:t>
            </a:r>
          </a:p>
        </p:txBody>
      </p:sp>
      <p:sp>
        <p:nvSpPr>
          <p:cNvPr id="57" name="TextBox 56"/>
          <p:cNvSpPr txBox="1"/>
          <p:nvPr/>
        </p:nvSpPr>
        <p:spPr>
          <a:xfrm>
            <a:off x="5138928" y="3804086"/>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328</a:t>
            </a:r>
          </a:p>
        </p:txBody>
      </p:sp>
      <p:sp>
        <p:nvSpPr>
          <p:cNvPr id="58" name="TextBox 57"/>
          <p:cNvSpPr txBox="1"/>
          <p:nvPr/>
        </p:nvSpPr>
        <p:spPr>
          <a:xfrm>
            <a:off x="5980176" y="3804086"/>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Her full season profile</a:t>
            </a:r>
          </a:p>
        </p:txBody>
      </p:sp>
      <p:sp>
        <p:nvSpPr>
          <p:cNvPr id="59" name="Rectangle 58"/>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TextBox 59"/>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At the close: </a:t>
            </a:r>
            <a:r>
              <a:rPr sz="950" b="0">
                <a:solidFill>
                  <a:srgbClr val="FFFFFF"/>
                </a:solidFill>
                <a:latin typeface="Arial"/>
              </a:rPr>
              <a:t>13 chances, RM173 of tracked spend, four receipts and two new products tried.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landing page.</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rev1 page was a form people filled once. It now holds a balance people come back to.</a:t>
            </a:r>
          </a:p>
        </p:txBody>
      </p:sp>
      <p:sp>
        <p:nvSpPr>
          <p:cNvPr id="5" name="Rectangle 4"/>
          <p:cNvSpPr/>
          <p:nvPr/>
        </p:nvSpPr>
        <p:spPr>
          <a:xfrm>
            <a:off x="512064" y="1867778"/>
            <a:ext cx="1892808" cy="173405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AT THE FRONT DOOR</a:t>
            </a:r>
          </a:p>
          <a:p>
            <a:pPr algn="l">
              <a:lnSpc>
                <a:spcPct val="96000"/>
              </a:lnSpc>
              <a:spcAft>
                <a:spcPts val="700"/>
              </a:spcAft>
            </a:pPr>
            <a:r>
              <a:rPr sz="1050" b="0">
                <a:solidFill>
                  <a:srgbClr val="006838"/>
                </a:solidFill>
                <a:latin typeface="Arial Black"/>
              </a:rPr>
              <a:t>Registration is free</a:t>
            </a:r>
          </a:p>
          <a:p>
            <a:pPr algn="l">
              <a:lnSpc>
                <a:spcPct val="114000"/>
              </a:lnSpc>
              <a:spcAft>
                <a:spcPts val="800"/>
              </a:spcAft>
            </a:pPr>
            <a:r>
              <a:rPr sz="850" b="0">
                <a:solidFill>
                  <a:srgbClr val="1F3326"/>
                </a:solidFill>
                <a:latin typeface="Arial"/>
              </a:rPr>
              <a:t>A shopper gives three fields and gets a Mata balance. She needs no purchase and no app. Her receipt can come weeks later.</a:t>
            </a:r>
          </a:p>
        </p:txBody>
      </p:sp>
      <p:sp>
        <p:nvSpPr>
          <p:cNvPr id="6" name="Rectangle 5"/>
          <p:cNvSpPr/>
          <p:nvPr/>
        </p:nvSpPr>
        <p:spPr>
          <a:xfrm>
            <a:off x="512064" y="1867778"/>
            <a:ext cx="1892808"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ectangle 6"/>
          <p:cNvSpPr/>
          <p:nvPr/>
        </p:nvSpPr>
        <p:spPr>
          <a:xfrm>
            <a:off x="2587752" y="1867778"/>
            <a:ext cx="1892808" cy="173405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ON EVERY RETURN VISIT</a:t>
            </a:r>
          </a:p>
          <a:p>
            <a:pPr algn="l">
              <a:lnSpc>
                <a:spcPct val="96000"/>
              </a:lnSpc>
              <a:spcAft>
                <a:spcPts val="700"/>
              </a:spcAft>
            </a:pPr>
            <a:r>
              <a:rPr sz="1050" b="0">
                <a:solidFill>
                  <a:srgbClr val="006838"/>
                </a:solidFill>
                <a:latin typeface="Arial Black"/>
              </a:rPr>
              <a:t>The balance leads</a:t>
            </a:r>
          </a:p>
          <a:p>
            <a:pPr algn="l">
              <a:lnSpc>
                <a:spcPct val="114000"/>
              </a:lnSpc>
              <a:spcAft>
                <a:spcPts val="800"/>
              </a:spcAft>
            </a:pPr>
            <a:r>
              <a:rPr sz="850" b="0">
                <a:solidFill>
                  <a:srgbClr val="1F3326"/>
                </a:solidFill>
                <a:latin typeface="Arial"/>
              </a:rPr>
              <a:t>She sees her Mata, her chances, and how far she is from her next reward. A first-time visitor sees the prize instead.</a:t>
            </a:r>
          </a:p>
        </p:txBody>
      </p:sp>
      <p:sp>
        <p:nvSpPr>
          <p:cNvPr id="8" name="Rectangle 7"/>
          <p:cNvSpPr/>
          <p:nvPr/>
        </p:nvSpPr>
        <p:spPr>
          <a:xfrm>
            <a:off x="2587752" y="1867778"/>
            <a:ext cx="1892808"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a:off x="4663440" y="1867778"/>
            <a:ext cx="1892808" cy="173405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ONE BOX, SEVEN CODES</a:t>
            </a:r>
          </a:p>
          <a:p>
            <a:pPr algn="l">
              <a:lnSpc>
                <a:spcPct val="96000"/>
              </a:lnSpc>
              <a:spcAft>
                <a:spcPts val="700"/>
              </a:spcAft>
            </a:pPr>
            <a:r>
              <a:rPr sz="1050" b="0">
                <a:solidFill>
                  <a:srgbClr val="006838"/>
                </a:solidFill>
                <a:latin typeface="Arial Black"/>
              </a:rPr>
              <a:t>Every code lands here</a:t>
            </a:r>
          </a:p>
          <a:p>
            <a:pPr algn="l">
              <a:lnSpc>
                <a:spcPct val="114000"/>
              </a:lnSpc>
              <a:spcAft>
                <a:spcPts val="800"/>
              </a:spcAft>
            </a:pPr>
            <a:r>
              <a:rPr sz="850" b="0">
                <a:solidFill>
                  <a:srgbClr val="1F3326"/>
                </a:solidFill>
                <a:latin typeface="Arial"/>
              </a:rPr>
              <a:t>Roadshow, pack, shelf and WhatsApp codes all use the same field. Each code keeps its own tag, so we can report what worked.</a:t>
            </a:r>
          </a:p>
        </p:txBody>
      </p:sp>
      <p:sp>
        <p:nvSpPr>
          <p:cNvPr id="10" name="Rectangle 9"/>
          <p:cNvSpPr/>
          <p:nvPr/>
        </p:nvSpPr>
        <p:spPr>
          <a:xfrm>
            <a:off x="4663440" y="1867778"/>
            <a:ext cx="1892808"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6739128" y="1867778"/>
            <a:ext cx="1892808" cy="173405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THE TECHNICAL REASON</a:t>
            </a:r>
          </a:p>
          <a:p>
            <a:pPr algn="l">
              <a:lnSpc>
                <a:spcPct val="96000"/>
              </a:lnSpc>
              <a:spcAft>
                <a:spcPts val="700"/>
              </a:spcAft>
            </a:pPr>
            <a:r>
              <a:rPr sz="1050" b="0">
                <a:solidFill>
                  <a:srgbClr val="006838"/>
                </a:solidFill>
                <a:latin typeface="Arial Black"/>
              </a:rPr>
              <a:t>We optimize to sign-ups</a:t>
            </a:r>
          </a:p>
          <a:p>
            <a:pPr algn="l">
              <a:lnSpc>
                <a:spcPct val="114000"/>
              </a:lnSpc>
              <a:spcAft>
                <a:spcPts val="800"/>
              </a:spcAft>
            </a:pPr>
            <a:r>
              <a:rPr sz="850" b="0">
                <a:solidFill>
                  <a:srgbClr val="1F3326"/>
                </a:solidFill>
                <a:latin typeface="Arial"/>
              </a:rPr>
              <a:t>4,000 receipt uploads is 400 a week. Split across campaigns, most ad sets never leave the learning phase. 12,000 sign-ups fixes that.</a:t>
            </a:r>
          </a:p>
        </p:txBody>
      </p:sp>
      <p:sp>
        <p:nvSpPr>
          <p:cNvPr id="12" name="Rectangle 11"/>
          <p:cNvSpPr/>
          <p:nvPr/>
        </p:nvSpPr>
        <p:spPr>
          <a:xfrm>
            <a:off x="6739128" y="1867778"/>
            <a:ext cx="1892808"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we send people to a page: </a:t>
            </a:r>
            <a:r>
              <a:rPr sz="950" b="0">
                <a:solidFill>
                  <a:srgbClr val="FFFFFF"/>
                </a:solidFill>
                <a:latin typeface="Arial"/>
              </a:rPr>
              <a:t>you cannot scan a QR code with the phone that is showing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media plan.</a:t>
            </a:r>
          </a:p>
        </p:txBody>
      </p:sp>
      <p:sp>
        <p:nvSpPr>
          <p:cNvPr id="4" name="TextBox 3"/>
          <p:cNvSpPr txBox="1"/>
          <p:nvPr/>
        </p:nvSpPr>
        <p:spPr>
          <a:xfrm>
            <a:off x="512064" y="1005839"/>
            <a:ext cx="8119872" cy="38608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Half of these numbers come from Saji's 2025 delivery. Half are our estimates, because no past deck shows the spend.</a:t>
            </a:r>
          </a:p>
        </p:txBody>
      </p:sp>
      <p:sp>
        <p:nvSpPr>
          <p:cNvPr id="5" name="Rectangle 4"/>
          <p:cNvSpPr/>
          <p:nvPr/>
        </p:nvSpPr>
        <p:spPr>
          <a:xfrm>
            <a:off x="512064" y="1554480"/>
            <a:ext cx="2584704" cy="47548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554480"/>
            <a:ext cx="45720" cy="475488"/>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58368" y="1618488"/>
            <a:ext cx="658368" cy="274320"/>
          </a:xfrm>
          <a:prstGeom prst="rect">
            <a:avLst/>
          </a:prstGeom>
          <a:noFill/>
        </p:spPr>
        <p:txBody>
          <a:bodyPr wrap="square" lIns="0" rIns="0" tIns="0" bIns="0" anchor="t">
            <a:noAutofit/>
          </a:bodyPr>
          <a:lstStyle/>
          <a:p>
            <a:pPr algn="l">
              <a:lnSpc>
                <a:spcPct val="94000"/>
              </a:lnSpc>
            </a:pPr>
            <a:r>
              <a:rPr sz="1600" b="0">
                <a:solidFill>
                  <a:srgbClr val="006838"/>
                </a:solidFill>
                <a:latin typeface="Arial Black"/>
              </a:rPr>
              <a:t>40%</a:t>
            </a:r>
          </a:p>
        </p:txBody>
      </p:sp>
      <p:sp>
        <p:nvSpPr>
          <p:cNvPr id="8" name="TextBox 7"/>
          <p:cNvSpPr txBox="1"/>
          <p:nvPr/>
        </p:nvSpPr>
        <p:spPr>
          <a:xfrm>
            <a:off x="1371600" y="1673352"/>
            <a:ext cx="1578864"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Contest sign-ups</a:t>
            </a:r>
          </a:p>
        </p:txBody>
      </p:sp>
      <p:sp>
        <p:nvSpPr>
          <p:cNvPr id="9" name="Rectangle 8"/>
          <p:cNvSpPr/>
          <p:nvPr/>
        </p:nvSpPr>
        <p:spPr>
          <a:xfrm>
            <a:off x="3279648" y="1554480"/>
            <a:ext cx="2584704" cy="47548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3279648" y="1554480"/>
            <a:ext cx="45720" cy="475488"/>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3425952" y="1618488"/>
            <a:ext cx="658368" cy="274320"/>
          </a:xfrm>
          <a:prstGeom prst="rect">
            <a:avLst/>
          </a:prstGeom>
          <a:noFill/>
        </p:spPr>
        <p:txBody>
          <a:bodyPr wrap="square" lIns="0" rIns="0" tIns="0" bIns="0" anchor="t">
            <a:noAutofit/>
          </a:bodyPr>
          <a:lstStyle/>
          <a:p>
            <a:pPr algn="l">
              <a:lnSpc>
                <a:spcPct val="94000"/>
              </a:lnSpc>
            </a:pPr>
            <a:r>
              <a:rPr sz="1600" b="0">
                <a:solidFill>
                  <a:srgbClr val="E8912C"/>
                </a:solidFill>
                <a:latin typeface="Arial Black"/>
              </a:rPr>
              <a:t>52%</a:t>
            </a:r>
          </a:p>
        </p:txBody>
      </p:sp>
      <p:sp>
        <p:nvSpPr>
          <p:cNvPr id="12" name="TextBox 11"/>
          <p:cNvSpPr txBox="1"/>
          <p:nvPr/>
        </p:nvSpPr>
        <p:spPr>
          <a:xfrm>
            <a:off x="4139184" y="1673352"/>
            <a:ext cx="1578864"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Video and reach</a:t>
            </a:r>
          </a:p>
        </p:txBody>
      </p:sp>
      <p:sp>
        <p:nvSpPr>
          <p:cNvPr id="13" name="Rectangle 12"/>
          <p:cNvSpPr/>
          <p:nvPr/>
        </p:nvSpPr>
        <p:spPr>
          <a:xfrm>
            <a:off x="6047232" y="1554480"/>
            <a:ext cx="2584704" cy="47548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6047232" y="1554480"/>
            <a:ext cx="45720" cy="475488"/>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6193536" y="1618488"/>
            <a:ext cx="658368" cy="274320"/>
          </a:xfrm>
          <a:prstGeom prst="rect">
            <a:avLst/>
          </a:prstGeom>
          <a:noFill/>
        </p:spPr>
        <p:txBody>
          <a:bodyPr wrap="square" lIns="0" rIns="0" tIns="0" bIns="0" anchor="t">
            <a:noAutofit/>
          </a:bodyPr>
          <a:lstStyle/>
          <a:p>
            <a:pPr algn="l">
              <a:lnSpc>
                <a:spcPct val="94000"/>
              </a:lnSpc>
            </a:pPr>
            <a:r>
              <a:rPr sz="1600" b="0">
                <a:solidFill>
                  <a:srgbClr val="C5192B"/>
                </a:solidFill>
                <a:latin typeface="Arial Black"/>
              </a:rPr>
              <a:t>8%</a:t>
            </a:r>
          </a:p>
        </p:txBody>
      </p:sp>
      <p:sp>
        <p:nvSpPr>
          <p:cNvPr id="16" name="TextBox 15"/>
          <p:cNvSpPr txBox="1"/>
          <p:nvPr/>
        </p:nvSpPr>
        <p:spPr>
          <a:xfrm>
            <a:off x="6906767" y="1673352"/>
            <a:ext cx="1578864"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KOL Spark Ads</a:t>
            </a:r>
          </a:p>
        </p:txBody>
      </p:sp>
      <p:sp>
        <p:nvSpPr>
          <p:cNvPr id="17" name="Rectangle 16"/>
          <p:cNvSpPr/>
          <p:nvPr/>
        </p:nvSpPr>
        <p:spPr>
          <a:xfrm>
            <a:off x="512064" y="2212848"/>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03504" y="2267712"/>
            <a:ext cx="530352"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LINE</a:t>
            </a:r>
          </a:p>
        </p:txBody>
      </p:sp>
      <p:sp>
        <p:nvSpPr>
          <p:cNvPr id="19" name="TextBox 18"/>
          <p:cNvSpPr txBox="1"/>
          <p:nvPr/>
        </p:nvSpPr>
        <p:spPr>
          <a:xfrm>
            <a:off x="1261872" y="2267712"/>
            <a:ext cx="640080"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PLATFORM</a:t>
            </a:r>
          </a:p>
        </p:txBody>
      </p:sp>
      <p:sp>
        <p:nvSpPr>
          <p:cNvPr id="20" name="TextBox 19"/>
          <p:cNvSpPr txBox="1"/>
          <p:nvPr/>
        </p:nvSpPr>
        <p:spPr>
          <a:xfrm>
            <a:off x="2029968" y="2267712"/>
            <a:ext cx="877824"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OBJECTIVE</a:t>
            </a:r>
          </a:p>
        </p:txBody>
      </p:sp>
      <p:sp>
        <p:nvSpPr>
          <p:cNvPr id="21" name="TextBox 20"/>
          <p:cNvSpPr txBox="1"/>
          <p:nvPr/>
        </p:nvSpPr>
        <p:spPr>
          <a:xfrm>
            <a:off x="3035808" y="2267712"/>
            <a:ext cx="621792"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CPM</a:t>
            </a:r>
          </a:p>
        </p:txBody>
      </p:sp>
      <p:sp>
        <p:nvSpPr>
          <p:cNvPr id="22" name="TextBox 21"/>
          <p:cNvSpPr txBox="1"/>
          <p:nvPr/>
        </p:nvSpPr>
        <p:spPr>
          <a:xfrm>
            <a:off x="3785615" y="2267712"/>
            <a:ext cx="749808"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VIEW RATE</a:t>
            </a:r>
          </a:p>
        </p:txBody>
      </p:sp>
      <p:sp>
        <p:nvSpPr>
          <p:cNvPr id="23" name="TextBox 22"/>
          <p:cNvSpPr txBox="1"/>
          <p:nvPr/>
        </p:nvSpPr>
        <p:spPr>
          <a:xfrm>
            <a:off x="4663440" y="2267712"/>
            <a:ext cx="1060704"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PER VIEW OR CPC</a:t>
            </a:r>
          </a:p>
        </p:txBody>
      </p:sp>
      <p:sp>
        <p:nvSpPr>
          <p:cNvPr id="24" name="TextBox 23"/>
          <p:cNvSpPr txBox="1"/>
          <p:nvPr/>
        </p:nvSpPr>
        <p:spPr>
          <a:xfrm>
            <a:off x="5852159" y="2267712"/>
            <a:ext cx="2743200"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WHERE IT CAME FROM</a:t>
            </a:r>
          </a:p>
        </p:txBody>
      </p:sp>
      <p:sp>
        <p:nvSpPr>
          <p:cNvPr id="25" name="Rectangle 24"/>
          <p:cNvSpPr/>
          <p:nvPr/>
        </p:nvSpPr>
        <p:spPr>
          <a:xfrm>
            <a:off x="512064" y="2487168"/>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537460"/>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Contest</a:t>
            </a:r>
          </a:p>
        </p:txBody>
      </p:sp>
      <p:sp>
        <p:nvSpPr>
          <p:cNvPr id="27" name="TextBox 26"/>
          <p:cNvSpPr txBox="1"/>
          <p:nvPr/>
        </p:nvSpPr>
        <p:spPr>
          <a:xfrm>
            <a:off x="1261872" y="2537460"/>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Meta</a:t>
            </a:r>
          </a:p>
        </p:txBody>
      </p:sp>
      <p:sp>
        <p:nvSpPr>
          <p:cNvPr id="28" name="TextBox 27"/>
          <p:cNvSpPr txBox="1"/>
          <p:nvPr/>
        </p:nvSpPr>
        <p:spPr>
          <a:xfrm>
            <a:off x="2029968" y="2537460"/>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Sign-ups</a:t>
            </a:r>
          </a:p>
        </p:txBody>
      </p:sp>
      <p:sp>
        <p:nvSpPr>
          <p:cNvPr id="29" name="TextBox 28"/>
          <p:cNvSpPr txBox="1"/>
          <p:nvPr/>
        </p:nvSpPr>
        <p:spPr>
          <a:xfrm>
            <a:off x="3035808" y="2537460"/>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RM22.00</a:t>
            </a:r>
          </a:p>
        </p:txBody>
      </p:sp>
      <p:sp>
        <p:nvSpPr>
          <p:cNvPr id="30" name="TextBox 29"/>
          <p:cNvSpPr txBox="1"/>
          <p:nvPr/>
        </p:nvSpPr>
        <p:spPr>
          <a:xfrm>
            <a:off x="3785615" y="2537460"/>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31" name="TextBox 30"/>
          <p:cNvSpPr txBox="1"/>
          <p:nvPr/>
        </p:nvSpPr>
        <p:spPr>
          <a:xfrm>
            <a:off x="4663440" y="2537460"/>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CPC RM0.45</a:t>
            </a:r>
          </a:p>
        </p:txBody>
      </p:sp>
      <p:sp>
        <p:nvSpPr>
          <p:cNvPr id="32" name="TextBox 31"/>
          <p:cNvSpPr txBox="1"/>
          <p:nvPr/>
        </p:nvSpPr>
        <p:spPr>
          <a:xfrm>
            <a:off x="5852159" y="2537460"/>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CPM estimated, CTR from 2025</a:t>
            </a:r>
          </a:p>
        </p:txBody>
      </p:sp>
      <p:sp>
        <p:nvSpPr>
          <p:cNvPr id="33" name="Rectangle 32"/>
          <p:cNvSpPr/>
          <p:nvPr/>
        </p:nvSpPr>
        <p:spPr>
          <a:xfrm>
            <a:off x="512064" y="2747772"/>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603504" y="2798064"/>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Contest</a:t>
            </a:r>
          </a:p>
        </p:txBody>
      </p:sp>
      <p:sp>
        <p:nvSpPr>
          <p:cNvPr id="35" name="TextBox 34"/>
          <p:cNvSpPr txBox="1"/>
          <p:nvPr/>
        </p:nvSpPr>
        <p:spPr>
          <a:xfrm>
            <a:off x="1261872" y="2798064"/>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36" name="TextBox 35"/>
          <p:cNvSpPr txBox="1"/>
          <p:nvPr/>
        </p:nvSpPr>
        <p:spPr>
          <a:xfrm>
            <a:off x="2029968" y="2798064"/>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Sign-ups</a:t>
            </a:r>
          </a:p>
        </p:txBody>
      </p:sp>
      <p:sp>
        <p:nvSpPr>
          <p:cNvPr id="37" name="TextBox 36"/>
          <p:cNvSpPr txBox="1"/>
          <p:nvPr/>
        </p:nvSpPr>
        <p:spPr>
          <a:xfrm>
            <a:off x="3035808" y="2798064"/>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RM15.00</a:t>
            </a:r>
          </a:p>
        </p:txBody>
      </p:sp>
      <p:sp>
        <p:nvSpPr>
          <p:cNvPr id="38" name="TextBox 37"/>
          <p:cNvSpPr txBox="1"/>
          <p:nvPr/>
        </p:nvSpPr>
        <p:spPr>
          <a:xfrm>
            <a:off x="3785615" y="2798064"/>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39" name="TextBox 38"/>
          <p:cNvSpPr txBox="1"/>
          <p:nvPr/>
        </p:nvSpPr>
        <p:spPr>
          <a:xfrm>
            <a:off x="4663440" y="2798064"/>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CPC RM0.30</a:t>
            </a:r>
          </a:p>
        </p:txBody>
      </p:sp>
      <p:sp>
        <p:nvSpPr>
          <p:cNvPr id="40" name="TextBox 39"/>
          <p:cNvSpPr txBox="1"/>
          <p:nvPr/>
        </p:nvSpPr>
        <p:spPr>
          <a:xfrm>
            <a:off x="5852159" y="2798064"/>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CPM estimated, CTR from 2025</a:t>
            </a:r>
          </a:p>
        </p:txBody>
      </p:sp>
      <p:sp>
        <p:nvSpPr>
          <p:cNvPr id="41" name="Rectangle 40"/>
          <p:cNvSpPr/>
          <p:nvPr/>
        </p:nvSpPr>
        <p:spPr>
          <a:xfrm>
            <a:off x="512064" y="3008376"/>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03504" y="3058668"/>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43" name="TextBox 42"/>
          <p:cNvSpPr txBox="1"/>
          <p:nvPr/>
        </p:nvSpPr>
        <p:spPr>
          <a:xfrm>
            <a:off x="1261872" y="3058668"/>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44" name="TextBox 43"/>
          <p:cNvSpPr txBox="1"/>
          <p:nvPr/>
        </p:nvSpPr>
        <p:spPr>
          <a:xfrm>
            <a:off x="2029968" y="3058668"/>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Video views</a:t>
            </a:r>
          </a:p>
        </p:txBody>
      </p:sp>
      <p:sp>
        <p:nvSpPr>
          <p:cNvPr id="45" name="TextBox 44"/>
          <p:cNvSpPr txBox="1"/>
          <p:nvPr/>
        </p:nvSpPr>
        <p:spPr>
          <a:xfrm>
            <a:off x="3035808" y="3058668"/>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RM2.20</a:t>
            </a:r>
          </a:p>
        </p:txBody>
      </p:sp>
      <p:sp>
        <p:nvSpPr>
          <p:cNvPr id="46" name="TextBox 45"/>
          <p:cNvSpPr txBox="1"/>
          <p:nvPr/>
        </p:nvSpPr>
        <p:spPr>
          <a:xfrm>
            <a:off x="3785615" y="3058668"/>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70%</a:t>
            </a:r>
          </a:p>
        </p:txBody>
      </p:sp>
      <p:sp>
        <p:nvSpPr>
          <p:cNvPr id="47" name="TextBox 46"/>
          <p:cNvSpPr txBox="1"/>
          <p:nvPr/>
        </p:nvSpPr>
        <p:spPr>
          <a:xfrm>
            <a:off x="4663440" y="3058668"/>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RM0.0031</a:t>
            </a:r>
          </a:p>
        </p:txBody>
      </p:sp>
      <p:sp>
        <p:nvSpPr>
          <p:cNvPr id="48" name="TextBox 47"/>
          <p:cNvSpPr txBox="1"/>
          <p:nvPr/>
        </p:nvSpPr>
        <p:spPr>
          <a:xfrm>
            <a:off x="5852159" y="3058668"/>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2025 delivery</a:t>
            </a:r>
          </a:p>
        </p:txBody>
      </p:sp>
      <p:sp>
        <p:nvSpPr>
          <p:cNvPr id="49" name="Rectangle 48"/>
          <p:cNvSpPr/>
          <p:nvPr/>
        </p:nvSpPr>
        <p:spPr>
          <a:xfrm>
            <a:off x="512064" y="3268980"/>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0" name="TextBox 49"/>
          <p:cNvSpPr txBox="1"/>
          <p:nvPr/>
        </p:nvSpPr>
        <p:spPr>
          <a:xfrm>
            <a:off x="603504" y="3319272"/>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51" name="TextBox 50"/>
          <p:cNvSpPr txBox="1"/>
          <p:nvPr/>
        </p:nvSpPr>
        <p:spPr>
          <a:xfrm>
            <a:off x="1261872" y="3319272"/>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Meta</a:t>
            </a:r>
          </a:p>
        </p:txBody>
      </p:sp>
      <p:sp>
        <p:nvSpPr>
          <p:cNvPr id="52" name="TextBox 51"/>
          <p:cNvSpPr txBox="1"/>
          <p:nvPr/>
        </p:nvSpPr>
        <p:spPr>
          <a:xfrm>
            <a:off x="2029968" y="3319272"/>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Reels video</a:t>
            </a:r>
          </a:p>
        </p:txBody>
      </p:sp>
      <p:sp>
        <p:nvSpPr>
          <p:cNvPr id="53" name="TextBox 52"/>
          <p:cNvSpPr txBox="1"/>
          <p:nvPr/>
        </p:nvSpPr>
        <p:spPr>
          <a:xfrm>
            <a:off x="3035808" y="3319272"/>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RM3.50</a:t>
            </a:r>
          </a:p>
        </p:txBody>
      </p:sp>
      <p:sp>
        <p:nvSpPr>
          <p:cNvPr id="54" name="TextBox 53"/>
          <p:cNvSpPr txBox="1"/>
          <p:nvPr/>
        </p:nvSpPr>
        <p:spPr>
          <a:xfrm>
            <a:off x="3785615" y="3319272"/>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55%</a:t>
            </a:r>
          </a:p>
        </p:txBody>
      </p:sp>
      <p:sp>
        <p:nvSpPr>
          <p:cNvPr id="55" name="TextBox 54"/>
          <p:cNvSpPr txBox="1"/>
          <p:nvPr/>
        </p:nvSpPr>
        <p:spPr>
          <a:xfrm>
            <a:off x="4663440" y="3319272"/>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RM0.0064</a:t>
            </a:r>
          </a:p>
        </p:txBody>
      </p:sp>
      <p:sp>
        <p:nvSpPr>
          <p:cNvPr id="56" name="TextBox 55"/>
          <p:cNvSpPr txBox="1"/>
          <p:nvPr/>
        </p:nvSpPr>
        <p:spPr>
          <a:xfrm>
            <a:off x="5852159" y="3319272"/>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2025 frequency, rest estimated</a:t>
            </a:r>
          </a:p>
        </p:txBody>
      </p:sp>
      <p:sp>
        <p:nvSpPr>
          <p:cNvPr id="57" name="Rectangle 56"/>
          <p:cNvSpPr/>
          <p:nvPr/>
        </p:nvSpPr>
        <p:spPr>
          <a:xfrm>
            <a:off x="512064" y="3529584"/>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8" name="TextBox 57"/>
          <p:cNvSpPr txBox="1"/>
          <p:nvPr/>
        </p:nvSpPr>
        <p:spPr>
          <a:xfrm>
            <a:off x="603504" y="3579876"/>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59" name="TextBox 58"/>
          <p:cNvSpPr txBox="1"/>
          <p:nvPr/>
        </p:nvSpPr>
        <p:spPr>
          <a:xfrm>
            <a:off x="1261872" y="3579876"/>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YouTube</a:t>
            </a:r>
          </a:p>
        </p:txBody>
      </p:sp>
      <p:sp>
        <p:nvSpPr>
          <p:cNvPr id="60" name="TextBox 59"/>
          <p:cNvSpPr txBox="1"/>
          <p:nvPr/>
        </p:nvSpPr>
        <p:spPr>
          <a:xfrm>
            <a:off x="2029968" y="3579876"/>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In-stream</a:t>
            </a:r>
          </a:p>
        </p:txBody>
      </p:sp>
      <p:sp>
        <p:nvSpPr>
          <p:cNvPr id="61" name="TextBox 60"/>
          <p:cNvSpPr txBox="1"/>
          <p:nvPr/>
        </p:nvSpPr>
        <p:spPr>
          <a:xfrm>
            <a:off x="3035808" y="3579876"/>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RM3.80</a:t>
            </a:r>
          </a:p>
        </p:txBody>
      </p:sp>
      <p:sp>
        <p:nvSpPr>
          <p:cNvPr id="62" name="TextBox 61"/>
          <p:cNvSpPr txBox="1"/>
          <p:nvPr/>
        </p:nvSpPr>
        <p:spPr>
          <a:xfrm>
            <a:off x="3785615" y="3579876"/>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32%</a:t>
            </a:r>
          </a:p>
        </p:txBody>
      </p:sp>
      <p:sp>
        <p:nvSpPr>
          <p:cNvPr id="63" name="TextBox 62"/>
          <p:cNvSpPr txBox="1"/>
          <p:nvPr/>
        </p:nvSpPr>
        <p:spPr>
          <a:xfrm>
            <a:off x="4663440" y="3579876"/>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RM0.0119</a:t>
            </a:r>
          </a:p>
        </p:txBody>
      </p:sp>
      <p:sp>
        <p:nvSpPr>
          <p:cNvPr id="64" name="TextBox 63"/>
          <p:cNvSpPr txBox="1"/>
          <p:nvPr/>
        </p:nvSpPr>
        <p:spPr>
          <a:xfrm>
            <a:off x="5852159" y="3579876"/>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Estimated</a:t>
            </a:r>
          </a:p>
        </p:txBody>
      </p:sp>
      <p:sp>
        <p:nvSpPr>
          <p:cNvPr id="65" name="Rectangle 64"/>
          <p:cNvSpPr/>
          <p:nvPr/>
        </p:nvSpPr>
        <p:spPr>
          <a:xfrm>
            <a:off x="512064" y="3790188"/>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6" name="TextBox 65"/>
          <p:cNvSpPr txBox="1"/>
          <p:nvPr/>
        </p:nvSpPr>
        <p:spPr>
          <a:xfrm>
            <a:off x="603504" y="3840480"/>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Engage</a:t>
            </a:r>
          </a:p>
        </p:txBody>
      </p:sp>
      <p:sp>
        <p:nvSpPr>
          <p:cNvPr id="67" name="TextBox 66"/>
          <p:cNvSpPr txBox="1"/>
          <p:nvPr/>
        </p:nvSpPr>
        <p:spPr>
          <a:xfrm>
            <a:off x="1261872" y="3840480"/>
            <a:ext cx="64008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68" name="TextBox 67"/>
          <p:cNvSpPr txBox="1"/>
          <p:nvPr/>
        </p:nvSpPr>
        <p:spPr>
          <a:xfrm>
            <a:off x="2029968" y="3840480"/>
            <a:ext cx="87782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Spark on KOL</a:t>
            </a:r>
          </a:p>
        </p:txBody>
      </p:sp>
      <p:sp>
        <p:nvSpPr>
          <p:cNvPr id="69" name="TextBox 68"/>
          <p:cNvSpPr txBox="1"/>
          <p:nvPr/>
        </p:nvSpPr>
        <p:spPr>
          <a:xfrm>
            <a:off x="3035808" y="3840480"/>
            <a:ext cx="62179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RM2.60</a:t>
            </a:r>
          </a:p>
        </p:txBody>
      </p:sp>
      <p:sp>
        <p:nvSpPr>
          <p:cNvPr id="70" name="TextBox 69"/>
          <p:cNvSpPr txBox="1"/>
          <p:nvPr/>
        </p:nvSpPr>
        <p:spPr>
          <a:xfrm>
            <a:off x="3785615" y="3840480"/>
            <a:ext cx="7498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65%</a:t>
            </a:r>
          </a:p>
        </p:txBody>
      </p:sp>
      <p:sp>
        <p:nvSpPr>
          <p:cNvPr id="71" name="TextBox 70"/>
          <p:cNvSpPr txBox="1"/>
          <p:nvPr/>
        </p:nvSpPr>
        <p:spPr>
          <a:xfrm>
            <a:off x="4663440" y="3840480"/>
            <a:ext cx="10607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RM0.0040</a:t>
            </a:r>
          </a:p>
        </p:txBody>
      </p:sp>
      <p:sp>
        <p:nvSpPr>
          <p:cNvPr id="72" name="TextBox 71"/>
          <p:cNvSpPr txBox="1"/>
          <p:nvPr/>
        </p:nvSpPr>
        <p:spPr>
          <a:xfrm>
            <a:off x="5852159" y="3840480"/>
            <a:ext cx="2743200"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Estimated</a:t>
            </a:r>
          </a:p>
        </p:txBody>
      </p:sp>
      <p:sp>
        <p:nvSpPr>
          <p:cNvPr id="73" name="Rectangle 7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4" name="TextBox 7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We run the contest as two campaigns: </a:t>
            </a:r>
            <a:r>
              <a:rPr sz="950" b="0">
                <a:solidFill>
                  <a:srgbClr val="FFFFFF"/>
                </a:solidFill>
                <a:latin typeface="Arial"/>
              </a:rPr>
              <a:t>KL and Selangor take 30% and the other states 70%. One campaign would spend it all in KL.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What RM145,000 delivers.</a:t>
            </a:r>
          </a:p>
        </p:txBody>
      </p:sp>
      <p:sp>
        <p:nvSpPr>
          <p:cNvPr id="4" name="TextBox 3"/>
          <p:cNvSpPr txBox="1"/>
          <p:nvPr/>
        </p:nvSpPr>
        <p:spPr>
          <a:xfrm>
            <a:off x="512064" y="1005839"/>
            <a:ext cx="8119872" cy="38608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This covers media, production, creative and management for ten weeks. The RM70,000 prize pool sits outside it.</a:t>
            </a:r>
          </a:p>
        </p:txBody>
      </p:sp>
      <p:sp>
        <p:nvSpPr>
          <p:cNvPr id="5" name="Rectangle 4"/>
          <p:cNvSpPr/>
          <p:nvPr/>
        </p:nvSpPr>
        <p:spPr>
          <a:xfrm>
            <a:off x="512064" y="1693519"/>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48383"/>
            <a:ext cx="212140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MEASURE</a:t>
            </a:r>
          </a:p>
        </p:txBody>
      </p:sp>
      <p:sp>
        <p:nvSpPr>
          <p:cNvPr id="7" name="TextBox 6"/>
          <p:cNvSpPr txBox="1"/>
          <p:nvPr/>
        </p:nvSpPr>
        <p:spPr>
          <a:xfrm>
            <a:off x="2852928" y="1748383"/>
            <a:ext cx="184708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BRIEF TARGET</a:t>
            </a:r>
          </a:p>
        </p:txBody>
      </p:sp>
      <p:sp>
        <p:nvSpPr>
          <p:cNvPr id="8" name="TextBox 7"/>
          <p:cNvSpPr txBox="1"/>
          <p:nvPr/>
        </p:nvSpPr>
        <p:spPr>
          <a:xfrm>
            <a:off x="4828031" y="1748383"/>
            <a:ext cx="1883664"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OUR PLAN</a:t>
            </a:r>
          </a:p>
        </p:txBody>
      </p:sp>
      <p:sp>
        <p:nvSpPr>
          <p:cNvPr id="9" name="TextBox 8"/>
          <p:cNvSpPr txBox="1"/>
          <p:nvPr/>
        </p:nvSpPr>
        <p:spPr>
          <a:xfrm>
            <a:off x="6839712" y="1748383"/>
            <a:ext cx="175564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2026 ACTUAL</a:t>
            </a:r>
          </a:p>
        </p:txBody>
      </p:sp>
      <p:sp>
        <p:nvSpPr>
          <p:cNvPr id="10" name="Rectangle 9"/>
          <p:cNvSpPr/>
          <p:nvPr/>
        </p:nvSpPr>
        <p:spPr>
          <a:xfrm>
            <a:off x="512064" y="1967839"/>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2018131"/>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Contest entrants (with receipt)</a:t>
            </a:r>
          </a:p>
        </p:txBody>
      </p:sp>
      <p:sp>
        <p:nvSpPr>
          <p:cNvPr id="12" name="TextBox 11"/>
          <p:cNvSpPr txBox="1"/>
          <p:nvPr/>
        </p:nvSpPr>
        <p:spPr>
          <a:xfrm>
            <a:off x="2852928" y="2018131"/>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4,000</a:t>
            </a:r>
          </a:p>
        </p:txBody>
      </p:sp>
      <p:sp>
        <p:nvSpPr>
          <p:cNvPr id="13" name="TextBox 12"/>
          <p:cNvSpPr txBox="1"/>
          <p:nvPr/>
        </p:nvSpPr>
        <p:spPr>
          <a:xfrm>
            <a:off x="4828031" y="2018131"/>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5,040</a:t>
            </a:r>
          </a:p>
        </p:txBody>
      </p:sp>
      <p:sp>
        <p:nvSpPr>
          <p:cNvPr id="14" name="TextBox 13"/>
          <p:cNvSpPr txBox="1"/>
          <p:nvPr/>
        </p:nvSpPr>
        <p:spPr>
          <a:xfrm>
            <a:off x="6839712" y="2018131"/>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3,765</a:t>
            </a:r>
          </a:p>
        </p:txBody>
      </p:sp>
      <p:sp>
        <p:nvSpPr>
          <p:cNvPr id="15" name="Rectangle 14"/>
          <p:cNvSpPr/>
          <p:nvPr/>
        </p:nvSpPr>
        <p:spPr>
          <a:xfrm>
            <a:off x="512064" y="2228443"/>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278735"/>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Sign-ups (no purchase needed)</a:t>
            </a:r>
          </a:p>
        </p:txBody>
      </p:sp>
      <p:sp>
        <p:nvSpPr>
          <p:cNvPr id="17" name="TextBox 16"/>
          <p:cNvSpPr txBox="1"/>
          <p:nvPr/>
        </p:nvSpPr>
        <p:spPr>
          <a:xfrm>
            <a:off x="2852928" y="2278735"/>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18" name="TextBox 17"/>
          <p:cNvSpPr txBox="1"/>
          <p:nvPr/>
        </p:nvSpPr>
        <p:spPr>
          <a:xfrm>
            <a:off x="4828031" y="2278735"/>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12,000</a:t>
            </a:r>
          </a:p>
        </p:txBody>
      </p:sp>
      <p:sp>
        <p:nvSpPr>
          <p:cNvPr id="19" name="TextBox 18"/>
          <p:cNvSpPr txBox="1"/>
          <p:nvPr/>
        </p:nvSpPr>
        <p:spPr>
          <a:xfrm>
            <a:off x="6839712" y="2278735"/>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a:t>
            </a:r>
          </a:p>
        </p:txBody>
      </p:sp>
      <p:sp>
        <p:nvSpPr>
          <p:cNvPr id="20" name="Rectangle 19"/>
          <p:cNvSpPr/>
          <p:nvPr/>
        </p:nvSpPr>
        <p:spPr>
          <a:xfrm>
            <a:off x="512064" y="2489047"/>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539339"/>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Qualifying receipts</a:t>
            </a:r>
          </a:p>
        </p:txBody>
      </p:sp>
      <p:sp>
        <p:nvSpPr>
          <p:cNvPr id="22" name="TextBox 21"/>
          <p:cNvSpPr txBox="1"/>
          <p:nvPr/>
        </p:nvSpPr>
        <p:spPr>
          <a:xfrm>
            <a:off x="2852928" y="2539339"/>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23" name="TextBox 22"/>
          <p:cNvSpPr txBox="1"/>
          <p:nvPr/>
        </p:nvSpPr>
        <p:spPr>
          <a:xfrm>
            <a:off x="4828031" y="2539339"/>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13,100</a:t>
            </a:r>
          </a:p>
        </p:txBody>
      </p:sp>
      <p:sp>
        <p:nvSpPr>
          <p:cNvPr id="24" name="TextBox 23"/>
          <p:cNvSpPr txBox="1"/>
          <p:nvPr/>
        </p:nvSpPr>
        <p:spPr>
          <a:xfrm>
            <a:off x="6839712" y="2539339"/>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tracked</a:t>
            </a:r>
          </a:p>
        </p:txBody>
      </p:sp>
      <p:sp>
        <p:nvSpPr>
          <p:cNvPr id="25" name="Rectangle 24"/>
          <p:cNvSpPr/>
          <p:nvPr/>
        </p:nvSpPr>
        <p:spPr>
          <a:xfrm>
            <a:off x="512064" y="2749651"/>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799943"/>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Paid reach</a:t>
            </a:r>
          </a:p>
        </p:txBody>
      </p:sp>
      <p:sp>
        <p:nvSpPr>
          <p:cNvPr id="27" name="TextBox 26"/>
          <p:cNvSpPr txBox="1"/>
          <p:nvPr/>
        </p:nvSpPr>
        <p:spPr>
          <a:xfrm>
            <a:off x="2852928" y="2799943"/>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15M</a:t>
            </a:r>
          </a:p>
        </p:txBody>
      </p:sp>
      <p:sp>
        <p:nvSpPr>
          <p:cNvPr id="28" name="TextBox 27"/>
          <p:cNvSpPr txBox="1"/>
          <p:nvPr/>
        </p:nvSpPr>
        <p:spPr>
          <a:xfrm>
            <a:off x="4828031" y="2799943"/>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13.9M</a:t>
            </a:r>
          </a:p>
        </p:txBody>
      </p:sp>
      <p:sp>
        <p:nvSpPr>
          <p:cNvPr id="29" name="TextBox 28"/>
          <p:cNvSpPr txBox="1"/>
          <p:nvPr/>
        </p:nvSpPr>
        <p:spPr>
          <a:xfrm>
            <a:off x="6839712" y="2799943"/>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13.8M</a:t>
            </a:r>
          </a:p>
        </p:txBody>
      </p:sp>
      <p:sp>
        <p:nvSpPr>
          <p:cNvPr id="30" name="Rectangle 29"/>
          <p:cNvSpPr/>
          <p:nvPr/>
        </p:nvSpPr>
        <p:spPr>
          <a:xfrm>
            <a:off x="512064" y="3010255"/>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03504" y="3060547"/>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Video views</a:t>
            </a:r>
          </a:p>
        </p:txBody>
      </p:sp>
      <p:sp>
        <p:nvSpPr>
          <p:cNvPr id="32" name="TextBox 31"/>
          <p:cNvSpPr txBox="1"/>
          <p:nvPr/>
        </p:nvSpPr>
        <p:spPr>
          <a:xfrm>
            <a:off x="2852928" y="3060547"/>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40M campaign wide</a:t>
            </a:r>
          </a:p>
        </p:txBody>
      </p:sp>
      <p:sp>
        <p:nvSpPr>
          <p:cNvPr id="33" name="TextBox 32"/>
          <p:cNvSpPr txBox="1"/>
          <p:nvPr/>
        </p:nvSpPr>
        <p:spPr>
          <a:xfrm>
            <a:off x="4828031" y="3060547"/>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15.1M paid</a:t>
            </a:r>
          </a:p>
        </p:txBody>
      </p:sp>
      <p:sp>
        <p:nvSpPr>
          <p:cNvPr id="34" name="TextBox 33"/>
          <p:cNvSpPr txBox="1"/>
          <p:nvPr/>
        </p:nvSpPr>
        <p:spPr>
          <a:xfrm>
            <a:off x="6839712" y="3060547"/>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38.8M campaign wide</a:t>
            </a:r>
          </a:p>
        </p:txBody>
      </p:sp>
      <p:sp>
        <p:nvSpPr>
          <p:cNvPr id="35" name="Rectangle 34"/>
          <p:cNvSpPr/>
          <p:nvPr/>
        </p:nvSpPr>
        <p:spPr>
          <a:xfrm>
            <a:off x="512064" y="3270859"/>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321151"/>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Impressions</a:t>
            </a:r>
          </a:p>
        </p:txBody>
      </p:sp>
      <p:sp>
        <p:nvSpPr>
          <p:cNvPr id="37" name="TextBox 36"/>
          <p:cNvSpPr txBox="1"/>
          <p:nvPr/>
        </p:nvSpPr>
        <p:spPr>
          <a:xfrm>
            <a:off x="2852928" y="3321151"/>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38" name="TextBox 37"/>
          <p:cNvSpPr txBox="1"/>
          <p:nvPr/>
        </p:nvSpPr>
        <p:spPr>
          <a:xfrm>
            <a:off x="4828031" y="3321151"/>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25.7M</a:t>
            </a:r>
          </a:p>
        </p:txBody>
      </p:sp>
      <p:sp>
        <p:nvSpPr>
          <p:cNvPr id="39" name="TextBox 38"/>
          <p:cNvSpPr txBox="1"/>
          <p:nvPr/>
        </p:nvSpPr>
        <p:spPr>
          <a:xfrm>
            <a:off x="6839712" y="3321151"/>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51.0M</a:t>
            </a:r>
          </a:p>
        </p:txBody>
      </p:sp>
      <p:sp>
        <p:nvSpPr>
          <p:cNvPr id="40" name="Rectangle 39"/>
          <p:cNvSpPr/>
          <p:nvPr/>
        </p:nvSpPr>
        <p:spPr>
          <a:xfrm>
            <a:off x="512064" y="3531463"/>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603504" y="3581755"/>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Engagement rate</a:t>
            </a:r>
          </a:p>
        </p:txBody>
      </p:sp>
      <p:sp>
        <p:nvSpPr>
          <p:cNvPr id="42" name="TextBox 41"/>
          <p:cNvSpPr txBox="1"/>
          <p:nvPr/>
        </p:nvSpPr>
        <p:spPr>
          <a:xfrm>
            <a:off x="2852928" y="3581755"/>
            <a:ext cx="184708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a:t>
            </a:r>
          </a:p>
        </p:txBody>
      </p:sp>
      <p:sp>
        <p:nvSpPr>
          <p:cNvPr id="43" name="TextBox 42"/>
          <p:cNvSpPr txBox="1"/>
          <p:nvPr/>
        </p:nvSpPr>
        <p:spPr>
          <a:xfrm>
            <a:off x="4828031" y="3581755"/>
            <a:ext cx="1883664"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2.3% of impressions</a:t>
            </a:r>
          </a:p>
        </p:txBody>
      </p:sp>
      <p:sp>
        <p:nvSpPr>
          <p:cNvPr id="44" name="TextBox 43"/>
          <p:cNvSpPr txBox="1"/>
          <p:nvPr/>
        </p:nvSpPr>
        <p:spPr>
          <a:xfrm>
            <a:off x="6839712" y="3581755"/>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0.08% of impressions</a:t>
            </a:r>
          </a:p>
        </p:txBody>
      </p:sp>
      <p:sp>
        <p:nvSpPr>
          <p:cNvPr id="45" name="TextBox 44"/>
          <p:cNvSpPr txBox="1"/>
          <p:nvPr/>
        </p:nvSpPr>
        <p:spPr>
          <a:xfrm>
            <a:off x="512064" y="3883507"/>
            <a:ext cx="8119872" cy="168656"/>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Our plan column is paid media only. KOL, organic, roadshows and sample packs all sit on top of it.</a:t>
            </a:r>
          </a:p>
        </p:txBody>
      </p:sp>
      <p:sp>
        <p:nvSpPr>
          <p:cNvPr id="46" name="Rectangle 45"/>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7" name="TextBox 46"/>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number to watch: </a:t>
            </a:r>
            <a:r>
              <a:rPr sz="950" b="0">
                <a:solidFill>
                  <a:srgbClr val="FFFFFF"/>
                </a:solidFill>
                <a:latin typeface="Arial"/>
              </a:rPr>
              <a:t>we estimated the 7.5% sign-up rate. Nobody has measured it. At 5% we get 2,800 entrants.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Timeline.</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We present on 14 or 15 October. The page has to be live on 15 January.</a:t>
            </a:r>
          </a:p>
        </p:txBody>
      </p:sp>
      <p:sp>
        <p:nvSpPr>
          <p:cNvPr id="5" name="Rectangle 4"/>
          <p:cNvSpPr/>
          <p:nvPr/>
        </p:nvSpPr>
        <p:spPr>
          <a:xfrm>
            <a:off x="512064" y="1755648"/>
            <a:ext cx="8119872" cy="32004"/>
          </a:xfrm>
          <a:prstGeom prst="rect">
            <a:avLst/>
          </a:prstGeom>
          <a:solidFill>
            <a:srgbClr val="B8CF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999308"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512064"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14 Oct</a:t>
            </a:r>
          </a:p>
        </p:txBody>
      </p:sp>
      <p:sp>
        <p:nvSpPr>
          <p:cNvPr id="8" name="TextBox 7"/>
          <p:cNvSpPr txBox="1"/>
          <p:nvPr/>
        </p:nvSpPr>
        <p:spPr>
          <a:xfrm>
            <a:off x="512064"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Present to Saji</a:t>
            </a:r>
          </a:p>
        </p:txBody>
      </p:sp>
      <p:sp>
        <p:nvSpPr>
          <p:cNvPr id="9" name="Rectangle 8"/>
          <p:cNvSpPr/>
          <p:nvPr/>
        </p:nvSpPr>
        <p:spPr>
          <a:xfrm>
            <a:off x="2174965"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687721"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Late Oct</a:t>
            </a:r>
          </a:p>
        </p:txBody>
      </p:sp>
      <p:sp>
        <p:nvSpPr>
          <p:cNvPr id="11" name="TextBox 10"/>
          <p:cNvSpPr txBox="1"/>
          <p:nvPr/>
        </p:nvSpPr>
        <p:spPr>
          <a:xfrm>
            <a:off x="1687721"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Award</a:t>
            </a:r>
          </a:p>
        </p:txBody>
      </p:sp>
      <p:sp>
        <p:nvSpPr>
          <p:cNvPr id="12" name="Rectangle 11"/>
          <p:cNvSpPr/>
          <p:nvPr/>
        </p:nvSpPr>
        <p:spPr>
          <a:xfrm>
            <a:off x="3350622"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2863378"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Mid Dec</a:t>
            </a:r>
          </a:p>
        </p:txBody>
      </p:sp>
      <p:sp>
        <p:nvSpPr>
          <p:cNvPr id="14" name="TextBox 13"/>
          <p:cNvSpPr txBox="1"/>
          <p:nvPr/>
        </p:nvSpPr>
        <p:spPr>
          <a:xfrm>
            <a:off x="2863378"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Permit and packaging</a:t>
            </a:r>
          </a:p>
        </p:txBody>
      </p:sp>
      <p:sp>
        <p:nvSpPr>
          <p:cNvPr id="15" name="Rectangle 14"/>
          <p:cNvSpPr/>
          <p:nvPr/>
        </p:nvSpPr>
        <p:spPr>
          <a:xfrm>
            <a:off x="4526279" y="1700784"/>
            <a:ext cx="91440" cy="13716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4039035" y="1517904"/>
            <a:ext cx="1065929" cy="182880"/>
          </a:xfrm>
          <a:prstGeom prst="rect">
            <a:avLst/>
          </a:prstGeom>
          <a:noFill/>
        </p:spPr>
        <p:txBody>
          <a:bodyPr wrap="square" lIns="0" rIns="0" tIns="0" bIns="0" anchor="t">
            <a:noAutofit/>
          </a:bodyPr>
          <a:lstStyle/>
          <a:p>
            <a:pPr algn="ctr">
              <a:lnSpc>
                <a:spcPct val="100000"/>
              </a:lnSpc>
            </a:pPr>
            <a:r>
              <a:rPr sz="950" b="0">
                <a:solidFill>
                  <a:srgbClr val="006838"/>
                </a:solidFill>
                <a:latin typeface="Arial Black"/>
              </a:rPr>
              <a:t>15 Jan</a:t>
            </a:r>
          </a:p>
        </p:txBody>
      </p:sp>
      <p:sp>
        <p:nvSpPr>
          <p:cNvPr id="17" name="TextBox 16"/>
          <p:cNvSpPr txBox="1"/>
          <p:nvPr/>
        </p:nvSpPr>
        <p:spPr>
          <a:xfrm>
            <a:off x="4039035"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Page live</a:t>
            </a:r>
          </a:p>
        </p:txBody>
      </p:sp>
      <p:sp>
        <p:nvSpPr>
          <p:cNvPr id="18" name="Rectangle 17"/>
          <p:cNvSpPr/>
          <p:nvPr/>
        </p:nvSpPr>
        <p:spPr>
          <a:xfrm>
            <a:off x="5701937"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5214692"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25 Jan</a:t>
            </a:r>
          </a:p>
        </p:txBody>
      </p:sp>
      <p:sp>
        <p:nvSpPr>
          <p:cNvPr id="20" name="TextBox 19"/>
          <p:cNvSpPr txBox="1"/>
          <p:nvPr/>
        </p:nvSpPr>
        <p:spPr>
          <a:xfrm>
            <a:off x="5214692"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Launch event</a:t>
            </a:r>
          </a:p>
        </p:txBody>
      </p:sp>
      <p:sp>
        <p:nvSpPr>
          <p:cNvPr id="21" name="Rectangle 20"/>
          <p:cNvSpPr/>
          <p:nvPr/>
        </p:nvSpPr>
        <p:spPr>
          <a:xfrm>
            <a:off x="6877594" y="1700784"/>
            <a:ext cx="91440" cy="13716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390349" y="1517904"/>
            <a:ext cx="1065929" cy="182880"/>
          </a:xfrm>
          <a:prstGeom prst="rect">
            <a:avLst/>
          </a:prstGeom>
          <a:noFill/>
        </p:spPr>
        <p:txBody>
          <a:bodyPr wrap="square" lIns="0" rIns="0" tIns="0" bIns="0" anchor="t">
            <a:noAutofit/>
          </a:bodyPr>
          <a:lstStyle/>
          <a:p>
            <a:pPr algn="ctr">
              <a:lnSpc>
                <a:spcPct val="100000"/>
              </a:lnSpc>
            </a:pPr>
            <a:r>
              <a:rPr sz="950" b="0">
                <a:solidFill>
                  <a:srgbClr val="006838"/>
                </a:solidFill>
                <a:latin typeface="Arial Black"/>
              </a:rPr>
              <a:t>1 Feb</a:t>
            </a:r>
          </a:p>
        </p:txBody>
      </p:sp>
      <p:sp>
        <p:nvSpPr>
          <p:cNvPr id="23" name="TextBox 22"/>
          <p:cNvSpPr txBox="1"/>
          <p:nvPr/>
        </p:nvSpPr>
        <p:spPr>
          <a:xfrm>
            <a:off x="6390349"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Contest ads live</a:t>
            </a:r>
          </a:p>
        </p:txBody>
      </p:sp>
      <p:sp>
        <p:nvSpPr>
          <p:cNvPr id="24" name="Rectangle 23"/>
          <p:cNvSpPr/>
          <p:nvPr/>
        </p:nvSpPr>
        <p:spPr>
          <a:xfrm>
            <a:off x="8053251" y="1700784"/>
            <a:ext cx="91440" cy="13716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7566006" y="1517904"/>
            <a:ext cx="1065929" cy="182880"/>
          </a:xfrm>
          <a:prstGeom prst="rect">
            <a:avLst/>
          </a:prstGeom>
          <a:noFill/>
        </p:spPr>
        <p:txBody>
          <a:bodyPr wrap="square" lIns="0" rIns="0" tIns="0" bIns="0" anchor="t">
            <a:noAutofit/>
          </a:bodyPr>
          <a:lstStyle/>
          <a:p>
            <a:pPr algn="ctr">
              <a:lnSpc>
                <a:spcPct val="100000"/>
              </a:lnSpc>
            </a:pPr>
            <a:r>
              <a:rPr sz="950" b="0">
                <a:solidFill>
                  <a:srgbClr val="C5192B"/>
                </a:solidFill>
                <a:latin typeface="Arial Black"/>
              </a:rPr>
              <a:t>5 Apr</a:t>
            </a:r>
          </a:p>
        </p:txBody>
      </p:sp>
      <p:sp>
        <p:nvSpPr>
          <p:cNvPr id="26" name="TextBox 25"/>
          <p:cNvSpPr txBox="1"/>
          <p:nvPr/>
        </p:nvSpPr>
        <p:spPr>
          <a:xfrm>
            <a:off x="7566006" y="1956816"/>
            <a:ext cx="1065929" cy="365760"/>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Contest closes</a:t>
            </a:r>
          </a:p>
        </p:txBody>
      </p:sp>
      <p:sp>
        <p:nvSpPr>
          <p:cNvPr id="27" name="Rectangle 26"/>
          <p:cNvSpPr/>
          <p:nvPr/>
        </p:nvSpPr>
        <p:spPr>
          <a:xfrm>
            <a:off x="512064" y="2450592"/>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WEEKS 1 TO 3</a:t>
            </a:r>
          </a:p>
          <a:p>
            <a:pPr algn="l">
              <a:lnSpc>
                <a:spcPct val="96000"/>
              </a:lnSpc>
              <a:spcAft>
                <a:spcPts val="700"/>
              </a:spcAft>
            </a:pPr>
            <a:r>
              <a:rPr sz="1250" b="0">
                <a:solidFill>
                  <a:srgbClr val="006838"/>
                </a:solidFill>
                <a:latin typeface="Arial Black"/>
              </a:rPr>
              <a:t>1 to 23 February</a:t>
            </a:r>
          </a:p>
          <a:p>
            <a:pPr algn="l">
              <a:lnSpc>
                <a:spcPct val="114000"/>
              </a:lnSpc>
              <a:spcAft>
                <a:spcPts val="800"/>
              </a:spcAft>
            </a:pPr>
            <a:r>
              <a:rPr sz="850" b="0">
                <a:solidFill>
                  <a:srgbClr val="1F3326"/>
                </a:solidFill>
                <a:latin typeface="Arial"/>
              </a:rPr>
              <a:t>The contest runs alone with no film yet. Chinese New Year lands on 6 February, so we cut weight 30% for three days. Ramadan opens 8 February. First four winners on 19 February.</a:t>
            </a:r>
          </a:p>
        </p:txBody>
      </p:sp>
      <p:sp>
        <p:nvSpPr>
          <p:cNvPr id="28" name="Rectangle 27"/>
          <p:cNvSpPr/>
          <p:nvPr/>
        </p:nvSpPr>
        <p:spPr>
          <a:xfrm>
            <a:off x="512064" y="2450592"/>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Rectangle 28"/>
          <p:cNvSpPr/>
          <p:nvPr/>
        </p:nvSpPr>
        <p:spPr>
          <a:xfrm>
            <a:off x="3279648" y="2450592"/>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WEEKS 4 TO 6</a:t>
            </a:r>
          </a:p>
          <a:p>
            <a:pPr algn="l">
              <a:lnSpc>
                <a:spcPct val="96000"/>
              </a:lnSpc>
              <a:spcAft>
                <a:spcPts val="700"/>
              </a:spcAft>
            </a:pPr>
            <a:r>
              <a:rPr sz="1250" b="0">
                <a:solidFill>
                  <a:srgbClr val="006838"/>
                </a:solidFill>
                <a:latin typeface="Arial Black"/>
              </a:rPr>
              <a:t>24 February to 9 March</a:t>
            </a:r>
          </a:p>
          <a:p>
            <a:pPr algn="l">
              <a:lnSpc>
                <a:spcPct val="114000"/>
              </a:lnSpc>
              <a:spcAft>
                <a:spcPts val="800"/>
              </a:spcAft>
            </a:pPr>
            <a:r>
              <a:rPr sz="850" b="0">
                <a:solidFill>
                  <a:srgbClr val="1F3326"/>
                </a:solidFill>
                <a:latin typeface="Arial"/>
              </a:rPr>
              <a:t>Teasers run on 17 and 22 February. The film launches 24 February. We retarget film viewers into the contest. They convert best because they are already registered.</a:t>
            </a:r>
          </a:p>
        </p:txBody>
      </p:sp>
      <p:sp>
        <p:nvSpPr>
          <p:cNvPr id="30" name="Rectangle 29"/>
          <p:cNvSpPr/>
          <p:nvPr/>
        </p:nvSpPr>
        <p:spPr>
          <a:xfrm>
            <a:off x="3279648" y="2450592"/>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Rectangle 30"/>
          <p:cNvSpPr/>
          <p:nvPr/>
        </p:nvSpPr>
        <p:spPr>
          <a:xfrm>
            <a:off x="6047232" y="2450592"/>
            <a:ext cx="2584704" cy="150736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219456" bIns="91440">
            <a:noAutofit/>
          </a:bodyPr>
          <a:lstStyle/>
          <a:p>
            <a:pPr algn="l">
              <a:lnSpc>
                <a:spcPct val="100000"/>
              </a:lnSpc>
              <a:spcAft>
                <a:spcPts val="500"/>
              </a:spcAft>
            </a:pPr>
            <a:r>
              <a:rPr sz="800" b="1">
                <a:solidFill>
                  <a:srgbClr val="6E8A76"/>
                </a:solidFill>
                <a:latin typeface="Arial"/>
              </a:rPr>
              <a:t>WEEKS 7 TO 10</a:t>
            </a:r>
          </a:p>
          <a:p>
            <a:pPr algn="l">
              <a:lnSpc>
                <a:spcPct val="96000"/>
              </a:lnSpc>
              <a:spcAft>
                <a:spcPts val="700"/>
              </a:spcAft>
            </a:pPr>
            <a:r>
              <a:rPr sz="1250" b="0">
                <a:solidFill>
                  <a:srgbClr val="006838"/>
                </a:solidFill>
                <a:latin typeface="Arial Black"/>
              </a:rPr>
              <a:t>10 March to 5 April</a:t>
            </a:r>
          </a:p>
          <a:p>
            <a:pPr algn="l">
              <a:lnSpc>
                <a:spcPct val="114000"/>
              </a:lnSpc>
              <a:spcAft>
                <a:spcPts val="800"/>
              </a:spcAft>
            </a:pPr>
            <a:r>
              <a:rPr sz="850" b="0">
                <a:solidFill>
                  <a:srgbClr val="1F3326"/>
                </a:solidFill>
                <a:latin typeface="Arial"/>
              </a:rPr>
              <a:t>Raya lands 10 March, so we pull contest spend for three days. Balik kampung and open house run through Syawal. Grand draw 9 April and the report by 17 April.</a:t>
            </a:r>
          </a:p>
        </p:txBody>
      </p:sp>
      <p:sp>
        <p:nvSpPr>
          <p:cNvPr id="32" name="Rectangle 31"/>
          <p:cNvSpPr/>
          <p:nvPr/>
        </p:nvSpPr>
        <p:spPr>
          <a:xfrm>
            <a:off x="6047232" y="2450592"/>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ectangle 3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date that cannot move: </a:t>
            </a:r>
            <a:r>
              <a:rPr sz="950" b="0">
                <a:solidFill>
                  <a:srgbClr val="FFFFFF"/>
                </a:solidFill>
                <a:latin typeface="Arial"/>
              </a:rPr>
              <a:t>15 January. The page, the Mata system and every printed code must be live and 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365760"/>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What is still open.</a:t>
            </a:r>
          </a:p>
        </p:txBody>
      </p:sp>
      <p:sp>
        <p:nvSpPr>
          <p:cNvPr id="4" name="TextBox 3"/>
          <p:cNvSpPr txBox="1"/>
          <p:nvPr/>
        </p:nvSpPr>
        <p:spPr>
          <a:xfrm>
            <a:off x="512064" y="1005839"/>
            <a:ext cx="8119872" cy="229616"/>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Six risks we are carrying, and eight answers we need from Saji.</a:t>
            </a:r>
          </a:p>
        </p:txBody>
      </p:sp>
      <p:sp>
        <p:nvSpPr>
          <p:cNvPr id="5" name="Rectangle 4"/>
          <p:cNvSpPr/>
          <p:nvPr/>
        </p:nvSpPr>
        <p:spPr>
          <a:xfrm>
            <a:off x="512064" y="1481328"/>
            <a:ext cx="3968496" cy="285292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481328"/>
            <a:ext cx="3968496"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664208"/>
            <a:ext cx="3639312" cy="182880"/>
          </a:xfrm>
          <a:prstGeom prst="rect">
            <a:avLst/>
          </a:prstGeom>
          <a:noFill/>
        </p:spPr>
        <p:txBody>
          <a:bodyPr wrap="square" lIns="0" rIns="0" tIns="0" bIns="0" anchor="t">
            <a:noAutofit/>
          </a:bodyPr>
          <a:lstStyle/>
          <a:p>
            <a:pPr algn="l">
              <a:lnSpc>
                <a:spcPct val="92000"/>
              </a:lnSpc>
            </a:pPr>
            <a:r>
              <a:rPr sz="800" b="1">
                <a:solidFill>
                  <a:srgbClr val="6E8A76"/>
                </a:solidFill>
                <a:latin typeface="Arial"/>
              </a:rPr>
              <a:t>RISKS WE CARRY</a:t>
            </a:r>
          </a:p>
        </p:txBody>
      </p:sp>
      <p:sp>
        <p:nvSpPr>
          <p:cNvPr id="8" name="TextBox 7"/>
          <p:cNvSpPr txBox="1"/>
          <p:nvPr/>
        </p:nvSpPr>
        <p:spPr>
          <a:xfrm>
            <a:off x="676656" y="1901952"/>
            <a:ext cx="3639312" cy="2322576"/>
          </a:xfrm>
          <a:prstGeom prst="rect">
            <a:avLst/>
          </a:prstGeom>
          <a:noFill/>
        </p:spPr>
        <p:txBody>
          <a:bodyPr wrap="square" lIns="0" rIns="0" tIns="0" bIns="0">
            <a:noAutofit/>
          </a:bodyPr>
          <a:lstStyle/>
          <a:p>
            <a:pPr>
              <a:lnSpc>
                <a:spcPct val="106000"/>
              </a:lnSpc>
              <a:spcAft>
                <a:spcPts val="600"/>
              </a:spcAft>
            </a:pPr>
            <a:r>
              <a:rPr sz="780" b="1">
                <a:solidFill>
                  <a:srgbClr val="C5192B"/>
                </a:solidFill>
                <a:latin typeface="Arial"/>
              </a:rPr>
              <a:t>▪  </a:t>
            </a:r>
            <a:r>
              <a:rPr sz="780">
                <a:solidFill>
                  <a:srgbClr val="1F3326"/>
                </a:solidFill>
                <a:latin typeface="Arial"/>
              </a:rPr>
              <a:t>We built on RM145,000. The RM50,000 from 24 September looks like the Bulan Bintang tier rather than our budget.</a:t>
            </a:r>
          </a:p>
          <a:p>
            <a:pPr>
              <a:lnSpc>
                <a:spcPct val="106000"/>
              </a:lnSpc>
              <a:spcAft>
                <a:spcPts val="600"/>
              </a:spcAft>
            </a:pPr>
            <a:r>
              <a:rPr sz="780" b="1">
                <a:solidFill>
                  <a:srgbClr val="C5192B"/>
                </a:solidFill>
                <a:latin typeface="Arial"/>
              </a:rPr>
              <a:t>▪  </a:t>
            </a:r>
            <a:r>
              <a:rPr sz="780">
                <a:solidFill>
                  <a:srgbClr val="1F3326"/>
                </a:solidFill>
                <a:latin typeface="Arial"/>
              </a:rPr>
              <a:t>The 7.5% sign-up rate is an estimate. At 5% we miss the 4,000 target.</a:t>
            </a:r>
          </a:p>
          <a:p>
            <a:pPr>
              <a:lnSpc>
                <a:spcPct val="106000"/>
              </a:lnSpc>
              <a:spcAft>
                <a:spcPts val="600"/>
              </a:spcAft>
            </a:pPr>
            <a:r>
              <a:rPr sz="780" b="1">
                <a:solidFill>
                  <a:srgbClr val="C5192B"/>
                </a:solidFill>
                <a:latin typeface="Arial"/>
              </a:rPr>
              <a:t>▪  </a:t>
            </a:r>
            <a:r>
              <a:rPr sz="780">
                <a:solidFill>
                  <a:srgbClr val="1F3326"/>
                </a:solidFill>
                <a:latin typeface="Arial"/>
              </a:rPr>
              <a:t>Checking 13,100 receipts is three times the 2026 workload. We have not costed the people for it.</a:t>
            </a:r>
          </a:p>
          <a:p>
            <a:pPr>
              <a:lnSpc>
                <a:spcPct val="106000"/>
              </a:lnSpc>
              <a:spcAft>
                <a:spcPts val="600"/>
              </a:spcAft>
            </a:pPr>
            <a:r>
              <a:rPr sz="780" b="1">
                <a:solidFill>
                  <a:srgbClr val="C5192B"/>
                </a:solidFill>
                <a:latin typeface="Arial"/>
              </a:rPr>
              <a:t>▪  </a:t>
            </a:r>
            <a:r>
              <a:rPr sz="780">
                <a:solidFill>
                  <a:srgbClr val="1F3326"/>
                </a:solidFill>
                <a:latin typeface="Arial"/>
              </a:rPr>
              <a:t>A draw plus any instant win may count as two games of chance under one permit.</a:t>
            </a:r>
          </a:p>
          <a:p>
            <a:pPr>
              <a:lnSpc>
                <a:spcPct val="106000"/>
              </a:lnSpc>
              <a:spcAft>
                <a:spcPts val="600"/>
              </a:spcAft>
            </a:pPr>
            <a:r>
              <a:rPr sz="780" b="1">
                <a:solidFill>
                  <a:srgbClr val="C5192B"/>
                </a:solidFill>
                <a:latin typeface="Arial"/>
              </a:rPr>
              <a:t>▪  </a:t>
            </a:r>
            <a:r>
              <a:rPr sz="780">
                <a:solidFill>
                  <a:srgbClr val="1F3326"/>
                </a:solidFill>
                <a:latin typeface="Arial"/>
              </a:rPr>
              <a:t>Roda Rezeki stock, truck numbers and bazaar space sit outside this budget.</a:t>
            </a:r>
          </a:p>
          <a:p>
            <a:pPr>
              <a:lnSpc>
                <a:spcPct val="106000"/>
              </a:lnSpc>
              <a:spcAft>
                <a:spcPts val="600"/>
              </a:spcAft>
            </a:pPr>
            <a:r>
              <a:rPr sz="780" b="1">
                <a:solidFill>
                  <a:srgbClr val="C5192B"/>
                </a:solidFill>
                <a:latin typeface="Arial"/>
              </a:rPr>
              <a:t>▪  </a:t>
            </a:r>
            <a:r>
              <a:rPr sz="780">
                <a:solidFill>
                  <a:srgbClr val="1F3326"/>
                </a:solidFill>
                <a:latin typeface="Arial"/>
              </a:rPr>
              <a:t>We still do not know what 2026 spent by platform, so every CPM is an estimate.</a:t>
            </a:r>
          </a:p>
        </p:txBody>
      </p:sp>
      <p:sp>
        <p:nvSpPr>
          <p:cNvPr id="9" name="Rectangle 8"/>
          <p:cNvSpPr/>
          <p:nvPr/>
        </p:nvSpPr>
        <p:spPr>
          <a:xfrm>
            <a:off x="4663440" y="1481328"/>
            <a:ext cx="3968496" cy="285292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4663440" y="1481328"/>
            <a:ext cx="3968496"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4828032" y="1664208"/>
            <a:ext cx="3639312" cy="182880"/>
          </a:xfrm>
          <a:prstGeom prst="rect">
            <a:avLst/>
          </a:prstGeom>
          <a:noFill/>
        </p:spPr>
        <p:txBody>
          <a:bodyPr wrap="square" lIns="0" rIns="0" tIns="0" bIns="0" anchor="t">
            <a:noAutofit/>
          </a:bodyPr>
          <a:lstStyle/>
          <a:p>
            <a:pPr algn="l">
              <a:lnSpc>
                <a:spcPct val="92000"/>
              </a:lnSpc>
            </a:pPr>
            <a:r>
              <a:rPr sz="800" b="1">
                <a:solidFill>
                  <a:srgbClr val="6E8A76"/>
                </a:solidFill>
                <a:latin typeface="Arial"/>
              </a:rPr>
              <a:t>ANSWERS WE NEED FROM SAJI</a:t>
            </a:r>
          </a:p>
        </p:txBody>
      </p:sp>
      <p:sp>
        <p:nvSpPr>
          <p:cNvPr id="12" name="TextBox 11"/>
          <p:cNvSpPr txBox="1"/>
          <p:nvPr/>
        </p:nvSpPr>
        <p:spPr>
          <a:xfrm>
            <a:off x="4828032" y="1901952"/>
            <a:ext cx="3639312" cy="2322576"/>
          </a:xfrm>
          <a:prstGeom prst="rect">
            <a:avLst/>
          </a:prstGeom>
          <a:noFill/>
        </p:spPr>
        <p:txBody>
          <a:bodyPr wrap="square" lIns="0" rIns="0" tIns="0" bIns="0">
            <a:noAutofit/>
          </a:bodyPr>
          <a:lstStyle/>
          <a:p>
            <a:pPr>
              <a:lnSpc>
                <a:spcPct val="106000"/>
              </a:lnSpc>
              <a:spcAft>
                <a:spcPts val="500"/>
              </a:spcAft>
            </a:pPr>
            <a:r>
              <a:rPr sz="780" b="1">
                <a:solidFill>
                  <a:srgbClr val="006838"/>
                </a:solidFill>
                <a:latin typeface="Arial"/>
              </a:rPr>
              <a:t>▪  </a:t>
            </a:r>
            <a:r>
              <a:rPr sz="780">
                <a:solidFill>
                  <a:srgbClr val="1F3326"/>
                </a:solidFill>
                <a:latin typeface="Arial"/>
              </a:rPr>
              <a:t>Is RM50,000 our campaign budget, or the Bulan Bintang tier?</a:t>
            </a:r>
          </a:p>
          <a:p>
            <a:pPr>
              <a:lnSpc>
                <a:spcPct val="106000"/>
              </a:lnSpc>
              <a:spcAft>
                <a:spcPts val="500"/>
              </a:spcAft>
            </a:pPr>
            <a:r>
              <a:rPr sz="780" b="1">
                <a:solidFill>
                  <a:srgbClr val="006838"/>
                </a:solidFill>
                <a:latin typeface="Arial"/>
              </a:rPr>
              <a:t>▪  </a:t>
            </a:r>
            <a:r>
              <a:rPr sz="780">
                <a:solidFill>
                  <a:srgbClr val="1F3326"/>
                </a:solidFill>
                <a:latin typeface="Arial"/>
              </a:rPr>
              <a:t>What did the 2026 campaign spend on digital, by platform?</a:t>
            </a:r>
          </a:p>
          <a:p>
            <a:pPr>
              <a:lnSpc>
                <a:spcPct val="106000"/>
              </a:lnSpc>
              <a:spcAft>
                <a:spcPts val="500"/>
              </a:spcAft>
            </a:pPr>
            <a:r>
              <a:rPr sz="780" b="1">
                <a:solidFill>
                  <a:srgbClr val="006838"/>
                </a:solidFill>
                <a:latin typeface="Arial"/>
              </a:rPr>
              <a:t>▪  </a:t>
            </a:r>
            <a:r>
              <a:rPr sz="780">
                <a:solidFill>
                  <a:srgbClr val="1F3326"/>
                </a:solidFill>
                <a:latin typeface="Arial"/>
              </a:rPr>
              <a:t>Which products carry the Mata multiplier, and who signs off each Monday?</a:t>
            </a:r>
          </a:p>
          <a:p>
            <a:pPr>
              <a:lnSpc>
                <a:spcPct val="106000"/>
              </a:lnSpc>
              <a:spcAft>
                <a:spcPts val="500"/>
              </a:spcAft>
            </a:pPr>
            <a:r>
              <a:rPr sz="780" b="1">
                <a:solidFill>
                  <a:srgbClr val="006838"/>
                </a:solidFill>
                <a:latin typeface="Arial"/>
              </a:rPr>
              <a:t>▪  </a:t>
            </a:r>
            <a:r>
              <a:rPr sz="780">
                <a:solidFill>
                  <a:srgbClr val="1F3326"/>
                </a:solidFill>
                <a:latin typeface="Arial"/>
              </a:rPr>
              <a:t>One grand draw of RM14,000, or a smaller prize every week?</a:t>
            </a:r>
          </a:p>
          <a:p>
            <a:pPr>
              <a:lnSpc>
                <a:spcPct val="106000"/>
              </a:lnSpc>
              <a:spcAft>
                <a:spcPts val="500"/>
              </a:spcAft>
            </a:pPr>
            <a:r>
              <a:rPr sz="780" b="1">
                <a:solidFill>
                  <a:srgbClr val="006838"/>
                </a:solidFill>
                <a:latin typeface="Arial"/>
              </a:rPr>
              <a:t>▪  </a:t>
            </a:r>
            <a:r>
              <a:rPr sz="780">
                <a:solidFill>
                  <a:srgbClr val="1F3326"/>
                </a:solidFill>
                <a:latin typeface="Arial"/>
              </a:rPr>
              <a:t>Does Bulan Bintang join, at which tier, and by what date?</a:t>
            </a:r>
          </a:p>
          <a:p>
            <a:pPr>
              <a:lnSpc>
                <a:spcPct val="106000"/>
              </a:lnSpc>
              <a:spcAft>
                <a:spcPts val="500"/>
              </a:spcAft>
            </a:pPr>
            <a:r>
              <a:rPr sz="780" b="1">
                <a:solidFill>
                  <a:srgbClr val="006838"/>
                </a:solidFill>
                <a:latin typeface="Arial"/>
              </a:rPr>
              <a:t>▪  </a:t>
            </a:r>
            <a:r>
              <a:rPr sz="780">
                <a:solidFill>
                  <a:srgbClr val="1F3326"/>
                </a:solidFill>
                <a:latin typeface="Arial"/>
              </a:rPr>
              <a:t>How many roadshow and bazaar stops, and how many trucks?</a:t>
            </a:r>
          </a:p>
          <a:p>
            <a:pPr>
              <a:lnSpc>
                <a:spcPct val="106000"/>
              </a:lnSpc>
              <a:spcAft>
                <a:spcPts val="500"/>
              </a:spcAft>
            </a:pPr>
            <a:r>
              <a:rPr sz="780" b="1">
                <a:solidFill>
                  <a:srgbClr val="006838"/>
                </a:solidFill>
                <a:latin typeface="Arial"/>
              </a:rPr>
              <a:t>▪  </a:t>
            </a:r>
            <a:r>
              <a:rPr sz="780">
                <a:solidFill>
                  <a:srgbClr val="1F3326"/>
                </a:solidFill>
                <a:latin typeface="Arial"/>
              </a:rPr>
              <a:t>Who owns the entry database, and who is the PDPA data controller?</a:t>
            </a:r>
          </a:p>
          <a:p>
            <a:pPr>
              <a:lnSpc>
                <a:spcPct val="106000"/>
              </a:lnSpc>
              <a:spcAft>
                <a:spcPts val="500"/>
              </a:spcAft>
            </a:pPr>
            <a:r>
              <a:rPr sz="780" b="1">
                <a:solidFill>
                  <a:srgbClr val="006838"/>
                </a:solidFill>
                <a:latin typeface="Arial"/>
              </a:rPr>
              <a:t>▪  </a:t>
            </a:r>
            <a:r>
              <a:rPr sz="780">
                <a:solidFill>
                  <a:srgbClr val="1F3326"/>
                </a:solidFill>
                <a:latin typeface="Arial"/>
              </a:rPr>
              <a:t>Who checks the receipts, and how fast can they do it?</a:t>
            </a:r>
          </a:p>
        </p:txBody>
      </p:sp>
      <p:sp>
        <p:nvSpPr>
          <p:cNvPr id="13" name="Rectangle 1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Two things block the 15 January page: </a:t>
            </a:r>
            <a:r>
              <a:rPr sz="950" b="0">
                <a:solidFill>
                  <a:srgbClr val="FFFFFF"/>
                </a:solidFill>
                <a:latin typeface="Arial"/>
              </a:rPr>
              <a:t>pixel access and the domain. We can work around everything else.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