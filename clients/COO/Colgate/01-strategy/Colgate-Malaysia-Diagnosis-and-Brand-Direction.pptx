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5143500" cy="9144000"/>
  <p:embeddedFontLst>
    <p:embeddedFont>
      <p:font typeface="Inter Tight"/>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hhTVpOQ5aXEknlXZ+BPKB5acpd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E6FF8C8-3391-452F-899D-64A4625B6A48}">
  <a:tblStyle styleId="{2E6FF8C8-3391-452F-899D-64A4625B6A4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InterTight-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Tight-italic.fntdata"/><Relationship Id="rId25" Type="http://schemas.openxmlformats.org/officeDocument/2006/relationships/font" Target="fonts/InterTight-bold.fntdata"/><Relationship Id="rId28" Type="http://customschemas.google.com/relationships/presentationmetadata" Target="metadata"/><Relationship Id="rId27" Type="http://schemas.openxmlformats.org/officeDocument/2006/relationships/font" Target="fonts/InterTigh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 name="Google Shape;4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sp>
        <p:nvSpPr>
          <p:cNvPr id="16" name="Google Shape;16;p1"/>
          <p:cNvSpPr/>
          <p:nvPr/>
        </p:nvSpPr>
        <p:spPr>
          <a:xfrm>
            <a:off x="457200" y="1417320"/>
            <a:ext cx="5029200" cy="54864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rgbClr val="4A7BF7"/>
              </a:buClr>
              <a:buSzPts val="3600"/>
              <a:buFont typeface="Inter Tight"/>
              <a:buNone/>
            </a:pPr>
            <a:r>
              <a:rPr b="1" i="0" lang="en-US" sz="3600" u="none" cap="none" strike="noStrike">
                <a:solidFill>
                  <a:srgbClr val="4A7BF7"/>
                </a:solidFill>
                <a:latin typeface="Inter Tight"/>
                <a:ea typeface="Inter Tight"/>
                <a:cs typeface="Inter Tight"/>
                <a:sym typeface="Inter Tight"/>
              </a:rPr>
              <a:t>Colgate Malaysia</a:t>
            </a:r>
            <a:endParaRPr b="0" i="0" sz="3600" u="none" cap="none" strike="noStrike">
              <a:solidFill>
                <a:schemeClr val="dk1"/>
              </a:solidFill>
              <a:latin typeface="Calibri"/>
              <a:ea typeface="Calibri"/>
              <a:cs typeface="Calibri"/>
              <a:sym typeface="Calibri"/>
            </a:endParaRPr>
          </a:p>
        </p:txBody>
      </p:sp>
      <p:sp>
        <p:nvSpPr>
          <p:cNvPr id="17" name="Google Shape;17;p1"/>
          <p:cNvSpPr/>
          <p:nvPr/>
        </p:nvSpPr>
        <p:spPr>
          <a:xfrm>
            <a:off x="457200" y="2011675"/>
            <a:ext cx="4663800" cy="867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2600"/>
              <a:buFont typeface="Inter Tight"/>
              <a:buNone/>
            </a:pPr>
            <a:r>
              <a:rPr b="1" i="0" lang="en-US" sz="2600" u="none" cap="none" strike="noStrike">
                <a:solidFill>
                  <a:srgbClr val="0F0F0F"/>
                </a:solidFill>
                <a:latin typeface="Inter Tight"/>
                <a:ea typeface="Inter Tight"/>
                <a:cs typeface="Inter Tight"/>
                <a:sym typeface="Inter Tight"/>
              </a:rPr>
              <a:t>Market Diagnosis and Brand Direction</a:t>
            </a:r>
            <a:endParaRPr b="0" i="0" sz="2600" u="none" cap="none" strike="noStrike">
              <a:solidFill>
                <a:schemeClr val="dk1"/>
              </a:solidFill>
              <a:latin typeface="Calibri"/>
              <a:ea typeface="Calibri"/>
              <a:cs typeface="Calibri"/>
              <a:sym typeface="Calibri"/>
            </a:endParaRPr>
          </a:p>
        </p:txBody>
      </p:sp>
      <p:sp>
        <p:nvSpPr>
          <p:cNvPr id="18" name="Google Shape;18;p1"/>
          <p:cNvSpPr/>
          <p:nvPr/>
        </p:nvSpPr>
        <p:spPr>
          <a:xfrm>
            <a:off x="457200" y="2940690"/>
            <a:ext cx="47550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900"/>
              <a:buFont typeface="Inter Tight"/>
              <a:buNone/>
            </a:pPr>
            <a:r>
              <a:rPr b="0" i="0" lang="en-US" sz="900" u="none" cap="none" strike="noStrike">
                <a:solidFill>
                  <a:srgbClr val="4A4A4A"/>
                </a:solidFill>
                <a:latin typeface="Inter Tight"/>
                <a:ea typeface="Inter Tight"/>
                <a:cs typeface="Inter Tight"/>
                <a:sym typeface="Inter Tight"/>
              </a:rPr>
              <a:t>Research prepared for COO ahead of the Colgate branding pitch. Open-source evidence, August 2026.</a:t>
            </a:r>
            <a:endParaRPr b="0" i="0" sz="900" u="none" cap="none" strike="noStrike">
              <a:solidFill>
                <a:schemeClr val="dk1"/>
              </a:solidFill>
              <a:latin typeface="Calibri"/>
              <a:ea typeface="Calibri"/>
              <a:cs typeface="Calibri"/>
              <a:sym typeface="Calibri"/>
            </a:endParaRPr>
          </a:p>
        </p:txBody>
      </p:sp>
      <p:pic>
        <p:nvPicPr>
          <p:cNvPr descr="C:\Users\Jordan\Desktop\Claude Code\toggle-brain\assets\illustrations\step-form.png" id="19" name="Google Shape;19;p1"/>
          <p:cNvPicPr preferRelativeResize="0"/>
          <p:nvPr/>
        </p:nvPicPr>
        <p:blipFill rotWithShape="1">
          <a:blip r:embed="rId3">
            <a:alphaModFix/>
          </a:blip>
          <a:srcRect b="0" l="0" r="0" t="0"/>
          <a:stretch/>
        </p:blipFill>
        <p:spPr>
          <a:xfrm>
            <a:off x="5989320" y="1371600"/>
            <a:ext cx="2651760" cy="2148840"/>
          </a:xfrm>
          <a:prstGeom prst="rect">
            <a:avLst/>
          </a:prstGeom>
          <a:noFill/>
          <a:ln>
            <a:noFill/>
          </a:ln>
        </p:spPr>
      </p:pic>
      <p:sp>
        <p:nvSpPr>
          <p:cNvPr id="20" name="Google Shape;20;p1"/>
          <p:cNvSpPr/>
          <p:nvPr/>
        </p:nvSpPr>
        <p:spPr>
          <a:xfrm>
            <a:off x="457200" y="4640580"/>
            <a:ext cx="36576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prepared by Toggle Solutions ]</a:t>
            </a:r>
            <a:endParaRPr b="0" i="0" sz="750" u="none" cap="none" strike="noStrike">
              <a:solidFill>
                <a:schemeClr val="dk1"/>
              </a:solidFill>
              <a:latin typeface="Calibri"/>
              <a:ea typeface="Calibri"/>
              <a:cs typeface="Calibri"/>
              <a:sym typeface="Calibri"/>
            </a:endParaRPr>
          </a:p>
        </p:txBody>
      </p:sp>
      <p:sp>
        <p:nvSpPr>
          <p:cNvPr id="21" name="Google Shape;21;p1"/>
          <p:cNvSpPr/>
          <p:nvPr/>
        </p:nvSpPr>
        <p:spPr>
          <a:xfrm>
            <a:off x="6675120" y="4640580"/>
            <a:ext cx="2011680" cy="21945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[ 2 August 2026 ]</a:t>
            </a:r>
            <a:endParaRPr b="0" i="0" sz="750" u="none" cap="none" strike="noStrike">
              <a:solidFill>
                <a:schemeClr val="dk1"/>
              </a:solidFill>
              <a:latin typeface="Calibri"/>
              <a:ea typeface="Calibri"/>
              <a:cs typeface="Calibri"/>
              <a:sym typeface="Calibri"/>
            </a:endParaRPr>
          </a:p>
        </p:txBody>
      </p:sp>
      <p:pic>
        <p:nvPicPr>
          <p:cNvPr descr="./wordmark.png" id="22" name="Google Shape;22;p1"/>
          <p:cNvPicPr preferRelativeResize="0"/>
          <p:nvPr/>
        </p:nvPicPr>
        <p:blipFill rotWithShape="1">
          <a:blip r:embed="rId4">
            <a:alphaModFix/>
          </a:blip>
          <a:srcRect b="0" l="0" r="0" t="0"/>
          <a:stretch/>
        </p:blipFill>
        <p:spPr>
          <a:xfrm>
            <a:off x="457200" y="402336"/>
            <a:ext cx="1417320" cy="38404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sp>
        <p:nvSpPr>
          <p:cNvPr id="28" name="Google Shape;28;p2"/>
          <p:cNvSpPr/>
          <p:nvPr/>
        </p:nvSpPr>
        <p:spPr>
          <a:xfrm>
            <a:off x="7498080" y="146304"/>
            <a:ext cx="12801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29" name="Google Shape;29;p2"/>
          <p:cNvSpPr/>
          <p:nvPr/>
        </p:nvSpPr>
        <p:spPr>
          <a:xfrm>
            <a:off x="457200" y="329184"/>
            <a:ext cx="6766560" cy="3840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Executive summary</a:t>
            </a:r>
            <a:endParaRPr b="0" i="0" sz="2150" u="none" cap="none" strike="noStrike">
              <a:solidFill>
                <a:schemeClr val="dk1"/>
              </a:solidFill>
              <a:latin typeface="Calibri"/>
              <a:ea typeface="Calibri"/>
              <a:cs typeface="Calibri"/>
              <a:sym typeface="Calibri"/>
            </a:endParaRPr>
          </a:p>
        </p:txBody>
      </p:sp>
      <p:sp>
        <p:nvSpPr>
          <p:cNvPr id="30" name="Google Shape;30;p2"/>
          <p:cNvSpPr/>
          <p:nvPr/>
        </p:nvSpPr>
        <p:spPr>
          <a:xfrm>
            <a:off x="457200" y="768096"/>
            <a:ext cx="7863840" cy="31089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900"/>
              <a:buFont typeface="Inter Tight"/>
              <a:buNone/>
            </a:pPr>
            <a:r>
              <a:rPr b="0" i="0" lang="en-US" sz="900" u="none" cap="none" strike="noStrike">
                <a:solidFill>
                  <a:srgbClr val="4A4A4A"/>
                </a:solidFill>
                <a:latin typeface="Inter Tight"/>
                <a:ea typeface="Inter Tight"/>
                <a:cs typeface="Inter Tight"/>
                <a:sym typeface="Inter Tight"/>
              </a:rPr>
              <a:t>The short version, in plain language, before any of the detail.</a:t>
            </a:r>
            <a:endParaRPr b="0" i="0" sz="900" u="none" cap="none" strike="noStrike">
              <a:solidFill>
                <a:schemeClr val="dk1"/>
              </a:solidFill>
              <a:latin typeface="Calibri"/>
              <a:ea typeface="Calibri"/>
              <a:cs typeface="Calibri"/>
              <a:sym typeface="Calibri"/>
            </a:endParaRPr>
          </a:p>
        </p:txBody>
      </p:sp>
      <p:sp>
        <p:nvSpPr>
          <p:cNvPr id="31" name="Google Shape;31;p2"/>
          <p:cNvSpPr/>
          <p:nvPr/>
        </p:nvSpPr>
        <p:spPr>
          <a:xfrm>
            <a:off x="457200" y="1152144"/>
            <a:ext cx="8229600" cy="1024128"/>
          </a:xfrm>
          <a:prstGeom prst="roundRect">
            <a:avLst>
              <a:gd fmla="val 8036"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621792" y="1316736"/>
            <a:ext cx="7900416"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The brief is built on a date that does not hold.</a:t>
            </a:r>
            <a:endParaRPr b="0" i="0" sz="1000" u="none" cap="none" strike="noStrike">
              <a:solidFill>
                <a:schemeClr val="dk1"/>
              </a:solidFill>
              <a:latin typeface="Calibri"/>
              <a:ea typeface="Calibri"/>
              <a:cs typeface="Calibri"/>
              <a:sym typeface="Calibri"/>
            </a:endParaRPr>
          </a:p>
        </p:txBody>
      </p:sp>
      <p:sp>
        <p:nvSpPr>
          <p:cNvPr id="33" name="Google Shape;33;p2"/>
          <p:cNvSpPr/>
          <p:nvPr/>
        </p:nvSpPr>
        <p:spPr>
          <a:xfrm>
            <a:off x="621792" y="1572768"/>
            <a:ext cx="7900416" cy="475488"/>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Hari Raya and Chinese New Year do not fall together in 2027. Chinese New Year is 6 February 2027. Hari Raya Aidilfitri lands around 9 March 2027, roughly 31 days later. What actually collides in February 2027 is Chinese New Year and the first day of Ramadan, two days apart. The true Raya and Chinese New Year overlap arrives in 2029, when the two fall about one day apart.</a:t>
            </a:r>
            <a:endParaRPr b="0" i="0" sz="800" u="none" cap="none" strike="noStrike">
              <a:solidFill>
                <a:schemeClr val="dk1"/>
              </a:solidFill>
              <a:latin typeface="Calibri"/>
              <a:ea typeface="Calibri"/>
              <a:cs typeface="Calibri"/>
              <a:sym typeface="Calibri"/>
            </a:endParaRPr>
          </a:p>
        </p:txBody>
      </p:sp>
      <p:sp>
        <p:nvSpPr>
          <p:cNvPr id="34" name="Google Shape;34;p2"/>
          <p:cNvSpPr/>
          <p:nvPr/>
        </p:nvSpPr>
        <p:spPr>
          <a:xfrm>
            <a:off x="457200" y="2286000"/>
            <a:ext cx="8229600" cy="1024128"/>
          </a:xfrm>
          <a:prstGeom prst="roundRect">
            <a:avLst>
              <a:gd fmla="val 8036"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621792" y="2450592"/>
            <a:ext cx="7900416"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The boycott is real as sentiment, but the evidence does not make it the main cause.</a:t>
            </a:r>
            <a:endParaRPr b="0" i="0" sz="1000" u="none" cap="none" strike="noStrike">
              <a:solidFill>
                <a:schemeClr val="dk1"/>
              </a:solidFill>
              <a:latin typeface="Calibri"/>
              <a:ea typeface="Calibri"/>
              <a:cs typeface="Calibri"/>
              <a:sym typeface="Calibri"/>
            </a:endParaRPr>
          </a:p>
        </p:txBody>
      </p:sp>
      <p:sp>
        <p:nvSpPr>
          <p:cNvPr id="36" name="Google Shape;36;p2"/>
          <p:cNvSpPr/>
          <p:nvPr/>
        </p:nvSpPr>
        <p:spPr>
          <a:xfrm>
            <a:off x="621792" y="2706624"/>
            <a:ext cx="7900416" cy="475488"/>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Colgate-Palmolive never names Malaysia in its own 2025 investor disclosures. It attributes the Asia Pacific softness to Greater China and India, and reports that the rest of the region grew. A boycott also rejects a brand, not a shelf position, so it cannot explain why Optic White grows while Total and Maximum Cavity Protection fall.</a:t>
            </a:r>
            <a:endParaRPr b="0" i="0" sz="800" u="none" cap="none" strike="noStrike">
              <a:solidFill>
                <a:schemeClr val="dk1"/>
              </a:solidFill>
              <a:latin typeface="Calibri"/>
              <a:ea typeface="Calibri"/>
              <a:cs typeface="Calibri"/>
              <a:sym typeface="Calibri"/>
            </a:endParaRPr>
          </a:p>
        </p:txBody>
      </p:sp>
      <p:sp>
        <p:nvSpPr>
          <p:cNvPr id="37" name="Google Shape;37;p2"/>
          <p:cNvSpPr/>
          <p:nvPr/>
        </p:nvSpPr>
        <p:spPr>
          <a:xfrm>
            <a:off x="457200" y="4832604"/>
            <a:ext cx="82296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A8"/>
              </a:buClr>
              <a:buSzPts val="700"/>
              <a:buFont typeface="Inter Tight"/>
              <a:buNone/>
            </a:pPr>
            <a:r>
              <a:rPr b="0" i="0" lang="en-US" sz="700" u="none" cap="none" strike="noStrike">
                <a:solidFill>
                  <a:srgbClr val="9AA0A8"/>
                </a:solidFill>
                <a:latin typeface="Inter Tight"/>
                <a:ea typeface="Inter Tight"/>
                <a:cs typeface="Inter Tight"/>
                <a:sym typeface="Inter Tight"/>
              </a:rPr>
              <a:t>Dates computed from the Chinese lunisolar and Um al-Qura calendars. Malaysia confirms Syawal by moon sighting, so Raya 2027 may shift by a day. The conclusion holds either way.</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3"/>
          <p:cNvSpPr/>
          <p:nvPr/>
        </p:nvSpPr>
        <p:spPr>
          <a:xfrm>
            <a:off x="7498080" y="146304"/>
            <a:ext cx="12801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44" name="Google Shape;44;p3"/>
          <p:cNvSpPr/>
          <p:nvPr/>
        </p:nvSpPr>
        <p:spPr>
          <a:xfrm>
            <a:off x="457200" y="329184"/>
            <a:ext cx="6766560" cy="3840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Executive summary, continued</a:t>
            </a:r>
            <a:endParaRPr b="0" i="0" sz="2150" u="none" cap="none" strike="noStrike">
              <a:solidFill>
                <a:schemeClr val="dk1"/>
              </a:solidFill>
              <a:latin typeface="Calibri"/>
              <a:ea typeface="Calibri"/>
              <a:cs typeface="Calibri"/>
              <a:sym typeface="Calibri"/>
            </a:endParaRPr>
          </a:p>
        </p:txBody>
      </p:sp>
      <p:sp>
        <p:nvSpPr>
          <p:cNvPr id="45" name="Google Shape;45;p3"/>
          <p:cNvSpPr/>
          <p:nvPr/>
        </p:nvSpPr>
        <p:spPr>
          <a:xfrm>
            <a:off x="457200" y="768096"/>
            <a:ext cx="7863840" cy="31089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900"/>
              <a:buFont typeface="Inter Tight"/>
              <a:buNone/>
            </a:pPr>
            <a:r>
              <a:rPr b="0" i="0" lang="en-US" sz="900" u="none" cap="none" strike="noStrike">
                <a:solidFill>
                  <a:srgbClr val="4A4A4A"/>
                </a:solidFill>
                <a:latin typeface="Inter Tight"/>
                <a:ea typeface="Inter Tight"/>
                <a:cs typeface="Inter Tight"/>
                <a:sym typeface="Inter Tight"/>
              </a:rPr>
              <a:t>What we think is actually happening, and what we would do about it.</a:t>
            </a:r>
            <a:endParaRPr b="0" i="0" sz="900" u="none" cap="none" strike="noStrike">
              <a:solidFill>
                <a:schemeClr val="dk1"/>
              </a:solidFill>
              <a:latin typeface="Calibri"/>
              <a:ea typeface="Calibri"/>
              <a:cs typeface="Calibri"/>
              <a:sym typeface="Calibri"/>
            </a:endParaRPr>
          </a:p>
        </p:txBody>
      </p:sp>
      <p:sp>
        <p:nvSpPr>
          <p:cNvPr id="46" name="Google Shape;46;p3"/>
          <p:cNvSpPr/>
          <p:nvPr/>
        </p:nvSpPr>
        <p:spPr>
          <a:xfrm>
            <a:off x="457200" y="1152144"/>
            <a:ext cx="8229600" cy="960120"/>
          </a:xfrm>
          <a:prstGeom prst="roundRect">
            <a:avLst>
              <a:gd fmla="val 8571"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621792" y="1316736"/>
            <a:ext cx="7900416"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The most fixable barrier in the Malay market is halal visibility, not geopolitics.</a:t>
            </a:r>
            <a:endParaRPr b="0" i="0" sz="1000" u="none" cap="none" strike="noStrike">
              <a:solidFill>
                <a:schemeClr val="dk1"/>
              </a:solidFill>
              <a:latin typeface="Calibri"/>
              <a:ea typeface="Calibri"/>
              <a:cs typeface="Calibri"/>
              <a:sym typeface="Calibri"/>
            </a:endParaRPr>
          </a:p>
        </p:txBody>
      </p:sp>
      <p:sp>
        <p:nvSpPr>
          <p:cNvPr id="48" name="Google Shape;48;p3"/>
          <p:cNvSpPr/>
          <p:nvPr/>
        </p:nvSpPr>
        <p:spPr>
          <a:xfrm>
            <a:off x="621792" y="1572768"/>
            <a:ext cx="7900416" cy="41148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Colgate toothpaste sold in Malaysia does not carry the Malaysian JAKIM halal logo, because it is not manufactured in Malaysia. JAKIM recognizes the foreign halal certification it does hold, but the pack does not show the mark Malaysian shoppers look for. That question has circulated among Malay consumers since at least 2007 and is still being asked today.</a:t>
            </a:r>
            <a:endParaRPr b="0" i="0" sz="800" u="none" cap="none" strike="noStrike">
              <a:solidFill>
                <a:schemeClr val="dk1"/>
              </a:solidFill>
              <a:latin typeface="Calibri"/>
              <a:ea typeface="Calibri"/>
              <a:cs typeface="Calibri"/>
              <a:sym typeface="Calibri"/>
            </a:endParaRPr>
          </a:p>
        </p:txBody>
      </p:sp>
      <p:sp>
        <p:nvSpPr>
          <p:cNvPr id="49" name="Google Shape;49;p3"/>
          <p:cNvSpPr/>
          <p:nvPr/>
        </p:nvSpPr>
        <p:spPr>
          <a:xfrm>
            <a:off x="457200" y="2221992"/>
            <a:ext cx="8229600" cy="960120"/>
          </a:xfrm>
          <a:prstGeom prst="roundRect">
            <a:avLst>
              <a:gd fmla="val 8571"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a:off x="621792" y="2386584"/>
            <a:ext cx="7900416"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Our recommendation is a three-year platform, not a one-off festive campaign.</a:t>
            </a:r>
            <a:endParaRPr b="0" i="0" sz="1000" u="none" cap="none" strike="noStrike">
              <a:solidFill>
                <a:schemeClr val="dk1"/>
              </a:solidFill>
              <a:latin typeface="Calibri"/>
              <a:ea typeface="Calibri"/>
              <a:cs typeface="Calibri"/>
              <a:sym typeface="Calibri"/>
            </a:endParaRPr>
          </a:p>
        </p:txBody>
      </p:sp>
      <p:sp>
        <p:nvSpPr>
          <p:cNvPr id="51" name="Google Shape;51;p3"/>
          <p:cNvSpPr/>
          <p:nvPr/>
        </p:nvSpPr>
        <p:spPr>
          <a:xfrm>
            <a:off x="621792" y="2642616"/>
            <a:ext cx="7900416" cy="41148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Own the February 2027 moment for what it genuinely is, a week where Chinese families feast and Muslim families begin fasting. Build the platform there, hold it through 2028, and land the real Kongsi Raya collision in 2029. Pair it with a halal-visibility fix, because that is the barrier the evidence supports and the one Colgate can actually remove.</a:t>
            </a:r>
            <a:endParaRPr b="0" i="0" sz="800" u="none" cap="none" strike="noStrike">
              <a:solidFill>
                <a:schemeClr val="dk1"/>
              </a:solidFill>
              <a:latin typeface="Calibri"/>
              <a:ea typeface="Calibri"/>
              <a:cs typeface="Calibri"/>
              <a:sym typeface="Calibri"/>
            </a:endParaRPr>
          </a:p>
        </p:txBody>
      </p:sp>
      <p:sp>
        <p:nvSpPr>
          <p:cNvPr id="52" name="Google Shape;52;p3"/>
          <p:cNvSpPr/>
          <p:nvPr/>
        </p:nvSpPr>
        <p:spPr>
          <a:xfrm>
            <a:off x="457200" y="4832604"/>
            <a:ext cx="82296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A8"/>
              </a:buClr>
              <a:buSzPts val="700"/>
              <a:buFont typeface="Inter Tight"/>
              <a:buNone/>
            </a:pPr>
            <a:r>
              <a:rPr b="0" i="0" lang="en-US" sz="700" u="none" cap="none" strike="noStrike">
                <a:solidFill>
                  <a:srgbClr val="9AA0A8"/>
                </a:solidFill>
                <a:latin typeface="Inter Tight"/>
                <a:ea typeface="Inter Tight"/>
                <a:cs typeface="Inter Tight"/>
                <a:sym typeface="Inter Tight"/>
              </a:rPr>
              <a:t>Full reasoning on the following slides. Evidence status and open gaps are listed at the end.</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4"/>
          <p:cNvSpPr/>
          <p:nvPr/>
        </p:nvSpPr>
        <p:spPr>
          <a:xfrm>
            <a:off x="7498080" y="146304"/>
            <a:ext cx="12801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59" name="Google Shape;59;p4"/>
          <p:cNvSpPr/>
          <p:nvPr/>
        </p:nvSpPr>
        <p:spPr>
          <a:xfrm>
            <a:off x="457200" y="329184"/>
            <a:ext cx="6766560" cy="3840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The recommended brand direction</a:t>
            </a:r>
            <a:endParaRPr b="0" i="0" sz="2150" u="none" cap="none" strike="noStrike">
              <a:solidFill>
                <a:schemeClr val="dk1"/>
              </a:solidFill>
              <a:latin typeface="Calibri"/>
              <a:ea typeface="Calibri"/>
              <a:cs typeface="Calibri"/>
              <a:sym typeface="Calibri"/>
            </a:endParaRPr>
          </a:p>
        </p:txBody>
      </p:sp>
      <p:sp>
        <p:nvSpPr>
          <p:cNvPr id="60" name="Google Shape;60;p4"/>
          <p:cNvSpPr/>
          <p:nvPr/>
        </p:nvSpPr>
        <p:spPr>
          <a:xfrm>
            <a:off x="457200" y="768096"/>
            <a:ext cx="7863840" cy="31089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900"/>
              <a:buFont typeface="Inter Tight"/>
              <a:buNone/>
            </a:pPr>
            <a:r>
              <a:rPr b="0" i="0" lang="en-US" sz="900" u="none" cap="none" strike="noStrike">
                <a:solidFill>
                  <a:srgbClr val="4A4A4A"/>
                </a:solidFill>
                <a:latin typeface="Inter Tight"/>
                <a:ea typeface="Inter Tight"/>
                <a:cs typeface="Inter Tight"/>
                <a:sym typeface="Inter Tight"/>
              </a:rPr>
              <a:t>One recommendation, not a menu.</a:t>
            </a:r>
            <a:endParaRPr b="0" i="0" sz="900" u="none" cap="none" strike="noStrike">
              <a:solidFill>
                <a:schemeClr val="dk1"/>
              </a:solidFill>
              <a:latin typeface="Calibri"/>
              <a:ea typeface="Calibri"/>
              <a:cs typeface="Calibri"/>
              <a:sym typeface="Calibri"/>
            </a:endParaRPr>
          </a:p>
        </p:txBody>
      </p:sp>
      <p:sp>
        <p:nvSpPr>
          <p:cNvPr id="61" name="Google Shape;61;p4"/>
          <p:cNvSpPr/>
          <p:nvPr/>
        </p:nvSpPr>
        <p:spPr>
          <a:xfrm>
            <a:off x="457200" y="1152144"/>
            <a:ext cx="8229600" cy="786384"/>
          </a:xfrm>
          <a:prstGeom prst="roundRect">
            <a:avLst>
              <a:gd fmla="val 10465"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621792" y="1316736"/>
            <a:ext cx="7900416"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One February. One house fasting, one house feasting. Colgate in both bathrooms.</a:t>
            </a:r>
            <a:endParaRPr b="0" i="0" sz="1000" u="none" cap="none" strike="noStrike">
              <a:solidFill>
                <a:schemeClr val="dk1"/>
              </a:solidFill>
              <a:latin typeface="Calibri"/>
              <a:ea typeface="Calibri"/>
              <a:cs typeface="Calibri"/>
              <a:sym typeface="Calibri"/>
            </a:endParaRPr>
          </a:p>
        </p:txBody>
      </p:sp>
      <p:sp>
        <p:nvSpPr>
          <p:cNvPr id="63" name="Google Shape;63;p4"/>
          <p:cNvSpPr/>
          <p:nvPr/>
        </p:nvSpPr>
        <p:spPr>
          <a:xfrm>
            <a:off x="621792" y="1572768"/>
            <a:ext cx="7900416" cy="237744"/>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Chinese New Year on 6 February 2027 and the first day of Ramadan on 8 February 2027 put two of Malaysia’s biggest cultural moments in the same week. Oral care is one of the few categories with a real functional job in both, fresh breath across reunion dinners and dry mouth across a fasting day.</a:t>
            </a:r>
            <a:endParaRPr b="0" i="0" sz="800" u="none" cap="none" strike="noStrike">
              <a:solidFill>
                <a:schemeClr val="dk1"/>
              </a:solidFill>
              <a:latin typeface="Calibri"/>
              <a:ea typeface="Calibri"/>
              <a:cs typeface="Calibri"/>
              <a:sym typeface="Calibri"/>
            </a:endParaRPr>
          </a:p>
        </p:txBody>
      </p:sp>
      <p:sp>
        <p:nvSpPr>
          <p:cNvPr id="64" name="Google Shape;64;p4"/>
          <p:cNvSpPr/>
          <p:nvPr/>
        </p:nvSpPr>
        <p:spPr>
          <a:xfrm>
            <a:off x="457200" y="2048256"/>
            <a:ext cx="2621280" cy="1371600"/>
          </a:xfrm>
          <a:prstGeom prst="roundRect">
            <a:avLst>
              <a:gd fmla="val 6000"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457200" y="2075688"/>
            <a:ext cx="45720" cy="1316736"/>
          </a:xfrm>
          <a:prstGeom prst="rect">
            <a:avLst/>
          </a:prstGeom>
          <a:solidFill>
            <a:srgbClr val="4A7BF7"/>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
          <p:cNvSpPr/>
          <p:nvPr/>
        </p:nvSpPr>
        <p:spPr>
          <a:xfrm>
            <a:off x="640080" y="2157984"/>
            <a:ext cx="2273808"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Why it is defensible</a:t>
            </a:r>
            <a:endParaRPr b="0" i="0" sz="1000" u="none" cap="none" strike="noStrike">
              <a:solidFill>
                <a:schemeClr val="dk1"/>
              </a:solidFill>
              <a:latin typeface="Calibri"/>
              <a:ea typeface="Calibri"/>
              <a:cs typeface="Calibri"/>
              <a:sym typeface="Calibri"/>
            </a:endParaRPr>
          </a:p>
        </p:txBody>
      </p:sp>
      <p:sp>
        <p:nvSpPr>
          <p:cNvPr id="67" name="Google Shape;67;p4"/>
          <p:cNvSpPr/>
          <p:nvPr/>
        </p:nvSpPr>
        <p:spPr>
          <a:xfrm>
            <a:off x="658368" y="2414016"/>
            <a:ext cx="2237232" cy="91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The date is checkable and correct.</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Nobody has claimed the moment yet.</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It survives a client fact-check.</a:t>
            </a:r>
            <a:endParaRPr b="0" i="0" sz="800" u="none" cap="none" strike="noStrike">
              <a:solidFill>
                <a:schemeClr val="dk1"/>
              </a:solidFill>
              <a:latin typeface="Calibri"/>
              <a:ea typeface="Calibri"/>
              <a:cs typeface="Calibri"/>
              <a:sym typeface="Calibri"/>
            </a:endParaRPr>
          </a:p>
        </p:txBody>
      </p:sp>
      <p:sp>
        <p:nvSpPr>
          <p:cNvPr id="68" name="Google Shape;68;p4"/>
          <p:cNvSpPr/>
          <p:nvPr/>
        </p:nvSpPr>
        <p:spPr>
          <a:xfrm>
            <a:off x="3261360" y="2048256"/>
            <a:ext cx="2621280" cy="1371600"/>
          </a:xfrm>
          <a:prstGeom prst="roundRect">
            <a:avLst>
              <a:gd fmla="val 6000"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3261360" y="2075688"/>
            <a:ext cx="45720" cy="1316736"/>
          </a:xfrm>
          <a:prstGeom prst="rect">
            <a:avLst/>
          </a:prstGeom>
          <a:solidFill>
            <a:srgbClr val="2ECC9B"/>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3444240" y="2157984"/>
            <a:ext cx="2273808"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Why it sells product</a:t>
            </a:r>
            <a:endParaRPr b="0" i="0" sz="1000" u="none" cap="none" strike="noStrike">
              <a:solidFill>
                <a:schemeClr val="dk1"/>
              </a:solidFill>
              <a:latin typeface="Calibri"/>
              <a:ea typeface="Calibri"/>
              <a:cs typeface="Calibri"/>
              <a:sym typeface="Calibri"/>
            </a:endParaRPr>
          </a:p>
        </p:txBody>
      </p:sp>
      <p:sp>
        <p:nvSpPr>
          <p:cNvPr id="71" name="Google Shape;71;p4"/>
          <p:cNvSpPr/>
          <p:nvPr/>
        </p:nvSpPr>
        <p:spPr>
          <a:xfrm>
            <a:off x="3462528" y="2414016"/>
            <a:ext cx="2237232" cy="91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Both occasions need the declining SKUs.</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Family and everyday, not premium cosmetic.</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A reason to buy, not just to feel warm.</a:t>
            </a:r>
            <a:endParaRPr b="0" i="0" sz="800" u="none" cap="none" strike="noStrike">
              <a:solidFill>
                <a:schemeClr val="dk1"/>
              </a:solidFill>
              <a:latin typeface="Calibri"/>
              <a:ea typeface="Calibri"/>
              <a:cs typeface="Calibri"/>
              <a:sym typeface="Calibri"/>
            </a:endParaRPr>
          </a:p>
        </p:txBody>
      </p:sp>
      <p:sp>
        <p:nvSpPr>
          <p:cNvPr id="72" name="Google Shape;72;p4"/>
          <p:cNvSpPr/>
          <p:nvPr/>
        </p:nvSpPr>
        <p:spPr>
          <a:xfrm>
            <a:off x="6065520" y="2048256"/>
            <a:ext cx="2621280" cy="1371600"/>
          </a:xfrm>
          <a:prstGeom prst="roundRect">
            <a:avLst>
              <a:gd fmla="val 6000"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6065520" y="2075688"/>
            <a:ext cx="45720" cy="1316736"/>
          </a:xfrm>
          <a:prstGeom prst="rect">
            <a:avLst/>
          </a:prstGeom>
          <a:solidFill>
            <a:srgbClr val="F28B4C"/>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6248400" y="2157984"/>
            <a:ext cx="2273808"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Why it wins the pitch</a:t>
            </a:r>
            <a:endParaRPr b="0" i="0" sz="1000" u="none" cap="none" strike="noStrike">
              <a:solidFill>
                <a:schemeClr val="dk1"/>
              </a:solidFill>
              <a:latin typeface="Calibri"/>
              <a:ea typeface="Calibri"/>
              <a:cs typeface="Calibri"/>
              <a:sym typeface="Calibri"/>
            </a:endParaRPr>
          </a:p>
        </p:txBody>
      </p:sp>
      <p:sp>
        <p:nvSpPr>
          <p:cNvPr id="75" name="Google Shape;75;p4"/>
          <p:cNvSpPr/>
          <p:nvPr/>
        </p:nvSpPr>
        <p:spPr>
          <a:xfrm>
            <a:off x="6266688" y="2414016"/>
            <a:ext cx="2237232" cy="91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A three-year platform beats one campaign.</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It corrects the brief without insulting it.</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2029 is the payoff nobody else has booked.</a:t>
            </a:r>
            <a:endParaRPr b="0" i="0" sz="800" u="none" cap="none" strike="noStrike">
              <a:solidFill>
                <a:schemeClr val="dk1"/>
              </a:solidFill>
              <a:latin typeface="Calibri"/>
              <a:ea typeface="Calibri"/>
              <a:cs typeface="Calibri"/>
              <a:sym typeface="Calibri"/>
            </a:endParaRPr>
          </a:p>
        </p:txBody>
      </p:sp>
      <p:sp>
        <p:nvSpPr>
          <p:cNvPr id="76" name="Google Shape;76;p4"/>
          <p:cNvSpPr/>
          <p:nvPr/>
        </p:nvSpPr>
        <p:spPr>
          <a:xfrm>
            <a:off x="457200" y="4576572"/>
            <a:ext cx="8229600" cy="310896"/>
          </a:xfrm>
          <a:prstGeom prst="rect">
            <a:avLst/>
          </a:prstGeom>
          <a:solidFill>
            <a:srgbClr val="3056C9"/>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603504" y="4576572"/>
            <a:ext cx="7936992"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Inter Tight"/>
              <a:buNone/>
            </a:pPr>
            <a:r>
              <a:rPr b="1" i="0" lang="en-US" sz="800" u="none" cap="none" strike="noStrike">
                <a:solidFill>
                  <a:srgbClr val="FFFFFF"/>
                </a:solidFill>
                <a:latin typeface="Inter Tight"/>
                <a:ea typeface="Inter Tight"/>
                <a:cs typeface="Inter Tight"/>
                <a:sym typeface="Inter Tight"/>
              </a:rPr>
              <a:t>Build in 2027  |  Hold in 2028  |  Own the true Kongsi Raya in 2029</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6"/>
          <p:cNvSpPr/>
          <p:nvPr/>
        </p:nvSpPr>
        <p:spPr>
          <a:xfrm>
            <a:off x="7498080" y="146304"/>
            <a:ext cx="12801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84" name="Google Shape;84;p6"/>
          <p:cNvSpPr/>
          <p:nvPr/>
        </p:nvSpPr>
        <p:spPr>
          <a:xfrm>
            <a:off x="457200" y="329184"/>
            <a:ext cx="6766560" cy="3840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The two calendars, 2026 to 2029</a:t>
            </a:r>
            <a:endParaRPr b="0" i="0" sz="2150" u="none" cap="none" strike="noStrike">
              <a:solidFill>
                <a:schemeClr val="dk1"/>
              </a:solidFill>
              <a:latin typeface="Calibri"/>
              <a:ea typeface="Calibri"/>
              <a:cs typeface="Calibri"/>
              <a:sym typeface="Calibri"/>
            </a:endParaRPr>
          </a:p>
        </p:txBody>
      </p:sp>
      <p:sp>
        <p:nvSpPr>
          <p:cNvPr id="85" name="Google Shape;85;p6"/>
          <p:cNvSpPr/>
          <p:nvPr/>
        </p:nvSpPr>
        <p:spPr>
          <a:xfrm>
            <a:off x="457200" y="768096"/>
            <a:ext cx="7863840" cy="31089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900"/>
              <a:buFont typeface="Inter Tight"/>
              <a:buNone/>
            </a:pPr>
            <a:r>
              <a:rPr b="0" i="0" lang="en-US" sz="900" u="none" cap="none" strike="noStrike">
                <a:solidFill>
                  <a:srgbClr val="4A4A4A"/>
                </a:solidFill>
                <a:latin typeface="Inter Tight"/>
                <a:ea typeface="Inter Tight"/>
                <a:cs typeface="Inter Tight"/>
                <a:sym typeface="Inter Tight"/>
              </a:rPr>
              <a:t>Why 2029 is the year worth booking now.</a:t>
            </a:r>
            <a:endParaRPr b="0" i="0" sz="900" u="none" cap="none" strike="noStrike">
              <a:solidFill>
                <a:schemeClr val="dk1"/>
              </a:solidFill>
              <a:latin typeface="Calibri"/>
              <a:ea typeface="Calibri"/>
              <a:cs typeface="Calibri"/>
              <a:sym typeface="Calibri"/>
            </a:endParaRPr>
          </a:p>
        </p:txBody>
      </p:sp>
      <p:graphicFrame>
        <p:nvGraphicFramePr>
          <p:cNvPr id="86" name="Google Shape;86;p6"/>
          <p:cNvGraphicFramePr/>
          <p:nvPr/>
        </p:nvGraphicFramePr>
        <p:xfrm>
          <a:off x="457200" y="1152144"/>
          <a:ext cx="3000000" cy="3000000"/>
        </p:xfrm>
        <a:graphic>
          <a:graphicData uri="http://schemas.openxmlformats.org/drawingml/2006/table">
            <a:tbl>
              <a:tblPr>
                <a:noFill/>
                <a:tableStyleId>{2E6FF8C8-3391-452F-899D-64A4625B6A48}</a:tableStyleId>
              </a:tblPr>
              <a:tblGrid>
                <a:gridCol w="685800"/>
                <a:gridCol w="1463050"/>
                <a:gridCol w="2286000"/>
                <a:gridCol w="731525"/>
                <a:gridCol w="3063250"/>
              </a:tblGrid>
              <a:tr h="310900">
                <a:tc>
                  <a:txBody>
                    <a:bodyPr/>
                    <a:lstStyle/>
                    <a:p>
                      <a:pPr indent="0" lvl="0" marL="0" marR="0" rtl="0" algn="l">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Year</a:t>
                      </a:r>
                      <a:endParaRPr sz="75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l">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Chinese New Year</a:t>
                      </a:r>
                      <a:endParaRPr sz="75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l">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Hari Raya Aidilfitri (projected)</a:t>
                      </a:r>
                      <a:endParaRPr sz="75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l">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Gap</a:t>
                      </a:r>
                      <a:endParaRPr sz="75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l">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What that gives a brand</a:t>
                      </a:r>
                      <a:endParaRPr sz="75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r>
              <a:tr h="310900">
                <a:tc>
                  <a:txBody>
                    <a:bodyPr/>
                    <a:lstStyle/>
                    <a:p>
                      <a:pPr indent="0" lvl="0" marL="0" marR="0" rtl="0" algn="l">
                        <a:spcBef>
                          <a:spcPts val="0"/>
                        </a:spcBef>
                        <a:spcAft>
                          <a:spcPts val="0"/>
                        </a:spcAft>
                        <a:buClr>
                          <a:srgbClr val="0F0F0F"/>
                        </a:buClr>
                        <a:buSzPts val="800"/>
                        <a:buFont typeface="Inter Tight"/>
                        <a:buNone/>
                      </a:pPr>
                      <a:r>
                        <a:rPr b="1" lang="en-US" sz="800" u="none" cap="none" strike="noStrike">
                          <a:solidFill>
                            <a:srgbClr val="0F0F0F"/>
                          </a:solidFill>
                          <a:latin typeface="Inter Tight"/>
                          <a:ea typeface="Inter Tight"/>
                          <a:cs typeface="Inter Tight"/>
                          <a:sym typeface="Inter Tight"/>
                        </a:rPr>
                        <a:t>2026</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17 February</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20 March</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31 days</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Two separate festive windows, business as usual.</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r h="310900">
                <a:tc>
                  <a:txBody>
                    <a:bodyPr/>
                    <a:lstStyle/>
                    <a:p>
                      <a:pPr indent="0" lvl="0" marL="0" marR="0" rtl="0" algn="l">
                        <a:spcBef>
                          <a:spcPts val="0"/>
                        </a:spcBef>
                        <a:spcAft>
                          <a:spcPts val="0"/>
                        </a:spcAft>
                        <a:buClr>
                          <a:srgbClr val="0F0F0F"/>
                        </a:buClr>
                        <a:buSzPts val="800"/>
                        <a:buFont typeface="Inter Tight"/>
                        <a:buNone/>
                      </a:pPr>
                      <a:r>
                        <a:rPr b="1" lang="en-US" sz="800" u="none" cap="none" strike="noStrike">
                          <a:solidFill>
                            <a:srgbClr val="0F0F0F"/>
                          </a:solidFill>
                          <a:latin typeface="Inter Tight"/>
                          <a:ea typeface="Inter Tight"/>
                          <a:cs typeface="Inter Tight"/>
                          <a:sym typeface="Inter Tight"/>
                        </a:rPr>
                        <a:t>2027</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6 February</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9 March</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31 days</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Chinese New Year runs straight into the start of Ramadan on 8 February.</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r>
              <a:tr h="310900">
                <a:tc>
                  <a:txBody>
                    <a:bodyPr/>
                    <a:lstStyle/>
                    <a:p>
                      <a:pPr indent="0" lvl="0" marL="0" marR="0" rtl="0" algn="l">
                        <a:spcBef>
                          <a:spcPts val="0"/>
                        </a:spcBef>
                        <a:spcAft>
                          <a:spcPts val="0"/>
                        </a:spcAft>
                        <a:buClr>
                          <a:srgbClr val="0F0F0F"/>
                        </a:buClr>
                        <a:buSzPts val="800"/>
                        <a:buFont typeface="Inter Tight"/>
                        <a:buNone/>
                      </a:pPr>
                      <a:r>
                        <a:rPr b="1" lang="en-US" sz="800" u="none" cap="none" strike="noStrike">
                          <a:solidFill>
                            <a:srgbClr val="0F0F0F"/>
                          </a:solidFill>
                          <a:latin typeface="Inter Tight"/>
                          <a:ea typeface="Inter Tight"/>
                          <a:cs typeface="Inter Tight"/>
                          <a:sym typeface="Inter Tight"/>
                        </a:rPr>
                        <a:t>2028</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26 January</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26 February</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31 days</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Two separate windows again, but the platform is already running.</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r h="310900">
                <a:tc>
                  <a:txBody>
                    <a:bodyPr/>
                    <a:lstStyle/>
                    <a:p>
                      <a:pPr indent="0" lvl="0" marL="0" marR="0" rtl="0" algn="l">
                        <a:spcBef>
                          <a:spcPts val="0"/>
                        </a:spcBef>
                        <a:spcAft>
                          <a:spcPts val="0"/>
                        </a:spcAft>
                        <a:buClr>
                          <a:srgbClr val="0F0F0F"/>
                        </a:buClr>
                        <a:buSzPts val="800"/>
                        <a:buFont typeface="Inter Tight"/>
                        <a:buNone/>
                      </a:pPr>
                      <a:r>
                        <a:rPr b="1" lang="en-US" sz="800" u="none" cap="none" strike="noStrike">
                          <a:solidFill>
                            <a:srgbClr val="0F0F0F"/>
                          </a:solidFill>
                          <a:latin typeface="Inter Tight"/>
                          <a:ea typeface="Inter Tight"/>
                          <a:cs typeface="Inter Tight"/>
                          <a:sym typeface="Inter Tight"/>
                        </a:rPr>
                        <a:t>2029</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13 February</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14 February</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1 day</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The genuine Kongsi Raya collision, back to back in one weekend.</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r>
            </a:tbl>
          </a:graphicData>
        </a:graphic>
      </p:graphicFrame>
      <p:sp>
        <p:nvSpPr>
          <p:cNvPr id="87" name="Google Shape;87;p6"/>
          <p:cNvSpPr/>
          <p:nvPr/>
        </p:nvSpPr>
        <p:spPr>
          <a:xfrm>
            <a:off x="457200" y="2843784"/>
            <a:ext cx="8229600" cy="713232"/>
          </a:xfrm>
          <a:prstGeom prst="roundRect">
            <a:avLst>
              <a:gd fmla="val 11538"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621792" y="2926626"/>
            <a:ext cx="7900500" cy="237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A three-year platform is a bigger sale than a single campaign.</a:t>
            </a:r>
            <a:endParaRPr b="0" i="0" sz="1000" u="none" cap="none" strike="noStrike">
              <a:solidFill>
                <a:schemeClr val="dk1"/>
              </a:solidFill>
              <a:latin typeface="Calibri"/>
              <a:ea typeface="Calibri"/>
              <a:cs typeface="Calibri"/>
              <a:sym typeface="Calibri"/>
            </a:endParaRPr>
          </a:p>
        </p:txBody>
      </p:sp>
      <p:sp>
        <p:nvSpPr>
          <p:cNvPr id="89" name="Google Shape;89;p6"/>
          <p:cNvSpPr/>
          <p:nvPr/>
        </p:nvSpPr>
        <p:spPr>
          <a:xfrm>
            <a:off x="621792" y="3182658"/>
            <a:ext cx="7900500" cy="1647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If COO frames 2027 as the build, 2028 as the hold, and 2029 as the payoff, Colgate is buying a plan with a destination instead of one festive burst. It also gives COO a reason to be in the room again next year.</a:t>
            </a:r>
            <a:endParaRPr b="0" i="0" sz="800" u="none" cap="none" strike="noStrike">
              <a:solidFill>
                <a:schemeClr val="dk1"/>
              </a:solidFill>
              <a:latin typeface="Calibri"/>
              <a:ea typeface="Calibri"/>
              <a:cs typeface="Calibri"/>
              <a:sym typeface="Calibri"/>
            </a:endParaRPr>
          </a:p>
        </p:txBody>
      </p:sp>
      <p:sp>
        <p:nvSpPr>
          <p:cNvPr id="90" name="Google Shape;90;p6"/>
          <p:cNvSpPr/>
          <p:nvPr/>
        </p:nvSpPr>
        <p:spPr>
          <a:xfrm>
            <a:off x="457200" y="4832604"/>
            <a:ext cx="82296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A8"/>
              </a:buClr>
              <a:buSzPts val="700"/>
              <a:buFont typeface="Inter Tight"/>
              <a:buNone/>
            </a:pPr>
            <a:r>
              <a:rPr b="0" i="0" lang="en-US" sz="700" u="none" cap="none" strike="noStrike">
                <a:solidFill>
                  <a:srgbClr val="9AA0A8"/>
                </a:solidFill>
                <a:latin typeface="Inter Tight"/>
                <a:ea typeface="Inter Tight"/>
                <a:cs typeface="Inter Tight"/>
                <a:sym typeface="Inter Tight"/>
              </a:rPr>
              <a:t>Aidilfitri dates are projections. Malaysia confirms them by moon sighting through the Keeper of the Rulers’ Seal, usually on or one day after the projected date.</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7"/>
          <p:cNvSpPr/>
          <p:nvPr/>
        </p:nvSpPr>
        <p:spPr>
          <a:xfrm>
            <a:off x="7498080" y="146304"/>
            <a:ext cx="12801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97" name="Google Shape;97;p7"/>
          <p:cNvSpPr/>
          <p:nvPr/>
        </p:nvSpPr>
        <p:spPr>
          <a:xfrm>
            <a:off x="457200" y="329184"/>
            <a:ext cx="6766560" cy="3840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How we tested Colgate’s own theory</a:t>
            </a:r>
            <a:endParaRPr b="0" i="0" sz="2150" u="none" cap="none" strike="noStrike">
              <a:solidFill>
                <a:schemeClr val="dk1"/>
              </a:solidFill>
              <a:latin typeface="Calibri"/>
              <a:ea typeface="Calibri"/>
              <a:cs typeface="Calibri"/>
              <a:sym typeface="Calibri"/>
            </a:endParaRPr>
          </a:p>
        </p:txBody>
      </p:sp>
      <p:sp>
        <p:nvSpPr>
          <p:cNvPr id="98" name="Google Shape;98;p7"/>
          <p:cNvSpPr/>
          <p:nvPr/>
        </p:nvSpPr>
        <p:spPr>
          <a:xfrm>
            <a:off x="457200" y="768096"/>
            <a:ext cx="7863900" cy="310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900"/>
              <a:buFont typeface="Inter Tight"/>
              <a:buNone/>
            </a:pPr>
            <a:r>
              <a:rPr b="0" i="0" lang="en-US" sz="900" u="none" cap="none" strike="noStrike">
                <a:solidFill>
                  <a:srgbClr val="4A4A4A"/>
                </a:solidFill>
                <a:latin typeface="Inter Tight"/>
                <a:ea typeface="Inter Tight"/>
                <a:cs typeface="Inter Tight"/>
                <a:sym typeface="Inter Tight"/>
              </a:rPr>
              <a:t>Colgate believes Malay Muslim consumers are boycotting a United States brand. We ran four checks that could have proven it.</a:t>
            </a:r>
            <a:endParaRPr b="0" i="0" sz="900" u="none" cap="none" strike="noStrike">
              <a:solidFill>
                <a:schemeClr val="dk1"/>
              </a:solidFill>
              <a:latin typeface="Calibri"/>
              <a:ea typeface="Calibri"/>
              <a:cs typeface="Calibri"/>
              <a:sym typeface="Calibri"/>
            </a:endParaRPr>
          </a:p>
        </p:txBody>
      </p:sp>
      <p:sp>
        <p:nvSpPr>
          <p:cNvPr id="99" name="Google Shape;99;p7"/>
          <p:cNvSpPr/>
          <p:nvPr/>
        </p:nvSpPr>
        <p:spPr>
          <a:xfrm>
            <a:off x="457200" y="1152144"/>
            <a:ext cx="237744" cy="237744"/>
          </a:xfrm>
          <a:prstGeom prst="ellipse">
            <a:avLst/>
          </a:prstGeom>
          <a:solidFill>
            <a:srgbClr val="3056C9"/>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7"/>
          <p:cNvSpPr/>
          <p:nvPr/>
        </p:nvSpPr>
        <p:spPr>
          <a:xfrm>
            <a:off x="457200" y="1152144"/>
            <a:ext cx="237744"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Inter Tight"/>
              <a:buNone/>
            </a:pPr>
            <a:r>
              <a:rPr b="1" i="0" lang="en-US" sz="750" u="none" cap="none" strike="noStrike">
                <a:solidFill>
                  <a:srgbClr val="FFFFFF"/>
                </a:solidFill>
                <a:latin typeface="Inter Tight"/>
                <a:ea typeface="Inter Tight"/>
                <a:cs typeface="Inter Tight"/>
                <a:sym typeface="Inter Tight"/>
              </a:rPr>
              <a:t>1</a:t>
            </a:r>
            <a:endParaRPr b="0" i="0" sz="750" u="none" cap="none" strike="noStrike">
              <a:solidFill>
                <a:schemeClr val="dk1"/>
              </a:solidFill>
              <a:latin typeface="Calibri"/>
              <a:ea typeface="Calibri"/>
              <a:cs typeface="Calibri"/>
              <a:sym typeface="Calibri"/>
            </a:endParaRPr>
          </a:p>
        </p:txBody>
      </p:sp>
      <p:sp>
        <p:nvSpPr>
          <p:cNvPr id="101" name="Google Shape;101;p7"/>
          <p:cNvSpPr/>
          <p:nvPr/>
        </p:nvSpPr>
        <p:spPr>
          <a:xfrm>
            <a:off x="804672" y="1133856"/>
            <a:ext cx="3584448" cy="2194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The peer test</a:t>
            </a:r>
            <a:endParaRPr b="0" i="0" sz="1000" u="none" cap="none" strike="noStrike">
              <a:solidFill>
                <a:schemeClr val="dk1"/>
              </a:solidFill>
              <a:latin typeface="Calibri"/>
              <a:ea typeface="Calibri"/>
              <a:cs typeface="Calibri"/>
              <a:sym typeface="Calibri"/>
            </a:endParaRPr>
          </a:p>
        </p:txBody>
      </p:sp>
      <p:sp>
        <p:nvSpPr>
          <p:cNvPr id="102" name="Google Shape;102;p7"/>
          <p:cNvSpPr/>
          <p:nvPr/>
        </p:nvSpPr>
        <p:spPr>
          <a:xfrm>
            <a:off x="804672" y="1344168"/>
            <a:ext cx="3584448" cy="40233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If it is a boycott of Western brands, the other Western brands should fall too.</a:t>
            </a:r>
            <a:endParaRPr b="0" i="0" sz="800" u="none" cap="none" strike="noStrike">
              <a:solidFill>
                <a:schemeClr val="dk1"/>
              </a:solidFill>
              <a:latin typeface="Calibri"/>
              <a:ea typeface="Calibri"/>
              <a:cs typeface="Calibri"/>
              <a:sym typeface="Calibri"/>
            </a:endParaRPr>
          </a:p>
        </p:txBody>
      </p:sp>
      <p:sp>
        <p:nvSpPr>
          <p:cNvPr id="103" name="Google Shape;103;p7"/>
          <p:cNvSpPr/>
          <p:nvPr/>
        </p:nvSpPr>
        <p:spPr>
          <a:xfrm>
            <a:off x="4754880" y="1152144"/>
            <a:ext cx="237744" cy="237744"/>
          </a:xfrm>
          <a:prstGeom prst="ellipse">
            <a:avLst/>
          </a:prstGeom>
          <a:solidFill>
            <a:srgbClr val="3056C9"/>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7"/>
          <p:cNvSpPr/>
          <p:nvPr/>
        </p:nvSpPr>
        <p:spPr>
          <a:xfrm>
            <a:off x="4754880" y="1152144"/>
            <a:ext cx="237744"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Inter Tight"/>
              <a:buNone/>
            </a:pPr>
            <a:r>
              <a:rPr b="1" i="0" lang="en-US" sz="750" u="none" cap="none" strike="noStrike">
                <a:solidFill>
                  <a:srgbClr val="FFFFFF"/>
                </a:solidFill>
                <a:latin typeface="Inter Tight"/>
                <a:ea typeface="Inter Tight"/>
                <a:cs typeface="Inter Tight"/>
                <a:sym typeface="Inter Tight"/>
              </a:rPr>
              <a:t>2</a:t>
            </a:r>
            <a:endParaRPr b="0" i="0" sz="750" u="none" cap="none" strike="noStrike">
              <a:solidFill>
                <a:schemeClr val="dk1"/>
              </a:solidFill>
              <a:latin typeface="Calibri"/>
              <a:ea typeface="Calibri"/>
              <a:cs typeface="Calibri"/>
              <a:sym typeface="Calibri"/>
            </a:endParaRPr>
          </a:p>
        </p:txBody>
      </p:sp>
      <p:sp>
        <p:nvSpPr>
          <p:cNvPr id="105" name="Google Shape;105;p7"/>
          <p:cNvSpPr/>
          <p:nvPr/>
        </p:nvSpPr>
        <p:spPr>
          <a:xfrm>
            <a:off x="5102352" y="1133856"/>
            <a:ext cx="3584448" cy="2194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The shape test</a:t>
            </a:r>
            <a:endParaRPr b="0" i="0" sz="1000" u="none" cap="none" strike="noStrike">
              <a:solidFill>
                <a:schemeClr val="dk1"/>
              </a:solidFill>
              <a:latin typeface="Calibri"/>
              <a:ea typeface="Calibri"/>
              <a:cs typeface="Calibri"/>
              <a:sym typeface="Calibri"/>
            </a:endParaRPr>
          </a:p>
        </p:txBody>
      </p:sp>
      <p:sp>
        <p:nvSpPr>
          <p:cNvPr id="106" name="Google Shape;106;p7"/>
          <p:cNvSpPr/>
          <p:nvPr/>
        </p:nvSpPr>
        <p:spPr>
          <a:xfrm>
            <a:off x="5102352" y="1344168"/>
            <a:ext cx="3584448" cy="40233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A boycott rejects a brand. It should hit every Colgate product, not only two of them.</a:t>
            </a:r>
            <a:endParaRPr b="0" i="0" sz="800" u="none" cap="none" strike="noStrike">
              <a:solidFill>
                <a:schemeClr val="dk1"/>
              </a:solidFill>
              <a:latin typeface="Calibri"/>
              <a:ea typeface="Calibri"/>
              <a:cs typeface="Calibri"/>
              <a:sym typeface="Calibri"/>
            </a:endParaRPr>
          </a:p>
        </p:txBody>
      </p:sp>
      <p:sp>
        <p:nvSpPr>
          <p:cNvPr id="107" name="Google Shape;107;p7"/>
          <p:cNvSpPr/>
          <p:nvPr/>
        </p:nvSpPr>
        <p:spPr>
          <a:xfrm>
            <a:off x="457200" y="2029968"/>
            <a:ext cx="237744" cy="237744"/>
          </a:xfrm>
          <a:prstGeom prst="ellipse">
            <a:avLst/>
          </a:prstGeom>
          <a:solidFill>
            <a:srgbClr val="3056C9"/>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a:off x="457200" y="2029968"/>
            <a:ext cx="237744"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Inter Tight"/>
              <a:buNone/>
            </a:pPr>
            <a:r>
              <a:rPr b="1" i="0" lang="en-US" sz="750" u="none" cap="none" strike="noStrike">
                <a:solidFill>
                  <a:srgbClr val="FFFFFF"/>
                </a:solidFill>
                <a:latin typeface="Inter Tight"/>
                <a:ea typeface="Inter Tight"/>
                <a:cs typeface="Inter Tight"/>
                <a:sym typeface="Inter Tight"/>
              </a:rPr>
              <a:t>3</a:t>
            </a:r>
            <a:endParaRPr b="0" i="0" sz="750" u="none" cap="none" strike="noStrike">
              <a:solidFill>
                <a:schemeClr val="dk1"/>
              </a:solidFill>
              <a:latin typeface="Calibri"/>
              <a:ea typeface="Calibri"/>
              <a:cs typeface="Calibri"/>
              <a:sym typeface="Calibri"/>
            </a:endParaRPr>
          </a:p>
        </p:txBody>
      </p:sp>
      <p:sp>
        <p:nvSpPr>
          <p:cNvPr id="109" name="Google Shape;109;p7"/>
          <p:cNvSpPr/>
          <p:nvPr/>
        </p:nvSpPr>
        <p:spPr>
          <a:xfrm>
            <a:off x="804672" y="2011680"/>
            <a:ext cx="3584448" cy="2194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The halal test</a:t>
            </a:r>
            <a:endParaRPr b="0" i="0" sz="1000" u="none" cap="none" strike="noStrike">
              <a:solidFill>
                <a:schemeClr val="dk1"/>
              </a:solidFill>
              <a:latin typeface="Calibri"/>
              <a:ea typeface="Calibri"/>
              <a:cs typeface="Calibri"/>
              <a:sym typeface="Calibri"/>
            </a:endParaRPr>
          </a:p>
        </p:txBody>
      </p:sp>
      <p:sp>
        <p:nvSpPr>
          <p:cNvPr id="110" name="Google Shape;110;p7"/>
          <p:cNvSpPr/>
          <p:nvPr/>
        </p:nvSpPr>
        <p:spPr>
          <a:xfrm>
            <a:off x="804672" y="2221992"/>
            <a:ext cx="3584448" cy="40233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Is there a live religious-compliance doubt that is separate from geopolitics?</a:t>
            </a:r>
            <a:endParaRPr b="0" i="0" sz="800" u="none" cap="none" strike="noStrike">
              <a:solidFill>
                <a:schemeClr val="dk1"/>
              </a:solidFill>
              <a:latin typeface="Calibri"/>
              <a:ea typeface="Calibri"/>
              <a:cs typeface="Calibri"/>
              <a:sym typeface="Calibri"/>
            </a:endParaRPr>
          </a:p>
        </p:txBody>
      </p:sp>
      <p:sp>
        <p:nvSpPr>
          <p:cNvPr id="111" name="Google Shape;111;p7"/>
          <p:cNvSpPr/>
          <p:nvPr/>
        </p:nvSpPr>
        <p:spPr>
          <a:xfrm>
            <a:off x="4754880" y="2029968"/>
            <a:ext cx="237744" cy="237744"/>
          </a:xfrm>
          <a:prstGeom prst="ellipse">
            <a:avLst/>
          </a:prstGeom>
          <a:solidFill>
            <a:srgbClr val="3056C9"/>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
          <p:cNvSpPr/>
          <p:nvPr/>
        </p:nvSpPr>
        <p:spPr>
          <a:xfrm>
            <a:off x="4754880" y="2029968"/>
            <a:ext cx="237744"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Inter Tight"/>
              <a:buNone/>
            </a:pPr>
            <a:r>
              <a:rPr b="1" i="0" lang="en-US" sz="750" u="none" cap="none" strike="noStrike">
                <a:solidFill>
                  <a:srgbClr val="FFFFFF"/>
                </a:solidFill>
                <a:latin typeface="Inter Tight"/>
                <a:ea typeface="Inter Tight"/>
                <a:cs typeface="Inter Tight"/>
                <a:sym typeface="Inter Tight"/>
              </a:rPr>
              <a:t>4</a:t>
            </a:r>
            <a:endParaRPr b="0" i="0" sz="750" u="none" cap="none" strike="noStrike">
              <a:solidFill>
                <a:schemeClr val="dk1"/>
              </a:solidFill>
              <a:latin typeface="Calibri"/>
              <a:ea typeface="Calibri"/>
              <a:cs typeface="Calibri"/>
              <a:sym typeface="Calibri"/>
            </a:endParaRPr>
          </a:p>
        </p:txBody>
      </p:sp>
      <p:sp>
        <p:nvSpPr>
          <p:cNvPr id="113" name="Google Shape;113;p7"/>
          <p:cNvSpPr/>
          <p:nvPr/>
        </p:nvSpPr>
        <p:spPr>
          <a:xfrm>
            <a:off x="5102352" y="2011680"/>
            <a:ext cx="3584448" cy="2194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The category test</a:t>
            </a:r>
            <a:endParaRPr b="0" i="0" sz="1000" u="none" cap="none" strike="noStrike">
              <a:solidFill>
                <a:schemeClr val="dk1"/>
              </a:solidFill>
              <a:latin typeface="Calibri"/>
              <a:ea typeface="Calibri"/>
              <a:cs typeface="Calibri"/>
              <a:sym typeface="Calibri"/>
            </a:endParaRPr>
          </a:p>
        </p:txBody>
      </p:sp>
      <p:sp>
        <p:nvSpPr>
          <p:cNvPr id="114" name="Google Shape;114;p7"/>
          <p:cNvSpPr/>
          <p:nvPr/>
        </p:nvSpPr>
        <p:spPr>
          <a:xfrm>
            <a:off x="5102352" y="2221992"/>
            <a:ext cx="3584448" cy="40233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Do Malaysian boycotts actually move supermarket staples, or only visible brands?</a:t>
            </a:r>
            <a:endParaRPr b="0" i="0" sz="800" u="none" cap="none" strike="noStrike">
              <a:solidFill>
                <a:schemeClr val="dk1"/>
              </a:solidFill>
              <a:latin typeface="Calibri"/>
              <a:ea typeface="Calibri"/>
              <a:cs typeface="Calibri"/>
              <a:sym typeface="Calibri"/>
            </a:endParaRPr>
          </a:p>
        </p:txBody>
      </p:sp>
      <p:sp>
        <p:nvSpPr>
          <p:cNvPr id="115" name="Google Shape;115;p7"/>
          <p:cNvSpPr/>
          <p:nvPr/>
        </p:nvSpPr>
        <p:spPr>
          <a:xfrm>
            <a:off x="457200" y="2907792"/>
            <a:ext cx="8229600" cy="731520"/>
          </a:xfrm>
          <a:prstGeom prst="roundRect">
            <a:avLst>
              <a:gd fmla="val 11250"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621792" y="3072384"/>
            <a:ext cx="7900416"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Result: the boycott explains some of the sentiment and very little of the sales line.</a:t>
            </a:r>
            <a:endParaRPr b="0" i="0" sz="1000" u="none" cap="none" strike="noStrike">
              <a:solidFill>
                <a:schemeClr val="dk1"/>
              </a:solidFill>
              <a:latin typeface="Calibri"/>
              <a:ea typeface="Calibri"/>
              <a:cs typeface="Calibri"/>
              <a:sym typeface="Calibri"/>
            </a:endParaRPr>
          </a:p>
        </p:txBody>
      </p:sp>
      <p:sp>
        <p:nvSpPr>
          <p:cNvPr id="117" name="Google Shape;117;p7"/>
          <p:cNvSpPr/>
          <p:nvPr/>
        </p:nvSpPr>
        <p:spPr>
          <a:xfrm>
            <a:off x="621792" y="3328416"/>
            <a:ext cx="7900416" cy="18288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Three of the four tests point away from geopolitics as the primary cause. The one that points somewhere useful is the halal test, and that barrier is fixable.</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p:nvPr/>
        </p:nvSpPr>
        <p:spPr>
          <a:xfrm>
            <a:off x="7498080" y="146304"/>
            <a:ext cx="12801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124" name="Google Shape;124;p8"/>
          <p:cNvSpPr/>
          <p:nvPr/>
        </p:nvSpPr>
        <p:spPr>
          <a:xfrm>
            <a:off x="457200" y="329184"/>
            <a:ext cx="6766560" cy="3840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Test 1: Colgate’s own disclosures never mention Malaysia</a:t>
            </a:r>
            <a:endParaRPr b="0" i="0" sz="2150" u="none" cap="none" strike="noStrike">
              <a:solidFill>
                <a:schemeClr val="dk1"/>
              </a:solidFill>
              <a:latin typeface="Calibri"/>
              <a:ea typeface="Calibri"/>
              <a:cs typeface="Calibri"/>
              <a:sym typeface="Calibri"/>
            </a:endParaRPr>
          </a:p>
        </p:txBody>
      </p:sp>
      <p:sp>
        <p:nvSpPr>
          <p:cNvPr id="125" name="Google Shape;125;p8"/>
          <p:cNvSpPr/>
          <p:nvPr/>
        </p:nvSpPr>
        <p:spPr>
          <a:xfrm>
            <a:off x="457200" y="1052684"/>
            <a:ext cx="7863900" cy="310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900"/>
              <a:buFont typeface="Inter Tight"/>
              <a:buNone/>
            </a:pPr>
            <a:r>
              <a:rPr b="0" i="0" lang="en-US" sz="900" u="none" cap="none" strike="noStrike">
                <a:solidFill>
                  <a:srgbClr val="4A4A4A"/>
                </a:solidFill>
                <a:latin typeface="Inter Tight"/>
                <a:ea typeface="Inter Tight"/>
                <a:cs typeface="Inter Tight"/>
                <a:sym typeface="Inter Tight"/>
              </a:rPr>
              <a:t>If Malaysia were the problem, the company reporting the problem would say so.</a:t>
            </a:r>
            <a:endParaRPr b="0" i="0" sz="900" u="none" cap="none" strike="noStrike">
              <a:solidFill>
                <a:schemeClr val="dk1"/>
              </a:solidFill>
              <a:latin typeface="Calibri"/>
              <a:ea typeface="Calibri"/>
              <a:cs typeface="Calibri"/>
              <a:sym typeface="Calibri"/>
            </a:endParaRPr>
          </a:p>
        </p:txBody>
      </p:sp>
      <p:sp>
        <p:nvSpPr>
          <p:cNvPr id="126" name="Google Shape;126;p8"/>
          <p:cNvSpPr/>
          <p:nvPr/>
        </p:nvSpPr>
        <p:spPr>
          <a:xfrm>
            <a:off x="457200" y="1465319"/>
            <a:ext cx="4005000" cy="1206900"/>
          </a:xfrm>
          <a:prstGeom prst="roundRect">
            <a:avLst>
              <a:gd fmla="val 6818"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
          <p:cNvSpPr/>
          <p:nvPr/>
        </p:nvSpPr>
        <p:spPr>
          <a:xfrm>
            <a:off x="457200" y="1465319"/>
            <a:ext cx="4005000" cy="50400"/>
          </a:xfrm>
          <a:prstGeom prst="rect">
            <a:avLst/>
          </a:prstGeom>
          <a:solidFill>
            <a:srgbClr val="F28B4C"/>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
          <p:cNvSpPr/>
          <p:nvPr/>
        </p:nvSpPr>
        <p:spPr>
          <a:xfrm>
            <a:off x="585216" y="1611623"/>
            <a:ext cx="3749100" cy="4572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rgbClr val="0F0F0F"/>
              </a:buClr>
              <a:buSzPts val="2500"/>
              <a:buFont typeface="Inter Tight"/>
              <a:buNone/>
            </a:pPr>
            <a:r>
              <a:rPr b="1" i="0" lang="en-US" sz="2500" u="none" cap="none" strike="noStrike">
                <a:solidFill>
                  <a:srgbClr val="0F0F0F"/>
                </a:solidFill>
                <a:latin typeface="Inter Tight"/>
                <a:ea typeface="Inter Tight"/>
                <a:cs typeface="Inter Tight"/>
                <a:sym typeface="Inter Tight"/>
              </a:rPr>
              <a:t>-3.1%</a:t>
            </a:r>
            <a:endParaRPr b="0" i="0" sz="2500" u="none" cap="none" strike="noStrike">
              <a:solidFill>
                <a:schemeClr val="dk1"/>
              </a:solidFill>
              <a:latin typeface="Calibri"/>
              <a:ea typeface="Calibri"/>
              <a:cs typeface="Calibri"/>
              <a:sym typeface="Calibri"/>
            </a:endParaRPr>
          </a:p>
        </p:txBody>
      </p:sp>
      <p:sp>
        <p:nvSpPr>
          <p:cNvPr id="129" name="Google Shape;129;p8"/>
          <p:cNvSpPr/>
          <p:nvPr/>
        </p:nvSpPr>
        <p:spPr>
          <a:xfrm>
            <a:off x="585216" y="2087111"/>
            <a:ext cx="3749100" cy="21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Asia Pacific organic sales, Q1 2025</a:t>
            </a:r>
            <a:endParaRPr b="0" i="0" sz="1000" u="none" cap="none" strike="noStrike">
              <a:solidFill>
                <a:schemeClr val="dk1"/>
              </a:solidFill>
              <a:latin typeface="Calibri"/>
              <a:ea typeface="Calibri"/>
              <a:cs typeface="Calibri"/>
              <a:sym typeface="Calibri"/>
            </a:endParaRPr>
          </a:p>
        </p:txBody>
      </p:sp>
      <p:sp>
        <p:nvSpPr>
          <p:cNvPr id="130" name="Google Shape;130;p8"/>
          <p:cNvSpPr/>
          <p:nvPr/>
        </p:nvSpPr>
        <p:spPr>
          <a:xfrm>
            <a:off x="585216" y="2306567"/>
            <a:ext cx="3749100" cy="310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Colgate attributes the decline to Greater China and India, with growth in the Philippines. Malaysia is not named.</a:t>
            </a:r>
            <a:endParaRPr b="0" i="0" sz="800" u="none" cap="none" strike="noStrike">
              <a:solidFill>
                <a:schemeClr val="dk1"/>
              </a:solidFill>
              <a:latin typeface="Calibri"/>
              <a:ea typeface="Calibri"/>
              <a:cs typeface="Calibri"/>
              <a:sym typeface="Calibri"/>
            </a:endParaRPr>
          </a:p>
        </p:txBody>
      </p:sp>
      <p:sp>
        <p:nvSpPr>
          <p:cNvPr id="131" name="Google Shape;131;p8"/>
          <p:cNvSpPr/>
          <p:nvPr/>
        </p:nvSpPr>
        <p:spPr>
          <a:xfrm>
            <a:off x="4681728" y="1465319"/>
            <a:ext cx="4005000" cy="1206900"/>
          </a:xfrm>
          <a:prstGeom prst="roundRect">
            <a:avLst>
              <a:gd fmla="val 6818"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p:nvPr/>
        </p:nvSpPr>
        <p:spPr>
          <a:xfrm>
            <a:off x="4681728" y="1465319"/>
            <a:ext cx="4005000" cy="50400"/>
          </a:xfrm>
          <a:prstGeom prst="rect">
            <a:avLst/>
          </a:prstGeom>
          <a:solidFill>
            <a:srgbClr val="4A7BF7"/>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
          <p:cNvSpPr/>
          <p:nvPr/>
        </p:nvSpPr>
        <p:spPr>
          <a:xfrm>
            <a:off x="4809744" y="1611623"/>
            <a:ext cx="3749100" cy="4572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rgbClr val="4A7BF7"/>
              </a:buClr>
              <a:buSzPts val="2500"/>
              <a:buFont typeface="Inter Tight"/>
              <a:buNone/>
            </a:pPr>
            <a:r>
              <a:rPr b="1" i="0" lang="en-US" sz="2500" u="none" cap="none" strike="noStrike">
                <a:solidFill>
                  <a:srgbClr val="4A7BF7"/>
                </a:solidFill>
                <a:latin typeface="Inter Tight"/>
                <a:ea typeface="Inter Tight"/>
                <a:cs typeface="Inter Tight"/>
                <a:sym typeface="Inter Tight"/>
              </a:rPr>
              <a:t>Flat</a:t>
            </a:r>
            <a:endParaRPr b="0" i="0" sz="2500" u="none" cap="none" strike="noStrike">
              <a:solidFill>
                <a:schemeClr val="dk1"/>
              </a:solidFill>
              <a:latin typeface="Calibri"/>
              <a:ea typeface="Calibri"/>
              <a:cs typeface="Calibri"/>
              <a:sym typeface="Calibri"/>
            </a:endParaRPr>
          </a:p>
        </p:txBody>
      </p:sp>
      <p:sp>
        <p:nvSpPr>
          <p:cNvPr id="134" name="Google Shape;134;p8"/>
          <p:cNvSpPr/>
          <p:nvPr/>
        </p:nvSpPr>
        <p:spPr>
          <a:xfrm>
            <a:off x="4809744" y="2087111"/>
            <a:ext cx="3749100" cy="21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Asia Pacific organic sales, Q2 2025</a:t>
            </a:r>
            <a:endParaRPr b="0" i="0" sz="1000" u="none" cap="none" strike="noStrike">
              <a:solidFill>
                <a:schemeClr val="dk1"/>
              </a:solidFill>
              <a:latin typeface="Calibri"/>
              <a:ea typeface="Calibri"/>
              <a:cs typeface="Calibri"/>
              <a:sym typeface="Calibri"/>
            </a:endParaRPr>
          </a:p>
        </p:txBody>
      </p:sp>
      <p:sp>
        <p:nvSpPr>
          <p:cNvPr id="135" name="Google Shape;135;p8"/>
          <p:cNvSpPr/>
          <p:nvPr/>
        </p:nvSpPr>
        <p:spPr>
          <a:xfrm>
            <a:off x="4809744" y="2306567"/>
            <a:ext cx="3749100" cy="310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Declines again in India and Greater China, offset by growth in the remaining Asia Pacific geographies.</a:t>
            </a:r>
            <a:endParaRPr b="0" i="0" sz="800" u="none" cap="none" strike="noStrike">
              <a:solidFill>
                <a:schemeClr val="dk1"/>
              </a:solidFill>
              <a:latin typeface="Calibri"/>
              <a:ea typeface="Calibri"/>
              <a:cs typeface="Calibri"/>
              <a:sym typeface="Calibri"/>
            </a:endParaRPr>
          </a:p>
        </p:txBody>
      </p:sp>
      <p:sp>
        <p:nvSpPr>
          <p:cNvPr id="136" name="Google Shape;136;p8"/>
          <p:cNvSpPr/>
          <p:nvPr/>
        </p:nvSpPr>
        <p:spPr>
          <a:xfrm>
            <a:off x="457200" y="2782055"/>
            <a:ext cx="8229600" cy="914400"/>
          </a:xfrm>
          <a:prstGeom prst="roundRect">
            <a:avLst>
              <a:gd fmla="val 9000"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621742" y="2863297"/>
            <a:ext cx="7900500" cy="237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What that phrase is doing.</a:t>
            </a:r>
            <a:endParaRPr b="0" i="0" sz="1000" u="none" cap="none" strike="noStrike">
              <a:solidFill>
                <a:schemeClr val="dk1"/>
              </a:solidFill>
              <a:latin typeface="Calibri"/>
              <a:ea typeface="Calibri"/>
              <a:cs typeface="Calibri"/>
              <a:sym typeface="Calibri"/>
            </a:endParaRPr>
          </a:p>
        </p:txBody>
      </p:sp>
      <p:sp>
        <p:nvSpPr>
          <p:cNvPr id="138" name="Google Shape;138;p8"/>
          <p:cNvSpPr/>
          <p:nvPr/>
        </p:nvSpPr>
        <p:spPr>
          <a:xfrm>
            <a:off x="621742" y="3119329"/>
            <a:ext cx="7900500" cy="3657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Malaysia sits inside "the remaining Asia Pacific geographies", the bucket Colgate says grew. That is not proof Malaysia grew, because Colgate does not report at country level. It does mean the company has twice had the chance to blame a Malaysian boycott in a public filing and has instead pointed at China and India both times. </a:t>
            </a:r>
            <a:endParaRPr b="0" i="0" sz="800" u="none" cap="none" strike="noStrike">
              <a:solidFill>
                <a:schemeClr val="dk1"/>
              </a:solidFill>
              <a:latin typeface="Calibri"/>
              <a:ea typeface="Calibri"/>
              <a:cs typeface="Calibri"/>
              <a:sym typeface="Calibri"/>
            </a:endParaRPr>
          </a:p>
        </p:txBody>
      </p:sp>
      <p:sp>
        <p:nvSpPr>
          <p:cNvPr id="139" name="Google Shape;139;p8"/>
          <p:cNvSpPr/>
          <p:nvPr/>
        </p:nvSpPr>
        <p:spPr>
          <a:xfrm>
            <a:off x="457200" y="4832604"/>
            <a:ext cx="82296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A8"/>
              </a:buClr>
              <a:buSzPts val="700"/>
              <a:buFont typeface="Inter Tight"/>
              <a:buNone/>
            </a:pPr>
            <a:r>
              <a:rPr b="0" i="0" lang="en-US" sz="700" u="none" cap="none" strike="noStrike">
                <a:solidFill>
                  <a:srgbClr val="9AA0A8"/>
                </a:solidFill>
                <a:latin typeface="Inter Tight"/>
                <a:ea typeface="Inter Tight"/>
                <a:cs typeface="Inter Tight"/>
                <a:sym typeface="Inter Tight"/>
              </a:rPr>
              <a:t>Source: Colgate-Palmolive Q1 and Q2 2025 results releases, investor.colgatepalmolive.com. Country-level Malaysian figures are not disclosed.</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9"/>
          <p:cNvSpPr/>
          <p:nvPr/>
        </p:nvSpPr>
        <p:spPr>
          <a:xfrm>
            <a:off x="7498080" y="146304"/>
            <a:ext cx="12801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146" name="Google Shape;146;p9"/>
          <p:cNvSpPr/>
          <p:nvPr/>
        </p:nvSpPr>
        <p:spPr>
          <a:xfrm>
            <a:off x="457200" y="329184"/>
            <a:ext cx="6766560" cy="3840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Test 2: the decline is the wrong shape for a boycott</a:t>
            </a:r>
            <a:endParaRPr b="0" i="0" sz="2150" u="none" cap="none" strike="noStrike">
              <a:solidFill>
                <a:schemeClr val="dk1"/>
              </a:solidFill>
              <a:latin typeface="Calibri"/>
              <a:ea typeface="Calibri"/>
              <a:cs typeface="Calibri"/>
              <a:sym typeface="Calibri"/>
            </a:endParaRPr>
          </a:p>
        </p:txBody>
      </p:sp>
      <p:sp>
        <p:nvSpPr>
          <p:cNvPr id="147" name="Google Shape;147;p9"/>
          <p:cNvSpPr/>
          <p:nvPr/>
        </p:nvSpPr>
        <p:spPr>
          <a:xfrm>
            <a:off x="457200" y="768096"/>
            <a:ext cx="7863840" cy="31089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900"/>
              <a:buFont typeface="Inter Tight"/>
              <a:buNone/>
            </a:pPr>
            <a:r>
              <a:rPr b="0" i="0" lang="en-US" sz="900" u="none" cap="none" strike="noStrike">
                <a:solidFill>
                  <a:srgbClr val="4A4A4A"/>
                </a:solidFill>
                <a:latin typeface="Inter Tight"/>
                <a:ea typeface="Inter Tight"/>
                <a:cs typeface="Inter Tight"/>
                <a:sym typeface="Inter Tight"/>
              </a:rPr>
              <a:t>This is the strongest argument against the client’s own hypothesis.</a:t>
            </a:r>
            <a:endParaRPr b="0" i="0" sz="900" u="none" cap="none" strike="noStrike">
              <a:solidFill>
                <a:schemeClr val="dk1"/>
              </a:solidFill>
              <a:latin typeface="Calibri"/>
              <a:ea typeface="Calibri"/>
              <a:cs typeface="Calibri"/>
              <a:sym typeface="Calibri"/>
            </a:endParaRPr>
          </a:p>
        </p:txBody>
      </p:sp>
      <p:sp>
        <p:nvSpPr>
          <p:cNvPr id="148" name="Google Shape;148;p9"/>
          <p:cNvSpPr/>
          <p:nvPr/>
        </p:nvSpPr>
        <p:spPr>
          <a:xfrm>
            <a:off x="457200" y="1152144"/>
            <a:ext cx="2621280" cy="1325880"/>
          </a:xfrm>
          <a:prstGeom prst="roundRect">
            <a:avLst>
              <a:gd fmla="val 6207"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9"/>
          <p:cNvSpPr/>
          <p:nvPr/>
        </p:nvSpPr>
        <p:spPr>
          <a:xfrm>
            <a:off x="457200" y="1179576"/>
            <a:ext cx="45720" cy="1271016"/>
          </a:xfrm>
          <a:prstGeom prst="rect">
            <a:avLst/>
          </a:prstGeom>
          <a:solidFill>
            <a:srgbClr val="F28B4C"/>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9"/>
          <p:cNvSpPr/>
          <p:nvPr/>
        </p:nvSpPr>
        <p:spPr>
          <a:xfrm>
            <a:off x="640080" y="1261872"/>
            <a:ext cx="2273808"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Colgate Total</a:t>
            </a:r>
            <a:endParaRPr b="0" i="0" sz="1000" u="none" cap="none" strike="noStrike">
              <a:solidFill>
                <a:schemeClr val="dk1"/>
              </a:solidFill>
              <a:latin typeface="Calibri"/>
              <a:ea typeface="Calibri"/>
              <a:cs typeface="Calibri"/>
              <a:sym typeface="Calibri"/>
            </a:endParaRPr>
          </a:p>
        </p:txBody>
      </p:sp>
      <p:sp>
        <p:nvSpPr>
          <p:cNvPr id="151" name="Google Shape;151;p9"/>
          <p:cNvSpPr/>
          <p:nvPr/>
        </p:nvSpPr>
        <p:spPr>
          <a:xfrm>
            <a:off x="658368" y="1517904"/>
            <a:ext cx="2237232" cy="86868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Declining.</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Everyday therapeutic and family SKU.</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The most price-exposed part of the range.</a:t>
            </a:r>
            <a:endParaRPr b="0" i="0" sz="800" u="none" cap="none" strike="noStrike">
              <a:solidFill>
                <a:schemeClr val="dk1"/>
              </a:solidFill>
              <a:latin typeface="Calibri"/>
              <a:ea typeface="Calibri"/>
              <a:cs typeface="Calibri"/>
              <a:sym typeface="Calibri"/>
            </a:endParaRPr>
          </a:p>
        </p:txBody>
      </p:sp>
      <p:sp>
        <p:nvSpPr>
          <p:cNvPr id="152" name="Google Shape;152;p9"/>
          <p:cNvSpPr/>
          <p:nvPr/>
        </p:nvSpPr>
        <p:spPr>
          <a:xfrm>
            <a:off x="3261360" y="1152144"/>
            <a:ext cx="2621280" cy="1325880"/>
          </a:xfrm>
          <a:prstGeom prst="roundRect">
            <a:avLst>
              <a:gd fmla="val 6207"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9"/>
          <p:cNvSpPr/>
          <p:nvPr/>
        </p:nvSpPr>
        <p:spPr>
          <a:xfrm>
            <a:off x="3261360" y="1179576"/>
            <a:ext cx="45720" cy="1271016"/>
          </a:xfrm>
          <a:prstGeom prst="rect">
            <a:avLst/>
          </a:prstGeom>
          <a:solidFill>
            <a:srgbClr val="F28B4C"/>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9"/>
          <p:cNvSpPr/>
          <p:nvPr/>
        </p:nvSpPr>
        <p:spPr>
          <a:xfrm>
            <a:off x="3444240" y="1261872"/>
            <a:ext cx="2273808"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Maximum Cavity Protection</a:t>
            </a:r>
            <a:endParaRPr b="0" i="0" sz="1000" u="none" cap="none" strike="noStrike">
              <a:solidFill>
                <a:schemeClr val="dk1"/>
              </a:solidFill>
              <a:latin typeface="Calibri"/>
              <a:ea typeface="Calibri"/>
              <a:cs typeface="Calibri"/>
              <a:sym typeface="Calibri"/>
            </a:endParaRPr>
          </a:p>
        </p:txBody>
      </p:sp>
      <p:sp>
        <p:nvSpPr>
          <p:cNvPr id="155" name="Google Shape;155;p9"/>
          <p:cNvSpPr/>
          <p:nvPr/>
        </p:nvSpPr>
        <p:spPr>
          <a:xfrm>
            <a:off x="3462528" y="1517904"/>
            <a:ext cx="2237232" cy="86868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Declining.</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The value and family workhorse.</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Competes directly with cheaper alternatives.</a:t>
            </a:r>
            <a:endParaRPr b="0" i="0" sz="800" u="none" cap="none" strike="noStrike">
              <a:solidFill>
                <a:schemeClr val="dk1"/>
              </a:solidFill>
              <a:latin typeface="Calibri"/>
              <a:ea typeface="Calibri"/>
              <a:cs typeface="Calibri"/>
              <a:sym typeface="Calibri"/>
            </a:endParaRPr>
          </a:p>
        </p:txBody>
      </p:sp>
      <p:sp>
        <p:nvSpPr>
          <p:cNvPr id="156" name="Google Shape;156;p9"/>
          <p:cNvSpPr/>
          <p:nvPr/>
        </p:nvSpPr>
        <p:spPr>
          <a:xfrm>
            <a:off x="6065520" y="1152144"/>
            <a:ext cx="2621280" cy="1325880"/>
          </a:xfrm>
          <a:prstGeom prst="roundRect">
            <a:avLst>
              <a:gd fmla="val 6207"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9"/>
          <p:cNvSpPr/>
          <p:nvPr/>
        </p:nvSpPr>
        <p:spPr>
          <a:xfrm>
            <a:off x="6065520" y="1179576"/>
            <a:ext cx="45720" cy="1271016"/>
          </a:xfrm>
          <a:prstGeom prst="rect">
            <a:avLst/>
          </a:prstGeom>
          <a:solidFill>
            <a:srgbClr val="2ECC9B"/>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
          <p:cNvSpPr/>
          <p:nvPr/>
        </p:nvSpPr>
        <p:spPr>
          <a:xfrm>
            <a:off x="6248400" y="1261872"/>
            <a:ext cx="2273808"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Optic White</a:t>
            </a:r>
            <a:endParaRPr b="0" i="0" sz="1000" u="none" cap="none" strike="noStrike">
              <a:solidFill>
                <a:schemeClr val="dk1"/>
              </a:solidFill>
              <a:latin typeface="Calibri"/>
              <a:ea typeface="Calibri"/>
              <a:cs typeface="Calibri"/>
              <a:sym typeface="Calibri"/>
            </a:endParaRPr>
          </a:p>
        </p:txBody>
      </p:sp>
      <p:sp>
        <p:nvSpPr>
          <p:cNvPr id="159" name="Google Shape;159;p9"/>
          <p:cNvSpPr/>
          <p:nvPr/>
        </p:nvSpPr>
        <p:spPr>
          <a:xfrm>
            <a:off x="6266688" y="1517904"/>
            <a:ext cx="2237232" cy="86868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Growing.</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Premium cosmetic whitening.</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Same brand name on the tube.</a:t>
            </a:r>
            <a:endParaRPr b="0" i="0" sz="800" u="none" cap="none" strike="noStrike">
              <a:solidFill>
                <a:schemeClr val="dk1"/>
              </a:solidFill>
              <a:latin typeface="Calibri"/>
              <a:ea typeface="Calibri"/>
              <a:cs typeface="Calibri"/>
              <a:sym typeface="Calibri"/>
            </a:endParaRPr>
          </a:p>
        </p:txBody>
      </p:sp>
      <p:sp>
        <p:nvSpPr>
          <p:cNvPr id="160" name="Google Shape;160;p9"/>
          <p:cNvSpPr/>
          <p:nvPr/>
        </p:nvSpPr>
        <p:spPr>
          <a:xfrm>
            <a:off x="457200" y="2587752"/>
            <a:ext cx="8229600" cy="841248"/>
          </a:xfrm>
          <a:prstGeom prst="roundRect">
            <a:avLst>
              <a:gd fmla="val 9783"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630942" y="2679594"/>
            <a:ext cx="7900500" cy="237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A shopper boycotting Colgate does not buy Colgate Optic White.</a:t>
            </a:r>
            <a:endParaRPr b="0" i="0" sz="1000" u="none" cap="none" strike="noStrike">
              <a:solidFill>
                <a:schemeClr val="dk1"/>
              </a:solidFill>
              <a:latin typeface="Calibri"/>
              <a:ea typeface="Calibri"/>
              <a:cs typeface="Calibri"/>
              <a:sym typeface="Calibri"/>
            </a:endParaRPr>
          </a:p>
        </p:txBody>
      </p:sp>
      <p:sp>
        <p:nvSpPr>
          <p:cNvPr id="162" name="Google Shape;162;p9"/>
          <p:cNvSpPr/>
          <p:nvPr/>
        </p:nvSpPr>
        <p:spPr>
          <a:xfrm>
            <a:off x="630942" y="2935626"/>
            <a:ext cx="7900500" cy="2925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Boycotts operate on the brand, and the brand name is identical across all three products. A pattern where the cheap everyday products fall and the premium cosmetic product grows is the signature of a household trading down on basics while still paying up for a visible cosmetic benefit. That is a pricing and portfolio problem, and it is happening across the category, not a religious or political rejection of Colgate.</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0"/>
          <p:cNvSpPr/>
          <p:nvPr/>
        </p:nvSpPr>
        <p:spPr>
          <a:xfrm>
            <a:off x="7498080" y="146304"/>
            <a:ext cx="12801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169" name="Google Shape;169;p10"/>
          <p:cNvSpPr/>
          <p:nvPr/>
        </p:nvSpPr>
        <p:spPr>
          <a:xfrm>
            <a:off x="457200" y="329184"/>
            <a:ext cx="6766560" cy="3840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Test 3: the halal logo gap is real, and it is fixable</a:t>
            </a:r>
            <a:endParaRPr b="0" i="0" sz="2150" u="none" cap="none" strike="noStrike">
              <a:solidFill>
                <a:schemeClr val="dk1"/>
              </a:solidFill>
              <a:latin typeface="Calibri"/>
              <a:ea typeface="Calibri"/>
              <a:cs typeface="Calibri"/>
              <a:sym typeface="Calibri"/>
            </a:endParaRPr>
          </a:p>
        </p:txBody>
      </p:sp>
      <p:sp>
        <p:nvSpPr>
          <p:cNvPr id="170" name="Google Shape;170;p10"/>
          <p:cNvSpPr/>
          <p:nvPr/>
        </p:nvSpPr>
        <p:spPr>
          <a:xfrm>
            <a:off x="457200" y="768096"/>
            <a:ext cx="7863840" cy="31089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900"/>
              <a:buFont typeface="Inter Tight"/>
              <a:buNone/>
            </a:pPr>
            <a:r>
              <a:rPr b="0" i="0" lang="en-US" sz="900" u="none" cap="none" strike="noStrike">
                <a:solidFill>
                  <a:srgbClr val="4A4A4A"/>
                </a:solidFill>
                <a:latin typeface="Inter Tight"/>
                <a:ea typeface="Inter Tight"/>
                <a:cs typeface="Inter Tight"/>
                <a:sym typeface="Inter Tight"/>
              </a:rPr>
              <a:t>The one barrier we found with evidence behind it and a clear path to removing it.</a:t>
            </a:r>
            <a:endParaRPr b="0" i="0" sz="900" u="none" cap="none" strike="noStrike">
              <a:solidFill>
                <a:schemeClr val="dk1"/>
              </a:solidFill>
              <a:latin typeface="Calibri"/>
              <a:ea typeface="Calibri"/>
              <a:cs typeface="Calibri"/>
              <a:sym typeface="Calibri"/>
            </a:endParaRPr>
          </a:p>
        </p:txBody>
      </p:sp>
      <p:sp>
        <p:nvSpPr>
          <p:cNvPr id="171" name="Google Shape;171;p10"/>
          <p:cNvSpPr/>
          <p:nvPr/>
        </p:nvSpPr>
        <p:spPr>
          <a:xfrm>
            <a:off x="457200" y="1152144"/>
            <a:ext cx="8229600" cy="868680"/>
          </a:xfrm>
          <a:prstGeom prst="roundRect">
            <a:avLst>
              <a:gd fmla="val 9474"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0"/>
          <p:cNvSpPr/>
          <p:nvPr/>
        </p:nvSpPr>
        <p:spPr>
          <a:xfrm>
            <a:off x="621792" y="1316736"/>
            <a:ext cx="7900416"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Colgate is recognized as halal, but the pack does not carry the Malaysian mark.</a:t>
            </a:r>
            <a:endParaRPr b="0" i="0" sz="1000" u="none" cap="none" strike="noStrike">
              <a:solidFill>
                <a:schemeClr val="dk1"/>
              </a:solidFill>
              <a:latin typeface="Calibri"/>
              <a:ea typeface="Calibri"/>
              <a:cs typeface="Calibri"/>
              <a:sym typeface="Calibri"/>
            </a:endParaRPr>
          </a:p>
        </p:txBody>
      </p:sp>
      <p:sp>
        <p:nvSpPr>
          <p:cNvPr id="173" name="Google Shape;173;p10"/>
          <p:cNvSpPr/>
          <p:nvPr/>
        </p:nvSpPr>
        <p:spPr>
          <a:xfrm>
            <a:off x="621792" y="1572768"/>
            <a:ext cx="7900416" cy="32004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Colgate toothpaste sold in Malaysia does not carry the JAKIM halal logo, because it is not manufactured at a Malaysian plant. JAKIM recognizes the foreign halal certification Colgate holds. Malaysian shoppers scanning a shelf do not see that recognition, they see an absent logo.</a:t>
            </a:r>
            <a:endParaRPr b="0" i="0" sz="800" u="none" cap="none" strike="noStrike">
              <a:solidFill>
                <a:schemeClr val="dk1"/>
              </a:solidFill>
              <a:latin typeface="Calibri"/>
              <a:ea typeface="Calibri"/>
              <a:cs typeface="Calibri"/>
              <a:sym typeface="Calibri"/>
            </a:endParaRPr>
          </a:p>
        </p:txBody>
      </p:sp>
      <p:sp>
        <p:nvSpPr>
          <p:cNvPr id="174" name="Google Shape;174;p10"/>
          <p:cNvSpPr/>
          <p:nvPr/>
        </p:nvSpPr>
        <p:spPr>
          <a:xfrm>
            <a:off x="457200" y="2130552"/>
            <a:ext cx="4005072" cy="1234440"/>
          </a:xfrm>
          <a:prstGeom prst="roundRect">
            <a:avLst>
              <a:gd fmla="val 6667"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0"/>
          <p:cNvSpPr/>
          <p:nvPr/>
        </p:nvSpPr>
        <p:spPr>
          <a:xfrm>
            <a:off x="457200" y="2157984"/>
            <a:ext cx="45720" cy="1179576"/>
          </a:xfrm>
          <a:prstGeom prst="rect">
            <a:avLst/>
          </a:prstGeom>
          <a:solidFill>
            <a:srgbClr val="4A7BF7"/>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0"/>
          <p:cNvSpPr/>
          <p:nvPr/>
        </p:nvSpPr>
        <p:spPr>
          <a:xfrm>
            <a:off x="640080" y="2240280"/>
            <a:ext cx="3657600"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Why this beats the boycott theory as a brief</a:t>
            </a:r>
            <a:endParaRPr b="0" i="0" sz="1000" u="none" cap="none" strike="noStrike">
              <a:solidFill>
                <a:schemeClr val="dk1"/>
              </a:solidFill>
              <a:latin typeface="Calibri"/>
              <a:ea typeface="Calibri"/>
              <a:cs typeface="Calibri"/>
              <a:sym typeface="Calibri"/>
            </a:endParaRPr>
          </a:p>
        </p:txBody>
      </p:sp>
      <p:sp>
        <p:nvSpPr>
          <p:cNvPr id="177" name="Google Shape;177;p10"/>
          <p:cNvSpPr/>
          <p:nvPr/>
        </p:nvSpPr>
        <p:spPr>
          <a:xfrm>
            <a:off x="658368" y="2496312"/>
            <a:ext cx="3621024" cy="77724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It has been asked by Malay consumers since at least 2007.</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It is still being asked in Malaysian groups today.</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It is a communications gap, so communications can close it.</a:t>
            </a:r>
            <a:endParaRPr b="0" i="0" sz="800" u="none" cap="none" strike="noStrike">
              <a:solidFill>
                <a:schemeClr val="dk1"/>
              </a:solidFill>
              <a:latin typeface="Calibri"/>
              <a:ea typeface="Calibri"/>
              <a:cs typeface="Calibri"/>
              <a:sym typeface="Calibri"/>
            </a:endParaRPr>
          </a:p>
        </p:txBody>
      </p:sp>
      <p:sp>
        <p:nvSpPr>
          <p:cNvPr id="178" name="Google Shape;178;p10"/>
          <p:cNvSpPr/>
          <p:nvPr/>
        </p:nvSpPr>
        <p:spPr>
          <a:xfrm>
            <a:off x="4681728" y="2130552"/>
            <a:ext cx="4005072" cy="1234440"/>
          </a:xfrm>
          <a:prstGeom prst="roundRect">
            <a:avLst>
              <a:gd fmla="val 6667"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0"/>
          <p:cNvSpPr/>
          <p:nvPr/>
        </p:nvSpPr>
        <p:spPr>
          <a:xfrm>
            <a:off x="4681728" y="2157984"/>
            <a:ext cx="45720" cy="1179576"/>
          </a:xfrm>
          <a:prstGeom prst="rect">
            <a:avLst/>
          </a:prstGeom>
          <a:solidFill>
            <a:srgbClr val="2ECC9B"/>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
          <p:cNvSpPr/>
          <p:nvPr/>
        </p:nvSpPr>
        <p:spPr>
          <a:xfrm>
            <a:off x="4864608" y="2240280"/>
            <a:ext cx="3657600"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What a campaign can actually do</a:t>
            </a:r>
            <a:endParaRPr b="0" i="0" sz="1000" u="none" cap="none" strike="noStrike">
              <a:solidFill>
                <a:schemeClr val="dk1"/>
              </a:solidFill>
              <a:latin typeface="Calibri"/>
              <a:ea typeface="Calibri"/>
              <a:cs typeface="Calibri"/>
              <a:sym typeface="Calibri"/>
            </a:endParaRPr>
          </a:p>
        </p:txBody>
      </p:sp>
      <p:sp>
        <p:nvSpPr>
          <p:cNvPr id="181" name="Google Shape;181;p10"/>
          <p:cNvSpPr/>
          <p:nvPr/>
        </p:nvSpPr>
        <p:spPr>
          <a:xfrm>
            <a:off x="4882896" y="2496312"/>
            <a:ext cx="3621024" cy="77724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Make the halal status unmissable in Malay-market work.</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Answer the ingredient question directly instead of ignoring it.</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Give retail and pack a job, not just the film.</a:t>
            </a:r>
            <a:endParaRPr b="0" i="0" sz="800" u="none" cap="none" strike="noStrike">
              <a:solidFill>
                <a:schemeClr val="dk1"/>
              </a:solidFill>
              <a:latin typeface="Calibri"/>
              <a:ea typeface="Calibri"/>
              <a:cs typeface="Calibri"/>
              <a:sym typeface="Calibri"/>
            </a:endParaRPr>
          </a:p>
        </p:txBody>
      </p:sp>
      <p:sp>
        <p:nvSpPr>
          <p:cNvPr id="182" name="Google Shape;182;p10"/>
          <p:cNvSpPr/>
          <p:nvPr/>
        </p:nvSpPr>
        <p:spPr>
          <a:xfrm>
            <a:off x="457200" y="4832604"/>
            <a:ext cx="82296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A8"/>
              </a:buClr>
              <a:buSzPts val="700"/>
              <a:buFont typeface="Inter Tight"/>
              <a:buNone/>
            </a:pPr>
            <a:r>
              <a:rPr b="0" i="0" lang="en-US" sz="700" u="none" cap="none" strike="noStrike">
                <a:solidFill>
                  <a:srgbClr val="9AA0A8"/>
                </a:solidFill>
                <a:latin typeface="Inter Tight"/>
                <a:ea typeface="Inter Tight"/>
                <a:cs typeface="Inter Tight"/>
                <a:sym typeface="Inter Tight"/>
              </a:rPr>
              <a:t>Sources: Malaysian consumer discussion dating to 2007, and Colgate’s own published halal statement. Verify current on-pack certification status with Colgate before the pitch.</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1"/>
          <p:cNvSpPr/>
          <p:nvPr/>
        </p:nvSpPr>
        <p:spPr>
          <a:xfrm>
            <a:off x="7498080" y="146304"/>
            <a:ext cx="12801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189" name="Google Shape;189;p11"/>
          <p:cNvSpPr/>
          <p:nvPr/>
        </p:nvSpPr>
        <p:spPr>
          <a:xfrm>
            <a:off x="457200" y="329184"/>
            <a:ext cx="6766560" cy="3840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Test 4: what Malaysian boycotts actually move</a:t>
            </a:r>
            <a:endParaRPr b="0" i="0" sz="2150" u="none" cap="none" strike="noStrike">
              <a:solidFill>
                <a:schemeClr val="dk1"/>
              </a:solidFill>
              <a:latin typeface="Calibri"/>
              <a:ea typeface="Calibri"/>
              <a:cs typeface="Calibri"/>
              <a:sym typeface="Calibri"/>
            </a:endParaRPr>
          </a:p>
        </p:txBody>
      </p:sp>
      <p:sp>
        <p:nvSpPr>
          <p:cNvPr id="190" name="Google Shape;190;p11"/>
          <p:cNvSpPr/>
          <p:nvPr/>
        </p:nvSpPr>
        <p:spPr>
          <a:xfrm>
            <a:off x="457200" y="768096"/>
            <a:ext cx="7863840" cy="31089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900"/>
              <a:buFont typeface="Inter Tight"/>
              <a:buNone/>
            </a:pPr>
            <a:r>
              <a:rPr b="0" i="0" lang="en-US" sz="900" u="none" cap="none" strike="noStrike">
                <a:solidFill>
                  <a:srgbClr val="4A4A4A"/>
                </a:solidFill>
                <a:latin typeface="Inter Tight"/>
                <a:ea typeface="Inter Tight"/>
                <a:cs typeface="Inter Tight"/>
                <a:sym typeface="Inter Tight"/>
              </a:rPr>
              <a:t>Visible consumption and habitual staples behave very differently.</a:t>
            </a:r>
            <a:endParaRPr b="0" i="0" sz="900" u="none" cap="none" strike="noStrike">
              <a:solidFill>
                <a:schemeClr val="dk1"/>
              </a:solidFill>
              <a:latin typeface="Calibri"/>
              <a:ea typeface="Calibri"/>
              <a:cs typeface="Calibri"/>
              <a:sym typeface="Calibri"/>
            </a:endParaRPr>
          </a:p>
        </p:txBody>
      </p:sp>
      <p:sp>
        <p:nvSpPr>
          <p:cNvPr id="191" name="Google Shape;191;p11"/>
          <p:cNvSpPr/>
          <p:nvPr/>
        </p:nvSpPr>
        <p:spPr>
          <a:xfrm>
            <a:off x="457200" y="1152144"/>
            <a:ext cx="4005072" cy="1554480"/>
          </a:xfrm>
          <a:prstGeom prst="roundRect">
            <a:avLst>
              <a:gd fmla="val 5294"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a:off x="457200" y="1179576"/>
            <a:ext cx="45720" cy="1499616"/>
          </a:xfrm>
          <a:prstGeom prst="rect">
            <a:avLst/>
          </a:prstGeom>
          <a:solidFill>
            <a:srgbClr val="F28B4C"/>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a:off x="640080" y="1261872"/>
            <a:ext cx="3657600"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Where the boycott bit hard</a:t>
            </a:r>
            <a:endParaRPr b="0" i="0" sz="1000" u="none" cap="none" strike="noStrike">
              <a:solidFill>
                <a:schemeClr val="dk1"/>
              </a:solidFill>
              <a:latin typeface="Calibri"/>
              <a:ea typeface="Calibri"/>
              <a:cs typeface="Calibri"/>
              <a:sym typeface="Calibri"/>
            </a:endParaRPr>
          </a:p>
        </p:txBody>
      </p:sp>
      <p:sp>
        <p:nvSpPr>
          <p:cNvPr id="194" name="Google Shape;194;p11"/>
          <p:cNvSpPr/>
          <p:nvPr/>
        </p:nvSpPr>
        <p:spPr>
          <a:xfrm>
            <a:off x="658368" y="1517904"/>
            <a:ext cx="3621024" cy="109728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Food service, where the logo is on the cup and the storefront.</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Purchases made in public, in front of other people.</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Discretionary spend that is easy to skip entirely.</a:t>
            </a:r>
            <a:endParaRPr b="0" i="0" sz="800" u="none" cap="none" strike="noStrike">
              <a:solidFill>
                <a:schemeClr val="dk1"/>
              </a:solidFill>
              <a:latin typeface="Calibri"/>
              <a:ea typeface="Calibri"/>
              <a:cs typeface="Calibri"/>
              <a:sym typeface="Calibri"/>
            </a:endParaRPr>
          </a:p>
        </p:txBody>
      </p:sp>
      <p:sp>
        <p:nvSpPr>
          <p:cNvPr id="195" name="Google Shape;195;p11"/>
          <p:cNvSpPr/>
          <p:nvPr/>
        </p:nvSpPr>
        <p:spPr>
          <a:xfrm>
            <a:off x="4681728" y="1152144"/>
            <a:ext cx="4005072" cy="1554480"/>
          </a:xfrm>
          <a:prstGeom prst="roundRect">
            <a:avLst>
              <a:gd fmla="val 5294"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a:off x="4681728" y="1179576"/>
            <a:ext cx="45720" cy="1499616"/>
          </a:xfrm>
          <a:prstGeom prst="rect">
            <a:avLst/>
          </a:prstGeom>
          <a:solidFill>
            <a:srgbClr val="2ECC9B"/>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a:off x="4864608" y="1261872"/>
            <a:ext cx="3657600"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Where it struggles to bite</a:t>
            </a:r>
            <a:endParaRPr b="0" i="0" sz="1000" u="none" cap="none" strike="noStrike">
              <a:solidFill>
                <a:schemeClr val="dk1"/>
              </a:solidFill>
              <a:latin typeface="Calibri"/>
              <a:ea typeface="Calibri"/>
              <a:cs typeface="Calibri"/>
              <a:sym typeface="Calibri"/>
            </a:endParaRPr>
          </a:p>
        </p:txBody>
      </p:sp>
      <p:sp>
        <p:nvSpPr>
          <p:cNvPr id="198" name="Google Shape;198;p11"/>
          <p:cNvSpPr/>
          <p:nvPr/>
        </p:nvSpPr>
        <p:spPr>
          <a:xfrm>
            <a:off x="4882896" y="1517904"/>
            <a:ext cx="3621024" cy="109728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Low-involvement household staples bought on autopilot.</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Products used privately, in a bathroom, with no social signal.</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Categories where the switch costs effort and the substitute is unfamiliar.</a:t>
            </a:r>
            <a:endParaRPr b="0" i="0" sz="800" u="none" cap="none" strike="noStrike">
              <a:solidFill>
                <a:schemeClr val="dk1"/>
              </a:solidFill>
              <a:latin typeface="Calibri"/>
              <a:ea typeface="Calibri"/>
              <a:cs typeface="Calibri"/>
              <a:sym typeface="Calibri"/>
            </a:endParaRPr>
          </a:p>
        </p:txBody>
      </p:sp>
      <p:sp>
        <p:nvSpPr>
          <p:cNvPr id="199" name="Google Shape;199;p11"/>
          <p:cNvSpPr/>
          <p:nvPr/>
        </p:nvSpPr>
        <p:spPr>
          <a:xfrm>
            <a:off x="457200" y="2816352"/>
            <a:ext cx="8229600" cy="713232"/>
          </a:xfrm>
          <a:prstGeom prst="roundRect">
            <a:avLst>
              <a:gd fmla="val 11538"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a:off x="621742" y="2890269"/>
            <a:ext cx="7900500" cy="237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Toothpaste sits firmly in the second column.</a:t>
            </a:r>
            <a:endParaRPr b="0" i="0" sz="1000" u="none" cap="none" strike="noStrike">
              <a:solidFill>
                <a:schemeClr val="dk1"/>
              </a:solidFill>
              <a:latin typeface="Calibri"/>
              <a:ea typeface="Calibri"/>
              <a:cs typeface="Calibri"/>
              <a:sym typeface="Calibri"/>
            </a:endParaRPr>
          </a:p>
        </p:txBody>
      </p:sp>
      <p:sp>
        <p:nvSpPr>
          <p:cNvPr id="201" name="Google Shape;201;p11"/>
          <p:cNvSpPr/>
          <p:nvPr/>
        </p:nvSpPr>
        <p:spPr>
          <a:xfrm>
            <a:off x="621742" y="3146301"/>
            <a:ext cx="7900500" cy="1647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Nobody sees which toothpaste you own. That does not make a boycott impossible, it makes it a weaker and slower force in this category than in the ones that generated the headlines Colgate is reasoning from.</a:t>
            </a:r>
            <a:endParaRPr b="0" i="0" sz="800" u="none" cap="none" strike="noStrike">
              <a:solidFill>
                <a:schemeClr val="dk1"/>
              </a:solidFill>
              <a:latin typeface="Calibri"/>
              <a:ea typeface="Calibri"/>
              <a:cs typeface="Calibri"/>
              <a:sym typeface="Calibri"/>
            </a:endParaRPr>
          </a:p>
        </p:txBody>
      </p:sp>
      <p:sp>
        <p:nvSpPr>
          <p:cNvPr id="202" name="Google Shape;202;p11"/>
          <p:cNvSpPr/>
          <p:nvPr/>
        </p:nvSpPr>
        <p:spPr>
          <a:xfrm>
            <a:off x="457200" y="4832604"/>
            <a:ext cx="82296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A8"/>
              </a:buClr>
              <a:buSzPts val="700"/>
              <a:buFont typeface="Inter Tight"/>
              <a:buNone/>
            </a:pPr>
            <a:r>
              <a:rPr b="0" i="0" lang="en-US" sz="700" u="none" cap="none" strike="noStrike">
                <a:solidFill>
                  <a:srgbClr val="9AA0A8"/>
                </a:solidFill>
                <a:latin typeface="Inter Tight"/>
                <a:ea typeface="Inter Tight"/>
                <a:cs typeface="Inter Tight"/>
                <a:sym typeface="Inter Tight"/>
              </a:rPr>
              <a:t>Directional judgement based on the pattern of documented Malaysian boycott impact. Quantifying this properly needs panel data we did not have access to.</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2"/>
          <p:cNvSpPr/>
          <p:nvPr/>
        </p:nvSpPr>
        <p:spPr>
          <a:xfrm>
            <a:off x="7498080" y="146304"/>
            <a:ext cx="12801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209" name="Google Shape;209;p12"/>
          <p:cNvSpPr/>
          <p:nvPr/>
        </p:nvSpPr>
        <p:spPr>
          <a:xfrm>
            <a:off x="457200" y="329184"/>
            <a:ext cx="6766560" cy="3840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The fact that changes how COO talks in the room</a:t>
            </a:r>
            <a:endParaRPr b="0" i="0" sz="2150" u="none" cap="none" strike="noStrike">
              <a:solidFill>
                <a:schemeClr val="dk1"/>
              </a:solidFill>
              <a:latin typeface="Calibri"/>
              <a:ea typeface="Calibri"/>
              <a:cs typeface="Calibri"/>
              <a:sym typeface="Calibri"/>
            </a:endParaRPr>
          </a:p>
        </p:txBody>
      </p:sp>
      <p:sp>
        <p:nvSpPr>
          <p:cNvPr id="210" name="Google Shape;210;p12"/>
          <p:cNvSpPr/>
          <p:nvPr/>
        </p:nvSpPr>
        <p:spPr>
          <a:xfrm>
            <a:off x="457200" y="768096"/>
            <a:ext cx="7863840" cy="31089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900"/>
              <a:buFont typeface="Inter Tight"/>
              <a:buNone/>
            </a:pPr>
            <a:r>
              <a:rPr b="0" i="0" lang="en-US" sz="900" u="none" cap="none" strike="noStrike">
                <a:solidFill>
                  <a:srgbClr val="4A4A4A"/>
                </a:solidFill>
                <a:latin typeface="Inter Tight"/>
                <a:ea typeface="Inter Tight"/>
                <a:cs typeface="Inter Tight"/>
                <a:sym typeface="Inter Tight"/>
              </a:rPr>
              <a:t>Handle this one carefully. It is useful and it is a landmine.</a:t>
            </a:r>
            <a:endParaRPr b="0" i="0" sz="900" u="none" cap="none" strike="noStrike">
              <a:solidFill>
                <a:schemeClr val="dk1"/>
              </a:solidFill>
              <a:latin typeface="Calibri"/>
              <a:ea typeface="Calibri"/>
              <a:cs typeface="Calibri"/>
              <a:sym typeface="Calibri"/>
            </a:endParaRPr>
          </a:p>
        </p:txBody>
      </p:sp>
      <p:sp>
        <p:nvSpPr>
          <p:cNvPr id="211" name="Google Shape;211;p12"/>
          <p:cNvSpPr/>
          <p:nvPr/>
        </p:nvSpPr>
        <p:spPr>
          <a:xfrm>
            <a:off x="457200" y="1152144"/>
            <a:ext cx="8229600" cy="868680"/>
          </a:xfrm>
          <a:prstGeom prst="roundRect">
            <a:avLst>
              <a:gd fmla="val 9474"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2"/>
          <p:cNvSpPr/>
          <p:nvPr/>
        </p:nvSpPr>
        <p:spPr>
          <a:xfrm>
            <a:off x="621792" y="1211586"/>
            <a:ext cx="7900500" cy="5121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rgbClr val="4A7BF7"/>
              </a:buClr>
              <a:buSzPts val="3150"/>
              <a:buFont typeface="Inter Tight"/>
              <a:buNone/>
            </a:pPr>
            <a:r>
              <a:rPr b="1" i="0" lang="en-US" sz="3150" u="none" cap="none" strike="noStrike">
                <a:solidFill>
                  <a:srgbClr val="4A7BF7"/>
                </a:solidFill>
                <a:latin typeface="Inter Tight"/>
                <a:ea typeface="Inter Tight"/>
                <a:cs typeface="Inter Tight"/>
                <a:sym typeface="Inter Tight"/>
              </a:rPr>
              <a:t>50%</a:t>
            </a:r>
            <a:endParaRPr b="0" i="0" sz="3150" u="none" cap="none" strike="noStrike">
              <a:solidFill>
                <a:schemeClr val="dk1"/>
              </a:solidFill>
              <a:latin typeface="Calibri"/>
              <a:ea typeface="Calibri"/>
              <a:cs typeface="Calibri"/>
              <a:sym typeface="Calibri"/>
            </a:endParaRPr>
          </a:p>
        </p:txBody>
      </p:sp>
      <p:sp>
        <p:nvSpPr>
          <p:cNvPr id="213" name="Google Shape;213;p12"/>
          <p:cNvSpPr/>
          <p:nvPr/>
        </p:nvSpPr>
        <p:spPr>
          <a:xfrm>
            <a:off x="621792" y="1760226"/>
            <a:ext cx="7900500" cy="237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Colgate-Palmolive acquired half of Hawley and Hazel, the owner of Darlie, in 1985.</a:t>
            </a:r>
            <a:endParaRPr b="0" i="0" sz="1000" u="none" cap="none" strike="noStrike">
              <a:solidFill>
                <a:schemeClr val="dk1"/>
              </a:solidFill>
              <a:latin typeface="Calibri"/>
              <a:ea typeface="Calibri"/>
              <a:cs typeface="Calibri"/>
              <a:sym typeface="Calibri"/>
            </a:endParaRPr>
          </a:p>
        </p:txBody>
      </p:sp>
      <p:sp>
        <p:nvSpPr>
          <p:cNvPr id="214" name="Google Shape;214;p12"/>
          <p:cNvSpPr/>
          <p:nvPr/>
        </p:nvSpPr>
        <p:spPr>
          <a:xfrm>
            <a:off x="457200" y="2130552"/>
            <a:ext cx="8229600" cy="1188720"/>
          </a:xfrm>
          <a:prstGeom prst="roundRect">
            <a:avLst>
              <a:gd fmla="val 6923"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2"/>
          <p:cNvSpPr/>
          <p:nvPr/>
        </p:nvSpPr>
        <p:spPr>
          <a:xfrm>
            <a:off x="621792" y="2295144"/>
            <a:ext cx="7900416"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What that means for the diagnosis.</a:t>
            </a:r>
            <a:endParaRPr b="0" i="0" sz="1000" u="none" cap="none" strike="noStrike">
              <a:solidFill>
                <a:schemeClr val="dk1"/>
              </a:solidFill>
              <a:latin typeface="Calibri"/>
              <a:ea typeface="Calibri"/>
              <a:cs typeface="Calibri"/>
              <a:sym typeface="Calibri"/>
            </a:endParaRPr>
          </a:p>
        </p:txBody>
      </p:sp>
      <p:sp>
        <p:nvSpPr>
          <p:cNvPr id="216" name="Google Shape;216;p12"/>
          <p:cNvSpPr/>
          <p:nvPr/>
        </p:nvSpPr>
        <p:spPr>
          <a:xfrm>
            <a:off x="621792" y="2551176"/>
            <a:ext cx="7900416" cy="64008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Darlie is the brand that leads the Chinese segment in Malaysia, and it is the most likely destination for any shopper walking away from Colgate. If the historic stake is still in place, then a large share of that switching still lands inside the same parent company, which softens the commercial damage the boycott theory implies. It also means COO should never build creative that positions Colgate against Darlie, and should confirm the current shareholding with Colgate before the meeting rather than raising it cold.</a:t>
            </a:r>
            <a:endParaRPr b="0" i="0" sz="800" u="none" cap="none" strike="noStrike">
              <a:solidFill>
                <a:schemeClr val="dk1"/>
              </a:solidFill>
              <a:latin typeface="Calibri"/>
              <a:ea typeface="Calibri"/>
              <a:cs typeface="Calibri"/>
              <a:sym typeface="Calibri"/>
            </a:endParaRPr>
          </a:p>
        </p:txBody>
      </p:sp>
      <p:sp>
        <p:nvSpPr>
          <p:cNvPr id="217" name="Google Shape;217;p12"/>
          <p:cNvSpPr/>
          <p:nvPr/>
        </p:nvSpPr>
        <p:spPr>
          <a:xfrm>
            <a:off x="457200" y="4832604"/>
            <a:ext cx="82296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A8"/>
              </a:buClr>
              <a:buSzPts val="700"/>
              <a:buFont typeface="Inter Tight"/>
              <a:buNone/>
            </a:pPr>
            <a:r>
              <a:rPr b="0" i="0" lang="en-US" sz="700" u="none" cap="none" strike="noStrike">
                <a:solidFill>
                  <a:srgbClr val="9AA0A8"/>
                </a:solidFill>
                <a:latin typeface="Inter Tight"/>
                <a:ea typeface="Inter Tight"/>
                <a:cs typeface="Inter Tight"/>
                <a:sym typeface="Inter Tight"/>
              </a:rPr>
              <a:t>Colgate-Palmolive acquired 50</a:t>
            </a:r>
            <a:r>
              <a:rPr lang="en-US" sz="700">
                <a:solidFill>
                  <a:srgbClr val="9AA0A8"/>
                </a:solidFill>
                <a:latin typeface="Inter Tight"/>
                <a:ea typeface="Inter Tight"/>
                <a:cs typeface="Inter Tight"/>
                <a:sym typeface="Inter Tight"/>
              </a:rPr>
              <a:t>% </a:t>
            </a:r>
            <a:r>
              <a:rPr b="0" i="0" lang="en-US" sz="700" u="none" cap="none" strike="noStrike">
                <a:solidFill>
                  <a:srgbClr val="9AA0A8"/>
                </a:solidFill>
                <a:latin typeface="Inter Tight"/>
                <a:ea typeface="Inter Tight"/>
                <a:cs typeface="Inter Tight"/>
                <a:sym typeface="Inter Tight"/>
              </a:rPr>
              <a:t>of Hawley and Hazel in 1985. We could not confirm within this pass whether that stake is unchanged today. Confirm before using.</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3"/>
          <p:cNvSpPr/>
          <p:nvPr/>
        </p:nvSpPr>
        <p:spPr>
          <a:xfrm>
            <a:off x="7498080" y="146304"/>
            <a:ext cx="12801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224" name="Google Shape;224;p13"/>
          <p:cNvSpPr/>
          <p:nvPr/>
        </p:nvSpPr>
        <p:spPr>
          <a:xfrm>
            <a:off x="457200" y="329184"/>
            <a:ext cx="6766560" cy="3840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Our read on what is actually happening</a:t>
            </a:r>
            <a:endParaRPr b="0" i="0" sz="2150" u="none" cap="none" strike="noStrike">
              <a:solidFill>
                <a:schemeClr val="dk1"/>
              </a:solidFill>
              <a:latin typeface="Calibri"/>
              <a:ea typeface="Calibri"/>
              <a:cs typeface="Calibri"/>
              <a:sym typeface="Calibri"/>
            </a:endParaRPr>
          </a:p>
        </p:txBody>
      </p:sp>
      <p:sp>
        <p:nvSpPr>
          <p:cNvPr id="225" name="Google Shape;225;p13"/>
          <p:cNvSpPr/>
          <p:nvPr/>
        </p:nvSpPr>
        <p:spPr>
          <a:xfrm>
            <a:off x="457200" y="768096"/>
            <a:ext cx="7863840" cy="31089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900"/>
              <a:buFont typeface="Inter Tight"/>
              <a:buNone/>
            </a:pPr>
            <a:r>
              <a:rPr b="0" i="0" lang="en-US" sz="900" u="none" cap="none" strike="noStrike">
                <a:solidFill>
                  <a:srgbClr val="4A4A4A"/>
                </a:solidFill>
                <a:latin typeface="Inter Tight"/>
                <a:ea typeface="Inter Tight"/>
                <a:cs typeface="Inter Tight"/>
                <a:sym typeface="Inter Tight"/>
              </a:rPr>
              <a:t>Stated as a judgement, with the confidence level attached.</a:t>
            </a:r>
            <a:endParaRPr b="0" i="0" sz="900" u="none" cap="none" strike="noStrike">
              <a:solidFill>
                <a:schemeClr val="dk1"/>
              </a:solidFill>
              <a:latin typeface="Calibri"/>
              <a:ea typeface="Calibri"/>
              <a:cs typeface="Calibri"/>
              <a:sym typeface="Calibri"/>
            </a:endParaRPr>
          </a:p>
        </p:txBody>
      </p:sp>
      <p:graphicFrame>
        <p:nvGraphicFramePr>
          <p:cNvPr id="226" name="Google Shape;226;p13"/>
          <p:cNvGraphicFramePr/>
          <p:nvPr/>
        </p:nvGraphicFramePr>
        <p:xfrm>
          <a:off x="457200" y="1152144"/>
          <a:ext cx="3000000" cy="3000000"/>
        </p:xfrm>
        <a:graphic>
          <a:graphicData uri="http://schemas.openxmlformats.org/drawingml/2006/table">
            <a:tbl>
              <a:tblPr>
                <a:noFill/>
                <a:tableStyleId>{2E6FF8C8-3391-452F-899D-64A4625B6A48}</a:tableStyleId>
              </a:tblPr>
              <a:tblGrid>
                <a:gridCol w="2834650"/>
                <a:gridCol w="1371600"/>
                <a:gridCol w="4023350"/>
              </a:tblGrid>
              <a:tr h="365750">
                <a:tc>
                  <a:txBody>
                    <a:bodyPr/>
                    <a:lstStyle/>
                    <a:p>
                      <a:pPr indent="0" lvl="0" marL="0" marR="0" rtl="0" algn="l">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Likely driver</a:t>
                      </a:r>
                      <a:endParaRPr sz="75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l">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Our confidence</a:t>
                      </a:r>
                      <a:endParaRPr sz="75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l">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Why we place it here</a:t>
                      </a:r>
                      <a:endParaRPr sz="75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r>
              <a:tr h="365750">
                <a:tc>
                  <a:txBody>
                    <a:bodyPr/>
                    <a:lstStyle/>
                    <a:p>
                      <a:pPr indent="0" lvl="0" marL="0" marR="0" rtl="0" algn="l">
                        <a:spcBef>
                          <a:spcPts val="0"/>
                        </a:spcBef>
                        <a:spcAft>
                          <a:spcPts val="0"/>
                        </a:spcAft>
                        <a:buClr>
                          <a:srgbClr val="0F0F0F"/>
                        </a:buClr>
                        <a:buSzPts val="800"/>
                        <a:buFont typeface="Inter Tight"/>
                        <a:buNone/>
                      </a:pPr>
                      <a:r>
                        <a:rPr b="1" lang="en-US" sz="800" u="none" cap="none" strike="noStrike">
                          <a:solidFill>
                            <a:srgbClr val="0F0F0F"/>
                          </a:solidFill>
                          <a:latin typeface="Inter Tight"/>
                          <a:ea typeface="Inter Tight"/>
                          <a:cs typeface="Inter Tight"/>
                          <a:sym typeface="Inter Tight"/>
                        </a:rPr>
                        <a:t>Cost-of-living pressure on everyday SKUs</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High</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Explains why the value and family products fell while the premium one grew.</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0F0F0F"/>
                        </a:buClr>
                        <a:buSzPts val="800"/>
                        <a:buFont typeface="Inter Tight"/>
                        <a:buNone/>
                      </a:pPr>
                      <a:r>
                        <a:rPr b="1" lang="en-US" sz="800" u="none" cap="none" strike="noStrike">
                          <a:solidFill>
                            <a:srgbClr val="0F0F0F"/>
                          </a:solidFill>
                          <a:latin typeface="Inter Tight"/>
                          <a:ea typeface="Inter Tight"/>
                          <a:cs typeface="Inter Tight"/>
                          <a:sym typeface="Inter Tight"/>
                        </a:rPr>
                        <a:t>Category shift toward cosmetic whitening</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High</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Optic White is growing with the segment, not in spite of a boycott.</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r>
              <a:tr h="365750">
                <a:tc>
                  <a:txBody>
                    <a:bodyPr/>
                    <a:lstStyle/>
                    <a:p>
                      <a:pPr indent="0" lvl="0" marL="0" marR="0" rtl="0" algn="l">
                        <a:spcBef>
                          <a:spcPts val="0"/>
                        </a:spcBef>
                        <a:spcAft>
                          <a:spcPts val="0"/>
                        </a:spcAft>
                        <a:buClr>
                          <a:srgbClr val="0F0F0F"/>
                        </a:buClr>
                        <a:buSzPts val="800"/>
                        <a:buFont typeface="Inter Tight"/>
                        <a:buNone/>
                      </a:pPr>
                      <a:r>
                        <a:rPr b="1" lang="en-US" sz="800" u="none" cap="none" strike="noStrike">
                          <a:solidFill>
                            <a:srgbClr val="0F0F0F"/>
                          </a:solidFill>
                          <a:latin typeface="Inter Tight"/>
                          <a:ea typeface="Inter Tight"/>
                          <a:cs typeface="Inter Tight"/>
                          <a:sym typeface="Inter Tight"/>
                        </a:rPr>
                        <a:t>Halal visibility gap in the Malay market</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Medium to high</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Documented, long-running, and specific to Malaysia.</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0F0F0F"/>
                        </a:buClr>
                        <a:buSzPts val="800"/>
                        <a:buFont typeface="Inter Tight"/>
                        <a:buNone/>
                      </a:pPr>
                      <a:r>
                        <a:rPr b="1" lang="en-US" sz="800" u="none" cap="none" strike="noStrike">
                          <a:solidFill>
                            <a:srgbClr val="0F0F0F"/>
                          </a:solidFill>
                          <a:latin typeface="Inter Tight"/>
                          <a:ea typeface="Inter Tight"/>
                          <a:cs typeface="Inter Tight"/>
                          <a:sym typeface="Inter Tight"/>
                        </a:rPr>
                        <a:t>Boycott sentiment</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Low to medium</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800"/>
                        <a:buFont typeface="Inter Tight"/>
                        <a:buNone/>
                      </a:pPr>
                      <a:r>
                        <a:rPr lang="en-US" sz="800" u="none" cap="none" strike="noStrike">
                          <a:solidFill>
                            <a:srgbClr val="4A4A4A"/>
                          </a:solidFill>
                          <a:latin typeface="Inter Tight"/>
                          <a:ea typeface="Inter Tight"/>
                          <a:cs typeface="Inter Tight"/>
                          <a:sym typeface="Inter Tight"/>
                        </a:rPr>
                        <a:t>Real as feeling, weak as a driver of toothpaste volume, and fading.</a:t>
                      </a:r>
                      <a:endParaRPr sz="8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r>
            </a:tbl>
          </a:graphicData>
        </a:graphic>
      </p:graphicFrame>
      <p:sp>
        <p:nvSpPr>
          <p:cNvPr id="227" name="Google Shape;227;p13"/>
          <p:cNvSpPr/>
          <p:nvPr/>
        </p:nvSpPr>
        <p:spPr>
          <a:xfrm>
            <a:off x="457200" y="3210614"/>
            <a:ext cx="8229600" cy="640200"/>
          </a:xfrm>
          <a:prstGeom prst="roundRect">
            <a:avLst>
              <a:gd fmla="val 12857"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3"/>
          <p:cNvSpPr/>
          <p:nvPr/>
        </p:nvSpPr>
        <p:spPr>
          <a:xfrm>
            <a:off x="621742" y="3313906"/>
            <a:ext cx="7900500" cy="237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The honest one-liner for COO.</a:t>
            </a:r>
            <a:endParaRPr b="0" i="0" sz="1000" u="none" cap="none" strike="noStrike">
              <a:solidFill>
                <a:schemeClr val="dk1"/>
              </a:solidFill>
              <a:latin typeface="Calibri"/>
              <a:ea typeface="Calibri"/>
              <a:cs typeface="Calibri"/>
              <a:sym typeface="Calibri"/>
            </a:endParaRPr>
          </a:p>
        </p:txBody>
      </p:sp>
      <p:sp>
        <p:nvSpPr>
          <p:cNvPr id="229" name="Google Shape;229;p13"/>
          <p:cNvSpPr/>
          <p:nvPr/>
        </p:nvSpPr>
        <p:spPr>
          <a:xfrm>
            <a:off x="621742" y="3569938"/>
            <a:ext cx="7900500" cy="915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Colgate has a price and relevance problem in the Malay everyday basket, wearing a boycott costume, with a halal logo gap making it worse.</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4"/>
          <p:cNvSpPr/>
          <p:nvPr/>
        </p:nvSpPr>
        <p:spPr>
          <a:xfrm>
            <a:off x="7498080" y="146304"/>
            <a:ext cx="12801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236" name="Google Shape;236;p14"/>
          <p:cNvSpPr/>
          <p:nvPr/>
        </p:nvSpPr>
        <p:spPr>
          <a:xfrm>
            <a:off x="457200" y="329184"/>
            <a:ext cx="6766560" cy="3840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The 2027 platform in practice</a:t>
            </a:r>
            <a:endParaRPr b="0" i="0" sz="2150" u="none" cap="none" strike="noStrike">
              <a:solidFill>
                <a:schemeClr val="dk1"/>
              </a:solidFill>
              <a:latin typeface="Calibri"/>
              <a:ea typeface="Calibri"/>
              <a:cs typeface="Calibri"/>
              <a:sym typeface="Calibri"/>
            </a:endParaRPr>
          </a:p>
        </p:txBody>
      </p:sp>
      <p:sp>
        <p:nvSpPr>
          <p:cNvPr id="237" name="Google Shape;237;p14"/>
          <p:cNvSpPr/>
          <p:nvPr/>
        </p:nvSpPr>
        <p:spPr>
          <a:xfrm>
            <a:off x="457200" y="768096"/>
            <a:ext cx="7863840" cy="31089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900"/>
              <a:buFont typeface="Inter Tight"/>
              <a:buNone/>
            </a:pPr>
            <a:r>
              <a:rPr b="0" i="0" lang="en-US" sz="900" u="none" cap="none" strike="noStrike">
                <a:solidFill>
                  <a:srgbClr val="4A4A4A"/>
                </a:solidFill>
                <a:latin typeface="Inter Tight"/>
                <a:ea typeface="Inter Tight"/>
                <a:cs typeface="Inter Tight"/>
                <a:sym typeface="Inter Tight"/>
              </a:rPr>
              <a:t>What the work actually is, once the date is corrected.</a:t>
            </a:r>
            <a:endParaRPr b="0" i="0" sz="900" u="none" cap="none" strike="noStrike">
              <a:solidFill>
                <a:schemeClr val="dk1"/>
              </a:solidFill>
              <a:latin typeface="Calibri"/>
              <a:ea typeface="Calibri"/>
              <a:cs typeface="Calibri"/>
              <a:sym typeface="Calibri"/>
            </a:endParaRPr>
          </a:p>
        </p:txBody>
      </p:sp>
      <p:sp>
        <p:nvSpPr>
          <p:cNvPr id="238" name="Google Shape;238;p14"/>
          <p:cNvSpPr/>
          <p:nvPr/>
        </p:nvSpPr>
        <p:spPr>
          <a:xfrm>
            <a:off x="457200" y="1152144"/>
            <a:ext cx="2621280" cy="1737360"/>
          </a:xfrm>
          <a:prstGeom prst="roundRect">
            <a:avLst>
              <a:gd fmla="val 4737"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4"/>
          <p:cNvSpPr/>
          <p:nvPr/>
        </p:nvSpPr>
        <p:spPr>
          <a:xfrm>
            <a:off x="457200" y="1179576"/>
            <a:ext cx="45720" cy="1682496"/>
          </a:xfrm>
          <a:prstGeom prst="rect">
            <a:avLst/>
          </a:prstGeom>
          <a:solidFill>
            <a:srgbClr val="F59EC9"/>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4"/>
          <p:cNvSpPr/>
          <p:nvPr/>
        </p:nvSpPr>
        <p:spPr>
          <a:xfrm>
            <a:off x="640080" y="1261872"/>
            <a:ext cx="2273808"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The week itself</a:t>
            </a:r>
            <a:endParaRPr b="0" i="0" sz="1000" u="none" cap="none" strike="noStrike">
              <a:solidFill>
                <a:schemeClr val="dk1"/>
              </a:solidFill>
              <a:latin typeface="Calibri"/>
              <a:ea typeface="Calibri"/>
              <a:cs typeface="Calibri"/>
              <a:sym typeface="Calibri"/>
            </a:endParaRPr>
          </a:p>
        </p:txBody>
      </p:sp>
      <p:sp>
        <p:nvSpPr>
          <p:cNvPr id="241" name="Google Shape;241;p14"/>
          <p:cNvSpPr/>
          <p:nvPr/>
        </p:nvSpPr>
        <p:spPr>
          <a:xfrm>
            <a:off x="658368" y="1517904"/>
            <a:ext cx="2237232" cy="128016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Chinese New Year lands 6 February 2027.</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Ramadan begins 8 February 2027.</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One neighbourhood, two households, opposite rituals, same week.</a:t>
            </a:r>
            <a:endParaRPr b="0" i="0" sz="800" u="none" cap="none" strike="noStrike">
              <a:solidFill>
                <a:schemeClr val="dk1"/>
              </a:solidFill>
              <a:latin typeface="Calibri"/>
              <a:ea typeface="Calibri"/>
              <a:cs typeface="Calibri"/>
              <a:sym typeface="Calibri"/>
            </a:endParaRPr>
          </a:p>
        </p:txBody>
      </p:sp>
      <p:sp>
        <p:nvSpPr>
          <p:cNvPr id="242" name="Google Shape;242;p14"/>
          <p:cNvSpPr/>
          <p:nvPr/>
        </p:nvSpPr>
        <p:spPr>
          <a:xfrm>
            <a:off x="3261360" y="1152144"/>
            <a:ext cx="2621280" cy="1737360"/>
          </a:xfrm>
          <a:prstGeom prst="roundRect">
            <a:avLst>
              <a:gd fmla="val 4737"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4"/>
          <p:cNvSpPr/>
          <p:nvPr/>
        </p:nvSpPr>
        <p:spPr>
          <a:xfrm>
            <a:off x="3261360" y="1179576"/>
            <a:ext cx="45720" cy="1682496"/>
          </a:xfrm>
          <a:prstGeom prst="rect">
            <a:avLst/>
          </a:prstGeom>
          <a:solidFill>
            <a:srgbClr val="8E6BE6"/>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4"/>
          <p:cNvSpPr/>
          <p:nvPr/>
        </p:nvSpPr>
        <p:spPr>
          <a:xfrm>
            <a:off x="3444240" y="1261872"/>
            <a:ext cx="2273808"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The product truth</a:t>
            </a:r>
            <a:endParaRPr b="0" i="0" sz="1000" u="none" cap="none" strike="noStrike">
              <a:solidFill>
                <a:schemeClr val="dk1"/>
              </a:solidFill>
              <a:latin typeface="Calibri"/>
              <a:ea typeface="Calibri"/>
              <a:cs typeface="Calibri"/>
              <a:sym typeface="Calibri"/>
            </a:endParaRPr>
          </a:p>
        </p:txBody>
      </p:sp>
      <p:sp>
        <p:nvSpPr>
          <p:cNvPr id="245" name="Google Shape;245;p14"/>
          <p:cNvSpPr/>
          <p:nvPr/>
        </p:nvSpPr>
        <p:spPr>
          <a:xfrm>
            <a:off x="3462528" y="1517904"/>
            <a:ext cx="2237232" cy="128016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Reunion dinners mean strong food and close conversation.</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Fasting means dry mouth and breath anxiety all day.</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Both are oral care problems, and both need the family SKUs.</a:t>
            </a:r>
            <a:endParaRPr b="0" i="0" sz="800" u="none" cap="none" strike="noStrike">
              <a:solidFill>
                <a:schemeClr val="dk1"/>
              </a:solidFill>
              <a:latin typeface="Calibri"/>
              <a:ea typeface="Calibri"/>
              <a:cs typeface="Calibri"/>
              <a:sym typeface="Calibri"/>
            </a:endParaRPr>
          </a:p>
        </p:txBody>
      </p:sp>
      <p:sp>
        <p:nvSpPr>
          <p:cNvPr id="246" name="Google Shape;246;p14"/>
          <p:cNvSpPr/>
          <p:nvPr/>
        </p:nvSpPr>
        <p:spPr>
          <a:xfrm>
            <a:off x="6065520" y="1152144"/>
            <a:ext cx="2621280" cy="1737360"/>
          </a:xfrm>
          <a:prstGeom prst="roundRect">
            <a:avLst>
              <a:gd fmla="val 4737"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4"/>
          <p:cNvSpPr/>
          <p:nvPr/>
        </p:nvSpPr>
        <p:spPr>
          <a:xfrm>
            <a:off x="6065520" y="1179576"/>
            <a:ext cx="45720" cy="1682496"/>
          </a:xfrm>
          <a:prstGeom prst="rect">
            <a:avLst/>
          </a:prstGeom>
          <a:solidFill>
            <a:srgbClr val="2ECC9B"/>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4"/>
          <p:cNvSpPr/>
          <p:nvPr/>
        </p:nvSpPr>
        <p:spPr>
          <a:xfrm>
            <a:off x="6248400" y="1261872"/>
            <a:ext cx="2273808"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The brand role</a:t>
            </a:r>
            <a:endParaRPr b="0" i="0" sz="1000" u="none" cap="none" strike="noStrike">
              <a:solidFill>
                <a:schemeClr val="dk1"/>
              </a:solidFill>
              <a:latin typeface="Calibri"/>
              <a:ea typeface="Calibri"/>
              <a:cs typeface="Calibri"/>
              <a:sym typeface="Calibri"/>
            </a:endParaRPr>
          </a:p>
        </p:txBody>
      </p:sp>
      <p:sp>
        <p:nvSpPr>
          <p:cNvPr id="249" name="Google Shape;249;p14"/>
          <p:cNvSpPr/>
          <p:nvPr/>
        </p:nvSpPr>
        <p:spPr>
          <a:xfrm>
            <a:off x="6266688" y="1517904"/>
            <a:ext cx="2237232" cy="128016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Colgate is in both bathrooms on the same morning.</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It earns the Malay household back on usefulness, not apology.</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It keeps the Chinese household without changing anything that works.</a:t>
            </a:r>
            <a:endParaRPr b="0" i="0" sz="800" u="none" cap="none" strike="noStrike">
              <a:solidFill>
                <a:schemeClr val="dk1"/>
              </a:solidFill>
              <a:latin typeface="Calibri"/>
              <a:ea typeface="Calibri"/>
              <a:cs typeface="Calibri"/>
              <a:sym typeface="Calibri"/>
            </a:endParaRPr>
          </a:p>
        </p:txBody>
      </p:sp>
      <p:sp>
        <p:nvSpPr>
          <p:cNvPr id="250" name="Google Shape;250;p14"/>
          <p:cNvSpPr/>
          <p:nvPr/>
        </p:nvSpPr>
        <p:spPr>
          <a:xfrm>
            <a:off x="457200" y="4576572"/>
            <a:ext cx="8229600" cy="310896"/>
          </a:xfrm>
          <a:prstGeom prst="rect">
            <a:avLst/>
          </a:prstGeom>
          <a:solidFill>
            <a:srgbClr val="3056C9"/>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4"/>
          <p:cNvSpPr/>
          <p:nvPr/>
        </p:nvSpPr>
        <p:spPr>
          <a:xfrm>
            <a:off x="603504" y="4576572"/>
            <a:ext cx="7936992"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Inter Tight"/>
              <a:buNone/>
            </a:pPr>
            <a:r>
              <a:rPr b="1" i="0" lang="en-US" sz="800" u="none" cap="none" strike="noStrike">
                <a:solidFill>
                  <a:srgbClr val="FFFFFF"/>
                </a:solidFill>
                <a:latin typeface="Inter Tight"/>
                <a:ea typeface="Inter Tight"/>
                <a:cs typeface="Inter Tight"/>
                <a:sym typeface="Inter Tight"/>
              </a:rPr>
              <a:t>The line to test: one February, two celebrations, one Colgate in every bathroom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5"/>
          <p:cNvSpPr/>
          <p:nvPr/>
        </p:nvSpPr>
        <p:spPr>
          <a:xfrm>
            <a:off x="7498080" y="146304"/>
            <a:ext cx="12801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258" name="Google Shape;258;p15"/>
          <p:cNvSpPr/>
          <p:nvPr/>
        </p:nvSpPr>
        <p:spPr>
          <a:xfrm>
            <a:off x="457200" y="329184"/>
            <a:ext cx="6766560" cy="3840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The three-year roadmap</a:t>
            </a:r>
            <a:endParaRPr b="0" i="0" sz="2150" u="none" cap="none" strike="noStrike">
              <a:solidFill>
                <a:schemeClr val="dk1"/>
              </a:solidFill>
              <a:latin typeface="Calibri"/>
              <a:ea typeface="Calibri"/>
              <a:cs typeface="Calibri"/>
              <a:sym typeface="Calibri"/>
            </a:endParaRPr>
          </a:p>
        </p:txBody>
      </p:sp>
      <p:sp>
        <p:nvSpPr>
          <p:cNvPr id="259" name="Google Shape;259;p15"/>
          <p:cNvSpPr/>
          <p:nvPr/>
        </p:nvSpPr>
        <p:spPr>
          <a:xfrm>
            <a:off x="457200" y="768096"/>
            <a:ext cx="7863840" cy="31089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900"/>
              <a:buFont typeface="Inter Tight"/>
              <a:buNone/>
            </a:pPr>
            <a:r>
              <a:rPr b="0" i="0" lang="en-US" sz="900" u="none" cap="none" strike="noStrike">
                <a:solidFill>
                  <a:srgbClr val="4A4A4A"/>
                </a:solidFill>
                <a:latin typeface="Inter Tight"/>
                <a:ea typeface="Inter Tight"/>
                <a:cs typeface="Inter Tight"/>
                <a:sym typeface="Inter Tight"/>
              </a:rPr>
              <a:t>Why COO should sell 2029 in the 2027 meeting.</a:t>
            </a:r>
            <a:endParaRPr b="0" i="0" sz="900" u="none" cap="none" strike="noStrike">
              <a:solidFill>
                <a:schemeClr val="dk1"/>
              </a:solidFill>
              <a:latin typeface="Calibri"/>
              <a:ea typeface="Calibri"/>
              <a:cs typeface="Calibri"/>
              <a:sym typeface="Calibri"/>
            </a:endParaRPr>
          </a:p>
        </p:txBody>
      </p:sp>
      <p:sp>
        <p:nvSpPr>
          <p:cNvPr id="260" name="Google Shape;260;p15"/>
          <p:cNvSpPr/>
          <p:nvPr/>
        </p:nvSpPr>
        <p:spPr>
          <a:xfrm>
            <a:off x="457200" y="1152144"/>
            <a:ext cx="2621280" cy="1600200"/>
          </a:xfrm>
          <a:prstGeom prst="roundRect">
            <a:avLst>
              <a:gd fmla="val 5143"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5"/>
          <p:cNvSpPr/>
          <p:nvPr/>
        </p:nvSpPr>
        <p:spPr>
          <a:xfrm>
            <a:off x="457200" y="1152144"/>
            <a:ext cx="2621280" cy="50292"/>
          </a:xfrm>
          <a:prstGeom prst="rect">
            <a:avLst/>
          </a:prstGeom>
          <a:solidFill>
            <a:srgbClr val="4A7BF7"/>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5"/>
          <p:cNvSpPr/>
          <p:nvPr/>
        </p:nvSpPr>
        <p:spPr>
          <a:xfrm>
            <a:off x="585216" y="1298448"/>
            <a:ext cx="2365248" cy="4572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rgbClr val="0F0F0F"/>
              </a:buClr>
              <a:buSzPts val="2500"/>
              <a:buFont typeface="Inter Tight"/>
              <a:buNone/>
            </a:pPr>
            <a:r>
              <a:rPr b="1" i="0" lang="en-US" sz="2500" u="none" cap="none" strike="noStrike">
                <a:solidFill>
                  <a:srgbClr val="0F0F0F"/>
                </a:solidFill>
                <a:latin typeface="Inter Tight"/>
                <a:ea typeface="Inter Tight"/>
                <a:cs typeface="Inter Tight"/>
                <a:sym typeface="Inter Tight"/>
              </a:rPr>
              <a:t>2027</a:t>
            </a:r>
            <a:endParaRPr b="0" i="0" sz="2500" u="none" cap="none" strike="noStrike">
              <a:solidFill>
                <a:schemeClr val="dk1"/>
              </a:solidFill>
              <a:latin typeface="Calibri"/>
              <a:ea typeface="Calibri"/>
              <a:cs typeface="Calibri"/>
              <a:sym typeface="Calibri"/>
            </a:endParaRPr>
          </a:p>
        </p:txBody>
      </p:sp>
      <p:sp>
        <p:nvSpPr>
          <p:cNvPr id="263" name="Google Shape;263;p15"/>
          <p:cNvSpPr/>
          <p:nvPr/>
        </p:nvSpPr>
        <p:spPr>
          <a:xfrm>
            <a:off x="585216" y="1773936"/>
            <a:ext cx="2365248" cy="2194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Build</a:t>
            </a:r>
            <a:endParaRPr b="0" i="0" sz="1000" u="none" cap="none" strike="noStrike">
              <a:solidFill>
                <a:schemeClr val="dk1"/>
              </a:solidFill>
              <a:latin typeface="Calibri"/>
              <a:ea typeface="Calibri"/>
              <a:cs typeface="Calibri"/>
              <a:sym typeface="Calibri"/>
            </a:endParaRPr>
          </a:p>
        </p:txBody>
      </p:sp>
      <p:sp>
        <p:nvSpPr>
          <p:cNvPr id="264" name="Google Shape;264;p15"/>
          <p:cNvSpPr/>
          <p:nvPr/>
        </p:nvSpPr>
        <p:spPr>
          <a:xfrm>
            <a:off x="585216" y="1993392"/>
            <a:ext cx="2365248" cy="7040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Claim the Chinese New Year and Ramadan week. Fix halal visibility in Malay-market work and at shelf. Establish the platform.</a:t>
            </a:r>
            <a:endParaRPr b="0" i="0" sz="800" u="none" cap="none" strike="noStrike">
              <a:solidFill>
                <a:schemeClr val="dk1"/>
              </a:solidFill>
              <a:latin typeface="Calibri"/>
              <a:ea typeface="Calibri"/>
              <a:cs typeface="Calibri"/>
              <a:sym typeface="Calibri"/>
            </a:endParaRPr>
          </a:p>
        </p:txBody>
      </p:sp>
      <p:sp>
        <p:nvSpPr>
          <p:cNvPr id="265" name="Google Shape;265;p15"/>
          <p:cNvSpPr/>
          <p:nvPr/>
        </p:nvSpPr>
        <p:spPr>
          <a:xfrm>
            <a:off x="3261360" y="1152144"/>
            <a:ext cx="2621280" cy="1600200"/>
          </a:xfrm>
          <a:prstGeom prst="roundRect">
            <a:avLst>
              <a:gd fmla="val 5143"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5"/>
          <p:cNvSpPr/>
          <p:nvPr/>
        </p:nvSpPr>
        <p:spPr>
          <a:xfrm>
            <a:off x="3261360" y="1152144"/>
            <a:ext cx="2621280" cy="50292"/>
          </a:xfrm>
          <a:prstGeom prst="rect">
            <a:avLst/>
          </a:prstGeom>
          <a:solidFill>
            <a:srgbClr val="2ECC9B"/>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5"/>
          <p:cNvSpPr/>
          <p:nvPr/>
        </p:nvSpPr>
        <p:spPr>
          <a:xfrm>
            <a:off x="3389376" y="1298448"/>
            <a:ext cx="2365248" cy="4572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rgbClr val="0F0F0F"/>
              </a:buClr>
              <a:buSzPts val="2500"/>
              <a:buFont typeface="Inter Tight"/>
              <a:buNone/>
            </a:pPr>
            <a:r>
              <a:rPr b="1" i="0" lang="en-US" sz="2500" u="none" cap="none" strike="noStrike">
                <a:solidFill>
                  <a:srgbClr val="0F0F0F"/>
                </a:solidFill>
                <a:latin typeface="Inter Tight"/>
                <a:ea typeface="Inter Tight"/>
                <a:cs typeface="Inter Tight"/>
                <a:sym typeface="Inter Tight"/>
              </a:rPr>
              <a:t>2028</a:t>
            </a:r>
            <a:endParaRPr b="0" i="0" sz="2500" u="none" cap="none" strike="noStrike">
              <a:solidFill>
                <a:schemeClr val="dk1"/>
              </a:solidFill>
              <a:latin typeface="Calibri"/>
              <a:ea typeface="Calibri"/>
              <a:cs typeface="Calibri"/>
              <a:sym typeface="Calibri"/>
            </a:endParaRPr>
          </a:p>
        </p:txBody>
      </p:sp>
      <p:sp>
        <p:nvSpPr>
          <p:cNvPr id="268" name="Google Shape;268;p15"/>
          <p:cNvSpPr/>
          <p:nvPr/>
        </p:nvSpPr>
        <p:spPr>
          <a:xfrm>
            <a:off x="3389376" y="1773936"/>
            <a:ext cx="2365248" cy="2194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Hold</a:t>
            </a:r>
            <a:endParaRPr b="0" i="0" sz="1000" u="none" cap="none" strike="noStrike">
              <a:solidFill>
                <a:schemeClr val="dk1"/>
              </a:solidFill>
              <a:latin typeface="Calibri"/>
              <a:ea typeface="Calibri"/>
              <a:cs typeface="Calibri"/>
              <a:sym typeface="Calibri"/>
            </a:endParaRPr>
          </a:p>
        </p:txBody>
      </p:sp>
      <p:sp>
        <p:nvSpPr>
          <p:cNvPr id="269" name="Google Shape;269;p15"/>
          <p:cNvSpPr/>
          <p:nvPr/>
        </p:nvSpPr>
        <p:spPr>
          <a:xfrm>
            <a:off x="3389376" y="1993392"/>
            <a:ext cx="2365248" cy="7040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The festivals separate again. Run the platform across both windows and keep building the Malay-household relationship.</a:t>
            </a:r>
            <a:endParaRPr b="0" i="0" sz="800" u="none" cap="none" strike="noStrike">
              <a:solidFill>
                <a:schemeClr val="dk1"/>
              </a:solidFill>
              <a:latin typeface="Calibri"/>
              <a:ea typeface="Calibri"/>
              <a:cs typeface="Calibri"/>
              <a:sym typeface="Calibri"/>
            </a:endParaRPr>
          </a:p>
        </p:txBody>
      </p:sp>
      <p:sp>
        <p:nvSpPr>
          <p:cNvPr id="270" name="Google Shape;270;p15"/>
          <p:cNvSpPr/>
          <p:nvPr/>
        </p:nvSpPr>
        <p:spPr>
          <a:xfrm>
            <a:off x="6065520" y="1152144"/>
            <a:ext cx="2621280" cy="1600200"/>
          </a:xfrm>
          <a:prstGeom prst="roundRect">
            <a:avLst>
              <a:gd fmla="val 5143"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5"/>
          <p:cNvSpPr/>
          <p:nvPr/>
        </p:nvSpPr>
        <p:spPr>
          <a:xfrm>
            <a:off x="6065520" y="1152144"/>
            <a:ext cx="2621280" cy="50292"/>
          </a:xfrm>
          <a:prstGeom prst="rect">
            <a:avLst/>
          </a:prstGeom>
          <a:solidFill>
            <a:srgbClr val="4A7BF7"/>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5"/>
          <p:cNvSpPr/>
          <p:nvPr/>
        </p:nvSpPr>
        <p:spPr>
          <a:xfrm>
            <a:off x="6193536" y="1298448"/>
            <a:ext cx="2365248" cy="4572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rgbClr val="4A7BF7"/>
              </a:buClr>
              <a:buSzPts val="2500"/>
              <a:buFont typeface="Inter Tight"/>
              <a:buNone/>
            </a:pPr>
            <a:r>
              <a:rPr b="1" i="0" lang="en-US" sz="2500" u="none" cap="none" strike="noStrike">
                <a:solidFill>
                  <a:srgbClr val="4A7BF7"/>
                </a:solidFill>
                <a:latin typeface="Inter Tight"/>
                <a:ea typeface="Inter Tight"/>
                <a:cs typeface="Inter Tight"/>
                <a:sym typeface="Inter Tight"/>
              </a:rPr>
              <a:t>2029</a:t>
            </a:r>
            <a:endParaRPr b="0" i="0" sz="2500" u="none" cap="none" strike="noStrike">
              <a:solidFill>
                <a:schemeClr val="dk1"/>
              </a:solidFill>
              <a:latin typeface="Calibri"/>
              <a:ea typeface="Calibri"/>
              <a:cs typeface="Calibri"/>
              <a:sym typeface="Calibri"/>
            </a:endParaRPr>
          </a:p>
        </p:txBody>
      </p:sp>
      <p:sp>
        <p:nvSpPr>
          <p:cNvPr id="273" name="Google Shape;273;p15"/>
          <p:cNvSpPr/>
          <p:nvPr/>
        </p:nvSpPr>
        <p:spPr>
          <a:xfrm>
            <a:off x="6193536" y="1773936"/>
            <a:ext cx="2365248" cy="2194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Own</a:t>
            </a:r>
            <a:endParaRPr b="0" i="0" sz="1000" u="none" cap="none" strike="noStrike">
              <a:solidFill>
                <a:schemeClr val="dk1"/>
              </a:solidFill>
              <a:latin typeface="Calibri"/>
              <a:ea typeface="Calibri"/>
              <a:cs typeface="Calibri"/>
              <a:sym typeface="Calibri"/>
            </a:endParaRPr>
          </a:p>
        </p:txBody>
      </p:sp>
      <p:sp>
        <p:nvSpPr>
          <p:cNvPr id="274" name="Google Shape;274;p15"/>
          <p:cNvSpPr/>
          <p:nvPr/>
        </p:nvSpPr>
        <p:spPr>
          <a:xfrm>
            <a:off x="6193536" y="1993392"/>
            <a:ext cx="2365248" cy="7040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Chinese New Year and Hari Raya fall about one day apart. The brand that has held the territory for two years owns the moment everyone else scrambles for.</a:t>
            </a:r>
            <a:endParaRPr b="0" i="0" sz="800" u="none" cap="none" strike="noStrike">
              <a:solidFill>
                <a:schemeClr val="dk1"/>
              </a:solidFill>
              <a:latin typeface="Calibri"/>
              <a:ea typeface="Calibri"/>
              <a:cs typeface="Calibri"/>
              <a:sym typeface="Calibri"/>
            </a:endParaRPr>
          </a:p>
        </p:txBody>
      </p:sp>
      <p:sp>
        <p:nvSpPr>
          <p:cNvPr id="275" name="Google Shape;275;p15"/>
          <p:cNvSpPr/>
          <p:nvPr/>
        </p:nvSpPr>
        <p:spPr>
          <a:xfrm>
            <a:off x="457200" y="2862072"/>
            <a:ext cx="8229600" cy="658368"/>
          </a:xfrm>
          <a:prstGeom prst="roundRect">
            <a:avLst>
              <a:gd fmla="val 12500"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5"/>
          <p:cNvSpPr/>
          <p:nvPr/>
        </p:nvSpPr>
        <p:spPr>
          <a:xfrm>
            <a:off x="621792" y="3026664"/>
            <a:ext cx="7900416"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This is the commercial argument for COO.</a:t>
            </a:r>
            <a:endParaRPr b="0" i="0" sz="1000" u="none" cap="none" strike="noStrike">
              <a:solidFill>
                <a:schemeClr val="dk1"/>
              </a:solidFill>
              <a:latin typeface="Calibri"/>
              <a:ea typeface="Calibri"/>
              <a:cs typeface="Calibri"/>
              <a:sym typeface="Calibri"/>
            </a:endParaRPr>
          </a:p>
        </p:txBody>
      </p:sp>
      <p:sp>
        <p:nvSpPr>
          <p:cNvPr id="277" name="Google Shape;277;p15"/>
          <p:cNvSpPr/>
          <p:nvPr/>
        </p:nvSpPr>
        <p:spPr>
          <a:xfrm>
            <a:off x="621792" y="3282696"/>
            <a:ext cx="7900416" cy="109728"/>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A single festive campaign is a line item. A dated three-year run at a rare calendar event is a retained relationship, and Colgate can verify the dates themselves in about a minute.</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6"/>
          <p:cNvSpPr/>
          <p:nvPr/>
        </p:nvSpPr>
        <p:spPr>
          <a:xfrm>
            <a:off x="7498080" y="146304"/>
            <a:ext cx="12801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284" name="Google Shape;284;p16"/>
          <p:cNvSpPr/>
          <p:nvPr/>
        </p:nvSpPr>
        <p:spPr>
          <a:xfrm>
            <a:off x="457200" y="329184"/>
            <a:ext cx="6766560" cy="3840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Creative guardrails</a:t>
            </a:r>
            <a:endParaRPr b="0" i="0" sz="2150" u="none" cap="none" strike="noStrike">
              <a:solidFill>
                <a:schemeClr val="dk1"/>
              </a:solidFill>
              <a:latin typeface="Calibri"/>
              <a:ea typeface="Calibri"/>
              <a:cs typeface="Calibri"/>
              <a:sym typeface="Calibri"/>
            </a:endParaRPr>
          </a:p>
        </p:txBody>
      </p:sp>
      <p:sp>
        <p:nvSpPr>
          <p:cNvPr id="285" name="Google Shape;285;p16"/>
          <p:cNvSpPr/>
          <p:nvPr/>
        </p:nvSpPr>
        <p:spPr>
          <a:xfrm>
            <a:off x="457200" y="768096"/>
            <a:ext cx="7863840" cy="31089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900"/>
              <a:buFont typeface="Inter Tight"/>
              <a:buNone/>
            </a:pPr>
            <a:r>
              <a:rPr b="0" i="0" lang="en-US" sz="900" u="none" cap="none" strike="noStrike">
                <a:solidFill>
                  <a:srgbClr val="4A4A4A"/>
                </a:solidFill>
                <a:latin typeface="Inter Tight"/>
                <a:ea typeface="Inter Tight"/>
                <a:cs typeface="Inter Tight"/>
                <a:sym typeface="Inter Tight"/>
              </a:rPr>
              <a:t>Dual-festival work in Malaysia has a history of going wrong.</a:t>
            </a:r>
            <a:endParaRPr b="0" i="0" sz="900" u="none" cap="none" strike="noStrike">
              <a:solidFill>
                <a:schemeClr val="dk1"/>
              </a:solidFill>
              <a:latin typeface="Calibri"/>
              <a:ea typeface="Calibri"/>
              <a:cs typeface="Calibri"/>
              <a:sym typeface="Calibri"/>
            </a:endParaRPr>
          </a:p>
        </p:txBody>
      </p:sp>
      <p:sp>
        <p:nvSpPr>
          <p:cNvPr id="286" name="Google Shape;286;p16"/>
          <p:cNvSpPr/>
          <p:nvPr/>
        </p:nvSpPr>
        <p:spPr>
          <a:xfrm>
            <a:off x="457200" y="1152144"/>
            <a:ext cx="4005072" cy="1965960"/>
          </a:xfrm>
          <a:prstGeom prst="roundRect">
            <a:avLst>
              <a:gd fmla="val 4186"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6"/>
          <p:cNvSpPr/>
          <p:nvPr/>
        </p:nvSpPr>
        <p:spPr>
          <a:xfrm>
            <a:off x="457200" y="1179576"/>
            <a:ext cx="45720" cy="1911096"/>
          </a:xfrm>
          <a:prstGeom prst="rect">
            <a:avLst/>
          </a:prstGeom>
          <a:solidFill>
            <a:srgbClr val="2ECC9B"/>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6"/>
          <p:cNvSpPr/>
          <p:nvPr/>
        </p:nvSpPr>
        <p:spPr>
          <a:xfrm>
            <a:off x="640080" y="1261872"/>
            <a:ext cx="3657600"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Do</a:t>
            </a:r>
            <a:endParaRPr b="0" i="0" sz="1000" u="none" cap="none" strike="noStrike">
              <a:solidFill>
                <a:schemeClr val="dk1"/>
              </a:solidFill>
              <a:latin typeface="Calibri"/>
              <a:ea typeface="Calibri"/>
              <a:cs typeface="Calibri"/>
              <a:sym typeface="Calibri"/>
            </a:endParaRPr>
          </a:p>
        </p:txBody>
      </p:sp>
      <p:sp>
        <p:nvSpPr>
          <p:cNvPr id="289" name="Google Shape;289;p16"/>
          <p:cNvSpPr/>
          <p:nvPr/>
        </p:nvSpPr>
        <p:spPr>
          <a:xfrm>
            <a:off x="658368" y="1517904"/>
            <a:ext cx="3621024" cy="150876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Treat the two celebrations as neighbours, not as one blended festival.</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Show the fasting household and the feasting household with equal weight.</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Give the product a real job in both rituals.</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Make halal status visible without making it the whole message.</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Write and cast in Bahasa Malaysia first for the Malay-market cut.</a:t>
            </a:r>
            <a:endParaRPr b="0" i="0" sz="800" u="none" cap="none" strike="noStrike">
              <a:solidFill>
                <a:schemeClr val="dk1"/>
              </a:solidFill>
              <a:latin typeface="Calibri"/>
              <a:ea typeface="Calibri"/>
              <a:cs typeface="Calibri"/>
              <a:sym typeface="Calibri"/>
            </a:endParaRPr>
          </a:p>
        </p:txBody>
      </p:sp>
      <p:sp>
        <p:nvSpPr>
          <p:cNvPr id="290" name="Google Shape;290;p16"/>
          <p:cNvSpPr/>
          <p:nvPr/>
        </p:nvSpPr>
        <p:spPr>
          <a:xfrm>
            <a:off x="4681728" y="1152144"/>
            <a:ext cx="4005072" cy="1965960"/>
          </a:xfrm>
          <a:prstGeom prst="roundRect">
            <a:avLst>
              <a:gd fmla="val 4186"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6"/>
          <p:cNvSpPr/>
          <p:nvPr/>
        </p:nvSpPr>
        <p:spPr>
          <a:xfrm>
            <a:off x="4681728" y="1179576"/>
            <a:ext cx="45720" cy="1911096"/>
          </a:xfrm>
          <a:prstGeom prst="rect">
            <a:avLst/>
          </a:prstGeom>
          <a:solidFill>
            <a:srgbClr val="F28B4C"/>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6"/>
          <p:cNvSpPr/>
          <p:nvPr/>
        </p:nvSpPr>
        <p:spPr>
          <a:xfrm>
            <a:off x="4864608" y="1261872"/>
            <a:ext cx="3657600"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Avoid</a:t>
            </a:r>
            <a:endParaRPr b="0" i="0" sz="1000" u="none" cap="none" strike="noStrike">
              <a:solidFill>
                <a:schemeClr val="dk1"/>
              </a:solidFill>
              <a:latin typeface="Calibri"/>
              <a:ea typeface="Calibri"/>
              <a:cs typeface="Calibri"/>
              <a:sym typeface="Calibri"/>
            </a:endParaRPr>
          </a:p>
        </p:txBody>
      </p:sp>
      <p:sp>
        <p:nvSpPr>
          <p:cNvPr id="293" name="Google Shape;293;p16"/>
          <p:cNvSpPr/>
          <p:nvPr/>
        </p:nvSpPr>
        <p:spPr>
          <a:xfrm>
            <a:off x="4882896" y="1517904"/>
            <a:ext cx="3621024" cy="150876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Merging religious observance into one generic unity message.</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Any imagery that mixes Ramadan devotion with Chinese New Year feasting in the same frame.</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Claiming Raya and Chinese New Year fall together in 2027, because they do not.</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Apologizing for the brand or referencing the boycott directly.</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Positioning against Darlie.</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7"/>
          <p:cNvSpPr/>
          <p:nvPr/>
        </p:nvSpPr>
        <p:spPr>
          <a:xfrm>
            <a:off x="7498080" y="146304"/>
            <a:ext cx="12801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300" name="Google Shape;300;p17"/>
          <p:cNvSpPr/>
          <p:nvPr/>
        </p:nvSpPr>
        <p:spPr>
          <a:xfrm>
            <a:off x="457200" y="329184"/>
            <a:ext cx="6766560" cy="3840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Saying this to Colgate</a:t>
            </a:r>
            <a:endParaRPr b="0" i="0" sz="2150" u="none" cap="none" strike="noStrike">
              <a:solidFill>
                <a:schemeClr val="dk1"/>
              </a:solidFill>
              <a:latin typeface="Calibri"/>
              <a:ea typeface="Calibri"/>
              <a:cs typeface="Calibri"/>
              <a:sym typeface="Calibri"/>
            </a:endParaRPr>
          </a:p>
        </p:txBody>
      </p:sp>
      <p:sp>
        <p:nvSpPr>
          <p:cNvPr id="301" name="Google Shape;301;p17"/>
          <p:cNvSpPr/>
          <p:nvPr/>
        </p:nvSpPr>
        <p:spPr>
          <a:xfrm>
            <a:off x="457200" y="768096"/>
            <a:ext cx="7863840" cy="31089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900"/>
              <a:buFont typeface="Inter Tight"/>
              <a:buNone/>
            </a:pPr>
            <a:r>
              <a:rPr b="0" i="0" lang="en-US" sz="900" u="none" cap="none" strike="noStrike">
                <a:solidFill>
                  <a:srgbClr val="4A4A4A"/>
                </a:solidFill>
                <a:latin typeface="Inter Tight"/>
                <a:ea typeface="Inter Tight"/>
                <a:cs typeface="Inter Tight"/>
                <a:sym typeface="Inter Tight"/>
              </a:rPr>
              <a:t>The same findings, framed so a United States multinational can hear them.</a:t>
            </a:r>
            <a:endParaRPr b="0" i="0" sz="900" u="none" cap="none" strike="noStrike">
              <a:solidFill>
                <a:schemeClr val="dk1"/>
              </a:solidFill>
              <a:latin typeface="Calibri"/>
              <a:ea typeface="Calibri"/>
              <a:cs typeface="Calibri"/>
              <a:sym typeface="Calibri"/>
            </a:endParaRPr>
          </a:p>
        </p:txBody>
      </p:sp>
      <p:graphicFrame>
        <p:nvGraphicFramePr>
          <p:cNvPr id="302" name="Google Shape;302;p17"/>
          <p:cNvGraphicFramePr/>
          <p:nvPr/>
        </p:nvGraphicFramePr>
        <p:xfrm>
          <a:off x="457200" y="1152144"/>
          <a:ext cx="3000000" cy="3000000"/>
        </p:xfrm>
        <a:graphic>
          <a:graphicData uri="http://schemas.openxmlformats.org/drawingml/2006/table">
            <a:tbl>
              <a:tblPr>
                <a:noFill/>
                <a:tableStyleId>{2E6FF8C8-3391-452F-899D-64A4625B6A48}</a:tableStyleId>
              </a:tblPr>
              <a:tblGrid>
                <a:gridCol w="1097275"/>
                <a:gridCol w="3108950"/>
                <a:gridCol w="4023350"/>
              </a:tblGrid>
              <a:tr h="402325">
                <a:tc>
                  <a:txBody>
                    <a:bodyPr/>
                    <a:lstStyle/>
                    <a:p>
                      <a:pPr indent="0" lvl="0" marL="0" marR="0" rtl="0" algn="l">
                        <a:spcBef>
                          <a:spcPts val="0"/>
                        </a:spcBef>
                        <a:spcAft>
                          <a:spcPts val="0"/>
                        </a:spcAft>
                        <a:buClr>
                          <a:srgbClr val="FFFFFF"/>
                        </a:buClr>
                        <a:buSzPts val="700"/>
                        <a:buFont typeface="Inter Tight"/>
                        <a:buNone/>
                      </a:pPr>
                      <a:r>
                        <a:rPr b="1" lang="en-US" sz="700" u="none" cap="none" strike="noStrike">
                          <a:solidFill>
                            <a:srgbClr val="FFFFFF"/>
                          </a:solidFill>
                          <a:latin typeface="Inter Tight"/>
                          <a:ea typeface="Inter Tight"/>
                          <a:cs typeface="Inter Tight"/>
                          <a:sym typeface="Inter Tight"/>
                        </a:rPr>
                        <a:t>Topic</a:t>
                      </a:r>
                      <a:endParaRPr sz="7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l">
                        <a:spcBef>
                          <a:spcPts val="0"/>
                        </a:spcBef>
                        <a:spcAft>
                          <a:spcPts val="0"/>
                        </a:spcAft>
                        <a:buClr>
                          <a:srgbClr val="FFFFFF"/>
                        </a:buClr>
                        <a:buSzPts val="700"/>
                        <a:buFont typeface="Inter Tight"/>
                        <a:buNone/>
                      </a:pPr>
                      <a:r>
                        <a:rPr b="1" lang="en-US" sz="700" u="none" cap="none" strike="noStrike">
                          <a:solidFill>
                            <a:srgbClr val="FFFFFF"/>
                          </a:solidFill>
                          <a:latin typeface="Inter Tight"/>
                          <a:ea typeface="Inter Tight"/>
                          <a:cs typeface="Inter Tight"/>
                          <a:sym typeface="Inter Tight"/>
                        </a:rPr>
                        <a:t>What we believe</a:t>
                      </a:r>
                      <a:endParaRPr sz="7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l">
                        <a:spcBef>
                          <a:spcPts val="0"/>
                        </a:spcBef>
                        <a:spcAft>
                          <a:spcPts val="0"/>
                        </a:spcAft>
                        <a:buClr>
                          <a:srgbClr val="FFFFFF"/>
                        </a:buClr>
                        <a:buSzPts val="700"/>
                        <a:buFont typeface="Inter Tight"/>
                        <a:buNone/>
                      </a:pPr>
                      <a:r>
                        <a:rPr b="1" lang="en-US" sz="700" u="none" cap="none" strike="noStrike">
                          <a:solidFill>
                            <a:srgbClr val="FFFFFF"/>
                          </a:solidFill>
                          <a:latin typeface="Inter Tight"/>
                          <a:ea typeface="Inter Tight"/>
                          <a:cs typeface="Inter Tight"/>
                          <a:sym typeface="Inter Tight"/>
                        </a:rPr>
                        <a:t>How to say it in the room</a:t>
                      </a:r>
                      <a:endParaRPr sz="70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r>
              <a:tr h="402325">
                <a:tc>
                  <a:txBody>
                    <a:bodyPr/>
                    <a:lstStyle/>
                    <a:p>
                      <a:pPr indent="0" lvl="0" marL="0" marR="0" rtl="0" algn="l">
                        <a:spcBef>
                          <a:spcPts val="0"/>
                        </a:spcBef>
                        <a:spcAft>
                          <a:spcPts val="0"/>
                        </a:spcAft>
                        <a:buClr>
                          <a:srgbClr val="0F0F0F"/>
                        </a:buClr>
                        <a:buSzPts val="750"/>
                        <a:buFont typeface="Inter Tight"/>
                        <a:buNone/>
                      </a:pPr>
                      <a:r>
                        <a:rPr b="1" lang="en-US" sz="750" u="none" cap="none" strike="noStrike">
                          <a:solidFill>
                            <a:srgbClr val="0F0F0F"/>
                          </a:solidFill>
                          <a:latin typeface="Inter Tight"/>
                          <a:ea typeface="Inter Tight"/>
                          <a:cs typeface="Inter Tight"/>
                          <a:sym typeface="Inter Tight"/>
                        </a:rPr>
                        <a:t>The 2027 dates</a:t>
                      </a:r>
                      <a:endParaRPr sz="75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Internal: the brief has the wrong year.</a:t>
                      </a:r>
                      <a:endParaRPr sz="75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Client: 2027 gives you something rarer than a shared festival, and 2029 gives you the shared one. Here is a plan for both.</a:t>
                      </a:r>
                      <a:endParaRPr sz="75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0F0F0F"/>
                        </a:buClr>
                        <a:buSzPts val="750"/>
                        <a:buFont typeface="Inter Tight"/>
                        <a:buNone/>
                      </a:pPr>
                      <a:r>
                        <a:rPr b="1" lang="en-US" sz="750" u="none" cap="none" strike="noStrike">
                          <a:solidFill>
                            <a:srgbClr val="0F0F0F"/>
                          </a:solidFill>
                          <a:latin typeface="Inter Tight"/>
                          <a:ea typeface="Inter Tight"/>
                          <a:cs typeface="Inter Tight"/>
                          <a:sym typeface="Inter Tight"/>
                        </a:rPr>
                        <a:t>The boycott</a:t>
                      </a:r>
                      <a:endParaRPr sz="75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Internal: it is not the main driver and Colgate is misreading its own data.</a:t>
                      </a:r>
                      <a:endParaRPr sz="75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Client: sentiment is real and worth addressing, and the bigger recoverable volume sits in price perception and halal visibility.</a:t>
                      </a:r>
                      <a:endParaRPr sz="75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r>
              <a:tr h="402325">
                <a:tc>
                  <a:txBody>
                    <a:bodyPr/>
                    <a:lstStyle/>
                    <a:p>
                      <a:pPr indent="0" lvl="0" marL="0" marR="0" rtl="0" algn="l">
                        <a:spcBef>
                          <a:spcPts val="0"/>
                        </a:spcBef>
                        <a:spcAft>
                          <a:spcPts val="0"/>
                        </a:spcAft>
                        <a:buClr>
                          <a:srgbClr val="0F0F0F"/>
                        </a:buClr>
                        <a:buSzPts val="750"/>
                        <a:buFont typeface="Inter Tight"/>
                        <a:buNone/>
                      </a:pPr>
                      <a:r>
                        <a:rPr b="1" lang="en-US" sz="750" u="none" cap="none" strike="noStrike">
                          <a:solidFill>
                            <a:srgbClr val="0F0F0F"/>
                          </a:solidFill>
                          <a:latin typeface="Inter Tight"/>
                          <a:ea typeface="Inter Tight"/>
                          <a:cs typeface="Inter Tight"/>
                          <a:sym typeface="Inter Tight"/>
                        </a:rPr>
                        <a:t>Halal</a:t>
                      </a:r>
                      <a:endParaRPr sz="75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Internal: the missing JAKIM logo is a self-inflicted barrier.</a:t>
                      </a:r>
                      <a:endParaRPr sz="75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Client: there is a recognition gap between the certification you hold and what shoppers can see. That is solvable with communications.</a:t>
                      </a:r>
                      <a:endParaRPr sz="75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0F0F0F"/>
                        </a:buClr>
                        <a:buSzPts val="750"/>
                        <a:buFont typeface="Inter Tight"/>
                        <a:buNone/>
                      </a:pPr>
                      <a:r>
                        <a:rPr b="1" lang="en-US" sz="750" u="none" cap="none" strike="noStrike">
                          <a:solidFill>
                            <a:srgbClr val="0F0F0F"/>
                          </a:solidFill>
                          <a:latin typeface="Inter Tight"/>
                          <a:ea typeface="Inter Tight"/>
                          <a:cs typeface="Inter Tight"/>
                          <a:sym typeface="Inter Tight"/>
                        </a:rPr>
                        <a:t>Darlie</a:t>
                      </a:r>
                      <a:endParaRPr sz="75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Internal: Colgate may still own half of the brand taking the switchers.</a:t>
                      </a:r>
                      <a:endParaRPr sz="75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Client: do not raise it. Ask about portfolio structure and let them tell you.</a:t>
                      </a:r>
                      <a:endParaRPr sz="750" u="none" cap="none" strike="noStrike">
                        <a:latin typeface="Inter Tight"/>
                        <a:ea typeface="Inter Tight"/>
                        <a:cs typeface="Inter Tight"/>
                        <a:sym typeface="Inter Tight"/>
                      </a:endParaRPr>
                    </a:p>
                  </a:txBody>
                  <a:tcPr marT="25400" marB="25400" marR="63500" marL="635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8"/>
          <p:cNvSpPr/>
          <p:nvPr/>
        </p:nvSpPr>
        <p:spPr>
          <a:xfrm>
            <a:off x="7498080" y="146304"/>
            <a:ext cx="12801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309" name="Google Shape;309;p18"/>
          <p:cNvSpPr/>
          <p:nvPr/>
        </p:nvSpPr>
        <p:spPr>
          <a:xfrm>
            <a:off x="457200" y="329184"/>
            <a:ext cx="6766560" cy="3840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Evidence status and what we still need</a:t>
            </a:r>
            <a:endParaRPr b="0" i="0" sz="2150" u="none" cap="none" strike="noStrike">
              <a:solidFill>
                <a:schemeClr val="dk1"/>
              </a:solidFill>
              <a:latin typeface="Calibri"/>
              <a:ea typeface="Calibri"/>
              <a:cs typeface="Calibri"/>
              <a:sym typeface="Calibri"/>
            </a:endParaRPr>
          </a:p>
        </p:txBody>
      </p:sp>
      <p:sp>
        <p:nvSpPr>
          <p:cNvPr id="310" name="Google Shape;310;p18"/>
          <p:cNvSpPr/>
          <p:nvPr/>
        </p:nvSpPr>
        <p:spPr>
          <a:xfrm>
            <a:off x="457200" y="768096"/>
            <a:ext cx="7863840" cy="31089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900"/>
              <a:buFont typeface="Inter Tight"/>
              <a:buNone/>
            </a:pPr>
            <a:r>
              <a:rPr b="0" i="0" lang="en-US" sz="900" u="none" cap="none" strike="noStrike">
                <a:solidFill>
                  <a:srgbClr val="4A4A4A"/>
                </a:solidFill>
                <a:latin typeface="Inter Tight"/>
                <a:ea typeface="Inter Tight"/>
                <a:cs typeface="Inter Tight"/>
                <a:sym typeface="Inter Tight"/>
              </a:rPr>
              <a:t>What is solid, what is judgement, and what we could not get.</a:t>
            </a:r>
            <a:endParaRPr b="0" i="0" sz="900" u="none" cap="none" strike="noStrike">
              <a:solidFill>
                <a:schemeClr val="dk1"/>
              </a:solidFill>
              <a:latin typeface="Calibri"/>
              <a:ea typeface="Calibri"/>
              <a:cs typeface="Calibri"/>
              <a:sym typeface="Calibri"/>
            </a:endParaRPr>
          </a:p>
        </p:txBody>
      </p:sp>
      <p:sp>
        <p:nvSpPr>
          <p:cNvPr id="311" name="Google Shape;311;p18"/>
          <p:cNvSpPr/>
          <p:nvPr/>
        </p:nvSpPr>
        <p:spPr>
          <a:xfrm>
            <a:off x="457200" y="1152144"/>
            <a:ext cx="2621280" cy="1554480"/>
          </a:xfrm>
          <a:prstGeom prst="roundRect">
            <a:avLst>
              <a:gd fmla="val 5294"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8"/>
          <p:cNvSpPr/>
          <p:nvPr/>
        </p:nvSpPr>
        <p:spPr>
          <a:xfrm>
            <a:off x="457200" y="1179576"/>
            <a:ext cx="45720" cy="1499616"/>
          </a:xfrm>
          <a:prstGeom prst="rect">
            <a:avLst/>
          </a:prstGeom>
          <a:solidFill>
            <a:srgbClr val="2ECC9B"/>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8"/>
          <p:cNvSpPr/>
          <p:nvPr/>
        </p:nvSpPr>
        <p:spPr>
          <a:xfrm>
            <a:off x="640080" y="1261872"/>
            <a:ext cx="2273808"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Solid</a:t>
            </a:r>
            <a:endParaRPr b="0" i="0" sz="1000" u="none" cap="none" strike="noStrike">
              <a:solidFill>
                <a:schemeClr val="dk1"/>
              </a:solidFill>
              <a:latin typeface="Calibri"/>
              <a:ea typeface="Calibri"/>
              <a:cs typeface="Calibri"/>
              <a:sym typeface="Calibri"/>
            </a:endParaRPr>
          </a:p>
        </p:txBody>
      </p:sp>
      <p:sp>
        <p:nvSpPr>
          <p:cNvPr id="314" name="Google Shape;314;p18"/>
          <p:cNvSpPr/>
          <p:nvPr/>
        </p:nvSpPr>
        <p:spPr>
          <a:xfrm>
            <a:off x="658368" y="1517904"/>
            <a:ext cx="2237232" cy="109728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The 2027 and 2029 festival dates.</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Colgate’s Q1 and Q2 2025 Asia Pacific commentary.</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The absent Malaysian halal logo and its cause.</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The 1985 Darlie stake.</a:t>
            </a:r>
            <a:endParaRPr b="0" i="0" sz="800" u="none" cap="none" strike="noStrike">
              <a:solidFill>
                <a:schemeClr val="dk1"/>
              </a:solidFill>
              <a:latin typeface="Calibri"/>
              <a:ea typeface="Calibri"/>
              <a:cs typeface="Calibri"/>
              <a:sym typeface="Calibri"/>
            </a:endParaRPr>
          </a:p>
        </p:txBody>
      </p:sp>
      <p:sp>
        <p:nvSpPr>
          <p:cNvPr id="315" name="Google Shape;315;p18"/>
          <p:cNvSpPr/>
          <p:nvPr/>
        </p:nvSpPr>
        <p:spPr>
          <a:xfrm>
            <a:off x="3261360" y="1152144"/>
            <a:ext cx="2621280" cy="1554480"/>
          </a:xfrm>
          <a:prstGeom prst="roundRect">
            <a:avLst>
              <a:gd fmla="val 5294"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8"/>
          <p:cNvSpPr/>
          <p:nvPr/>
        </p:nvSpPr>
        <p:spPr>
          <a:xfrm>
            <a:off x="3261360" y="1179576"/>
            <a:ext cx="45720" cy="1499616"/>
          </a:xfrm>
          <a:prstGeom prst="rect">
            <a:avLst/>
          </a:prstGeom>
          <a:solidFill>
            <a:srgbClr val="8E6BE6"/>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8"/>
          <p:cNvSpPr/>
          <p:nvPr/>
        </p:nvSpPr>
        <p:spPr>
          <a:xfrm>
            <a:off x="3444240" y="1261872"/>
            <a:ext cx="2273808"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Our judgement</a:t>
            </a:r>
            <a:endParaRPr b="0" i="0" sz="1000" u="none" cap="none" strike="noStrike">
              <a:solidFill>
                <a:schemeClr val="dk1"/>
              </a:solidFill>
              <a:latin typeface="Calibri"/>
              <a:ea typeface="Calibri"/>
              <a:cs typeface="Calibri"/>
              <a:sym typeface="Calibri"/>
            </a:endParaRPr>
          </a:p>
        </p:txBody>
      </p:sp>
      <p:sp>
        <p:nvSpPr>
          <p:cNvPr id="318" name="Google Shape;318;p18"/>
          <p:cNvSpPr/>
          <p:nvPr/>
        </p:nvSpPr>
        <p:spPr>
          <a:xfrm>
            <a:off x="3462528" y="1517904"/>
            <a:ext cx="2237232" cy="109728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The ranking of likely causes.</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The read that boycotts hit visible categories hardest.</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The strategic recommendation itself.</a:t>
            </a:r>
            <a:endParaRPr b="0" i="0" sz="800" u="none" cap="none" strike="noStrike">
              <a:solidFill>
                <a:schemeClr val="dk1"/>
              </a:solidFill>
              <a:latin typeface="Calibri"/>
              <a:ea typeface="Calibri"/>
              <a:cs typeface="Calibri"/>
              <a:sym typeface="Calibri"/>
            </a:endParaRPr>
          </a:p>
        </p:txBody>
      </p:sp>
      <p:sp>
        <p:nvSpPr>
          <p:cNvPr id="319" name="Google Shape;319;p18"/>
          <p:cNvSpPr/>
          <p:nvPr/>
        </p:nvSpPr>
        <p:spPr>
          <a:xfrm>
            <a:off x="6065520" y="1152144"/>
            <a:ext cx="2621280" cy="1554480"/>
          </a:xfrm>
          <a:prstGeom prst="roundRect">
            <a:avLst>
              <a:gd fmla="val 5294"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8"/>
          <p:cNvSpPr/>
          <p:nvPr/>
        </p:nvSpPr>
        <p:spPr>
          <a:xfrm>
            <a:off x="6065520" y="1179576"/>
            <a:ext cx="45720" cy="1499616"/>
          </a:xfrm>
          <a:prstGeom prst="rect">
            <a:avLst/>
          </a:prstGeom>
          <a:solidFill>
            <a:srgbClr val="F28B4C"/>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8"/>
          <p:cNvSpPr/>
          <p:nvPr/>
        </p:nvSpPr>
        <p:spPr>
          <a:xfrm>
            <a:off x="6248400" y="1261872"/>
            <a:ext cx="2273808" cy="237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Still open</a:t>
            </a:r>
            <a:endParaRPr b="0" i="0" sz="1000" u="none" cap="none" strike="noStrike">
              <a:solidFill>
                <a:schemeClr val="dk1"/>
              </a:solidFill>
              <a:latin typeface="Calibri"/>
              <a:ea typeface="Calibri"/>
              <a:cs typeface="Calibri"/>
              <a:sym typeface="Calibri"/>
            </a:endParaRPr>
          </a:p>
        </p:txBody>
      </p:sp>
      <p:sp>
        <p:nvSpPr>
          <p:cNvPr id="322" name="Google Shape;322;p18"/>
          <p:cNvSpPr/>
          <p:nvPr/>
        </p:nvSpPr>
        <p:spPr>
          <a:xfrm>
            <a:off x="6266688" y="1517904"/>
            <a:ext cx="2237232" cy="109728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Ethnicity-split purchase data, which is not public.</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The live price ladder and competitor shares.</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A full Colgate Malaysia social audit.</a:t>
            </a:r>
            <a:endParaRPr b="0" i="0" sz="800" u="none" cap="none" strike="noStrike">
              <a:solidFill>
                <a:schemeClr val="dk1"/>
              </a:solidFill>
              <a:latin typeface="Calibri"/>
              <a:ea typeface="Calibri"/>
              <a:cs typeface="Calibri"/>
              <a:sym typeface="Calibri"/>
            </a:endParaRPr>
          </a:p>
          <a:p>
            <a:pPr indent="-342900" lvl="0" marL="342900" marR="0" rtl="0" algn="l">
              <a:lnSpc>
                <a:spcPct val="12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Whether Colgate still holds the Darlie stake.</a:t>
            </a:r>
            <a:endParaRPr b="0" i="0" sz="800" u="none" cap="none" strike="noStrike">
              <a:solidFill>
                <a:schemeClr val="dk1"/>
              </a:solidFill>
              <a:latin typeface="Calibri"/>
              <a:ea typeface="Calibri"/>
              <a:cs typeface="Calibri"/>
              <a:sym typeface="Calibri"/>
            </a:endParaRPr>
          </a:p>
        </p:txBody>
      </p:sp>
      <p:sp>
        <p:nvSpPr>
          <p:cNvPr id="323" name="Google Shape;323;p18"/>
          <p:cNvSpPr/>
          <p:nvPr/>
        </p:nvSpPr>
        <p:spPr>
          <a:xfrm>
            <a:off x="457200" y="2816352"/>
            <a:ext cx="8229600" cy="713232"/>
          </a:xfrm>
          <a:prstGeom prst="roundRect">
            <a:avLst>
              <a:gd fmla="val 11538"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8"/>
          <p:cNvSpPr/>
          <p:nvPr/>
        </p:nvSpPr>
        <p:spPr>
          <a:xfrm>
            <a:off x="621792" y="2930019"/>
            <a:ext cx="7900500" cy="237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0F0F"/>
              </a:buClr>
              <a:buSzPts val="1000"/>
              <a:buFont typeface="Inter Tight"/>
              <a:buNone/>
            </a:pPr>
            <a:r>
              <a:rPr b="1" i="0" lang="en-US" sz="1000" u="none" cap="none" strike="noStrike">
                <a:solidFill>
                  <a:srgbClr val="0F0F0F"/>
                </a:solidFill>
                <a:latin typeface="Inter Tight"/>
                <a:ea typeface="Inter Tight"/>
                <a:cs typeface="Inter Tight"/>
                <a:sym typeface="Inter Tight"/>
              </a:rPr>
              <a:t>If Colgate wants measured numbers rather than triangulation.</a:t>
            </a:r>
            <a:endParaRPr b="0" i="0" sz="1000" u="none" cap="none" strike="noStrike">
              <a:solidFill>
                <a:schemeClr val="dk1"/>
              </a:solidFill>
              <a:latin typeface="Calibri"/>
              <a:ea typeface="Calibri"/>
              <a:cs typeface="Calibri"/>
              <a:sym typeface="Calibri"/>
            </a:endParaRPr>
          </a:p>
        </p:txBody>
      </p:sp>
      <p:sp>
        <p:nvSpPr>
          <p:cNvPr id="325" name="Google Shape;325;p18"/>
          <p:cNvSpPr/>
          <p:nvPr/>
        </p:nvSpPr>
        <p:spPr>
          <a:xfrm>
            <a:off x="621792" y="3186051"/>
            <a:ext cx="7900500" cy="1647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Kantar Worldpanel Malaysia and Nielsen retail measurement are the only sources that produce genuine ethnicity-split and SKU-level share for this category. Colgate almost certainly already subscribes, so the fastest route is to ask them for the cuts rather than buy them.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descr="C:\Users\Jordan\Desktop\Claude Code\toggle-brain\assets\logos\toggle-wordmark-black.png" id="331" name="Google Shape;331;p19"/>
          <p:cNvPicPr preferRelativeResize="0"/>
          <p:nvPr/>
        </p:nvPicPr>
        <p:blipFill rotWithShape="1">
          <a:blip r:embed="rId3">
            <a:alphaModFix/>
          </a:blip>
          <a:srcRect b="0" l="0" r="0" t="0"/>
          <a:stretch/>
        </p:blipFill>
        <p:spPr>
          <a:xfrm>
            <a:off x="457200" y="384048"/>
            <a:ext cx="1371600" cy="274320"/>
          </a:xfrm>
          <a:prstGeom prst="rect">
            <a:avLst/>
          </a:prstGeom>
          <a:noFill/>
          <a:ln>
            <a:noFill/>
          </a:ln>
        </p:spPr>
      </p:pic>
      <p:sp>
        <p:nvSpPr>
          <p:cNvPr id="332" name="Google Shape;332;p19"/>
          <p:cNvSpPr/>
          <p:nvPr/>
        </p:nvSpPr>
        <p:spPr>
          <a:xfrm>
            <a:off x="457200" y="1554480"/>
            <a:ext cx="4754880" cy="64008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rgbClr val="4A7BF7"/>
              </a:buClr>
              <a:buSzPts val="3600"/>
              <a:buFont typeface="Inter Tight"/>
              <a:buNone/>
            </a:pPr>
            <a:r>
              <a:rPr b="1" i="0" lang="en-US" sz="3600" u="none" cap="none" strike="noStrike">
                <a:solidFill>
                  <a:srgbClr val="4A7BF7"/>
                </a:solidFill>
                <a:latin typeface="Inter Tight"/>
                <a:ea typeface="Inter Tight"/>
                <a:cs typeface="Inter Tight"/>
                <a:sym typeface="Inter Tight"/>
              </a:rPr>
              <a:t>Thank you</a:t>
            </a:r>
            <a:endParaRPr b="0" i="0" sz="3600" u="none" cap="none" strike="noStrike">
              <a:solidFill>
                <a:schemeClr val="dk1"/>
              </a:solidFill>
              <a:latin typeface="Calibri"/>
              <a:ea typeface="Calibri"/>
              <a:cs typeface="Calibri"/>
              <a:sym typeface="Calibri"/>
            </a:endParaRPr>
          </a:p>
        </p:txBody>
      </p:sp>
      <p:sp>
        <p:nvSpPr>
          <p:cNvPr id="333" name="Google Shape;333;p19"/>
          <p:cNvSpPr/>
          <p:nvPr/>
        </p:nvSpPr>
        <p:spPr>
          <a:xfrm>
            <a:off x="457200" y="2286000"/>
            <a:ext cx="45720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4A4A"/>
              </a:buClr>
              <a:buSzPts val="900"/>
              <a:buFont typeface="Inter Tight"/>
              <a:buNone/>
            </a:pPr>
            <a:r>
              <a:rPr b="0" i="0" lang="en-US" sz="900" u="none" cap="none" strike="noStrike">
                <a:solidFill>
                  <a:srgbClr val="4A4A4A"/>
                </a:solidFill>
                <a:latin typeface="Inter Tight"/>
                <a:ea typeface="Inter Tight"/>
                <a:cs typeface="Inter Tight"/>
                <a:sym typeface="Inter Tight"/>
              </a:rPr>
              <a:t>The date correction alone is worth the meeting. The three-year platform is what wins it.</a:t>
            </a:r>
            <a:endParaRPr b="0" i="0" sz="900" u="none" cap="none" strike="noStrike">
              <a:solidFill>
                <a:schemeClr val="dk1"/>
              </a:solidFill>
              <a:latin typeface="Calibri"/>
              <a:ea typeface="Calibri"/>
              <a:cs typeface="Calibri"/>
              <a:sym typeface="Calibri"/>
            </a:endParaRPr>
          </a:p>
        </p:txBody>
      </p:sp>
      <p:sp>
        <p:nvSpPr>
          <p:cNvPr id="334" name="Google Shape;334;p19"/>
          <p:cNvSpPr/>
          <p:nvPr/>
        </p:nvSpPr>
        <p:spPr>
          <a:xfrm>
            <a:off x="457200" y="2971800"/>
            <a:ext cx="3657600" cy="100584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0F0F0F"/>
              </a:buClr>
              <a:buSzPts val="800"/>
              <a:buFont typeface="Inter Tight"/>
              <a:buNone/>
            </a:pPr>
            <a:r>
              <a:rPr b="1" i="0" lang="en-US" sz="800" u="none" cap="none" strike="noStrike">
                <a:solidFill>
                  <a:srgbClr val="0F0F0F"/>
                </a:solidFill>
                <a:latin typeface="Inter Tight"/>
                <a:ea typeface="Inter Tight"/>
                <a:cs typeface="Inter Tight"/>
                <a:sym typeface="Inter Tight"/>
              </a:rPr>
              <a:t>Viknesh</a:t>
            </a:r>
            <a:endParaRPr b="0" i="0" sz="8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Toggle Solutions</a:t>
            </a:r>
            <a:endParaRPr b="0" i="0" sz="8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+60 12 568 8681</a:t>
            </a:r>
            <a:endParaRPr b="0" i="0" sz="8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hello@toggle.solutions</a:t>
            </a:r>
            <a:endParaRPr b="0" i="0" sz="8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toggle.solutions</a:t>
            </a:r>
            <a:endParaRPr b="0" i="0" sz="800" u="none" cap="none" strike="noStrike">
              <a:solidFill>
                <a:schemeClr val="dk1"/>
              </a:solidFill>
              <a:latin typeface="Calibri"/>
              <a:ea typeface="Calibri"/>
              <a:cs typeface="Calibri"/>
              <a:sym typeface="Calibri"/>
            </a:endParaRPr>
          </a:p>
        </p:txBody>
      </p:sp>
      <p:sp>
        <p:nvSpPr>
          <p:cNvPr id="335" name="Google Shape;335;p19"/>
          <p:cNvSpPr/>
          <p:nvPr/>
        </p:nvSpPr>
        <p:spPr>
          <a:xfrm>
            <a:off x="7498080" y="146304"/>
            <a:ext cx="12801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2026-08-02T14:58:32Z</dcterms:created>
  <dc:creator>Toggle Solutions</dc:creator>
</cp:coreProperties>
</file>